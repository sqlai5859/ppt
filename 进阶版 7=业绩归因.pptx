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432" r:id="rId2"/>
    <p:sldId id="434" r:id="rId3"/>
    <p:sldId id="433" r:id="rId4"/>
    <p:sldId id="435" r:id="rId5"/>
    <p:sldId id="460" r:id="rId6"/>
    <p:sldId id="436" r:id="rId7"/>
    <p:sldId id="462" r:id="rId8"/>
    <p:sldId id="437" r:id="rId9"/>
    <p:sldId id="439" r:id="rId10"/>
    <p:sldId id="440" r:id="rId11"/>
    <p:sldId id="463" r:id="rId12"/>
    <p:sldId id="443" r:id="rId13"/>
    <p:sldId id="444" r:id="rId14"/>
    <p:sldId id="464" r:id="rId15"/>
    <p:sldId id="445" r:id="rId16"/>
    <p:sldId id="446" r:id="rId17"/>
    <p:sldId id="447" r:id="rId18"/>
    <p:sldId id="448" r:id="rId19"/>
    <p:sldId id="465" r:id="rId20"/>
    <p:sldId id="453" r:id="rId21"/>
    <p:sldId id="467" r:id="rId22"/>
    <p:sldId id="466" r:id="rId23"/>
    <p:sldId id="457" r:id="rId24"/>
  </p:sldIdLst>
  <p:sldSz cx="17279938" cy="9720263"/>
  <p:notesSz cx="6858000" cy="9144000"/>
  <p:custDataLst>
    <p:tags r:id="rId26"/>
  </p:custDataLst>
  <p:defaultTextStyle>
    <a:defPPr>
      <a:defRPr lang="zh-CN"/>
    </a:defPPr>
    <a:lvl1pPr marL="0" algn="l" defTabSz="1295856" rtl="0" eaLnBrk="1" latinLnBrk="0" hangingPunct="1">
      <a:defRPr sz="2551" kern="1200">
        <a:solidFill>
          <a:schemeClr val="tx1"/>
        </a:solidFill>
        <a:latin typeface="+mn-lt"/>
        <a:ea typeface="+mn-ea"/>
        <a:cs typeface="+mn-cs"/>
      </a:defRPr>
    </a:lvl1pPr>
    <a:lvl2pPr marL="647929" algn="l" defTabSz="1295856" rtl="0" eaLnBrk="1" latinLnBrk="0" hangingPunct="1">
      <a:defRPr sz="2551" kern="1200">
        <a:solidFill>
          <a:schemeClr val="tx1"/>
        </a:solidFill>
        <a:latin typeface="+mn-lt"/>
        <a:ea typeface="+mn-ea"/>
        <a:cs typeface="+mn-cs"/>
      </a:defRPr>
    </a:lvl2pPr>
    <a:lvl3pPr marL="1295856" algn="l" defTabSz="1295856" rtl="0" eaLnBrk="1" latinLnBrk="0" hangingPunct="1">
      <a:defRPr sz="2551" kern="1200">
        <a:solidFill>
          <a:schemeClr val="tx1"/>
        </a:solidFill>
        <a:latin typeface="+mn-lt"/>
        <a:ea typeface="+mn-ea"/>
        <a:cs typeface="+mn-cs"/>
      </a:defRPr>
    </a:lvl3pPr>
    <a:lvl4pPr marL="1943784" algn="l" defTabSz="1295856" rtl="0" eaLnBrk="1" latinLnBrk="0" hangingPunct="1">
      <a:defRPr sz="2551" kern="1200">
        <a:solidFill>
          <a:schemeClr val="tx1"/>
        </a:solidFill>
        <a:latin typeface="+mn-lt"/>
        <a:ea typeface="+mn-ea"/>
        <a:cs typeface="+mn-cs"/>
      </a:defRPr>
    </a:lvl4pPr>
    <a:lvl5pPr marL="2591712" algn="l" defTabSz="1295856" rtl="0" eaLnBrk="1" latinLnBrk="0" hangingPunct="1">
      <a:defRPr sz="2551" kern="1200">
        <a:solidFill>
          <a:schemeClr val="tx1"/>
        </a:solidFill>
        <a:latin typeface="+mn-lt"/>
        <a:ea typeface="+mn-ea"/>
        <a:cs typeface="+mn-cs"/>
      </a:defRPr>
    </a:lvl5pPr>
    <a:lvl6pPr marL="3239640" algn="l" defTabSz="1295856" rtl="0" eaLnBrk="1" latinLnBrk="0" hangingPunct="1">
      <a:defRPr sz="2551" kern="1200">
        <a:solidFill>
          <a:schemeClr val="tx1"/>
        </a:solidFill>
        <a:latin typeface="+mn-lt"/>
        <a:ea typeface="+mn-ea"/>
        <a:cs typeface="+mn-cs"/>
      </a:defRPr>
    </a:lvl6pPr>
    <a:lvl7pPr marL="3887569" algn="l" defTabSz="1295856" rtl="0" eaLnBrk="1" latinLnBrk="0" hangingPunct="1">
      <a:defRPr sz="2551" kern="1200">
        <a:solidFill>
          <a:schemeClr val="tx1"/>
        </a:solidFill>
        <a:latin typeface="+mn-lt"/>
        <a:ea typeface="+mn-ea"/>
        <a:cs typeface="+mn-cs"/>
      </a:defRPr>
    </a:lvl7pPr>
    <a:lvl8pPr marL="4535496" algn="l" defTabSz="1295856" rtl="0" eaLnBrk="1" latinLnBrk="0" hangingPunct="1">
      <a:defRPr sz="2551" kern="1200">
        <a:solidFill>
          <a:schemeClr val="tx1"/>
        </a:solidFill>
        <a:latin typeface="+mn-lt"/>
        <a:ea typeface="+mn-ea"/>
        <a:cs typeface="+mn-cs"/>
      </a:defRPr>
    </a:lvl8pPr>
    <a:lvl9pPr marL="5183425" algn="l" defTabSz="1295856" rtl="0" eaLnBrk="1" latinLnBrk="0" hangingPunct="1">
      <a:defRPr sz="2551" kern="1200">
        <a:solidFill>
          <a:schemeClr val="tx1"/>
        </a:solidFill>
        <a:latin typeface="+mn-lt"/>
        <a:ea typeface="+mn-ea"/>
        <a:cs typeface="+mn-cs"/>
      </a:defRPr>
    </a:lvl9pPr>
  </p:defaultTextStyle>
  <p:extLst>
    <p:ext uri="{EFAFB233-063F-42B5-8137-9DF3F51BA10A}">
      <p15:sldGuideLst xmlns:p15="http://schemas.microsoft.com/office/powerpoint/2012/main">
        <p15:guide id="1" pos="598" userDrawn="1">
          <p15:clr>
            <a:srgbClr val="A4A3A4"/>
          </p15:clr>
        </p15:guide>
        <p15:guide id="2" pos="10286" userDrawn="1">
          <p15:clr>
            <a:srgbClr val="A4A3A4"/>
          </p15:clr>
        </p15:guide>
        <p15:guide id="3" orient="horz" pos="918" userDrawn="1">
          <p15:clr>
            <a:srgbClr val="A4A3A4"/>
          </p15:clr>
        </p15:guide>
        <p15:guide id="4" orient="horz" pos="1071" userDrawn="1">
          <p15:clr>
            <a:srgbClr val="A4A3A4"/>
          </p15:clr>
        </p15:guide>
        <p15:guide id="5" orient="horz" pos="5571" userDrawn="1">
          <p15:clr>
            <a:srgbClr val="A4A3A4"/>
          </p15:clr>
        </p15:guide>
        <p15:guide id="6" orient="horz" pos="54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FF8A65"/>
    <a:srgbClr val="CCECFF"/>
    <a:srgbClr val="FF9966"/>
    <a:srgbClr val="7F7F7F"/>
    <a:srgbClr val="CC6600"/>
    <a:srgbClr val="FFE8E0"/>
    <a:srgbClr val="EAEC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36" autoAdjust="0"/>
    <p:restoredTop sz="90506" autoAdjust="0"/>
  </p:normalViewPr>
  <p:slideViewPr>
    <p:cSldViewPr snapToGrid="0">
      <p:cViewPr>
        <p:scale>
          <a:sx n="50" d="100"/>
          <a:sy n="50" d="100"/>
        </p:scale>
        <p:origin x="1684" y="484"/>
      </p:cViewPr>
      <p:guideLst>
        <p:guide pos="598"/>
        <p:guide pos="10286"/>
        <p:guide orient="horz" pos="918"/>
        <p:guide orient="horz" pos="1071"/>
        <p:guide orient="horz" pos="5571"/>
        <p:guide orient="horz" pos="5418"/>
      </p:guideLst>
    </p:cSldViewPr>
  </p:slideViewPr>
  <p:notesTextViewPr>
    <p:cViewPr>
      <p:scale>
        <a:sx n="1" d="1"/>
        <a:sy n="1" d="1"/>
      </p:scale>
      <p:origin x="0" y="0"/>
    </p:cViewPr>
  </p:notesTextViewPr>
  <p:sorterViewPr>
    <p:cViewPr>
      <p:scale>
        <a:sx n="75" d="100"/>
        <a:sy n="75" d="100"/>
      </p:scale>
      <p:origin x="0" y="-21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E:\CDoS\&#26222;&#20848;\&#20538;&#21048;&#25910;&#30410;&#24402;&#22240;\&#20135;&#21697;&#25512;&#20171;\&#20135;&#21697;&#25512;&#2017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CDoS\&#26222;&#20848;\&#20538;&#21048;&#25910;&#30410;&#24402;&#22240;\&#20135;&#21697;&#25512;&#20171;\&#20135;&#21697;&#25512;&#2017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E:\CDoS\&#26222;&#20848;\&#20538;&#21048;&#25910;&#30410;&#24402;&#22240;\&#20135;&#21697;&#25512;&#20171;\&#20135;&#21697;&#25512;&#2017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8520455510506E-2"/>
          <c:y val="9.8712958562537534E-2"/>
          <c:w val="0.86751549102128589"/>
          <c:h val="0.88104782482491317"/>
        </c:manualLayout>
      </c:layout>
      <c:lineChart>
        <c:grouping val="standard"/>
        <c:varyColors val="0"/>
        <c:ser>
          <c:idx val="0"/>
          <c:order val="0"/>
          <c:tx>
            <c:strRef>
              <c:f>'140202买卖点'!$C$1</c:f>
              <c:strCache>
                <c:ptCount val="1"/>
                <c:pt idx="0">
                  <c:v>140202.IB</c:v>
                </c:pt>
              </c:strCache>
            </c:strRef>
          </c:tx>
          <c:spPr>
            <a:ln w="38100">
              <a:solidFill>
                <a:schemeClr val="tx1">
                  <a:lumMod val="50000"/>
                  <a:lumOff val="50000"/>
                </a:schemeClr>
              </a:solidFill>
            </a:ln>
          </c:spPr>
          <c:marker>
            <c:symbol val="none"/>
          </c:marker>
          <c:cat>
            <c:numRef>
              <c:f>'140202买卖点'!$A$2:$A$168</c:f>
              <c:numCache>
                <c:formatCode>m/d/yyyy</c:formatCode>
                <c:ptCount val="167"/>
                <c:pt idx="0">
                  <c:v>42373</c:v>
                </c:pt>
                <c:pt idx="1">
                  <c:v>42374</c:v>
                </c:pt>
                <c:pt idx="2">
                  <c:v>42375</c:v>
                </c:pt>
                <c:pt idx="3">
                  <c:v>42376</c:v>
                </c:pt>
                <c:pt idx="4">
                  <c:v>42377</c:v>
                </c:pt>
                <c:pt idx="5">
                  <c:v>42380</c:v>
                </c:pt>
                <c:pt idx="6">
                  <c:v>42381</c:v>
                </c:pt>
                <c:pt idx="7">
                  <c:v>42382</c:v>
                </c:pt>
                <c:pt idx="8">
                  <c:v>42383</c:v>
                </c:pt>
                <c:pt idx="9">
                  <c:v>42384</c:v>
                </c:pt>
                <c:pt idx="10">
                  <c:v>42387</c:v>
                </c:pt>
                <c:pt idx="11">
                  <c:v>42388</c:v>
                </c:pt>
                <c:pt idx="12">
                  <c:v>42389</c:v>
                </c:pt>
                <c:pt idx="13">
                  <c:v>42390</c:v>
                </c:pt>
                <c:pt idx="14">
                  <c:v>42391</c:v>
                </c:pt>
                <c:pt idx="15">
                  <c:v>42394</c:v>
                </c:pt>
                <c:pt idx="16">
                  <c:v>42395</c:v>
                </c:pt>
                <c:pt idx="17">
                  <c:v>42396</c:v>
                </c:pt>
                <c:pt idx="18">
                  <c:v>42397</c:v>
                </c:pt>
                <c:pt idx="19">
                  <c:v>42398</c:v>
                </c:pt>
                <c:pt idx="20">
                  <c:v>42401</c:v>
                </c:pt>
                <c:pt idx="21">
                  <c:v>42402</c:v>
                </c:pt>
                <c:pt idx="22">
                  <c:v>42403</c:v>
                </c:pt>
                <c:pt idx="23">
                  <c:v>42404</c:v>
                </c:pt>
                <c:pt idx="24">
                  <c:v>42405</c:v>
                </c:pt>
                <c:pt idx="25">
                  <c:v>42406</c:v>
                </c:pt>
                <c:pt idx="26">
                  <c:v>42414</c:v>
                </c:pt>
                <c:pt idx="27">
                  <c:v>42415</c:v>
                </c:pt>
                <c:pt idx="28">
                  <c:v>42416</c:v>
                </c:pt>
                <c:pt idx="29">
                  <c:v>42417</c:v>
                </c:pt>
                <c:pt idx="30">
                  <c:v>42418</c:v>
                </c:pt>
                <c:pt idx="31">
                  <c:v>42419</c:v>
                </c:pt>
                <c:pt idx="32">
                  <c:v>42422</c:v>
                </c:pt>
                <c:pt idx="33">
                  <c:v>42423</c:v>
                </c:pt>
                <c:pt idx="34">
                  <c:v>42424</c:v>
                </c:pt>
                <c:pt idx="35">
                  <c:v>42425</c:v>
                </c:pt>
                <c:pt idx="36">
                  <c:v>42426</c:v>
                </c:pt>
                <c:pt idx="37">
                  <c:v>42429</c:v>
                </c:pt>
                <c:pt idx="38">
                  <c:v>42430</c:v>
                </c:pt>
                <c:pt idx="39">
                  <c:v>42431</c:v>
                </c:pt>
                <c:pt idx="40">
                  <c:v>42432</c:v>
                </c:pt>
                <c:pt idx="41">
                  <c:v>42433</c:v>
                </c:pt>
                <c:pt idx="42">
                  <c:v>42436</c:v>
                </c:pt>
                <c:pt idx="43">
                  <c:v>42437</c:v>
                </c:pt>
                <c:pt idx="44">
                  <c:v>42438</c:v>
                </c:pt>
                <c:pt idx="45">
                  <c:v>42439</c:v>
                </c:pt>
                <c:pt idx="46">
                  <c:v>42440</c:v>
                </c:pt>
                <c:pt idx="47">
                  <c:v>42443</c:v>
                </c:pt>
                <c:pt idx="48">
                  <c:v>42444</c:v>
                </c:pt>
                <c:pt idx="49">
                  <c:v>42445</c:v>
                </c:pt>
                <c:pt idx="50">
                  <c:v>42446</c:v>
                </c:pt>
                <c:pt idx="51">
                  <c:v>42447</c:v>
                </c:pt>
                <c:pt idx="52">
                  <c:v>42450</c:v>
                </c:pt>
                <c:pt idx="53">
                  <c:v>42451</c:v>
                </c:pt>
                <c:pt idx="54">
                  <c:v>42452</c:v>
                </c:pt>
                <c:pt idx="55">
                  <c:v>42453</c:v>
                </c:pt>
                <c:pt idx="56">
                  <c:v>42454</c:v>
                </c:pt>
                <c:pt idx="57">
                  <c:v>42457</c:v>
                </c:pt>
                <c:pt idx="58">
                  <c:v>42458</c:v>
                </c:pt>
                <c:pt idx="59">
                  <c:v>42459</c:v>
                </c:pt>
                <c:pt idx="60">
                  <c:v>42460</c:v>
                </c:pt>
                <c:pt idx="61">
                  <c:v>42461</c:v>
                </c:pt>
                <c:pt idx="62">
                  <c:v>42465</c:v>
                </c:pt>
                <c:pt idx="63">
                  <c:v>42466</c:v>
                </c:pt>
                <c:pt idx="64">
                  <c:v>42467</c:v>
                </c:pt>
                <c:pt idx="65">
                  <c:v>42468</c:v>
                </c:pt>
                <c:pt idx="66">
                  <c:v>42471</c:v>
                </c:pt>
                <c:pt idx="67">
                  <c:v>42472</c:v>
                </c:pt>
                <c:pt idx="68">
                  <c:v>42473</c:v>
                </c:pt>
                <c:pt idx="69">
                  <c:v>42474</c:v>
                </c:pt>
                <c:pt idx="70">
                  <c:v>42475</c:v>
                </c:pt>
                <c:pt idx="71">
                  <c:v>42478</c:v>
                </c:pt>
                <c:pt idx="72">
                  <c:v>42479</c:v>
                </c:pt>
                <c:pt idx="73">
                  <c:v>42480</c:v>
                </c:pt>
                <c:pt idx="74">
                  <c:v>42481</c:v>
                </c:pt>
                <c:pt idx="75">
                  <c:v>42482</c:v>
                </c:pt>
                <c:pt idx="76">
                  <c:v>42485</c:v>
                </c:pt>
                <c:pt idx="77">
                  <c:v>42486</c:v>
                </c:pt>
                <c:pt idx="78">
                  <c:v>42487</c:v>
                </c:pt>
                <c:pt idx="79">
                  <c:v>42488</c:v>
                </c:pt>
                <c:pt idx="80">
                  <c:v>42489</c:v>
                </c:pt>
                <c:pt idx="81">
                  <c:v>42493</c:v>
                </c:pt>
                <c:pt idx="82">
                  <c:v>42494</c:v>
                </c:pt>
                <c:pt idx="83">
                  <c:v>42495</c:v>
                </c:pt>
                <c:pt idx="84">
                  <c:v>42496</c:v>
                </c:pt>
                <c:pt idx="85">
                  <c:v>42499</c:v>
                </c:pt>
                <c:pt idx="86">
                  <c:v>42500</c:v>
                </c:pt>
                <c:pt idx="87">
                  <c:v>42501</c:v>
                </c:pt>
                <c:pt idx="88">
                  <c:v>42502</c:v>
                </c:pt>
                <c:pt idx="89">
                  <c:v>42503</c:v>
                </c:pt>
                <c:pt idx="90">
                  <c:v>42506</c:v>
                </c:pt>
                <c:pt idx="91">
                  <c:v>42507</c:v>
                </c:pt>
                <c:pt idx="92">
                  <c:v>42508</c:v>
                </c:pt>
                <c:pt idx="93">
                  <c:v>42509</c:v>
                </c:pt>
                <c:pt idx="94">
                  <c:v>42510</c:v>
                </c:pt>
                <c:pt idx="95">
                  <c:v>42513</c:v>
                </c:pt>
                <c:pt idx="96">
                  <c:v>42514</c:v>
                </c:pt>
                <c:pt idx="97">
                  <c:v>42515</c:v>
                </c:pt>
                <c:pt idx="98">
                  <c:v>42516</c:v>
                </c:pt>
                <c:pt idx="99">
                  <c:v>42517</c:v>
                </c:pt>
                <c:pt idx="100">
                  <c:v>42520</c:v>
                </c:pt>
                <c:pt idx="101">
                  <c:v>42521</c:v>
                </c:pt>
                <c:pt idx="102">
                  <c:v>42522</c:v>
                </c:pt>
                <c:pt idx="103">
                  <c:v>42523</c:v>
                </c:pt>
                <c:pt idx="104">
                  <c:v>42524</c:v>
                </c:pt>
                <c:pt idx="105">
                  <c:v>42527</c:v>
                </c:pt>
                <c:pt idx="106">
                  <c:v>42528</c:v>
                </c:pt>
                <c:pt idx="107">
                  <c:v>42529</c:v>
                </c:pt>
                <c:pt idx="108">
                  <c:v>42533</c:v>
                </c:pt>
                <c:pt idx="109">
                  <c:v>42534</c:v>
                </c:pt>
                <c:pt idx="110">
                  <c:v>42535</c:v>
                </c:pt>
                <c:pt idx="111">
                  <c:v>42536</c:v>
                </c:pt>
                <c:pt idx="112">
                  <c:v>42537</c:v>
                </c:pt>
                <c:pt idx="113">
                  <c:v>42538</c:v>
                </c:pt>
                <c:pt idx="114">
                  <c:v>42541</c:v>
                </c:pt>
                <c:pt idx="115">
                  <c:v>42542</c:v>
                </c:pt>
                <c:pt idx="116">
                  <c:v>42543</c:v>
                </c:pt>
                <c:pt idx="117">
                  <c:v>42544</c:v>
                </c:pt>
                <c:pt idx="118">
                  <c:v>42545</c:v>
                </c:pt>
                <c:pt idx="119">
                  <c:v>42548</c:v>
                </c:pt>
                <c:pt idx="120">
                  <c:v>42549</c:v>
                </c:pt>
                <c:pt idx="121">
                  <c:v>42550</c:v>
                </c:pt>
                <c:pt idx="122">
                  <c:v>42551</c:v>
                </c:pt>
                <c:pt idx="123">
                  <c:v>42552</c:v>
                </c:pt>
                <c:pt idx="124">
                  <c:v>42555</c:v>
                </c:pt>
                <c:pt idx="125">
                  <c:v>42556</c:v>
                </c:pt>
                <c:pt idx="126">
                  <c:v>42557</c:v>
                </c:pt>
                <c:pt idx="127">
                  <c:v>42558</c:v>
                </c:pt>
                <c:pt idx="128">
                  <c:v>42559</c:v>
                </c:pt>
                <c:pt idx="129">
                  <c:v>42562</c:v>
                </c:pt>
                <c:pt idx="130">
                  <c:v>42563</c:v>
                </c:pt>
                <c:pt idx="131">
                  <c:v>42564</c:v>
                </c:pt>
                <c:pt idx="132">
                  <c:v>42565</c:v>
                </c:pt>
                <c:pt idx="133">
                  <c:v>42566</c:v>
                </c:pt>
                <c:pt idx="134">
                  <c:v>42569</c:v>
                </c:pt>
                <c:pt idx="135">
                  <c:v>42570</c:v>
                </c:pt>
                <c:pt idx="136">
                  <c:v>42571</c:v>
                </c:pt>
                <c:pt idx="137">
                  <c:v>42572</c:v>
                </c:pt>
                <c:pt idx="138">
                  <c:v>42573</c:v>
                </c:pt>
                <c:pt idx="139">
                  <c:v>42576</c:v>
                </c:pt>
                <c:pt idx="140">
                  <c:v>42577</c:v>
                </c:pt>
                <c:pt idx="141">
                  <c:v>42578</c:v>
                </c:pt>
                <c:pt idx="142">
                  <c:v>42579</c:v>
                </c:pt>
                <c:pt idx="143">
                  <c:v>42580</c:v>
                </c:pt>
                <c:pt idx="144">
                  <c:v>42583</c:v>
                </c:pt>
                <c:pt idx="145">
                  <c:v>42584</c:v>
                </c:pt>
                <c:pt idx="146">
                  <c:v>42585</c:v>
                </c:pt>
                <c:pt idx="147">
                  <c:v>42586</c:v>
                </c:pt>
                <c:pt idx="148">
                  <c:v>42587</c:v>
                </c:pt>
                <c:pt idx="149">
                  <c:v>42590</c:v>
                </c:pt>
                <c:pt idx="150">
                  <c:v>42591</c:v>
                </c:pt>
                <c:pt idx="151">
                  <c:v>42592</c:v>
                </c:pt>
                <c:pt idx="152">
                  <c:v>42593</c:v>
                </c:pt>
                <c:pt idx="153">
                  <c:v>42594</c:v>
                </c:pt>
                <c:pt idx="154">
                  <c:v>42597</c:v>
                </c:pt>
                <c:pt idx="155">
                  <c:v>42598</c:v>
                </c:pt>
                <c:pt idx="156">
                  <c:v>42599</c:v>
                </c:pt>
                <c:pt idx="157">
                  <c:v>42600</c:v>
                </c:pt>
                <c:pt idx="158">
                  <c:v>42601</c:v>
                </c:pt>
                <c:pt idx="159">
                  <c:v>42604</c:v>
                </c:pt>
                <c:pt idx="160">
                  <c:v>42605</c:v>
                </c:pt>
                <c:pt idx="161">
                  <c:v>42606</c:v>
                </c:pt>
                <c:pt idx="162">
                  <c:v>42607</c:v>
                </c:pt>
                <c:pt idx="163">
                  <c:v>42608</c:v>
                </c:pt>
                <c:pt idx="164">
                  <c:v>42611</c:v>
                </c:pt>
                <c:pt idx="165">
                  <c:v>42612</c:v>
                </c:pt>
                <c:pt idx="166">
                  <c:v>42613</c:v>
                </c:pt>
              </c:numCache>
            </c:numRef>
          </c:cat>
          <c:val>
            <c:numRef>
              <c:f>'140202买卖点'!$C$2:$C$168</c:f>
              <c:numCache>
                <c:formatCode>0.0000</c:formatCode>
                <c:ptCount val="167"/>
                <c:pt idx="0">
                  <c:v>-1.3619115496173999E-3</c:v>
                </c:pt>
                <c:pt idx="1">
                  <c:v>-8.2877467065745102E-4</c:v>
                </c:pt>
                <c:pt idx="2">
                  <c:v>-5.2755138692184303E-5</c:v>
                </c:pt>
                <c:pt idx="3">
                  <c:v>5.9830210843458997E-4</c:v>
                </c:pt>
                <c:pt idx="4">
                  <c:v>7.6997307330395305E-4</c:v>
                </c:pt>
                <c:pt idx="5">
                  <c:v>1.9044619827510701E-3</c:v>
                </c:pt>
                <c:pt idx="6">
                  <c:v>2.50255644812625E-3</c:v>
                </c:pt>
                <c:pt idx="7">
                  <c:v>3.0235427200206999E-3</c:v>
                </c:pt>
                <c:pt idx="8">
                  <c:v>1.53678185905326E-3</c:v>
                </c:pt>
                <c:pt idx="9">
                  <c:v>5.5549960577683201E-4</c:v>
                </c:pt>
                <c:pt idx="10">
                  <c:v>2.2478625235544699E-4</c:v>
                </c:pt>
                <c:pt idx="11">
                  <c:v>-5.2838642167329897E-4</c:v>
                </c:pt>
                <c:pt idx="12">
                  <c:v>-7.4402884063740104E-4</c:v>
                </c:pt>
                <c:pt idx="13">
                  <c:v>4.2337837484307501E-5</c:v>
                </c:pt>
                <c:pt idx="14">
                  <c:v>-2.03278001094098E-4</c:v>
                </c:pt>
                <c:pt idx="15">
                  <c:v>-1.0129754006816801E-3</c:v>
                </c:pt>
                <c:pt idx="16">
                  <c:v>-2.5443779982373699E-3</c:v>
                </c:pt>
                <c:pt idx="17">
                  <c:v>-2.5101325059209102E-3</c:v>
                </c:pt>
                <c:pt idx="18">
                  <c:v>-3.9180168732100301E-4</c:v>
                </c:pt>
                <c:pt idx="19">
                  <c:v>-6.3271268524900406E-5</c:v>
                </c:pt>
                <c:pt idx="20">
                  <c:v>-7.2819461297945998E-4</c:v>
                </c:pt>
                <c:pt idx="21">
                  <c:v>-1.0714990371908401E-3</c:v>
                </c:pt>
                <c:pt idx="22">
                  <c:v>-6.77845384792764E-4</c:v>
                </c:pt>
                <c:pt idx="23">
                  <c:v>-3.9824854338921202E-4</c:v>
                </c:pt>
                <c:pt idx="24">
                  <c:v>-4.0818721222768401E-4</c:v>
                </c:pt>
                <c:pt idx="25">
                  <c:v>-5.42926709289682E-4</c:v>
                </c:pt>
                <c:pt idx="26">
                  <c:v>9.43557265029593E-5</c:v>
                </c:pt>
                <c:pt idx="27">
                  <c:v>-1.0432429438146399E-3</c:v>
                </c:pt>
                <c:pt idx="28">
                  <c:v>-1.1360955710789701E-3</c:v>
                </c:pt>
                <c:pt idx="29">
                  <c:v>-3.6671808682142698E-4</c:v>
                </c:pt>
                <c:pt idx="30">
                  <c:v>3.9138973337005101E-4</c:v>
                </c:pt>
                <c:pt idx="31">
                  <c:v>1.5761839339187801E-3</c:v>
                </c:pt>
                <c:pt idx="32">
                  <c:v>2.5158728019536399E-3</c:v>
                </c:pt>
                <c:pt idx="33">
                  <c:v>2.1596919818356302E-3</c:v>
                </c:pt>
                <c:pt idx="34">
                  <c:v>1.9641258271418899E-3</c:v>
                </c:pt>
                <c:pt idx="35">
                  <c:v>2.5371524400661402E-3</c:v>
                </c:pt>
                <c:pt idx="36">
                  <c:v>3.0608731307708598E-3</c:v>
                </c:pt>
                <c:pt idx="37">
                  <c:v>3.4091907879263399E-3</c:v>
                </c:pt>
                <c:pt idx="38">
                  <c:v>4.1334520070175403E-3</c:v>
                </c:pt>
                <c:pt idx="39">
                  <c:v>3.6625474049973902E-3</c:v>
                </c:pt>
                <c:pt idx="40">
                  <c:v>3.9993470912829104E-3</c:v>
                </c:pt>
                <c:pt idx="41">
                  <c:v>3.1220200312878101E-3</c:v>
                </c:pt>
                <c:pt idx="42">
                  <c:v>3.4109921750451501E-3</c:v>
                </c:pt>
                <c:pt idx="43">
                  <c:v>3.3472895653738899E-3</c:v>
                </c:pt>
                <c:pt idx="44">
                  <c:v>4.1956361838755302E-3</c:v>
                </c:pt>
                <c:pt idx="45">
                  <c:v>5.0302267976563E-3</c:v>
                </c:pt>
                <c:pt idx="46">
                  <c:v>5.0016657856510899E-3</c:v>
                </c:pt>
                <c:pt idx="47">
                  <c:v>5.3093966943567102E-3</c:v>
                </c:pt>
                <c:pt idx="48">
                  <c:v>6.01742403525596E-3</c:v>
                </c:pt>
                <c:pt idx="49">
                  <c:v>6.5415009548164304E-3</c:v>
                </c:pt>
                <c:pt idx="50">
                  <c:v>7.2875547078585798E-3</c:v>
                </c:pt>
                <c:pt idx="51">
                  <c:v>7.3754036107973597E-3</c:v>
                </c:pt>
                <c:pt idx="52">
                  <c:v>7.2058371975258799E-3</c:v>
                </c:pt>
                <c:pt idx="53">
                  <c:v>7.6802554600130498E-3</c:v>
                </c:pt>
                <c:pt idx="54">
                  <c:v>7.8598243853107395E-3</c:v>
                </c:pt>
                <c:pt idx="55">
                  <c:v>7.8076805677287399E-3</c:v>
                </c:pt>
                <c:pt idx="56">
                  <c:v>6.6710914781453702E-3</c:v>
                </c:pt>
                <c:pt idx="57">
                  <c:v>6.3807147551515602E-3</c:v>
                </c:pt>
                <c:pt idx="58">
                  <c:v>6.4320195366016604E-3</c:v>
                </c:pt>
                <c:pt idx="59">
                  <c:v>6.8265689439255296E-3</c:v>
                </c:pt>
                <c:pt idx="60">
                  <c:v>7.15874702577302E-3</c:v>
                </c:pt>
                <c:pt idx="61">
                  <c:v>7.0131749173236698E-3</c:v>
                </c:pt>
                <c:pt idx="62">
                  <c:v>6.7517036915087899E-3</c:v>
                </c:pt>
                <c:pt idx="63">
                  <c:v>6.3451211182139504E-3</c:v>
                </c:pt>
                <c:pt idx="64">
                  <c:v>6.2874751741735001E-3</c:v>
                </c:pt>
                <c:pt idx="65">
                  <c:v>5.9022930259151601E-3</c:v>
                </c:pt>
                <c:pt idx="66">
                  <c:v>5.1060415208033002E-3</c:v>
                </c:pt>
                <c:pt idx="67">
                  <c:v>4.3353980846621001E-3</c:v>
                </c:pt>
                <c:pt idx="68">
                  <c:v>2.4926932529527601E-3</c:v>
                </c:pt>
                <c:pt idx="69">
                  <c:v>4.0532304283042997E-3</c:v>
                </c:pt>
                <c:pt idx="70">
                  <c:v>4.7446927222978301E-3</c:v>
                </c:pt>
                <c:pt idx="71">
                  <c:v>3.7869688656062602E-3</c:v>
                </c:pt>
                <c:pt idx="72">
                  <c:v>3.7828308427694198E-3</c:v>
                </c:pt>
                <c:pt idx="73">
                  <c:v>3.17870815715948E-3</c:v>
                </c:pt>
                <c:pt idx="74">
                  <c:v>2.7895734213612099E-3</c:v>
                </c:pt>
                <c:pt idx="75">
                  <c:v>1.9477128126510501E-4</c:v>
                </c:pt>
                <c:pt idx="76">
                  <c:v>1.2927590312747899E-3</c:v>
                </c:pt>
                <c:pt idx="77">
                  <c:v>2.0216824338577001E-3</c:v>
                </c:pt>
                <c:pt idx="78">
                  <c:v>2.4861153321880099E-3</c:v>
                </c:pt>
                <c:pt idx="79">
                  <c:v>2.51238109188678E-3</c:v>
                </c:pt>
                <c:pt idx="80">
                  <c:v>3.9565465556297098E-3</c:v>
                </c:pt>
                <c:pt idx="81">
                  <c:v>4.3239395901588703E-3</c:v>
                </c:pt>
                <c:pt idx="82">
                  <c:v>4.5720046318824502E-3</c:v>
                </c:pt>
                <c:pt idx="83">
                  <c:v>4.90392955308572E-3</c:v>
                </c:pt>
                <c:pt idx="84">
                  <c:v>5.6429045941808198E-3</c:v>
                </c:pt>
                <c:pt idx="85">
                  <c:v>6.1091196437554904E-3</c:v>
                </c:pt>
                <c:pt idx="86">
                  <c:v>6.02730411397801E-3</c:v>
                </c:pt>
                <c:pt idx="87">
                  <c:v>6.9437232017795E-3</c:v>
                </c:pt>
                <c:pt idx="88">
                  <c:v>6.6718238425851296E-3</c:v>
                </c:pt>
                <c:pt idx="89">
                  <c:v>6.1605268267428404E-3</c:v>
                </c:pt>
                <c:pt idx="90">
                  <c:v>5.6249364225005004E-3</c:v>
                </c:pt>
                <c:pt idx="91">
                  <c:v>4.2343118530609996E-3</c:v>
                </c:pt>
                <c:pt idx="92">
                  <c:v>4.3884937647942204E-3</c:v>
                </c:pt>
                <c:pt idx="93">
                  <c:v>4.8445750108669899E-3</c:v>
                </c:pt>
                <c:pt idx="94">
                  <c:v>5.4606486303274701E-3</c:v>
                </c:pt>
                <c:pt idx="95">
                  <c:v>5.8104572749146897E-3</c:v>
                </c:pt>
                <c:pt idx="96">
                  <c:v>5.94871096440541E-3</c:v>
                </c:pt>
                <c:pt idx="97">
                  <c:v>5.8735797523243897E-3</c:v>
                </c:pt>
                <c:pt idx="98">
                  <c:v>5.7286270721372797E-3</c:v>
                </c:pt>
                <c:pt idx="99">
                  <c:v>5.9650046618975302E-3</c:v>
                </c:pt>
                <c:pt idx="100">
                  <c:v>6.1080999124496502E-3</c:v>
                </c:pt>
                <c:pt idx="101">
                  <c:v>6.1643985434618499E-3</c:v>
                </c:pt>
                <c:pt idx="102">
                  <c:v>6.2159489168562799E-3</c:v>
                </c:pt>
                <c:pt idx="103">
                  <c:v>6.18828987520725E-3</c:v>
                </c:pt>
                <c:pt idx="104">
                  <c:v>6.5498152938452403E-3</c:v>
                </c:pt>
                <c:pt idx="105">
                  <c:v>6.7499571681186596E-3</c:v>
                </c:pt>
                <c:pt idx="106">
                  <c:v>6.8924972877624198E-3</c:v>
                </c:pt>
                <c:pt idx="107">
                  <c:v>7.27577605829954E-3</c:v>
                </c:pt>
                <c:pt idx="108">
                  <c:v>7.24428906918373E-3</c:v>
                </c:pt>
                <c:pt idx="109">
                  <c:v>8.0925709297108295E-3</c:v>
                </c:pt>
                <c:pt idx="110">
                  <c:v>8.2316191717561899E-3</c:v>
                </c:pt>
                <c:pt idx="111">
                  <c:v>8.7671269734315195E-3</c:v>
                </c:pt>
                <c:pt idx="112">
                  <c:v>8.8296443014381793E-3</c:v>
                </c:pt>
                <c:pt idx="113">
                  <c:v>8.9488919202871404E-3</c:v>
                </c:pt>
                <c:pt idx="114">
                  <c:v>8.8557729480474006E-3</c:v>
                </c:pt>
                <c:pt idx="115">
                  <c:v>9.3317624631892304E-3</c:v>
                </c:pt>
                <c:pt idx="116">
                  <c:v>9.4108640637833307E-3</c:v>
                </c:pt>
                <c:pt idx="117">
                  <c:v>1.02819403505958E-2</c:v>
                </c:pt>
                <c:pt idx="118">
                  <c:v>1.14436948866281E-2</c:v>
                </c:pt>
                <c:pt idx="119">
                  <c:v>1.1885607877802899E-2</c:v>
                </c:pt>
                <c:pt idx="120">
                  <c:v>1.22023287273325E-2</c:v>
                </c:pt>
                <c:pt idx="121">
                  <c:v>1.24669474283174E-2</c:v>
                </c:pt>
                <c:pt idx="122">
                  <c:v>1.35556173105342E-2</c:v>
                </c:pt>
                <c:pt idx="123">
                  <c:v>1.3507968225268299E-2</c:v>
                </c:pt>
                <c:pt idx="124">
                  <c:v>1.3525268046475501E-2</c:v>
                </c:pt>
                <c:pt idx="125">
                  <c:v>1.40591952604672E-2</c:v>
                </c:pt>
                <c:pt idx="126">
                  <c:v>1.4823842203923699E-2</c:v>
                </c:pt>
                <c:pt idx="127">
                  <c:v>1.52511757488314E-2</c:v>
                </c:pt>
                <c:pt idx="128">
                  <c:v>1.54367295187106E-2</c:v>
                </c:pt>
                <c:pt idx="129">
                  <c:v>1.49158312141191E-2</c:v>
                </c:pt>
                <c:pt idx="130">
                  <c:v>1.49281426156311E-2</c:v>
                </c:pt>
                <c:pt idx="131">
                  <c:v>1.4986981644022899E-2</c:v>
                </c:pt>
                <c:pt idx="132">
                  <c:v>1.4920802765028499E-2</c:v>
                </c:pt>
                <c:pt idx="133">
                  <c:v>1.5391344168697699E-2</c:v>
                </c:pt>
                <c:pt idx="134">
                  <c:v>1.5768592163035899E-2</c:v>
                </c:pt>
                <c:pt idx="135">
                  <c:v>1.6514377369107401E-2</c:v>
                </c:pt>
                <c:pt idx="136">
                  <c:v>1.64777432735814E-2</c:v>
                </c:pt>
                <c:pt idx="137">
                  <c:v>1.6413764776119999E-2</c:v>
                </c:pt>
                <c:pt idx="138">
                  <c:v>1.60932344764344E-2</c:v>
                </c:pt>
                <c:pt idx="139">
                  <c:v>1.6200197479801198E-2</c:v>
                </c:pt>
                <c:pt idx="140">
                  <c:v>1.6439763627106301E-2</c:v>
                </c:pt>
                <c:pt idx="141">
                  <c:v>1.6711012695896699E-2</c:v>
                </c:pt>
                <c:pt idx="142">
                  <c:v>1.6888266143065999E-2</c:v>
                </c:pt>
                <c:pt idx="143">
                  <c:v>1.6895345049201801E-2</c:v>
                </c:pt>
                <c:pt idx="144">
                  <c:v>1.7715820990254399E-2</c:v>
                </c:pt>
                <c:pt idx="145">
                  <c:v>1.8230675976644E-2</c:v>
                </c:pt>
                <c:pt idx="146">
                  <c:v>1.83176769980158E-2</c:v>
                </c:pt>
                <c:pt idx="147">
                  <c:v>1.8817725709700601E-2</c:v>
                </c:pt>
                <c:pt idx="148">
                  <c:v>1.9147334566097698E-2</c:v>
                </c:pt>
                <c:pt idx="149">
                  <c:v>1.9502754997158301E-2</c:v>
                </c:pt>
                <c:pt idx="150">
                  <c:v>1.9801172495760501E-2</c:v>
                </c:pt>
                <c:pt idx="151">
                  <c:v>1.9963712072550401E-2</c:v>
                </c:pt>
                <c:pt idx="152">
                  <c:v>2.02027454282303E-2</c:v>
                </c:pt>
                <c:pt idx="153">
                  <c:v>2.0605303734404699E-2</c:v>
                </c:pt>
                <c:pt idx="154">
                  <c:v>2.0104697377879101E-2</c:v>
                </c:pt>
                <c:pt idx="155">
                  <c:v>1.9749218123037902E-2</c:v>
                </c:pt>
                <c:pt idx="156">
                  <c:v>2.0025805468825399E-2</c:v>
                </c:pt>
                <c:pt idx="157">
                  <c:v>1.98594010871831E-2</c:v>
                </c:pt>
                <c:pt idx="158">
                  <c:v>2.0080737291768399E-2</c:v>
                </c:pt>
                <c:pt idx="159">
                  <c:v>1.9753516768594499E-2</c:v>
                </c:pt>
                <c:pt idx="160">
                  <c:v>1.94318991924585E-2</c:v>
                </c:pt>
                <c:pt idx="161">
                  <c:v>1.91380150417697E-2</c:v>
                </c:pt>
                <c:pt idx="162">
                  <c:v>1.96507485724031E-2</c:v>
                </c:pt>
                <c:pt idx="163">
                  <c:v>1.9645317959256201E-2</c:v>
                </c:pt>
                <c:pt idx="164">
                  <c:v>1.83679734321451E-2</c:v>
                </c:pt>
                <c:pt idx="165">
                  <c:v>1.8988731955725601E-2</c:v>
                </c:pt>
                <c:pt idx="166">
                  <c:v>1.8921205278253899E-2</c:v>
                </c:pt>
              </c:numCache>
            </c:numRef>
          </c:val>
          <c:smooth val="0"/>
          <c:extLst>
            <c:ext xmlns:c16="http://schemas.microsoft.com/office/drawing/2014/chart" uri="{C3380CC4-5D6E-409C-BE32-E72D297353CC}">
              <c16:uniqueId val="{00000000-8C4F-407F-B1FC-836FAEF67FC4}"/>
            </c:ext>
          </c:extLst>
        </c:ser>
        <c:ser>
          <c:idx val="2"/>
          <c:order val="1"/>
          <c:tx>
            <c:strRef>
              <c:f>'140202买卖点'!$D$1</c:f>
              <c:strCache>
                <c:ptCount val="1"/>
                <c:pt idx="0">
                  <c:v>买点</c:v>
                </c:pt>
              </c:strCache>
            </c:strRef>
          </c:tx>
          <c:spPr>
            <a:ln>
              <a:noFill/>
            </a:ln>
          </c:spPr>
          <c:marker>
            <c:symbol val="triangle"/>
            <c:size val="10"/>
            <c:spPr>
              <a:solidFill>
                <a:srgbClr val="FF0000"/>
              </a:solidFill>
              <a:ln w="127000">
                <a:solidFill>
                  <a:srgbClr val="FF0000"/>
                </a:solidFill>
              </a:ln>
            </c:spPr>
          </c:marker>
          <c:cat>
            <c:numRef>
              <c:f>'140202买卖点'!$A$2:$A$168</c:f>
              <c:numCache>
                <c:formatCode>m/d/yyyy</c:formatCode>
                <c:ptCount val="167"/>
                <c:pt idx="0">
                  <c:v>42373</c:v>
                </c:pt>
                <c:pt idx="1">
                  <c:v>42374</c:v>
                </c:pt>
                <c:pt idx="2">
                  <c:v>42375</c:v>
                </c:pt>
                <c:pt idx="3">
                  <c:v>42376</c:v>
                </c:pt>
                <c:pt idx="4">
                  <c:v>42377</c:v>
                </c:pt>
                <c:pt idx="5">
                  <c:v>42380</c:v>
                </c:pt>
                <c:pt idx="6">
                  <c:v>42381</c:v>
                </c:pt>
                <c:pt idx="7">
                  <c:v>42382</c:v>
                </c:pt>
                <c:pt idx="8">
                  <c:v>42383</c:v>
                </c:pt>
                <c:pt idx="9">
                  <c:v>42384</c:v>
                </c:pt>
                <c:pt idx="10">
                  <c:v>42387</c:v>
                </c:pt>
                <c:pt idx="11">
                  <c:v>42388</c:v>
                </c:pt>
                <c:pt idx="12">
                  <c:v>42389</c:v>
                </c:pt>
                <c:pt idx="13">
                  <c:v>42390</c:v>
                </c:pt>
                <c:pt idx="14">
                  <c:v>42391</c:v>
                </c:pt>
                <c:pt idx="15">
                  <c:v>42394</c:v>
                </c:pt>
                <c:pt idx="16">
                  <c:v>42395</c:v>
                </c:pt>
                <c:pt idx="17">
                  <c:v>42396</c:v>
                </c:pt>
                <c:pt idx="18">
                  <c:v>42397</c:v>
                </c:pt>
                <c:pt idx="19">
                  <c:v>42398</c:v>
                </c:pt>
                <c:pt idx="20">
                  <c:v>42401</c:v>
                </c:pt>
                <c:pt idx="21">
                  <c:v>42402</c:v>
                </c:pt>
                <c:pt idx="22">
                  <c:v>42403</c:v>
                </c:pt>
                <c:pt idx="23">
                  <c:v>42404</c:v>
                </c:pt>
                <c:pt idx="24">
                  <c:v>42405</c:v>
                </c:pt>
                <c:pt idx="25">
                  <c:v>42406</c:v>
                </c:pt>
                <c:pt idx="26">
                  <c:v>42414</c:v>
                </c:pt>
                <c:pt idx="27">
                  <c:v>42415</c:v>
                </c:pt>
                <c:pt idx="28">
                  <c:v>42416</c:v>
                </c:pt>
                <c:pt idx="29">
                  <c:v>42417</c:v>
                </c:pt>
                <c:pt idx="30">
                  <c:v>42418</c:v>
                </c:pt>
                <c:pt idx="31">
                  <c:v>42419</c:v>
                </c:pt>
                <c:pt idx="32">
                  <c:v>42422</c:v>
                </c:pt>
                <c:pt idx="33">
                  <c:v>42423</c:v>
                </c:pt>
                <c:pt idx="34">
                  <c:v>42424</c:v>
                </c:pt>
                <c:pt idx="35">
                  <c:v>42425</c:v>
                </c:pt>
                <c:pt idx="36">
                  <c:v>42426</c:v>
                </c:pt>
                <c:pt idx="37">
                  <c:v>42429</c:v>
                </c:pt>
                <c:pt idx="38">
                  <c:v>42430</c:v>
                </c:pt>
                <c:pt idx="39">
                  <c:v>42431</c:v>
                </c:pt>
                <c:pt idx="40">
                  <c:v>42432</c:v>
                </c:pt>
                <c:pt idx="41">
                  <c:v>42433</c:v>
                </c:pt>
                <c:pt idx="42">
                  <c:v>42436</c:v>
                </c:pt>
                <c:pt idx="43">
                  <c:v>42437</c:v>
                </c:pt>
                <c:pt idx="44">
                  <c:v>42438</c:v>
                </c:pt>
                <c:pt idx="45">
                  <c:v>42439</c:v>
                </c:pt>
                <c:pt idx="46">
                  <c:v>42440</c:v>
                </c:pt>
                <c:pt idx="47">
                  <c:v>42443</c:v>
                </c:pt>
                <c:pt idx="48">
                  <c:v>42444</c:v>
                </c:pt>
                <c:pt idx="49">
                  <c:v>42445</c:v>
                </c:pt>
                <c:pt idx="50">
                  <c:v>42446</c:v>
                </c:pt>
                <c:pt idx="51">
                  <c:v>42447</c:v>
                </c:pt>
                <c:pt idx="52">
                  <c:v>42450</c:v>
                </c:pt>
                <c:pt idx="53">
                  <c:v>42451</c:v>
                </c:pt>
                <c:pt idx="54">
                  <c:v>42452</c:v>
                </c:pt>
                <c:pt idx="55">
                  <c:v>42453</c:v>
                </c:pt>
                <c:pt idx="56">
                  <c:v>42454</c:v>
                </c:pt>
                <c:pt idx="57">
                  <c:v>42457</c:v>
                </c:pt>
                <c:pt idx="58">
                  <c:v>42458</c:v>
                </c:pt>
                <c:pt idx="59">
                  <c:v>42459</c:v>
                </c:pt>
                <c:pt idx="60">
                  <c:v>42460</c:v>
                </c:pt>
                <c:pt idx="61">
                  <c:v>42461</c:v>
                </c:pt>
                <c:pt idx="62">
                  <c:v>42465</c:v>
                </c:pt>
                <c:pt idx="63">
                  <c:v>42466</c:v>
                </c:pt>
                <c:pt idx="64">
                  <c:v>42467</c:v>
                </c:pt>
                <c:pt idx="65">
                  <c:v>42468</c:v>
                </c:pt>
                <c:pt idx="66">
                  <c:v>42471</c:v>
                </c:pt>
                <c:pt idx="67">
                  <c:v>42472</c:v>
                </c:pt>
                <c:pt idx="68">
                  <c:v>42473</c:v>
                </c:pt>
                <c:pt idx="69">
                  <c:v>42474</c:v>
                </c:pt>
                <c:pt idx="70">
                  <c:v>42475</c:v>
                </c:pt>
                <c:pt idx="71">
                  <c:v>42478</c:v>
                </c:pt>
                <c:pt idx="72">
                  <c:v>42479</c:v>
                </c:pt>
                <c:pt idx="73">
                  <c:v>42480</c:v>
                </c:pt>
                <c:pt idx="74">
                  <c:v>42481</c:v>
                </c:pt>
                <c:pt idx="75">
                  <c:v>42482</c:v>
                </c:pt>
                <c:pt idx="76">
                  <c:v>42485</c:v>
                </c:pt>
                <c:pt idx="77">
                  <c:v>42486</c:v>
                </c:pt>
                <c:pt idx="78">
                  <c:v>42487</c:v>
                </c:pt>
                <c:pt idx="79">
                  <c:v>42488</c:v>
                </c:pt>
                <c:pt idx="80">
                  <c:v>42489</c:v>
                </c:pt>
                <c:pt idx="81">
                  <c:v>42493</c:v>
                </c:pt>
                <c:pt idx="82">
                  <c:v>42494</c:v>
                </c:pt>
                <c:pt idx="83">
                  <c:v>42495</c:v>
                </c:pt>
                <c:pt idx="84">
                  <c:v>42496</c:v>
                </c:pt>
                <c:pt idx="85">
                  <c:v>42499</c:v>
                </c:pt>
                <c:pt idx="86">
                  <c:v>42500</c:v>
                </c:pt>
                <c:pt idx="87">
                  <c:v>42501</c:v>
                </c:pt>
                <c:pt idx="88">
                  <c:v>42502</c:v>
                </c:pt>
                <c:pt idx="89">
                  <c:v>42503</c:v>
                </c:pt>
                <c:pt idx="90">
                  <c:v>42506</c:v>
                </c:pt>
                <c:pt idx="91">
                  <c:v>42507</c:v>
                </c:pt>
                <c:pt idx="92">
                  <c:v>42508</c:v>
                </c:pt>
                <c:pt idx="93">
                  <c:v>42509</c:v>
                </c:pt>
                <c:pt idx="94">
                  <c:v>42510</c:v>
                </c:pt>
                <c:pt idx="95">
                  <c:v>42513</c:v>
                </c:pt>
                <c:pt idx="96">
                  <c:v>42514</c:v>
                </c:pt>
                <c:pt idx="97">
                  <c:v>42515</c:v>
                </c:pt>
                <c:pt idx="98">
                  <c:v>42516</c:v>
                </c:pt>
                <c:pt idx="99">
                  <c:v>42517</c:v>
                </c:pt>
                <c:pt idx="100">
                  <c:v>42520</c:v>
                </c:pt>
                <c:pt idx="101">
                  <c:v>42521</c:v>
                </c:pt>
                <c:pt idx="102">
                  <c:v>42522</c:v>
                </c:pt>
                <c:pt idx="103">
                  <c:v>42523</c:v>
                </c:pt>
                <c:pt idx="104">
                  <c:v>42524</c:v>
                </c:pt>
                <c:pt idx="105">
                  <c:v>42527</c:v>
                </c:pt>
                <c:pt idx="106">
                  <c:v>42528</c:v>
                </c:pt>
                <c:pt idx="107">
                  <c:v>42529</c:v>
                </c:pt>
                <c:pt idx="108">
                  <c:v>42533</c:v>
                </c:pt>
                <c:pt idx="109">
                  <c:v>42534</c:v>
                </c:pt>
                <c:pt idx="110">
                  <c:v>42535</c:v>
                </c:pt>
                <c:pt idx="111">
                  <c:v>42536</c:v>
                </c:pt>
                <c:pt idx="112">
                  <c:v>42537</c:v>
                </c:pt>
                <c:pt idx="113">
                  <c:v>42538</c:v>
                </c:pt>
                <c:pt idx="114">
                  <c:v>42541</c:v>
                </c:pt>
                <c:pt idx="115">
                  <c:v>42542</c:v>
                </c:pt>
                <c:pt idx="116">
                  <c:v>42543</c:v>
                </c:pt>
                <c:pt idx="117">
                  <c:v>42544</c:v>
                </c:pt>
                <c:pt idx="118">
                  <c:v>42545</c:v>
                </c:pt>
                <c:pt idx="119">
                  <c:v>42548</c:v>
                </c:pt>
                <c:pt idx="120">
                  <c:v>42549</c:v>
                </c:pt>
                <c:pt idx="121">
                  <c:v>42550</c:v>
                </c:pt>
                <c:pt idx="122">
                  <c:v>42551</c:v>
                </c:pt>
                <c:pt idx="123">
                  <c:v>42552</c:v>
                </c:pt>
                <c:pt idx="124">
                  <c:v>42555</c:v>
                </c:pt>
                <c:pt idx="125">
                  <c:v>42556</c:v>
                </c:pt>
                <c:pt idx="126">
                  <c:v>42557</c:v>
                </c:pt>
                <c:pt idx="127">
                  <c:v>42558</c:v>
                </c:pt>
                <c:pt idx="128">
                  <c:v>42559</c:v>
                </c:pt>
                <c:pt idx="129">
                  <c:v>42562</c:v>
                </c:pt>
                <c:pt idx="130">
                  <c:v>42563</c:v>
                </c:pt>
                <c:pt idx="131">
                  <c:v>42564</c:v>
                </c:pt>
                <c:pt idx="132">
                  <c:v>42565</c:v>
                </c:pt>
                <c:pt idx="133">
                  <c:v>42566</c:v>
                </c:pt>
                <c:pt idx="134">
                  <c:v>42569</c:v>
                </c:pt>
                <c:pt idx="135">
                  <c:v>42570</c:v>
                </c:pt>
                <c:pt idx="136">
                  <c:v>42571</c:v>
                </c:pt>
                <c:pt idx="137">
                  <c:v>42572</c:v>
                </c:pt>
                <c:pt idx="138">
                  <c:v>42573</c:v>
                </c:pt>
                <c:pt idx="139">
                  <c:v>42576</c:v>
                </c:pt>
                <c:pt idx="140">
                  <c:v>42577</c:v>
                </c:pt>
                <c:pt idx="141">
                  <c:v>42578</c:v>
                </c:pt>
                <c:pt idx="142">
                  <c:v>42579</c:v>
                </c:pt>
                <c:pt idx="143">
                  <c:v>42580</c:v>
                </c:pt>
                <c:pt idx="144">
                  <c:v>42583</c:v>
                </c:pt>
                <c:pt idx="145">
                  <c:v>42584</c:v>
                </c:pt>
                <c:pt idx="146">
                  <c:v>42585</c:v>
                </c:pt>
                <c:pt idx="147">
                  <c:v>42586</c:v>
                </c:pt>
                <c:pt idx="148">
                  <c:v>42587</c:v>
                </c:pt>
                <c:pt idx="149">
                  <c:v>42590</c:v>
                </c:pt>
                <c:pt idx="150">
                  <c:v>42591</c:v>
                </c:pt>
                <c:pt idx="151">
                  <c:v>42592</c:v>
                </c:pt>
                <c:pt idx="152">
                  <c:v>42593</c:v>
                </c:pt>
                <c:pt idx="153">
                  <c:v>42594</c:v>
                </c:pt>
                <c:pt idx="154">
                  <c:v>42597</c:v>
                </c:pt>
                <c:pt idx="155">
                  <c:v>42598</c:v>
                </c:pt>
                <c:pt idx="156">
                  <c:v>42599</c:v>
                </c:pt>
                <c:pt idx="157">
                  <c:v>42600</c:v>
                </c:pt>
                <c:pt idx="158">
                  <c:v>42601</c:v>
                </c:pt>
                <c:pt idx="159">
                  <c:v>42604</c:v>
                </c:pt>
                <c:pt idx="160">
                  <c:v>42605</c:v>
                </c:pt>
                <c:pt idx="161">
                  <c:v>42606</c:v>
                </c:pt>
                <c:pt idx="162">
                  <c:v>42607</c:v>
                </c:pt>
                <c:pt idx="163">
                  <c:v>42608</c:v>
                </c:pt>
                <c:pt idx="164">
                  <c:v>42611</c:v>
                </c:pt>
                <c:pt idx="165">
                  <c:v>42612</c:v>
                </c:pt>
                <c:pt idx="166">
                  <c:v>42613</c:v>
                </c:pt>
              </c:numCache>
            </c:numRef>
          </c:cat>
          <c:val>
            <c:numRef>
              <c:f>'140202买卖点'!$D$2:$D$168</c:f>
              <c:numCache>
                <c:formatCode>General</c:formatCode>
                <c:ptCount val="167"/>
                <c:pt idx="0">
                  <c:v>-1.3619115496173999E-3</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3.9993470912829104E-3</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4.3239395901588703E-3</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6.5498152938452403E-3</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1.5391344168697699E-2</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numCache>
            </c:numRef>
          </c:val>
          <c:smooth val="0"/>
          <c:extLst>
            <c:ext xmlns:c16="http://schemas.microsoft.com/office/drawing/2014/chart" uri="{C3380CC4-5D6E-409C-BE32-E72D297353CC}">
              <c16:uniqueId val="{00000001-8C4F-407F-B1FC-836FAEF67FC4}"/>
            </c:ext>
          </c:extLst>
        </c:ser>
        <c:ser>
          <c:idx val="1"/>
          <c:order val="2"/>
          <c:tx>
            <c:strRef>
              <c:f>'140202买卖点'!$E$1</c:f>
              <c:strCache>
                <c:ptCount val="1"/>
                <c:pt idx="0">
                  <c:v>卖点</c:v>
                </c:pt>
              </c:strCache>
            </c:strRef>
          </c:tx>
          <c:spPr>
            <a:ln>
              <a:noFill/>
            </a:ln>
          </c:spPr>
          <c:marker>
            <c:symbol val="circle"/>
            <c:size val="10"/>
            <c:spPr>
              <a:solidFill>
                <a:srgbClr val="00B050"/>
              </a:solidFill>
              <a:ln w="127000">
                <a:solidFill>
                  <a:srgbClr val="00B050"/>
                </a:solidFill>
              </a:ln>
            </c:spPr>
          </c:marker>
          <c:cat>
            <c:numRef>
              <c:f>'140202买卖点'!$A$2:$A$168</c:f>
              <c:numCache>
                <c:formatCode>m/d/yyyy</c:formatCode>
                <c:ptCount val="167"/>
                <c:pt idx="0">
                  <c:v>42373</c:v>
                </c:pt>
                <c:pt idx="1">
                  <c:v>42374</c:v>
                </c:pt>
                <c:pt idx="2">
                  <c:v>42375</c:v>
                </c:pt>
                <c:pt idx="3">
                  <c:v>42376</c:v>
                </c:pt>
                <c:pt idx="4">
                  <c:v>42377</c:v>
                </c:pt>
                <c:pt idx="5">
                  <c:v>42380</c:v>
                </c:pt>
                <c:pt idx="6">
                  <c:v>42381</c:v>
                </c:pt>
                <c:pt idx="7">
                  <c:v>42382</c:v>
                </c:pt>
                <c:pt idx="8">
                  <c:v>42383</c:v>
                </c:pt>
                <c:pt idx="9">
                  <c:v>42384</c:v>
                </c:pt>
                <c:pt idx="10">
                  <c:v>42387</c:v>
                </c:pt>
                <c:pt idx="11">
                  <c:v>42388</c:v>
                </c:pt>
                <c:pt idx="12">
                  <c:v>42389</c:v>
                </c:pt>
                <c:pt idx="13">
                  <c:v>42390</c:v>
                </c:pt>
                <c:pt idx="14">
                  <c:v>42391</c:v>
                </c:pt>
                <c:pt idx="15">
                  <c:v>42394</c:v>
                </c:pt>
                <c:pt idx="16">
                  <c:v>42395</c:v>
                </c:pt>
                <c:pt idx="17">
                  <c:v>42396</c:v>
                </c:pt>
                <c:pt idx="18">
                  <c:v>42397</c:v>
                </c:pt>
                <c:pt idx="19">
                  <c:v>42398</c:v>
                </c:pt>
                <c:pt idx="20">
                  <c:v>42401</c:v>
                </c:pt>
                <c:pt idx="21">
                  <c:v>42402</c:v>
                </c:pt>
                <c:pt idx="22">
                  <c:v>42403</c:v>
                </c:pt>
                <c:pt idx="23">
                  <c:v>42404</c:v>
                </c:pt>
                <c:pt idx="24">
                  <c:v>42405</c:v>
                </c:pt>
                <c:pt idx="25">
                  <c:v>42406</c:v>
                </c:pt>
                <c:pt idx="26">
                  <c:v>42414</c:v>
                </c:pt>
                <c:pt idx="27">
                  <c:v>42415</c:v>
                </c:pt>
                <c:pt idx="28">
                  <c:v>42416</c:v>
                </c:pt>
                <c:pt idx="29">
                  <c:v>42417</c:v>
                </c:pt>
                <c:pt idx="30">
                  <c:v>42418</c:v>
                </c:pt>
                <c:pt idx="31">
                  <c:v>42419</c:v>
                </c:pt>
                <c:pt idx="32">
                  <c:v>42422</c:v>
                </c:pt>
                <c:pt idx="33">
                  <c:v>42423</c:v>
                </c:pt>
                <c:pt idx="34">
                  <c:v>42424</c:v>
                </c:pt>
                <c:pt idx="35">
                  <c:v>42425</c:v>
                </c:pt>
                <c:pt idx="36">
                  <c:v>42426</c:v>
                </c:pt>
                <c:pt idx="37">
                  <c:v>42429</c:v>
                </c:pt>
                <c:pt idx="38">
                  <c:v>42430</c:v>
                </c:pt>
                <c:pt idx="39">
                  <c:v>42431</c:v>
                </c:pt>
                <c:pt idx="40">
                  <c:v>42432</c:v>
                </c:pt>
                <c:pt idx="41">
                  <c:v>42433</c:v>
                </c:pt>
                <c:pt idx="42">
                  <c:v>42436</c:v>
                </c:pt>
                <c:pt idx="43">
                  <c:v>42437</c:v>
                </c:pt>
                <c:pt idx="44">
                  <c:v>42438</c:v>
                </c:pt>
                <c:pt idx="45">
                  <c:v>42439</c:v>
                </c:pt>
                <c:pt idx="46">
                  <c:v>42440</c:v>
                </c:pt>
                <c:pt idx="47">
                  <c:v>42443</c:v>
                </c:pt>
                <c:pt idx="48">
                  <c:v>42444</c:v>
                </c:pt>
                <c:pt idx="49">
                  <c:v>42445</c:v>
                </c:pt>
                <c:pt idx="50">
                  <c:v>42446</c:v>
                </c:pt>
                <c:pt idx="51">
                  <c:v>42447</c:v>
                </c:pt>
                <c:pt idx="52">
                  <c:v>42450</c:v>
                </c:pt>
                <c:pt idx="53">
                  <c:v>42451</c:v>
                </c:pt>
                <c:pt idx="54">
                  <c:v>42452</c:v>
                </c:pt>
                <c:pt idx="55">
                  <c:v>42453</c:v>
                </c:pt>
                <c:pt idx="56">
                  <c:v>42454</c:v>
                </c:pt>
                <c:pt idx="57">
                  <c:v>42457</c:v>
                </c:pt>
                <c:pt idx="58">
                  <c:v>42458</c:v>
                </c:pt>
                <c:pt idx="59">
                  <c:v>42459</c:v>
                </c:pt>
                <c:pt idx="60">
                  <c:v>42460</c:v>
                </c:pt>
                <c:pt idx="61">
                  <c:v>42461</c:v>
                </c:pt>
                <c:pt idx="62">
                  <c:v>42465</c:v>
                </c:pt>
                <c:pt idx="63">
                  <c:v>42466</c:v>
                </c:pt>
                <c:pt idx="64">
                  <c:v>42467</c:v>
                </c:pt>
                <c:pt idx="65">
                  <c:v>42468</c:v>
                </c:pt>
                <c:pt idx="66">
                  <c:v>42471</c:v>
                </c:pt>
                <c:pt idx="67">
                  <c:v>42472</c:v>
                </c:pt>
                <c:pt idx="68">
                  <c:v>42473</c:v>
                </c:pt>
                <c:pt idx="69">
                  <c:v>42474</c:v>
                </c:pt>
                <c:pt idx="70">
                  <c:v>42475</c:v>
                </c:pt>
                <c:pt idx="71">
                  <c:v>42478</c:v>
                </c:pt>
                <c:pt idx="72">
                  <c:v>42479</c:v>
                </c:pt>
                <c:pt idx="73">
                  <c:v>42480</c:v>
                </c:pt>
                <c:pt idx="74">
                  <c:v>42481</c:v>
                </c:pt>
                <c:pt idx="75">
                  <c:v>42482</c:v>
                </c:pt>
                <c:pt idx="76">
                  <c:v>42485</c:v>
                </c:pt>
                <c:pt idx="77">
                  <c:v>42486</c:v>
                </c:pt>
                <c:pt idx="78">
                  <c:v>42487</c:v>
                </c:pt>
                <c:pt idx="79">
                  <c:v>42488</c:v>
                </c:pt>
                <c:pt idx="80">
                  <c:v>42489</c:v>
                </c:pt>
                <c:pt idx="81">
                  <c:v>42493</c:v>
                </c:pt>
                <c:pt idx="82">
                  <c:v>42494</c:v>
                </c:pt>
                <c:pt idx="83">
                  <c:v>42495</c:v>
                </c:pt>
                <c:pt idx="84">
                  <c:v>42496</c:v>
                </c:pt>
                <c:pt idx="85">
                  <c:v>42499</c:v>
                </c:pt>
                <c:pt idx="86">
                  <c:v>42500</c:v>
                </c:pt>
                <c:pt idx="87">
                  <c:v>42501</c:v>
                </c:pt>
                <c:pt idx="88">
                  <c:v>42502</c:v>
                </c:pt>
                <c:pt idx="89">
                  <c:v>42503</c:v>
                </c:pt>
                <c:pt idx="90">
                  <c:v>42506</c:v>
                </c:pt>
                <c:pt idx="91">
                  <c:v>42507</c:v>
                </c:pt>
                <c:pt idx="92">
                  <c:v>42508</c:v>
                </c:pt>
                <c:pt idx="93">
                  <c:v>42509</c:v>
                </c:pt>
                <c:pt idx="94">
                  <c:v>42510</c:v>
                </c:pt>
                <c:pt idx="95">
                  <c:v>42513</c:v>
                </c:pt>
                <c:pt idx="96">
                  <c:v>42514</c:v>
                </c:pt>
                <c:pt idx="97">
                  <c:v>42515</c:v>
                </c:pt>
                <c:pt idx="98">
                  <c:v>42516</c:v>
                </c:pt>
                <c:pt idx="99">
                  <c:v>42517</c:v>
                </c:pt>
                <c:pt idx="100">
                  <c:v>42520</c:v>
                </c:pt>
                <c:pt idx="101">
                  <c:v>42521</c:v>
                </c:pt>
                <c:pt idx="102">
                  <c:v>42522</c:v>
                </c:pt>
                <c:pt idx="103">
                  <c:v>42523</c:v>
                </c:pt>
                <c:pt idx="104">
                  <c:v>42524</c:v>
                </c:pt>
                <c:pt idx="105">
                  <c:v>42527</c:v>
                </c:pt>
                <c:pt idx="106">
                  <c:v>42528</c:v>
                </c:pt>
                <c:pt idx="107">
                  <c:v>42529</c:v>
                </c:pt>
                <c:pt idx="108">
                  <c:v>42533</c:v>
                </c:pt>
                <c:pt idx="109">
                  <c:v>42534</c:v>
                </c:pt>
                <c:pt idx="110">
                  <c:v>42535</c:v>
                </c:pt>
                <c:pt idx="111">
                  <c:v>42536</c:v>
                </c:pt>
                <c:pt idx="112">
                  <c:v>42537</c:v>
                </c:pt>
                <c:pt idx="113">
                  <c:v>42538</c:v>
                </c:pt>
                <c:pt idx="114">
                  <c:v>42541</c:v>
                </c:pt>
                <c:pt idx="115">
                  <c:v>42542</c:v>
                </c:pt>
                <c:pt idx="116">
                  <c:v>42543</c:v>
                </c:pt>
                <c:pt idx="117">
                  <c:v>42544</c:v>
                </c:pt>
                <c:pt idx="118">
                  <c:v>42545</c:v>
                </c:pt>
                <c:pt idx="119">
                  <c:v>42548</c:v>
                </c:pt>
                <c:pt idx="120">
                  <c:v>42549</c:v>
                </c:pt>
                <c:pt idx="121">
                  <c:v>42550</c:v>
                </c:pt>
                <c:pt idx="122">
                  <c:v>42551</c:v>
                </c:pt>
                <c:pt idx="123">
                  <c:v>42552</c:v>
                </c:pt>
                <c:pt idx="124">
                  <c:v>42555</c:v>
                </c:pt>
                <c:pt idx="125">
                  <c:v>42556</c:v>
                </c:pt>
                <c:pt idx="126">
                  <c:v>42557</c:v>
                </c:pt>
                <c:pt idx="127">
                  <c:v>42558</c:v>
                </c:pt>
                <c:pt idx="128">
                  <c:v>42559</c:v>
                </c:pt>
                <c:pt idx="129">
                  <c:v>42562</c:v>
                </c:pt>
                <c:pt idx="130">
                  <c:v>42563</c:v>
                </c:pt>
                <c:pt idx="131">
                  <c:v>42564</c:v>
                </c:pt>
                <c:pt idx="132">
                  <c:v>42565</c:v>
                </c:pt>
                <c:pt idx="133">
                  <c:v>42566</c:v>
                </c:pt>
                <c:pt idx="134">
                  <c:v>42569</c:v>
                </c:pt>
                <c:pt idx="135">
                  <c:v>42570</c:v>
                </c:pt>
                <c:pt idx="136">
                  <c:v>42571</c:v>
                </c:pt>
                <c:pt idx="137">
                  <c:v>42572</c:v>
                </c:pt>
                <c:pt idx="138">
                  <c:v>42573</c:v>
                </c:pt>
                <c:pt idx="139">
                  <c:v>42576</c:v>
                </c:pt>
                <c:pt idx="140">
                  <c:v>42577</c:v>
                </c:pt>
                <c:pt idx="141">
                  <c:v>42578</c:v>
                </c:pt>
                <c:pt idx="142">
                  <c:v>42579</c:v>
                </c:pt>
                <c:pt idx="143">
                  <c:v>42580</c:v>
                </c:pt>
                <c:pt idx="144">
                  <c:v>42583</c:v>
                </c:pt>
                <c:pt idx="145">
                  <c:v>42584</c:v>
                </c:pt>
                <c:pt idx="146">
                  <c:v>42585</c:v>
                </c:pt>
                <c:pt idx="147">
                  <c:v>42586</c:v>
                </c:pt>
                <c:pt idx="148">
                  <c:v>42587</c:v>
                </c:pt>
                <c:pt idx="149">
                  <c:v>42590</c:v>
                </c:pt>
                <c:pt idx="150">
                  <c:v>42591</c:v>
                </c:pt>
                <c:pt idx="151">
                  <c:v>42592</c:v>
                </c:pt>
                <c:pt idx="152">
                  <c:v>42593</c:v>
                </c:pt>
                <c:pt idx="153">
                  <c:v>42594</c:v>
                </c:pt>
                <c:pt idx="154">
                  <c:v>42597</c:v>
                </c:pt>
                <c:pt idx="155">
                  <c:v>42598</c:v>
                </c:pt>
                <c:pt idx="156">
                  <c:v>42599</c:v>
                </c:pt>
                <c:pt idx="157">
                  <c:v>42600</c:v>
                </c:pt>
                <c:pt idx="158">
                  <c:v>42601</c:v>
                </c:pt>
                <c:pt idx="159">
                  <c:v>42604</c:v>
                </c:pt>
                <c:pt idx="160">
                  <c:v>42605</c:v>
                </c:pt>
                <c:pt idx="161">
                  <c:v>42606</c:v>
                </c:pt>
                <c:pt idx="162">
                  <c:v>42607</c:v>
                </c:pt>
                <c:pt idx="163">
                  <c:v>42608</c:v>
                </c:pt>
                <c:pt idx="164">
                  <c:v>42611</c:v>
                </c:pt>
                <c:pt idx="165">
                  <c:v>42612</c:v>
                </c:pt>
                <c:pt idx="166">
                  <c:v>42613</c:v>
                </c:pt>
              </c:numCache>
            </c:numRef>
          </c:cat>
          <c:val>
            <c:numRef>
              <c:f>'140202买卖点'!$E$2:$E$168</c:f>
              <c:numCache>
                <c:formatCode>General</c:formatCode>
                <c:ptCount val="167"/>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-1.0714990371908401E-3</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6.7517036915087899E-3</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1.8921205278253899E-2</c:v>
                </c:pt>
              </c:numCache>
            </c:numRef>
          </c:val>
          <c:smooth val="0"/>
          <c:extLst>
            <c:ext xmlns:c16="http://schemas.microsoft.com/office/drawing/2014/chart" uri="{C3380CC4-5D6E-409C-BE32-E72D297353CC}">
              <c16:uniqueId val="{00000002-8C4F-407F-B1FC-836FAEF67FC4}"/>
            </c:ext>
          </c:extLst>
        </c:ser>
        <c:dLbls>
          <c:showLegendKey val="0"/>
          <c:showVal val="0"/>
          <c:showCatName val="0"/>
          <c:showSerName val="0"/>
          <c:showPercent val="0"/>
          <c:showBubbleSize val="0"/>
        </c:dLbls>
        <c:smooth val="0"/>
        <c:axId val="95199232"/>
        <c:axId val="95201152"/>
      </c:lineChart>
      <c:dateAx>
        <c:axId val="95199232"/>
        <c:scaling>
          <c:orientation val="minMax"/>
        </c:scaling>
        <c:delete val="0"/>
        <c:axPos val="b"/>
        <c:numFmt formatCode="mmdd" sourceLinked="0"/>
        <c:majorTickMark val="in"/>
        <c:minorTickMark val="none"/>
        <c:tickLblPos val="low"/>
        <c:spPr>
          <a:ln>
            <a:solidFill>
              <a:schemeClr val="tx1"/>
            </a:solidFill>
          </a:ln>
        </c:spPr>
        <c:txPr>
          <a:bodyPr rot="-5400000" vert="horz"/>
          <a:lstStyle/>
          <a:p>
            <a:pPr>
              <a:defRPr/>
            </a:pPr>
            <a:endParaRPr lang="zh-CN"/>
          </a:p>
        </c:txPr>
        <c:crossAx val="95201152"/>
        <c:crosses val="autoZero"/>
        <c:auto val="1"/>
        <c:lblOffset val="100"/>
        <c:baseTimeUnit val="days"/>
        <c:majorUnit val="14"/>
        <c:majorTimeUnit val="days"/>
      </c:dateAx>
      <c:valAx>
        <c:axId val="95201152"/>
        <c:scaling>
          <c:orientation val="minMax"/>
          <c:max val="0.03"/>
          <c:min val="-1.0000000000000002E-2"/>
        </c:scaling>
        <c:delete val="0"/>
        <c:axPos val="l"/>
        <c:majorGridlines>
          <c:spPr>
            <a:ln w="1270">
              <a:prstDash val="dash"/>
            </a:ln>
          </c:spPr>
        </c:majorGridlines>
        <c:numFmt formatCode="#,##0.00_ " sourceLinked="0"/>
        <c:majorTickMark val="out"/>
        <c:minorTickMark val="none"/>
        <c:tickLblPos val="nextTo"/>
        <c:crossAx val="95199232"/>
        <c:crosses val="autoZero"/>
        <c:crossBetween val="between"/>
        <c:majorUnit val="1.0000000000000002E-2"/>
      </c:valAx>
    </c:plotArea>
    <c:legend>
      <c:legendPos val="t"/>
      <c:layout>
        <c:manualLayout>
          <c:xMode val="edge"/>
          <c:yMode val="edge"/>
          <c:x val="0.1632603081723652"/>
          <c:y val="3.1105883556771366E-2"/>
          <c:w val="0.66037674166108318"/>
          <c:h val="0.10257716191333567"/>
        </c:manualLayout>
      </c:layout>
      <c:overlay val="0"/>
      <c:spPr>
        <a:solidFill>
          <a:schemeClr val="bg1">
            <a:lumMod val="95000"/>
          </a:schemeClr>
        </a:solidFill>
      </c:spPr>
    </c:legend>
    <c:plotVisOnly val="1"/>
    <c:dispBlanksAs val="gap"/>
    <c:showDLblsOverMax val="0"/>
  </c:chart>
  <c:spPr>
    <a:ln>
      <a:noFill/>
    </a:ln>
  </c:spPr>
  <c:txPr>
    <a:bodyPr/>
    <a:lstStyle/>
    <a:p>
      <a:pPr>
        <a:defRPr sz="2400">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策略回测!$E$1</c:f>
              <c:strCache>
                <c:ptCount val="1"/>
                <c:pt idx="0">
                  <c:v>国泰君安策略净值</c:v>
                </c:pt>
              </c:strCache>
            </c:strRef>
          </c:tx>
          <c:spPr>
            <a:ln w="38100">
              <a:solidFill>
                <a:srgbClr val="00B0F0"/>
              </a:solidFill>
            </a:ln>
          </c:spPr>
          <c:marker>
            <c:symbol val="none"/>
          </c:marker>
          <c:cat>
            <c:numRef>
              <c:f>策略回测!$L$2:$L$20</c:f>
              <c:numCache>
                <c:formatCode>m/d/yyyy</c:formatCode>
                <c:ptCount val="19"/>
                <c:pt idx="0">
                  <c:v>42286</c:v>
                </c:pt>
                <c:pt idx="1">
                  <c:v>42311</c:v>
                </c:pt>
                <c:pt idx="2">
                  <c:v>42325</c:v>
                </c:pt>
                <c:pt idx="3">
                  <c:v>42353</c:v>
                </c:pt>
                <c:pt idx="4">
                  <c:v>42360</c:v>
                </c:pt>
                <c:pt idx="5">
                  <c:v>42367</c:v>
                </c:pt>
                <c:pt idx="6">
                  <c:v>42387</c:v>
                </c:pt>
                <c:pt idx="7">
                  <c:v>42402</c:v>
                </c:pt>
                <c:pt idx="8">
                  <c:v>42430</c:v>
                </c:pt>
                <c:pt idx="9">
                  <c:v>42437</c:v>
                </c:pt>
                <c:pt idx="10">
                  <c:v>42457</c:v>
                </c:pt>
                <c:pt idx="11">
                  <c:v>42466</c:v>
                </c:pt>
                <c:pt idx="12">
                  <c:v>42471</c:v>
                </c:pt>
                <c:pt idx="13">
                  <c:v>42493</c:v>
                </c:pt>
                <c:pt idx="14">
                  <c:v>42513</c:v>
                </c:pt>
                <c:pt idx="15">
                  <c:v>42542</c:v>
                </c:pt>
                <c:pt idx="16">
                  <c:v>42549</c:v>
                </c:pt>
                <c:pt idx="17">
                  <c:v>42563</c:v>
                </c:pt>
                <c:pt idx="18">
                  <c:v>42612</c:v>
                </c:pt>
              </c:numCache>
            </c:numRef>
          </c:cat>
          <c:val>
            <c:numRef>
              <c:f>策略回测!$E$2:$E$23</c:f>
              <c:numCache>
                <c:formatCode>General</c:formatCode>
                <c:ptCount val="22"/>
                <c:pt idx="0">
                  <c:v>1</c:v>
                </c:pt>
                <c:pt idx="1">
                  <c:v>1.0030319121966</c:v>
                </c:pt>
                <c:pt idx="2">
                  <c:v>1.0133556582873899</c:v>
                </c:pt>
                <c:pt idx="3">
                  <c:v>1.00606913963297</c:v>
                </c:pt>
                <c:pt idx="4">
                  <c:v>1.0113029645948901</c:v>
                </c:pt>
                <c:pt idx="5">
                  <c:v>1.01550483922708</c:v>
                </c:pt>
                <c:pt idx="6">
                  <c:v>1.02837730306922</c:v>
                </c:pt>
                <c:pt idx="7">
                  <c:v>1.0268580377165699</c:v>
                </c:pt>
                <c:pt idx="8">
                  <c:v>1.0360838491376401</c:v>
                </c:pt>
                <c:pt idx="9">
                  <c:v>1.0309342423227501</c:v>
                </c:pt>
                <c:pt idx="10">
                  <c:v>1.0358035202049101</c:v>
                </c:pt>
                <c:pt idx="11">
                  <c:v>1.0337201846143</c:v>
                </c:pt>
                <c:pt idx="12">
                  <c:v>1.03294169436168</c:v>
                </c:pt>
                <c:pt idx="13">
                  <c:v>1.035758285285</c:v>
                </c:pt>
                <c:pt idx="14">
                  <c:v>1.0348623264111401</c:v>
                </c:pt>
                <c:pt idx="15">
                  <c:v>1.03040794964091</c:v>
                </c:pt>
                <c:pt idx="16">
                  <c:v>1.03646828316337</c:v>
                </c:pt>
                <c:pt idx="17">
                  <c:v>1.04481254358355</c:v>
                </c:pt>
                <c:pt idx="18">
                  <c:v>1.04876354583022</c:v>
                </c:pt>
                <c:pt idx="19">
                  <c:v>1.0533967498525401</c:v>
                </c:pt>
                <c:pt idx="20">
                  <c:v>1.0593107821786201</c:v>
                </c:pt>
                <c:pt idx="21">
                  <c:v>1.0569558257982401</c:v>
                </c:pt>
              </c:numCache>
            </c:numRef>
          </c:val>
          <c:smooth val="0"/>
          <c:extLst>
            <c:ext xmlns:c16="http://schemas.microsoft.com/office/drawing/2014/chart" uri="{C3380CC4-5D6E-409C-BE32-E72D297353CC}">
              <c16:uniqueId val="{00000000-2671-46BB-AE59-3422857B4261}"/>
            </c:ext>
          </c:extLst>
        </c:ser>
        <c:ser>
          <c:idx val="1"/>
          <c:order val="1"/>
          <c:tx>
            <c:strRef>
              <c:f>策略回测!$M$1</c:f>
              <c:strCache>
                <c:ptCount val="1"/>
                <c:pt idx="0">
                  <c:v>华创策略净值</c:v>
                </c:pt>
              </c:strCache>
            </c:strRef>
          </c:tx>
          <c:spPr>
            <a:ln w="38100">
              <a:solidFill>
                <a:schemeClr val="accent1"/>
              </a:solidFill>
            </a:ln>
          </c:spPr>
          <c:marker>
            <c:symbol val="none"/>
          </c:marker>
          <c:cat>
            <c:numRef>
              <c:f>策略回测!$L$2:$L$20</c:f>
              <c:numCache>
                <c:formatCode>m/d/yyyy</c:formatCode>
                <c:ptCount val="19"/>
                <c:pt idx="0">
                  <c:v>42286</c:v>
                </c:pt>
                <c:pt idx="1">
                  <c:v>42311</c:v>
                </c:pt>
                <c:pt idx="2">
                  <c:v>42325</c:v>
                </c:pt>
                <c:pt idx="3">
                  <c:v>42353</c:v>
                </c:pt>
                <c:pt idx="4">
                  <c:v>42360</c:v>
                </c:pt>
                <c:pt idx="5">
                  <c:v>42367</c:v>
                </c:pt>
                <c:pt idx="6">
                  <c:v>42387</c:v>
                </c:pt>
                <c:pt idx="7">
                  <c:v>42402</c:v>
                </c:pt>
                <c:pt idx="8">
                  <c:v>42430</c:v>
                </c:pt>
                <c:pt idx="9">
                  <c:v>42437</c:v>
                </c:pt>
                <c:pt idx="10">
                  <c:v>42457</c:v>
                </c:pt>
                <c:pt idx="11">
                  <c:v>42466</c:v>
                </c:pt>
                <c:pt idx="12">
                  <c:v>42471</c:v>
                </c:pt>
                <c:pt idx="13">
                  <c:v>42493</c:v>
                </c:pt>
                <c:pt idx="14">
                  <c:v>42513</c:v>
                </c:pt>
                <c:pt idx="15">
                  <c:v>42542</c:v>
                </c:pt>
                <c:pt idx="16">
                  <c:v>42549</c:v>
                </c:pt>
                <c:pt idx="17">
                  <c:v>42563</c:v>
                </c:pt>
                <c:pt idx="18">
                  <c:v>42612</c:v>
                </c:pt>
              </c:numCache>
            </c:numRef>
          </c:cat>
          <c:val>
            <c:numRef>
              <c:f>策略回测!$M$2:$M$20</c:f>
              <c:numCache>
                <c:formatCode>General</c:formatCode>
                <c:ptCount val="19"/>
                <c:pt idx="0">
                  <c:v>1</c:v>
                </c:pt>
                <c:pt idx="1">
                  <c:v>1.0020181177779499</c:v>
                </c:pt>
                <c:pt idx="2">
                  <c:v>1.002187340379</c:v>
                </c:pt>
                <c:pt idx="3">
                  <c:v>1.0039472519391199</c:v>
                </c:pt>
                <c:pt idx="4">
                  <c:v>1.0047991724507299</c:v>
                </c:pt>
                <c:pt idx="5">
                  <c:v>1.005940798094459</c:v>
                </c:pt>
                <c:pt idx="6">
                  <c:v>1.0090551672279999</c:v>
                </c:pt>
                <c:pt idx="7">
                  <c:v>1.0039109060417599</c:v>
                </c:pt>
                <c:pt idx="8">
                  <c:v>1.00466627664902</c:v>
                </c:pt>
                <c:pt idx="9">
                  <c:v>1.0045236251827401</c:v>
                </c:pt>
                <c:pt idx="10">
                  <c:v>1.0050349548867199</c:v>
                </c:pt>
                <c:pt idx="11">
                  <c:v>1.0048676523520601</c:v>
                </c:pt>
                <c:pt idx="12">
                  <c:v>1.00487473391547</c:v>
                </c:pt>
                <c:pt idx="13">
                  <c:v>1.00491038268453</c:v>
                </c:pt>
                <c:pt idx="14">
                  <c:v>1.0044697119814801</c:v>
                </c:pt>
                <c:pt idx="15">
                  <c:v>1.0050973640661101</c:v>
                </c:pt>
                <c:pt idx="16">
                  <c:v>1.0054047318300801</c:v>
                </c:pt>
                <c:pt idx="17">
                  <c:v>1.00545415758198</c:v>
                </c:pt>
                <c:pt idx="18">
                  <c:v>1.00560147866394</c:v>
                </c:pt>
              </c:numCache>
            </c:numRef>
          </c:val>
          <c:smooth val="0"/>
          <c:extLst>
            <c:ext xmlns:c16="http://schemas.microsoft.com/office/drawing/2014/chart" uri="{C3380CC4-5D6E-409C-BE32-E72D297353CC}">
              <c16:uniqueId val="{00000001-2671-46BB-AE59-3422857B4261}"/>
            </c:ext>
          </c:extLst>
        </c:ser>
        <c:dLbls>
          <c:showLegendKey val="0"/>
          <c:showVal val="0"/>
          <c:showCatName val="0"/>
          <c:showSerName val="0"/>
          <c:showPercent val="0"/>
          <c:showBubbleSize val="0"/>
        </c:dLbls>
        <c:smooth val="0"/>
        <c:axId val="97036160"/>
        <c:axId val="97037696"/>
      </c:lineChart>
      <c:dateAx>
        <c:axId val="97036160"/>
        <c:scaling>
          <c:orientation val="minMax"/>
        </c:scaling>
        <c:delete val="0"/>
        <c:axPos val="b"/>
        <c:numFmt formatCode="mm\-dd" sourceLinked="0"/>
        <c:majorTickMark val="in"/>
        <c:minorTickMark val="none"/>
        <c:tickLblPos val="nextTo"/>
        <c:spPr>
          <a:ln/>
        </c:spPr>
        <c:crossAx val="97037696"/>
        <c:crosses val="autoZero"/>
        <c:auto val="1"/>
        <c:lblOffset val="100"/>
        <c:baseTimeUnit val="days"/>
        <c:majorUnit val="3"/>
        <c:majorTimeUnit val="months"/>
      </c:dateAx>
      <c:valAx>
        <c:axId val="97037696"/>
        <c:scaling>
          <c:orientation val="minMax"/>
          <c:max val="1.06"/>
          <c:min val="1"/>
        </c:scaling>
        <c:delete val="0"/>
        <c:axPos val="l"/>
        <c:majorGridlines>
          <c:spPr>
            <a:ln>
              <a:prstDash val="dash"/>
            </a:ln>
          </c:spPr>
        </c:majorGridlines>
        <c:numFmt formatCode="General" sourceLinked="1"/>
        <c:majorTickMark val="in"/>
        <c:minorTickMark val="none"/>
        <c:tickLblPos val="nextTo"/>
        <c:spPr>
          <a:ln/>
        </c:spPr>
        <c:crossAx val="97036160"/>
        <c:crosses val="autoZero"/>
        <c:crossBetween val="between"/>
        <c:majorUnit val="2.0000000000000004E-2"/>
      </c:valAx>
    </c:plotArea>
    <c:legend>
      <c:legendPos val="t"/>
      <c:layout>
        <c:manualLayout>
          <c:xMode val="edge"/>
          <c:yMode val="edge"/>
          <c:x val="3.2243579086675411E-2"/>
          <c:y val="1.9834710743801654E-2"/>
          <c:w val="0.9222458444749746"/>
          <c:h val="0.10621825990759419"/>
        </c:manualLayout>
      </c:layout>
      <c:overlay val="0"/>
    </c:legend>
    <c:plotVisOnly val="1"/>
    <c:dispBlanksAs val="gap"/>
    <c:showDLblsOverMax val="0"/>
  </c:chart>
  <c:spPr>
    <a:ln>
      <a:noFill/>
    </a:ln>
  </c:spPr>
  <c:txPr>
    <a:bodyPr/>
    <a:lstStyle/>
    <a:p>
      <a:pPr>
        <a:defRPr sz="2000">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10Y</a:t>
            </a:r>
            <a:r>
              <a:rPr lang="zh-CN"/>
              <a:t>国债</a:t>
            </a:r>
          </a:p>
        </c:rich>
      </c:tx>
      <c:overlay val="0"/>
    </c:title>
    <c:autoTitleDeleted val="0"/>
    <c:plotArea>
      <c:layout/>
      <c:lineChart>
        <c:grouping val="standard"/>
        <c:varyColors val="0"/>
        <c:ser>
          <c:idx val="0"/>
          <c:order val="0"/>
          <c:tx>
            <c:strRef>
              <c:f>策略回测!$U$1</c:f>
              <c:strCache>
                <c:ptCount val="1"/>
                <c:pt idx="0">
                  <c:v>10Y国债</c:v>
                </c:pt>
              </c:strCache>
            </c:strRef>
          </c:tx>
          <c:spPr>
            <a:ln w="38100">
              <a:solidFill>
                <a:schemeClr val="accent1"/>
              </a:solidFill>
            </a:ln>
          </c:spPr>
          <c:marker>
            <c:symbol val="none"/>
          </c:marker>
          <c:cat>
            <c:numRef>
              <c:f>策略回测!$T$2:$T$230</c:f>
              <c:numCache>
                <c:formatCode>m/d/yyyy</c:formatCode>
                <c:ptCount val="229"/>
                <c:pt idx="0">
                  <c:v>42285</c:v>
                </c:pt>
                <c:pt idx="1">
                  <c:v>42286</c:v>
                </c:pt>
                <c:pt idx="2">
                  <c:v>42287</c:v>
                </c:pt>
                <c:pt idx="3">
                  <c:v>42289</c:v>
                </c:pt>
                <c:pt idx="4">
                  <c:v>42290</c:v>
                </c:pt>
                <c:pt idx="5">
                  <c:v>42291</c:v>
                </c:pt>
                <c:pt idx="6">
                  <c:v>42292</c:v>
                </c:pt>
                <c:pt idx="7">
                  <c:v>42293</c:v>
                </c:pt>
                <c:pt idx="8">
                  <c:v>42296</c:v>
                </c:pt>
                <c:pt idx="9">
                  <c:v>42297</c:v>
                </c:pt>
                <c:pt idx="10">
                  <c:v>42298</c:v>
                </c:pt>
                <c:pt idx="11">
                  <c:v>42299</c:v>
                </c:pt>
                <c:pt idx="12">
                  <c:v>42300</c:v>
                </c:pt>
                <c:pt idx="13">
                  <c:v>42303</c:v>
                </c:pt>
                <c:pt idx="14">
                  <c:v>42304</c:v>
                </c:pt>
                <c:pt idx="15">
                  <c:v>42305</c:v>
                </c:pt>
                <c:pt idx="16">
                  <c:v>42306</c:v>
                </c:pt>
                <c:pt idx="17">
                  <c:v>42307</c:v>
                </c:pt>
                <c:pt idx="18">
                  <c:v>42310</c:v>
                </c:pt>
                <c:pt idx="19">
                  <c:v>42311</c:v>
                </c:pt>
                <c:pt idx="20">
                  <c:v>42312</c:v>
                </c:pt>
                <c:pt idx="21">
                  <c:v>42313</c:v>
                </c:pt>
                <c:pt idx="22">
                  <c:v>42314</c:v>
                </c:pt>
                <c:pt idx="23">
                  <c:v>42317</c:v>
                </c:pt>
                <c:pt idx="24">
                  <c:v>42318</c:v>
                </c:pt>
                <c:pt idx="25">
                  <c:v>42319</c:v>
                </c:pt>
                <c:pt idx="26">
                  <c:v>42320</c:v>
                </c:pt>
                <c:pt idx="27">
                  <c:v>42321</c:v>
                </c:pt>
                <c:pt idx="28">
                  <c:v>42324</c:v>
                </c:pt>
                <c:pt idx="29">
                  <c:v>42325</c:v>
                </c:pt>
                <c:pt idx="30">
                  <c:v>42326</c:v>
                </c:pt>
                <c:pt idx="31">
                  <c:v>42327</c:v>
                </c:pt>
                <c:pt idx="32">
                  <c:v>42328</c:v>
                </c:pt>
                <c:pt idx="33">
                  <c:v>42331</c:v>
                </c:pt>
                <c:pt idx="34">
                  <c:v>42332</c:v>
                </c:pt>
                <c:pt idx="35">
                  <c:v>42333</c:v>
                </c:pt>
                <c:pt idx="36">
                  <c:v>42334</c:v>
                </c:pt>
                <c:pt idx="37">
                  <c:v>42335</c:v>
                </c:pt>
                <c:pt idx="38">
                  <c:v>42338</c:v>
                </c:pt>
                <c:pt idx="39">
                  <c:v>42339</c:v>
                </c:pt>
                <c:pt idx="40">
                  <c:v>42340</c:v>
                </c:pt>
                <c:pt idx="41">
                  <c:v>42341</c:v>
                </c:pt>
                <c:pt idx="42">
                  <c:v>42342</c:v>
                </c:pt>
                <c:pt idx="43">
                  <c:v>42345</c:v>
                </c:pt>
                <c:pt idx="44">
                  <c:v>42346</c:v>
                </c:pt>
                <c:pt idx="45">
                  <c:v>42347</c:v>
                </c:pt>
                <c:pt idx="46">
                  <c:v>42348</c:v>
                </c:pt>
                <c:pt idx="47">
                  <c:v>42349</c:v>
                </c:pt>
                <c:pt idx="48">
                  <c:v>42352</c:v>
                </c:pt>
                <c:pt idx="49">
                  <c:v>42353</c:v>
                </c:pt>
                <c:pt idx="50">
                  <c:v>42354</c:v>
                </c:pt>
                <c:pt idx="51">
                  <c:v>42355</c:v>
                </c:pt>
                <c:pt idx="52">
                  <c:v>42356</c:v>
                </c:pt>
                <c:pt idx="53">
                  <c:v>42359</c:v>
                </c:pt>
                <c:pt idx="54">
                  <c:v>42360</c:v>
                </c:pt>
                <c:pt idx="55">
                  <c:v>42361</c:v>
                </c:pt>
                <c:pt idx="56">
                  <c:v>42362</c:v>
                </c:pt>
                <c:pt idx="57">
                  <c:v>42363</c:v>
                </c:pt>
                <c:pt idx="58">
                  <c:v>42366</c:v>
                </c:pt>
                <c:pt idx="59">
                  <c:v>42367</c:v>
                </c:pt>
                <c:pt idx="60">
                  <c:v>42368</c:v>
                </c:pt>
                <c:pt idx="61">
                  <c:v>42369</c:v>
                </c:pt>
                <c:pt idx="62">
                  <c:v>42373</c:v>
                </c:pt>
                <c:pt idx="63">
                  <c:v>42374</c:v>
                </c:pt>
                <c:pt idx="64">
                  <c:v>42375</c:v>
                </c:pt>
                <c:pt idx="65">
                  <c:v>42376</c:v>
                </c:pt>
                <c:pt idx="66">
                  <c:v>42377</c:v>
                </c:pt>
                <c:pt idx="67">
                  <c:v>42380</c:v>
                </c:pt>
                <c:pt idx="68">
                  <c:v>42381</c:v>
                </c:pt>
                <c:pt idx="69">
                  <c:v>42382</c:v>
                </c:pt>
                <c:pt idx="70">
                  <c:v>42383</c:v>
                </c:pt>
                <c:pt idx="71">
                  <c:v>42384</c:v>
                </c:pt>
                <c:pt idx="72">
                  <c:v>42387</c:v>
                </c:pt>
                <c:pt idx="73">
                  <c:v>42388</c:v>
                </c:pt>
                <c:pt idx="74">
                  <c:v>42389</c:v>
                </c:pt>
                <c:pt idx="75">
                  <c:v>42390</c:v>
                </c:pt>
                <c:pt idx="76">
                  <c:v>42391</c:v>
                </c:pt>
                <c:pt idx="77">
                  <c:v>42394</c:v>
                </c:pt>
                <c:pt idx="78">
                  <c:v>42395</c:v>
                </c:pt>
                <c:pt idx="79">
                  <c:v>42396</c:v>
                </c:pt>
                <c:pt idx="80">
                  <c:v>42397</c:v>
                </c:pt>
                <c:pt idx="81">
                  <c:v>42398</c:v>
                </c:pt>
                <c:pt idx="82">
                  <c:v>42401</c:v>
                </c:pt>
                <c:pt idx="83">
                  <c:v>42402</c:v>
                </c:pt>
                <c:pt idx="84">
                  <c:v>42403</c:v>
                </c:pt>
                <c:pt idx="85">
                  <c:v>42404</c:v>
                </c:pt>
                <c:pt idx="86">
                  <c:v>42405</c:v>
                </c:pt>
                <c:pt idx="87">
                  <c:v>42406</c:v>
                </c:pt>
                <c:pt idx="88">
                  <c:v>42414</c:v>
                </c:pt>
                <c:pt idx="89">
                  <c:v>42415</c:v>
                </c:pt>
                <c:pt idx="90">
                  <c:v>42416</c:v>
                </c:pt>
                <c:pt idx="91">
                  <c:v>42417</c:v>
                </c:pt>
                <c:pt idx="92">
                  <c:v>42418</c:v>
                </c:pt>
                <c:pt idx="93">
                  <c:v>42419</c:v>
                </c:pt>
                <c:pt idx="94">
                  <c:v>42422</c:v>
                </c:pt>
                <c:pt idx="95">
                  <c:v>42423</c:v>
                </c:pt>
                <c:pt idx="96">
                  <c:v>42424</c:v>
                </c:pt>
                <c:pt idx="97">
                  <c:v>42425</c:v>
                </c:pt>
                <c:pt idx="98">
                  <c:v>42426</c:v>
                </c:pt>
                <c:pt idx="99">
                  <c:v>42429</c:v>
                </c:pt>
                <c:pt idx="100">
                  <c:v>42430</c:v>
                </c:pt>
                <c:pt idx="101">
                  <c:v>42431</c:v>
                </c:pt>
                <c:pt idx="102">
                  <c:v>42432</c:v>
                </c:pt>
                <c:pt idx="103">
                  <c:v>42433</c:v>
                </c:pt>
                <c:pt idx="104">
                  <c:v>42436</c:v>
                </c:pt>
                <c:pt idx="105">
                  <c:v>42437</c:v>
                </c:pt>
                <c:pt idx="106">
                  <c:v>42438</c:v>
                </c:pt>
                <c:pt idx="107">
                  <c:v>42439</c:v>
                </c:pt>
                <c:pt idx="108">
                  <c:v>42440</c:v>
                </c:pt>
                <c:pt idx="109">
                  <c:v>42443</c:v>
                </c:pt>
                <c:pt idx="110">
                  <c:v>42444</c:v>
                </c:pt>
                <c:pt idx="111">
                  <c:v>42445</c:v>
                </c:pt>
                <c:pt idx="112">
                  <c:v>42446</c:v>
                </c:pt>
                <c:pt idx="113">
                  <c:v>42447</c:v>
                </c:pt>
                <c:pt idx="114">
                  <c:v>42450</c:v>
                </c:pt>
                <c:pt idx="115">
                  <c:v>42451</c:v>
                </c:pt>
                <c:pt idx="116">
                  <c:v>42452</c:v>
                </c:pt>
                <c:pt idx="117">
                  <c:v>42453</c:v>
                </c:pt>
                <c:pt idx="118">
                  <c:v>42454</c:v>
                </c:pt>
                <c:pt idx="119">
                  <c:v>42457</c:v>
                </c:pt>
                <c:pt idx="120">
                  <c:v>42458</c:v>
                </c:pt>
                <c:pt idx="121">
                  <c:v>42459</c:v>
                </c:pt>
                <c:pt idx="122">
                  <c:v>42460</c:v>
                </c:pt>
                <c:pt idx="123">
                  <c:v>42461</c:v>
                </c:pt>
                <c:pt idx="124">
                  <c:v>42465</c:v>
                </c:pt>
                <c:pt idx="125">
                  <c:v>42466</c:v>
                </c:pt>
                <c:pt idx="126">
                  <c:v>42467</c:v>
                </c:pt>
                <c:pt idx="127">
                  <c:v>42468</c:v>
                </c:pt>
                <c:pt idx="128">
                  <c:v>42471</c:v>
                </c:pt>
                <c:pt idx="129">
                  <c:v>42472</c:v>
                </c:pt>
                <c:pt idx="130">
                  <c:v>42473</c:v>
                </c:pt>
                <c:pt idx="131">
                  <c:v>42474</c:v>
                </c:pt>
                <c:pt idx="132">
                  <c:v>42475</c:v>
                </c:pt>
                <c:pt idx="133">
                  <c:v>42478</c:v>
                </c:pt>
                <c:pt idx="134">
                  <c:v>42479</c:v>
                </c:pt>
                <c:pt idx="135">
                  <c:v>42480</c:v>
                </c:pt>
                <c:pt idx="136">
                  <c:v>42481</c:v>
                </c:pt>
                <c:pt idx="137">
                  <c:v>42482</c:v>
                </c:pt>
                <c:pt idx="138">
                  <c:v>42485</c:v>
                </c:pt>
                <c:pt idx="139">
                  <c:v>42486</c:v>
                </c:pt>
                <c:pt idx="140">
                  <c:v>42487</c:v>
                </c:pt>
                <c:pt idx="141">
                  <c:v>42488</c:v>
                </c:pt>
                <c:pt idx="142">
                  <c:v>42489</c:v>
                </c:pt>
                <c:pt idx="143">
                  <c:v>42493</c:v>
                </c:pt>
                <c:pt idx="144">
                  <c:v>42494</c:v>
                </c:pt>
                <c:pt idx="145">
                  <c:v>42495</c:v>
                </c:pt>
                <c:pt idx="146">
                  <c:v>42496</c:v>
                </c:pt>
                <c:pt idx="147">
                  <c:v>42499</c:v>
                </c:pt>
                <c:pt idx="148">
                  <c:v>42500</c:v>
                </c:pt>
                <c:pt idx="149">
                  <c:v>42501</c:v>
                </c:pt>
                <c:pt idx="150">
                  <c:v>42502</c:v>
                </c:pt>
                <c:pt idx="151">
                  <c:v>42503</c:v>
                </c:pt>
                <c:pt idx="152">
                  <c:v>42506</c:v>
                </c:pt>
                <c:pt idx="153">
                  <c:v>42507</c:v>
                </c:pt>
                <c:pt idx="154">
                  <c:v>42508</c:v>
                </c:pt>
                <c:pt idx="155">
                  <c:v>42509</c:v>
                </c:pt>
                <c:pt idx="156">
                  <c:v>42510</c:v>
                </c:pt>
                <c:pt idx="157">
                  <c:v>42513</c:v>
                </c:pt>
                <c:pt idx="158">
                  <c:v>42514</c:v>
                </c:pt>
                <c:pt idx="159">
                  <c:v>42515</c:v>
                </c:pt>
                <c:pt idx="160">
                  <c:v>42516</c:v>
                </c:pt>
                <c:pt idx="161">
                  <c:v>42517</c:v>
                </c:pt>
                <c:pt idx="162">
                  <c:v>42520</c:v>
                </c:pt>
                <c:pt idx="163">
                  <c:v>42521</c:v>
                </c:pt>
                <c:pt idx="164">
                  <c:v>42522</c:v>
                </c:pt>
                <c:pt idx="165">
                  <c:v>42523</c:v>
                </c:pt>
                <c:pt idx="166">
                  <c:v>42524</c:v>
                </c:pt>
                <c:pt idx="167">
                  <c:v>42527</c:v>
                </c:pt>
                <c:pt idx="168">
                  <c:v>42528</c:v>
                </c:pt>
                <c:pt idx="169">
                  <c:v>42529</c:v>
                </c:pt>
                <c:pt idx="170">
                  <c:v>42533</c:v>
                </c:pt>
                <c:pt idx="171">
                  <c:v>42534</c:v>
                </c:pt>
                <c:pt idx="172">
                  <c:v>42535</c:v>
                </c:pt>
                <c:pt idx="173">
                  <c:v>42536</c:v>
                </c:pt>
                <c:pt idx="174">
                  <c:v>42537</c:v>
                </c:pt>
                <c:pt idx="175">
                  <c:v>42538</c:v>
                </c:pt>
                <c:pt idx="176">
                  <c:v>42541</c:v>
                </c:pt>
                <c:pt idx="177">
                  <c:v>42542</c:v>
                </c:pt>
                <c:pt idx="178">
                  <c:v>42543</c:v>
                </c:pt>
                <c:pt idx="179">
                  <c:v>42544</c:v>
                </c:pt>
                <c:pt idx="180">
                  <c:v>42545</c:v>
                </c:pt>
                <c:pt idx="181">
                  <c:v>42548</c:v>
                </c:pt>
                <c:pt idx="182">
                  <c:v>42549</c:v>
                </c:pt>
                <c:pt idx="183">
                  <c:v>42550</c:v>
                </c:pt>
                <c:pt idx="184">
                  <c:v>42551</c:v>
                </c:pt>
                <c:pt idx="185">
                  <c:v>42552</c:v>
                </c:pt>
                <c:pt idx="186">
                  <c:v>42555</c:v>
                </c:pt>
                <c:pt idx="187">
                  <c:v>42556</c:v>
                </c:pt>
                <c:pt idx="188">
                  <c:v>42557</c:v>
                </c:pt>
                <c:pt idx="189">
                  <c:v>42558</c:v>
                </c:pt>
                <c:pt idx="190">
                  <c:v>42559</c:v>
                </c:pt>
                <c:pt idx="191">
                  <c:v>42562</c:v>
                </c:pt>
                <c:pt idx="192">
                  <c:v>42563</c:v>
                </c:pt>
                <c:pt idx="193">
                  <c:v>42564</c:v>
                </c:pt>
                <c:pt idx="194">
                  <c:v>42565</c:v>
                </c:pt>
                <c:pt idx="195">
                  <c:v>42566</c:v>
                </c:pt>
                <c:pt idx="196">
                  <c:v>42569</c:v>
                </c:pt>
                <c:pt idx="197">
                  <c:v>42570</c:v>
                </c:pt>
                <c:pt idx="198">
                  <c:v>42571</c:v>
                </c:pt>
                <c:pt idx="199">
                  <c:v>42572</c:v>
                </c:pt>
                <c:pt idx="200">
                  <c:v>42573</c:v>
                </c:pt>
                <c:pt idx="201">
                  <c:v>42576</c:v>
                </c:pt>
                <c:pt idx="202">
                  <c:v>42577</c:v>
                </c:pt>
                <c:pt idx="203">
                  <c:v>42578</c:v>
                </c:pt>
                <c:pt idx="204">
                  <c:v>42579</c:v>
                </c:pt>
                <c:pt idx="205">
                  <c:v>42580</c:v>
                </c:pt>
                <c:pt idx="206">
                  <c:v>42583</c:v>
                </c:pt>
                <c:pt idx="207">
                  <c:v>42584</c:v>
                </c:pt>
                <c:pt idx="208">
                  <c:v>42585</c:v>
                </c:pt>
                <c:pt idx="209">
                  <c:v>42586</c:v>
                </c:pt>
                <c:pt idx="210">
                  <c:v>42587</c:v>
                </c:pt>
                <c:pt idx="211">
                  <c:v>42590</c:v>
                </c:pt>
                <c:pt idx="212">
                  <c:v>42591</c:v>
                </c:pt>
                <c:pt idx="213">
                  <c:v>42592</c:v>
                </c:pt>
                <c:pt idx="214">
                  <c:v>42593</c:v>
                </c:pt>
                <c:pt idx="215">
                  <c:v>42594</c:v>
                </c:pt>
                <c:pt idx="216">
                  <c:v>42597</c:v>
                </c:pt>
                <c:pt idx="217">
                  <c:v>42598</c:v>
                </c:pt>
                <c:pt idx="218">
                  <c:v>42599</c:v>
                </c:pt>
                <c:pt idx="219">
                  <c:v>42600</c:v>
                </c:pt>
                <c:pt idx="220">
                  <c:v>42601</c:v>
                </c:pt>
                <c:pt idx="221">
                  <c:v>42604</c:v>
                </c:pt>
                <c:pt idx="222">
                  <c:v>42605</c:v>
                </c:pt>
                <c:pt idx="223">
                  <c:v>42606</c:v>
                </c:pt>
                <c:pt idx="224">
                  <c:v>42607</c:v>
                </c:pt>
                <c:pt idx="225">
                  <c:v>42608</c:v>
                </c:pt>
                <c:pt idx="226">
                  <c:v>42611</c:v>
                </c:pt>
                <c:pt idx="227">
                  <c:v>42612</c:v>
                </c:pt>
                <c:pt idx="228">
                  <c:v>42613</c:v>
                </c:pt>
              </c:numCache>
            </c:numRef>
          </c:cat>
          <c:val>
            <c:numRef>
              <c:f>策略回测!$U$2:$U$230</c:f>
              <c:numCache>
                <c:formatCode>General</c:formatCode>
                <c:ptCount val="229"/>
                <c:pt idx="0">
                  <c:v>6.7634791614359202E-2</c:v>
                </c:pt>
                <c:pt idx="1">
                  <c:v>6.6729589304934195E-2</c:v>
                </c:pt>
                <c:pt idx="2">
                  <c:v>6.7955424431779501E-2</c:v>
                </c:pt>
                <c:pt idx="3">
                  <c:v>7.1681010297118403E-2</c:v>
                </c:pt>
                <c:pt idx="4">
                  <c:v>7.7382765262776806E-2</c:v>
                </c:pt>
                <c:pt idx="5">
                  <c:v>7.3992555862234105E-2</c:v>
                </c:pt>
                <c:pt idx="6">
                  <c:v>7.0642346582236296E-2</c:v>
                </c:pt>
                <c:pt idx="7">
                  <c:v>7.0938162158154405E-2</c:v>
                </c:pt>
                <c:pt idx="8">
                  <c:v>7.6176206064496405E-2</c:v>
                </c:pt>
                <c:pt idx="9">
                  <c:v>7.6277675114544002E-2</c:v>
                </c:pt>
                <c:pt idx="10">
                  <c:v>7.7234028291433707E-2</c:v>
                </c:pt>
                <c:pt idx="11">
                  <c:v>7.8193633518260003E-2</c:v>
                </c:pt>
                <c:pt idx="12">
                  <c:v>8.0307351769813601E-2</c:v>
                </c:pt>
                <c:pt idx="13">
                  <c:v>8.3932806154168205E-2</c:v>
                </c:pt>
                <c:pt idx="14">
                  <c:v>8.3368316820310304E-2</c:v>
                </c:pt>
                <c:pt idx="15">
                  <c:v>7.7924150785396898E-2</c:v>
                </c:pt>
                <c:pt idx="16">
                  <c:v>7.7138971593702102E-2</c:v>
                </c:pt>
                <c:pt idx="17">
                  <c:v>7.8048330047967504E-2</c:v>
                </c:pt>
                <c:pt idx="18">
                  <c:v>7.5734279946071598E-2</c:v>
                </c:pt>
                <c:pt idx="19">
                  <c:v>7.1035161201814703E-2</c:v>
                </c:pt>
                <c:pt idx="20">
                  <c:v>7.2738564731319899E-2</c:v>
                </c:pt>
                <c:pt idx="21">
                  <c:v>7.2029588640140099E-2</c:v>
                </c:pt>
                <c:pt idx="22">
                  <c:v>6.4793544804734801E-2</c:v>
                </c:pt>
                <c:pt idx="23">
                  <c:v>6.5923285527152806E-2</c:v>
                </c:pt>
                <c:pt idx="24">
                  <c:v>7.2649283446289098E-2</c:v>
                </c:pt>
                <c:pt idx="25">
                  <c:v>7.1718830848176193E-2</c:v>
                </c:pt>
                <c:pt idx="26">
                  <c:v>7.2663415876679696E-2</c:v>
                </c:pt>
                <c:pt idx="27">
                  <c:v>7.2106895217127501E-2</c:v>
                </c:pt>
                <c:pt idx="28">
                  <c:v>7.3016066957337006E-2</c:v>
                </c:pt>
                <c:pt idx="29">
                  <c:v>7.1757220224708096E-2</c:v>
                </c:pt>
                <c:pt idx="30">
                  <c:v>7.1809263437194695E-2</c:v>
                </c:pt>
                <c:pt idx="31">
                  <c:v>7.3236312582713806E-2</c:v>
                </c:pt>
                <c:pt idx="32">
                  <c:v>7.3068851784616806E-2</c:v>
                </c:pt>
                <c:pt idx="33">
                  <c:v>7.5166541065931694E-2</c:v>
                </c:pt>
                <c:pt idx="34">
                  <c:v>7.7228095474051003E-2</c:v>
                </c:pt>
                <c:pt idx="35">
                  <c:v>8.0448416677761495E-2</c:v>
                </c:pt>
                <c:pt idx="36">
                  <c:v>7.9596892843533995E-2</c:v>
                </c:pt>
                <c:pt idx="37">
                  <c:v>8.1763422864064503E-2</c:v>
                </c:pt>
                <c:pt idx="38">
                  <c:v>8.0976947882456199E-2</c:v>
                </c:pt>
                <c:pt idx="39">
                  <c:v>8.1473126169375298E-2</c:v>
                </c:pt>
                <c:pt idx="40">
                  <c:v>8.2910451116500597E-2</c:v>
                </c:pt>
                <c:pt idx="41">
                  <c:v>8.3476565807810904E-2</c:v>
                </c:pt>
                <c:pt idx="42">
                  <c:v>8.3493081402118904E-2</c:v>
                </c:pt>
                <c:pt idx="43">
                  <c:v>8.60227867684418E-2</c:v>
                </c:pt>
                <c:pt idx="44">
                  <c:v>8.6468309432779805E-2</c:v>
                </c:pt>
                <c:pt idx="45">
                  <c:v>8.6126406958901405E-2</c:v>
                </c:pt>
                <c:pt idx="46">
                  <c:v>8.7001992363935396E-2</c:v>
                </c:pt>
                <c:pt idx="47">
                  <c:v>8.3917550787327502E-2</c:v>
                </c:pt>
                <c:pt idx="48">
                  <c:v>8.5343969104171802E-2</c:v>
                </c:pt>
                <c:pt idx="49">
                  <c:v>8.6776018110631001E-2</c:v>
                </c:pt>
                <c:pt idx="50">
                  <c:v>8.8187530898155495E-2</c:v>
                </c:pt>
                <c:pt idx="51">
                  <c:v>9.2299485580312798E-2</c:v>
                </c:pt>
                <c:pt idx="52">
                  <c:v>9.7991103881753597E-2</c:v>
                </c:pt>
                <c:pt idx="53">
                  <c:v>9.9874381540203699E-2</c:v>
                </c:pt>
                <c:pt idx="54">
                  <c:v>0.101316319190041</c:v>
                </c:pt>
                <c:pt idx="55">
                  <c:v>0.10546895279545999</c:v>
                </c:pt>
                <c:pt idx="56">
                  <c:v>0.105089426784648</c:v>
                </c:pt>
                <c:pt idx="57">
                  <c:v>0.106240184056904</c:v>
                </c:pt>
                <c:pt idx="58">
                  <c:v>0.105434086539585</c:v>
                </c:pt>
                <c:pt idx="59">
                  <c:v>0.103667877834804</c:v>
                </c:pt>
                <c:pt idx="60">
                  <c:v>0.10420283077326201</c:v>
                </c:pt>
                <c:pt idx="61">
                  <c:v>0.10002693295564501</c:v>
                </c:pt>
                <c:pt idx="62">
                  <c:v>9.8244537807945301E-2</c:v>
                </c:pt>
                <c:pt idx="63">
                  <c:v>9.8813663960233306E-2</c:v>
                </c:pt>
                <c:pt idx="64">
                  <c:v>0.102109189085591</c:v>
                </c:pt>
                <c:pt idx="65">
                  <c:v>0.103573084664938</c:v>
                </c:pt>
                <c:pt idx="66">
                  <c:v>0.10544768262195001</c:v>
                </c:pt>
                <c:pt idx="67">
                  <c:v>0.108305739699597</c:v>
                </c:pt>
                <c:pt idx="68">
                  <c:v>0.11438349186100701</c:v>
                </c:pt>
                <c:pt idx="69">
                  <c:v>0.111921317318638</c:v>
                </c:pt>
                <c:pt idx="70">
                  <c:v>0.11244999501749001</c:v>
                </c:pt>
                <c:pt idx="71">
                  <c:v>0.109928260245282</c:v>
                </c:pt>
                <c:pt idx="72">
                  <c:v>0.108126758716265</c:v>
                </c:pt>
                <c:pt idx="73">
                  <c:v>0.106796337628751</c:v>
                </c:pt>
                <c:pt idx="74">
                  <c:v>0.108767005160386</c:v>
                </c:pt>
                <c:pt idx="75">
                  <c:v>0.11049003618207601</c:v>
                </c:pt>
                <c:pt idx="76">
                  <c:v>0.10276342175971701</c:v>
                </c:pt>
                <c:pt idx="77">
                  <c:v>0.10261492370957501</c:v>
                </c:pt>
                <c:pt idx="78">
                  <c:v>9.8963395372485594E-2</c:v>
                </c:pt>
                <c:pt idx="79">
                  <c:v>0.10043985660256501</c:v>
                </c:pt>
                <c:pt idx="80">
                  <c:v>0.10471695361226301</c:v>
                </c:pt>
                <c:pt idx="81">
                  <c:v>0.10546483149368201</c:v>
                </c:pt>
                <c:pt idx="82">
                  <c:v>0.10131607780171201</c:v>
                </c:pt>
                <c:pt idx="83">
                  <c:v>0.10173263789901101</c:v>
                </c:pt>
                <c:pt idx="84">
                  <c:v>0.104051041901097</c:v>
                </c:pt>
                <c:pt idx="85">
                  <c:v>0.104268702157085</c:v>
                </c:pt>
                <c:pt idx="86">
                  <c:v>0.104351213713212</c:v>
                </c:pt>
                <c:pt idx="87">
                  <c:v>0.108001331543465</c:v>
                </c:pt>
                <c:pt idx="88">
                  <c:v>0.10667522366794301</c:v>
                </c:pt>
                <c:pt idx="89">
                  <c:v>0.10671723563567399</c:v>
                </c:pt>
                <c:pt idx="90">
                  <c:v>0.107034507148073</c:v>
                </c:pt>
                <c:pt idx="91">
                  <c:v>0.107122908323208</c:v>
                </c:pt>
                <c:pt idx="92">
                  <c:v>0.10814808039444</c:v>
                </c:pt>
                <c:pt idx="93">
                  <c:v>0.10677305624304</c:v>
                </c:pt>
                <c:pt idx="94">
                  <c:v>0.106630403443501</c:v>
                </c:pt>
                <c:pt idx="95">
                  <c:v>0.104321040532471</c:v>
                </c:pt>
                <c:pt idx="96">
                  <c:v>0.104015815995486</c:v>
                </c:pt>
                <c:pt idx="97">
                  <c:v>0.105021169245489</c:v>
                </c:pt>
                <c:pt idx="98">
                  <c:v>0.105749785862377</c:v>
                </c:pt>
                <c:pt idx="99">
                  <c:v>0.10531129883356</c:v>
                </c:pt>
                <c:pt idx="100">
                  <c:v>0.103610431716148</c:v>
                </c:pt>
                <c:pt idx="101">
                  <c:v>0.101983460678684</c:v>
                </c:pt>
                <c:pt idx="102">
                  <c:v>0.102547994255112</c:v>
                </c:pt>
                <c:pt idx="103">
                  <c:v>9.9851420479775105E-2</c:v>
                </c:pt>
                <c:pt idx="104">
                  <c:v>9.9479180981316306E-2</c:v>
                </c:pt>
                <c:pt idx="105">
                  <c:v>0.10290119034822</c:v>
                </c:pt>
                <c:pt idx="106">
                  <c:v>0.10554020382849499</c:v>
                </c:pt>
                <c:pt idx="107">
                  <c:v>0.107475291280982</c:v>
                </c:pt>
                <c:pt idx="108">
                  <c:v>0.10727289715803399</c:v>
                </c:pt>
                <c:pt idx="109">
                  <c:v>0.107985547090648</c:v>
                </c:pt>
                <c:pt idx="110">
                  <c:v>0.11133945238434299</c:v>
                </c:pt>
                <c:pt idx="111">
                  <c:v>0.110496205730199</c:v>
                </c:pt>
                <c:pt idx="112">
                  <c:v>0.10988445609627399</c:v>
                </c:pt>
                <c:pt idx="113">
                  <c:v>0.10884052113744901</c:v>
                </c:pt>
                <c:pt idx="114">
                  <c:v>0.108929622136317</c:v>
                </c:pt>
                <c:pt idx="115">
                  <c:v>0.10900853551117699</c:v>
                </c:pt>
                <c:pt idx="116">
                  <c:v>0.10909098086572901</c:v>
                </c:pt>
                <c:pt idx="117">
                  <c:v>0.109173308677412</c:v>
                </c:pt>
                <c:pt idx="118">
                  <c:v>0.10648869181536801</c:v>
                </c:pt>
                <c:pt idx="119">
                  <c:v>0.10798569719781501</c:v>
                </c:pt>
                <c:pt idx="120">
                  <c:v>0.10975053503098101</c:v>
                </c:pt>
                <c:pt idx="121">
                  <c:v>0.10936124247560999</c:v>
                </c:pt>
                <c:pt idx="122">
                  <c:v>0.109437426919929</c:v>
                </c:pt>
                <c:pt idx="123">
                  <c:v>0.108201261646867</c:v>
                </c:pt>
                <c:pt idx="124">
                  <c:v>0.107824735667368</c:v>
                </c:pt>
                <c:pt idx="125">
                  <c:v>0.10465848629329701</c:v>
                </c:pt>
                <c:pt idx="126">
                  <c:v>0.104115457911144</c:v>
                </c:pt>
                <c:pt idx="127">
                  <c:v>0.10495956530227001</c:v>
                </c:pt>
                <c:pt idx="128">
                  <c:v>0.10494015393285699</c:v>
                </c:pt>
                <c:pt idx="129">
                  <c:v>0.103008377986535</c:v>
                </c:pt>
                <c:pt idx="130">
                  <c:v>0.102519452051733</c:v>
                </c:pt>
                <c:pt idx="131">
                  <c:v>0.104450625900795</c:v>
                </c:pt>
                <c:pt idx="132">
                  <c:v>0.105643774532521</c:v>
                </c:pt>
                <c:pt idx="133">
                  <c:v>0.105596121908998</c:v>
                </c:pt>
                <c:pt idx="134">
                  <c:v>0.103809224983009</c:v>
                </c:pt>
                <c:pt idx="135">
                  <c:v>0.104361741756854</c:v>
                </c:pt>
                <c:pt idx="136">
                  <c:v>0.1035066931274</c:v>
                </c:pt>
                <c:pt idx="137">
                  <c:v>0.10328374046655001</c:v>
                </c:pt>
                <c:pt idx="138">
                  <c:v>0.10476342352964001</c:v>
                </c:pt>
                <c:pt idx="139">
                  <c:v>0.10582629069077699</c:v>
                </c:pt>
                <c:pt idx="140">
                  <c:v>0.108187712818458</c:v>
                </c:pt>
                <c:pt idx="141">
                  <c:v>0.107814054654298</c:v>
                </c:pt>
                <c:pt idx="142">
                  <c:v>0.108385776980538</c:v>
                </c:pt>
                <c:pt idx="143">
                  <c:v>0.107775997953226</c:v>
                </c:pt>
                <c:pt idx="144">
                  <c:v>0.107389811441783</c:v>
                </c:pt>
                <c:pt idx="145">
                  <c:v>0.107481866776672</c:v>
                </c:pt>
                <c:pt idx="146">
                  <c:v>0.10959117597106099</c:v>
                </c:pt>
                <c:pt idx="147">
                  <c:v>0.10796317096386</c:v>
                </c:pt>
                <c:pt idx="148">
                  <c:v>0.107966389730086</c:v>
                </c:pt>
                <c:pt idx="149">
                  <c:v>0.10898972706478301</c:v>
                </c:pt>
                <c:pt idx="150">
                  <c:v>0.108371588737758</c:v>
                </c:pt>
                <c:pt idx="151">
                  <c:v>0.106531605044621</c:v>
                </c:pt>
                <c:pt idx="152">
                  <c:v>0.106383053330752</c:v>
                </c:pt>
                <c:pt idx="153">
                  <c:v>0.10444078190181499</c:v>
                </c:pt>
                <c:pt idx="154">
                  <c:v>0.104061027917202</c:v>
                </c:pt>
                <c:pt idx="155">
                  <c:v>0.105079222181232</c:v>
                </c:pt>
                <c:pt idx="156">
                  <c:v>0.10487895558494099</c:v>
                </c:pt>
                <c:pt idx="157">
                  <c:v>0.10681771922623499</c:v>
                </c:pt>
                <c:pt idx="158">
                  <c:v>0.10644653839991899</c:v>
                </c:pt>
                <c:pt idx="159">
                  <c:v>0.106531419036726</c:v>
                </c:pt>
                <c:pt idx="160">
                  <c:v>0.106148456303108</c:v>
                </c:pt>
                <c:pt idx="161">
                  <c:v>0.103424381416179</c:v>
                </c:pt>
                <c:pt idx="162">
                  <c:v>0.10373927619397801</c:v>
                </c:pt>
                <c:pt idx="163">
                  <c:v>0.102903136858549</c:v>
                </c:pt>
                <c:pt idx="164">
                  <c:v>0.10137914738380201</c:v>
                </c:pt>
                <c:pt idx="165">
                  <c:v>0.101241089858989</c:v>
                </c:pt>
                <c:pt idx="166">
                  <c:v>0.102240841180628</c:v>
                </c:pt>
                <c:pt idx="167">
                  <c:v>0.102053567350449</c:v>
                </c:pt>
                <c:pt idx="168">
                  <c:v>0.10207539485342799</c:v>
                </c:pt>
                <c:pt idx="169">
                  <c:v>0.102650961978273</c:v>
                </c:pt>
                <c:pt idx="170">
                  <c:v>0.103434071722425</c:v>
                </c:pt>
                <c:pt idx="171">
                  <c:v>0.106521400042281</c:v>
                </c:pt>
                <c:pt idx="172">
                  <c:v>0.106471673979156</c:v>
                </c:pt>
                <c:pt idx="173">
                  <c:v>0.107635105643762</c:v>
                </c:pt>
                <c:pt idx="174">
                  <c:v>0.108413739159363</c:v>
                </c:pt>
                <c:pt idx="175">
                  <c:v>0.10775744297374</c:v>
                </c:pt>
                <c:pt idx="176">
                  <c:v>0.10853532221421799</c:v>
                </c:pt>
                <c:pt idx="177">
                  <c:v>0.109547492893944</c:v>
                </c:pt>
                <c:pt idx="178">
                  <c:v>0.109635484891663</c:v>
                </c:pt>
                <c:pt idx="179">
                  <c:v>0.11404221052081601</c:v>
                </c:pt>
                <c:pt idx="180">
                  <c:v>0.11863158795964</c:v>
                </c:pt>
                <c:pt idx="181">
                  <c:v>0.115917540226383</c:v>
                </c:pt>
                <c:pt idx="182">
                  <c:v>0.116231485896862</c:v>
                </c:pt>
                <c:pt idx="183">
                  <c:v>0.117953522501709</c:v>
                </c:pt>
                <c:pt idx="184">
                  <c:v>0.12154646232319399</c:v>
                </c:pt>
                <c:pt idx="185">
                  <c:v>0.119242281544426</c:v>
                </c:pt>
                <c:pt idx="186">
                  <c:v>0.117459796603953</c:v>
                </c:pt>
                <c:pt idx="187">
                  <c:v>0.11894373617642399</c:v>
                </c:pt>
                <c:pt idx="188">
                  <c:v>0.121827285046346</c:v>
                </c:pt>
                <c:pt idx="189">
                  <c:v>0.122384208421072</c:v>
                </c:pt>
                <c:pt idx="190">
                  <c:v>0.12030794189517401</c:v>
                </c:pt>
                <c:pt idx="191">
                  <c:v>0.119460316083646</c:v>
                </c:pt>
                <c:pt idx="192">
                  <c:v>0.118381102210463</c:v>
                </c:pt>
                <c:pt idx="193">
                  <c:v>0.11940249790551601</c:v>
                </c:pt>
                <c:pt idx="194">
                  <c:v>0.120642238035211</c:v>
                </c:pt>
                <c:pt idx="195">
                  <c:v>0.12090620281938699</c:v>
                </c:pt>
                <c:pt idx="196">
                  <c:v>0.12168552364179</c:v>
                </c:pt>
                <c:pt idx="197">
                  <c:v>0.12364789763631</c:v>
                </c:pt>
                <c:pt idx="198">
                  <c:v>0.125491345381255</c:v>
                </c:pt>
                <c:pt idx="199">
                  <c:v>0.124637733455832</c:v>
                </c:pt>
                <c:pt idx="200">
                  <c:v>0.123387083122088</c:v>
                </c:pt>
                <c:pt idx="201">
                  <c:v>0.12490975968744999</c:v>
                </c:pt>
                <c:pt idx="202">
                  <c:v>0.124493977404875</c:v>
                </c:pt>
                <c:pt idx="203">
                  <c:v>0.12550956591844001</c:v>
                </c:pt>
                <c:pt idx="204">
                  <c:v>0.12652647727992899</c:v>
                </c:pt>
                <c:pt idx="205">
                  <c:v>0.126198594743993</c:v>
                </c:pt>
                <c:pt idx="206">
                  <c:v>0.126640884343658</c:v>
                </c:pt>
                <c:pt idx="207">
                  <c:v>0.12743141175415601</c:v>
                </c:pt>
                <c:pt idx="208">
                  <c:v>0.127751270011289</c:v>
                </c:pt>
                <c:pt idx="209">
                  <c:v>0.12935228459643999</c:v>
                </c:pt>
                <c:pt idx="210">
                  <c:v>0.13019830052671999</c:v>
                </c:pt>
                <c:pt idx="211">
                  <c:v>0.13348569419922099</c:v>
                </c:pt>
                <c:pt idx="212">
                  <c:v>0.13525338772804599</c:v>
                </c:pt>
                <c:pt idx="213">
                  <c:v>0.13604658182524301</c:v>
                </c:pt>
                <c:pt idx="214">
                  <c:v>0.13780421580764099</c:v>
                </c:pt>
                <c:pt idx="215">
                  <c:v>0.140947458668672</c:v>
                </c:pt>
                <c:pt idx="216">
                  <c:v>0.13861981047178101</c:v>
                </c:pt>
                <c:pt idx="217">
                  <c:v>0.13630238500703101</c:v>
                </c:pt>
                <c:pt idx="218">
                  <c:v>0.13733442539375601</c:v>
                </c:pt>
                <c:pt idx="219">
                  <c:v>0.13486483780532499</c:v>
                </c:pt>
                <c:pt idx="220">
                  <c:v>0.136714331727705</c:v>
                </c:pt>
                <c:pt idx="221">
                  <c:v>0.132966129816178</c:v>
                </c:pt>
                <c:pt idx="222">
                  <c:v>0.132093822134457</c:v>
                </c:pt>
                <c:pt idx="223">
                  <c:v>0.13313341835905401</c:v>
                </c:pt>
                <c:pt idx="224">
                  <c:v>0.13582499979641199</c:v>
                </c:pt>
                <c:pt idx="225">
                  <c:v>0.134754427199516</c:v>
                </c:pt>
                <c:pt idx="226">
                  <c:v>0.13044742959954</c:v>
                </c:pt>
                <c:pt idx="227">
                  <c:v>0.131195628604031</c:v>
                </c:pt>
                <c:pt idx="228">
                  <c:v>0.131023602692596</c:v>
                </c:pt>
              </c:numCache>
            </c:numRef>
          </c:val>
          <c:smooth val="0"/>
          <c:extLst>
            <c:ext xmlns:c16="http://schemas.microsoft.com/office/drawing/2014/chart" uri="{C3380CC4-5D6E-409C-BE32-E72D297353CC}">
              <c16:uniqueId val="{00000000-EEAA-4B18-BC41-729775F9B70D}"/>
            </c:ext>
          </c:extLst>
        </c:ser>
        <c:dLbls>
          <c:showLegendKey val="0"/>
          <c:showVal val="0"/>
          <c:showCatName val="0"/>
          <c:showSerName val="0"/>
          <c:showPercent val="0"/>
          <c:showBubbleSize val="0"/>
        </c:dLbls>
        <c:smooth val="0"/>
        <c:axId val="97602560"/>
        <c:axId val="97620736"/>
      </c:lineChart>
      <c:dateAx>
        <c:axId val="97602560"/>
        <c:scaling>
          <c:orientation val="minMax"/>
        </c:scaling>
        <c:delete val="0"/>
        <c:axPos val="b"/>
        <c:numFmt formatCode="mm\-dd" sourceLinked="0"/>
        <c:majorTickMark val="in"/>
        <c:minorTickMark val="none"/>
        <c:tickLblPos val="nextTo"/>
        <c:spPr>
          <a:ln/>
        </c:spPr>
        <c:crossAx val="97620736"/>
        <c:crosses val="autoZero"/>
        <c:auto val="1"/>
        <c:lblOffset val="100"/>
        <c:baseTimeUnit val="days"/>
        <c:majorUnit val="3"/>
        <c:majorTimeUnit val="months"/>
      </c:dateAx>
      <c:valAx>
        <c:axId val="97620736"/>
        <c:scaling>
          <c:orientation val="minMax"/>
          <c:max val="0.2"/>
          <c:min val="5.000000000000001E-2"/>
        </c:scaling>
        <c:delete val="0"/>
        <c:axPos val="l"/>
        <c:majorGridlines>
          <c:spPr>
            <a:ln>
              <a:prstDash val="dash"/>
            </a:ln>
          </c:spPr>
        </c:majorGridlines>
        <c:numFmt formatCode="General" sourceLinked="1"/>
        <c:majorTickMark val="in"/>
        <c:minorTickMark val="none"/>
        <c:tickLblPos val="nextTo"/>
        <c:spPr>
          <a:ln/>
        </c:spPr>
        <c:crossAx val="97602560"/>
        <c:crosses val="autoZero"/>
        <c:crossBetween val="between"/>
      </c:valAx>
    </c:plotArea>
    <c:plotVisOnly val="1"/>
    <c:dispBlanksAs val="gap"/>
    <c:showDLblsOverMax val="0"/>
  </c:chart>
  <c:spPr>
    <a:ln>
      <a:noFill/>
    </a:ln>
  </c:spPr>
  <c:txPr>
    <a:bodyPr/>
    <a:lstStyle/>
    <a:p>
      <a:pPr>
        <a:defRPr sz="2000">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E3137E-9988-46C1-95C0-938FBCAF9304}"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5F8000D0-C6BC-4F6E-8A95-9E04945D88A5}">
      <dgm:prSet phldrT="[文本]" custT="1"/>
      <dgm:spPr/>
      <dgm:t>
        <a:bodyPr/>
        <a:lstStyle/>
        <a:p>
          <a:r>
            <a:rPr lang="zh-CN" altLang="en-US" sz="2800" b="1" dirty="0">
              <a:latin typeface="微软雅黑" panose="020B0503020204020204" pitchFamily="34" charset="-122"/>
              <a:ea typeface="微软雅黑" panose="020B0503020204020204" pitchFamily="34" charset="-122"/>
            </a:rPr>
            <a:t>净值分析</a:t>
          </a:r>
        </a:p>
      </dgm:t>
    </dgm:pt>
    <dgm:pt modelId="{EFCEAC52-26F3-4C7E-9A30-DD3868399633}" type="parTrans" cxnId="{E8BA33DB-EE10-46D0-AA4A-366849D2C577}">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8E55556F-2315-4396-BB63-F5EDFF4BB26E}" type="sibTrans" cxnId="{E8BA33DB-EE10-46D0-AA4A-366849D2C577}">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72399C57-9D6E-4062-8975-6C7595FBC3BD}">
      <dgm:prSet phldrT="[文本]" custT="1"/>
      <dgm:spPr/>
      <dgm:t>
        <a:bodyPr/>
        <a:lstStyle/>
        <a:p>
          <a:r>
            <a:rPr lang="zh-CN" altLang="en-US" sz="2400" dirty="0">
              <a:latin typeface="微软雅黑" panose="020B0503020204020204" pitchFamily="34" charset="-122"/>
              <a:ea typeface="微软雅黑" panose="020B0503020204020204" pitchFamily="34" charset="-122"/>
            </a:rPr>
            <a:t>组合净值曲线</a:t>
          </a:r>
        </a:p>
      </dgm:t>
    </dgm:pt>
    <dgm:pt modelId="{407F2336-B79C-40F9-9658-F472B5B40BFC}" type="parTrans" cxnId="{3FD0D6C2-91F4-4FEC-8B09-45F1EA17E8F7}">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5BA636F3-6C92-4494-9AB4-B1CF85DA7079}" type="sibTrans" cxnId="{3FD0D6C2-91F4-4FEC-8B09-45F1EA17E8F7}">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BCE7BB29-BBFF-4004-8697-2EA9CDFDEA3C}">
      <dgm:prSet phldrT="[文本]" custT="1"/>
      <dgm:spPr/>
      <dgm:t>
        <a:bodyPr/>
        <a:lstStyle/>
        <a:p>
          <a:r>
            <a:rPr lang="zh-CN" altLang="en-US" sz="2400" dirty="0">
              <a:latin typeface="微软雅黑" panose="020B0503020204020204" pitchFamily="34" charset="-122"/>
              <a:ea typeface="微软雅黑" panose="020B0503020204020204" pitchFamily="34" charset="-122"/>
            </a:rPr>
            <a:t>组合整体指标：最大回撤、</a:t>
          </a:r>
          <a:r>
            <a:rPr lang="en-US" altLang="en-US" sz="2400" dirty="0" err="1">
              <a:latin typeface="微软雅黑" panose="020B0503020204020204" pitchFamily="34" charset="-122"/>
              <a:ea typeface="微软雅黑" panose="020B0503020204020204" pitchFamily="34" charset="-122"/>
            </a:rPr>
            <a:t>sharpe,treynor</a:t>
          </a:r>
          <a:r>
            <a:rPr lang="en-US" altLang="en-US" sz="2400" dirty="0">
              <a:latin typeface="微软雅黑" panose="020B0503020204020204" pitchFamily="34" charset="-122"/>
              <a:ea typeface="微软雅黑" panose="020B0503020204020204" pitchFamily="34" charset="-122"/>
            </a:rPr>
            <a:t>, </a:t>
          </a:r>
          <a:r>
            <a:rPr lang="en-US" altLang="en-US" sz="2400" dirty="0" err="1">
              <a:latin typeface="微软雅黑" panose="020B0503020204020204" pitchFamily="34" charset="-122"/>
              <a:ea typeface="微软雅黑" panose="020B0503020204020204" pitchFamily="34" charset="-122"/>
            </a:rPr>
            <a:t>jensen</a:t>
          </a:r>
          <a:r>
            <a:rPr lang="zh-CN" altLang="en-US" sz="2400" dirty="0">
              <a:latin typeface="微软雅黑" panose="020B0503020204020204" pitchFamily="34" charset="-122"/>
              <a:ea typeface="微软雅黑" panose="020B0503020204020204" pitchFamily="34" charset="-122"/>
            </a:rPr>
            <a:t>等</a:t>
          </a:r>
        </a:p>
      </dgm:t>
    </dgm:pt>
    <dgm:pt modelId="{47712236-F7D3-48C7-B958-03BECCBA3631}" type="parTrans" cxnId="{3EAEE951-CC6A-4FCE-B8E5-11D1A791035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46DDD637-B853-455F-9C0F-D1647B96CFEB}" type="sibTrans" cxnId="{3EAEE951-CC6A-4FCE-B8E5-11D1A791035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42C90AAB-6408-492E-8088-F4C877770BC7}">
      <dgm:prSet phldrT="[文本]" custT="1"/>
      <dgm:spPr/>
      <dgm:t>
        <a:bodyPr/>
        <a:lstStyle/>
        <a:p>
          <a:r>
            <a:rPr lang="zh-CN" altLang="en-US" sz="2800" b="1" dirty="0">
              <a:latin typeface="微软雅黑" panose="020B0503020204020204" pitchFamily="34" charset="-122"/>
              <a:ea typeface="微软雅黑" panose="020B0503020204020204" pitchFamily="34" charset="-122"/>
            </a:rPr>
            <a:t>业绩分析</a:t>
          </a:r>
        </a:p>
      </dgm:t>
    </dgm:pt>
    <dgm:pt modelId="{50E0B15A-1339-47E0-AC91-E071E2871915}" type="parTrans" cxnId="{1C256C61-3A69-4AA3-98BA-4C618D6EB34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AE01D4B1-0AF0-4FAB-A9F5-71D20E848437}" type="sibTrans" cxnId="{1C256C61-3A69-4AA3-98BA-4C618D6EB34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EB5569E3-C30C-4678-8E44-2972A62BBEC3}">
      <dgm:prSet phldrT="[文本]" custT="1"/>
      <dgm:spPr/>
      <dgm:t>
        <a:bodyPr/>
        <a:lstStyle/>
        <a:p>
          <a:r>
            <a:rPr lang="zh-CN" altLang="en-US" sz="2400" dirty="0">
              <a:latin typeface="微软雅黑" panose="020B0503020204020204" pitchFamily="34" charset="-122"/>
              <a:ea typeface="微软雅黑" panose="020B0503020204020204" pitchFamily="34" charset="-122"/>
            </a:rPr>
            <a:t>组合业绩归因</a:t>
          </a:r>
        </a:p>
      </dgm:t>
    </dgm:pt>
    <dgm:pt modelId="{C0242746-2ED1-4D3D-9D88-29DEADBEC45A}" type="parTrans" cxnId="{25298370-0F40-4877-868D-A3E6981D1368}">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811F57A9-3DE7-481D-AE4A-FC3F7E104CD4}" type="sibTrans" cxnId="{25298370-0F40-4877-868D-A3E6981D1368}">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EB934EB5-A5B7-43F0-B00F-8028513AB000}">
      <dgm:prSet phldrT="[文本]" custT="1"/>
      <dgm:spPr/>
      <dgm:t>
        <a:bodyPr/>
        <a:lstStyle/>
        <a:p>
          <a:r>
            <a:rPr lang="zh-CN" altLang="en-US" sz="2400" dirty="0">
              <a:latin typeface="微软雅黑" panose="020B0503020204020204" pitchFamily="34" charset="-122"/>
              <a:ea typeface="微软雅黑" panose="020B0503020204020204" pitchFamily="34" charset="-122"/>
            </a:rPr>
            <a:t>在各个业绩维度下的贡献度排序</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按券种</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按评级</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按个券</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dgm:t>
    </dgm:pt>
    <dgm:pt modelId="{E15E932F-F684-433C-83E7-9C8492B17F89}" type="parTrans" cxnId="{F34B6FA0-8FCF-4822-A3D7-D1CDAA26373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4D49D8EE-ED42-4AD6-8C4E-7FCFA66D52B8}" type="sibTrans" cxnId="{F34B6FA0-8FCF-4822-A3D7-D1CDAA26373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B05E6DAC-A56D-4734-BA57-81973E91EBE9}">
      <dgm:prSet phldrT="[文本]" custT="1"/>
      <dgm:spPr/>
      <dgm:t>
        <a:bodyPr/>
        <a:lstStyle/>
        <a:p>
          <a:r>
            <a:rPr lang="zh-CN" altLang="en-US" sz="2800" b="1" dirty="0">
              <a:latin typeface="微软雅黑" panose="020B0503020204020204" pitchFamily="34" charset="-122"/>
              <a:ea typeface="微软雅黑" panose="020B0503020204020204" pitchFamily="34" charset="-122"/>
            </a:rPr>
            <a:t>综合分析</a:t>
          </a:r>
        </a:p>
      </dgm:t>
    </dgm:pt>
    <dgm:pt modelId="{04A89591-F623-4DDD-BB2D-1228FC66AB66}" type="parTrans" cxnId="{1FB6A79E-A654-46E3-86D3-30D3B27C6AC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FEC91CA5-EB76-47AC-8A56-674B42138F1E}" type="sibTrans" cxnId="{1FB6A79E-A654-46E3-86D3-30D3B27C6AC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E493D3BD-0608-42CE-84C9-9D6144CBB975}">
      <dgm:prSet phldrT="[文本]" custT="1"/>
      <dgm:spPr/>
      <dgm:t>
        <a:bodyPr/>
        <a:lstStyle/>
        <a:p>
          <a:r>
            <a:rPr lang="zh-CN" altLang="en-US" sz="2400" b="0" dirty="0">
              <a:latin typeface="微软雅黑" panose="020B0503020204020204" pitchFamily="34" charset="-122"/>
              <a:ea typeface="微软雅黑" panose="020B0503020204020204" pitchFamily="34" charset="-122"/>
            </a:rPr>
            <a:t>债券</a:t>
          </a:r>
          <a:r>
            <a:rPr lang="en-US" altLang="zh-CN" sz="2400" b="0" dirty="0" err="1">
              <a:latin typeface="微软雅黑" panose="020B0503020204020204" pitchFamily="34" charset="-122"/>
              <a:ea typeface="微软雅黑" panose="020B0503020204020204" pitchFamily="34" charset="-122"/>
            </a:rPr>
            <a:t>VaR</a:t>
          </a:r>
          <a:endParaRPr lang="zh-CN" altLang="en-US" sz="2400" b="0" dirty="0">
            <a:latin typeface="微软雅黑" panose="020B0503020204020204" pitchFamily="34" charset="-122"/>
            <a:ea typeface="微软雅黑" panose="020B0503020204020204" pitchFamily="34" charset="-122"/>
          </a:endParaRPr>
        </a:p>
      </dgm:t>
    </dgm:pt>
    <dgm:pt modelId="{D4BC9BB4-D4B9-40D5-B7EC-FEA22A8CE14B}" type="parTrans" cxnId="{92912A42-9D21-4BD4-9525-CD14AEFB814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6A56D824-4EBB-4128-A7DB-625F9514BD8C}" type="sibTrans" cxnId="{92912A42-9D21-4BD4-9525-CD14AEFB814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8559B8E-964F-45D7-857C-3FADDA350540}">
      <dgm:prSet phldrT="[文本]" custT="1"/>
      <dgm:spPr/>
      <dgm:t>
        <a:bodyPr/>
        <a:lstStyle/>
        <a:p>
          <a:r>
            <a:rPr lang="zh-CN" altLang="en-US" sz="2400" b="0" dirty="0">
              <a:latin typeface="微软雅黑" panose="020B0503020204020204" pitchFamily="34" charset="-122"/>
              <a:ea typeface="微软雅黑" panose="020B0503020204020204" pitchFamily="34" charset="-122"/>
            </a:rPr>
            <a:t>敏感性分析</a:t>
          </a:r>
        </a:p>
      </dgm:t>
    </dgm:pt>
    <dgm:pt modelId="{7C50DE7E-9C15-4EE1-8BA3-462CA0B1C681}" type="parTrans" cxnId="{9F845A89-407A-4040-BD3C-6B9FA2A4BBA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B9D40911-89A1-483F-B413-39B04BC5C32A}" type="sibTrans" cxnId="{9F845A89-407A-4040-BD3C-6B9FA2A4BBA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B94F3A49-3985-4D5C-AA69-08D89C97BCC5}">
      <dgm:prSet phldrT="[文本]" custT="1"/>
      <dgm:spPr/>
      <dgm:t>
        <a:bodyPr/>
        <a:lstStyle/>
        <a:p>
          <a:r>
            <a:rPr lang="zh-CN" altLang="en-US" sz="2800" b="1" dirty="0">
              <a:latin typeface="微软雅黑" panose="020B0503020204020204" pitchFamily="34" charset="-122"/>
              <a:ea typeface="微软雅黑" panose="020B0503020204020204" pitchFamily="34" charset="-122"/>
            </a:rPr>
            <a:t>风险分析</a:t>
          </a:r>
        </a:p>
      </dgm:t>
    </dgm:pt>
    <dgm:pt modelId="{046E87A1-226E-48F4-9051-497FBFB91FCF}" type="parTrans" cxnId="{F10B0DB6-C74D-42EF-812B-F6C7DECBC2C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48250C2B-C024-4DD8-8E36-9B50E9177B38}" type="sibTrans" cxnId="{F10B0DB6-C74D-42EF-812B-F6C7DECBC2C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A2BB0A5E-9277-48EE-AFA2-4974B5AC33B4}">
      <dgm:prSet phldrT="[文本]" custT="1"/>
      <dgm:spPr/>
      <dgm:t>
        <a:bodyPr/>
        <a:lstStyle/>
        <a:p>
          <a:r>
            <a:rPr lang="zh-CN" altLang="en-US" sz="2400" dirty="0">
              <a:latin typeface="微软雅黑" panose="020B0503020204020204" pitchFamily="34" charset="-122"/>
              <a:ea typeface="微软雅黑" panose="020B0503020204020204" pitchFamily="34" charset="-122"/>
            </a:rPr>
            <a:t>损益明细</a:t>
          </a:r>
        </a:p>
      </dgm:t>
    </dgm:pt>
    <dgm:pt modelId="{B5767112-101F-4C32-A0D5-DC229BCAD240}" type="sibTrans" cxnId="{0862034D-9C24-4991-AE92-94ACE60B6BE0}">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5ACA5B3C-57F8-49AB-91AD-EBA8266FFA09}" type="parTrans" cxnId="{0862034D-9C24-4991-AE92-94ACE60B6BE0}">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08DCAD17-D8F6-4346-9A8A-C7365B87720A}">
      <dgm:prSet phldrT="[文本]" custT="1"/>
      <dgm:spPr/>
      <dgm:t>
        <a:bodyPr/>
        <a:lstStyle/>
        <a:p>
          <a:r>
            <a:rPr lang="zh-CN" altLang="en-US" sz="2400" dirty="0">
              <a:latin typeface="微软雅黑" panose="020B0503020204020204" pitchFamily="34" charset="-122"/>
              <a:ea typeface="微软雅黑" panose="020B0503020204020204" pitchFamily="34" charset="-122"/>
            </a:rPr>
            <a:t>债券分布</a:t>
          </a:r>
        </a:p>
      </dgm:t>
    </dgm:pt>
    <dgm:pt modelId="{8D160A91-B40E-41B5-AB55-CEB0DA783038}" type="parTrans" cxnId="{DE9704E9-5372-439F-AC44-8EA576E5B16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53C2D05B-D009-4492-A174-0F04FDF8198E}" type="sibTrans" cxnId="{DE9704E9-5372-439F-AC44-8EA576E5B16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7718529B-6301-458D-86C5-507FE2B8734C}">
      <dgm:prSet phldrT="[文本]" custT="1"/>
      <dgm:spPr/>
      <dgm:t>
        <a:bodyPr/>
        <a:lstStyle/>
        <a:p>
          <a:r>
            <a:rPr lang="zh-CN" altLang="en-US" sz="2400" b="0" dirty="0">
              <a:latin typeface="微软雅黑" panose="020B0503020204020204" pitchFamily="34" charset="-122"/>
              <a:ea typeface="微软雅黑" panose="020B0503020204020204" pitchFamily="34" charset="-122"/>
            </a:rPr>
            <a:t>情景分析</a:t>
          </a:r>
        </a:p>
      </dgm:t>
    </dgm:pt>
    <dgm:pt modelId="{6B6A9F8D-B6D8-4FF1-804E-FD4C7EFBE40B}" type="parTrans" cxnId="{C1922C6A-5C52-437F-BBF2-5C087407125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518A48D1-21B0-4E00-B3FD-84C172F5D478}" type="sibTrans" cxnId="{C1922C6A-5C52-437F-BBF2-5C087407125A}">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317B7E2D-37D3-4322-9CC0-0F104FCCA30F}">
      <dgm:prSet phldrT="[文本]" custT="1"/>
      <dgm:spPr/>
      <dgm:t>
        <a:bodyPr/>
        <a:lstStyle/>
        <a:p>
          <a:r>
            <a:rPr lang="zh-CN" altLang="en-US" sz="2400" dirty="0">
              <a:latin typeface="微软雅黑" panose="020B0503020204020204" pitchFamily="34" charset="-122"/>
              <a:ea typeface="微软雅黑" panose="020B0503020204020204" pitchFamily="34" charset="-122"/>
            </a:rPr>
            <a:t>评级分布</a:t>
          </a:r>
        </a:p>
      </dgm:t>
    </dgm:pt>
    <dgm:pt modelId="{84A7A3FB-179A-4CA2-9A9A-6375577827F9}" type="parTrans" cxnId="{DCED0DA8-1379-46EA-B65D-C6463A321F27}">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CDEBBCA4-E435-4BC9-A2E0-3DCAF1524A22}" type="sibTrans" cxnId="{DCED0DA8-1379-46EA-B65D-C6463A321F27}">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056A2675-3A02-467B-8FAE-CAAF7EA1476D}">
      <dgm:prSet phldrT="[文本]" custT="1"/>
      <dgm:spPr/>
      <dgm:t>
        <a:bodyPr/>
        <a:lstStyle/>
        <a:p>
          <a:r>
            <a:rPr lang="zh-CN" altLang="en-US" sz="2400" dirty="0">
              <a:latin typeface="微软雅黑" panose="020B0503020204020204" pitchFamily="34" charset="-122"/>
              <a:ea typeface="微软雅黑" panose="020B0503020204020204" pitchFamily="34" charset="-122"/>
            </a:rPr>
            <a:t>与基准指数对比</a:t>
          </a:r>
        </a:p>
      </dgm:t>
    </dgm:pt>
    <dgm:pt modelId="{B87F1DD7-C920-4016-8F7A-2419907736D7}" type="parTrans" cxnId="{6998B263-6EA1-40A2-A00B-9D7A25A225A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23597984-34D5-425D-ABFE-4C3E23E28CB7}" type="sibTrans" cxnId="{6998B263-6EA1-40A2-A00B-9D7A25A225A3}">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192304F6-8EE4-46E8-9774-F500C26BDCF7}">
      <dgm:prSet phldrT="[文本]" custT="1"/>
      <dgm:spPr/>
      <dgm:t>
        <a:bodyPr/>
        <a:lstStyle/>
        <a:p>
          <a:r>
            <a:rPr lang="zh-CN" altLang="en-US" sz="2400" dirty="0">
              <a:latin typeface="微软雅黑" panose="020B0503020204020204" pitchFamily="34" charset="-122"/>
              <a:ea typeface="微软雅黑" panose="020B0503020204020204" pitchFamily="34" charset="-122"/>
            </a:rPr>
            <a:t>个券相对位置</a:t>
          </a:r>
        </a:p>
      </dgm:t>
    </dgm:pt>
    <dgm:pt modelId="{22860DAE-1B8C-4831-8033-162805C03031}" type="parTrans" cxnId="{DB838DE1-F94A-49A0-A8C3-E963CCBC70A0}">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AC4C8258-881F-4D6A-B5C3-BB23FDBCCAC2}" type="sibTrans" cxnId="{DB838DE1-F94A-49A0-A8C3-E963CCBC70A0}">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710CBE9F-7828-425F-905B-53B3278ECB1C}">
      <dgm:prSet phldrT="[文本]" custT="1"/>
      <dgm:spPr/>
      <dgm:t>
        <a:bodyPr/>
        <a:lstStyle/>
        <a:p>
          <a:r>
            <a:rPr lang="zh-CN" altLang="en-US" sz="2400" dirty="0">
              <a:latin typeface="微软雅黑" panose="020B0503020204020204" pitchFamily="34" charset="-122"/>
              <a:ea typeface="微软雅黑" panose="020B0503020204020204" pitchFamily="34" charset="-122"/>
            </a:rPr>
            <a:t>业绩时序跟踪</a:t>
          </a:r>
        </a:p>
      </dgm:t>
    </dgm:pt>
    <dgm:pt modelId="{A1461C49-69DF-4EA3-AB77-F906A98D4049}" type="parTrans" cxnId="{5429DBEC-5C91-430F-90E7-267DA25EB98B}">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F94D4ABF-CE6C-4996-BA5F-A81D545295E8}" type="sibTrans" cxnId="{5429DBEC-5C91-430F-90E7-267DA25EB98B}">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F5F23DF8-0EFC-4561-AEEB-0B55D4E080CE}" type="pres">
      <dgm:prSet presAssocID="{7AE3137E-9988-46C1-95C0-938FBCAF9304}" presName="Name0" presStyleCnt="0">
        <dgm:presLayoutVars>
          <dgm:dir/>
          <dgm:animLvl val="lvl"/>
          <dgm:resizeHandles val="exact"/>
        </dgm:presLayoutVars>
      </dgm:prSet>
      <dgm:spPr/>
    </dgm:pt>
    <dgm:pt modelId="{950CC53D-BEFB-4CAC-8592-66FA7361FD12}" type="pres">
      <dgm:prSet presAssocID="{5F8000D0-C6BC-4F6E-8A95-9E04945D88A5}" presName="composite" presStyleCnt="0"/>
      <dgm:spPr/>
    </dgm:pt>
    <dgm:pt modelId="{5FDBD3A0-45EF-45D1-88E2-77BB0990D103}" type="pres">
      <dgm:prSet presAssocID="{5F8000D0-C6BC-4F6E-8A95-9E04945D88A5}" presName="parTx" presStyleLbl="alignNode1" presStyleIdx="0" presStyleCnt="4">
        <dgm:presLayoutVars>
          <dgm:chMax val="0"/>
          <dgm:chPref val="0"/>
          <dgm:bulletEnabled val="1"/>
        </dgm:presLayoutVars>
      </dgm:prSet>
      <dgm:spPr/>
    </dgm:pt>
    <dgm:pt modelId="{19FF79F1-E832-47C9-9A39-51D2F259347D}" type="pres">
      <dgm:prSet presAssocID="{5F8000D0-C6BC-4F6E-8A95-9E04945D88A5}" presName="desTx" presStyleLbl="alignAccFollowNode1" presStyleIdx="0" presStyleCnt="4" custScaleY="119072">
        <dgm:presLayoutVars>
          <dgm:bulletEnabled val="1"/>
        </dgm:presLayoutVars>
      </dgm:prSet>
      <dgm:spPr/>
    </dgm:pt>
    <dgm:pt modelId="{B00FD023-B6AC-4705-9877-CFF8B7D9B640}" type="pres">
      <dgm:prSet presAssocID="{8E55556F-2315-4396-BB63-F5EDFF4BB26E}" presName="space" presStyleCnt="0"/>
      <dgm:spPr/>
    </dgm:pt>
    <dgm:pt modelId="{438F4CCA-1394-4E79-874B-666904248C3F}" type="pres">
      <dgm:prSet presAssocID="{42C90AAB-6408-492E-8088-F4C877770BC7}" presName="composite" presStyleCnt="0"/>
      <dgm:spPr/>
    </dgm:pt>
    <dgm:pt modelId="{575F82CD-71C4-4C29-9440-5C972D90796D}" type="pres">
      <dgm:prSet presAssocID="{42C90AAB-6408-492E-8088-F4C877770BC7}" presName="parTx" presStyleLbl="alignNode1" presStyleIdx="1" presStyleCnt="4">
        <dgm:presLayoutVars>
          <dgm:chMax val="0"/>
          <dgm:chPref val="0"/>
          <dgm:bulletEnabled val="1"/>
        </dgm:presLayoutVars>
      </dgm:prSet>
      <dgm:spPr/>
    </dgm:pt>
    <dgm:pt modelId="{F8434393-81A5-47A9-B931-690A66126FE2}" type="pres">
      <dgm:prSet presAssocID="{42C90AAB-6408-492E-8088-F4C877770BC7}" presName="desTx" presStyleLbl="alignAccFollowNode1" presStyleIdx="1" presStyleCnt="4" custScaleY="119072">
        <dgm:presLayoutVars>
          <dgm:bulletEnabled val="1"/>
        </dgm:presLayoutVars>
      </dgm:prSet>
      <dgm:spPr/>
    </dgm:pt>
    <dgm:pt modelId="{CF7FDEA0-FBE3-4C63-9D4C-9F2399E88564}" type="pres">
      <dgm:prSet presAssocID="{AE01D4B1-0AF0-4FAB-A9F5-71D20E848437}" presName="space" presStyleCnt="0"/>
      <dgm:spPr/>
    </dgm:pt>
    <dgm:pt modelId="{8549FF14-B56F-42C2-BF2C-13327F7C7C43}" type="pres">
      <dgm:prSet presAssocID="{B05E6DAC-A56D-4734-BA57-81973E91EBE9}" presName="composite" presStyleCnt="0"/>
      <dgm:spPr/>
    </dgm:pt>
    <dgm:pt modelId="{848F87FE-C5E9-4EE4-8FBE-73FF1F0E6259}" type="pres">
      <dgm:prSet presAssocID="{B05E6DAC-A56D-4734-BA57-81973E91EBE9}" presName="parTx" presStyleLbl="alignNode1" presStyleIdx="2" presStyleCnt="4">
        <dgm:presLayoutVars>
          <dgm:chMax val="0"/>
          <dgm:chPref val="0"/>
          <dgm:bulletEnabled val="1"/>
        </dgm:presLayoutVars>
      </dgm:prSet>
      <dgm:spPr/>
    </dgm:pt>
    <dgm:pt modelId="{731DFDF8-4FD0-4F6C-B919-0B710B137583}" type="pres">
      <dgm:prSet presAssocID="{B05E6DAC-A56D-4734-BA57-81973E91EBE9}" presName="desTx" presStyleLbl="alignAccFollowNode1" presStyleIdx="2" presStyleCnt="4" custScaleY="119072">
        <dgm:presLayoutVars>
          <dgm:bulletEnabled val="1"/>
        </dgm:presLayoutVars>
      </dgm:prSet>
      <dgm:spPr/>
    </dgm:pt>
    <dgm:pt modelId="{D5FE372F-8EEB-4CCC-9A99-C9C45DE59191}" type="pres">
      <dgm:prSet presAssocID="{FEC91CA5-EB76-47AC-8A56-674B42138F1E}" presName="space" presStyleCnt="0"/>
      <dgm:spPr/>
    </dgm:pt>
    <dgm:pt modelId="{8B23C764-00A2-4764-B26E-FCC8367486D0}" type="pres">
      <dgm:prSet presAssocID="{B94F3A49-3985-4D5C-AA69-08D89C97BCC5}" presName="composite" presStyleCnt="0"/>
      <dgm:spPr/>
    </dgm:pt>
    <dgm:pt modelId="{60E80365-24D2-4696-9853-B93E20CE00B4}" type="pres">
      <dgm:prSet presAssocID="{B94F3A49-3985-4D5C-AA69-08D89C97BCC5}" presName="parTx" presStyleLbl="alignNode1" presStyleIdx="3" presStyleCnt="4">
        <dgm:presLayoutVars>
          <dgm:chMax val="0"/>
          <dgm:chPref val="0"/>
          <dgm:bulletEnabled val="1"/>
        </dgm:presLayoutVars>
      </dgm:prSet>
      <dgm:spPr/>
    </dgm:pt>
    <dgm:pt modelId="{A2B2446D-C1C8-421B-B1F9-11D0A7D38623}" type="pres">
      <dgm:prSet presAssocID="{B94F3A49-3985-4D5C-AA69-08D89C97BCC5}" presName="desTx" presStyleLbl="alignAccFollowNode1" presStyleIdx="3" presStyleCnt="4" custScaleY="119072">
        <dgm:presLayoutVars>
          <dgm:bulletEnabled val="1"/>
        </dgm:presLayoutVars>
      </dgm:prSet>
      <dgm:spPr/>
    </dgm:pt>
  </dgm:ptLst>
  <dgm:cxnLst>
    <dgm:cxn modelId="{09AF340F-FB51-4B19-8030-DAB0F83B4D3F}" type="presOf" srcId="{710CBE9F-7828-425F-905B-53B3278ECB1C}" destId="{F8434393-81A5-47A9-B931-690A66126FE2}" srcOrd="0" destOrd="2" presId="urn:microsoft.com/office/officeart/2005/8/layout/hList1"/>
    <dgm:cxn modelId="{8736E80F-3133-45EF-B7E8-1F188D4FF819}" type="presOf" srcId="{7718529B-6301-458D-86C5-507FE2B8734C}" destId="{A2B2446D-C1C8-421B-B1F9-11D0A7D38623}" srcOrd="0" destOrd="2" presId="urn:microsoft.com/office/officeart/2005/8/layout/hList1"/>
    <dgm:cxn modelId="{2CC87012-513B-4ECB-8B88-3C6FBF219554}" type="presOf" srcId="{72399C57-9D6E-4062-8975-6C7595FBC3BD}" destId="{19FF79F1-E832-47C9-9A39-51D2F259347D}" srcOrd="0" destOrd="0" presId="urn:microsoft.com/office/officeart/2005/8/layout/hList1"/>
    <dgm:cxn modelId="{4C4D153A-7D4E-49A4-A0FF-0D8A68AE9D36}" type="presOf" srcId="{A2BB0A5E-9277-48EE-AFA2-4974B5AC33B4}" destId="{731DFDF8-4FD0-4F6C-B919-0B710B137583}" srcOrd="0" destOrd="0" presId="urn:microsoft.com/office/officeart/2005/8/layout/hList1"/>
    <dgm:cxn modelId="{1C256C61-3A69-4AA3-98BA-4C618D6EB343}" srcId="{7AE3137E-9988-46C1-95C0-938FBCAF9304}" destId="{42C90AAB-6408-492E-8088-F4C877770BC7}" srcOrd="1" destOrd="0" parTransId="{50E0B15A-1339-47E0-AC91-E071E2871915}" sibTransId="{AE01D4B1-0AF0-4FAB-A9F5-71D20E848437}"/>
    <dgm:cxn modelId="{92912A42-9D21-4BD4-9525-CD14AEFB8143}" srcId="{B94F3A49-3985-4D5C-AA69-08D89C97BCC5}" destId="{E493D3BD-0608-42CE-84C9-9D6144CBB975}" srcOrd="0" destOrd="0" parTransId="{D4BC9BB4-D4B9-40D5-B7EC-FEA22A8CE14B}" sibTransId="{6A56D824-4EBB-4128-A7DB-625F9514BD8C}"/>
    <dgm:cxn modelId="{6998B263-6EA1-40A2-A00B-9D7A25A225A3}" srcId="{5F8000D0-C6BC-4F6E-8A95-9E04945D88A5}" destId="{056A2675-3A02-467B-8FAE-CAAF7EA1476D}" srcOrd="2" destOrd="0" parTransId="{B87F1DD7-C920-4016-8F7A-2419907736D7}" sibTransId="{23597984-34D5-425D-ABFE-4C3E23E28CB7}"/>
    <dgm:cxn modelId="{37E10F64-AF28-4C56-BC6B-F06636C5B72E}" type="presOf" srcId="{B94F3A49-3985-4D5C-AA69-08D89C97BCC5}" destId="{60E80365-24D2-4696-9853-B93E20CE00B4}" srcOrd="0" destOrd="0" presId="urn:microsoft.com/office/officeart/2005/8/layout/hList1"/>
    <dgm:cxn modelId="{C1922C6A-5C52-437F-BBF2-5C087407125A}" srcId="{B94F3A49-3985-4D5C-AA69-08D89C97BCC5}" destId="{7718529B-6301-458D-86C5-507FE2B8734C}" srcOrd="2" destOrd="0" parTransId="{6B6A9F8D-B6D8-4FF1-804E-FD4C7EFBE40B}" sibTransId="{518A48D1-21B0-4E00-B3FD-84C172F5D478}"/>
    <dgm:cxn modelId="{CD6F496A-9C5B-4C3C-8C76-4DF1EE282F1B}" type="presOf" srcId="{B05E6DAC-A56D-4734-BA57-81973E91EBE9}" destId="{848F87FE-C5E9-4EE4-8FBE-73FF1F0E6259}" srcOrd="0" destOrd="0" presId="urn:microsoft.com/office/officeart/2005/8/layout/hList1"/>
    <dgm:cxn modelId="{0862034D-9C24-4991-AE92-94ACE60B6BE0}" srcId="{B05E6DAC-A56D-4734-BA57-81973E91EBE9}" destId="{A2BB0A5E-9277-48EE-AFA2-4974B5AC33B4}" srcOrd="0" destOrd="0" parTransId="{5ACA5B3C-57F8-49AB-91AD-EBA8266FFA09}" sibTransId="{B5767112-101F-4C32-A0D5-DC229BCAD240}"/>
    <dgm:cxn modelId="{0DDF1A6F-5097-4513-929F-A85C5E631E8A}" type="presOf" srcId="{EB5569E3-C30C-4678-8E44-2972A62BBEC3}" destId="{F8434393-81A5-47A9-B931-690A66126FE2}" srcOrd="0" destOrd="0" presId="urn:microsoft.com/office/officeart/2005/8/layout/hList1"/>
    <dgm:cxn modelId="{25298370-0F40-4877-868D-A3E6981D1368}" srcId="{42C90AAB-6408-492E-8088-F4C877770BC7}" destId="{EB5569E3-C30C-4678-8E44-2972A62BBEC3}" srcOrd="0" destOrd="0" parTransId="{C0242746-2ED1-4D3D-9D88-29DEADBEC45A}" sibTransId="{811F57A9-3DE7-481D-AE4A-FC3F7E104CD4}"/>
    <dgm:cxn modelId="{3EAEE951-CC6A-4FCE-B8E5-11D1A791035A}" srcId="{5F8000D0-C6BC-4F6E-8A95-9E04945D88A5}" destId="{BCE7BB29-BBFF-4004-8697-2EA9CDFDEA3C}" srcOrd="1" destOrd="0" parTransId="{47712236-F7D3-48C7-B958-03BECCBA3631}" sibTransId="{46DDD637-B853-455F-9C0F-D1647B96CFEB}"/>
    <dgm:cxn modelId="{9F9A2555-F0B1-4468-AA68-26409387D904}" type="presOf" srcId="{42C90AAB-6408-492E-8088-F4C877770BC7}" destId="{575F82CD-71C4-4C29-9440-5C972D90796D}" srcOrd="0" destOrd="0" presId="urn:microsoft.com/office/officeart/2005/8/layout/hList1"/>
    <dgm:cxn modelId="{CC6B537A-BF90-48F5-8D73-5CF0283B9B07}" type="presOf" srcId="{98559B8E-964F-45D7-857C-3FADDA350540}" destId="{A2B2446D-C1C8-421B-B1F9-11D0A7D38623}" srcOrd="0" destOrd="1" presId="urn:microsoft.com/office/officeart/2005/8/layout/hList1"/>
    <dgm:cxn modelId="{B444F888-2871-4748-A228-B8E88BD41018}" type="presOf" srcId="{EB934EB5-A5B7-43F0-B00F-8028513AB000}" destId="{F8434393-81A5-47A9-B931-690A66126FE2}" srcOrd="0" destOrd="3" presId="urn:microsoft.com/office/officeart/2005/8/layout/hList1"/>
    <dgm:cxn modelId="{9F845A89-407A-4040-BD3C-6B9FA2A4BBA3}" srcId="{B94F3A49-3985-4D5C-AA69-08D89C97BCC5}" destId="{98559B8E-964F-45D7-857C-3FADDA350540}" srcOrd="1" destOrd="0" parTransId="{7C50DE7E-9C15-4EE1-8BA3-462CA0B1C681}" sibTransId="{B9D40911-89A1-483F-B413-39B04BC5C32A}"/>
    <dgm:cxn modelId="{F1BE3E8F-309D-472E-92DE-9FF574D00D1F}" type="presOf" srcId="{056A2675-3A02-467B-8FAE-CAAF7EA1476D}" destId="{19FF79F1-E832-47C9-9A39-51D2F259347D}" srcOrd="0" destOrd="2" presId="urn:microsoft.com/office/officeart/2005/8/layout/hList1"/>
    <dgm:cxn modelId="{1FB6A79E-A654-46E3-86D3-30D3B27C6AC3}" srcId="{7AE3137E-9988-46C1-95C0-938FBCAF9304}" destId="{B05E6DAC-A56D-4734-BA57-81973E91EBE9}" srcOrd="2" destOrd="0" parTransId="{04A89591-F623-4DDD-BB2D-1228FC66AB66}" sibTransId="{FEC91CA5-EB76-47AC-8A56-674B42138F1E}"/>
    <dgm:cxn modelId="{F34B6FA0-8FCF-4822-A3D7-D1CDAA263735}" srcId="{42C90AAB-6408-492E-8088-F4C877770BC7}" destId="{EB934EB5-A5B7-43F0-B00F-8028513AB000}" srcOrd="3" destOrd="0" parTransId="{E15E932F-F684-433C-83E7-9C8492B17F89}" sibTransId="{4D49D8EE-ED42-4AD6-8C4E-7FCFA66D52B8}"/>
    <dgm:cxn modelId="{4C0D56A5-7F3C-4A0D-A5A8-73F89C4A0817}" type="presOf" srcId="{7AE3137E-9988-46C1-95C0-938FBCAF9304}" destId="{F5F23DF8-0EFC-4561-AEEB-0B55D4E080CE}" srcOrd="0" destOrd="0" presId="urn:microsoft.com/office/officeart/2005/8/layout/hList1"/>
    <dgm:cxn modelId="{DCED0DA8-1379-46EA-B65D-C6463A321F27}" srcId="{B05E6DAC-A56D-4734-BA57-81973E91EBE9}" destId="{317B7E2D-37D3-4322-9CC0-0F104FCCA30F}" srcOrd="2" destOrd="0" parTransId="{84A7A3FB-179A-4CA2-9A9A-6375577827F9}" sibTransId="{CDEBBCA4-E435-4BC9-A2E0-3DCAF1524A22}"/>
    <dgm:cxn modelId="{CDB831AA-9A53-4604-B552-9E73A3276D17}" type="presOf" srcId="{BCE7BB29-BBFF-4004-8697-2EA9CDFDEA3C}" destId="{19FF79F1-E832-47C9-9A39-51D2F259347D}" srcOrd="0" destOrd="1" presId="urn:microsoft.com/office/officeart/2005/8/layout/hList1"/>
    <dgm:cxn modelId="{F10B0DB6-C74D-42EF-812B-F6C7DECBC2CA}" srcId="{7AE3137E-9988-46C1-95C0-938FBCAF9304}" destId="{B94F3A49-3985-4D5C-AA69-08D89C97BCC5}" srcOrd="3" destOrd="0" parTransId="{046E87A1-226E-48F4-9051-497FBFB91FCF}" sibTransId="{48250C2B-C024-4DD8-8E36-9B50E9177B38}"/>
    <dgm:cxn modelId="{69F207BB-7172-4727-9C47-E577699BB64B}" type="presOf" srcId="{5F8000D0-C6BC-4F6E-8A95-9E04945D88A5}" destId="{5FDBD3A0-45EF-45D1-88E2-77BB0990D103}" srcOrd="0" destOrd="0" presId="urn:microsoft.com/office/officeart/2005/8/layout/hList1"/>
    <dgm:cxn modelId="{91C129C2-E39D-4194-A698-ABA742BE658D}" type="presOf" srcId="{317B7E2D-37D3-4322-9CC0-0F104FCCA30F}" destId="{731DFDF8-4FD0-4F6C-B919-0B710B137583}" srcOrd="0" destOrd="2" presId="urn:microsoft.com/office/officeart/2005/8/layout/hList1"/>
    <dgm:cxn modelId="{3FD0D6C2-91F4-4FEC-8B09-45F1EA17E8F7}" srcId="{5F8000D0-C6BC-4F6E-8A95-9E04945D88A5}" destId="{72399C57-9D6E-4062-8975-6C7595FBC3BD}" srcOrd="0" destOrd="0" parTransId="{407F2336-B79C-40F9-9658-F472B5B40BFC}" sibTransId="{5BA636F3-6C92-4494-9AB4-B1CF85DA7079}"/>
    <dgm:cxn modelId="{BEB602CC-45B0-4E74-BE9F-612861D2CE51}" type="presOf" srcId="{E493D3BD-0608-42CE-84C9-9D6144CBB975}" destId="{A2B2446D-C1C8-421B-B1F9-11D0A7D38623}" srcOrd="0" destOrd="0" presId="urn:microsoft.com/office/officeart/2005/8/layout/hList1"/>
    <dgm:cxn modelId="{8E2C70DA-C8C5-4BF1-9820-3E5AC76BABD4}" type="presOf" srcId="{08DCAD17-D8F6-4346-9A8A-C7365B87720A}" destId="{731DFDF8-4FD0-4F6C-B919-0B710B137583}" srcOrd="0" destOrd="1" presId="urn:microsoft.com/office/officeart/2005/8/layout/hList1"/>
    <dgm:cxn modelId="{E8BA33DB-EE10-46D0-AA4A-366849D2C577}" srcId="{7AE3137E-9988-46C1-95C0-938FBCAF9304}" destId="{5F8000D0-C6BC-4F6E-8A95-9E04945D88A5}" srcOrd="0" destOrd="0" parTransId="{EFCEAC52-26F3-4C7E-9A30-DD3868399633}" sibTransId="{8E55556F-2315-4396-BB63-F5EDFF4BB26E}"/>
    <dgm:cxn modelId="{DB838DE1-F94A-49A0-A8C3-E963CCBC70A0}" srcId="{42C90AAB-6408-492E-8088-F4C877770BC7}" destId="{192304F6-8EE4-46E8-9774-F500C26BDCF7}" srcOrd="1" destOrd="0" parTransId="{22860DAE-1B8C-4831-8033-162805C03031}" sibTransId="{AC4C8258-881F-4D6A-B5C3-BB23FDBCCAC2}"/>
    <dgm:cxn modelId="{DE9704E9-5372-439F-AC44-8EA576E5B16A}" srcId="{B05E6DAC-A56D-4734-BA57-81973E91EBE9}" destId="{08DCAD17-D8F6-4346-9A8A-C7365B87720A}" srcOrd="1" destOrd="0" parTransId="{8D160A91-B40E-41B5-AB55-CEB0DA783038}" sibTransId="{53C2D05B-D009-4492-A174-0F04FDF8198E}"/>
    <dgm:cxn modelId="{5429DBEC-5C91-430F-90E7-267DA25EB98B}" srcId="{42C90AAB-6408-492E-8088-F4C877770BC7}" destId="{710CBE9F-7828-425F-905B-53B3278ECB1C}" srcOrd="2" destOrd="0" parTransId="{A1461C49-69DF-4EA3-AB77-F906A98D4049}" sibTransId="{F94D4ABF-CE6C-4996-BA5F-A81D545295E8}"/>
    <dgm:cxn modelId="{51BA7CF0-8919-4667-AE5C-0DEF594E08B6}" type="presOf" srcId="{192304F6-8EE4-46E8-9774-F500C26BDCF7}" destId="{F8434393-81A5-47A9-B931-690A66126FE2}" srcOrd="0" destOrd="1" presId="urn:microsoft.com/office/officeart/2005/8/layout/hList1"/>
    <dgm:cxn modelId="{CBF01CD0-00A0-4D3E-B2E4-695AB89FB30B}" type="presParOf" srcId="{F5F23DF8-0EFC-4561-AEEB-0B55D4E080CE}" destId="{950CC53D-BEFB-4CAC-8592-66FA7361FD12}" srcOrd="0" destOrd="0" presId="urn:microsoft.com/office/officeart/2005/8/layout/hList1"/>
    <dgm:cxn modelId="{FA849F42-5A7A-48A2-B48B-2AA2AB146822}" type="presParOf" srcId="{950CC53D-BEFB-4CAC-8592-66FA7361FD12}" destId="{5FDBD3A0-45EF-45D1-88E2-77BB0990D103}" srcOrd="0" destOrd="0" presId="urn:microsoft.com/office/officeart/2005/8/layout/hList1"/>
    <dgm:cxn modelId="{C772E6D6-9005-4B47-87A9-21F517F1507D}" type="presParOf" srcId="{950CC53D-BEFB-4CAC-8592-66FA7361FD12}" destId="{19FF79F1-E832-47C9-9A39-51D2F259347D}" srcOrd="1" destOrd="0" presId="urn:microsoft.com/office/officeart/2005/8/layout/hList1"/>
    <dgm:cxn modelId="{80441A32-57BE-4AB8-BF92-000B468B0134}" type="presParOf" srcId="{F5F23DF8-0EFC-4561-AEEB-0B55D4E080CE}" destId="{B00FD023-B6AC-4705-9877-CFF8B7D9B640}" srcOrd="1" destOrd="0" presId="urn:microsoft.com/office/officeart/2005/8/layout/hList1"/>
    <dgm:cxn modelId="{B047EE97-2C45-4EE4-8F7F-A8B34A31D7B6}" type="presParOf" srcId="{F5F23DF8-0EFC-4561-AEEB-0B55D4E080CE}" destId="{438F4CCA-1394-4E79-874B-666904248C3F}" srcOrd="2" destOrd="0" presId="urn:microsoft.com/office/officeart/2005/8/layout/hList1"/>
    <dgm:cxn modelId="{97B4879A-72EC-4192-9127-007B4C947D50}" type="presParOf" srcId="{438F4CCA-1394-4E79-874B-666904248C3F}" destId="{575F82CD-71C4-4C29-9440-5C972D90796D}" srcOrd="0" destOrd="0" presId="urn:microsoft.com/office/officeart/2005/8/layout/hList1"/>
    <dgm:cxn modelId="{E8022D4E-4CCE-4DA5-896C-38A745BA1B82}" type="presParOf" srcId="{438F4CCA-1394-4E79-874B-666904248C3F}" destId="{F8434393-81A5-47A9-B931-690A66126FE2}" srcOrd="1" destOrd="0" presId="urn:microsoft.com/office/officeart/2005/8/layout/hList1"/>
    <dgm:cxn modelId="{3E7F99BE-B58F-459C-8622-411E3C93F6B9}" type="presParOf" srcId="{F5F23DF8-0EFC-4561-AEEB-0B55D4E080CE}" destId="{CF7FDEA0-FBE3-4C63-9D4C-9F2399E88564}" srcOrd="3" destOrd="0" presId="urn:microsoft.com/office/officeart/2005/8/layout/hList1"/>
    <dgm:cxn modelId="{8A187AB5-F4B2-42CA-A53D-48ECBEE4983F}" type="presParOf" srcId="{F5F23DF8-0EFC-4561-AEEB-0B55D4E080CE}" destId="{8549FF14-B56F-42C2-BF2C-13327F7C7C43}" srcOrd="4" destOrd="0" presId="urn:microsoft.com/office/officeart/2005/8/layout/hList1"/>
    <dgm:cxn modelId="{4880EF95-92D8-447A-87E8-98909F90B878}" type="presParOf" srcId="{8549FF14-B56F-42C2-BF2C-13327F7C7C43}" destId="{848F87FE-C5E9-4EE4-8FBE-73FF1F0E6259}" srcOrd="0" destOrd="0" presId="urn:microsoft.com/office/officeart/2005/8/layout/hList1"/>
    <dgm:cxn modelId="{C90A7A4B-81AE-4805-99F1-30314FF8BBB2}" type="presParOf" srcId="{8549FF14-B56F-42C2-BF2C-13327F7C7C43}" destId="{731DFDF8-4FD0-4F6C-B919-0B710B137583}" srcOrd="1" destOrd="0" presId="urn:microsoft.com/office/officeart/2005/8/layout/hList1"/>
    <dgm:cxn modelId="{17B9BC8F-D2FB-40D6-9513-534C2FC7A617}" type="presParOf" srcId="{F5F23DF8-0EFC-4561-AEEB-0B55D4E080CE}" destId="{D5FE372F-8EEB-4CCC-9A99-C9C45DE59191}" srcOrd="5" destOrd="0" presId="urn:microsoft.com/office/officeart/2005/8/layout/hList1"/>
    <dgm:cxn modelId="{F7CC48CB-48CF-43AE-8954-2B62061D041A}" type="presParOf" srcId="{F5F23DF8-0EFC-4561-AEEB-0B55D4E080CE}" destId="{8B23C764-00A2-4764-B26E-FCC8367486D0}" srcOrd="6" destOrd="0" presId="urn:microsoft.com/office/officeart/2005/8/layout/hList1"/>
    <dgm:cxn modelId="{B71124FC-556E-40E9-8463-E43CD210B38A}" type="presParOf" srcId="{8B23C764-00A2-4764-B26E-FCC8367486D0}" destId="{60E80365-24D2-4696-9853-B93E20CE00B4}" srcOrd="0" destOrd="0" presId="urn:microsoft.com/office/officeart/2005/8/layout/hList1"/>
    <dgm:cxn modelId="{6BF094B5-7091-4D56-95D5-2CCADA9C161B}" type="presParOf" srcId="{8B23C764-00A2-4764-B26E-FCC8367486D0}" destId="{A2B2446D-C1C8-421B-B1F9-11D0A7D3862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DBD3A0-45EF-45D1-88E2-77BB0990D103}">
      <dsp:nvSpPr>
        <dsp:cNvPr id="0" name=""/>
        <dsp:cNvSpPr/>
      </dsp:nvSpPr>
      <dsp:spPr>
        <a:xfrm>
          <a:off x="5782" y="1005244"/>
          <a:ext cx="3476726" cy="139069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净值分析</a:t>
          </a:r>
        </a:p>
      </dsp:txBody>
      <dsp:txXfrm>
        <a:off x="5782" y="1005244"/>
        <a:ext cx="3476726" cy="1390690"/>
      </dsp:txXfrm>
    </dsp:sp>
    <dsp:sp modelId="{19FF79F1-E832-47C9-9A39-51D2F259347D}">
      <dsp:nvSpPr>
        <dsp:cNvPr id="0" name=""/>
        <dsp:cNvSpPr/>
      </dsp:nvSpPr>
      <dsp:spPr>
        <a:xfrm>
          <a:off x="5782" y="2072662"/>
          <a:ext cx="3476726" cy="403656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组合净值曲线</a:t>
          </a:r>
        </a:p>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组合整体指标：最大回撤、</a:t>
          </a:r>
          <a:r>
            <a:rPr lang="en-US" altLang="en-US" sz="2400" kern="1200" dirty="0" err="1">
              <a:latin typeface="微软雅黑" panose="020B0503020204020204" pitchFamily="34" charset="-122"/>
              <a:ea typeface="微软雅黑" panose="020B0503020204020204" pitchFamily="34" charset="-122"/>
            </a:rPr>
            <a:t>sharpe,treynor</a:t>
          </a:r>
          <a:r>
            <a:rPr lang="en-US" altLang="en-US" sz="2400" kern="1200" dirty="0">
              <a:latin typeface="微软雅黑" panose="020B0503020204020204" pitchFamily="34" charset="-122"/>
              <a:ea typeface="微软雅黑" panose="020B0503020204020204" pitchFamily="34" charset="-122"/>
            </a:rPr>
            <a:t>, </a:t>
          </a:r>
          <a:r>
            <a:rPr lang="en-US" altLang="en-US" sz="2400" kern="1200" dirty="0" err="1">
              <a:latin typeface="微软雅黑" panose="020B0503020204020204" pitchFamily="34" charset="-122"/>
              <a:ea typeface="微软雅黑" panose="020B0503020204020204" pitchFamily="34" charset="-122"/>
            </a:rPr>
            <a:t>jensen</a:t>
          </a:r>
          <a:r>
            <a:rPr lang="zh-CN" altLang="en-US" sz="2400" kern="1200" dirty="0">
              <a:latin typeface="微软雅黑" panose="020B0503020204020204" pitchFamily="34" charset="-122"/>
              <a:ea typeface="微软雅黑" panose="020B0503020204020204" pitchFamily="34" charset="-122"/>
            </a:rPr>
            <a:t>等</a:t>
          </a:r>
        </a:p>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与基准指数对比</a:t>
          </a:r>
        </a:p>
      </dsp:txBody>
      <dsp:txXfrm>
        <a:off x="5782" y="2072662"/>
        <a:ext cx="3476726" cy="4036566"/>
      </dsp:txXfrm>
    </dsp:sp>
    <dsp:sp modelId="{575F82CD-71C4-4C29-9440-5C972D90796D}">
      <dsp:nvSpPr>
        <dsp:cNvPr id="0" name=""/>
        <dsp:cNvSpPr/>
      </dsp:nvSpPr>
      <dsp:spPr>
        <a:xfrm>
          <a:off x="3969250" y="1005244"/>
          <a:ext cx="3476726" cy="1390690"/>
        </a:xfrm>
        <a:prstGeom prst="rect">
          <a:avLst/>
        </a:prstGeom>
        <a:solidFill>
          <a:schemeClr val="accent2">
            <a:hueOff val="3944390"/>
            <a:satOff val="-27302"/>
            <a:lumOff val="-7320"/>
            <a:alphaOff val="0"/>
          </a:schemeClr>
        </a:solidFill>
        <a:ln w="12700" cap="flat" cmpd="sng" algn="ctr">
          <a:solidFill>
            <a:schemeClr val="accent2">
              <a:hueOff val="3944390"/>
              <a:satOff val="-27302"/>
              <a:lumOff val="-732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业绩分析</a:t>
          </a:r>
        </a:p>
      </dsp:txBody>
      <dsp:txXfrm>
        <a:off x="3969250" y="1005244"/>
        <a:ext cx="3476726" cy="1390690"/>
      </dsp:txXfrm>
    </dsp:sp>
    <dsp:sp modelId="{F8434393-81A5-47A9-B931-690A66126FE2}">
      <dsp:nvSpPr>
        <dsp:cNvPr id="0" name=""/>
        <dsp:cNvSpPr/>
      </dsp:nvSpPr>
      <dsp:spPr>
        <a:xfrm>
          <a:off x="3969250" y="2072662"/>
          <a:ext cx="3476726" cy="4036566"/>
        </a:xfrm>
        <a:prstGeom prst="rect">
          <a:avLst/>
        </a:prstGeom>
        <a:solidFill>
          <a:schemeClr val="accent2">
            <a:tint val="40000"/>
            <a:alpha val="90000"/>
            <a:hueOff val="4139717"/>
            <a:satOff val="-30925"/>
            <a:lumOff val="-2463"/>
            <a:alphaOff val="0"/>
          </a:schemeClr>
        </a:solidFill>
        <a:ln w="12700" cap="flat" cmpd="sng" algn="ctr">
          <a:solidFill>
            <a:schemeClr val="accent2">
              <a:tint val="40000"/>
              <a:alpha val="90000"/>
              <a:hueOff val="4139717"/>
              <a:satOff val="-30925"/>
              <a:lumOff val="-246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组合业绩归因</a:t>
          </a:r>
        </a:p>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个券相对位置</a:t>
          </a:r>
        </a:p>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业绩时序跟踪</a:t>
          </a:r>
        </a:p>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在各个业绩维度下的贡献度排序</a:t>
          </a:r>
          <a:r>
            <a:rPr lang="en-US" altLang="zh-CN" sz="2400" kern="1200" dirty="0">
              <a:latin typeface="微软雅黑" panose="020B0503020204020204" pitchFamily="34" charset="-122"/>
              <a:ea typeface="微软雅黑" panose="020B0503020204020204" pitchFamily="34" charset="-122"/>
            </a:rPr>
            <a:t>(</a:t>
          </a:r>
          <a:r>
            <a:rPr lang="zh-CN" altLang="en-US" sz="2400" kern="1200" dirty="0">
              <a:latin typeface="微软雅黑" panose="020B0503020204020204" pitchFamily="34" charset="-122"/>
              <a:ea typeface="微软雅黑" panose="020B0503020204020204" pitchFamily="34" charset="-122"/>
            </a:rPr>
            <a:t>按券种</a:t>
          </a:r>
          <a:r>
            <a:rPr lang="en-US" altLang="zh-CN" sz="2400" kern="1200" dirty="0">
              <a:latin typeface="微软雅黑" panose="020B0503020204020204" pitchFamily="34" charset="-122"/>
              <a:ea typeface="微软雅黑" panose="020B0503020204020204" pitchFamily="34" charset="-122"/>
            </a:rPr>
            <a:t>/</a:t>
          </a:r>
          <a:r>
            <a:rPr lang="zh-CN" altLang="en-US" sz="2400" kern="1200" dirty="0">
              <a:latin typeface="微软雅黑" panose="020B0503020204020204" pitchFamily="34" charset="-122"/>
              <a:ea typeface="微软雅黑" panose="020B0503020204020204" pitchFamily="34" charset="-122"/>
            </a:rPr>
            <a:t>按评级</a:t>
          </a:r>
          <a:r>
            <a:rPr lang="en-US" altLang="zh-CN" sz="2400" kern="1200" dirty="0">
              <a:latin typeface="微软雅黑" panose="020B0503020204020204" pitchFamily="34" charset="-122"/>
              <a:ea typeface="微软雅黑" panose="020B0503020204020204" pitchFamily="34" charset="-122"/>
            </a:rPr>
            <a:t>/</a:t>
          </a:r>
          <a:r>
            <a:rPr lang="zh-CN" altLang="en-US" sz="2400" kern="1200" dirty="0">
              <a:latin typeface="微软雅黑" panose="020B0503020204020204" pitchFamily="34" charset="-122"/>
              <a:ea typeface="微软雅黑" panose="020B0503020204020204" pitchFamily="34" charset="-122"/>
            </a:rPr>
            <a:t>按个券</a:t>
          </a:r>
          <a:r>
            <a:rPr lang="en-US" altLang="zh-CN" sz="2400" kern="1200" dirty="0">
              <a:latin typeface="微软雅黑" panose="020B0503020204020204" pitchFamily="34" charset="-122"/>
              <a:ea typeface="微软雅黑" panose="020B0503020204020204" pitchFamily="34" charset="-122"/>
            </a:rPr>
            <a:t>)</a:t>
          </a:r>
          <a:endParaRPr lang="zh-CN" altLang="en-US" sz="2400" kern="1200" dirty="0">
            <a:latin typeface="微软雅黑" panose="020B0503020204020204" pitchFamily="34" charset="-122"/>
            <a:ea typeface="微软雅黑" panose="020B0503020204020204" pitchFamily="34" charset="-122"/>
          </a:endParaRPr>
        </a:p>
      </dsp:txBody>
      <dsp:txXfrm>
        <a:off x="3969250" y="2072662"/>
        <a:ext cx="3476726" cy="4036566"/>
      </dsp:txXfrm>
    </dsp:sp>
    <dsp:sp modelId="{848F87FE-C5E9-4EE4-8FBE-73FF1F0E6259}">
      <dsp:nvSpPr>
        <dsp:cNvPr id="0" name=""/>
        <dsp:cNvSpPr/>
      </dsp:nvSpPr>
      <dsp:spPr>
        <a:xfrm>
          <a:off x="7932718" y="1005244"/>
          <a:ext cx="3476726" cy="1390690"/>
        </a:xfrm>
        <a:prstGeom prst="rect">
          <a:avLst/>
        </a:prstGeom>
        <a:solidFill>
          <a:schemeClr val="accent2">
            <a:hueOff val="7888780"/>
            <a:satOff val="-54603"/>
            <a:lumOff val="-14640"/>
            <a:alphaOff val="0"/>
          </a:schemeClr>
        </a:solidFill>
        <a:ln w="12700" cap="flat" cmpd="sng" algn="ctr">
          <a:solidFill>
            <a:schemeClr val="accent2">
              <a:hueOff val="7888780"/>
              <a:satOff val="-54603"/>
              <a:lumOff val="-146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综合分析</a:t>
          </a:r>
        </a:p>
      </dsp:txBody>
      <dsp:txXfrm>
        <a:off x="7932718" y="1005244"/>
        <a:ext cx="3476726" cy="1390690"/>
      </dsp:txXfrm>
    </dsp:sp>
    <dsp:sp modelId="{731DFDF8-4FD0-4F6C-B919-0B710B137583}">
      <dsp:nvSpPr>
        <dsp:cNvPr id="0" name=""/>
        <dsp:cNvSpPr/>
      </dsp:nvSpPr>
      <dsp:spPr>
        <a:xfrm>
          <a:off x="7932718" y="2072662"/>
          <a:ext cx="3476726" cy="4036566"/>
        </a:xfrm>
        <a:prstGeom prst="rect">
          <a:avLst/>
        </a:prstGeom>
        <a:solidFill>
          <a:schemeClr val="accent2">
            <a:tint val="40000"/>
            <a:alpha val="90000"/>
            <a:hueOff val="8279434"/>
            <a:satOff val="-61850"/>
            <a:lumOff val="-4925"/>
            <a:alphaOff val="0"/>
          </a:schemeClr>
        </a:solidFill>
        <a:ln w="12700" cap="flat" cmpd="sng" algn="ctr">
          <a:solidFill>
            <a:schemeClr val="accent2">
              <a:tint val="40000"/>
              <a:alpha val="90000"/>
              <a:hueOff val="8279434"/>
              <a:satOff val="-61850"/>
              <a:lumOff val="-49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损益明细</a:t>
          </a:r>
        </a:p>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债券分布</a:t>
          </a:r>
        </a:p>
        <a:p>
          <a:pPr marL="228600" lvl="1" indent="-228600" algn="l" defTabSz="1066800">
            <a:lnSpc>
              <a:spcPct val="90000"/>
            </a:lnSpc>
            <a:spcBef>
              <a:spcPct val="0"/>
            </a:spcBef>
            <a:spcAft>
              <a:spcPct val="15000"/>
            </a:spcAft>
            <a:buChar char="•"/>
          </a:pPr>
          <a:r>
            <a:rPr lang="zh-CN" altLang="en-US" sz="2400" kern="1200" dirty="0">
              <a:latin typeface="微软雅黑" panose="020B0503020204020204" pitchFamily="34" charset="-122"/>
              <a:ea typeface="微软雅黑" panose="020B0503020204020204" pitchFamily="34" charset="-122"/>
            </a:rPr>
            <a:t>评级分布</a:t>
          </a:r>
        </a:p>
      </dsp:txBody>
      <dsp:txXfrm>
        <a:off x="7932718" y="2072662"/>
        <a:ext cx="3476726" cy="4036566"/>
      </dsp:txXfrm>
    </dsp:sp>
    <dsp:sp modelId="{60E80365-24D2-4696-9853-B93E20CE00B4}">
      <dsp:nvSpPr>
        <dsp:cNvPr id="0" name=""/>
        <dsp:cNvSpPr/>
      </dsp:nvSpPr>
      <dsp:spPr>
        <a:xfrm>
          <a:off x="11896186" y="1005244"/>
          <a:ext cx="3476726" cy="1390690"/>
        </a:xfrm>
        <a:prstGeom prst="rect">
          <a:avLst/>
        </a:prstGeom>
        <a:solidFill>
          <a:schemeClr val="accent2">
            <a:hueOff val="11833169"/>
            <a:satOff val="-81905"/>
            <a:lumOff val="-21960"/>
            <a:alphaOff val="0"/>
          </a:schemeClr>
        </a:solidFill>
        <a:ln w="12700" cap="flat" cmpd="sng" algn="ctr">
          <a:solidFill>
            <a:schemeClr val="accent2">
              <a:hueOff val="11833169"/>
              <a:satOff val="-81905"/>
              <a:lumOff val="-219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风险分析</a:t>
          </a:r>
        </a:p>
      </dsp:txBody>
      <dsp:txXfrm>
        <a:off x="11896186" y="1005244"/>
        <a:ext cx="3476726" cy="1390690"/>
      </dsp:txXfrm>
    </dsp:sp>
    <dsp:sp modelId="{A2B2446D-C1C8-421B-B1F9-11D0A7D38623}">
      <dsp:nvSpPr>
        <dsp:cNvPr id="0" name=""/>
        <dsp:cNvSpPr/>
      </dsp:nvSpPr>
      <dsp:spPr>
        <a:xfrm>
          <a:off x="11896186" y="2072662"/>
          <a:ext cx="3476726" cy="4036566"/>
        </a:xfrm>
        <a:prstGeom prst="rect">
          <a:avLst/>
        </a:prstGeom>
        <a:solidFill>
          <a:schemeClr val="accent2">
            <a:tint val="40000"/>
            <a:alpha val="90000"/>
            <a:hueOff val="12419150"/>
            <a:satOff val="-92775"/>
            <a:lumOff val="-7388"/>
            <a:alphaOff val="0"/>
          </a:schemeClr>
        </a:solidFill>
        <a:ln w="12700" cap="flat" cmpd="sng" algn="ctr">
          <a:solidFill>
            <a:schemeClr val="accent2">
              <a:tint val="40000"/>
              <a:alpha val="90000"/>
              <a:hueOff val="12419150"/>
              <a:satOff val="-92775"/>
              <a:lumOff val="-738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b="0" kern="1200" dirty="0">
              <a:latin typeface="微软雅黑" panose="020B0503020204020204" pitchFamily="34" charset="-122"/>
              <a:ea typeface="微软雅黑" panose="020B0503020204020204" pitchFamily="34" charset="-122"/>
            </a:rPr>
            <a:t>债券</a:t>
          </a:r>
          <a:r>
            <a:rPr lang="en-US" altLang="zh-CN" sz="2400" b="0" kern="1200" dirty="0" err="1">
              <a:latin typeface="微软雅黑" panose="020B0503020204020204" pitchFamily="34" charset="-122"/>
              <a:ea typeface="微软雅黑" panose="020B0503020204020204" pitchFamily="34" charset="-122"/>
            </a:rPr>
            <a:t>VaR</a:t>
          </a:r>
          <a:endParaRPr lang="zh-CN" altLang="en-US" sz="2400" b="0" kern="1200" dirty="0">
            <a:latin typeface="微软雅黑" panose="020B0503020204020204" pitchFamily="34" charset="-122"/>
            <a:ea typeface="微软雅黑" panose="020B0503020204020204" pitchFamily="34" charset="-122"/>
          </a:endParaRPr>
        </a:p>
        <a:p>
          <a:pPr marL="228600" lvl="1" indent="-228600" algn="l" defTabSz="1066800">
            <a:lnSpc>
              <a:spcPct val="90000"/>
            </a:lnSpc>
            <a:spcBef>
              <a:spcPct val="0"/>
            </a:spcBef>
            <a:spcAft>
              <a:spcPct val="15000"/>
            </a:spcAft>
            <a:buChar char="•"/>
          </a:pPr>
          <a:r>
            <a:rPr lang="zh-CN" altLang="en-US" sz="2400" b="0" kern="1200" dirty="0">
              <a:latin typeface="微软雅黑" panose="020B0503020204020204" pitchFamily="34" charset="-122"/>
              <a:ea typeface="微软雅黑" panose="020B0503020204020204" pitchFamily="34" charset="-122"/>
            </a:rPr>
            <a:t>敏感性分析</a:t>
          </a:r>
        </a:p>
        <a:p>
          <a:pPr marL="228600" lvl="1" indent="-228600" algn="l" defTabSz="1066800">
            <a:lnSpc>
              <a:spcPct val="90000"/>
            </a:lnSpc>
            <a:spcBef>
              <a:spcPct val="0"/>
            </a:spcBef>
            <a:spcAft>
              <a:spcPct val="15000"/>
            </a:spcAft>
            <a:buChar char="•"/>
          </a:pPr>
          <a:r>
            <a:rPr lang="zh-CN" altLang="en-US" sz="2400" b="0" kern="1200" dirty="0">
              <a:latin typeface="微软雅黑" panose="020B0503020204020204" pitchFamily="34" charset="-122"/>
              <a:ea typeface="微软雅黑" panose="020B0503020204020204" pitchFamily="34" charset="-122"/>
            </a:rPr>
            <a:t>情景分析</a:t>
          </a:r>
        </a:p>
      </dsp:txBody>
      <dsp:txXfrm>
        <a:off x="11896186" y="2072662"/>
        <a:ext cx="3476726" cy="4036566"/>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9AE140-4B24-4281-9FE3-03EDA98AAC88}" type="datetimeFigureOut">
              <a:rPr lang="zh-CN" altLang="en-US" smtClean="0"/>
              <a:t>2018/03/16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9EDB89-1D0E-4D22-BCE0-E55E481BDC83}" type="slidenum">
              <a:rPr lang="zh-CN" altLang="en-US" smtClean="0"/>
              <a:t>‹#›</a:t>
            </a:fld>
            <a:endParaRPr lang="zh-CN" altLang="en-US"/>
          </a:p>
        </p:txBody>
      </p:sp>
    </p:spTree>
    <p:extLst>
      <p:ext uri="{BB962C8B-B14F-4D97-AF65-F5344CB8AC3E}">
        <p14:creationId xmlns:p14="http://schemas.microsoft.com/office/powerpoint/2010/main" val="2951156235"/>
      </p:ext>
    </p:extLst>
  </p:cSld>
  <p:clrMap bg1="lt1" tx1="dk1" bg2="lt2" tx2="dk2" accent1="accent1" accent2="accent2" accent3="accent3" accent4="accent4" accent5="accent5" accent6="accent6" hlink="hlink" folHlink="folHlink"/>
  <p:notesStyle>
    <a:lvl1pPr marL="0" algn="l" defTabSz="1295856" rtl="0" eaLnBrk="1" latinLnBrk="0" hangingPunct="1">
      <a:defRPr sz="1701" kern="1200">
        <a:solidFill>
          <a:schemeClr val="tx1"/>
        </a:solidFill>
        <a:latin typeface="+mn-lt"/>
        <a:ea typeface="+mn-ea"/>
        <a:cs typeface="+mn-cs"/>
      </a:defRPr>
    </a:lvl1pPr>
    <a:lvl2pPr marL="647929" algn="l" defTabSz="1295856" rtl="0" eaLnBrk="1" latinLnBrk="0" hangingPunct="1">
      <a:defRPr sz="1701" kern="1200">
        <a:solidFill>
          <a:schemeClr val="tx1"/>
        </a:solidFill>
        <a:latin typeface="+mn-lt"/>
        <a:ea typeface="+mn-ea"/>
        <a:cs typeface="+mn-cs"/>
      </a:defRPr>
    </a:lvl2pPr>
    <a:lvl3pPr marL="1295856" algn="l" defTabSz="1295856" rtl="0" eaLnBrk="1" latinLnBrk="0" hangingPunct="1">
      <a:defRPr sz="1701" kern="1200">
        <a:solidFill>
          <a:schemeClr val="tx1"/>
        </a:solidFill>
        <a:latin typeface="+mn-lt"/>
        <a:ea typeface="+mn-ea"/>
        <a:cs typeface="+mn-cs"/>
      </a:defRPr>
    </a:lvl3pPr>
    <a:lvl4pPr marL="1943784" algn="l" defTabSz="1295856" rtl="0" eaLnBrk="1" latinLnBrk="0" hangingPunct="1">
      <a:defRPr sz="1701" kern="1200">
        <a:solidFill>
          <a:schemeClr val="tx1"/>
        </a:solidFill>
        <a:latin typeface="+mn-lt"/>
        <a:ea typeface="+mn-ea"/>
        <a:cs typeface="+mn-cs"/>
      </a:defRPr>
    </a:lvl4pPr>
    <a:lvl5pPr marL="2591712" algn="l" defTabSz="1295856" rtl="0" eaLnBrk="1" latinLnBrk="0" hangingPunct="1">
      <a:defRPr sz="1701" kern="1200">
        <a:solidFill>
          <a:schemeClr val="tx1"/>
        </a:solidFill>
        <a:latin typeface="+mn-lt"/>
        <a:ea typeface="+mn-ea"/>
        <a:cs typeface="+mn-cs"/>
      </a:defRPr>
    </a:lvl5pPr>
    <a:lvl6pPr marL="3239640" algn="l" defTabSz="1295856" rtl="0" eaLnBrk="1" latinLnBrk="0" hangingPunct="1">
      <a:defRPr sz="1701" kern="1200">
        <a:solidFill>
          <a:schemeClr val="tx1"/>
        </a:solidFill>
        <a:latin typeface="+mn-lt"/>
        <a:ea typeface="+mn-ea"/>
        <a:cs typeface="+mn-cs"/>
      </a:defRPr>
    </a:lvl6pPr>
    <a:lvl7pPr marL="3887569" algn="l" defTabSz="1295856" rtl="0" eaLnBrk="1" latinLnBrk="0" hangingPunct="1">
      <a:defRPr sz="1701" kern="1200">
        <a:solidFill>
          <a:schemeClr val="tx1"/>
        </a:solidFill>
        <a:latin typeface="+mn-lt"/>
        <a:ea typeface="+mn-ea"/>
        <a:cs typeface="+mn-cs"/>
      </a:defRPr>
    </a:lvl7pPr>
    <a:lvl8pPr marL="4535496" algn="l" defTabSz="1295856" rtl="0" eaLnBrk="1" latinLnBrk="0" hangingPunct="1">
      <a:defRPr sz="1701" kern="1200">
        <a:solidFill>
          <a:schemeClr val="tx1"/>
        </a:solidFill>
        <a:latin typeface="+mn-lt"/>
        <a:ea typeface="+mn-ea"/>
        <a:cs typeface="+mn-cs"/>
      </a:defRPr>
    </a:lvl8pPr>
    <a:lvl9pPr marL="5183425" algn="l" defTabSz="1295856" rtl="0" eaLnBrk="1" latinLnBrk="0" hangingPunct="1">
      <a:defRPr sz="17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E98FB9-DCF2-48F0-A918-023407CCD489}" type="slidenum">
              <a:rPr lang="zh-CN" altLang="en-US" smtClean="0"/>
              <a:pPr/>
              <a:t>23</a:t>
            </a:fld>
            <a:endParaRPr lang="zh-CN" altLang="en-US"/>
          </a:p>
        </p:txBody>
      </p:sp>
    </p:spTree>
    <p:extLst>
      <p:ext uri="{BB962C8B-B14F-4D97-AF65-F5344CB8AC3E}">
        <p14:creationId xmlns:p14="http://schemas.microsoft.com/office/powerpoint/2010/main" val="449846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8" name="Rectangle 27"/>
          <p:cNvSpPr/>
          <p:nvPr userDrawn="1"/>
        </p:nvSpPr>
        <p:spPr>
          <a:xfrm>
            <a:off x="-9642" y="0"/>
            <a:ext cx="17289581" cy="626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nvGrpSpPr>
          <p:cNvPr id="99" name="Group 29"/>
          <p:cNvGrpSpPr/>
          <p:nvPr userDrawn="1"/>
        </p:nvGrpSpPr>
        <p:grpSpPr>
          <a:xfrm rot="1800000">
            <a:off x="12176073" y="1238428"/>
            <a:ext cx="4418616" cy="4600873"/>
            <a:chOff x="8349573" y="-1673337"/>
            <a:chExt cx="6162676" cy="6416675"/>
          </a:xfrm>
          <a:solidFill>
            <a:schemeClr val="bg1">
              <a:alpha val="16000"/>
            </a:schemeClr>
          </a:solidFill>
        </p:grpSpPr>
        <p:sp>
          <p:nvSpPr>
            <p:cNvPr id="100"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1"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2"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3"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4"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5"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6"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7"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8"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09"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10"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111"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grpSp>
      <p:grpSp>
        <p:nvGrpSpPr>
          <p:cNvPr id="4" name="组合 3"/>
          <p:cNvGrpSpPr/>
          <p:nvPr userDrawn="1"/>
        </p:nvGrpSpPr>
        <p:grpSpPr>
          <a:xfrm>
            <a:off x="828581" y="349110"/>
            <a:ext cx="3696591" cy="3036227"/>
            <a:chOff x="2607344" y="-649181"/>
            <a:chExt cx="2608160" cy="2142169"/>
          </a:xfrm>
        </p:grpSpPr>
        <p:grpSp>
          <p:nvGrpSpPr>
            <p:cNvPr id="113" name="Group 74"/>
            <p:cNvGrpSpPr/>
            <p:nvPr userDrawn="1"/>
          </p:nvGrpSpPr>
          <p:grpSpPr>
            <a:xfrm rot="1800000">
              <a:off x="3246128" y="-649181"/>
              <a:ext cx="1314075" cy="1368235"/>
              <a:chOff x="8349573" y="-1673337"/>
              <a:chExt cx="6162676" cy="6416675"/>
            </a:xfrm>
            <a:solidFill>
              <a:schemeClr val="bg1">
                <a:alpha val="15000"/>
              </a:schemeClr>
            </a:solidFill>
          </p:grpSpPr>
          <p:sp>
            <p:nvSpPr>
              <p:cNvPr id="146"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7"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8"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49"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0"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1"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2"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3"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4"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5"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6"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157"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nvGrpSpPr>
            <p:cNvPr id="115" name="Group 58"/>
            <p:cNvGrpSpPr/>
            <p:nvPr userDrawn="1"/>
          </p:nvGrpSpPr>
          <p:grpSpPr>
            <a:xfrm>
              <a:off x="2607344" y="-468621"/>
              <a:ext cx="2608160" cy="1961609"/>
              <a:chOff x="1925461" y="-469483"/>
              <a:chExt cx="5437137" cy="4089296"/>
            </a:xfrm>
            <a:solidFill>
              <a:schemeClr val="accent2">
                <a:lumMod val="60000"/>
                <a:lumOff val="40000"/>
                <a:alpha val="25000"/>
              </a:schemeClr>
            </a:solidFill>
          </p:grpSpPr>
          <p:sp>
            <p:nvSpPr>
              <p:cNvPr id="132"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3"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4"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5"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6" name="Freeform 63"/>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7"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8"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grpSp>
        <p:nvGrpSpPr>
          <p:cNvPr id="116" name="Group 42"/>
          <p:cNvGrpSpPr/>
          <p:nvPr/>
        </p:nvGrpSpPr>
        <p:grpSpPr>
          <a:xfrm>
            <a:off x="1560131" y="2510550"/>
            <a:ext cx="3696591" cy="2780308"/>
            <a:chOff x="1925461" y="-469483"/>
            <a:chExt cx="5437137" cy="4089296"/>
          </a:xfrm>
          <a:solidFill>
            <a:schemeClr val="accent2">
              <a:lumMod val="60000"/>
              <a:lumOff val="40000"/>
              <a:alpha val="45000"/>
            </a:schemeClr>
          </a:solidFill>
        </p:grpSpPr>
        <p:sp>
          <p:nvSpPr>
            <p:cNvPr id="125"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6"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7"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8"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9" name="Freeform 47"/>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0"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31"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117" name="Group 50"/>
          <p:cNvGrpSpPr/>
          <p:nvPr/>
        </p:nvGrpSpPr>
        <p:grpSpPr>
          <a:xfrm>
            <a:off x="4065969" y="1481669"/>
            <a:ext cx="3696591" cy="2780308"/>
            <a:chOff x="1925461" y="-469483"/>
            <a:chExt cx="5437137" cy="4089296"/>
          </a:xfrm>
          <a:solidFill>
            <a:schemeClr val="accent2">
              <a:alpha val="25000"/>
            </a:schemeClr>
          </a:solidFill>
        </p:grpSpPr>
        <p:sp>
          <p:nvSpPr>
            <p:cNvPr id="118"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19"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0"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1"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2" name="Freeform 55"/>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3"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124"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271" name="组合 270"/>
          <p:cNvGrpSpPr/>
          <p:nvPr userDrawn="1"/>
        </p:nvGrpSpPr>
        <p:grpSpPr>
          <a:xfrm>
            <a:off x="11431575" y="5114395"/>
            <a:ext cx="3619288" cy="1064058"/>
            <a:chOff x="0" y="3026106"/>
            <a:chExt cx="1581119" cy="710409"/>
          </a:xfrm>
        </p:grpSpPr>
        <p:sp>
          <p:nvSpPr>
            <p:cNvPr id="272" name="文本框 271"/>
            <p:cNvSpPr txBox="1"/>
            <p:nvPr/>
          </p:nvSpPr>
          <p:spPr>
            <a:xfrm>
              <a:off x="3662" y="3303495"/>
              <a:ext cx="1577457" cy="433020"/>
            </a:xfrm>
            <a:prstGeom prst="rect">
              <a:avLst/>
            </a:prstGeom>
            <a:noFill/>
          </p:spPr>
          <p:txBody>
            <a:bodyPr wrap="none" rtlCol="0">
              <a:prstTxWarp prst="textPlain">
                <a:avLst/>
              </a:prstTxWarp>
              <a:spAutoFit/>
            </a:bodyPr>
            <a:lstStyle/>
            <a:p>
              <a:endParaRPr lang="zh-CN" altLang="en-US" sz="16601" b="1" dirty="0">
                <a:solidFill>
                  <a:schemeClr val="bg1"/>
                </a:solidFill>
                <a:latin typeface="+mn-lt"/>
              </a:endParaRPr>
            </a:p>
          </p:txBody>
        </p:sp>
        <p:sp>
          <p:nvSpPr>
            <p:cNvPr id="273" name="矩形 272"/>
            <p:cNvSpPr/>
            <p:nvPr/>
          </p:nvSpPr>
          <p:spPr>
            <a:xfrm>
              <a:off x="0" y="3026106"/>
              <a:ext cx="1251032" cy="218356"/>
            </a:xfrm>
            <a:prstGeom prst="rect">
              <a:avLst/>
            </a:prstGeom>
            <a:noFill/>
          </p:spPr>
          <p:txBody>
            <a:bodyPr wrap="none" numCol="1" rtlCol="0">
              <a:prstTxWarp prst="textPlain">
                <a:avLst/>
              </a:prstTxWarp>
              <a:spAutoFit/>
            </a:bodyPr>
            <a:lstStyle/>
            <a:p>
              <a:pPr lvl="0"/>
              <a:endParaRPr lang="en-US" altLang="zh-CN" sz="16601" b="1" noProof="0" dirty="0">
                <a:solidFill>
                  <a:schemeClr val="bg1"/>
                </a:solidFill>
                <a:latin typeface="+mn-lt"/>
              </a:endParaRPr>
            </a:p>
          </p:txBody>
        </p:sp>
      </p:grpSp>
      <p:sp>
        <p:nvSpPr>
          <p:cNvPr id="12" name="文本占位符 13"/>
          <p:cNvSpPr>
            <a:spLocks noGrp="1"/>
          </p:cNvSpPr>
          <p:nvPr>
            <p:ph type="body" sz="quarter" idx="10" hasCustomPrompt="1"/>
          </p:nvPr>
        </p:nvSpPr>
        <p:spPr>
          <a:xfrm>
            <a:off x="953085" y="6528318"/>
            <a:ext cx="4186808" cy="526514"/>
          </a:xfrm>
        </p:spPr>
        <p:txBody>
          <a:bodyPr anchor="ctr">
            <a:noAutofit/>
          </a:bodyPr>
          <a:lstStyle>
            <a:lvl1pPr marL="0" indent="0" algn="l">
              <a:buNone/>
              <a:defRPr sz="2400" b="0">
                <a:solidFill>
                  <a:schemeClr val="tx1">
                    <a:lumMod val="50000"/>
                    <a:lumOff val="50000"/>
                  </a:schemeClr>
                </a:solidFill>
              </a:defRPr>
            </a:lvl1pPr>
            <a:lvl2pPr marL="457198" indent="0">
              <a:buNone/>
              <a:defRPr/>
            </a:lvl2pPr>
            <a:lvl3pPr marL="914396" indent="0">
              <a:buNone/>
              <a:defRPr/>
            </a:lvl3pPr>
            <a:lvl4pPr marL="1371595" indent="0">
              <a:buNone/>
              <a:defRPr/>
            </a:lvl4pPr>
            <a:lvl5pPr marL="1828795" indent="0">
              <a:buNone/>
              <a:defRPr/>
            </a:lvl5pPr>
          </a:lstStyle>
          <a:p>
            <a:pPr lvl="0"/>
            <a:r>
              <a:rPr lang="zh-CN" altLang="en-US" dirty="0"/>
              <a:t>署名</a:t>
            </a:r>
          </a:p>
        </p:txBody>
      </p:sp>
      <p:sp>
        <p:nvSpPr>
          <p:cNvPr id="13" name="文本占位符 13"/>
          <p:cNvSpPr>
            <a:spLocks noGrp="1"/>
          </p:cNvSpPr>
          <p:nvPr>
            <p:ph type="body" sz="quarter" idx="11" hasCustomPrompt="1"/>
          </p:nvPr>
        </p:nvSpPr>
        <p:spPr>
          <a:xfrm>
            <a:off x="953085" y="7054834"/>
            <a:ext cx="4186808" cy="526514"/>
          </a:xfrm>
        </p:spPr>
        <p:txBody>
          <a:bodyPr anchor="ctr">
            <a:noAutofit/>
          </a:bodyPr>
          <a:lstStyle>
            <a:lvl1pPr marL="0" indent="0" algn="l">
              <a:buNone/>
              <a:defRPr sz="2400" b="0">
                <a:solidFill>
                  <a:schemeClr val="tx1">
                    <a:lumMod val="50000"/>
                    <a:lumOff val="50000"/>
                  </a:schemeClr>
                </a:solidFill>
              </a:defRPr>
            </a:lvl1pPr>
            <a:lvl2pPr marL="457198" indent="0">
              <a:buNone/>
              <a:defRPr/>
            </a:lvl2pPr>
            <a:lvl3pPr marL="914396" indent="0">
              <a:buNone/>
              <a:defRPr/>
            </a:lvl3pPr>
            <a:lvl4pPr marL="1371595" indent="0">
              <a:buNone/>
              <a:defRPr/>
            </a:lvl4pPr>
            <a:lvl5pPr marL="1828795" indent="0">
              <a:buNone/>
              <a:defRPr/>
            </a:lvl5pPr>
          </a:lstStyle>
          <a:p>
            <a:pPr lvl="0"/>
            <a:r>
              <a:rPr lang="zh-CN" altLang="en-US" dirty="0"/>
              <a:t>日期</a:t>
            </a:r>
          </a:p>
        </p:txBody>
      </p:sp>
      <p:sp>
        <p:nvSpPr>
          <p:cNvPr id="9801" name="副标题 2"/>
          <p:cNvSpPr>
            <a:spLocks noGrp="1"/>
          </p:cNvSpPr>
          <p:nvPr userDrawn="1">
            <p:ph type="subTitle" idx="1"/>
          </p:nvPr>
        </p:nvSpPr>
        <p:spPr>
          <a:xfrm>
            <a:off x="952345" y="4301505"/>
            <a:ext cx="15378696" cy="792020"/>
          </a:xfrm>
        </p:spPr>
        <p:txBody>
          <a:bodyPr anchor="ctr">
            <a:normAutofit/>
          </a:bodyPr>
          <a:lstStyle>
            <a:lvl1pPr marL="0" indent="0" algn="l">
              <a:buNone/>
              <a:defRPr sz="2400">
                <a:solidFill>
                  <a:schemeClr val="bg1"/>
                </a:solidFill>
              </a:defRPr>
            </a:lvl1pPr>
            <a:lvl2pPr marL="457199" indent="0" algn="ctr">
              <a:buNone/>
              <a:defRPr sz="2000"/>
            </a:lvl2pPr>
            <a:lvl3pPr marL="914397" indent="0" algn="ctr">
              <a:buNone/>
              <a:defRPr sz="1800"/>
            </a:lvl3pPr>
            <a:lvl4pPr marL="1371596" indent="0" algn="ctr">
              <a:buNone/>
              <a:defRPr sz="1600"/>
            </a:lvl4pPr>
            <a:lvl5pPr marL="1828795" indent="0" algn="ctr">
              <a:buNone/>
              <a:defRPr sz="1600"/>
            </a:lvl5pPr>
            <a:lvl6pPr marL="2285993" indent="0" algn="ctr">
              <a:buNone/>
              <a:defRPr sz="1600"/>
            </a:lvl6pPr>
            <a:lvl7pPr marL="2743191" indent="0" algn="ctr">
              <a:buNone/>
              <a:defRPr sz="1600"/>
            </a:lvl7pPr>
            <a:lvl8pPr marL="3200390" indent="0" algn="ctr">
              <a:buNone/>
              <a:defRPr sz="1600"/>
            </a:lvl8pPr>
            <a:lvl9pPr marL="3657590" indent="0" algn="ctr">
              <a:buNone/>
              <a:defRPr sz="1600"/>
            </a:lvl9pPr>
          </a:lstStyle>
          <a:p>
            <a:endParaRPr lang="zh-CN" altLang="en-US" dirty="0"/>
          </a:p>
        </p:txBody>
      </p:sp>
      <p:sp>
        <p:nvSpPr>
          <p:cNvPr id="9802" name="标题 1"/>
          <p:cNvSpPr>
            <a:spLocks noGrp="1"/>
          </p:cNvSpPr>
          <p:nvPr userDrawn="1">
            <p:ph type="ctrTitle"/>
          </p:nvPr>
        </p:nvSpPr>
        <p:spPr>
          <a:xfrm>
            <a:off x="949497" y="1915624"/>
            <a:ext cx="15378696" cy="2205878"/>
          </a:xfrm>
        </p:spPr>
        <p:txBody>
          <a:bodyPr anchor="b">
            <a:normAutofit/>
          </a:bodyPr>
          <a:lstStyle>
            <a:lvl1pPr algn="l">
              <a:defRPr sz="8800">
                <a:solidFill>
                  <a:schemeClr val="bg1"/>
                </a:solidFill>
              </a:defRPr>
            </a:lvl1pPr>
          </a:lstStyle>
          <a:p>
            <a:endParaRPr lang="zh-CN" altLang="en-US" dirty="0"/>
          </a:p>
        </p:txBody>
      </p:sp>
      <p:sp>
        <p:nvSpPr>
          <p:cNvPr id="274" name="文本框 273"/>
          <p:cNvSpPr txBox="1"/>
          <p:nvPr userDrawn="1"/>
        </p:nvSpPr>
        <p:spPr>
          <a:xfrm>
            <a:off x="11431577" y="6324292"/>
            <a:ext cx="5258287" cy="916521"/>
          </a:xfrm>
          <a:prstGeom prst="rect">
            <a:avLst/>
          </a:prstGeom>
          <a:noFill/>
        </p:spPr>
        <p:txBody>
          <a:bodyPr wrap="none" rtlCol="0">
            <a:prstTxWarp prst="textPlain">
              <a:avLst/>
            </a:prstTxWarp>
            <a:spAutoFit/>
          </a:bodyPr>
          <a:lstStyle/>
          <a:p>
            <a:r>
              <a:rPr lang="en-US" altLang="zh-CN" sz="9600" dirty="0">
                <a:solidFill>
                  <a:srgbClr val="EAECEF"/>
                </a:solidFill>
                <a:latin typeface="Impact" panose="020B0806030902050204" pitchFamily="34" charset="0"/>
              </a:rPr>
              <a:t>BOND MARKET</a:t>
            </a:r>
            <a:endParaRPr lang="zh-CN" altLang="en-US" sz="9600" dirty="0">
              <a:solidFill>
                <a:srgbClr val="EAECEF"/>
              </a:solidFill>
              <a:latin typeface="Impact" panose="020B0806030902050204" pitchFamily="34" charset="0"/>
            </a:endParaRPr>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1593045"/>
            <a:ext cx="15378696" cy="7828747"/>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568967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378696" cy="1458038"/>
          </a:xfrm>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2581154"/>
            <a:ext cx="15466444" cy="6794339"/>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2">
            <a:extLst>
              <a:ext uri="{FF2B5EF4-FFF2-40B4-BE49-F238E27FC236}">
                <a16:creationId xmlns:a16="http://schemas.microsoft.com/office/drawing/2014/main" id="{25B6E052-3943-4930-B023-9775FD793AC5}"/>
              </a:ext>
            </a:extLst>
          </p:cNvPr>
          <p:cNvSpPr>
            <a:spLocks noGrp="1"/>
          </p:cNvSpPr>
          <p:nvPr>
            <p:ph type="body" idx="10"/>
          </p:nvPr>
        </p:nvSpPr>
        <p:spPr>
          <a:xfrm>
            <a:off x="949497" y="1503885"/>
            <a:ext cx="15466444" cy="906774"/>
          </a:xfrm>
        </p:spPr>
        <p:txBody>
          <a:bodyPr anchor="b">
            <a:noAutofit/>
          </a:bodyPr>
          <a:lstStyle>
            <a:lvl1pPr marL="285763" indent="-285763">
              <a:buFont typeface="Arial" panose="020B0604020202020204" pitchFamily="34" charset="0"/>
              <a:buChar char="•"/>
              <a:defRPr sz="28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Tree>
    <p:extLst>
      <p:ext uri="{BB962C8B-B14F-4D97-AF65-F5344CB8AC3E}">
        <p14:creationId xmlns:p14="http://schemas.microsoft.com/office/powerpoint/2010/main" val="2844401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lstStyle>
            <a:lvl1pPr>
              <a:defRPr>
                <a:solidFill>
                  <a:schemeClr val="tx1">
                    <a:lumMod val="85000"/>
                    <a:lumOff val="15000"/>
                  </a:schemeClr>
                </a:solidFill>
              </a:defRPr>
            </a:lvl1pPr>
          </a:lstStyle>
          <a:p>
            <a:r>
              <a:rPr lang="zh-CN" altLang="en-US" dirty="0"/>
              <a:t>单击此处编辑母版标题样式</a:t>
            </a:r>
          </a:p>
        </p:txBody>
      </p:sp>
      <p:sp>
        <p:nvSpPr>
          <p:cNvPr id="3" name="内容占位符 2"/>
          <p:cNvSpPr>
            <a:spLocks noGrp="1"/>
          </p:cNvSpPr>
          <p:nvPr>
            <p:ph idx="1"/>
          </p:nvPr>
        </p:nvSpPr>
        <p:spPr>
          <a:xfrm>
            <a:off x="949497" y="2963119"/>
            <a:ext cx="15466444" cy="6412374"/>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2">
            <a:extLst>
              <a:ext uri="{FF2B5EF4-FFF2-40B4-BE49-F238E27FC236}">
                <a16:creationId xmlns:a16="http://schemas.microsoft.com/office/drawing/2014/main" id="{25B6E052-3943-4930-B023-9775FD793AC5}"/>
              </a:ext>
            </a:extLst>
          </p:cNvPr>
          <p:cNvSpPr>
            <a:spLocks noGrp="1"/>
          </p:cNvSpPr>
          <p:nvPr>
            <p:ph type="body" idx="10"/>
          </p:nvPr>
        </p:nvSpPr>
        <p:spPr>
          <a:xfrm>
            <a:off x="949497" y="1608881"/>
            <a:ext cx="15466444" cy="1203766"/>
          </a:xfrm>
        </p:spPr>
        <p:txBody>
          <a:bodyPr anchor="b">
            <a:noAutofit/>
          </a:bodyPr>
          <a:lstStyle>
            <a:lvl1pPr marL="342900" marR="0" indent="-342900" algn="l" defTabSz="914397" rtl="0" eaLnBrk="1" fontAlgn="auto" latinLnBrk="0" hangingPunct="1">
              <a:lnSpc>
                <a:spcPct val="150000"/>
              </a:lnSpc>
              <a:spcBef>
                <a:spcPts val="1000"/>
              </a:spcBef>
              <a:spcAft>
                <a:spcPts val="0"/>
              </a:spcAft>
              <a:buClrTx/>
              <a:buSzTx/>
              <a:buFont typeface="Arial" panose="020B0604020202020204" pitchFamily="34" charset="0"/>
              <a:buChar char="•"/>
              <a:tabLst/>
              <a:defRPr sz="24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endParaRPr lang="en-US" altLang="zh-CN" dirty="0"/>
          </a:p>
          <a:p>
            <a:pPr marL="285763" marR="0" lvl="0" indent="-285763" algn="l" defTabSz="914397" rtl="0" eaLnBrk="1" fontAlgn="auto" latinLnBrk="0" hangingPunct="1">
              <a:lnSpc>
                <a:spcPct val="150000"/>
              </a:lnSpc>
              <a:spcBef>
                <a:spcPts val="1000"/>
              </a:spcBef>
              <a:spcAft>
                <a:spcPts val="0"/>
              </a:spcAft>
              <a:buClrTx/>
              <a:buSzTx/>
              <a:buFont typeface="Arial" panose="020B0604020202020204" pitchFamily="34" charset="0"/>
              <a:buChar char="•"/>
              <a:tabLst/>
              <a:defRPr/>
            </a:pPr>
            <a:r>
              <a:rPr lang="zh-CN" altLang="en-US" dirty="0"/>
              <a:t>编辑母版文本样式</a:t>
            </a:r>
          </a:p>
        </p:txBody>
      </p:sp>
    </p:spTree>
    <p:extLst>
      <p:ext uri="{BB962C8B-B14F-4D97-AF65-F5344CB8AC3E}">
        <p14:creationId xmlns:p14="http://schemas.microsoft.com/office/powerpoint/2010/main" val="3942633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圆角矩形 5">
            <a:extLst>
              <a:ext uri="{FF2B5EF4-FFF2-40B4-BE49-F238E27FC236}">
                <a16:creationId xmlns:a16="http://schemas.microsoft.com/office/drawing/2014/main" id="{ED1F311C-D1FD-4E92-8BA5-CF12C8E3C835}"/>
              </a:ext>
            </a:extLst>
          </p:cNvPr>
          <p:cNvSpPr>
            <a:spLocks noChangeAspect="1" noChangeArrowheads="1"/>
          </p:cNvSpPr>
          <p:nvPr userDrawn="1"/>
        </p:nvSpPr>
        <p:spPr bwMode="auto">
          <a:xfrm>
            <a:off x="1" y="0"/>
            <a:ext cx="17279937" cy="1587642"/>
          </a:xfrm>
          <a:prstGeom prst="roundRect">
            <a:avLst>
              <a:gd name="adj" fmla="val 0"/>
            </a:avLst>
          </a:prstGeom>
          <a:solidFill>
            <a:schemeClr val="accent5"/>
          </a:solidFill>
          <a:ln>
            <a:noFill/>
          </a:ln>
        </p:spPr>
        <p:txBody>
          <a:bodyPr anchor="ct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pitchFamily="3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pitchFamily="3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pitchFamily="3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en-US" sz="1800" dirty="0">
              <a:solidFill>
                <a:srgbClr val="FFFFFF"/>
              </a:solidFill>
            </a:endParaRPr>
          </a:p>
        </p:txBody>
      </p:sp>
      <p:sp>
        <p:nvSpPr>
          <p:cNvPr id="2" name="标题 1"/>
          <p:cNvSpPr>
            <a:spLocks noGrp="1"/>
          </p:cNvSpPr>
          <p:nvPr>
            <p:ph type="title" hasCustomPrompt="1"/>
          </p:nvPr>
        </p:nvSpPr>
        <p:spPr>
          <a:xfrm>
            <a:off x="2563191" y="3"/>
            <a:ext cx="14716747" cy="1489646"/>
          </a:xfrm>
          <a:solidFill>
            <a:schemeClr val="bg1"/>
          </a:solidFill>
        </p:spPr>
        <p:txBody>
          <a:bodyPr/>
          <a:lstStyle>
            <a:lvl1pPr>
              <a:defRPr b="1">
                <a:solidFill>
                  <a:schemeClr val="accent5"/>
                </a:solidFill>
                <a:effectLst/>
              </a:defRPr>
            </a:lvl1pPr>
          </a:lstStyle>
          <a:p>
            <a:r>
              <a:rPr lang="zh-CN" altLang="en-US" dirty="0"/>
              <a:t>  单击此处编辑母版标题样式</a:t>
            </a:r>
          </a:p>
        </p:txBody>
      </p:sp>
      <p:sp>
        <p:nvSpPr>
          <p:cNvPr id="7" name="圆角矩形 5">
            <a:extLst>
              <a:ext uri="{FF2B5EF4-FFF2-40B4-BE49-F238E27FC236}">
                <a16:creationId xmlns:a16="http://schemas.microsoft.com/office/drawing/2014/main" id="{25B1474D-C9AF-4043-9615-F37494C3C669}"/>
              </a:ext>
            </a:extLst>
          </p:cNvPr>
          <p:cNvSpPr>
            <a:spLocks noChangeAspect="1" noChangeArrowheads="1"/>
          </p:cNvSpPr>
          <p:nvPr userDrawn="1"/>
        </p:nvSpPr>
        <p:spPr bwMode="auto">
          <a:xfrm>
            <a:off x="2" y="9674543"/>
            <a:ext cx="17279937" cy="45719"/>
          </a:xfrm>
          <a:prstGeom prst="roundRect">
            <a:avLst>
              <a:gd name="adj" fmla="val 0"/>
            </a:avLst>
          </a:prstGeom>
          <a:solidFill>
            <a:schemeClr val="accent5"/>
          </a:solidFill>
          <a:ln>
            <a:noFill/>
          </a:ln>
        </p:spPr>
        <p:txBody>
          <a:bodyPr anchor="ct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pitchFamily="3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pitchFamily="3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pitchFamily="3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endParaRPr>
          </a:p>
        </p:txBody>
      </p:sp>
      <p:sp>
        <p:nvSpPr>
          <p:cNvPr id="4" name="标题 1">
            <a:extLst>
              <a:ext uri="{FF2B5EF4-FFF2-40B4-BE49-F238E27FC236}">
                <a16:creationId xmlns:a16="http://schemas.microsoft.com/office/drawing/2014/main" id="{0DFF20E2-CFDC-4FDA-95D1-45C9C72B1174}"/>
              </a:ext>
            </a:extLst>
          </p:cNvPr>
          <p:cNvSpPr txBox="1">
            <a:spLocks/>
          </p:cNvSpPr>
          <p:nvPr userDrawn="1"/>
        </p:nvSpPr>
        <p:spPr>
          <a:xfrm>
            <a:off x="1220396" y="367252"/>
            <a:ext cx="1342795" cy="1035951"/>
          </a:xfrm>
          <a:prstGeom prst="rect">
            <a:avLst/>
          </a:prstGeom>
          <a:noFill/>
        </p:spPr>
        <p:txBody>
          <a:bodyPr vert="horz" lIns="91440" tIns="45720" rIns="91440" bIns="45720" rtlCol="0" anchor="b">
            <a:normAutofit/>
          </a:bodyPr>
          <a:lstStyle>
            <a:lvl1pPr algn="l" defTabSz="914397" rtl="0" eaLnBrk="1" latinLnBrk="0" hangingPunct="1">
              <a:lnSpc>
                <a:spcPct val="90000"/>
              </a:lnSpc>
              <a:spcBef>
                <a:spcPct val="0"/>
              </a:spcBef>
              <a:buNone/>
              <a:defRPr sz="2800" b="1" kern="1200">
                <a:solidFill>
                  <a:schemeClr val="tx1">
                    <a:lumMod val="85000"/>
                    <a:lumOff val="15000"/>
                  </a:schemeClr>
                </a:solidFill>
                <a:latin typeface="+mj-lt"/>
                <a:ea typeface="+mj-ea"/>
                <a:cs typeface="+mj-cs"/>
              </a:defRPr>
            </a:lvl1pPr>
          </a:lstStyle>
          <a:p>
            <a:r>
              <a:rPr lang="zh-CN" altLang="en-US" sz="2800" dirty="0">
                <a:solidFill>
                  <a:schemeClr val="bg1"/>
                </a:solidFill>
                <a:effectLst>
                  <a:outerShdw blurRad="38100" dist="38100" dir="2700000" algn="tl">
                    <a:srgbClr val="000000">
                      <a:alpha val="43137"/>
                    </a:srgbClr>
                  </a:outerShdw>
                </a:effectLst>
              </a:rPr>
              <a:t>案例</a:t>
            </a:r>
          </a:p>
        </p:txBody>
      </p:sp>
      <p:sp>
        <p:nvSpPr>
          <p:cNvPr id="6" name="KSO_Shape">
            <a:extLst>
              <a:ext uri="{FF2B5EF4-FFF2-40B4-BE49-F238E27FC236}">
                <a16:creationId xmlns:a16="http://schemas.microsoft.com/office/drawing/2014/main" id="{6AB9EAB4-4D31-40E6-BB6E-01D167ACF888}"/>
              </a:ext>
            </a:extLst>
          </p:cNvPr>
          <p:cNvSpPr>
            <a:spLocks noChangeAspect="1"/>
          </p:cNvSpPr>
          <p:nvPr userDrawn="1"/>
        </p:nvSpPr>
        <p:spPr bwMode="auto">
          <a:xfrm>
            <a:off x="80223" y="184437"/>
            <a:ext cx="1059950" cy="1218766"/>
          </a:xfrm>
          <a:custGeom>
            <a:avLst/>
            <a:gdLst>
              <a:gd name="T0" fmla="*/ 238092 w 4627563"/>
              <a:gd name="T1" fmla="*/ 409385 h 5299074"/>
              <a:gd name="T2" fmla="*/ 232614 w 4627563"/>
              <a:gd name="T3" fmla="*/ 414382 h 5299074"/>
              <a:gd name="T4" fmla="*/ 228238 w 4627563"/>
              <a:gd name="T5" fmla="*/ 408372 h 5299074"/>
              <a:gd name="T6" fmla="*/ 258792 w 4627563"/>
              <a:gd name="T7" fmla="*/ 361234 h 5299074"/>
              <a:gd name="T8" fmla="*/ 266340 w 4627563"/>
              <a:gd name="T9" fmla="*/ 369169 h 5299074"/>
              <a:gd name="T10" fmla="*/ 259601 w 4627563"/>
              <a:gd name="T11" fmla="*/ 377881 h 5299074"/>
              <a:gd name="T12" fmla="*/ 250503 w 4627563"/>
              <a:gd name="T13" fmla="*/ 373626 h 5299074"/>
              <a:gd name="T14" fmla="*/ 251986 w 4627563"/>
              <a:gd name="T15" fmla="*/ 363631 h 5299074"/>
              <a:gd name="T16" fmla="*/ 280733 w 4627563"/>
              <a:gd name="T17" fmla="*/ 321761 h 5299074"/>
              <a:gd name="T18" fmla="*/ 287257 w 4627563"/>
              <a:gd name="T19" fmla="*/ 326927 h 5299074"/>
              <a:gd name="T20" fmla="*/ 287896 w 4627563"/>
              <a:gd name="T21" fmla="*/ 335537 h 5299074"/>
              <a:gd name="T22" fmla="*/ 282146 w 4627563"/>
              <a:gd name="T23" fmla="*/ 341582 h 5299074"/>
              <a:gd name="T24" fmla="*/ 273570 w 4627563"/>
              <a:gd name="T25" fmla="*/ 341345 h 5299074"/>
              <a:gd name="T26" fmla="*/ 268156 w 4627563"/>
              <a:gd name="T27" fmla="*/ 335031 h 5299074"/>
              <a:gd name="T28" fmla="*/ 269199 w 4627563"/>
              <a:gd name="T29" fmla="*/ 326522 h 5299074"/>
              <a:gd name="T30" fmla="*/ 275992 w 4627563"/>
              <a:gd name="T31" fmla="*/ 321659 h 5299074"/>
              <a:gd name="T32" fmla="*/ 232954 w 4627563"/>
              <a:gd name="T33" fmla="*/ 311607 h 5299074"/>
              <a:gd name="T34" fmla="*/ 240412 w 4627563"/>
              <a:gd name="T35" fmla="*/ 324879 h 5299074"/>
              <a:gd name="T36" fmla="*/ 235608 w 4627563"/>
              <a:gd name="T37" fmla="*/ 339573 h 5299074"/>
              <a:gd name="T38" fmla="*/ 221664 w 4627563"/>
              <a:gd name="T39" fmla="*/ 345769 h 5299074"/>
              <a:gd name="T40" fmla="*/ 207721 w 4627563"/>
              <a:gd name="T41" fmla="*/ 339573 h 5299074"/>
              <a:gd name="T42" fmla="*/ 202950 w 4627563"/>
              <a:gd name="T43" fmla="*/ 324879 h 5299074"/>
              <a:gd name="T44" fmla="*/ 210409 w 4627563"/>
              <a:gd name="T45" fmla="*/ 311607 h 5299074"/>
              <a:gd name="T46" fmla="*/ 186827 w 4627563"/>
              <a:gd name="T47" fmla="*/ 290628 h 5299074"/>
              <a:gd name="T48" fmla="*/ 193396 w 4627563"/>
              <a:gd name="T49" fmla="*/ 294793 h 5299074"/>
              <a:gd name="T50" fmla="*/ 194744 w 4627563"/>
              <a:gd name="T51" fmla="*/ 302586 h 5299074"/>
              <a:gd name="T52" fmla="*/ 189960 w 4627563"/>
              <a:gd name="T53" fmla="*/ 308666 h 5299074"/>
              <a:gd name="T54" fmla="*/ 182044 w 4627563"/>
              <a:gd name="T55" fmla="*/ 309237 h 5299074"/>
              <a:gd name="T56" fmla="*/ 176452 w 4627563"/>
              <a:gd name="T57" fmla="*/ 303963 h 5299074"/>
              <a:gd name="T58" fmla="*/ 176654 w 4627563"/>
              <a:gd name="T59" fmla="*/ 296002 h 5299074"/>
              <a:gd name="T60" fmla="*/ 182482 w 4627563"/>
              <a:gd name="T61" fmla="*/ 290964 h 5299074"/>
              <a:gd name="T62" fmla="*/ 250510 w 4627563"/>
              <a:gd name="T63" fmla="*/ 275499 h 5299074"/>
              <a:gd name="T64" fmla="*/ 257429 w 4627563"/>
              <a:gd name="T65" fmla="*/ 284369 h 5299074"/>
              <a:gd name="T66" fmla="*/ 255481 w 4627563"/>
              <a:gd name="T67" fmla="*/ 295802 h 5299074"/>
              <a:gd name="T68" fmla="*/ 245942 w 4627563"/>
              <a:gd name="T69" fmla="*/ 301873 h 5299074"/>
              <a:gd name="T70" fmla="*/ 234858 w 4627563"/>
              <a:gd name="T71" fmla="*/ 298803 h 5299074"/>
              <a:gd name="T72" fmla="*/ 229752 w 4627563"/>
              <a:gd name="T73" fmla="*/ 288652 h 5299074"/>
              <a:gd name="T74" fmla="*/ 233883 w 4627563"/>
              <a:gd name="T75" fmla="*/ 277927 h 5299074"/>
              <a:gd name="T76" fmla="*/ 113649 w 4627563"/>
              <a:gd name="T77" fmla="*/ 255275 h 5299074"/>
              <a:gd name="T78" fmla="*/ 34200 w 4627563"/>
              <a:gd name="T79" fmla="*/ 398933 h 5299074"/>
              <a:gd name="T80" fmla="*/ 42270 w 4627563"/>
              <a:gd name="T81" fmla="*/ 417212 h 5299074"/>
              <a:gd name="T82" fmla="*/ 339386 w 4627563"/>
              <a:gd name="T83" fmla="*/ 426773 h 5299074"/>
              <a:gd name="T84" fmla="*/ 354583 w 4627563"/>
              <a:gd name="T85" fmla="*/ 409745 h 5299074"/>
              <a:gd name="T86" fmla="*/ 358853 w 4627563"/>
              <a:gd name="T87" fmla="*/ 387311 h 5299074"/>
              <a:gd name="T88" fmla="*/ 277236 w 4627563"/>
              <a:gd name="T89" fmla="*/ 256577 h 5299074"/>
              <a:gd name="T90" fmla="*/ 245127 w 4627563"/>
              <a:gd name="T91" fmla="*/ 261788 h 5299074"/>
              <a:gd name="T92" fmla="*/ 143623 w 4627563"/>
              <a:gd name="T93" fmla="*/ 261551 h 5299074"/>
              <a:gd name="T94" fmla="*/ 114338 w 4627563"/>
              <a:gd name="T95" fmla="*/ 256374 h 5299074"/>
              <a:gd name="T96" fmla="*/ 253852 w 4627563"/>
              <a:gd name="T97" fmla="*/ 3950 h 5299074"/>
              <a:gd name="T98" fmla="*/ 263773 w 4627563"/>
              <a:gd name="T99" fmla="*/ 17657 h 5299074"/>
              <a:gd name="T100" fmla="*/ 263134 w 4627563"/>
              <a:gd name="T101" fmla="*/ 32276 h 5299074"/>
              <a:gd name="T102" fmla="*/ 390161 w 4627563"/>
              <a:gd name="T103" fmla="*/ 382517 h 5299074"/>
              <a:gd name="T104" fmla="*/ 391574 w 4627563"/>
              <a:gd name="T105" fmla="*/ 407737 h 5299074"/>
              <a:gd name="T106" fmla="*/ 383435 w 4627563"/>
              <a:gd name="T107" fmla="*/ 431032 h 5299074"/>
              <a:gd name="T108" fmla="*/ 360599 w 4627563"/>
              <a:gd name="T109" fmla="*/ 450850 h 5299074"/>
              <a:gd name="T110" fmla="*/ 9585 w 4627563"/>
              <a:gd name="T111" fmla="*/ 432383 h 5299074"/>
              <a:gd name="T112" fmla="*/ 706 w 4627563"/>
              <a:gd name="T113" fmla="*/ 409053 h 5299074"/>
              <a:gd name="T114" fmla="*/ 1749 w 4627563"/>
              <a:gd name="T115" fmla="*/ 383260 h 5299074"/>
              <a:gd name="T116" fmla="*/ 129247 w 4627563"/>
              <a:gd name="T117" fmla="*/ 33221 h 5299074"/>
              <a:gd name="T118" fmla="*/ 128137 w 4627563"/>
              <a:gd name="T119" fmla="*/ 18467 h 5299074"/>
              <a:gd name="T120" fmla="*/ 137554 w 4627563"/>
              <a:gd name="T121" fmla="*/ 4490 h 52990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4627563" h="5299074">
                <a:moveTo>
                  <a:pt x="2751137" y="4752974"/>
                </a:moveTo>
                <a:lnTo>
                  <a:pt x="2757445" y="4753371"/>
                </a:lnTo>
                <a:lnTo>
                  <a:pt x="2762964" y="4754165"/>
                </a:lnTo>
                <a:lnTo>
                  <a:pt x="2768483" y="4755355"/>
                </a:lnTo>
                <a:lnTo>
                  <a:pt x="2774002" y="4757340"/>
                </a:lnTo>
                <a:lnTo>
                  <a:pt x="2779127" y="4760118"/>
                </a:lnTo>
                <a:lnTo>
                  <a:pt x="2783857" y="4762896"/>
                </a:lnTo>
                <a:lnTo>
                  <a:pt x="2788193" y="4766071"/>
                </a:lnTo>
                <a:lnTo>
                  <a:pt x="2792530" y="4770040"/>
                </a:lnTo>
                <a:lnTo>
                  <a:pt x="2796472" y="4774009"/>
                </a:lnTo>
                <a:lnTo>
                  <a:pt x="2800020" y="4778771"/>
                </a:lnTo>
                <a:lnTo>
                  <a:pt x="2802779" y="4783534"/>
                </a:lnTo>
                <a:lnTo>
                  <a:pt x="2805144" y="4788693"/>
                </a:lnTo>
                <a:lnTo>
                  <a:pt x="2807116" y="4793852"/>
                </a:lnTo>
                <a:lnTo>
                  <a:pt x="2808298" y="4799805"/>
                </a:lnTo>
                <a:lnTo>
                  <a:pt x="2809481" y="4805759"/>
                </a:lnTo>
                <a:lnTo>
                  <a:pt x="2809875" y="4811712"/>
                </a:lnTo>
                <a:lnTo>
                  <a:pt x="2809481" y="4817665"/>
                </a:lnTo>
                <a:lnTo>
                  <a:pt x="2808298" y="4823618"/>
                </a:lnTo>
                <a:lnTo>
                  <a:pt x="2807116" y="4829174"/>
                </a:lnTo>
                <a:lnTo>
                  <a:pt x="2805144" y="4834730"/>
                </a:lnTo>
                <a:lnTo>
                  <a:pt x="2802779" y="4839890"/>
                </a:lnTo>
                <a:lnTo>
                  <a:pt x="2800020" y="4844652"/>
                </a:lnTo>
                <a:lnTo>
                  <a:pt x="2796472" y="4849415"/>
                </a:lnTo>
                <a:lnTo>
                  <a:pt x="2792530" y="4853384"/>
                </a:lnTo>
                <a:lnTo>
                  <a:pt x="2788193" y="4857352"/>
                </a:lnTo>
                <a:lnTo>
                  <a:pt x="2783857" y="4860527"/>
                </a:lnTo>
                <a:lnTo>
                  <a:pt x="2779127" y="4863305"/>
                </a:lnTo>
                <a:lnTo>
                  <a:pt x="2774002" y="4866084"/>
                </a:lnTo>
                <a:lnTo>
                  <a:pt x="2768483" y="4868068"/>
                </a:lnTo>
                <a:lnTo>
                  <a:pt x="2762964" y="4869655"/>
                </a:lnTo>
                <a:lnTo>
                  <a:pt x="2757445" y="4870449"/>
                </a:lnTo>
                <a:lnTo>
                  <a:pt x="2751137" y="4870449"/>
                </a:lnTo>
                <a:lnTo>
                  <a:pt x="2745224" y="4870449"/>
                </a:lnTo>
                <a:lnTo>
                  <a:pt x="2739705" y="4869655"/>
                </a:lnTo>
                <a:lnTo>
                  <a:pt x="2733792" y="4868068"/>
                </a:lnTo>
                <a:lnTo>
                  <a:pt x="2728273" y="4866084"/>
                </a:lnTo>
                <a:lnTo>
                  <a:pt x="2723543" y="4863305"/>
                </a:lnTo>
                <a:lnTo>
                  <a:pt x="2718418" y="4860527"/>
                </a:lnTo>
                <a:lnTo>
                  <a:pt x="2714082" y="4857352"/>
                </a:lnTo>
                <a:lnTo>
                  <a:pt x="2709745" y="4853384"/>
                </a:lnTo>
                <a:lnTo>
                  <a:pt x="2706197" y="4849415"/>
                </a:lnTo>
                <a:lnTo>
                  <a:pt x="2702649" y="4844652"/>
                </a:lnTo>
                <a:lnTo>
                  <a:pt x="2699890" y="4839890"/>
                </a:lnTo>
                <a:lnTo>
                  <a:pt x="2697525" y="4834730"/>
                </a:lnTo>
                <a:lnTo>
                  <a:pt x="2695554" y="4829174"/>
                </a:lnTo>
                <a:lnTo>
                  <a:pt x="2693583" y="4823618"/>
                </a:lnTo>
                <a:lnTo>
                  <a:pt x="2692794" y="4817665"/>
                </a:lnTo>
                <a:lnTo>
                  <a:pt x="2692400" y="4811712"/>
                </a:lnTo>
                <a:lnTo>
                  <a:pt x="2692794" y="4805759"/>
                </a:lnTo>
                <a:lnTo>
                  <a:pt x="2693583" y="4799805"/>
                </a:lnTo>
                <a:lnTo>
                  <a:pt x="2695554" y="4793852"/>
                </a:lnTo>
                <a:lnTo>
                  <a:pt x="2697525" y="4788693"/>
                </a:lnTo>
                <a:lnTo>
                  <a:pt x="2699890" y="4783534"/>
                </a:lnTo>
                <a:lnTo>
                  <a:pt x="2702649" y="4778771"/>
                </a:lnTo>
                <a:lnTo>
                  <a:pt x="2706197" y="4774009"/>
                </a:lnTo>
                <a:lnTo>
                  <a:pt x="2709745" y="4770040"/>
                </a:lnTo>
                <a:lnTo>
                  <a:pt x="2714082" y="4766071"/>
                </a:lnTo>
                <a:lnTo>
                  <a:pt x="2718418" y="4762896"/>
                </a:lnTo>
                <a:lnTo>
                  <a:pt x="2723543" y="4760118"/>
                </a:lnTo>
                <a:lnTo>
                  <a:pt x="2728273" y="4757340"/>
                </a:lnTo>
                <a:lnTo>
                  <a:pt x="2733792" y="4755355"/>
                </a:lnTo>
                <a:lnTo>
                  <a:pt x="2739705" y="4754165"/>
                </a:lnTo>
                <a:lnTo>
                  <a:pt x="2745224" y="4753371"/>
                </a:lnTo>
                <a:lnTo>
                  <a:pt x="2751137" y="4752974"/>
                </a:lnTo>
                <a:close/>
                <a:moveTo>
                  <a:pt x="3043833" y="4244974"/>
                </a:moveTo>
                <a:lnTo>
                  <a:pt x="3049401" y="4245371"/>
                </a:lnTo>
                <a:lnTo>
                  <a:pt x="3054173" y="4245768"/>
                </a:lnTo>
                <a:lnTo>
                  <a:pt x="3059342" y="4246165"/>
                </a:lnTo>
                <a:lnTo>
                  <a:pt x="3063717" y="4246959"/>
                </a:lnTo>
                <a:lnTo>
                  <a:pt x="3073261" y="4249340"/>
                </a:lnTo>
                <a:lnTo>
                  <a:pt x="3082407" y="4252912"/>
                </a:lnTo>
                <a:lnTo>
                  <a:pt x="3091156" y="4256881"/>
                </a:lnTo>
                <a:lnTo>
                  <a:pt x="3099507" y="4262040"/>
                </a:lnTo>
                <a:lnTo>
                  <a:pt x="3107063" y="4267596"/>
                </a:lnTo>
                <a:lnTo>
                  <a:pt x="3114221" y="4273946"/>
                </a:lnTo>
                <a:lnTo>
                  <a:pt x="3120584" y="4281090"/>
                </a:lnTo>
                <a:lnTo>
                  <a:pt x="3126151" y="4289027"/>
                </a:lnTo>
                <a:lnTo>
                  <a:pt x="3131321" y="4296568"/>
                </a:lnTo>
                <a:lnTo>
                  <a:pt x="3135298" y="4305299"/>
                </a:lnTo>
                <a:lnTo>
                  <a:pt x="3138877" y="4314824"/>
                </a:lnTo>
                <a:lnTo>
                  <a:pt x="3141263" y="4324349"/>
                </a:lnTo>
                <a:lnTo>
                  <a:pt x="3142058" y="4329112"/>
                </a:lnTo>
                <a:lnTo>
                  <a:pt x="3142853" y="4334271"/>
                </a:lnTo>
                <a:lnTo>
                  <a:pt x="3143251" y="4339034"/>
                </a:lnTo>
                <a:lnTo>
                  <a:pt x="3143251" y="4344193"/>
                </a:lnTo>
                <a:lnTo>
                  <a:pt x="3143251" y="4348956"/>
                </a:lnTo>
                <a:lnTo>
                  <a:pt x="3142853" y="4354115"/>
                </a:lnTo>
                <a:lnTo>
                  <a:pt x="3142058" y="4359275"/>
                </a:lnTo>
                <a:lnTo>
                  <a:pt x="3141263" y="4364037"/>
                </a:lnTo>
                <a:lnTo>
                  <a:pt x="3138877" y="4373562"/>
                </a:lnTo>
                <a:lnTo>
                  <a:pt x="3135298" y="4382690"/>
                </a:lnTo>
                <a:lnTo>
                  <a:pt x="3131321" y="4391421"/>
                </a:lnTo>
                <a:lnTo>
                  <a:pt x="3126151" y="4399359"/>
                </a:lnTo>
                <a:lnTo>
                  <a:pt x="3120584" y="4407297"/>
                </a:lnTo>
                <a:lnTo>
                  <a:pt x="3114221" y="4414440"/>
                </a:lnTo>
                <a:lnTo>
                  <a:pt x="3107063" y="4420393"/>
                </a:lnTo>
                <a:lnTo>
                  <a:pt x="3099507" y="4426347"/>
                </a:lnTo>
                <a:lnTo>
                  <a:pt x="3091156" y="4431506"/>
                </a:lnTo>
                <a:lnTo>
                  <a:pt x="3082407" y="4435475"/>
                </a:lnTo>
                <a:lnTo>
                  <a:pt x="3073261" y="4438650"/>
                </a:lnTo>
                <a:lnTo>
                  <a:pt x="3063717" y="4441428"/>
                </a:lnTo>
                <a:lnTo>
                  <a:pt x="3059342" y="4442222"/>
                </a:lnTo>
                <a:lnTo>
                  <a:pt x="3054173" y="4442618"/>
                </a:lnTo>
                <a:lnTo>
                  <a:pt x="3049401" y="4443015"/>
                </a:lnTo>
                <a:lnTo>
                  <a:pt x="3043833" y="4443412"/>
                </a:lnTo>
                <a:lnTo>
                  <a:pt x="3038663" y="4443015"/>
                </a:lnTo>
                <a:lnTo>
                  <a:pt x="3033891" y="4442618"/>
                </a:lnTo>
                <a:lnTo>
                  <a:pt x="3028722" y="4442222"/>
                </a:lnTo>
                <a:lnTo>
                  <a:pt x="3023950" y="4441428"/>
                </a:lnTo>
                <a:lnTo>
                  <a:pt x="3014405" y="4438650"/>
                </a:lnTo>
                <a:lnTo>
                  <a:pt x="3005259" y="4435475"/>
                </a:lnTo>
                <a:lnTo>
                  <a:pt x="2996908" y="4431506"/>
                </a:lnTo>
                <a:lnTo>
                  <a:pt x="2988557" y="4426347"/>
                </a:lnTo>
                <a:lnTo>
                  <a:pt x="2981001" y="4420393"/>
                </a:lnTo>
                <a:lnTo>
                  <a:pt x="2973843" y="4414440"/>
                </a:lnTo>
                <a:lnTo>
                  <a:pt x="2967083" y="4407297"/>
                </a:lnTo>
                <a:lnTo>
                  <a:pt x="2961515" y="4399359"/>
                </a:lnTo>
                <a:lnTo>
                  <a:pt x="2956345" y="4391421"/>
                </a:lnTo>
                <a:lnTo>
                  <a:pt x="2952369" y="4382690"/>
                </a:lnTo>
                <a:lnTo>
                  <a:pt x="2948790" y="4373562"/>
                </a:lnTo>
                <a:lnTo>
                  <a:pt x="2946801" y="4364037"/>
                </a:lnTo>
                <a:lnTo>
                  <a:pt x="2945608" y="4359275"/>
                </a:lnTo>
                <a:lnTo>
                  <a:pt x="2945211" y="4354115"/>
                </a:lnTo>
                <a:lnTo>
                  <a:pt x="2944813" y="4348956"/>
                </a:lnTo>
                <a:lnTo>
                  <a:pt x="2944813" y="4344193"/>
                </a:lnTo>
                <a:lnTo>
                  <a:pt x="2944813" y="4339034"/>
                </a:lnTo>
                <a:lnTo>
                  <a:pt x="2945211" y="4334271"/>
                </a:lnTo>
                <a:lnTo>
                  <a:pt x="2945608" y="4329112"/>
                </a:lnTo>
                <a:lnTo>
                  <a:pt x="2946801" y="4324349"/>
                </a:lnTo>
                <a:lnTo>
                  <a:pt x="2948790" y="4314824"/>
                </a:lnTo>
                <a:lnTo>
                  <a:pt x="2952369" y="4305299"/>
                </a:lnTo>
                <a:lnTo>
                  <a:pt x="2956345" y="4296568"/>
                </a:lnTo>
                <a:lnTo>
                  <a:pt x="2961515" y="4289027"/>
                </a:lnTo>
                <a:lnTo>
                  <a:pt x="2967083" y="4281090"/>
                </a:lnTo>
                <a:lnTo>
                  <a:pt x="2973843" y="4273946"/>
                </a:lnTo>
                <a:lnTo>
                  <a:pt x="2981001" y="4267596"/>
                </a:lnTo>
                <a:lnTo>
                  <a:pt x="2988557" y="4262040"/>
                </a:lnTo>
                <a:lnTo>
                  <a:pt x="2996908" y="4256881"/>
                </a:lnTo>
                <a:lnTo>
                  <a:pt x="3005259" y="4252912"/>
                </a:lnTo>
                <a:lnTo>
                  <a:pt x="3014405" y="4249340"/>
                </a:lnTo>
                <a:lnTo>
                  <a:pt x="3023950" y="4246959"/>
                </a:lnTo>
                <a:lnTo>
                  <a:pt x="3028722" y="4246165"/>
                </a:lnTo>
                <a:lnTo>
                  <a:pt x="3033891" y="4245768"/>
                </a:lnTo>
                <a:lnTo>
                  <a:pt x="3038663" y="4245371"/>
                </a:lnTo>
                <a:lnTo>
                  <a:pt x="3043833" y="4244974"/>
                </a:lnTo>
                <a:close/>
                <a:moveTo>
                  <a:pt x="3275806" y="3778249"/>
                </a:moveTo>
                <a:lnTo>
                  <a:pt x="3282157" y="3778249"/>
                </a:lnTo>
                <a:lnTo>
                  <a:pt x="3288507" y="3778249"/>
                </a:lnTo>
                <a:lnTo>
                  <a:pt x="3294460" y="3779043"/>
                </a:lnTo>
                <a:lnTo>
                  <a:pt x="3300810" y="3779440"/>
                </a:lnTo>
                <a:lnTo>
                  <a:pt x="3306763" y="3780631"/>
                </a:lnTo>
                <a:lnTo>
                  <a:pt x="3313113" y="3781821"/>
                </a:lnTo>
                <a:lnTo>
                  <a:pt x="3318669" y="3783806"/>
                </a:lnTo>
                <a:lnTo>
                  <a:pt x="3324622" y="3785790"/>
                </a:lnTo>
                <a:lnTo>
                  <a:pt x="3329782" y="3787774"/>
                </a:lnTo>
                <a:lnTo>
                  <a:pt x="3335338" y="3790156"/>
                </a:lnTo>
                <a:lnTo>
                  <a:pt x="3340894" y="3793331"/>
                </a:lnTo>
                <a:lnTo>
                  <a:pt x="3345657" y="3796109"/>
                </a:lnTo>
                <a:lnTo>
                  <a:pt x="3350816" y="3799284"/>
                </a:lnTo>
                <a:lnTo>
                  <a:pt x="3355579" y="3802856"/>
                </a:lnTo>
                <a:lnTo>
                  <a:pt x="3360341" y="3806427"/>
                </a:lnTo>
                <a:lnTo>
                  <a:pt x="3364707" y="3810396"/>
                </a:lnTo>
                <a:lnTo>
                  <a:pt x="3369072" y="3814365"/>
                </a:lnTo>
                <a:lnTo>
                  <a:pt x="3373041" y="3818731"/>
                </a:lnTo>
                <a:lnTo>
                  <a:pt x="3377010" y="3823096"/>
                </a:lnTo>
                <a:lnTo>
                  <a:pt x="3380582" y="3827859"/>
                </a:lnTo>
                <a:lnTo>
                  <a:pt x="3384154" y="3832621"/>
                </a:lnTo>
                <a:lnTo>
                  <a:pt x="3387329" y="3837781"/>
                </a:lnTo>
                <a:lnTo>
                  <a:pt x="3390107" y="3842543"/>
                </a:lnTo>
                <a:lnTo>
                  <a:pt x="3393282" y="3848099"/>
                </a:lnTo>
                <a:lnTo>
                  <a:pt x="3395663" y="3853656"/>
                </a:lnTo>
                <a:lnTo>
                  <a:pt x="3397647" y="3858815"/>
                </a:lnTo>
                <a:lnTo>
                  <a:pt x="3399235" y="3864768"/>
                </a:lnTo>
                <a:lnTo>
                  <a:pt x="3401219" y="3870324"/>
                </a:lnTo>
                <a:lnTo>
                  <a:pt x="3402807" y="3876278"/>
                </a:lnTo>
                <a:lnTo>
                  <a:pt x="3403601" y="3882628"/>
                </a:lnTo>
                <a:lnTo>
                  <a:pt x="3404394" y="3888978"/>
                </a:lnTo>
                <a:lnTo>
                  <a:pt x="3404791" y="3894931"/>
                </a:lnTo>
                <a:lnTo>
                  <a:pt x="3405188" y="3901281"/>
                </a:lnTo>
                <a:lnTo>
                  <a:pt x="3404791" y="3907631"/>
                </a:lnTo>
                <a:lnTo>
                  <a:pt x="3404394" y="3913584"/>
                </a:lnTo>
                <a:lnTo>
                  <a:pt x="3403601" y="3919934"/>
                </a:lnTo>
                <a:lnTo>
                  <a:pt x="3402807" y="3926284"/>
                </a:lnTo>
                <a:lnTo>
                  <a:pt x="3401219" y="3931840"/>
                </a:lnTo>
                <a:lnTo>
                  <a:pt x="3399235" y="3937793"/>
                </a:lnTo>
                <a:lnTo>
                  <a:pt x="3397647" y="3943746"/>
                </a:lnTo>
                <a:lnTo>
                  <a:pt x="3395663" y="3948906"/>
                </a:lnTo>
                <a:lnTo>
                  <a:pt x="3393282" y="3954462"/>
                </a:lnTo>
                <a:lnTo>
                  <a:pt x="3390107" y="3960018"/>
                </a:lnTo>
                <a:lnTo>
                  <a:pt x="3387329" y="3964781"/>
                </a:lnTo>
                <a:lnTo>
                  <a:pt x="3384154" y="3969940"/>
                </a:lnTo>
                <a:lnTo>
                  <a:pt x="3380582" y="3974703"/>
                </a:lnTo>
                <a:lnTo>
                  <a:pt x="3377010" y="3979465"/>
                </a:lnTo>
                <a:lnTo>
                  <a:pt x="3373041" y="3983831"/>
                </a:lnTo>
                <a:lnTo>
                  <a:pt x="3369072" y="3988197"/>
                </a:lnTo>
                <a:lnTo>
                  <a:pt x="3364707" y="3992165"/>
                </a:lnTo>
                <a:lnTo>
                  <a:pt x="3360341" y="3996134"/>
                </a:lnTo>
                <a:lnTo>
                  <a:pt x="3355579" y="3999706"/>
                </a:lnTo>
                <a:lnTo>
                  <a:pt x="3350816" y="4002881"/>
                </a:lnTo>
                <a:lnTo>
                  <a:pt x="3345657" y="4006453"/>
                </a:lnTo>
                <a:lnTo>
                  <a:pt x="3340894" y="4009231"/>
                </a:lnTo>
                <a:lnTo>
                  <a:pt x="3335338" y="4012009"/>
                </a:lnTo>
                <a:lnTo>
                  <a:pt x="3329782" y="4014787"/>
                </a:lnTo>
                <a:lnTo>
                  <a:pt x="3324622" y="4016772"/>
                </a:lnTo>
                <a:lnTo>
                  <a:pt x="3318669" y="4018756"/>
                </a:lnTo>
                <a:lnTo>
                  <a:pt x="3313113" y="4020343"/>
                </a:lnTo>
                <a:lnTo>
                  <a:pt x="3306763" y="4021534"/>
                </a:lnTo>
                <a:lnTo>
                  <a:pt x="3300810" y="4023122"/>
                </a:lnTo>
                <a:lnTo>
                  <a:pt x="3294460" y="4023518"/>
                </a:lnTo>
                <a:lnTo>
                  <a:pt x="3288507" y="4024312"/>
                </a:lnTo>
                <a:lnTo>
                  <a:pt x="3282157" y="4024312"/>
                </a:lnTo>
                <a:lnTo>
                  <a:pt x="3275806" y="4024312"/>
                </a:lnTo>
                <a:lnTo>
                  <a:pt x="3269853" y="4023518"/>
                </a:lnTo>
                <a:lnTo>
                  <a:pt x="3263503" y="4023122"/>
                </a:lnTo>
                <a:lnTo>
                  <a:pt x="3257153" y="4021534"/>
                </a:lnTo>
                <a:lnTo>
                  <a:pt x="3251597" y="4020343"/>
                </a:lnTo>
                <a:lnTo>
                  <a:pt x="3245644" y="4018756"/>
                </a:lnTo>
                <a:lnTo>
                  <a:pt x="3239691" y="4016772"/>
                </a:lnTo>
                <a:lnTo>
                  <a:pt x="3234531" y="4014787"/>
                </a:lnTo>
                <a:lnTo>
                  <a:pt x="3228578" y="4012009"/>
                </a:lnTo>
                <a:lnTo>
                  <a:pt x="3223419" y="4009231"/>
                </a:lnTo>
                <a:lnTo>
                  <a:pt x="3218259" y="4006453"/>
                </a:lnTo>
                <a:lnTo>
                  <a:pt x="3213100" y="4002881"/>
                </a:lnTo>
                <a:lnTo>
                  <a:pt x="3208734" y="3999706"/>
                </a:lnTo>
                <a:lnTo>
                  <a:pt x="3203972" y="3996134"/>
                </a:lnTo>
                <a:lnTo>
                  <a:pt x="3199606" y="3992165"/>
                </a:lnTo>
                <a:lnTo>
                  <a:pt x="3195241" y="3988197"/>
                </a:lnTo>
                <a:lnTo>
                  <a:pt x="3191272" y="3983831"/>
                </a:lnTo>
                <a:lnTo>
                  <a:pt x="3186906" y="3979465"/>
                </a:lnTo>
                <a:lnTo>
                  <a:pt x="3183731" y="3974703"/>
                </a:lnTo>
                <a:lnTo>
                  <a:pt x="3180159" y="3969940"/>
                </a:lnTo>
                <a:lnTo>
                  <a:pt x="3176984" y="3964781"/>
                </a:lnTo>
                <a:lnTo>
                  <a:pt x="3174206" y="3960018"/>
                </a:lnTo>
                <a:lnTo>
                  <a:pt x="3171428" y="3954462"/>
                </a:lnTo>
                <a:lnTo>
                  <a:pt x="3168650" y="3948906"/>
                </a:lnTo>
                <a:lnTo>
                  <a:pt x="3166666" y="3943746"/>
                </a:lnTo>
                <a:lnTo>
                  <a:pt x="3164681" y="3937793"/>
                </a:lnTo>
                <a:lnTo>
                  <a:pt x="3163094" y="3931840"/>
                </a:lnTo>
                <a:lnTo>
                  <a:pt x="3161506" y="3926284"/>
                </a:lnTo>
                <a:lnTo>
                  <a:pt x="3160316" y="3919934"/>
                </a:lnTo>
                <a:lnTo>
                  <a:pt x="3159522" y="3913584"/>
                </a:lnTo>
                <a:lnTo>
                  <a:pt x="3159125" y="3907631"/>
                </a:lnTo>
                <a:lnTo>
                  <a:pt x="3159125" y="3901281"/>
                </a:lnTo>
                <a:lnTo>
                  <a:pt x="3159125" y="3894931"/>
                </a:lnTo>
                <a:lnTo>
                  <a:pt x="3159522" y="3888978"/>
                </a:lnTo>
                <a:lnTo>
                  <a:pt x="3160316" y="3882628"/>
                </a:lnTo>
                <a:lnTo>
                  <a:pt x="3161506" y="3876278"/>
                </a:lnTo>
                <a:lnTo>
                  <a:pt x="3163094" y="3870324"/>
                </a:lnTo>
                <a:lnTo>
                  <a:pt x="3164681" y="3864768"/>
                </a:lnTo>
                <a:lnTo>
                  <a:pt x="3166666" y="3858815"/>
                </a:lnTo>
                <a:lnTo>
                  <a:pt x="3168650" y="3853656"/>
                </a:lnTo>
                <a:lnTo>
                  <a:pt x="3171428" y="3848099"/>
                </a:lnTo>
                <a:lnTo>
                  <a:pt x="3174206" y="3842543"/>
                </a:lnTo>
                <a:lnTo>
                  <a:pt x="3176984" y="3837781"/>
                </a:lnTo>
                <a:lnTo>
                  <a:pt x="3180159" y="3832621"/>
                </a:lnTo>
                <a:lnTo>
                  <a:pt x="3183731" y="3827859"/>
                </a:lnTo>
                <a:lnTo>
                  <a:pt x="3186906" y="3823096"/>
                </a:lnTo>
                <a:lnTo>
                  <a:pt x="3191272" y="3818731"/>
                </a:lnTo>
                <a:lnTo>
                  <a:pt x="3195241" y="3814365"/>
                </a:lnTo>
                <a:lnTo>
                  <a:pt x="3199606" y="3810396"/>
                </a:lnTo>
                <a:lnTo>
                  <a:pt x="3203972" y="3806427"/>
                </a:lnTo>
                <a:lnTo>
                  <a:pt x="3208734" y="3802856"/>
                </a:lnTo>
                <a:lnTo>
                  <a:pt x="3213100" y="3799284"/>
                </a:lnTo>
                <a:lnTo>
                  <a:pt x="3218259" y="3796109"/>
                </a:lnTo>
                <a:lnTo>
                  <a:pt x="3223419" y="3793331"/>
                </a:lnTo>
                <a:lnTo>
                  <a:pt x="3228578" y="3790156"/>
                </a:lnTo>
                <a:lnTo>
                  <a:pt x="3234531" y="3787774"/>
                </a:lnTo>
                <a:lnTo>
                  <a:pt x="3239691" y="3785790"/>
                </a:lnTo>
                <a:lnTo>
                  <a:pt x="3245644" y="3783806"/>
                </a:lnTo>
                <a:lnTo>
                  <a:pt x="3251597" y="3781821"/>
                </a:lnTo>
                <a:lnTo>
                  <a:pt x="3257153" y="3780631"/>
                </a:lnTo>
                <a:lnTo>
                  <a:pt x="3263503" y="3779440"/>
                </a:lnTo>
                <a:lnTo>
                  <a:pt x="3269853" y="3779043"/>
                </a:lnTo>
                <a:lnTo>
                  <a:pt x="3275806" y="3778249"/>
                </a:lnTo>
                <a:close/>
                <a:moveTo>
                  <a:pt x="2616002" y="3617912"/>
                </a:moveTo>
                <a:lnTo>
                  <a:pt x="2627501" y="3618310"/>
                </a:lnTo>
                <a:lnTo>
                  <a:pt x="2638603" y="3619106"/>
                </a:lnTo>
                <a:lnTo>
                  <a:pt x="2650103" y="3620300"/>
                </a:lnTo>
                <a:lnTo>
                  <a:pt x="2660809" y="3622688"/>
                </a:lnTo>
                <a:lnTo>
                  <a:pt x="2671515" y="3625075"/>
                </a:lnTo>
                <a:lnTo>
                  <a:pt x="2682221" y="3627861"/>
                </a:lnTo>
                <a:lnTo>
                  <a:pt x="2692134" y="3631840"/>
                </a:lnTo>
                <a:lnTo>
                  <a:pt x="2702840" y="3635422"/>
                </a:lnTo>
                <a:lnTo>
                  <a:pt x="2712356" y="3640197"/>
                </a:lnTo>
                <a:lnTo>
                  <a:pt x="2722269" y="3644972"/>
                </a:lnTo>
                <a:lnTo>
                  <a:pt x="2731389" y="3650543"/>
                </a:lnTo>
                <a:lnTo>
                  <a:pt x="2740509" y="3656114"/>
                </a:lnTo>
                <a:lnTo>
                  <a:pt x="2749233" y="3662481"/>
                </a:lnTo>
                <a:lnTo>
                  <a:pt x="2757560" y="3669246"/>
                </a:lnTo>
                <a:lnTo>
                  <a:pt x="2765490" y="3676011"/>
                </a:lnTo>
                <a:lnTo>
                  <a:pt x="2773421" y="3683174"/>
                </a:lnTo>
                <a:lnTo>
                  <a:pt x="2780558" y="3691133"/>
                </a:lnTo>
                <a:lnTo>
                  <a:pt x="2787299" y="3699092"/>
                </a:lnTo>
                <a:lnTo>
                  <a:pt x="2794040" y="3707448"/>
                </a:lnTo>
                <a:lnTo>
                  <a:pt x="2800384" y="3716203"/>
                </a:lnTo>
                <a:lnTo>
                  <a:pt x="2805935" y="3725355"/>
                </a:lnTo>
                <a:lnTo>
                  <a:pt x="2811487" y="3734906"/>
                </a:lnTo>
                <a:lnTo>
                  <a:pt x="2816245" y="3744456"/>
                </a:lnTo>
                <a:lnTo>
                  <a:pt x="2821003" y="3754007"/>
                </a:lnTo>
                <a:lnTo>
                  <a:pt x="2824572" y="3764751"/>
                </a:lnTo>
                <a:lnTo>
                  <a:pt x="2828537" y="3775098"/>
                </a:lnTo>
                <a:lnTo>
                  <a:pt x="2831313" y="3785444"/>
                </a:lnTo>
                <a:lnTo>
                  <a:pt x="2833692" y="3796188"/>
                </a:lnTo>
                <a:lnTo>
                  <a:pt x="2835674" y="3806933"/>
                </a:lnTo>
                <a:lnTo>
                  <a:pt x="2837260" y="3818473"/>
                </a:lnTo>
                <a:lnTo>
                  <a:pt x="2838053" y="3829615"/>
                </a:lnTo>
                <a:lnTo>
                  <a:pt x="2838450" y="3841155"/>
                </a:lnTo>
                <a:lnTo>
                  <a:pt x="2838053" y="3852297"/>
                </a:lnTo>
                <a:lnTo>
                  <a:pt x="2837260" y="3864236"/>
                </a:lnTo>
                <a:lnTo>
                  <a:pt x="2835674" y="3874980"/>
                </a:lnTo>
                <a:lnTo>
                  <a:pt x="2833692" y="3886122"/>
                </a:lnTo>
                <a:lnTo>
                  <a:pt x="2831313" y="3896866"/>
                </a:lnTo>
                <a:lnTo>
                  <a:pt x="2828537" y="3907611"/>
                </a:lnTo>
                <a:lnTo>
                  <a:pt x="2824572" y="3917957"/>
                </a:lnTo>
                <a:lnTo>
                  <a:pt x="2821003" y="3927906"/>
                </a:lnTo>
                <a:lnTo>
                  <a:pt x="2816245" y="3937854"/>
                </a:lnTo>
                <a:lnTo>
                  <a:pt x="2811487" y="3947405"/>
                </a:lnTo>
                <a:lnTo>
                  <a:pt x="2805935" y="3956557"/>
                </a:lnTo>
                <a:lnTo>
                  <a:pt x="2800384" y="3965710"/>
                </a:lnTo>
                <a:lnTo>
                  <a:pt x="2794040" y="3974464"/>
                </a:lnTo>
                <a:lnTo>
                  <a:pt x="2787299" y="3982821"/>
                </a:lnTo>
                <a:lnTo>
                  <a:pt x="2780558" y="3991178"/>
                </a:lnTo>
                <a:lnTo>
                  <a:pt x="2773421" y="3998738"/>
                </a:lnTo>
                <a:lnTo>
                  <a:pt x="2765490" y="4006299"/>
                </a:lnTo>
                <a:lnTo>
                  <a:pt x="2757560" y="4013064"/>
                </a:lnTo>
                <a:lnTo>
                  <a:pt x="2749233" y="4019829"/>
                </a:lnTo>
                <a:lnTo>
                  <a:pt x="2740509" y="4026196"/>
                </a:lnTo>
                <a:lnTo>
                  <a:pt x="2731389" y="4032165"/>
                </a:lnTo>
                <a:lnTo>
                  <a:pt x="2722269" y="4037338"/>
                </a:lnTo>
                <a:lnTo>
                  <a:pt x="2712356" y="4042114"/>
                </a:lnTo>
                <a:lnTo>
                  <a:pt x="2702840" y="4046491"/>
                </a:lnTo>
                <a:lnTo>
                  <a:pt x="2692134" y="4050868"/>
                </a:lnTo>
                <a:lnTo>
                  <a:pt x="2682221" y="4054052"/>
                </a:lnTo>
                <a:lnTo>
                  <a:pt x="2671515" y="4056837"/>
                </a:lnTo>
                <a:lnTo>
                  <a:pt x="2660809" y="4059623"/>
                </a:lnTo>
                <a:lnTo>
                  <a:pt x="2650103" y="4061613"/>
                </a:lnTo>
                <a:lnTo>
                  <a:pt x="2638603" y="4062806"/>
                </a:lnTo>
                <a:lnTo>
                  <a:pt x="2627501" y="4063602"/>
                </a:lnTo>
                <a:lnTo>
                  <a:pt x="2616002" y="4064000"/>
                </a:lnTo>
                <a:lnTo>
                  <a:pt x="2604503" y="4063602"/>
                </a:lnTo>
                <a:lnTo>
                  <a:pt x="2593400" y="4062806"/>
                </a:lnTo>
                <a:lnTo>
                  <a:pt x="2582297" y="4061613"/>
                </a:lnTo>
                <a:lnTo>
                  <a:pt x="2571195" y="4059623"/>
                </a:lnTo>
                <a:lnTo>
                  <a:pt x="2560489" y="4056837"/>
                </a:lnTo>
                <a:lnTo>
                  <a:pt x="2549783" y="4054052"/>
                </a:lnTo>
                <a:lnTo>
                  <a:pt x="2539473" y="4050868"/>
                </a:lnTo>
                <a:lnTo>
                  <a:pt x="2529560" y="4046491"/>
                </a:lnTo>
                <a:lnTo>
                  <a:pt x="2519647" y="4042114"/>
                </a:lnTo>
                <a:lnTo>
                  <a:pt x="2510131" y="4037338"/>
                </a:lnTo>
                <a:lnTo>
                  <a:pt x="2501011" y="4032165"/>
                </a:lnTo>
                <a:lnTo>
                  <a:pt x="2491891" y="4026196"/>
                </a:lnTo>
                <a:lnTo>
                  <a:pt x="2483167" y="4019829"/>
                </a:lnTo>
                <a:lnTo>
                  <a:pt x="2474841" y="4013064"/>
                </a:lnTo>
                <a:lnTo>
                  <a:pt x="2466514" y="4006299"/>
                </a:lnTo>
                <a:lnTo>
                  <a:pt x="2458980" y="3998738"/>
                </a:lnTo>
                <a:lnTo>
                  <a:pt x="2451446" y="3991178"/>
                </a:lnTo>
                <a:lnTo>
                  <a:pt x="2444308" y="3982821"/>
                </a:lnTo>
                <a:lnTo>
                  <a:pt x="2437964" y="3974464"/>
                </a:lnTo>
                <a:lnTo>
                  <a:pt x="2431620" y="3965710"/>
                </a:lnTo>
                <a:lnTo>
                  <a:pt x="2425672" y="3956557"/>
                </a:lnTo>
                <a:lnTo>
                  <a:pt x="2420914" y="3947405"/>
                </a:lnTo>
                <a:lnTo>
                  <a:pt x="2415759" y="3937854"/>
                </a:lnTo>
                <a:lnTo>
                  <a:pt x="2411397" y="3927906"/>
                </a:lnTo>
                <a:lnTo>
                  <a:pt x="2407035" y="3917957"/>
                </a:lnTo>
                <a:lnTo>
                  <a:pt x="2403863" y="3907611"/>
                </a:lnTo>
                <a:lnTo>
                  <a:pt x="2400691" y="3896866"/>
                </a:lnTo>
                <a:lnTo>
                  <a:pt x="2398312" y="3886122"/>
                </a:lnTo>
                <a:lnTo>
                  <a:pt x="2396329" y="3874980"/>
                </a:lnTo>
                <a:lnTo>
                  <a:pt x="2395140" y="3864236"/>
                </a:lnTo>
                <a:lnTo>
                  <a:pt x="2394347" y="3852297"/>
                </a:lnTo>
                <a:lnTo>
                  <a:pt x="2393950" y="3841155"/>
                </a:lnTo>
                <a:lnTo>
                  <a:pt x="2394347" y="3829615"/>
                </a:lnTo>
                <a:lnTo>
                  <a:pt x="2395140" y="3818473"/>
                </a:lnTo>
                <a:lnTo>
                  <a:pt x="2396329" y="3806933"/>
                </a:lnTo>
                <a:lnTo>
                  <a:pt x="2398312" y="3796188"/>
                </a:lnTo>
                <a:lnTo>
                  <a:pt x="2400691" y="3785444"/>
                </a:lnTo>
                <a:lnTo>
                  <a:pt x="2403863" y="3775098"/>
                </a:lnTo>
                <a:lnTo>
                  <a:pt x="2407035" y="3764751"/>
                </a:lnTo>
                <a:lnTo>
                  <a:pt x="2411397" y="3754007"/>
                </a:lnTo>
                <a:lnTo>
                  <a:pt x="2415759" y="3744456"/>
                </a:lnTo>
                <a:lnTo>
                  <a:pt x="2420914" y="3734906"/>
                </a:lnTo>
                <a:lnTo>
                  <a:pt x="2425672" y="3725355"/>
                </a:lnTo>
                <a:lnTo>
                  <a:pt x="2431620" y="3716203"/>
                </a:lnTo>
                <a:lnTo>
                  <a:pt x="2437964" y="3707448"/>
                </a:lnTo>
                <a:lnTo>
                  <a:pt x="2444308" y="3699092"/>
                </a:lnTo>
                <a:lnTo>
                  <a:pt x="2451446" y="3691133"/>
                </a:lnTo>
                <a:lnTo>
                  <a:pt x="2458980" y="3683174"/>
                </a:lnTo>
                <a:lnTo>
                  <a:pt x="2466514" y="3676011"/>
                </a:lnTo>
                <a:lnTo>
                  <a:pt x="2474841" y="3669246"/>
                </a:lnTo>
                <a:lnTo>
                  <a:pt x="2483167" y="3662481"/>
                </a:lnTo>
                <a:lnTo>
                  <a:pt x="2491891" y="3656114"/>
                </a:lnTo>
                <a:lnTo>
                  <a:pt x="2501011" y="3650543"/>
                </a:lnTo>
                <a:lnTo>
                  <a:pt x="2510131" y="3644972"/>
                </a:lnTo>
                <a:lnTo>
                  <a:pt x="2519647" y="3640197"/>
                </a:lnTo>
                <a:lnTo>
                  <a:pt x="2529560" y="3635422"/>
                </a:lnTo>
                <a:lnTo>
                  <a:pt x="2539473" y="3631840"/>
                </a:lnTo>
                <a:lnTo>
                  <a:pt x="2549783" y="3627861"/>
                </a:lnTo>
                <a:lnTo>
                  <a:pt x="2560489" y="3625075"/>
                </a:lnTo>
                <a:lnTo>
                  <a:pt x="2571195" y="3622688"/>
                </a:lnTo>
                <a:lnTo>
                  <a:pt x="2582297" y="3620300"/>
                </a:lnTo>
                <a:lnTo>
                  <a:pt x="2593400" y="3619106"/>
                </a:lnTo>
                <a:lnTo>
                  <a:pt x="2604503" y="3618310"/>
                </a:lnTo>
                <a:lnTo>
                  <a:pt x="2616002" y="3617912"/>
                </a:lnTo>
                <a:close/>
                <a:moveTo>
                  <a:pt x="2187774" y="3414712"/>
                </a:moveTo>
                <a:lnTo>
                  <a:pt x="2193738" y="3415107"/>
                </a:lnTo>
                <a:lnTo>
                  <a:pt x="2199303" y="3415502"/>
                </a:lnTo>
                <a:lnTo>
                  <a:pt x="2204869" y="3415897"/>
                </a:lnTo>
                <a:lnTo>
                  <a:pt x="2210833" y="3417081"/>
                </a:lnTo>
                <a:lnTo>
                  <a:pt x="2216001" y="3418265"/>
                </a:lnTo>
                <a:lnTo>
                  <a:pt x="2221567" y="3419845"/>
                </a:lnTo>
                <a:lnTo>
                  <a:pt x="2227133" y="3421819"/>
                </a:lnTo>
                <a:lnTo>
                  <a:pt x="2231904" y="3423793"/>
                </a:lnTo>
                <a:lnTo>
                  <a:pt x="2237470" y="3425767"/>
                </a:lnTo>
                <a:lnTo>
                  <a:pt x="2241843" y="3428530"/>
                </a:lnTo>
                <a:lnTo>
                  <a:pt x="2247011" y="3431294"/>
                </a:lnTo>
                <a:lnTo>
                  <a:pt x="2251384" y="3434058"/>
                </a:lnTo>
                <a:lnTo>
                  <a:pt x="2256155" y="3437611"/>
                </a:lnTo>
                <a:lnTo>
                  <a:pt x="2260131" y="3440769"/>
                </a:lnTo>
                <a:lnTo>
                  <a:pt x="2264504" y="3443928"/>
                </a:lnTo>
                <a:lnTo>
                  <a:pt x="2268480" y="3448271"/>
                </a:lnTo>
                <a:lnTo>
                  <a:pt x="2272455" y="3451824"/>
                </a:lnTo>
                <a:lnTo>
                  <a:pt x="2275636" y="3456167"/>
                </a:lnTo>
                <a:lnTo>
                  <a:pt x="2278816" y="3460115"/>
                </a:lnTo>
                <a:lnTo>
                  <a:pt x="2282395" y="3464853"/>
                </a:lnTo>
                <a:lnTo>
                  <a:pt x="2285178" y="3469195"/>
                </a:lnTo>
                <a:lnTo>
                  <a:pt x="2288358" y="3474328"/>
                </a:lnTo>
                <a:lnTo>
                  <a:pt x="2290743" y="3479065"/>
                </a:lnTo>
                <a:lnTo>
                  <a:pt x="2292731" y="3484198"/>
                </a:lnTo>
                <a:lnTo>
                  <a:pt x="2294719" y="3488936"/>
                </a:lnTo>
                <a:lnTo>
                  <a:pt x="2296707" y="3494463"/>
                </a:lnTo>
                <a:lnTo>
                  <a:pt x="2298297" y="3499990"/>
                </a:lnTo>
                <a:lnTo>
                  <a:pt x="2299490" y="3505123"/>
                </a:lnTo>
                <a:lnTo>
                  <a:pt x="2300683" y="3511045"/>
                </a:lnTo>
                <a:lnTo>
                  <a:pt x="2301478" y="3516967"/>
                </a:lnTo>
                <a:lnTo>
                  <a:pt x="2301875" y="3522494"/>
                </a:lnTo>
                <a:lnTo>
                  <a:pt x="2301875" y="3528416"/>
                </a:lnTo>
                <a:lnTo>
                  <a:pt x="2301875" y="3534338"/>
                </a:lnTo>
                <a:lnTo>
                  <a:pt x="2301478" y="3539866"/>
                </a:lnTo>
                <a:lnTo>
                  <a:pt x="2300683" y="3545393"/>
                </a:lnTo>
                <a:lnTo>
                  <a:pt x="2299490" y="3550920"/>
                </a:lnTo>
                <a:lnTo>
                  <a:pt x="2298297" y="3556447"/>
                </a:lnTo>
                <a:lnTo>
                  <a:pt x="2296707" y="3561975"/>
                </a:lnTo>
                <a:lnTo>
                  <a:pt x="2294719" y="3567107"/>
                </a:lnTo>
                <a:lnTo>
                  <a:pt x="2292731" y="3572634"/>
                </a:lnTo>
                <a:lnTo>
                  <a:pt x="2290743" y="3577372"/>
                </a:lnTo>
                <a:lnTo>
                  <a:pt x="2288358" y="3582504"/>
                </a:lnTo>
                <a:lnTo>
                  <a:pt x="2285178" y="3587242"/>
                </a:lnTo>
                <a:lnTo>
                  <a:pt x="2282395" y="3591585"/>
                </a:lnTo>
                <a:lnTo>
                  <a:pt x="2278816" y="3596323"/>
                </a:lnTo>
                <a:lnTo>
                  <a:pt x="2275636" y="3600271"/>
                </a:lnTo>
                <a:lnTo>
                  <a:pt x="2272455" y="3604614"/>
                </a:lnTo>
                <a:lnTo>
                  <a:pt x="2268480" y="3608562"/>
                </a:lnTo>
                <a:lnTo>
                  <a:pt x="2264504" y="3612115"/>
                </a:lnTo>
                <a:lnTo>
                  <a:pt x="2260131" y="3615668"/>
                </a:lnTo>
                <a:lnTo>
                  <a:pt x="2256155" y="3619221"/>
                </a:lnTo>
                <a:lnTo>
                  <a:pt x="2251384" y="3622380"/>
                </a:lnTo>
                <a:lnTo>
                  <a:pt x="2247011" y="3625143"/>
                </a:lnTo>
                <a:lnTo>
                  <a:pt x="2241843" y="3627907"/>
                </a:lnTo>
                <a:lnTo>
                  <a:pt x="2237470" y="3630276"/>
                </a:lnTo>
                <a:lnTo>
                  <a:pt x="2231904" y="3633040"/>
                </a:lnTo>
                <a:lnTo>
                  <a:pt x="2227133" y="3634619"/>
                </a:lnTo>
                <a:lnTo>
                  <a:pt x="2221567" y="3636593"/>
                </a:lnTo>
                <a:lnTo>
                  <a:pt x="2216001" y="3637777"/>
                </a:lnTo>
                <a:lnTo>
                  <a:pt x="2210833" y="3639751"/>
                </a:lnTo>
                <a:lnTo>
                  <a:pt x="2204869" y="3640541"/>
                </a:lnTo>
                <a:lnTo>
                  <a:pt x="2199303" y="3641330"/>
                </a:lnTo>
                <a:lnTo>
                  <a:pt x="2193738" y="3641725"/>
                </a:lnTo>
                <a:lnTo>
                  <a:pt x="2187774" y="3641725"/>
                </a:lnTo>
                <a:lnTo>
                  <a:pt x="2181413" y="3641725"/>
                </a:lnTo>
                <a:lnTo>
                  <a:pt x="2175847" y="3641330"/>
                </a:lnTo>
                <a:lnTo>
                  <a:pt x="2170281" y="3640541"/>
                </a:lnTo>
                <a:lnTo>
                  <a:pt x="2164715" y="3639751"/>
                </a:lnTo>
                <a:lnTo>
                  <a:pt x="2159149" y="3637777"/>
                </a:lnTo>
                <a:lnTo>
                  <a:pt x="2153583" y="3636593"/>
                </a:lnTo>
                <a:lnTo>
                  <a:pt x="2148415" y="3634619"/>
                </a:lnTo>
                <a:lnTo>
                  <a:pt x="2143247" y="3633040"/>
                </a:lnTo>
                <a:lnTo>
                  <a:pt x="2138476" y="3630276"/>
                </a:lnTo>
                <a:lnTo>
                  <a:pt x="2133308" y="3627907"/>
                </a:lnTo>
                <a:lnTo>
                  <a:pt x="2128139" y="3625143"/>
                </a:lnTo>
                <a:lnTo>
                  <a:pt x="2123766" y="3622380"/>
                </a:lnTo>
                <a:lnTo>
                  <a:pt x="2118995" y="3619221"/>
                </a:lnTo>
                <a:lnTo>
                  <a:pt x="2115020" y="3615668"/>
                </a:lnTo>
                <a:lnTo>
                  <a:pt x="2110646" y="3612115"/>
                </a:lnTo>
                <a:lnTo>
                  <a:pt x="2106671" y="3608562"/>
                </a:lnTo>
                <a:lnTo>
                  <a:pt x="2103093" y="3604614"/>
                </a:lnTo>
                <a:lnTo>
                  <a:pt x="2099515" y="3600271"/>
                </a:lnTo>
                <a:lnTo>
                  <a:pt x="2096334" y="3596323"/>
                </a:lnTo>
                <a:lnTo>
                  <a:pt x="2092756" y="3591585"/>
                </a:lnTo>
                <a:lnTo>
                  <a:pt x="2089973" y="3587242"/>
                </a:lnTo>
                <a:lnTo>
                  <a:pt x="2087190" y="3582504"/>
                </a:lnTo>
                <a:lnTo>
                  <a:pt x="2084805" y="3577372"/>
                </a:lnTo>
                <a:lnTo>
                  <a:pt x="2082419" y="3572634"/>
                </a:lnTo>
                <a:lnTo>
                  <a:pt x="2080431" y="3567107"/>
                </a:lnTo>
                <a:lnTo>
                  <a:pt x="2078444" y="3561975"/>
                </a:lnTo>
                <a:lnTo>
                  <a:pt x="2077251" y="3556447"/>
                </a:lnTo>
                <a:lnTo>
                  <a:pt x="2076058" y="3550920"/>
                </a:lnTo>
                <a:lnTo>
                  <a:pt x="2074468" y="3545393"/>
                </a:lnTo>
                <a:lnTo>
                  <a:pt x="2073673" y="3539866"/>
                </a:lnTo>
                <a:lnTo>
                  <a:pt x="2073275" y="3534338"/>
                </a:lnTo>
                <a:lnTo>
                  <a:pt x="2073275" y="3528416"/>
                </a:lnTo>
                <a:lnTo>
                  <a:pt x="2073275" y="3522494"/>
                </a:lnTo>
                <a:lnTo>
                  <a:pt x="2073673" y="3516967"/>
                </a:lnTo>
                <a:lnTo>
                  <a:pt x="2074468" y="3511045"/>
                </a:lnTo>
                <a:lnTo>
                  <a:pt x="2076058" y="3505123"/>
                </a:lnTo>
                <a:lnTo>
                  <a:pt x="2077251" y="3499990"/>
                </a:lnTo>
                <a:lnTo>
                  <a:pt x="2078444" y="3494463"/>
                </a:lnTo>
                <a:lnTo>
                  <a:pt x="2080431" y="3488936"/>
                </a:lnTo>
                <a:lnTo>
                  <a:pt x="2082419" y="3484198"/>
                </a:lnTo>
                <a:lnTo>
                  <a:pt x="2084805" y="3479065"/>
                </a:lnTo>
                <a:lnTo>
                  <a:pt x="2087190" y="3474328"/>
                </a:lnTo>
                <a:lnTo>
                  <a:pt x="2089973" y="3469195"/>
                </a:lnTo>
                <a:lnTo>
                  <a:pt x="2092756" y="3464853"/>
                </a:lnTo>
                <a:lnTo>
                  <a:pt x="2096334" y="3460115"/>
                </a:lnTo>
                <a:lnTo>
                  <a:pt x="2099515" y="3456167"/>
                </a:lnTo>
                <a:lnTo>
                  <a:pt x="2103093" y="3451824"/>
                </a:lnTo>
                <a:lnTo>
                  <a:pt x="2106671" y="3448271"/>
                </a:lnTo>
                <a:lnTo>
                  <a:pt x="2110646" y="3443928"/>
                </a:lnTo>
                <a:lnTo>
                  <a:pt x="2115020" y="3440769"/>
                </a:lnTo>
                <a:lnTo>
                  <a:pt x="2118995" y="3437611"/>
                </a:lnTo>
                <a:lnTo>
                  <a:pt x="2123766" y="3434058"/>
                </a:lnTo>
                <a:lnTo>
                  <a:pt x="2128139" y="3431294"/>
                </a:lnTo>
                <a:lnTo>
                  <a:pt x="2133308" y="3428530"/>
                </a:lnTo>
                <a:lnTo>
                  <a:pt x="2138476" y="3425767"/>
                </a:lnTo>
                <a:lnTo>
                  <a:pt x="2143247" y="3423793"/>
                </a:lnTo>
                <a:lnTo>
                  <a:pt x="2148415" y="3421819"/>
                </a:lnTo>
                <a:lnTo>
                  <a:pt x="2153583" y="3419845"/>
                </a:lnTo>
                <a:lnTo>
                  <a:pt x="2159149" y="3418265"/>
                </a:lnTo>
                <a:lnTo>
                  <a:pt x="2164715" y="3417081"/>
                </a:lnTo>
                <a:lnTo>
                  <a:pt x="2170281" y="3415897"/>
                </a:lnTo>
                <a:lnTo>
                  <a:pt x="2175847" y="3415502"/>
                </a:lnTo>
                <a:lnTo>
                  <a:pt x="2181413" y="3415107"/>
                </a:lnTo>
                <a:lnTo>
                  <a:pt x="2187774" y="3414712"/>
                </a:lnTo>
                <a:close/>
                <a:moveTo>
                  <a:pt x="2877146" y="3217862"/>
                </a:moveTo>
                <a:lnTo>
                  <a:pt x="2885867" y="3218259"/>
                </a:lnTo>
                <a:lnTo>
                  <a:pt x="2894191" y="3219051"/>
                </a:lnTo>
                <a:lnTo>
                  <a:pt x="2902515" y="3219844"/>
                </a:lnTo>
                <a:lnTo>
                  <a:pt x="2910840" y="3221430"/>
                </a:lnTo>
                <a:lnTo>
                  <a:pt x="2918768" y="3223412"/>
                </a:lnTo>
                <a:lnTo>
                  <a:pt x="2926696" y="3225394"/>
                </a:lnTo>
                <a:lnTo>
                  <a:pt x="2934624" y="3228169"/>
                </a:lnTo>
                <a:lnTo>
                  <a:pt x="2942156" y="3230943"/>
                </a:lnTo>
                <a:lnTo>
                  <a:pt x="2949291" y="3234511"/>
                </a:lnTo>
                <a:lnTo>
                  <a:pt x="2956426" y="3238079"/>
                </a:lnTo>
                <a:lnTo>
                  <a:pt x="2963561" y="3242043"/>
                </a:lnTo>
                <a:lnTo>
                  <a:pt x="2970300" y="3246403"/>
                </a:lnTo>
                <a:lnTo>
                  <a:pt x="2976643" y="3251160"/>
                </a:lnTo>
                <a:lnTo>
                  <a:pt x="2982985" y="3255917"/>
                </a:lnTo>
                <a:lnTo>
                  <a:pt x="2988931" y="3261070"/>
                </a:lnTo>
                <a:lnTo>
                  <a:pt x="2994481" y="3266620"/>
                </a:lnTo>
                <a:lnTo>
                  <a:pt x="3000030" y="3272169"/>
                </a:lnTo>
                <a:lnTo>
                  <a:pt x="3005580" y="3278512"/>
                </a:lnTo>
                <a:lnTo>
                  <a:pt x="3010337" y="3284458"/>
                </a:lnTo>
                <a:lnTo>
                  <a:pt x="3015093" y="3291196"/>
                </a:lnTo>
                <a:lnTo>
                  <a:pt x="3019057" y="3297935"/>
                </a:lnTo>
                <a:lnTo>
                  <a:pt x="3023418" y="3305070"/>
                </a:lnTo>
                <a:lnTo>
                  <a:pt x="3026986" y="3312206"/>
                </a:lnTo>
                <a:lnTo>
                  <a:pt x="3030553" y="3319341"/>
                </a:lnTo>
                <a:lnTo>
                  <a:pt x="3033328" y="3326873"/>
                </a:lnTo>
                <a:lnTo>
                  <a:pt x="3035706" y="3334404"/>
                </a:lnTo>
                <a:lnTo>
                  <a:pt x="3038085" y="3342332"/>
                </a:lnTo>
                <a:lnTo>
                  <a:pt x="3040067" y="3350657"/>
                </a:lnTo>
                <a:lnTo>
                  <a:pt x="3041652" y="3358585"/>
                </a:lnTo>
                <a:lnTo>
                  <a:pt x="3042445" y="3366909"/>
                </a:lnTo>
                <a:lnTo>
                  <a:pt x="3043238" y="3375630"/>
                </a:lnTo>
                <a:lnTo>
                  <a:pt x="3043238" y="3383954"/>
                </a:lnTo>
                <a:lnTo>
                  <a:pt x="3043238" y="3392675"/>
                </a:lnTo>
                <a:lnTo>
                  <a:pt x="3042445" y="3401000"/>
                </a:lnTo>
                <a:lnTo>
                  <a:pt x="3041652" y="3408928"/>
                </a:lnTo>
                <a:lnTo>
                  <a:pt x="3040067" y="3417252"/>
                </a:lnTo>
                <a:lnTo>
                  <a:pt x="3038085" y="3425180"/>
                </a:lnTo>
                <a:lnTo>
                  <a:pt x="3035706" y="3433108"/>
                </a:lnTo>
                <a:lnTo>
                  <a:pt x="3033328" y="3441036"/>
                </a:lnTo>
                <a:lnTo>
                  <a:pt x="3030553" y="3448568"/>
                </a:lnTo>
                <a:lnTo>
                  <a:pt x="3026986" y="3456100"/>
                </a:lnTo>
                <a:lnTo>
                  <a:pt x="3023418" y="3463235"/>
                </a:lnTo>
                <a:lnTo>
                  <a:pt x="3019057" y="3469974"/>
                </a:lnTo>
                <a:lnTo>
                  <a:pt x="3015093" y="3476712"/>
                </a:lnTo>
                <a:lnTo>
                  <a:pt x="3010337" y="3483451"/>
                </a:lnTo>
                <a:lnTo>
                  <a:pt x="3005580" y="3489794"/>
                </a:lnTo>
                <a:lnTo>
                  <a:pt x="3000030" y="3495343"/>
                </a:lnTo>
                <a:lnTo>
                  <a:pt x="2994481" y="3501289"/>
                </a:lnTo>
                <a:lnTo>
                  <a:pt x="2988931" y="3506442"/>
                </a:lnTo>
                <a:lnTo>
                  <a:pt x="2982985" y="3511992"/>
                </a:lnTo>
                <a:lnTo>
                  <a:pt x="2976643" y="3517145"/>
                </a:lnTo>
                <a:lnTo>
                  <a:pt x="2970300" y="3521506"/>
                </a:lnTo>
                <a:lnTo>
                  <a:pt x="2963561" y="3525866"/>
                </a:lnTo>
                <a:lnTo>
                  <a:pt x="2956426" y="3529830"/>
                </a:lnTo>
                <a:lnTo>
                  <a:pt x="2949291" y="3533794"/>
                </a:lnTo>
                <a:lnTo>
                  <a:pt x="2942156" y="3536965"/>
                </a:lnTo>
                <a:lnTo>
                  <a:pt x="2934624" y="3539740"/>
                </a:lnTo>
                <a:lnTo>
                  <a:pt x="2926696" y="3542515"/>
                </a:lnTo>
                <a:lnTo>
                  <a:pt x="2918768" y="3544893"/>
                </a:lnTo>
                <a:lnTo>
                  <a:pt x="2910840" y="3546479"/>
                </a:lnTo>
                <a:lnTo>
                  <a:pt x="2902515" y="3548065"/>
                </a:lnTo>
                <a:lnTo>
                  <a:pt x="2894191" y="3548857"/>
                </a:lnTo>
                <a:lnTo>
                  <a:pt x="2885867" y="3549650"/>
                </a:lnTo>
                <a:lnTo>
                  <a:pt x="2877146" y="3549650"/>
                </a:lnTo>
                <a:lnTo>
                  <a:pt x="2868821" y="3549650"/>
                </a:lnTo>
                <a:lnTo>
                  <a:pt x="2860101" y="3548857"/>
                </a:lnTo>
                <a:lnTo>
                  <a:pt x="2851776" y="3548065"/>
                </a:lnTo>
                <a:lnTo>
                  <a:pt x="2843848" y="3546479"/>
                </a:lnTo>
                <a:lnTo>
                  <a:pt x="2835524" y="3544893"/>
                </a:lnTo>
                <a:lnTo>
                  <a:pt x="2827992" y="3542515"/>
                </a:lnTo>
                <a:lnTo>
                  <a:pt x="2820460" y="3539740"/>
                </a:lnTo>
                <a:lnTo>
                  <a:pt x="2812929" y="3536965"/>
                </a:lnTo>
                <a:lnTo>
                  <a:pt x="2805397" y="3533794"/>
                </a:lnTo>
                <a:lnTo>
                  <a:pt x="2798262" y="3529830"/>
                </a:lnTo>
                <a:lnTo>
                  <a:pt x="2791127" y="3525866"/>
                </a:lnTo>
                <a:lnTo>
                  <a:pt x="2784784" y="3521506"/>
                </a:lnTo>
                <a:lnTo>
                  <a:pt x="2778045" y="3517145"/>
                </a:lnTo>
                <a:lnTo>
                  <a:pt x="2771703" y="3511992"/>
                </a:lnTo>
                <a:lnTo>
                  <a:pt x="2766153" y="3506442"/>
                </a:lnTo>
                <a:lnTo>
                  <a:pt x="2760207" y="3501289"/>
                </a:lnTo>
                <a:lnTo>
                  <a:pt x="2754261" y="3495343"/>
                </a:lnTo>
                <a:lnTo>
                  <a:pt x="2749505" y="3489794"/>
                </a:lnTo>
                <a:lnTo>
                  <a:pt x="2744351" y="3483451"/>
                </a:lnTo>
                <a:lnTo>
                  <a:pt x="2739991" y="3476712"/>
                </a:lnTo>
                <a:lnTo>
                  <a:pt x="2735234" y="3469974"/>
                </a:lnTo>
                <a:lnTo>
                  <a:pt x="2731666" y="3463235"/>
                </a:lnTo>
                <a:lnTo>
                  <a:pt x="2727702" y="3456100"/>
                </a:lnTo>
                <a:lnTo>
                  <a:pt x="2724531" y="3448568"/>
                </a:lnTo>
                <a:lnTo>
                  <a:pt x="2721756" y="3441036"/>
                </a:lnTo>
                <a:lnTo>
                  <a:pt x="2718982" y="3433108"/>
                </a:lnTo>
                <a:lnTo>
                  <a:pt x="2716603" y="3425180"/>
                </a:lnTo>
                <a:lnTo>
                  <a:pt x="2715018" y="3417252"/>
                </a:lnTo>
                <a:lnTo>
                  <a:pt x="2713432" y="3408928"/>
                </a:lnTo>
                <a:lnTo>
                  <a:pt x="2712639" y="3401000"/>
                </a:lnTo>
                <a:lnTo>
                  <a:pt x="2711450" y="3392675"/>
                </a:lnTo>
                <a:lnTo>
                  <a:pt x="2711450" y="3383954"/>
                </a:lnTo>
                <a:lnTo>
                  <a:pt x="2711450" y="3375630"/>
                </a:lnTo>
                <a:lnTo>
                  <a:pt x="2712639" y="3366909"/>
                </a:lnTo>
                <a:lnTo>
                  <a:pt x="2713432" y="3358585"/>
                </a:lnTo>
                <a:lnTo>
                  <a:pt x="2715018" y="3350657"/>
                </a:lnTo>
                <a:lnTo>
                  <a:pt x="2716603" y="3342332"/>
                </a:lnTo>
                <a:lnTo>
                  <a:pt x="2718982" y="3334404"/>
                </a:lnTo>
                <a:lnTo>
                  <a:pt x="2721756" y="3326873"/>
                </a:lnTo>
                <a:lnTo>
                  <a:pt x="2724531" y="3319341"/>
                </a:lnTo>
                <a:lnTo>
                  <a:pt x="2727702" y="3312206"/>
                </a:lnTo>
                <a:lnTo>
                  <a:pt x="2731666" y="3305070"/>
                </a:lnTo>
                <a:lnTo>
                  <a:pt x="2735234" y="3297935"/>
                </a:lnTo>
                <a:lnTo>
                  <a:pt x="2739991" y="3291196"/>
                </a:lnTo>
                <a:lnTo>
                  <a:pt x="2744351" y="3284458"/>
                </a:lnTo>
                <a:lnTo>
                  <a:pt x="2749505" y="3278512"/>
                </a:lnTo>
                <a:lnTo>
                  <a:pt x="2754261" y="3272169"/>
                </a:lnTo>
                <a:lnTo>
                  <a:pt x="2760207" y="3266620"/>
                </a:lnTo>
                <a:lnTo>
                  <a:pt x="2766153" y="3261070"/>
                </a:lnTo>
                <a:lnTo>
                  <a:pt x="2771703" y="3255917"/>
                </a:lnTo>
                <a:lnTo>
                  <a:pt x="2778045" y="3251160"/>
                </a:lnTo>
                <a:lnTo>
                  <a:pt x="2784784" y="3246403"/>
                </a:lnTo>
                <a:lnTo>
                  <a:pt x="2791127" y="3242043"/>
                </a:lnTo>
                <a:lnTo>
                  <a:pt x="2798262" y="3238079"/>
                </a:lnTo>
                <a:lnTo>
                  <a:pt x="2805397" y="3234511"/>
                </a:lnTo>
                <a:lnTo>
                  <a:pt x="2812929" y="3230943"/>
                </a:lnTo>
                <a:lnTo>
                  <a:pt x="2820460" y="3228169"/>
                </a:lnTo>
                <a:lnTo>
                  <a:pt x="2827992" y="3225394"/>
                </a:lnTo>
                <a:lnTo>
                  <a:pt x="2835524" y="3223412"/>
                </a:lnTo>
                <a:lnTo>
                  <a:pt x="2843848" y="3221430"/>
                </a:lnTo>
                <a:lnTo>
                  <a:pt x="2851776" y="3219844"/>
                </a:lnTo>
                <a:lnTo>
                  <a:pt x="2860101" y="3219051"/>
                </a:lnTo>
                <a:lnTo>
                  <a:pt x="2868821" y="3218259"/>
                </a:lnTo>
                <a:lnTo>
                  <a:pt x="2877146" y="3217862"/>
                </a:lnTo>
                <a:close/>
                <a:moveTo>
                  <a:pt x="1341242" y="3000374"/>
                </a:moveTo>
                <a:lnTo>
                  <a:pt x="410762" y="4429560"/>
                </a:lnTo>
                <a:lnTo>
                  <a:pt x="409572" y="4434325"/>
                </a:lnTo>
                <a:lnTo>
                  <a:pt x="406794" y="4447826"/>
                </a:lnTo>
                <a:lnTo>
                  <a:pt x="404414" y="4458151"/>
                </a:lnTo>
                <a:lnTo>
                  <a:pt x="402430" y="4469667"/>
                </a:lnTo>
                <a:lnTo>
                  <a:pt x="400446" y="4483169"/>
                </a:lnTo>
                <a:lnTo>
                  <a:pt x="398859" y="4498259"/>
                </a:lnTo>
                <a:lnTo>
                  <a:pt x="396875" y="4514937"/>
                </a:lnTo>
                <a:lnTo>
                  <a:pt x="395287" y="4533204"/>
                </a:lnTo>
                <a:lnTo>
                  <a:pt x="394097" y="4552265"/>
                </a:lnTo>
                <a:lnTo>
                  <a:pt x="393700" y="4572915"/>
                </a:lnTo>
                <a:lnTo>
                  <a:pt x="394097" y="4594359"/>
                </a:lnTo>
                <a:lnTo>
                  <a:pt x="394891" y="4616597"/>
                </a:lnTo>
                <a:lnTo>
                  <a:pt x="397271" y="4640026"/>
                </a:lnTo>
                <a:lnTo>
                  <a:pt x="400049" y="4664249"/>
                </a:lnTo>
                <a:lnTo>
                  <a:pt x="401636" y="4676162"/>
                </a:lnTo>
                <a:lnTo>
                  <a:pt x="403620" y="4688870"/>
                </a:lnTo>
                <a:lnTo>
                  <a:pt x="406398" y="4701180"/>
                </a:lnTo>
                <a:lnTo>
                  <a:pt x="409175" y="4713490"/>
                </a:lnTo>
                <a:lnTo>
                  <a:pt x="412350" y="4726198"/>
                </a:lnTo>
                <a:lnTo>
                  <a:pt x="415921" y="4738905"/>
                </a:lnTo>
                <a:lnTo>
                  <a:pt x="419492" y="4752010"/>
                </a:lnTo>
                <a:lnTo>
                  <a:pt x="423857" y="4764320"/>
                </a:lnTo>
                <a:lnTo>
                  <a:pt x="428221" y="4777425"/>
                </a:lnTo>
                <a:lnTo>
                  <a:pt x="433380" y="4790132"/>
                </a:lnTo>
                <a:lnTo>
                  <a:pt x="438538" y="4802839"/>
                </a:lnTo>
                <a:lnTo>
                  <a:pt x="444887" y="4815944"/>
                </a:lnTo>
                <a:lnTo>
                  <a:pt x="451235" y="4828254"/>
                </a:lnTo>
                <a:lnTo>
                  <a:pt x="457584" y="4841359"/>
                </a:lnTo>
                <a:lnTo>
                  <a:pt x="464726" y="4853669"/>
                </a:lnTo>
                <a:lnTo>
                  <a:pt x="472662" y="4866773"/>
                </a:lnTo>
                <a:lnTo>
                  <a:pt x="480995" y="4879084"/>
                </a:lnTo>
                <a:lnTo>
                  <a:pt x="489724" y="4891394"/>
                </a:lnTo>
                <a:lnTo>
                  <a:pt x="498850" y="4903704"/>
                </a:lnTo>
                <a:lnTo>
                  <a:pt x="508770" y="4915618"/>
                </a:lnTo>
                <a:lnTo>
                  <a:pt x="519087" y="4927531"/>
                </a:lnTo>
                <a:lnTo>
                  <a:pt x="530197" y="4939444"/>
                </a:lnTo>
                <a:lnTo>
                  <a:pt x="541704" y="4950960"/>
                </a:lnTo>
                <a:lnTo>
                  <a:pt x="553608" y="4962476"/>
                </a:lnTo>
                <a:lnTo>
                  <a:pt x="566702" y="4973992"/>
                </a:lnTo>
                <a:lnTo>
                  <a:pt x="579796" y="4984714"/>
                </a:lnTo>
                <a:lnTo>
                  <a:pt x="594081" y="4995436"/>
                </a:lnTo>
                <a:lnTo>
                  <a:pt x="609159" y="5005761"/>
                </a:lnTo>
                <a:lnTo>
                  <a:pt x="624237" y="5016085"/>
                </a:lnTo>
                <a:lnTo>
                  <a:pt x="640109" y="5026410"/>
                </a:lnTo>
                <a:lnTo>
                  <a:pt x="657171" y="5035941"/>
                </a:lnTo>
                <a:lnTo>
                  <a:pt x="674630" y="5045074"/>
                </a:lnTo>
                <a:lnTo>
                  <a:pt x="3954917" y="5045074"/>
                </a:lnTo>
                <a:lnTo>
                  <a:pt x="3972376" y="5035941"/>
                </a:lnTo>
                <a:lnTo>
                  <a:pt x="3989041" y="5026410"/>
                </a:lnTo>
                <a:lnTo>
                  <a:pt x="4005310" y="5016085"/>
                </a:lnTo>
                <a:lnTo>
                  <a:pt x="4020785" y="5005761"/>
                </a:lnTo>
                <a:lnTo>
                  <a:pt x="4035069" y="4995436"/>
                </a:lnTo>
                <a:lnTo>
                  <a:pt x="4049354" y="4984714"/>
                </a:lnTo>
                <a:lnTo>
                  <a:pt x="4062448" y="4973992"/>
                </a:lnTo>
                <a:lnTo>
                  <a:pt x="4075543" y="4962476"/>
                </a:lnTo>
                <a:lnTo>
                  <a:pt x="4087446" y="4950960"/>
                </a:lnTo>
                <a:lnTo>
                  <a:pt x="4098953" y="4939444"/>
                </a:lnTo>
                <a:lnTo>
                  <a:pt x="4110063" y="4927531"/>
                </a:lnTo>
                <a:lnTo>
                  <a:pt x="4120777" y="4915618"/>
                </a:lnTo>
                <a:lnTo>
                  <a:pt x="4130300" y="4903704"/>
                </a:lnTo>
                <a:lnTo>
                  <a:pt x="4139823" y="4891394"/>
                </a:lnTo>
                <a:lnTo>
                  <a:pt x="4148552" y="4879084"/>
                </a:lnTo>
                <a:lnTo>
                  <a:pt x="4156488" y="4866773"/>
                </a:lnTo>
                <a:lnTo>
                  <a:pt x="4164424" y="4853669"/>
                </a:lnTo>
                <a:lnTo>
                  <a:pt x="4171566" y="4841359"/>
                </a:lnTo>
                <a:lnTo>
                  <a:pt x="4178312" y="4828254"/>
                </a:lnTo>
                <a:lnTo>
                  <a:pt x="4184661" y="4815944"/>
                </a:lnTo>
                <a:lnTo>
                  <a:pt x="4190613" y="4802839"/>
                </a:lnTo>
                <a:lnTo>
                  <a:pt x="4195771" y="4790132"/>
                </a:lnTo>
                <a:lnTo>
                  <a:pt x="4200929" y="4777425"/>
                </a:lnTo>
                <a:lnTo>
                  <a:pt x="4205294" y="4764320"/>
                </a:lnTo>
                <a:lnTo>
                  <a:pt x="4209659" y="4752010"/>
                </a:lnTo>
                <a:lnTo>
                  <a:pt x="4213627" y="4738905"/>
                </a:lnTo>
                <a:lnTo>
                  <a:pt x="4217197" y="4726198"/>
                </a:lnTo>
                <a:lnTo>
                  <a:pt x="4219975" y="4713490"/>
                </a:lnTo>
                <a:lnTo>
                  <a:pt x="4222753" y="4701180"/>
                </a:lnTo>
                <a:lnTo>
                  <a:pt x="4225530" y="4688870"/>
                </a:lnTo>
                <a:lnTo>
                  <a:pt x="4227514" y="4676162"/>
                </a:lnTo>
                <a:lnTo>
                  <a:pt x="4229498" y="4664249"/>
                </a:lnTo>
                <a:lnTo>
                  <a:pt x="4232673" y="4640026"/>
                </a:lnTo>
                <a:lnTo>
                  <a:pt x="4234259" y="4616597"/>
                </a:lnTo>
                <a:lnTo>
                  <a:pt x="4235450" y="4594359"/>
                </a:lnTo>
                <a:lnTo>
                  <a:pt x="4235450" y="4572915"/>
                </a:lnTo>
                <a:lnTo>
                  <a:pt x="4235053" y="4552265"/>
                </a:lnTo>
                <a:lnTo>
                  <a:pt x="4234259" y="4533204"/>
                </a:lnTo>
                <a:lnTo>
                  <a:pt x="4232673" y="4514937"/>
                </a:lnTo>
                <a:lnTo>
                  <a:pt x="4230689" y="4498259"/>
                </a:lnTo>
                <a:lnTo>
                  <a:pt x="4228705" y="4483169"/>
                </a:lnTo>
                <a:lnTo>
                  <a:pt x="4226721" y="4469667"/>
                </a:lnTo>
                <a:lnTo>
                  <a:pt x="4224737" y="4458151"/>
                </a:lnTo>
                <a:lnTo>
                  <a:pt x="4222356" y="4447826"/>
                </a:lnTo>
                <a:lnTo>
                  <a:pt x="4219578" y="4434325"/>
                </a:lnTo>
                <a:lnTo>
                  <a:pt x="4218388" y="4429560"/>
                </a:lnTo>
                <a:lnTo>
                  <a:pt x="3282826" y="3000490"/>
                </a:lnTo>
                <a:lnTo>
                  <a:pt x="3282951" y="3001367"/>
                </a:lnTo>
                <a:lnTo>
                  <a:pt x="3282554" y="3003754"/>
                </a:lnTo>
                <a:lnTo>
                  <a:pt x="3281761" y="3006140"/>
                </a:lnTo>
                <a:lnTo>
                  <a:pt x="3280173" y="3008526"/>
                </a:lnTo>
                <a:lnTo>
                  <a:pt x="3278189" y="3010913"/>
                </a:lnTo>
                <a:lnTo>
                  <a:pt x="3275015" y="3013299"/>
                </a:lnTo>
                <a:lnTo>
                  <a:pt x="3271841" y="3015685"/>
                </a:lnTo>
                <a:lnTo>
                  <a:pt x="3267476" y="3017674"/>
                </a:lnTo>
                <a:lnTo>
                  <a:pt x="3263111" y="3020458"/>
                </a:lnTo>
                <a:lnTo>
                  <a:pt x="3252398" y="3024832"/>
                </a:lnTo>
                <a:lnTo>
                  <a:pt x="3239304" y="3029605"/>
                </a:lnTo>
                <a:lnTo>
                  <a:pt x="3223829" y="3033582"/>
                </a:lnTo>
                <a:lnTo>
                  <a:pt x="3206370" y="3037957"/>
                </a:lnTo>
                <a:lnTo>
                  <a:pt x="3186927" y="3041934"/>
                </a:lnTo>
                <a:lnTo>
                  <a:pt x="3165897" y="3046309"/>
                </a:lnTo>
                <a:lnTo>
                  <a:pt x="3142486" y="3050286"/>
                </a:lnTo>
                <a:lnTo>
                  <a:pt x="3117091" y="3054263"/>
                </a:lnTo>
                <a:lnTo>
                  <a:pt x="3090109" y="3057843"/>
                </a:lnTo>
                <a:lnTo>
                  <a:pt x="3061143" y="3061024"/>
                </a:lnTo>
                <a:lnTo>
                  <a:pt x="3030987" y="3065001"/>
                </a:lnTo>
                <a:lnTo>
                  <a:pt x="2998847" y="3068183"/>
                </a:lnTo>
                <a:lnTo>
                  <a:pt x="2964722" y="3070967"/>
                </a:lnTo>
                <a:lnTo>
                  <a:pt x="2929804" y="3074149"/>
                </a:lnTo>
                <a:lnTo>
                  <a:pt x="2892903" y="3076933"/>
                </a:lnTo>
                <a:lnTo>
                  <a:pt x="2855207" y="3079319"/>
                </a:lnTo>
                <a:lnTo>
                  <a:pt x="2815528" y="3082103"/>
                </a:lnTo>
                <a:lnTo>
                  <a:pt x="2775055" y="3084489"/>
                </a:lnTo>
                <a:lnTo>
                  <a:pt x="2690141" y="3088069"/>
                </a:lnTo>
                <a:lnTo>
                  <a:pt x="2600862" y="3091648"/>
                </a:lnTo>
                <a:lnTo>
                  <a:pt x="2507615" y="3093637"/>
                </a:lnTo>
                <a:lnTo>
                  <a:pt x="2411195" y="3095227"/>
                </a:lnTo>
                <a:lnTo>
                  <a:pt x="2312393" y="3095625"/>
                </a:lnTo>
                <a:lnTo>
                  <a:pt x="2213195" y="3095227"/>
                </a:lnTo>
                <a:lnTo>
                  <a:pt x="2116774" y="3093637"/>
                </a:lnTo>
                <a:lnTo>
                  <a:pt x="2023924" y="3091648"/>
                </a:lnTo>
                <a:lnTo>
                  <a:pt x="1934645" y="3088069"/>
                </a:lnTo>
                <a:lnTo>
                  <a:pt x="1849731" y="3084489"/>
                </a:lnTo>
                <a:lnTo>
                  <a:pt x="1808862" y="3082103"/>
                </a:lnTo>
                <a:lnTo>
                  <a:pt x="1769579" y="3079319"/>
                </a:lnTo>
                <a:lnTo>
                  <a:pt x="1731884" y="3076933"/>
                </a:lnTo>
                <a:lnTo>
                  <a:pt x="1694982" y="3074149"/>
                </a:lnTo>
                <a:lnTo>
                  <a:pt x="1659667" y="3070967"/>
                </a:lnTo>
                <a:lnTo>
                  <a:pt x="1626336" y="3068183"/>
                </a:lnTo>
                <a:lnTo>
                  <a:pt x="1593799" y="3065001"/>
                </a:lnTo>
                <a:lnTo>
                  <a:pt x="1563643" y="3061024"/>
                </a:lnTo>
                <a:lnTo>
                  <a:pt x="1534677" y="3057843"/>
                </a:lnTo>
                <a:lnTo>
                  <a:pt x="1507298" y="3054263"/>
                </a:lnTo>
                <a:lnTo>
                  <a:pt x="1482300" y="3050286"/>
                </a:lnTo>
                <a:lnTo>
                  <a:pt x="1458889" y="3046309"/>
                </a:lnTo>
                <a:lnTo>
                  <a:pt x="1437462" y="3041934"/>
                </a:lnTo>
                <a:lnTo>
                  <a:pt x="1418019" y="3037957"/>
                </a:lnTo>
                <a:lnTo>
                  <a:pt x="1400561" y="3033582"/>
                </a:lnTo>
                <a:lnTo>
                  <a:pt x="1385086" y="3029605"/>
                </a:lnTo>
                <a:lnTo>
                  <a:pt x="1372388" y="3024832"/>
                </a:lnTo>
                <a:lnTo>
                  <a:pt x="1361675" y="3020458"/>
                </a:lnTo>
                <a:lnTo>
                  <a:pt x="1356913" y="3017674"/>
                </a:lnTo>
                <a:lnTo>
                  <a:pt x="1352945" y="3015685"/>
                </a:lnTo>
                <a:lnTo>
                  <a:pt x="1349374" y="3013299"/>
                </a:lnTo>
                <a:lnTo>
                  <a:pt x="1346597" y="3010913"/>
                </a:lnTo>
                <a:lnTo>
                  <a:pt x="1344613" y="3008526"/>
                </a:lnTo>
                <a:lnTo>
                  <a:pt x="1343025" y="3006140"/>
                </a:lnTo>
                <a:lnTo>
                  <a:pt x="1341835" y="3003754"/>
                </a:lnTo>
                <a:lnTo>
                  <a:pt x="1341438" y="3001367"/>
                </a:lnTo>
                <a:lnTo>
                  <a:pt x="1341580" y="3000374"/>
                </a:lnTo>
                <a:lnTo>
                  <a:pt x="1341242" y="3000374"/>
                </a:lnTo>
                <a:close/>
                <a:moveTo>
                  <a:pt x="1717823" y="0"/>
                </a:moveTo>
                <a:lnTo>
                  <a:pt x="2909343" y="0"/>
                </a:lnTo>
                <a:lnTo>
                  <a:pt x="2919266" y="3571"/>
                </a:lnTo>
                <a:lnTo>
                  <a:pt x="2927601" y="6745"/>
                </a:lnTo>
                <a:lnTo>
                  <a:pt x="2935937" y="11110"/>
                </a:lnTo>
                <a:lnTo>
                  <a:pt x="2946653" y="15872"/>
                </a:lnTo>
                <a:lnTo>
                  <a:pt x="2959354" y="22618"/>
                </a:lnTo>
                <a:lnTo>
                  <a:pt x="2972849" y="30951"/>
                </a:lnTo>
                <a:lnTo>
                  <a:pt x="2987931" y="40871"/>
                </a:lnTo>
                <a:lnTo>
                  <a:pt x="2995870" y="46427"/>
                </a:lnTo>
                <a:lnTo>
                  <a:pt x="3003808" y="52776"/>
                </a:lnTo>
                <a:lnTo>
                  <a:pt x="3011349" y="58728"/>
                </a:lnTo>
                <a:lnTo>
                  <a:pt x="3019684" y="65474"/>
                </a:lnTo>
                <a:lnTo>
                  <a:pt x="3027623" y="72616"/>
                </a:lnTo>
                <a:lnTo>
                  <a:pt x="3035957" y="80553"/>
                </a:lnTo>
                <a:lnTo>
                  <a:pt x="3043896" y="88489"/>
                </a:lnTo>
                <a:lnTo>
                  <a:pt x="3051834" y="97219"/>
                </a:lnTo>
                <a:lnTo>
                  <a:pt x="3059375" y="105949"/>
                </a:lnTo>
                <a:lnTo>
                  <a:pt x="3066917" y="115472"/>
                </a:lnTo>
                <a:lnTo>
                  <a:pt x="3074458" y="125393"/>
                </a:lnTo>
                <a:lnTo>
                  <a:pt x="3080808" y="135313"/>
                </a:lnTo>
                <a:lnTo>
                  <a:pt x="3087556" y="146027"/>
                </a:lnTo>
                <a:lnTo>
                  <a:pt x="3093509" y="157536"/>
                </a:lnTo>
                <a:lnTo>
                  <a:pt x="3099066" y="169439"/>
                </a:lnTo>
                <a:lnTo>
                  <a:pt x="3104226" y="181344"/>
                </a:lnTo>
                <a:lnTo>
                  <a:pt x="3108592" y="194439"/>
                </a:lnTo>
                <a:lnTo>
                  <a:pt x="3112958" y="207534"/>
                </a:lnTo>
                <a:lnTo>
                  <a:pt x="3115339" y="217058"/>
                </a:lnTo>
                <a:lnTo>
                  <a:pt x="3117324" y="226581"/>
                </a:lnTo>
                <a:lnTo>
                  <a:pt x="3119309" y="236502"/>
                </a:lnTo>
                <a:lnTo>
                  <a:pt x="3120499" y="246025"/>
                </a:lnTo>
                <a:lnTo>
                  <a:pt x="3121690" y="256342"/>
                </a:lnTo>
                <a:lnTo>
                  <a:pt x="3122087" y="266263"/>
                </a:lnTo>
                <a:lnTo>
                  <a:pt x="3122484" y="276184"/>
                </a:lnTo>
                <a:lnTo>
                  <a:pt x="3122484" y="286103"/>
                </a:lnTo>
                <a:lnTo>
                  <a:pt x="3121690" y="296024"/>
                </a:lnTo>
                <a:lnTo>
                  <a:pt x="3121293" y="306341"/>
                </a:lnTo>
                <a:lnTo>
                  <a:pt x="3120102" y="316659"/>
                </a:lnTo>
                <a:lnTo>
                  <a:pt x="3118515" y="326976"/>
                </a:lnTo>
                <a:lnTo>
                  <a:pt x="3116530" y="337690"/>
                </a:lnTo>
                <a:lnTo>
                  <a:pt x="3114149" y="348007"/>
                </a:lnTo>
                <a:lnTo>
                  <a:pt x="3111767" y="358325"/>
                </a:lnTo>
                <a:lnTo>
                  <a:pt x="3108592" y="369039"/>
                </a:lnTo>
                <a:lnTo>
                  <a:pt x="3105417" y="379356"/>
                </a:lnTo>
                <a:lnTo>
                  <a:pt x="3101845" y="390466"/>
                </a:lnTo>
                <a:lnTo>
                  <a:pt x="3097479" y="401180"/>
                </a:lnTo>
                <a:lnTo>
                  <a:pt x="3093509" y="411894"/>
                </a:lnTo>
                <a:lnTo>
                  <a:pt x="3088747" y="422609"/>
                </a:lnTo>
                <a:lnTo>
                  <a:pt x="3083587" y="434116"/>
                </a:lnTo>
                <a:lnTo>
                  <a:pt x="3078030" y="444830"/>
                </a:lnTo>
                <a:lnTo>
                  <a:pt x="3072076" y="455940"/>
                </a:lnTo>
                <a:lnTo>
                  <a:pt x="3066123" y="466655"/>
                </a:lnTo>
                <a:lnTo>
                  <a:pt x="3059772" y="477766"/>
                </a:lnTo>
                <a:lnTo>
                  <a:pt x="3052628" y="489274"/>
                </a:lnTo>
                <a:lnTo>
                  <a:pt x="3045483" y="500781"/>
                </a:lnTo>
                <a:lnTo>
                  <a:pt x="3037942" y="511891"/>
                </a:lnTo>
                <a:lnTo>
                  <a:pt x="3030401" y="523400"/>
                </a:lnTo>
                <a:lnTo>
                  <a:pt x="3022066" y="534908"/>
                </a:lnTo>
                <a:lnTo>
                  <a:pt x="3013334" y="546415"/>
                </a:lnTo>
                <a:lnTo>
                  <a:pt x="3013334" y="2104709"/>
                </a:lnTo>
                <a:lnTo>
                  <a:pt x="4604543" y="4495920"/>
                </a:lnTo>
                <a:lnTo>
                  <a:pt x="4606527" y="4504649"/>
                </a:lnTo>
                <a:lnTo>
                  <a:pt x="4608511" y="4511792"/>
                </a:lnTo>
                <a:lnTo>
                  <a:pt x="4612481" y="4530046"/>
                </a:lnTo>
                <a:lnTo>
                  <a:pt x="4614862" y="4542744"/>
                </a:lnTo>
                <a:lnTo>
                  <a:pt x="4617243" y="4558220"/>
                </a:lnTo>
                <a:lnTo>
                  <a:pt x="4619625" y="4575679"/>
                </a:lnTo>
                <a:lnTo>
                  <a:pt x="4622403" y="4595123"/>
                </a:lnTo>
                <a:lnTo>
                  <a:pt x="4624387" y="4616948"/>
                </a:lnTo>
                <a:lnTo>
                  <a:pt x="4625975" y="4639964"/>
                </a:lnTo>
                <a:lnTo>
                  <a:pt x="4627166" y="4664963"/>
                </a:lnTo>
                <a:lnTo>
                  <a:pt x="4627563" y="4691153"/>
                </a:lnTo>
                <a:lnTo>
                  <a:pt x="4627166" y="4718533"/>
                </a:lnTo>
                <a:lnTo>
                  <a:pt x="4626373" y="4733215"/>
                </a:lnTo>
                <a:lnTo>
                  <a:pt x="4625579" y="4747501"/>
                </a:lnTo>
                <a:lnTo>
                  <a:pt x="4624387" y="4762183"/>
                </a:lnTo>
                <a:lnTo>
                  <a:pt x="4623197" y="4777262"/>
                </a:lnTo>
                <a:lnTo>
                  <a:pt x="4621213" y="4792341"/>
                </a:lnTo>
                <a:lnTo>
                  <a:pt x="4618831" y="4807817"/>
                </a:lnTo>
                <a:lnTo>
                  <a:pt x="4616449" y="4823689"/>
                </a:lnTo>
                <a:lnTo>
                  <a:pt x="4614068" y="4839562"/>
                </a:lnTo>
                <a:lnTo>
                  <a:pt x="4610496" y="4855038"/>
                </a:lnTo>
                <a:lnTo>
                  <a:pt x="4606923" y="4870910"/>
                </a:lnTo>
                <a:lnTo>
                  <a:pt x="4602557" y="4887180"/>
                </a:lnTo>
                <a:lnTo>
                  <a:pt x="4598191" y="4903449"/>
                </a:lnTo>
                <a:lnTo>
                  <a:pt x="4593032" y="4919719"/>
                </a:lnTo>
                <a:lnTo>
                  <a:pt x="4587872" y="4935988"/>
                </a:lnTo>
                <a:lnTo>
                  <a:pt x="4581919" y="4952257"/>
                </a:lnTo>
                <a:lnTo>
                  <a:pt x="4575171" y="4968527"/>
                </a:lnTo>
                <a:lnTo>
                  <a:pt x="4568821" y="4985193"/>
                </a:lnTo>
                <a:lnTo>
                  <a:pt x="4560883" y="5001463"/>
                </a:lnTo>
                <a:lnTo>
                  <a:pt x="4552944" y="5017732"/>
                </a:lnTo>
                <a:lnTo>
                  <a:pt x="4544212" y="5033605"/>
                </a:lnTo>
                <a:lnTo>
                  <a:pt x="4535083" y="5049874"/>
                </a:lnTo>
                <a:lnTo>
                  <a:pt x="4525161" y="5066144"/>
                </a:lnTo>
                <a:lnTo>
                  <a:pt x="4514047" y="5082016"/>
                </a:lnTo>
                <a:lnTo>
                  <a:pt x="4503331" y="5097889"/>
                </a:lnTo>
                <a:lnTo>
                  <a:pt x="4491423" y="5112968"/>
                </a:lnTo>
                <a:lnTo>
                  <a:pt x="4478722" y="5128444"/>
                </a:lnTo>
                <a:lnTo>
                  <a:pt x="4465624" y="5143919"/>
                </a:lnTo>
                <a:lnTo>
                  <a:pt x="4451335" y="5158998"/>
                </a:lnTo>
                <a:lnTo>
                  <a:pt x="4437047" y="5173681"/>
                </a:lnTo>
                <a:lnTo>
                  <a:pt x="4421171" y="5188363"/>
                </a:lnTo>
                <a:lnTo>
                  <a:pt x="4404897" y="5202251"/>
                </a:lnTo>
                <a:lnTo>
                  <a:pt x="4387830" y="5216537"/>
                </a:lnTo>
                <a:lnTo>
                  <a:pt x="4369969" y="5230028"/>
                </a:lnTo>
                <a:lnTo>
                  <a:pt x="4351315" y="5243520"/>
                </a:lnTo>
                <a:lnTo>
                  <a:pt x="4331865" y="5256615"/>
                </a:lnTo>
                <a:lnTo>
                  <a:pt x="4311227" y="5268916"/>
                </a:lnTo>
                <a:lnTo>
                  <a:pt x="4290191" y="5281218"/>
                </a:lnTo>
                <a:lnTo>
                  <a:pt x="4267963" y="5293122"/>
                </a:lnTo>
                <a:lnTo>
                  <a:pt x="4255659" y="5299074"/>
                </a:lnTo>
                <a:lnTo>
                  <a:pt x="371507" y="5299074"/>
                </a:lnTo>
                <a:lnTo>
                  <a:pt x="359600" y="5293122"/>
                </a:lnTo>
                <a:lnTo>
                  <a:pt x="337373" y="5281218"/>
                </a:lnTo>
                <a:lnTo>
                  <a:pt x="315940" y="5268916"/>
                </a:lnTo>
                <a:lnTo>
                  <a:pt x="295301" y="5256615"/>
                </a:lnTo>
                <a:lnTo>
                  <a:pt x="275852" y="5243520"/>
                </a:lnTo>
                <a:lnTo>
                  <a:pt x="257197" y="5230028"/>
                </a:lnTo>
                <a:lnTo>
                  <a:pt x="239336" y="5216537"/>
                </a:lnTo>
                <a:lnTo>
                  <a:pt x="222269" y="5202251"/>
                </a:lnTo>
                <a:lnTo>
                  <a:pt x="205996" y="5188363"/>
                </a:lnTo>
                <a:lnTo>
                  <a:pt x="190517" y="5173681"/>
                </a:lnTo>
                <a:lnTo>
                  <a:pt x="175831" y="5158998"/>
                </a:lnTo>
                <a:lnTo>
                  <a:pt x="161939" y="5143919"/>
                </a:lnTo>
                <a:lnTo>
                  <a:pt x="148841" y="5128444"/>
                </a:lnTo>
                <a:lnTo>
                  <a:pt x="135743" y="5112968"/>
                </a:lnTo>
                <a:lnTo>
                  <a:pt x="124233" y="5097889"/>
                </a:lnTo>
                <a:lnTo>
                  <a:pt x="113119" y="5082016"/>
                </a:lnTo>
                <a:lnTo>
                  <a:pt x="102403" y="5066144"/>
                </a:lnTo>
                <a:lnTo>
                  <a:pt x="92480" y="5049874"/>
                </a:lnTo>
                <a:lnTo>
                  <a:pt x="82954" y="5033605"/>
                </a:lnTo>
                <a:lnTo>
                  <a:pt x="74222" y="5017732"/>
                </a:lnTo>
                <a:lnTo>
                  <a:pt x="66284" y="5001463"/>
                </a:lnTo>
                <a:lnTo>
                  <a:pt x="59140" y="4985193"/>
                </a:lnTo>
                <a:lnTo>
                  <a:pt x="51995" y="4968527"/>
                </a:lnTo>
                <a:lnTo>
                  <a:pt x="45248" y="4952257"/>
                </a:lnTo>
                <a:lnTo>
                  <a:pt x="39294" y="4935988"/>
                </a:lnTo>
                <a:lnTo>
                  <a:pt x="34134" y="4919719"/>
                </a:lnTo>
                <a:lnTo>
                  <a:pt x="28975" y="4903449"/>
                </a:lnTo>
                <a:lnTo>
                  <a:pt x="24609" y="4887180"/>
                </a:lnTo>
                <a:lnTo>
                  <a:pt x="20243" y="4870910"/>
                </a:lnTo>
                <a:lnTo>
                  <a:pt x="17067" y="4855038"/>
                </a:lnTo>
                <a:lnTo>
                  <a:pt x="13495" y="4839562"/>
                </a:lnTo>
                <a:lnTo>
                  <a:pt x="10717" y="4823689"/>
                </a:lnTo>
                <a:lnTo>
                  <a:pt x="8335" y="4807817"/>
                </a:lnTo>
                <a:lnTo>
                  <a:pt x="6351" y="4792341"/>
                </a:lnTo>
                <a:lnTo>
                  <a:pt x="4366" y="4777262"/>
                </a:lnTo>
                <a:lnTo>
                  <a:pt x="2779" y="4762183"/>
                </a:lnTo>
                <a:lnTo>
                  <a:pt x="1588" y="4747501"/>
                </a:lnTo>
                <a:lnTo>
                  <a:pt x="794" y="4733215"/>
                </a:lnTo>
                <a:lnTo>
                  <a:pt x="397" y="4718533"/>
                </a:lnTo>
                <a:lnTo>
                  <a:pt x="0" y="4691153"/>
                </a:lnTo>
                <a:lnTo>
                  <a:pt x="397" y="4664963"/>
                </a:lnTo>
                <a:lnTo>
                  <a:pt x="1191" y="4639964"/>
                </a:lnTo>
                <a:lnTo>
                  <a:pt x="2779" y="4616948"/>
                </a:lnTo>
                <a:lnTo>
                  <a:pt x="4763" y="4595123"/>
                </a:lnTo>
                <a:lnTo>
                  <a:pt x="7542" y="4575679"/>
                </a:lnTo>
                <a:lnTo>
                  <a:pt x="9923" y="4558220"/>
                </a:lnTo>
                <a:lnTo>
                  <a:pt x="12304" y="4542744"/>
                </a:lnTo>
                <a:lnTo>
                  <a:pt x="15083" y="4530046"/>
                </a:lnTo>
                <a:lnTo>
                  <a:pt x="19052" y="4511792"/>
                </a:lnTo>
                <a:lnTo>
                  <a:pt x="20640" y="4504649"/>
                </a:lnTo>
                <a:lnTo>
                  <a:pt x="23418" y="4495920"/>
                </a:lnTo>
                <a:lnTo>
                  <a:pt x="1614229" y="2104709"/>
                </a:lnTo>
                <a:lnTo>
                  <a:pt x="1614229" y="546415"/>
                </a:lnTo>
                <a:lnTo>
                  <a:pt x="1605497" y="534908"/>
                </a:lnTo>
                <a:lnTo>
                  <a:pt x="1597559" y="523400"/>
                </a:lnTo>
                <a:lnTo>
                  <a:pt x="1589621" y="511891"/>
                </a:lnTo>
                <a:lnTo>
                  <a:pt x="1582080" y="500781"/>
                </a:lnTo>
                <a:lnTo>
                  <a:pt x="1574539" y="489274"/>
                </a:lnTo>
                <a:lnTo>
                  <a:pt x="1567791" y="477766"/>
                </a:lnTo>
                <a:lnTo>
                  <a:pt x="1561044" y="466655"/>
                </a:lnTo>
                <a:lnTo>
                  <a:pt x="1555090" y="455940"/>
                </a:lnTo>
                <a:lnTo>
                  <a:pt x="1549136" y="444830"/>
                </a:lnTo>
                <a:lnTo>
                  <a:pt x="1543580" y="434116"/>
                </a:lnTo>
                <a:lnTo>
                  <a:pt x="1538817" y="422609"/>
                </a:lnTo>
                <a:lnTo>
                  <a:pt x="1534054" y="411894"/>
                </a:lnTo>
                <a:lnTo>
                  <a:pt x="1529688" y="401180"/>
                </a:lnTo>
                <a:lnTo>
                  <a:pt x="1525322" y="390466"/>
                </a:lnTo>
                <a:lnTo>
                  <a:pt x="1522147" y="379356"/>
                </a:lnTo>
                <a:lnTo>
                  <a:pt x="1518971" y="369039"/>
                </a:lnTo>
                <a:lnTo>
                  <a:pt x="1515796" y="358325"/>
                </a:lnTo>
                <a:lnTo>
                  <a:pt x="1513018" y="348007"/>
                </a:lnTo>
                <a:lnTo>
                  <a:pt x="1511033" y="337690"/>
                </a:lnTo>
                <a:lnTo>
                  <a:pt x="1509049" y="326976"/>
                </a:lnTo>
                <a:lnTo>
                  <a:pt x="1507461" y="316659"/>
                </a:lnTo>
                <a:lnTo>
                  <a:pt x="1506270" y="306341"/>
                </a:lnTo>
                <a:lnTo>
                  <a:pt x="1505476" y="296024"/>
                </a:lnTo>
                <a:lnTo>
                  <a:pt x="1505079" y="286103"/>
                </a:lnTo>
                <a:lnTo>
                  <a:pt x="1505079" y="276184"/>
                </a:lnTo>
                <a:lnTo>
                  <a:pt x="1505079" y="266263"/>
                </a:lnTo>
                <a:lnTo>
                  <a:pt x="1505873" y="256342"/>
                </a:lnTo>
                <a:lnTo>
                  <a:pt x="1506667" y="246025"/>
                </a:lnTo>
                <a:lnTo>
                  <a:pt x="1508255" y="236502"/>
                </a:lnTo>
                <a:lnTo>
                  <a:pt x="1510239" y="226581"/>
                </a:lnTo>
                <a:lnTo>
                  <a:pt x="1512224" y="217058"/>
                </a:lnTo>
                <a:lnTo>
                  <a:pt x="1514208" y="207534"/>
                </a:lnTo>
                <a:lnTo>
                  <a:pt x="1518574" y="194439"/>
                </a:lnTo>
                <a:lnTo>
                  <a:pt x="1522940" y="181344"/>
                </a:lnTo>
                <a:lnTo>
                  <a:pt x="1528497" y="169439"/>
                </a:lnTo>
                <a:lnTo>
                  <a:pt x="1533657" y="157536"/>
                </a:lnTo>
                <a:lnTo>
                  <a:pt x="1540007" y="146027"/>
                </a:lnTo>
                <a:lnTo>
                  <a:pt x="1546358" y="135313"/>
                </a:lnTo>
                <a:lnTo>
                  <a:pt x="1553502" y="125393"/>
                </a:lnTo>
                <a:lnTo>
                  <a:pt x="1560250" y="115472"/>
                </a:lnTo>
                <a:lnTo>
                  <a:pt x="1567791" y="105949"/>
                </a:lnTo>
                <a:lnTo>
                  <a:pt x="1575729" y="97219"/>
                </a:lnTo>
                <a:lnTo>
                  <a:pt x="1583271" y="88489"/>
                </a:lnTo>
                <a:lnTo>
                  <a:pt x="1591606" y="80553"/>
                </a:lnTo>
                <a:lnTo>
                  <a:pt x="1599544" y="72616"/>
                </a:lnTo>
                <a:lnTo>
                  <a:pt x="1607879" y="65474"/>
                </a:lnTo>
                <a:lnTo>
                  <a:pt x="1615817" y="58728"/>
                </a:lnTo>
                <a:lnTo>
                  <a:pt x="1623358" y="52776"/>
                </a:lnTo>
                <a:lnTo>
                  <a:pt x="1631693" y="46427"/>
                </a:lnTo>
                <a:lnTo>
                  <a:pt x="1639235" y="40871"/>
                </a:lnTo>
                <a:lnTo>
                  <a:pt x="1654317" y="30951"/>
                </a:lnTo>
                <a:lnTo>
                  <a:pt x="1668606" y="22618"/>
                </a:lnTo>
                <a:lnTo>
                  <a:pt x="1680910" y="15872"/>
                </a:lnTo>
                <a:lnTo>
                  <a:pt x="1691230" y="11110"/>
                </a:lnTo>
                <a:lnTo>
                  <a:pt x="1699565" y="6745"/>
                </a:lnTo>
                <a:lnTo>
                  <a:pt x="1708297" y="3571"/>
                </a:lnTo>
                <a:lnTo>
                  <a:pt x="1717823" y="0"/>
                </a:lnTo>
                <a:close/>
              </a:path>
            </a:pathLst>
          </a:custGeom>
          <a:solidFill>
            <a:schemeClr val="bg1"/>
          </a:solidFill>
          <a:ln>
            <a:noFill/>
          </a:ln>
        </p:spPr>
        <p:txBody>
          <a:bodyPr anchor="ctr"/>
          <a:lstStyle/>
          <a:p>
            <a:endParaRPr lang="zh-CN" altLang="en-US" sz="2551"/>
          </a:p>
        </p:txBody>
      </p:sp>
      <p:sp>
        <p:nvSpPr>
          <p:cNvPr id="9" name="内容占位符 2">
            <a:extLst>
              <a:ext uri="{FF2B5EF4-FFF2-40B4-BE49-F238E27FC236}">
                <a16:creationId xmlns:a16="http://schemas.microsoft.com/office/drawing/2014/main" id="{8E4CF785-82D4-4C40-A2F5-244068527AA8}"/>
              </a:ext>
            </a:extLst>
          </p:cNvPr>
          <p:cNvSpPr>
            <a:spLocks noGrp="1"/>
          </p:cNvSpPr>
          <p:nvPr>
            <p:ph idx="1"/>
          </p:nvPr>
        </p:nvSpPr>
        <p:spPr>
          <a:xfrm>
            <a:off x="273599" y="1674088"/>
            <a:ext cx="16790340" cy="7701430"/>
          </a:xfrm>
        </p:spPr>
        <p:txBody>
          <a:bodyPr>
            <a:normAutofit/>
          </a:bodyPr>
          <a:lstStyle>
            <a:lvl1pPr>
              <a:lnSpc>
                <a:spcPct val="150000"/>
              </a:lnSpc>
              <a:defRPr sz="2400">
                <a:solidFill>
                  <a:schemeClr val="tx1">
                    <a:lumMod val="65000"/>
                    <a:lumOff val="35000"/>
                  </a:schemeClr>
                </a:solidFill>
              </a:defRPr>
            </a:lvl1pPr>
            <a:lvl2pPr>
              <a:lnSpc>
                <a:spcPct val="150000"/>
              </a:lnSpc>
              <a:defRPr sz="2400">
                <a:solidFill>
                  <a:schemeClr val="tx1">
                    <a:lumMod val="65000"/>
                    <a:lumOff val="35000"/>
                  </a:schemeClr>
                </a:solidFill>
              </a:defRPr>
            </a:lvl2pPr>
            <a:lvl3pPr>
              <a:lnSpc>
                <a:spcPct val="150000"/>
              </a:lnSpc>
              <a:defRPr sz="2400">
                <a:solidFill>
                  <a:schemeClr val="tx1">
                    <a:lumMod val="65000"/>
                    <a:lumOff val="35000"/>
                  </a:schemeClr>
                </a:solidFill>
              </a:defRPr>
            </a:lvl3pPr>
            <a:lvl4pPr>
              <a:lnSpc>
                <a:spcPct val="150000"/>
              </a:lnSpc>
              <a:defRPr sz="2400">
                <a:solidFill>
                  <a:schemeClr val="tx1">
                    <a:lumMod val="65000"/>
                    <a:lumOff val="35000"/>
                  </a:schemeClr>
                </a:solidFill>
              </a:defRPr>
            </a:lvl4pPr>
            <a:lvl5pPr>
              <a:lnSpc>
                <a:spcPct val="150000"/>
              </a:lnSpc>
              <a:defRPr sz="24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40711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0" name="标题 1"/>
          <p:cNvSpPr>
            <a:spLocks noGrp="1"/>
          </p:cNvSpPr>
          <p:nvPr>
            <p:ph type="title" hasCustomPrompt="1"/>
          </p:nvPr>
        </p:nvSpPr>
        <p:spPr>
          <a:xfrm>
            <a:off x="7112512" y="2873990"/>
            <a:ext cx="9890698" cy="1623349"/>
          </a:xfrm>
        </p:spPr>
        <p:txBody>
          <a:bodyPr anchor="b">
            <a:normAutofit/>
          </a:bodyPr>
          <a:lstStyle>
            <a:lvl1pPr>
              <a:defRPr sz="4800" b="1">
                <a:solidFill>
                  <a:schemeClr val="tx1">
                    <a:lumMod val="85000"/>
                    <a:lumOff val="15000"/>
                  </a:schemeClr>
                </a:solidFill>
              </a:defRPr>
            </a:lvl1pPr>
          </a:lstStyle>
          <a:p>
            <a:r>
              <a:rPr lang="zh-CN" altLang="en-US" dirty="0"/>
              <a:t>单击此处添加幻灯片章节标题</a:t>
            </a:r>
          </a:p>
        </p:txBody>
      </p:sp>
      <p:sp>
        <p:nvSpPr>
          <p:cNvPr id="21" name="文本占位符 2"/>
          <p:cNvSpPr>
            <a:spLocks noGrp="1"/>
          </p:cNvSpPr>
          <p:nvPr>
            <p:ph type="body" idx="1"/>
          </p:nvPr>
        </p:nvSpPr>
        <p:spPr>
          <a:xfrm>
            <a:off x="7112512" y="4592660"/>
            <a:ext cx="9890698" cy="1439505"/>
          </a:xfrm>
        </p:spPr>
        <p:txBody>
          <a:bodyPr anchor="t">
            <a:normAutofit/>
          </a:bodyPr>
          <a:lstStyle>
            <a:lvl1pPr marL="0" indent="0">
              <a:buNone/>
              <a:defRPr sz="2400" b="0">
                <a:solidFill>
                  <a:schemeClr val="tx1">
                    <a:lumMod val="50000"/>
                    <a:lumOff val="50000"/>
                  </a:schemeClr>
                </a:solidFill>
              </a:defRPr>
            </a:lvl1pPr>
            <a:lvl2pPr marL="457199" indent="0">
              <a:buNone/>
              <a:defRPr sz="2000">
                <a:solidFill>
                  <a:schemeClr val="tx1">
                    <a:tint val="75000"/>
                  </a:schemeClr>
                </a:solidFill>
              </a:defRPr>
            </a:lvl2pPr>
            <a:lvl3pPr marL="914397" indent="0">
              <a:buNone/>
              <a:defRPr sz="1800">
                <a:solidFill>
                  <a:schemeClr val="tx1">
                    <a:tint val="75000"/>
                  </a:schemeClr>
                </a:solidFill>
              </a:defRPr>
            </a:lvl3pPr>
            <a:lvl4pPr marL="1371596" indent="0">
              <a:buNone/>
              <a:defRPr sz="1600">
                <a:solidFill>
                  <a:schemeClr val="tx1">
                    <a:tint val="75000"/>
                  </a:schemeClr>
                </a:solidFill>
              </a:defRPr>
            </a:lvl4pPr>
            <a:lvl5pPr marL="1828795" indent="0">
              <a:buNone/>
              <a:defRPr sz="1600">
                <a:solidFill>
                  <a:schemeClr val="tx1">
                    <a:tint val="75000"/>
                  </a:schemeClr>
                </a:solidFill>
              </a:defRPr>
            </a:lvl5pPr>
            <a:lvl6pPr marL="2285993" indent="0">
              <a:buNone/>
              <a:defRPr sz="1600">
                <a:solidFill>
                  <a:schemeClr val="tx1">
                    <a:tint val="75000"/>
                  </a:schemeClr>
                </a:solidFill>
              </a:defRPr>
            </a:lvl6pPr>
            <a:lvl7pPr marL="2743191" indent="0">
              <a:buNone/>
              <a:defRPr sz="1600">
                <a:solidFill>
                  <a:schemeClr val="tx1">
                    <a:tint val="75000"/>
                  </a:schemeClr>
                </a:solidFill>
              </a:defRPr>
            </a:lvl7pPr>
            <a:lvl8pPr marL="3200390" indent="0">
              <a:buNone/>
              <a:defRPr sz="1600">
                <a:solidFill>
                  <a:schemeClr val="tx1">
                    <a:tint val="75000"/>
                  </a:schemeClr>
                </a:solidFill>
              </a:defRPr>
            </a:lvl8pPr>
            <a:lvl9pPr marL="3657590" indent="0">
              <a:buNone/>
              <a:defRPr sz="1600">
                <a:solidFill>
                  <a:schemeClr val="tx1">
                    <a:tint val="75000"/>
                  </a:schemeClr>
                </a:solidFill>
              </a:defRPr>
            </a:lvl9pPr>
          </a:lstStyle>
          <a:p>
            <a:pPr lvl="0"/>
            <a:r>
              <a:rPr lang="zh-CN" altLang="en-US" dirty="0"/>
              <a:t>单击此处编辑母版文本样式</a:t>
            </a:r>
          </a:p>
        </p:txBody>
      </p:sp>
      <p:grpSp>
        <p:nvGrpSpPr>
          <p:cNvPr id="9" name="Group 103"/>
          <p:cNvGrpSpPr/>
          <p:nvPr userDrawn="1"/>
        </p:nvGrpSpPr>
        <p:grpSpPr>
          <a:xfrm>
            <a:off x="-154544" y="0"/>
            <a:ext cx="8076058" cy="9798978"/>
            <a:chOff x="4843448" y="0"/>
            <a:chExt cx="5652356" cy="6858000"/>
          </a:xfrm>
        </p:grpSpPr>
        <p:sp>
          <p:nvSpPr>
            <p:cNvPr id="10" name="Freeform 27"/>
            <p:cNvSpPr>
              <a:spLocks/>
            </p:cNvSpPr>
            <p:nvPr/>
          </p:nvSpPr>
          <p:spPr bwMode="auto">
            <a:xfrm>
              <a:off x="5407219" y="0"/>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1" name="Freeform 28"/>
            <p:cNvSpPr>
              <a:spLocks/>
            </p:cNvSpPr>
            <p:nvPr/>
          </p:nvSpPr>
          <p:spPr bwMode="auto">
            <a:xfrm>
              <a:off x="5973431" y="0"/>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2" name="Freeform 29"/>
            <p:cNvSpPr>
              <a:spLocks/>
            </p:cNvSpPr>
            <p:nvPr/>
          </p:nvSpPr>
          <p:spPr bwMode="auto">
            <a:xfrm>
              <a:off x="6539643" y="0"/>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6" name="Freeform 30"/>
            <p:cNvSpPr>
              <a:spLocks/>
            </p:cNvSpPr>
            <p:nvPr/>
          </p:nvSpPr>
          <p:spPr bwMode="auto">
            <a:xfrm>
              <a:off x="7103415" y="0"/>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7" name="Freeform 31"/>
            <p:cNvSpPr>
              <a:spLocks/>
            </p:cNvSpPr>
            <p:nvPr/>
          </p:nvSpPr>
          <p:spPr bwMode="auto">
            <a:xfrm>
              <a:off x="7669627" y="0"/>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8" name="Freeform 32"/>
            <p:cNvSpPr>
              <a:spLocks/>
            </p:cNvSpPr>
            <p:nvPr/>
          </p:nvSpPr>
          <p:spPr bwMode="auto">
            <a:xfrm>
              <a:off x="8799609" y="0"/>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19" name="Freeform 33"/>
            <p:cNvSpPr>
              <a:spLocks/>
            </p:cNvSpPr>
            <p:nvPr/>
          </p:nvSpPr>
          <p:spPr bwMode="auto">
            <a:xfrm>
              <a:off x="9365821" y="0"/>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2" name="Freeform 36"/>
            <p:cNvSpPr>
              <a:spLocks/>
            </p:cNvSpPr>
            <p:nvPr/>
          </p:nvSpPr>
          <p:spPr bwMode="auto">
            <a:xfrm>
              <a:off x="4843448" y="978669"/>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3" name="Freeform 37"/>
            <p:cNvSpPr>
              <a:spLocks/>
            </p:cNvSpPr>
            <p:nvPr/>
          </p:nvSpPr>
          <p:spPr bwMode="auto">
            <a:xfrm>
              <a:off x="5407219" y="981109"/>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4" name="Freeform 38"/>
            <p:cNvSpPr>
              <a:spLocks/>
            </p:cNvSpPr>
            <p:nvPr/>
          </p:nvSpPr>
          <p:spPr bwMode="auto">
            <a:xfrm>
              <a:off x="5973431" y="978669"/>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5" name="Freeform 39"/>
            <p:cNvSpPr>
              <a:spLocks/>
            </p:cNvSpPr>
            <p:nvPr/>
          </p:nvSpPr>
          <p:spPr bwMode="auto">
            <a:xfrm>
              <a:off x="7103415" y="981109"/>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6" name="Freeform 40"/>
            <p:cNvSpPr>
              <a:spLocks/>
            </p:cNvSpPr>
            <p:nvPr/>
          </p:nvSpPr>
          <p:spPr bwMode="auto">
            <a:xfrm>
              <a:off x="7669627" y="978669"/>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7" name="Freeform 41"/>
            <p:cNvSpPr>
              <a:spLocks/>
            </p:cNvSpPr>
            <p:nvPr/>
          </p:nvSpPr>
          <p:spPr bwMode="auto">
            <a:xfrm>
              <a:off x="8235839" y="981109"/>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8" name="Freeform 42"/>
            <p:cNvSpPr>
              <a:spLocks/>
            </p:cNvSpPr>
            <p:nvPr/>
          </p:nvSpPr>
          <p:spPr bwMode="auto">
            <a:xfrm>
              <a:off x="8799609" y="978669"/>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29" name="Freeform 43"/>
            <p:cNvSpPr>
              <a:spLocks/>
            </p:cNvSpPr>
            <p:nvPr/>
          </p:nvSpPr>
          <p:spPr bwMode="auto">
            <a:xfrm>
              <a:off x="9365821" y="981109"/>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0" name="Freeform 46"/>
            <p:cNvSpPr>
              <a:spLocks/>
            </p:cNvSpPr>
            <p:nvPr/>
          </p:nvSpPr>
          <p:spPr bwMode="auto">
            <a:xfrm>
              <a:off x="4843448" y="1957336"/>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1" name="Freeform 47"/>
            <p:cNvSpPr>
              <a:spLocks/>
            </p:cNvSpPr>
            <p:nvPr/>
          </p:nvSpPr>
          <p:spPr bwMode="auto">
            <a:xfrm>
              <a:off x="5973431" y="1957336"/>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2" name="Freeform 48"/>
            <p:cNvSpPr>
              <a:spLocks/>
            </p:cNvSpPr>
            <p:nvPr/>
          </p:nvSpPr>
          <p:spPr bwMode="auto">
            <a:xfrm>
              <a:off x="6539643" y="1957336"/>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3" name="Freeform 49"/>
            <p:cNvSpPr>
              <a:spLocks/>
            </p:cNvSpPr>
            <p:nvPr/>
          </p:nvSpPr>
          <p:spPr bwMode="auto">
            <a:xfrm>
              <a:off x="7103415" y="1957336"/>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4" name="Freeform 50"/>
            <p:cNvSpPr>
              <a:spLocks/>
            </p:cNvSpPr>
            <p:nvPr/>
          </p:nvSpPr>
          <p:spPr bwMode="auto">
            <a:xfrm>
              <a:off x="7669627" y="1957336"/>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5" name="Freeform 51"/>
            <p:cNvSpPr>
              <a:spLocks/>
            </p:cNvSpPr>
            <p:nvPr/>
          </p:nvSpPr>
          <p:spPr bwMode="auto">
            <a:xfrm>
              <a:off x="8235839" y="1957336"/>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6" name="Freeform 52"/>
            <p:cNvSpPr>
              <a:spLocks/>
            </p:cNvSpPr>
            <p:nvPr/>
          </p:nvSpPr>
          <p:spPr bwMode="auto">
            <a:xfrm>
              <a:off x="9365821" y="1957336"/>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7" name="Freeform 56"/>
            <p:cNvSpPr>
              <a:spLocks/>
            </p:cNvSpPr>
            <p:nvPr/>
          </p:nvSpPr>
          <p:spPr bwMode="auto">
            <a:xfrm>
              <a:off x="4843448" y="2936005"/>
              <a:ext cx="1129983" cy="981109"/>
            </a:xfrm>
            <a:custGeom>
              <a:avLst/>
              <a:gdLst>
                <a:gd name="T0" fmla="*/ 463 w 463"/>
                <a:gd name="T1" fmla="*/ 0 h 402"/>
                <a:gd name="T2" fmla="*/ 231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1" y="402"/>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8" name="Freeform 57"/>
            <p:cNvSpPr>
              <a:spLocks/>
            </p:cNvSpPr>
            <p:nvPr/>
          </p:nvSpPr>
          <p:spPr bwMode="auto">
            <a:xfrm>
              <a:off x="5407219" y="2936005"/>
              <a:ext cx="1132424" cy="981109"/>
            </a:xfrm>
            <a:custGeom>
              <a:avLst/>
              <a:gdLst>
                <a:gd name="T0" fmla="*/ 0 w 464"/>
                <a:gd name="T1" fmla="*/ 402 h 402"/>
                <a:gd name="T2" fmla="*/ 232 w 464"/>
                <a:gd name="T3" fmla="*/ 0 h 402"/>
                <a:gd name="T4" fmla="*/ 464 w 464"/>
                <a:gd name="T5" fmla="*/ 402 h 402"/>
                <a:gd name="T6" fmla="*/ 0 w 464"/>
                <a:gd name="T7" fmla="*/ 402 h 402"/>
              </a:gdLst>
              <a:ahLst/>
              <a:cxnLst>
                <a:cxn ang="0">
                  <a:pos x="T0" y="T1"/>
                </a:cxn>
                <a:cxn ang="0">
                  <a:pos x="T2" y="T3"/>
                </a:cxn>
                <a:cxn ang="0">
                  <a:pos x="T4" y="T5"/>
                </a:cxn>
                <a:cxn ang="0">
                  <a:pos x="T6" y="T7"/>
                </a:cxn>
              </a:cxnLst>
              <a:rect l="0" t="0" r="r" b="b"/>
              <a:pathLst>
                <a:path w="464" h="402">
                  <a:moveTo>
                    <a:pt x="0" y="402"/>
                  </a:moveTo>
                  <a:lnTo>
                    <a:pt x="232" y="0"/>
                  </a:lnTo>
                  <a:lnTo>
                    <a:pt x="464" y="402"/>
                  </a:lnTo>
                  <a:lnTo>
                    <a:pt x="0" y="402"/>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39" name="Freeform 58"/>
            <p:cNvSpPr>
              <a:spLocks/>
            </p:cNvSpPr>
            <p:nvPr/>
          </p:nvSpPr>
          <p:spPr bwMode="auto">
            <a:xfrm>
              <a:off x="5973431" y="2936005"/>
              <a:ext cx="1129983" cy="981109"/>
            </a:xfrm>
            <a:custGeom>
              <a:avLst/>
              <a:gdLst>
                <a:gd name="T0" fmla="*/ 463 w 463"/>
                <a:gd name="T1" fmla="*/ 0 h 402"/>
                <a:gd name="T2" fmla="*/ 232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2" y="402"/>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0" name="Freeform 59"/>
            <p:cNvSpPr>
              <a:spLocks/>
            </p:cNvSpPr>
            <p:nvPr/>
          </p:nvSpPr>
          <p:spPr bwMode="auto">
            <a:xfrm>
              <a:off x="6539643" y="2936005"/>
              <a:ext cx="1129983" cy="981109"/>
            </a:xfrm>
            <a:custGeom>
              <a:avLst/>
              <a:gdLst>
                <a:gd name="T0" fmla="*/ 0 w 463"/>
                <a:gd name="T1" fmla="*/ 402 h 402"/>
                <a:gd name="T2" fmla="*/ 231 w 463"/>
                <a:gd name="T3" fmla="*/ 0 h 402"/>
                <a:gd name="T4" fmla="*/ 463 w 463"/>
                <a:gd name="T5" fmla="*/ 402 h 402"/>
                <a:gd name="T6" fmla="*/ 0 w 463"/>
                <a:gd name="T7" fmla="*/ 402 h 402"/>
              </a:gdLst>
              <a:ahLst/>
              <a:cxnLst>
                <a:cxn ang="0">
                  <a:pos x="T0" y="T1"/>
                </a:cxn>
                <a:cxn ang="0">
                  <a:pos x="T2" y="T3"/>
                </a:cxn>
                <a:cxn ang="0">
                  <a:pos x="T4" y="T5"/>
                </a:cxn>
                <a:cxn ang="0">
                  <a:pos x="T6" y="T7"/>
                </a:cxn>
              </a:cxnLst>
              <a:rect l="0" t="0" r="r" b="b"/>
              <a:pathLst>
                <a:path w="463" h="402">
                  <a:moveTo>
                    <a:pt x="0" y="402"/>
                  </a:moveTo>
                  <a:lnTo>
                    <a:pt x="231" y="0"/>
                  </a:lnTo>
                  <a:lnTo>
                    <a:pt x="463" y="402"/>
                  </a:lnTo>
                  <a:lnTo>
                    <a:pt x="0" y="402"/>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1" name="Freeform 60"/>
            <p:cNvSpPr>
              <a:spLocks/>
            </p:cNvSpPr>
            <p:nvPr/>
          </p:nvSpPr>
          <p:spPr bwMode="auto">
            <a:xfrm>
              <a:off x="7103415" y="2936005"/>
              <a:ext cx="1132424" cy="981109"/>
            </a:xfrm>
            <a:custGeom>
              <a:avLst/>
              <a:gdLst>
                <a:gd name="T0" fmla="*/ 464 w 464"/>
                <a:gd name="T1" fmla="*/ 0 h 402"/>
                <a:gd name="T2" fmla="*/ 232 w 464"/>
                <a:gd name="T3" fmla="*/ 402 h 402"/>
                <a:gd name="T4" fmla="*/ 0 w 464"/>
                <a:gd name="T5" fmla="*/ 0 h 402"/>
                <a:gd name="T6" fmla="*/ 464 w 464"/>
                <a:gd name="T7" fmla="*/ 0 h 402"/>
              </a:gdLst>
              <a:ahLst/>
              <a:cxnLst>
                <a:cxn ang="0">
                  <a:pos x="T0" y="T1"/>
                </a:cxn>
                <a:cxn ang="0">
                  <a:pos x="T2" y="T3"/>
                </a:cxn>
                <a:cxn ang="0">
                  <a:pos x="T4" y="T5"/>
                </a:cxn>
                <a:cxn ang="0">
                  <a:pos x="T6" y="T7"/>
                </a:cxn>
              </a:cxnLst>
              <a:rect l="0" t="0" r="r" b="b"/>
              <a:pathLst>
                <a:path w="464" h="402">
                  <a:moveTo>
                    <a:pt x="464" y="0"/>
                  </a:moveTo>
                  <a:lnTo>
                    <a:pt x="232" y="402"/>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2" name="Freeform 61"/>
            <p:cNvSpPr>
              <a:spLocks/>
            </p:cNvSpPr>
            <p:nvPr/>
          </p:nvSpPr>
          <p:spPr bwMode="auto">
            <a:xfrm>
              <a:off x="8235839" y="2936005"/>
              <a:ext cx="1129983" cy="981109"/>
            </a:xfrm>
            <a:custGeom>
              <a:avLst/>
              <a:gdLst>
                <a:gd name="T0" fmla="*/ 463 w 463"/>
                <a:gd name="T1" fmla="*/ 0 h 402"/>
                <a:gd name="T2" fmla="*/ 231 w 463"/>
                <a:gd name="T3" fmla="*/ 402 h 402"/>
                <a:gd name="T4" fmla="*/ 0 w 463"/>
                <a:gd name="T5" fmla="*/ 0 h 402"/>
                <a:gd name="T6" fmla="*/ 463 w 463"/>
                <a:gd name="T7" fmla="*/ 0 h 402"/>
              </a:gdLst>
              <a:ahLst/>
              <a:cxnLst>
                <a:cxn ang="0">
                  <a:pos x="T0" y="T1"/>
                </a:cxn>
                <a:cxn ang="0">
                  <a:pos x="T2" y="T3"/>
                </a:cxn>
                <a:cxn ang="0">
                  <a:pos x="T4" y="T5"/>
                </a:cxn>
                <a:cxn ang="0">
                  <a:pos x="T6" y="T7"/>
                </a:cxn>
              </a:cxnLst>
              <a:rect l="0" t="0" r="r" b="b"/>
              <a:pathLst>
                <a:path w="463" h="402">
                  <a:moveTo>
                    <a:pt x="463" y="0"/>
                  </a:moveTo>
                  <a:lnTo>
                    <a:pt x="231" y="402"/>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3" name="Freeform 62"/>
            <p:cNvSpPr>
              <a:spLocks/>
            </p:cNvSpPr>
            <p:nvPr/>
          </p:nvSpPr>
          <p:spPr bwMode="auto">
            <a:xfrm>
              <a:off x="8799609" y="2936005"/>
              <a:ext cx="1132424" cy="981109"/>
            </a:xfrm>
            <a:custGeom>
              <a:avLst/>
              <a:gdLst>
                <a:gd name="T0" fmla="*/ 0 w 464"/>
                <a:gd name="T1" fmla="*/ 402 h 402"/>
                <a:gd name="T2" fmla="*/ 232 w 464"/>
                <a:gd name="T3" fmla="*/ 0 h 402"/>
                <a:gd name="T4" fmla="*/ 464 w 464"/>
                <a:gd name="T5" fmla="*/ 402 h 402"/>
                <a:gd name="T6" fmla="*/ 0 w 464"/>
                <a:gd name="T7" fmla="*/ 402 h 402"/>
              </a:gdLst>
              <a:ahLst/>
              <a:cxnLst>
                <a:cxn ang="0">
                  <a:pos x="T0" y="T1"/>
                </a:cxn>
                <a:cxn ang="0">
                  <a:pos x="T2" y="T3"/>
                </a:cxn>
                <a:cxn ang="0">
                  <a:pos x="T4" y="T5"/>
                </a:cxn>
                <a:cxn ang="0">
                  <a:pos x="T6" y="T7"/>
                </a:cxn>
              </a:cxnLst>
              <a:rect l="0" t="0" r="r" b="b"/>
              <a:pathLst>
                <a:path w="464" h="402">
                  <a:moveTo>
                    <a:pt x="0" y="402"/>
                  </a:moveTo>
                  <a:lnTo>
                    <a:pt x="232" y="0"/>
                  </a:lnTo>
                  <a:lnTo>
                    <a:pt x="464" y="402"/>
                  </a:lnTo>
                  <a:lnTo>
                    <a:pt x="0" y="402"/>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4" name="Freeform 65"/>
            <p:cNvSpPr>
              <a:spLocks/>
            </p:cNvSpPr>
            <p:nvPr/>
          </p:nvSpPr>
          <p:spPr bwMode="auto">
            <a:xfrm>
              <a:off x="5407219" y="3917114"/>
              <a:ext cx="1132424" cy="983550"/>
            </a:xfrm>
            <a:custGeom>
              <a:avLst/>
              <a:gdLst>
                <a:gd name="T0" fmla="*/ 464 w 464"/>
                <a:gd name="T1" fmla="*/ 0 h 403"/>
                <a:gd name="T2" fmla="*/ 232 w 464"/>
                <a:gd name="T3" fmla="*/ 403 h 403"/>
                <a:gd name="T4" fmla="*/ 0 w 464"/>
                <a:gd name="T5" fmla="*/ 0 h 403"/>
                <a:gd name="T6" fmla="*/ 464 w 464"/>
                <a:gd name="T7" fmla="*/ 0 h 403"/>
              </a:gdLst>
              <a:ahLst/>
              <a:cxnLst>
                <a:cxn ang="0">
                  <a:pos x="T0" y="T1"/>
                </a:cxn>
                <a:cxn ang="0">
                  <a:pos x="T2" y="T3"/>
                </a:cxn>
                <a:cxn ang="0">
                  <a:pos x="T4" y="T5"/>
                </a:cxn>
                <a:cxn ang="0">
                  <a:pos x="T6" y="T7"/>
                </a:cxn>
              </a:cxnLst>
              <a:rect l="0" t="0" r="r" b="b"/>
              <a:pathLst>
                <a:path w="464" h="403">
                  <a:moveTo>
                    <a:pt x="464" y="0"/>
                  </a:moveTo>
                  <a:lnTo>
                    <a:pt x="232" y="403"/>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5" name="Freeform 66"/>
            <p:cNvSpPr>
              <a:spLocks/>
            </p:cNvSpPr>
            <p:nvPr/>
          </p:nvSpPr>
          <p:spPr bwMode="auto">
            <a:xfrm>
              <a:off x="6539643" y="3917114"/>
              <a:ext cx="1129983" cy="983550"/>
            </a:xfrm>
            <a:custGeom>
              <a:avLst/>
              <a:gdLst>
                <a:gd name="T0" fmla="*/ 463 w 463"/>
                <a:gd name="T1" fmla="*/ 0 h 403"/>
                <a:gd name="T2" fmla="*/ 231 w 463"/>
                <a:gd name="T3" fmla="*/ 403 h 403"/>
                <a:gd name="T4" fmla="*/ 0 w 463"/>
                <a:gd name="T5" fmla="*/ 0 h 403"/>
                <a:gd name="T6" fmla="*/ 463 w 463"/>
                <a:gd name="T7" fmla="*/ 0 h 403"/>
              </a:gdLst>
              <a:ahLst/>
              <a:cxnLst>
                <a:cxn ang="0">
                  <a:pos x="T0" y="T1"/>
                </a:cxn>
                <a:cxn ang="0">
                  <a:pos x="T2" y="T3"/>
                </a:cxn>
                <a:cxn ang="0">
                  <a:pos x="T4" y="T5"/>
                </a:cxn>
                <a:cxn ang="0">
                  <a:pos x="T6" y="T7"/>
                </a:cxn>
              </a:cxnLst>
              <a:rect l="0" t="0" r="r" b="b"/>
              <a:pathLst>
                <a:path w="463" h="403">
                  <a:moveTo>
                    <a:pt x="463" y="0"/>
                  </a:moveTo>
                  <a:lnTo>
                    <a:pt x="231" y="403"/>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6" name="Freeform 67"/>
            <p:cNvSpPr>
              <a:spLocks/>
            </p:cNvSpPr>
            <p:nvPr/>
          </p:nvSpPr>
          <p:spPr bwMode="auto">
            <a:xfrm>
              <a:off x="7103415" y="3917114"/>
              <a:ext cx="1132424" cy="983550"/>
            </a:xfrm>
            <a:custGeom>
              <a:avLst/>
              <a:gdLst>
                <a:gd name="T0" fmla="*/ 0 w 464"/>
                <a:gd name="T1" fmla="*/ 403 h 403"/>
                <a:gd name="T2" fmla="*/ 232 w 464"/>
                <a:gd name="T3" fmla="*/ 0 h 403"/>
                <a:gd name="T4" fmla="*/ 464 w 464"/>
                <a:gd name="T5" fmla="*/ 403 h 403"/>
                <a:gd name="T6" fmla="*/ 0 w 464"/>
                <a:gd name="T7" fmla="*/ 403 h 403"/>
              </a:gdLst>
              <a:ahLst/>
              <a:cxnLst>
                <a:cxn ang="0">
                  <a:pos x="T0" y="T1"/>
                </a:cxn>
                <a:cxn ang="0">
                  <a:pos x="T2" y="T3"/>
                </a:cxn>
                <a:cxn ang="0">
                  <a:pos x="T4" y="T5"/>
                </a:cxn>
                <a:cxn ang="0">
                  <a:pos x="T6" y="T7"/>
                </a:cxn>
              </a:cxnLst>
              <a:rect l="0" t="0" r="r" b="b"/>
              <a:pathLst>
                <a:path w="464" h="403">
                  <a:moveTo>
                    <a:pt x="0" y="403"/>
                  </a:moveTo>
                  <a:lnTo>
                    <a:pt x="232" y="0"/>
                  </a:lnTo>
                  <a:lnTo>
                    <a:pt x="464" y="403"/>
                  </a:lnTo>
                  <a:lnTo>
                    <a:pt x="0" y="403"/>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7" name="Freeform 68"/>
            <p:cNvSpPr>
              <a:spLocks/>
            </p:cNvSpPr>
            <p:nvPr/>
          </p:nvSpPr>
          <p:spPr bwMode="auto">
            <a:xfrm>
              <a:off x="7669627" y="3917114"/>
              <a:ext cx="1129983" cy="983550"/>
            </a:xfrm>
            <a:custGeom>
              <a:avLst/>
              <a:gdLst>
                <a:gd name="T0" fmla="*/ 463 w 463"/>
                <a:gd name="T1" fmla="*/ 0 h 403"/>
                <a:gd name="T2" fmla="*/ 232 w 463"/>
                <a:gd name="T3" fmla="*/ 403 h 403"/>
                <a:gd name="T4" fmla="*/ 0 w 463"/>
                <a:gd name="T5" fmla="*/ 0 h 403"/>
                <a:gd name="T6" fmla="*/ 463 w 463"/>
                <a:gd name="T7" fmla="*/ 0 h 403"/>
              </a:gdLst>
              <a:ahLst/>
              <a:cxnLst>
                <a:cxn ang="0">
                  <a:pos x="T0" y="T1"/>
                </a:cxn>
                <a:cxn ang="0">
                  <a:pos x="T2" y="T3"/>
                </a:cxn>
                <a:cxn ang="0">
                  <a:pos x="T4" y="T5"/>
                </a:cxn>
                <a:cxn ang="0">
                  <a:pos x="T6" y="T7"/>
                </a:cxn>
              </a:cxnLst>
              <a:rect l="0" t="0" r="r" b="b"/>
              <a:pathLst>
                <a:path w="463" h="403">
                  <a:moveTo>
                    <a:pt x="463" y="0"/>
                  </a:moveTo>
                  <a:lnTo>
                    <a:pt x="232" y="403"/>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8" name="Freeform 69"/>
            <p:cNvSpPr>
              <a:spLocks/>
            </p:cNvSpPr>
            <p:nvPr/>
          </p:nvSpPr>
          <p:spPr bwMode="auto">
            <a:xfrm>
              <a:off x="8235839" y="3917114"/>
              <a:ext cx="1129983" cy="983550"/>
            </a:xfrm>
            <a:custGeom>
              <a:avLst/>
              <a:gdLst>
                <a:gd name="T0" fmla="*/ 0 w 463"/>
                <a:gd name="T1" fmla="*/ 403 h 403"/>
                <a:gd name="T2" fmla="*/ 231 w 463"/>
                <a:gd name="T3" fmla="*/ 0 h 403"/>
                <a:gd name="T4" fmla="*/ 463 w 463"/>
                <a:gd name="T5" fmla="*/ 403 h 403"/>
                <a:gd name="T6" fmla="*/ 0 w 463"/>
                <a:gd name="T7" fmla="*/ 403 h 403"/>
              </a:gdLst>
              <a:ahLst/>
              <a:cxnLst>
                <a:cxn ang="0">
                  <a:pos x="T0" y="T1"/>
                </a:cxn>
                <a:cxn ang="0">
                  <a:pos x="T2" y="T3"/>
                </a:cxn>
                <a:cxn ang="0">
                  <a:pos x="T4" y="T5"/>
                </a:cxn>
                <a:cxn ang="0">
                  <a:pos x="T6" y="T7"/>
                </a:cxn>
              </a:cxnLst>
              <a:rect l="0" t="0" r="r" b="b"/>
              <a:pathLst>
                <a:path w="463" h="403">
                  <a:moveTo>
                    <a:pt x="0" y="403"/>
                  </a:moveTo>
                  <a:lnTo>
                    <a:pt x="231" y="0"/>
                  </a:lnTo>
                  <a:lnTo>
                    <a:pt x="463" y="403"/>
                  </a:lnTo>
                  <a:lnTo>
                    <a:pt x="0" y="403"/>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49" name="Freeform 70"/>
            <p:cNvSpPr>
              <a:spLocks/>
            </p:cNvSpPr>
            <p:nvPr/>
          </p:nvSpPr>
          <p:spPr bwMode="auto">
            <a:xfrm>
              <a:off x="8799609" y="3917114"/>
              <a:ext cx="1132424" cy="983550"/>
            </a:xfrm>
            <a:custGeom>
              <a:avLst/>
              <a:gdLst>
                <a:gd name="T0" fmla="*/ 464 w 464"/>
                <a:gd name="T1" fmla="*/ 0 h 403"/>
                <a:gd name="T2" fmla="*/ 232 w 464"/>
                <a:gd name="T3" fmla="*/ 403 h 403"/>
                <a:gd name="T4" fmla="*/ 0 w 464"/>
                <a:gd name="T5" fmla="*/ 0 h 403"/>
                <a:gd name="T6" fmla="*/ 464 w 464"/>
                <a:gd name="T7" fmla="*/ 0 h 403"/>
              </a:gdLst>
              <a:ahLst/>
              <a:cxnLst>
                <a:cxn ang="0">
                  <a:pos x="T0" y="T1"/>
                </a:cxn>
                <a:cxn ang="0">
                  <a:pos x="T2" y="T3"/>
                </a:cxn>
                <a:cxn ang="0">
                  <a:pos x="T4" y="T5"/>
                </a:cxn>
                <a:cxn ang="0">
                  <a:pos x="T6" y="T7"/>
                </a:cxn>
              </a:cxnLst>
              <a:rect l="0" t="0" r="r" b="b"/>
              <a:pathLst>
                <a:path w="464" h="403">
                  <a:moveTo>
                    <a:pt x="464" y="0"/>
                  </a:moveTo>
                  <a:lnTo>
                    <a:pt x="232" y="403"/>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0" name="Freeform 71"/>
            <p:cNvSpPr>
              <a:spLocks/>
            </p:cNvSpPr>
            <p:nvPr/>
          </p:nvSpPr>
          <p:spPr bwMode="auto">
            <a:xfrm>
              <a:off x="9365821" y="3917114"/>
              <a:ext cx="1129983" cy="983550"/>
            </a:xfrm>
            <a:custGeom>
              <a:avLst/>
              <a:gdLst>
                <a:gd name="T0" fmla="*/ 0 w 463"/>
                <a:gd name="T1" fmla="*/ 403 h 403"/>
                <a:gd name="T2" fmla="*/ 232 w 463"/>
                <a:gd name="T3" fmla="*/ 0 h 403"/>
                <a:gd name="T4" fmla="*/ 463 w 463"/>
                <a:gd name="T5" fmla="*/ 403 h 403"/>
                <a:gd name="T6" fmla="*/ 0 w 463"/>
                <a:gd name="T7" fmla="*/ 403 h 403"/>
              </a:gdLst>
              <a:ahLst/>
              <a:cxnLst>
                <a:cxn ang="0">
                  <a:pos x="T0" y="T1"/>
                </a:cxn>
                <a:cxn ang="0">
                  <a:pos x="T2" y="T3"/>
                </a:cxn>
                <a:cxn ang="0">
                  <a:pos x="T4" y="T5"/>
                </a:cxn>
                <a:cxn ang="0">
                  <a:pos x="T6" y="T7"/>
                </a:cxn>
              </a:cxnLst>
              <a:rect l="0" t="0" r="r" b="b"/>
              <a:pathLst>
                <a:path w="463" h="403">
                  <a:moveTo>
                    <a:pt x="0" y="403"/>
                  </a:moveTo>
                  <a:lnTo>
                    <a:pt x="232" y="0"/>
                  </a:lnTo>
                  <a:lnTo>
                    <a:pt x="463" y="403"/>
                  </a:lnTo>
                  <a:lnTo>
                    <a:pt x="0" y="403"/>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3" name="Freeform 74"/>
            <p:cNvSpPr>
              <a:spLocks/>
            </p:cNvSpPr>
            <p:nvPr/>
          </p:nvSpPr>
          <p:spPr bwMode="auto">
            <a:xfrm>
              <a:off x="4843448" y="4900662"/>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4" name="Freeform 75"/>
            <p:cNvSpPr>
              <a:spLocks/>
            </p:cNvSpPr>
            <p:nvPr/>
          </p:nvSpPr>
          <p:spPr bwMode="auto">
            <a:xfrm>
              <a:off x="5407219" y="4900662"/>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5" name="Freeform 76"/>
            <p:cNvSpPr>
              <a:spLocks/>
            </p:cNvSpPr>
            <p:nvPr/>
          </p:nvSpPr>
          <p:spPr bwMode="auto">
            <a:xfrm>
              <a:off x="5973431" y="4900662"/>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6" name="Freeform 77"/>
            <p:cNvSpPr>
              <a:spLocks/>
            </p:cNvSpPr>
            <p:nvPr/>
          </p:nvSpPr>
          <p:spPr bwMode="auto">
            <a:xfrm>
              <a:off x="6539643" y="4900662"/>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7" name="Freeform 78"/>
            <p:cNvSpPr>
              <a:spLocks/>
            </p:cNvSpPr>
            <p:nvPr/>
          </p:nvSpPr>
          <p:spPr bwMode="auto">
            <a:xfrm>
              <a:off x="7669627" y="4900662"/>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8" name="Freeform 79"/>
            <p:cNvSpPr>
              <a:spLocks/>
            </p:cNvSpPr>
            <p:nvPr/>
          </p:nvSpPr>
          <p:spPr bwMode="auto">
            <a:xfrm>
              <a:off x="8235839" y="4900662"/>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59" name="Freeform 80"/>
            <p:cNvSpPr>
              <a:spLocks/>
            </p:cNvSpPr>
            <p:nvPr/>
          </p:nvSpPr>
          <p:spPr bwMode="auto">
            <a:xfrm>
              <a:off x="9365821" y="4900662"/>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0" name="Freeform 84"/>
            <p:cNvSpPr>
              <a:spLocks/>
            </p:cNvSpPr>
            <p:nvPr/>
          </p:nvSpPr>
          <p:spPr bwMode="auto">
            <a:xfrm>
              <a:off x="4843448" y="5879331"/>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1" name="Freeform 85"/>
            <p:cNvSpPr>
              <a:spLocks/>
            </p:cNvSpPr>
            <p:nvPr/>
          </p:nvSpPr>
          <p:spPr bwMode="auto">
            <a:xfrm>
              <a:off x="5407219" y="5879331"/>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2" name="Freeform 86"/>
            <p:cNvSpPr>
              <a:spLocks/>
            </p:cNvSpPr>
            <p:nvPr/>
          </p:nvSpPr>
          <p:spPr bwMode="auto">
            <a:xfrm>
              <a:off x="6539643" y="5879331"/>
              <a:ext cx="1129983" cy="978669"/>
            </a:xfrm>
            <a:custGeom>
              <a:avLst/>
              <a:gdLst>
                <a:gd name="T0" fmla="*/ 463 w 463"/>
                <a:gd name="T1" fmla="*/ 0 h 401"/>
                <a:gd name="T2" fmla="*/ 231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1"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3" name="Freeform 87"/>
            <p:cNvSpPr>
              <a:spLocks/>
            </p:cNvSpPr>
            <p:nvPr/>
          </p:nvSpPr>
          <p:spPr bwMode="auto">
            <a:xfrm>
              <a:off x="7103415" y="5879331"/>
              <a:ext cx="1132424" cy="978669"/>
            </a:xfrm>
            <a:custGeom>
              <a:avLst/>
              <a:gdLst>
                <a:gd name="T0" fmla="*/ 0 w 464"/>
                <a:gd name="T1" fmla="*/ 401 h 401"/>
                <a:gd name="T2" fmla="*/ 232 w 464"/>
                <a:gd name="T3" fmla="*/ 0 h 401"/>
                <a:gd name="T4" fmla="*/ 464 w 464"/>
                <a:gd name="T5" fmla="*/ 401 h 401"/>
                <a:gd name="T6" fmla="*/ 0 w 464"/>
                <a:gd name="T7" fmla="*/ 401 h 401"/>
              </a:gdLst>
              <a:ahLst/>
              <a:cxnLst>
                <a:cxn ang="0">
                  <a:pos x="T0" y="T1"/>
                </a:cxn>
                <a:cxn ang="0">
                  <a:pos x="T2" y="T3"/>
                </a:cxn>
                <a:cxn ang="0">
                  <a:pos x="T4" y="T5"/>
                </a:cxn>
                <a:cxn ang="0">
                  <a:pos x="T6" y="T7"/>
                </a:cxn>
              </a:cxnLst>
              <a:rect l="0" t="0" r="r" b="b"/>
              <a:pathLst>
                <a:path w="464" h="401">
                  <a:moveTo>
                    <a:pt x="0" y="401"/>
                  </a:moveTo>
                  <a:lnTo>
                    <a:pt x="232" y="0"/>
                  </a:lnTo>
                  <a:lnTo>
                    <a:pt x="464" y="401"/>
                  </a:lnTo>
                  <a:lnTo>
                    <a:pt x="0" y="401"/>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4" name="Freeform 88"/>
            <p:cNvSpPr>
              <a:spLocks/>
            </p:cNvSpPr>
            <p:nvPr/>
          </p:nvSpPr>
          <p:spPr bwMode="auto">
            <a:xfrm>
              <a:off x="7669627" y="5879331"/>
              <a:ext cx="1129983" cy="978669"/>
            </a:xfrm>
            <a:custGeom>
              <a:avLst/>
              <a:gdLst>
                <a:gd name="T0" fmla="*/ 463 w 463"/>
                <a:gd name="T1" fmla="*/ 0 h 401"/>
                <a:gd name="T2" fmla="*/ 232 w 463"/>
                <a:gd name="T3" fmla="*/ 401 h 401"/>
                <a:gd name="T4" fmla="*/ 0 w 463"/>
                <a:gd name="T5" fmla="*/ 0 h 401"/>
                <a:gd name="T6" fmla="*/ 463 w 463"/>
                <a:gd name="T7" fmla="*/ 0 h 401"/>
              </a:gdLst>
              <a:ahLst/>
              <a:cxnLst>
                <a:cxn ang="0">
                  <a:pos x="T0" y="T1"/>
                </a:cxn>
                <a:cxn ang="0">
                  <a:pos x="T2" y="T3"/>
                </a:cxn>
                <a:cxn ang="0">
                  <a:pos x="T4" y="T5"/>
                </a:cxn>
                <a:cxn ang="0">
                  <a:pos x="T6" y="T7"/>
                </a:cxn>
              </a:cxnLst>
              <a:rect l="0" t="0" r="r" b="b"/>
              <a:pathLst>
                <a:path w="463" h="401">
                  <a:moveTo>
                    <a:pt x="463" y="0"/>
                  </a:moveTo>
                  <a:lnTo>
                    <a:pt x="232" y="401"/>
                  </a:lnTo>
                  <a:lnTo>
                    <a:pt x="0" y="0"/>
                  </a:lnTo>
                  <a:lnTo>
                    <a:pt x="463" y="0"/>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5" name="Freeform 89"/>
            <p:cNvSpPr>
              <a:spLocks/>
            </p:cNvSpPr>
            <p:nvPr/>
          </p:nvSpPr>
          <p:spPr bwMode="auto">
            <a:xfrm>
              <a:off x="8235839" y="5879331"/>
              <a:ext cx="1129983" cy="978669"/>
            </a:xfrm>
            <a:custGeom>
              <a:avLst/>
              <a:gdLst>
                <a:gd name="T0" fmla="*/ 0 w 463"/>
                <a:gd name="T1" fmla="*/ 401 h 401"/>
                <a:gd name="T2" fmla="*/ 231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1"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6" name="Freeform 90"/>
            <p:cNvSpPr>
              <a:spLocks/>
            </p:cNvSpPr>
            <p:nvPr/>
          </p:nvSpPr>
          <p:spPr bwMode="auto">
            <a:xfrm>
              <a:off x="8799609" y="5879331"/>
              <a:ext cx="1132424" cy="978669"/>
            </a:xfrm>
            <a:custGeom>
              <a:avLst/>
              <a:gdLst>
                <a:gd name="T0" fmla="*/ 464 w 464"/>
                <a:gd name="T1" fmla="*/ 0 h 401"/>
                <a:gd name="T2" fmla="*/ 232 w 464"/>
                <a:gd name="T3" fmla="*/ 401 h 401"/>
                <a:gd name="T4" fmla="*/ 0 w 464"/>
                <a:gd name="T5" fmla="*/ 0 h 401"/>
                <a:gd name="T6" fmla="*/ 464 w 464"/>
                <a:gd name="T7" fmla="*/ 0 h 401"/>
              </a:gdLst>
              <a:ahLst/>
              <a:cxnLst>
                <a:cxn ang="0">
                  <a:pos x="T0" y="T1"/>
                </a:cxn>
                <a:cxn ang="0">
                  <a:pos x="T2" y="T3"/>
                </a:cxn>
                <a:cxn ang="0">
                  <a:pos x="T4" y="T5"/>
                </a:cxn>
                <a:cxn ang="0">
                  <a:pos x="T6" y="T7"/>
                </a:cxn>
              </a:cxnLst>
              <a:rect l="0" t="0" r="r" b="b"/>
              <a:pathLst>
                <a:path w="464" h="401">
                  <a:moveTo>
                    <a:pt x="464" y="0"/>
                  </a:moveTo>
                  <a:lnTo>
                    <a:pt x="232" y="401"/>
                  </a:lnTo>
                  <a:lnTo>
                    <a:pt x="0" y="0"/>
                  </a:lnTo>
                  <a:lnTo>
                    <a:pt x="464" y="0"/>
                  </a:lnTo>
                  <a:close/>
                </a:path>
              </a:pathLst>
            </a:custGeom>
            <a:solidFill>
              <a:schemeClr val="tx2">
                <a:alpha val="10000"/>
              </a:schemeClr>
            </a:solidFill>
            <a:ln>
              <a:noFill/>
            </a:ln>
          </p:spPr>
          <p:txBody>
            <a:bodyPr vert="horz" wrap="square" lIns="68580" tIns="34290" rIns="68580" bIns="34290" numCol="1" anchor="t" anchorCtr="0" compatLnSpc="1">
              <a:prstTxWarp prst="textNoShape">
                <a:avLst/>
              </a:prstTxWarp>
            </a:bodyPr>
            <a:lstStyle/>
            <a:p>
              <a:endParaRPr lang="id-ID" sz="1350"/>
            </a:p>
          </p:txBody>
        </p:sp>
        <p:sp>
          <p:nvSpPr>
            <p:cNvPr id="67" name="Freeform 91"/>
            <p:cNvSpPr>
              <a:spLocks/>
            </p:cNvSpPr>
            <p:nvPr/>
          </p:nvSpPr>
          <p:spPr bwMode="auto">
            <a:xfrm>
              <a:off x="9365821" y="5879331"/>
              <a:ext cx="1129983" cy="978669"/>
            </a:xfrm>
            <a:custGeom>
              <a:avLst/>
              <a:gdLst>
                <a:gd name="T0" fmla="*/ 0 w 463"/>
                <a:gd name="T1" fmla="*/ 401 h 401"/>
                <a:gd name="T2" fmla="*/ 232 w 463"/>
                <a:gd name="T3" fmla="*/ 0 h 401"/>
                <a:gd name="T4" fmla="*/ 463 w 463"/>
                <a:gd name="T5" fmla="*/ 401 h 401"/>
                <a:gd name="T6" fmla="*/ 0 w 463"/>
                <a:gd name="T7" fmla="*/ 401 h 401"/>
              </a:gdLst>
              <a:ahLst/>
              <a:cxnLst>
                <a:cxn ang="0">
                  <a:pos x="T0" y="T1"/>
                </a:cxn>
                <a:cxn ang="0">
                  <a:pos x="T2" y="T3"/>
                </a:cxn>
                <a:cxn ang="0">
                  <a:pos x="T4" y="T5"/>
                </a:cxn>
                <a:cxn ang="0">
                  <a:pos x="T6" y="T7"/>
                </a:cxn>
              </a:cxnLst>
              <a:rect l="0" t="0" r="r" b="b"/>
              <a:pathLst>
                <a:path w="463" h="401">
                  <a:moveTo>
                    <a:pt x="0" y="401"/>
                  </a:moveTo>
                  <a:lnTo>
                    <a:pt x="232" y="0"/>
                  </a:lnTo>
                  <a:lnTo>
                    <a:pt x="463" y="401"/>
                  </a:lnTo>
                  <a:lnTo>
                    <a:pt x="0" y="401"/>
                  </a:lnTo>
                  <a:close/>
                </a:path>
              </a:pathLst>
            </a:custGeom>
            <a:solidFill>
              <a:schemeClr val="bg2">
                <a:lumMod val="60000"/>
                <a:lumOff val="40000"/>
                <a:alpha val="15000"/>
              </a:schemeClr>
            </a:solidFill>
            <a:ln>
              <a:noFill/>
            </a:ln>
          </p:spPr>
          <p:txBody>
            <a:bodyPr vert="horz" wrap="square" lIns="68580" tIns="34290" rIns="68580" bIns="34290" numCol="1" anchor="t" anchorCtr="0" compatLnSpc="1">
              <a:prstTxWarp prst="textNoShape">
                <a:avLst/>
              </a:prstTxWarp>
            </a:bodyPr>
            <a:lstStyle/>
            <a:p>
              <a:endParaRPr lang="id-ID" sz="1350"/>
            </a:p>
          </p:txBody>
        </p:sp>
      </p:grpSp>
      <p:cxnSp>
        <p:nvCxnSpPr>
          <p:cNvPr id="3" name="直接连接符 2"/>
          <p:cNvCxnSpPr>
            <a:cxnSpLocks/>
          </p:cNvCxnSpPr>
          <p:nvPr userDrawn="1"/>
        </p:nvCxnSpPr>
        <p:spPr>
          <a:xfrm>
            <a:off x="7112513" y="4497339"/>
            <a:ext cx="989069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2414"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1594172"/>
            <a:ext cx="7690472" cy="787391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1594172"/>
            <a:ext cx="7631973" cy="787391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902789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949497" y="1503885"/>
            <a:ext cx="15466444" cy="906774"/>
          </a:xfrm>
        </p:spPr>
        <p:txBody>
          <a:bodyPr anchor="b">
            <a:noAutofit/>
          </a:bodyPr>
          <a:lstStyle>
            <a:lvl1pPr marL="285763" indent="-285763">
              <a:buFont typeface="Arial" panose="020B0604020202020204" pitchFamily="34" charset="0"/>
              <a:buChar char="•"/>
              <a:defRPr sz="2800" b="0">
                <a:latin typeface="微软雅黑" panose="020B0503020204020204" pitchFamily="34" charset="-122"/>
                <a:ea typeface="微软雅黑" panose="020B0503020204020204" pitchFamily="34" charset="-122"/>
              </a:defRPr>
            </a:lvl1pPr>
            <a:lvl2pPr marL="742985" indent="-285763">
              <a:buFont typeface="Arial" panose="020B0604020202020204" pitchFamily="34" charset="0"/>
              <a:buChar char="•"/>
              <a:defRPr sz="1400" b="0"/>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949497" y="2524497"/>
            <a:ext cx="7690472" cy="690886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8777971" y="2524497"/>
            <a:ext cx="7637972" cy="6908869"/>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62229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6"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949497" y="1597305"/>
            <a:ext cx="7690472" cy="813353"/>
          </a:xfrm>
        </p:spPr>
        <p:txBody>
          <a:bodyPr anchor="b">
            <a:normAutofit/>
          </a:bodyPr>
          <a:lstStyle>
            <a:lvl1pPr marL="0" indent="0">
              <a:buNone/>
              <a:defRPr sz="2800" b="0">
                <a:latin typeface="微软雅黑" panose="020B0503020204020204" pitchFamily="34" charset="-122"/>
                <a:ea typeface="微软雅黑" panose="020B0503020204020204" pitchFamily="34" charset="-122"/>
              </a:defRPr>
            </a:lvl1pPr>
            <a:lvl2pPr marL="457222" indent="0">
              <a:buNone/>
              <a:defRPr sz="2000" b="1"/>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949497" y="2524498"/>
            <a:ext cx="7690472" cy="695516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8777971" y="1597305"/>
            <a:ext cx="7637972" cy="813353"/>
          </a:xfrm>
        </p:spPr>
        <p:txBody>
          <a:bodyPr anchor="b">
            <a:normAutofit/>
          </a:bodyPr>
          <a:lstStyle>
            <a:lvl1pPr marL="0" indent="0">
              <a:buNone/>
              <a:defRPr sz="2800" b="0">
                <a:latin typeface="微软雅黑" panose="020B0503020204020204" pitchFamily="34" charset="-122"/>
                <a:ea typeface="微软雅黑" panose="020B0503020204020204" pitchFamily="34" charset="-122"/>
              </a:defRPr>
            </a:lvl1pPr>
            <a:lvl2pPr marL="457222" indent="0">
              <a:buNone/>
              <a:defRPr sz="2000" b="1"/>
            </a:lvl2pPr>
            <a:lvl3pPr marL="914443" indent="0">
              <a:buNone/>
              <a:defRPr sz="1800" b="1"/>
            </a:lvl3pPr>
            <a:lvl4pPr marL="1371665" indent="0">
              <a:buNone/>
              <a:defRPr sz="1600" b="1"/>
            </a:lvl4pPr>
            <a:lvl5pPr marL="1828886" indent="0">
              <a:buNone/>
              <a:defRPr sz="1600" b="1"/>
            </a:lvl5pPr>
            <a:lvl6pPr marL="2286107" indent="0">
              <a:buNone/>
              <a:defRPr sz="1600" b="1"/>
            </a:lvl6pPr>
            <a:lvl7pPr marL="2743328" indent="0">
              <a:buNone/>
              <a:defRPr sz="1600" b="1"/>
            </a:lvl7pPr>
            <a:lvl8pPr marL="3200550" indent="0">
              <a:buNone/>
              <a:defRPr sz="1600" b="1"/>
            </a:lvl8pPr>
            <a:lvl9pPr marL="3657771"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8777971" y="2524498"/>
            <a:ext cx="7637972" cy="695516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6082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3439"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6" y="2"/>
            <a:ext cx="15466443"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2398426"/>
            <a:ext cx="15466444" cy="345059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949497" y="5923082"/>
            <a:ext cx="15466444" cy="3602880"/>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sz="half" idx="13"/>
          </p:nvPr>
        </p:nvSpPr>
        <p:spPr>
          <a:xfrm>
            <a:off x="949497" y="1594168"/>
            <a:ext cx="15466444" cy="714430"/>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596006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4463"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2278402"/>
            <a:ext cx="15466444" cy="3069894"/>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p:txBody>
      </p:sp>
      <p:sp>
        <p:nvSpPr>
          <p:cNvPr id="4" name="内容占位符 3"/>
          <p:cNvSpPr>
            <a:spLocks noGrp="1"/>
          </p:cNvSpPr>
          <p:nvPr>
            <p:ph sz="half" idx="2"/>
          </p:nvPr>
        </p:nvSpPr>
        <p:spPr>
          <a:xfrm>
            <a:off x="949497" y="6297434"/>
            <a:ext cx="15466444" cy="3205380"/>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p:txBody>
      </p:sp>
      <p:sp>
        <p:nvSpPr>
          <p:cNvPr id="10" name="内容占位符 2"/>
          <p:cNvSpPr>
            <a:spLocks noGrp="1"/>
          </p:cNvSpPr>
          <p:nvPr>
            <p:ph sz="half" idx="12"/>
          </p:nvPr>
        </p:nvSpPr>
        <p:spPr>
          <a:xfrm>
            <a:off x="949497" y="1575853"/>
            <a:ext cx="15466444" cy="702549"/>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
        <p:nvSpPr>
          <p:cNvPr id="11" name="内容占位符 2"/>
          <p:cNvSpPr>
            <a:spLocks noGrp="1"/>
          </p:cNvSpPr>
          <p:nvPr>
            <p:ph sz="half" idx="13"/>
          </p:nvPr>
        </p:nvSpPr>
        <p:spPr>
          <a:xfrm>
            <a:off x="949497" y="5570951"/>
            <a:ext cx="15466444" cy="691758"/>
          </a:xfrm>
        </p:spPr>
        <p:txBody>
          <a:bodyPr>
            <a:no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3257523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949497" y="2"/>
            <a:ext cx="15466444"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内容占位符 3"/>
          <p:cNvSpPr>
            <a:spLocks noGrp="1"/>
          </p:cNvSpPr>
          <p:nvPr>
            <p:ph sz="half" idx="2"/>
          </p:nvPr>
        </p:nvSpPr>
        <p:spPr>
          <a:xfrm>
            <a:off x="949496" y="1620456"/>
            <a:ext cx="8626303" cy="781291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a:p>
            <a:pPr lvl="2"/>
            <a:r>
              <a:rPr lang="zh-CN" altLang="en-US" dirty="0"/>
              <a:t>第三级</a:t>
            </a:r>
          </a:p>
        </p:txBody>
      </p:sp>
      <p:sp>
        <p:nvSpPr>
          <p:cNvPr id="6" name="内容占位符 5"/>
          <p:cNvSpPr>
            <a:spLocks noGrp="1"/>
          </p:cNvSpPr>
          <p:nvPr>
            <p:ph sz="quarter" idx="4"/>
          </p:nvPr>
        </p:nvSpPr>
        <p:spPr>
          <a:xfrm>
            <a:off x="9715497" y="1620456"/>
            <a:ext cx="6700443" cy="3842795"/>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p:txBody>
      </p:sp>
      <p:sp>
        <p:nvSpPr>
          <p:cNvPr id="7" name="内容占位符 5">
            <a:extLst>
              <a:ext uri="{FF2B5EF4-FFF2-40B4-BE49-F238E27FC236}">
                <a16:creationId xmlns:a16="http://schemas.microsoft.com/office/drawing/2014/main" id="{A40475CB-32A8-449D-B508-CAF3FA851943}"/>
              </a:ext>
            </a:extLst>
          </p:cNvPr>
          <p:cNvSpPr>
            <a:spLocks noGrp="1"/>
          </p:cNvSpPr>
          <p:nvPr>
            <p:ph sz="quarter" idx="10"/>
          </p:nvPr>
        </p:nvSpPr>
        <p:spPr>
          <a:xfrm>
            <a:off x="9715499" y="5567423"/>
            <a:ext cx="6700443" cy="38659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编辑母版文本样式</a:t>
            </a:r>
          </a:p>
          <a:p>
            <a:pPr lvl="1"/>
            <a:r>
              <a:rPr lang="zh-CN" altLang="en-US" dirty="0"/>
              <a:t>第二级</a:t>
            </a:r>
          </a:p>
        </p:txBody>
      </p:sp>
    </p:spTree>
    <p:extLst>
      <p:ext uri="{BB962C8B-B14F-4D97-AF65-F5344CB8AC3E}">
        <p14:creationId xmlns:p14="http://schemas.microsoft.com/office/powerpoint/2010/main" val="1492297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5487"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7" y="2"/>
            <a:ext cx="15631640"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1621996"/>
            <a:ext cx="495448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086047" y="1621996"/>
            <a:ext cx="515651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3"/>
          <p:cNvSpPr>
            <a:spLocks noGrp="1"/>
          </p:cNvSpPr>
          <p:nvPr>
            <p:ph sz="half" idx="12"/>
          </p:nvPr>
        </p:nvSpPr>
        <p:spPr>
          <a:xfrm>
            <a:off x="11424625" y="1621996"/>
            <a:ext cx="5156512" cy="7915543"/>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3679981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6511"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a:xfrm>
            <a:off x="949496" y="2"/>
            <a:ext cx="15631639" cy="1458038"/>
          </a:xfrm>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2434620"/>
            <a:ext cx="495448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086047" y="2434620"/>
            <a:ext cx="515651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3"/>
          <p:cNvSpPr>
            <a:spLocks noGrp="1"/>
          </p:cNvSpPr>
          <p:nvPr>
            <p:ph sz="half" idx="12"/>
          </p:nvPr>
        </p:nvSpPr>
        <p:spPr>
          <a:xfrm>
            <a:off x="11424625" y="2434620"/>
            <a:ext cx="5156512" cy="6987172"/>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1" name="内容占位符 2"/>
          <p:cNvSpPr>
            <a:spLocks noGrp="1"/>
          </p:cNvSpPr>
          <p:nvPr>
            <p:ph sz="half" idx="13"/>
          </p:nvPr>
        </p:nvSpPr>
        <p:spPr>
          <a:xfrm>
            <a:off x="949497" y="1566149"/>
            <a:ext cx="15631640" cy="760362"/>
          </a:xfrm>
        </p:spPr>
        <p:txBody>
          <a:bodyPr>
            <a:norm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2022830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7534"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949497" y="1594172"/>
            <a:ext cx="7546474" cy="373773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1594172"/>
            <a:ext cx="7631973" cy="3737731"/>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2"/>
          <p:cNvSpPr>
            <a:spLocks noGrp="1"/>
          </p:cNvSpPr>
          <p:nvPr>
            <p:ph sz="half" idx="12"/>
          </p:nvPr>
        </p:nvSpPr>
        <p:spPr>
          <a:xfrm>
            <a:off x="949497" y="5464134"/>
            <a:ext cx="7546474" cy="395765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内容占位符 3"/>
          <p:cNvSpPr>
            <a:spLocks noGrp="1"/>
          </p:cNvSpPr>
          <p:nvPr>
            <p:ph sz="half" idx="13"/>
          </p:nvPr>
        </p:nvSpPr>
        <p:spPr>
          <a:xfrm>
            <a:off x="8783968" y="5464134"/>
            <a:ext cx="7631973" cy="3957658"/>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1356821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extLst/>
          </p:nvPr>
        </p:nvGraphicFramePr>
        <p:xfrm>
          <a:off x="3002" y="2254"/>
          <a:ext cx="2999" cy="2249"/>
        </p:xfrm>
        <a:graphic>
          <a:graphicData uri="http://schemas.openxmlformats.org/presentationml/2006/ole">
            <mc:AlternateContent xmlns:mc="http://schemas.openxmlformats.org/markup-compatibility/2006">
              <mc:Choice xmlns:v="urn:schemas-microsoft-com:vml" Requires="v">
                <p:oleObj spid="_x0000_s8558" name="think-cell Slide" r:id="rId4" imgW="360" imgH="360" progId="TCLayout.ActiveDocument.1">
                  <p:embed/>
                </p:oleObj>
              </mc:Choice>
              <mc:Fallback>
                <p:oleObj name="think-cell Slide" r:id="rId4" imgW="360" imgH="360" progId="TCLayout.ActiveDocument.1">
                  <p:embed/>
                  <p:pic>
                    <p:nvPicPr>
                      <p:cNvPr id="7" name="对象 6" hidden="1"/>
                      <p:cNvPicPr/>
                      <p:nvPr/>
                    </p:nvPicPr>
                    <p:blipFill>
                      <a:blip r:embed="rId5"/>
                      <a:stretch>
                        <a:fillRect/>
                      </a:stretch>
                    </p:blipFill>
                    <p:spPr>
                      <a:xfrm>
                        <a:off x="3002" y="2254"/>
                        <a:ext cx="2999" cy="2249"/>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5400">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949497" y="2402207"/>
            <a:ext cx="7546474"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8783968" y="2402207"/>
            <a:ext cx="7631973"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0" name="内容占位符 2"/>
          <p:cNvSpPr>
            <a:spLocks noGrp="1"/>
          </p:cNvSpPr>
          <p:nvPr>
            <p:ph sz="half" idx="12"/>
          </p:nvPr>
        </p:nvSpPr>
        <p:spPr>
          <a:xfrm>
            <a:off x="949497" y="6035440"/>
            <a:ext cx="7546474"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内容占位符 3"/>
          <p:cNvSpPr>
            <a:spLocks noGrp="1"/>
          </p:cNvSpPr>
          <p:nvPr>
            <p:ph sz="half" idx="13"/>
          </p:nvPr>
        </p:nvSpPr>
        <p:spPr>
          <a:xfrm>
            <a:off x="8783968" y="6035440"/>
            <a:ext cx="7631973" cy="3502097"/>
          </a:xfrm>
        </p:spPr>
        <p:txBody>
          <a:bodyPr>
            <a:normAutofit/>
          </a:bodyPr>
          <a:lstStyle>
            <a:lvl1pPr>
              <a:defRPr sz="24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400">
                <a:latin typeface="微软雅黑" panose="020B0503020204020204" pitchFamily="34" charset="-122"/>
                <a:ea typeface="微软雅黑" panose="020B0503020204020204" pitchFamily="34" charset="-122"/>
              </a:defRPr>
            </a:lvl3pPr>
            <a:lvl4pPr>
              <a:defRPr sz="2400">
                <a:latin typeface="微软雅黑" panose="020B0503020204020204" pitchFamily="34" charset="-122"/>
                <a:ea typeface="微软雅黑" panose="020B0503020204020204" pitchFamily="34" charset="-122"/>
              </a:defRPr>
            </a:lvl4pPr>
            <a:lvl5pPr>
              <a:defRPr sz="2400">
                <a:latin typeface="微软雅黑" panose="020B0503020204020204" pitchFamily="34" charset="-122"/>
                <a:ea typeface="微软雅黑" panose="020B0503020204020204" pitchFamily="34" charset="-122"/>
              </a:defRPr>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12" name="内容占位符 2"/>
          <p:cNvSpPr>
            <a:spLocks noGrp="1"/>
          </p:cNvSpPr>
          <p:nvPr>
            <p:ph sz="half" idx="14"/>
          </p:nvPr>
        </p:nvSpPr>
        <p:spPr>
          <a:xfrm>
            <a:off x="949497" y="1602625"/>
            <a:ext cx="15466444" cy="603912"/>
          </a:xfrm>
        </p:spPr>
        <p:txBody>
          <a:bodyPr>
            <a:normAutofit/>
          </a:bodyPr>
          <a:lstStyle>
            <a:lvl1pPr>
              <a:defRPr sz="2800">
                <a:latin typeface="微软雅黑" panose="020B0503020204020204" pitchFamily="34" charset="-122"/>
                <a:ea typeface="微软雅黑" panose="020B0503020204020204" pitchFamily="34" charset="-122"/>
              </a:defRPr>
            </a:lvl1pPr>
            <a:lvl2pPr>
              <a:defRPr sz="1800">
                <a:latin typeface="等线" panose="02010600030101010101" pitchFamily="2" charset="-122"/>
                <a:ea typeface="等线" panose="02010600030101010101" pitchFamily="2" charset="-122"/>
              </a:defRPr>
            </a:lvl2pPr>
            <a:lvl3pPr>
              <a:defRPr sz="1800">
                <a:latin typeface="等线" panose="02010600030101010101" pitchFamily="2" charset="-122"/>
                <a:ea typeface="等线" panose="02010600030101010101" pitchFamily="2" charset="-122"/>
              </a:defRPr>
            </a:lvl3pPr>
            <a:lvl4pPr>
              <a:defRPr sz="1800">
                <a:latin typeface="等线" panose="02010600030101010101" pitchFamily="2" charset="-122"/>
                <a:ea typeface="等线" panose="02010600030101010101" pitchFamily="2" charset="-122"/>
              </a:defRPr>
            </a:lvl4pPr>
            <a:lvl5pPr>
              <a:defRPr sz="1800">
                <a:latin typeface="等线" panose="02010600030101010101" pitchFamily="2" charset="-122"/>
                <a:ea typeface="等线" panose="02010600030101010101" pitchFamily="2" charset="-122"/>
              </a:defRPr>
            </a:lvl5pPr>
            <a:lvl6pPr>
              <a:defRPr sz="1800"/>
            </a:lvl6pPr>
            <a:lvl7pPr>
              <a:defRPr sz="1800"/>
            </a:lvl7pPr>
            <a:lvl8pPr>
              <a:defRPr sz="1800"/>
            </a:lvl8pPr>
            <a:lvl9pPr>
              <a:defRPr sz="1800"/>
            </a:lvl9pPr>
          </a:lstStyle>
          <a:p>
            <a:pPr lvl="0"/>
            <a:r>
              <a:rPr lang="zh-CN" altLang="en-US" dirty="0"/>
              <a:t>编辑母版文本样式</a:t>
            </a:r>
          </a:p>
        </p:txBody>
      </p:sp>
    </p:spTree>
    <p:extLst>
      <p:ext uri="{BB962C8B-B14F-4D97-AF65-F5344CB8AC3E}">
        <p14:creationId xmlns:p14="http://schemas.microsoft.com/office/powerpoint/2010/main" val="3498341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58174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grpSp>
        <p:nvGrpSpPr>
          <p:cNvPr id="8" name="组合 7"/>
          <p:cNvGrpSpPr/>
          <p:nvPr userDrawn="1"/>
        </p:nvGrpSpPr>
        <p:grpSpPr>
          <a:xfrm>
            <a:off x="-9642" y="3832527"/>
            <a:ext cx="17289581" cy="5915533"/>
            <a:chOff x="-6804" y="246308"/>
            <a:chExt cx="12198804" cy="4173624"/>
          </a:xfrm>
        </p:grpSpPr>
        <p:sp>
          <p:nvSpPr>
            <p:cNvPr id="9" name="Rectangle 27"/>
            <p:cNvSpPr/>
            <p:nvPr userDrawn="1"/>
          </p:nvSpPr>
          <p:spPr>
            <a:xfrm>
              <a:off x="-6804" y="655784"/>
              <a:ext cx="12198804" cy="376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grpSp>
          <p:nvGrpSpPr>
            <p:cNvPr id="10" name="Group 29"/>
            <p:cNvGrpSpPr/>
            <p:nvPr userDrawn="1"/>
          </p:nvGrpSpPr>
          <p:grpSpPr>
            <a:xfrm rot="1800000">
              <a:off x="8590927" y="873755"/>
              <a:ext cx="3117590" cy="3246084"/>
              <a:chOff x="8349573" y="-1673337"/>
              <a:chExt cx="6162676" cy="6416675"/>
            </a:xfrm>
            <a:solidFill>
              <a:schemeClr val="bg1">
                <a:alpha val="16000"/>
              </a:schemeClr>
            </a:solidFill>
          </p:grpSpPr>
          <p:sp>
            <p:nvSpPr>
              <p:cNvPr id="58"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59"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0"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1"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2"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3"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4"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5"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6"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7"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8"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sp>
            <p:nvSpPr>
              <p:cNvPr id="69"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350"/>
              </a:p>
            </p:txBody>
          </p:sp>
        </p:grpSp>
        <p:grpSp>
          <p:nvGrpSpPr>
            <p:cNvPr id="11" name="组合 10"/>
            <p:cNvGrpSpPr/>
            <p:nvPr userDrawn="1"/>
          </p:nvGrpSpPr>
          <p:grpSpPr>
            <a:xfrm>
              <a:off x="584611" y="246308"/>
              <a:ext cx="2608160" cy="2142169"/>
              <a:chOff x="2607344" y="-649181"/>
              <a:chExt cx="2608160" cy="2142169"/>
            </a:xfrm>
          </p:grpSpPr>
          <p:grpSp>
            <p:nvGrpSpPr>
              <p:cNvPr id="34" name="Group 74"/>
              <p:cNvGrpSpPr/>
              <p:nvPr userDrawn="1"/>
            </p:nvGrpSpPr>
            <p:grpSpPr>
              <a:xfrm rot="1800000">
                <a:off x="3246128" y="-649181"/>
                <a:ext cx="1314075" cy="1368235"/>
                <a:chOff x="8349573" y="-1673337"/>
                <a:chExt cx="6162676" cy="6416675"/>
              </a:xfrm>
              <a:solidFill>
                <a:schemeClr val="bg1">
                  <a:alpha val="15000"/>
                </a:schemeClr>
              </a:solidFill>
            </p:grpSpPr>
            <p:sp>
              <p:nvSpPr>
                <p:cNvPr id="43"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grpSp>
            <p:nvGrpSpPr>
              <p:cNvPr id="35" name="Group 58"/>
              <p:cNvGrpSpPr/>
              <p:nvPr userDrawn="1"/>
            </p:nvGrpSpPr>
            <p:grpSpPr>
              <a:xfrm>
                <a:off x="2607344" y="-468621"/>
                <a:ext cx="2608160" cy="1961609"/>
                <a:chOff x="1925461" y="-469483"/>
                <a:chExt cx="5437137" cy="4089296"/>
              </a:xfrm>
              <a:solidFill>
                <a:schemeClr val="accent2">
                  <a:lumMod val="60000"/>
                  <a:lumOff val="40000"/>
                  <a:alpha val="25000"/>
                </a:schemeClr>
              </a:solidFill>
            </p:grpSpPr>
            <p:sp>
              <p:nvSpPr>
                <p:cNvPr id="36"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7"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8"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9"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0" name="Freeform 63"/>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1"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42"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grpSp>
          <p:nvGrpSpPr>
            <p:cNvPr id="12" name="Group 42"/>
            <p:cNvGrpSpPr/>
            <p:nvPr/>
          </p:nvGrpSpPr>
          <p:grpSpPr>
            <a:xfrm>
              <a:off x="1100762" y="1771283"/>
              <a:ext cx="2608160" cy="1961609"/>
              <a:chOff x="1925461" y="-469483"/>
              <a:chExt cx="5437137" cy="4089296"/>
            </a:xfrm>
            <a:solidFill>
              <a:schemeClr val="accent2">
                <a:lumMod val="60000"/>
                <a:lumOff val="40000"/>
                <a:alpha val="45000"/>
              </a:schemeClr>
            </a:solidFill>
          </p:grpSpPr>
          <p:sp>
            <p:nvSpPr>
              <p:cNvPr id="27"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8"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9"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0"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1" name="Freeform 47"/>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2"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33"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nvGrpSpPr>
            <p:cNvPr id="16" name="Group 50"/>
            <p:cNvGrpSpPr/>
            <p:nvPr/>
          </p:nvGrpSpPr>
          <p:grpSpPr>
            <a:xfrm>
              <a:off x="2868777" y="1045370"/>
              <a:ext cx="2608160" cy="1961609"/>
              <a:chOff x="1925461" y="-469483"/>
              <a:chExt cx="5437137" cy="4089296"/>
            </a:xfrm>
            <a:solidFill>
              <a:schemeClr val="accent2">
                <a:alpha val="25000"/>
              </a:schemeClr>
            </a:solidFill>
          </p:grpSpPr>
          <p:sp>
            <p:nvSpPr>
              <p:cNvPr id="20"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1"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2"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3"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4" name="Freeform 55"/>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5"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sp>
            <p:nvSpPr>
              <p:cNvPr id="26"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350"/>
              </a:p>
            </p:txBody>
          </p:sp>
        </p:grpSp>
      </p:grpSp>
      <p:sp>
        <p:nvSpPr>
          <p:cNvPr id="13" name="标题 1"/>
          <p:cNvSpPr>
            <a:spLocks noGrp="1"/>
          </p:cNvSpPr>
          <p:nvPr>
            <p:ph type="ctrTitle" hasCustomPrompt="1"/>
          </p:nvPr>
        </p:nvSpPr>
        <p:spPr>
          <a:xfrm>
            <a:off x="2485223" y="1971868"/>
            <a:ext cx="12426532" cy="1664384"/>
          </a:xfrm>
        </p:spPr>
        <p:txBody>
          <a:bodyPr anchor="ctr">
            <a:noAutofit/>
          </a:bodyPr>
          <a:lstStyle>
            <a:lvl1pPr marL="0" indent="0" algn="l">
              <a:buFont typeface="Arial" panose="020B0604020202020204" pitchFamily="34" charset="0"/>
              <a:buNone/>
              <a:defRPr sz="8800">
                <a:solidFill>
                  <a:schemeClr val="tx1">
                    <a:lumMod val="85000"/>
                    <a:lumOff val="15000"/>
                  </a:schemeClr>
                </a:solidFill>
              </a:defRPr>
            </a:lvl1pPr>
          </a:lstStyle>
          <a:p>
            <a:r>
              <a:rPr lang="zh-CN" altLang="en-US" dirty="0"/>
              <a:t>结束语</a:t>
            </a:r>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997" y="3019584"/>
            <a:ext cx="15551944" cy="2083556"/>
          </a:xfrm>
          <a:noFill/>
        </p:spPr>
        <p:txBody>
          <a:bodyPr>
            <a:normAutofit/>
          </a:bodyPr>
          <a:lstStyle>
            <a:lvl1pPr algn="ctr">
              <a:defRPr sz="8800" b="1">
                <a:solidFill>
                  <a:schemeClr val="tx2"/>
                </a:solidFill>
                <a:latin typeface="等线" panose="02010600030101010101" pitchFamily="2" charset="-122"/>
                <a:ea typeface="等线" panose="02010600030101010101"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2591992" y="5508149"/>
            <a:ext cx="12095957" cy="2484067"/>
          </a:xfrm>
        </p:spPr>
        <p:txBody>
          <a:bodyPr>
            <a:normAutofit/>
          </a:bodyPr>
          <a:lstStyle>
            <a:lvl1pPr marL="0" indent="0" algn="ctr">
              <a:buNone/>
              <a:defRPr sz="2400">
                <a:solidFill>
                  <a:schemeClr val="tx1">
                    <a:tint val="75000"/>
                  </a:schemeClr>
                </a:solidFill>
              </a:defRPr>
            </a:lvl1pPr>
            <a:lvl2pPr marL="457222" indent="0" algn="ctr">
              <a:buNone/>
              <a:defRPr>
                <a:solidFill>
                  <a:schemeClr val="tx1">
                    <a:tint val="75000"/>
                  </a:schemeClr>
                </a:solidFill>
              </a:defRPr>
            </a:lvl2pPr>
            <a:lvl3pPr marL="914443" indent="0" algn="ctr">
              <a:buNone/>
              <a:defRPr>
                <a:solidFill>
                  <a:schemeClr val="tx1">
                    <a:tint val="75000"/>
                  </a:schemeClr>
                </a:solidFill>
              </a:defRPr>
            </a:lvl3pPr>
            <a:lvl4pPr marL="1371665" indent="0" algn="ctr">
              <a:buNone/>
              <a:defRPr>
                <a:solidFill>
                  <a:schemeClr val="tx1">
                    <a:tint val="75000"/>
                  </a:schemeClr>
                </a:solidFill>
              </a:defRPr>
            </a:lvl4pPr>
            <a:lvl5pPr marL="1828886" indent="0" algn="ctr">
              <a:buNone/>
              <a:defRPr>
                <a:solidFill>
                  <a:schemeClr val="tx1">
                    <a:tint val="75000"/>
                  </a:schemeClr>
                </a:solidFill>
              </a:defRPr>
            </a:lvl5pPr>
            <a:lvl6pPr marL="2286107" indent="0" algn="ctr">
              <a:buNone/>
              <a:defRPr>
                <a:solidFill>
                  <a:schemeClr val="tx1">
                    <a:tint val="75000"/>
                  </a:schemeClr>
                </a:solidFill>
              </a:defRPr>
            </a:lvl6pPr>
            <a:lvl7pPr marL="2743328" indent="0" algn="ctr">
              <a:buNone/>
              <a:defRPr>
                <a:solidFill>
                  <a:schemeClr val="tx1">
                    <a:tint val="75000"/>
                  </a:schemeClr>
                </a:solidFill>
              </a:defRPr>
            </a:lvl7pPr>
            <a:lvl8pPr marL="3200550" indent="0" algn="ctr">
              <a:buNone/>
              <a:defRPr>
                <a:solidFill>
                  <a:schemeClr val="tx1">
                    <a:tint val="75000"/>
                  </a:schemeClr>
                </a:solidFill>
              </a:defRPr>
            </a:lvl8pPr>
            <a:lvl9pPr marL="3657771" indent="0" algn="ctr">
              <a:buNone/>
              <a:defRPr>
                <a:solidFill>
                  <a:schemeClr val="tx1">
                    <a:tint val="75000"/>
                  </a:schemeClr>
                </a:solidFill>
              </a:defRPr>
            </a:lvl9pPr>
          </a:lstStyle>
          <a:p>
            <a:r>
              <a:rPr lang="zh-CN" altLang="en-US" dirty="0"/>
              <a:t>单击以编辑母版副标题样式</a:t>
            </a:r>
          </a:p>
        </p:txBody>
      </p:sp>
      <p:cxnSp>
        <p:nvCxnSpPr>
          <p:cNvPr id="8" name="直接连接符 7"/>
          <p:cNvCxnSpPr/>
          <p:nvPr userDrawn="1"/>
        </p:nvCxnSpPr>
        <p:spPr>
          <a:xfrm>
            <a:off x="863997" y="5166316"/>
            <a:ext cx="15551944"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96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末尾幻灯片">
    <p:spTree>
      <p:nvGrpSpPr>
        <p:cNvPr id="1" name=""/>
        <p:cNvGrpSpPr/>
        <p:nvPr/>
      </p:nvGrpSpPr>
      <p:grpSpPr>
        <a:xfrm>
          <a:off x="0" y="0"/>
          <a:ext cx="0" cy="0"/>
          <a:chOff x="0" y="0"/>
          <a:chExt cx="0" cy="0"/>
        </a:xfrm>
      </p:grpSpPr>
      <p:grpSp>
        <p:nvGrpSpPr>
          <p:cNvPr id="8" name="组合 7"/>
          <p:cNvGrpSpPr/>
          <p:nvPr userDrawn="1"/>
        </p:nvGrpSpPr>
        <p:grpSpPr>
          <a:xfrm>
            <a:off x="-9643" y="3832527"/>
            <a:ext cx="17289581" cy="5915533"/>
            <a:chOff x="-6804" y="246308"/>
            <a:chExt cx="12198804" cy="4173624"/>
          </a:xfrm>
        </p:grpSpPr>
        <p:sp>
          <p:nvSpPr>
            <p:cNvPr id="9" name="Rectangle 27"/>
            <p:cNvSpPr/>
            <p:nvPr userDrawn="1"/>
          </p:nvSpPr>
          <p:spPr>
            <a:xfrm>
              <a:off x="-6804" y="655784"/>
              <a:ext cx="12198804" cy="376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13"/>
            </a:p>
          </p:txBody>
        </p:sp>
        <p:grpSp>
          <p:nvGrpSpPr>
            <p:cNvPr id="10" name="Group 29"/>
            <p:cNvGrpSpPr/>
            <p:nvPr userDrawn="1"/>
          </p:nvGrpSpPr>
          <p:grpSpPr>
            <a:xfrm rot="1800000">
              <a:off x="8590927" y="873755"/>
              <a:ext cx="3117590" cy="3246084"/>
              <a:chOff x="8349573" y="-1673337"/>
              <a:chExt cx="6162676" cy="6416675"/>
            </a:xfrm>
            <a:solidFill>
              <a:schemeClr val="bg1">
                <a:alpha val="16000"/>
              </a:schemeClr>
            </a:solidFill>
          </p:grpSpPr>
          <p:sp>
            <p:nvSpPr>
              <p:cNvPr id="58"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59"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0"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1"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2"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3"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4"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5"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6"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7"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8"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sp>
            <p:nvSpPr>
              <p:cNvPr id="69"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w="0">
                <a:noFill/>
                <a:round/>
                <a:headEnd/>
                <a:tailEnd/>
              </a:ln>
              <a:extLst/>
            </p:spPr>
            <p:txBody>
              <a:bodyPr vert="horz" wrap="square" lIns="68580" tIns="34290" rIns="68580" bIns="34290" numCol="1" anchor="t" anchorCtr="0" compatLnSpc="1">
                <a:prstTxWarp prst="textNoShape">
                  <a:avLst/>
                </a:prstTxWarp>
              </a:bodyPr>
              <a:lstStyle/>
              <a:p>
                <a:endParaRPr lang="id-ID" sz="1913"/>
              </a:p>
            </p:txBody>
          </p:sp>
        </p:grpSp>
        <p:grpSp>
          <p:nvGrpSpPr>
            <p:cNvPr id="11" name="组合 10"/>
            <p:cNvGrpSpPr/>
            <p:nvPr userDrawn="1"/>
          </p:nvGrpSpPr>
          <p:grpSpPr>
            <a:xfrm>
              <a:off x="584611" y="246308"/>
              <a:ext cx="2608160" cy="2142169"/>
              <a:chOff x="2607344" y="-649181"/>
              <a:chExt cx="2608160" cy="2142169"/>
            </a:xfrm>
          </p:grpSpPr>
          <p:grpSp>
            <p:nvGrpSpPr>
              <p:cNvPr id="34" name="Group 74"/>
              <p:cNvGrpSpPr/>
              <p:nvPr userDrawn="1"/>
            </p:nvGrpSpPr>
            <p:grpSpPr>
              <a:xfrm rot="1800000">
                <a:off x="3246128" y="-649181"/>
                <a:ext cx="1314075" cy="1368235"/>
                <a:chOff x="8349573" y="-1673337"/>
                <a:chExt cx="6162676" cy="6416675"/>
              </a:xfrm>
              <a:solidFill>
                <a:schemeClr val="bg1">
                  <a:alpha val="15000"/>
                </a:schemeClr>
              </a:solidFill>
            </p:grpSpPr>
            <p:sp>
              <p:nvSpPr>
                <p:cNvPr id="43" name="Freeform 319"/>
                <p:cNvSpPr>
                  <a:spLocks noEditPoints="1"/>
                </p:cNvSpPr>
                <p:nvPr/>
              </p:nvSpPr>
              <p:spPr bwMode="auto">
                <a:xfrm>
                  <a:off x="83495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44" name="Freeform 320"/>
                <p:cNvSpPr>
                  <a:spLocks noEditPoints="1"/>
                </p:cNvSpPr>
                <p:nvPr/>
              </p:nvSpPr>
              <p:spPr bwMode="auto">
                <a:xfrm>
                  <a:off x="9570361" y="-1655875"/>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45" name="Freeform 321"/>
                <p:cNvSpPr>
                  <a:spLocks noEditPoints="1"/>
                </p:cNvSpPr>
                <p:nvPr/>
              </p:nvSpPr>
              <p:spPr bwMode="auto">
                <a:xfrm>
                  <a:off x="10787973" y="-1673337"/>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4 h 1368"/>
                    <a:gd name="T10" fmla="*/ 1536 w 1576"/>
                    <a:gd name="T11" fmla="*/ 1344 h 1368"/>
                    <a:gd name="T12" fmla="*/ 788 w 1576"/>
                    <a:gd name="T13" fmla="*/ 47 h 1368"/>
                    <a:gd name="T14" fmla="*/ 40 w 1576"/>
                    <a:gd name="T15" fmla="*/ 134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4"/>
                      </a:moveTo>
                      <a:lnTo>
                        <a:pt x="1536" y="1344"/>
                      </a:lnTo>
                      <a:lnTo>
                        <a:pt x="788" y="47"/>
                      </a:lnTo>
                      <a:lnTo>
                        <a:pt x="40" y="1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49" name="Freeform 322"/>
                <p:cNvSpPr>
                  <a:spLocks noEditPoints="1"/>
                </p:cNvSpPr>
                <p:nvPr/>
              </p:nvSpPr>
              <p:spPr bwMode="auto">
                <a:xfrm>
                  <a:off x="12008761" y="-1655875"/>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0" name="Freeform 323"/>
                <p:cNvSpPr>
                  <a:spLocks noEditPoints="1"/>
                </p:cNvSpPr>
                <p:nvPr/>
              </p:nvSpPr>
              <p:spPr bwMode="auto">
                <a:xfrm>
                  <a:off x="83495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1" name="Freeform 324"/>
                <p:cNvSpPr>
                  <a:spLocks noEditPoints="1"/>
                </p:cNvSpPr>
                <p:nvPr/>
              </p:nvSpPr>
              <p:spPr bwMode="auto">
                <a:xfrm>
                  <a:off x="9570361" y="441213"/>
                  <a:ext cx="2503488" cy="2168525"/>
                </a:xfrm>
                <a:custGeom>
                  <a:avLst/>
                  <a:gdLst>
                    <a:gd name="T0" fmla="*/ 1577 w 1577"/>
                    <a:gd name="T1" fmla="*/ 1366 h 1366"/>
                    <a:gd name="T2" fmla="*/ 0 w 1577"/>
                    <a:gd name="T3" fmla="*/ 1366 h 1366"/>
                    <a:gd name="T4" fmla="*/ 788 w 1577"/>
                    <a:gd name="T5" fmla="*/ 0 h 1366"/>
                    <a:gd name="T6" fmla="*/ 1577 w 1577"/>
                    <a:gd name="T7" fmla="*/ 1366 h 1366"/>
                    <a:gd name="T8" fmla="*/ 41 w 1577"/>
                    <a:gd name="T9" fmla="*/ 1342 h 1366"/>
                    <a:gd name="T10" fmla="*/ 1536 w 1577"/>
                    <a:gd name="T11" fmla="*/ 1342 h 1366"/>
                    <a:gd name="T12" fmla="*/ 788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8" y="0"/>
                      </a:lnTo>
                      <a:lnTo>
                        <a:pt x="1577" y="1366"/>
                      </a:lnTo>
                      <a:close/>
                      <a:moveTo>
                        <a:pt x="41" y="1342"/>
                      </a:moveTo>
                      <a:lnTo>
                        <a:pt x="1536" y="1342"/>
                      </a:lnTo>
                      <a:lnTo>
                        <a:pt x="788"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2" name="Freeform 325"/>
                <p:cNvSpPr>
                  <a:spLocks noEditPoints="1"/>
                </p:cNvSpPr>
                <p:nvPr/>
              </p:nvSpPr>
              <p:spPr bwMode="auto">
                <a:xfrm>
                  <a:off x="10787973" y="460263"/>
                  <a:ext cx="2501900" cy="2168525"/>
                </a:xfrm>
                <a:custGeom>
                  <a:avLst/>
                  <a:gdLst>
                    <a:gd name="T0" fmla="*/ 788 w 1576"/>
                    <a:gd name="T1" fmla="*/ 1366 h 1366"/>
                    <a:gd name="T2" fmla="*/ 0 w 1576"/>
                    <a:gd name="T3" fmla="*/ 0 h 1366"/>
                    <a:gd name="T4" fmla="*/ 1576 w 1576"/>
                    <a:gd name="T5" fmla="*/ 0 h 1366"/>
                    <a:gd name="T6" fmla="*/ 788 w 1576"/>
                    <a:gd name="T7" fmla="*/ 1366 h 1366"/>
                    <a:gd name="T8" fmla="*/ 40 w 1576"/>
                    <a:gd name="T9" fmla="*/ 24 h 1366"/>
                    <a:gd name="T10" fmla="*/ 788 w 1576"/>
                    <a:gd name="T11" fmla="*/ 1318 h 1366"/>
                    <a:gd name="T12" fmla="*/ 1536 w 1576"/>
                    <a:gd name="T13" fmla="*/ 24 h 1366"/>
                    <a:gd name="T14" fmla="*/ 40 w 1576"/>
                    <a:gd name="T15" fmla="*/ 24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6">
                      <a:moveTo>
                        <a:pt x="788" y="1366"/>
                      </a:moveTo>
                      <a:lnTo>
                        <a:pt x="0" y="0"/>
                      </a:lnTo>
                      <a:lnTo>
                        <a:pt x="1576" y="0"/>
                      </a:lnTo>
                      <a:lnTo>
                        <a:pt x="788" y="1366"/>
                      </a:lnTo>
                      <a:close/>
                      <a:moveTo>
                        <a:pt x="40" y="24"/>
                      </a:moveTo>
                      <a:lnTo>
                        <a:pt x="788" y="1318"/>
                      </a:lnTo>
                      <a:lnTo>
                        <a:pt x="1536" y="24"/>
                      </a:lnTo>
                      <a:lnTo>
                        <a:pt x="4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3" name="Freeform 326"/>
                <p:cNvSpPr>
                  <a:spLocks noEditPoints="1"/>
                </p:cNvSpPr>
                <p:nvPr/>
              </p:nvSpPr>
              <p:spPr bwMode="auto">
                <a:xfrm>
                  <a:off x="12008761" y="441213"/>
                  <a:ext cx="2503488" cy="2168525"/>
                </a:xfrm>
                <a:custGeom>
                  <a:avLst/>
                  <a:gdLst>
                    <a:gd name="T0" fmla="*/ 1577 w 1577"/>
                    <a:gd name="T1" fmla="*/ 1366 h 1366"/>
                    <a:gd name="T2" fmla="*/ 0 w 1577"/>
                    <a:gd name="T3" fmla="*/ 1366 h 1366"/>
                    <a:gd name="T4" fmla="*/ 789 w 1577"/>
                    <a:gd name="T5" fmla="*/ 0 h 1366"/>
                    <a:gd name="T6" fmla="*/ 1577 w 1577"/>
                    <a:gd name="T7" fmla="*/ 1366 h 1366"/>
                    <a:gd name="T8" fmla="*/ 41 w 1577"/>
                    <a:gd name="T9" fmla="*/ 1342 h 1366"/>
                    <a:gd name="T10" fmla="*/ 1536 w 1577"/>
                    <a:gd name="T11" fmla="*/ 1342 h 1366"/>
                    <a:gd name="T12" fmla="*/ 789 w 1577"/>
                    <a:gd name="T13" fmla="*/ 47 h 1366"/>
                    <a:gd name="T14" fmla="*/ 41 w 1577"/>
                    <a:gd name="T15" fmla="*/ 1342 h 1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6">
                      <a:moveTo>
                        <a:pt x="1577" y="1366"/>
                      </a:moveTo>
                      <a:lnTo>
                        <a:pt x="0" y="1366"/>
                      </a:lnTo>
                      <a:lnTo>
                        <a:pt x="789" y="0"/>
                      </a:lnTo>
                      <a:lnTo>
                        <a:pt x="1577" y="1366"/>
                      </a:lnTo>
                      <a:close/>
                      <a:moveTo>
                        <a:pt x="41" y="1342"/>
                      </a:moveTo>
                      <a:lnTo>
                        <a:pt x="1536" y="1342"/>
                      </a:lnTo>
                      <a:lnTo>
                        <a:pt x="789" y="47"/>
                      </a:lnTo>
                      <a:lnTo>
                        <a:pt x="41" y="1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4" name="Freeform 327"/>
                <p:cNvSpPr>
                  <a:spLocks noEditPoints="1"/>
                </p:cNvSpPr>
                <p:nvPr/>
              </p:nvSpPr>
              <p:spPr bwMode="auto">
                <a:xfrm>
                  <a:off x="83495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5" name="Freeform 328"/>
                <p:cNvSpPr>
                  <a:spLocks noEditPoints="1"/>
                </p:cNvSpPr>
                <p:nvPr/>
              </p:nvSpPr>
              <p:spPr bwMode="auto">
                <a:xfrm>
                  <a:off x="9570361" y="2571638"/>
                  <a:ext cx="2503488" cy="2171700"/>
                </a:xfrm>
                <a:custGeom>
                  <a:avLst/>
                  <a:gdLst>
                    <a:gd name="T0" fmla="*/ 788 w 1577"/>
                    <a:gd name="T1" fmla="*/ 1368 h 1368"/>
                    <a:gd name="T2" fmla="*/ 0 w 1577"/>
                    <a:gd name="T3" fmla="*/ 0 h 1368"/>
                    <a:gd name="T4" fmla="*/ 1577 w 1577"/>
                    <a:gd name="T5" fmla="*/ 0 h 1368"/>
                    <a:gd name="T6" fmla="*/ 788 w 1577"/>
                    <a:gd name="T7" fmla="*/ 1368 h 1368"/>
                    <a:gd name="T8" fmla="*/ 41 w 1577"/>
                    <a:gd name="T9" fmla="*/ 24 h 1368"/>
                    <a:gd name="T10" fmla="*/ 788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8" y="1368"/>
                      </a:moveTo>
                      <a:lnTo>
                        <a:pt x="0" y="0"/>
                      </a:lnTo>
                      <a:lnTo>
                        <a:pt x="1577" y="0"/>
                      </a:lnTo>
                      <a:lnTo>
                        <a:pt x="788" y="1368"/>
                      </a:lnTo>
                      <a:close/>
                      <a:moveTo>
                        <a:pt x="41" y="24"/>
                      </a:moveTo>
                      <a:lnTo>
                        <a:pt x="788"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6" name="Freeform 329"/>
                <p:cNvSpPr>
                  <a:spLocks noEditPoints="1"/>
                </p:cNvSpPr>
                <p:nvPr/>
              </p:nvSpPr>
              <p:spPr bwMode="auto">
                <a:xfrm>
                  <a:off x="10787973" y="2552588"/>
                  <a:ext cx="2501900" cy="2171700"/>
                </a:xfrm>
                <a:custGeom>
                  <a:avLst/>
                  <a:gdLst>
                    <a:gd name="T0" fmla="*/ 1576 w 1576"/>
                    <a:gd name="T1" fmla="*/ 1368 h 1368"/>
                    <a:gd name="T2" fmla="*/ 0 w 1576"/>
                    <a:gd name="T3" fmla="*/ 1368 h 1368"/>
                    <a:gd name="T4" fmla="*/ 788 w 1576"/>
                    <a:gd name="T5" fmla="*/ 0 h 1368"/>
                    <a:gd name="T6" fmla="*/ 1576 w 1576"/>
                    <a:gd name="T7" fmla="*/ 1368 h 1368"/>
                    <a:gd name="T8" fmla="*/ 40 w 1576"/>
                    <a:gd name="T9" fmla="*/ 1345 h 1368"/>
                    <a:gd name="T10" fmla="*/ 1536 w 1576"/>
                    <a:gd name="T11" fmla="*/ 1345 h 1368"/>
                    <a:gd name="T12" fmla="*/ 788 w 1576"/>
                    <a:gd name="T13" fmla="*/ 48 h 1368"/>
                    <a:gd name="T14" fmla="*/ 40 w 1576"/>
                    <a:gd name="T15" fmla="*/ 1345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6" h="1368">
                      <a:moveTo>
                        <a:pt x="1576" y="1368"/>
                      </a:moveTo>
                      <a:lnTo>
                        <a:pt x="0" y="1368"/>
                      </a:lnTo>
                      <a:lnTo>
                        <a:pt x="788" y="0"/>
                      </a:lnTo>
                      <a:lnTo>
                        <a:pt x="1576" y="1368"/>
                      </a:lnTo>
                      <a:close/>
                      <a:moveTo>
                        <a:pt x="40" y="1345"/>
                      </a:moveTo>
                      <a:lnTo>
                        <a:pt x="1536" y="1345"/>
                      </a:lnTo>
                      <a:lnTo>
                        <a:pt x="788" y="48"/>
                      </a:lnTo>
                      <a:lnTo>
                        <a:pt x="40" y="1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sp>
              <p:nvSpPr>
                <p:cNvPr id="57" name="Freeform 330"/>
                <p:cNvSpPr>
                  <a:spLocks noEditPoints="1"/>
                </p:cNvSpPr>
                <p:nvPr/>
              </p:nvSpPr>
              <p:spPr bwMode="auto">
                <a:xfrm>
                  <a:off x="12008761" y="2571638"/>
                  <a:ext cx="2503488" cy="2171700"/>
                </a:xfrm>
                <a:custGeom>
                  <a:avLst/>
                  <a:gdLst>
                    <a:gd name="T0" fmla="*/ 789 w 1577"/>
                    <a:gd name="T1" fmla="*/ 1368 h 1368"/>
                    <a:gd name="T2" fmla="*/ 0 w 1577"/>
                    <a:gd name="T3" fmla="*/ 0 h 1368"/>
                    <a:gd name="T4" fmla="*/ 1577 w 1577"/>
                    <a:gd name="T5" fmla="*/ 0 h 1368"/>
                    <a:gd name="T6" fmla="*/ 789 w 1577"/>
                    <a:gd name="T7" fmla="*/ 1368 h 1368"/>
                    <a:gd name="T8" fmla="*/ 41 w 1577"/>
                    <a:gd name="T9" fmla="*/ 24 h 1368"/>
                    <a:gd name="T10" fmla="*/ 789 w 1577"/>
                    <a:gd name="T11" fmla="*/ 1321 h 1368"/>
                    <a:gd name="T12" fmla="*/ 1536 w 1577"/>
                    <a:gd name="T13" fmla="*/ 24 h 1368"/>
                    <a:gd name="T14" fmla="*/ 41 w 1577"/>
                    <a:gd name="T15" fmla="*/ 24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7" h="1368">
                      <a:moveTo>
                        <a:pt x="789" y="1368"/>
                      </a:moveTo>
                      <a:lnTo>
                        <a:pt x="0" y="0"/>
                      </a:lnTo>
                      <a:lnTo>
                        <a:pt x="1577" y="0"/>
                      </a:lnTo>
                      <a:lnTo>
                        <a:pt x="789" y="1368"/>
                      </a:lnTo>
                      <a:close/>
                      <a:moveTo>
                        <a:pt x="41" y="24"/>
                      </a:moveTo>
                      <a:lnTo>
                        <a:pt x="789" y="1321"/>
                      </a:lnTo>
                      <a:lnTo>
                        <a:pt x="1536" y="24"/>
                      </a:lnTo>
                      <a:lnTo>
                        <a:pt x="4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913"/>
                </a:p>
              </p:txBody>
            </p:sp>
          </p:grpSp>
          <p:grpSp>
            <p:nvGrpSpPr>
              <p:cNvPr id="35" name="Group 58"/>
              <p:cNvGrpSpPr/>
              <p:nvPr userDrawn="1"/>
            </p:nvGrpSpPr>
            <p:grpSpPr>
              <a:xfrm>
                <a:off x="2607344" y="-468621"/>
                <a:ext cx="2608160" cy="1961609"/>
                <a:chOff x="1925461" y="-469483"/>
                <a:chExt cx="5437137" cy="4089296"/>
              </a:xfrm>
              <a:solidFill>
                <a:schemeClr val="accent2">
                  <a:lumMod val="60000"/>
                  <a:lumOff val="40000"/>
                  <a:alpha val="25000"/>
                </a:schemeClr>
              </a:solidFill>
            </p:grpSpPr>
            <p:sp>
              <p:nvSpPr>
                <p:cNvPr id="36"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37"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38"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39"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40" name="Freeform 63"/>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41"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42"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grpSp>
        </p:grpSp>
        <p:grpSp>
          <p:nvGrpSpPr>
            <p:cNvPr id="12" name="Group 42"/>
            <p:cNvGrpSpPr/>
            <p:nvPr/>
          </p:nvGrpSpPr>
          <p:grpSpPr>
            <a:xfrm>
              <a:off x="1100762" y="1771283"/>
              <a:ext cx="2608160" cy="1961609"/>
              <a:chOff x="1925461" y="-469483"/>
              <a:chExt cx="5437137" cy="4089296"/>
            </a:xfrm>
            <a:solidFill>
              <a:schemeClr val="accent2">
                <a:lumMod val="60000"/>
                <a:lumOff val="40000"/>
                <a:alpha val="45000"/>
              </a:schemeClr>
            </a:solidFill>
          </p:grpSpPr>
          <p:sp>
            <p:nvSpPr>
              <p:cNvPr id="27"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8"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9"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30"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31" name="Freeform 47"/>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32"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33"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grpSp>
        <p:grpSp>
          <p:nvGrpSpPr>
            <p:cNvPr id="16" name="Group 50"/>
            <p:cNvGrpSpPr/>
            <p:nvPr/>
          </p:nvGrpSpPr>
          <p:grpSpPr>
            <a:xfrm>
              <a:off x="2868777" y="1045370"/>
              <a:ext cx="2608160" cy="1961609"/>
              <a:chOff x="1925461" y="-469483"/>
              <a:chExt cx="5437137" cy="4089296"/>
            </a:xfrm>
            <a:solidFill>
              <a:schemeClr val="accent2">
                <a:alpha val="25000"/>
              </a:schemeClr>
            </a:solidFill>
          </p:grpSpPr>
          <p:sp>
            <p:nvSpPr>
              <p:cNvPr id="20" name="Freeform 61"/>
              <p:cNvSpPr>
                <a:spLocks/>
              </p:cNvSpPr>
              <p:nvPr/>
            </p:nvSpPr>
            <p:spPr bwMode="auto">
              <a:xfrm>
                <a:off x="1925461" y="2554358"/>
                <a:ext cx="921032" cy="1065455"/>
              </a:xfrm>
              <a:custGeom>
                <a:avLst/>
                <a:gdLst>
                  <a:gd name="T0" fmla="*/ 0 w 338"/>
                  <a:gd name="T1" fmla="*/ 197 h 391"/>
                  <a:gd name="T2" fmla="*/ 338 w 338"/>
                  <a:gd name="T3" fmla="*/ 391 h 391"/>
                  <a:gd name="T4" fmla="*/ 338 w 338"/>
                  <a:gd name="T5" fmla="*/ 0 h 391"/>
                  <a:gd name="T6" fmla="*/ 0 w 338"/>
                  <a:gd name="T7" fmla="*/ 197 h 391"/>
                </a:gdLst>
                <a:ahLst/>
                <a:cxnLst>
                  <a:cxn ang="0">
                    <a:pos x="T0" y="T1"/>
                  </a:cxn>
                  <a:cxn ang="0">
                    <a:pos x="T2" y="T3"/>
                  </a:cxn>
                  <a:cxn ang="0">
                    <a:pos x="T4" y="T5"/>
                  </a:cxn>
                  <a:cxn ang="0">
                    <a:pos x="T6" y="T7"/>
                  </a:cxn>
                </a:cxnLst>
                <a:rect l="0" t="0" r="r" b="b"/>
                <a:pathLst>
                  <a:path w="338" h="391">
                    <a:moveTo>
                      <a:pt x="0" y="197"/>
                    </a:moveTo>
                    <a:lnTo>
                      <a:pt x="338" y="391"/>
                    </a:lnTo>
                    <a:lnTo>
                      <a:pt x="338"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1" name="Freeform 6"/>
              <p:cNvSpPr>
                <a:spLocks/>
              </p:cNvSpPr>
              <p:nvPr/>
            </p:nvSpPr>
            <p:spPr bwMode="auto">
              <a:xfrm>
                <a:off x="4588603" y="-469483"/>
                <a:ext cx="929208" cy="1062729"/>
              </a:xfrm>
              <a:custGeom>
                <a:avLst/>
                <a:gdLst>
                  <a:gd name="T0" fmla="*/ 0 w 341"/>
                  <a:gd name="T1" fmla="*/ 196 h 390"/>
                  <a:gd name="T2" fmla="*/ 341 w 341"/>
                  <a:gd name="T3" fmla="*/ 390 h 390"/>
                  <a:gd name="T4" fmla="*/ 338 w 341"/>
                  <a:gd name="T5" fmla="*/ 0 h 390"/>
                  <a:gd name="T6" fmla="*/ 0 w 341"/>
                  <a:gd name="T7" fmla="*/ 196 h 390"/>
                </a:gdLst>
                <a:ahLst/>
                <a:cxnLst>
                  <a:cxn ang="0">
                    <a:pos x="T0" y="T1"/>
                  </a:cxn>
                  <a:cxn ang="0">
                    <a:pos x="T2" y="T3"/>
                  </a:cxn>
                  <a:cxn ang="0">
                    <a:pos x="T4" y="T5"/>
                  </a:cxn>
                  <a:cxn ang="0">
                    <a:pos x="T6" y="T7"/>
                  </a:cxn>
                </a:cxnLst>
                <a:rect l="0" t="0" r="r" b="b"/>
                <a:pathLst>
                  <a:path w="341" h="390">
                    <a:moveTo>
                      <a:pt x="0" y="196"/>
                    </a:moveTo>
                    <a:lnTo>
                      <a:pt x="341" y="390"/>
                    </a:lnTo>
                    <a:lnTo>
                      <a:pt x="338"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2" name="Freeform 42"/>
              <p:cNvSpPr>
                <a:spLocks/>
              </p:cNvSpPr>
              <p:nvPr/>
            </p:nvSpPr>
            <p:spPr bwMode="auto">
              <a:xfrm>
                <a:off x="5517809" y="64607"/>
                <a:ext cx="921032" cy="1065455"/>
              </a:xfrm>
              <a:custGeom>
                <a:avLst/>
                <a:gdLst>
                  <a:gd name="T0" fmla="*/ 0 w 338"/>
                  <a:gd name="T1" fmla="*/ 194 h 391"/>
                  <a:gd name="T2" fmla="*/ 338 w 338"/>
                  <a:gd name="T3" fmla="*/ 391 h 391"/>
                  <a:gd name="T4" fmla="*/ 338 w 338"/>
                  <a:gd name="T5" fmla="*/ 0 h 391"/>
                  <a:gd name="T6" fmla="*/ 0 w 338"/>
                  <a:gd name="T7" fmla="*/ 194 h 391"/>
                </a:gdLst>
                <a:ahLst/>
                <a:cxnLst>
                  <a:cxn ang="0">
                    <a:pos x="T0" y="T1"/>
                  </a:cxn>
                  <a:cxn ang="0">
                    <a:pos x="T2" y="T3"/>
                  </a:cxn>
                  <a:cxn ang="0">
                    <a:pos x="T4" y="T5"/>
                  </a:cxn>
                  <a:cxn ang="0">
                    <a:pos x="T6" y="T7"/>
                  </a:cxn>
                </a:cxnLst>
                <a:rect l="0" t="0" r="r" b="b"/>
                <a:pathLst>
                  <a:path w="338" h="391">
                    <a:moveTo>
                      <a:pt x="0" y="194"/>
                    </a:moveTo>
                    <a:lnTo>
                      <a:pt x="338" y="391"/>
                    </a:lnTo>
                    <a:lnTo>
                      <a:pt x="338" y="0"/>
                    </a:lnTo>
                    <a:lnTo>
                      <a:pt x="0" y="194"/>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3" name="Freeform 43"/>
              <p:cNvSpPr>
                <a:spLocks/>
              </p:cNvSpPr>
              <p:nvPr/>
            </p:nvSpPr>
            <p:spPr bwMode="auto">
              <a:xfrm>
                <a:off x="6438840" y="-469483"/>
                <a:ext cx="923758" cy="1062729"/>
              </a:xfrm>
              <a:custGeom>
                <a:avLst/>
                <a:gdLst>
                  <a:gd name="T0" fmla="*/ 0 w 339"/>
                  <a:gd name="T1" fmla="*/ 196 h 390"/>
                  <a:gd name="T2" fmla="*/ 339 w 339"/>
                  <a:gd name="T3" fmla="*/ 390 h 390"/>
                  <a:gd name="T4" fmla="*/ 339 w 339"/>
                  <a:gd name="T5" fmla="*/ 0 h 390"/>
                  <a:gd name="T6" fmla="*/ 0 w 339"/>
                  <a:gd name="T7" fmla="*/ 196 h 390"/>
                </a:gdLst>
                <a:ahLst/>
                <a:cxnLst>
                  <a:cxn ang="0">
                    <a:pos x="T0" y="T1"/>
                  </a:cxn>
                  <a:cxn ang="0">
                    <a:pos x="T2" y="T3"/>
                  </a:cxn>
                  <a:cxn ang="0">
                    <a:pos x="T4" y="T5"/>
                  </a:cxn>
                  <a:cxn ang="0">
                    <a:pos x="T6" y="T7"/>
                  </a:cxn>
                </a:cxnLst>
                <a:rect l="0" t="0" r="r" b="b"/>
                <a:pathLst>
                  <a:path w="339" h="390">
                    <a:moveTo>
                      <a:pt x="0" y="196"/>
                    </a:moveTo>
                    <a:lnTo>
                      <a:pt x="339" y="390"/>
                    </a:lnTo>
                    <a:lnTo>
                      <a:pt x="339" y="0"/>
                    </a:lnTo>
                    <a:lnTo>
                      <a:pt x="0" y="196"/>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4" name="Freeform 55"/>
              <p:cNvSpPr>
                <a:spLocks/>
              </p:cNvSpPr>
              <p:nvPr/>
            </p:nvSpPr>
            <p:spPr bwMode="auto">
              <a:xfrm>
                <a:off x="4594053" y="593246"/>
                <a:ext cx="923758" cy="1070905"/>
              </a:xfrm>
              <a:custGeom>
                <a:avLst/>
                <a:gdLst>
                  <a:gd name="T0" fmla="*/ 0 w 339"/>
                  <a:gd name="T1" fmla="*/ 197 h 393"/>
                  <a:gd name="T2" fmla="*/ 339 w 339"/>
                  <a:gd name="T3" fmla="*/ 393 h 393"/>
                  <a:gd name="T4" fmla="*/ 339 w 339"/>
                  <a:gd name="T5" fmla="*/ 0 h 393"/>
                  <a:gd name="T6" fmla="*/ 0 w 339"/>
                  <a:gd name="T7" fmla="*/ 197 h 393"/>
                </a:gdLst>
                <a:ahLst/>
                <a:cxnLst>
                  <a:cxn ang="0">
                    <a:pos x="T0" y="T1"/>
                  </a:cxn>
                  <a:cxn ang="0">
                    <a:pos x="T2" y="T3"/>
                  </a:cxn>
                  <a:cxn ang="0">
                    <a:pos x="T4" y="T5"/>
                  </a:cxn>
                  <a:cxn ang="0">
                    <a:pos x="T6" y="T7"/>
                  </a:cxn>
                </a:cxnLst>
                <a:rect l="0" t="0" r="r" b="b"/>
                <a:pathLst>
                  <a:path w="339" h="393">
                    <a:moveTo>
                      <a:pt x="0" y="197"/>
                    </a:moveTo>
                    <a:lnTo>
                      <a:pt x="339" y="393"/>
                    </a:lnTo>
                    <a:lnTo>
                      <a:pt x="339" y="0"/>
                    </a:lnTo>
                    <a:lnTo>
                      <a:pt x="0" y="197"/>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5" name="Freeform 76"/>
              <p:cNvSpPr>
                <a:spLocks/>
              </p:cNvSpPr>
              <p:nvPr/>
            </p:nvSpPr>
            <p:spPr bwMode="auto">
              <a:xfrm>
                <a:off x="3646908" y="1658700"/>
                <a:ext cx="923758" cy="1062729"/>
              </a:xfrm>
              <a:custGeom>
                <a:avLst/>
                <a:gdLst>
                  <a:gd name="T0" fmla="*/ 0 w 339"/>
                  <a:gd name="T1" fmla="*/ 390 h 390"/>
                  <a:gd name="T2" fmla="*/ 0 w 339"/>
                  <a:gd name="T3" fmla="*/ 0 h 390"/>
                  <a:gd name="T4" fmla="*/ 339 w 339"/>
                  <a:gd name="T5" fmla="*/ 196 h 390"/>
                  <a:gd name="T6" fmla="*/ 0 w 339"/>
                  <a:gd name="T7" fmla="*/ 390 h 390"/>
                </a:gdLst>
                <a:ahLst/>
                <a:cxnLst>
                  <a:cxn ang="0">
                    <a:pos x="T0" y="T1"/>
                  </a:cxn>
                  <a:cxn ang="0">
                    <a:pos x="T2" y="T3"/>
                  </a:cxn>
                  <a:cxn ang="0">
                    <a:pos x="T4" y="T5"/>
                  </a:cxn>
                  <a:cxn ang="0">
                    <a:pos x="T6" y="T7"/>
                  </a:cxn>
                </a:cxnLst>
                <a:rect l="0" t="0" r="r" b="b"/>
                <a:pathLst>
                  <a:path w="339" h="390">
                    <a:moveTo>
                      <a:pt x="0" y="390"/>
                    </a:moveTo>
                    <a:lnTo>
                      <a:pt x="0" y="0"/>
                    </a:lnTo>
                    <a:lnTo>
                      <a:pt x="339" y="196"/>
                    </a:lnTo>
                    <a:lnTo>
                      <a:pt x="0" y="390"/>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sp>
            <p:nvSpPr>
              <p:cNvPr id="26" name="Freeform 77"/>
              <p:cNvSpPr>
                <a:spLocks/>
              </p:cNvSpPr>
              <p:nvPr/>
            </p:nvSpPr>
            <p:spPr bwMode="auto">
              <a:xfrm>
                <a:off x="5548104" y="1683977"/>
                <a:ext cx="921032" cy="1065455"/>
              </a:xfrm>
              <a:custGeom>
                <a:avLst/>
                <a:gdLst>
                  <a:gd name="T0" fmla="*/ 0 w 338"/>
                  <a:gd name="T1" fmla="*/ 391 h 391"/>
                  <a:gd name="T2" fmla="*/ 0 w 338"/>
                  <a:gd name="T3" fmla="*/ 0 h 391"/>
                  <a:gd name="T4" fmla="*/ 338 w 338"/>
                  <a:gd name="T5" fmla="*/ 197 h 391"/>
                  <a:gd name="T6" fmla="*/ 0 w 338"/>
                  <a:gd name="T7" fmla="*/ 391 h 391"/>
                </a:gdLst>
                <a:ahLst/>
                <a:cxnLst>
                  <a:cxn ang="0">
                    <a:pos x="T0" y="T1"/>
                  </a:cxn>
                  <a:cxn ang="0">
                    <a:pos x="T2" y="T3"/>
                  </a:cxn>
                  <a:cxn ang="0">
                    <a:pos x="T4" y="T5"/>
                  </a:cxn>
                  <a:cxn ang="0">
                    <a:pos x="T6" y="T7"/>
                  </a:cxn>
                </a:cxnLst>
                <a:rect l="0" t="0" r="r" b="b"/>
                <a:pathLst>
                  <a:path w="338" h="391">
                    <a:moveTo>
                      <a:pt x="0" y="391"/>
                    </a:moveTo>
                    <a:lnTo>
                      <a:pt x="0" y="0"/>
                    </a:lnTo>
                    <a:lnTo>
                      <a:pt x="338" y="197"/>
                    </a:lnTo>
                    <a:lnTo>
                      <a:pt x="0" y="391"/>
                    </a:lnTo>
                    <a:close/>
                  </a:path>
                </a:pathLst>
              </a:custGeom>
              <a:grpFill/>
              <a:ln w="15875" cap="flat">
                <a:solidFill>
                  <a:schemeClr val="bg1">
                    <a:alpha val="10000"/>
                  </a:schemeClr>
                </a:solidFill>
                <a:prstDash val="solid"/>
                <a:miter lim="800000"/>
                <a:headEnd/>
                <a:tailEnd/>
              </a:ln>
            </p:spPr>
            <p:txBody>
              <a:bodyPr vert="horz" wrap="square" lIns="68580" tIns="34290" rIns="68580" bIns="34290" numCol="1" anchor="t" anchorCtr="0" compatLnSpc="1">
                <a:prstTxWarp prst="textNoShape">
                  <a:avLst/>
                </a:prstTxWarp>
              </a:bodyPr>
              <a:lstStyle/>
              <a:p>
                <a:endParaRPr lang="id-ID" sz="1913"/>
              </a:p>
            </p:txBody>
          </p:sp>
        </p:grpSp>
      </p:grpSp>
      <p:sp>
        <p:nvSpPr>
          <p:cNvPr id="13" name="标题 1"/>
          <p:cNvSpPr>
            <a:spLocks noGrp="1"/>
          </p:cNvSpPr>
          <p:nvPr>
            <p:ph type="ctrTitle" hasCustomPrompt="1"/>
          </p:nvPr>
        </p:nvSpPr>
        <p:spPr>
          <a:xfrm>
            <a:off x="2485222" y="1971867"/>
            <a:ext cx="5136925" cy="929483"/>
          </a:xfrm>
        </p:spPr>
        <p:txBody>
          <a:bodyPr anchor="ctr">
            <a:normAutofit/>
          </a:bodyPr>
          <a:lstStyle>
            <a:lvl1pPr marL="0" indent="0" algn="l">
              <a:buFont typeface="Arial" panose="020B0604020202020204" pitchFamily="34" charset="0"/>
              <a:buNone/>
              <a:defRPr sz="4535">
                <a:solidFill>
                  <a:schemeClr val="tx1"/>
                </a:solidFill>
              </a:defRPr>
            </a:lvl1pPr>
          </a:lstStyle>
          <a:p>
            <a:r>
              <a:rPr lang="zh-CN" altLang="en-US" dirty="0"/>
              <a:t>结束语</a:t>
            </a:r>
          </a:p>
        </p:txBody>
      </p:sp>
      <p:sp>
        <p:nvSpPr>
          <p:cNvPr id="14" name="文本占位符 62"/>
          <p:cNvSpPr>
            <a:spLocks noGrp="1"/>
          </p:cNvSpPr>
          <p:nvPr>
            <p:ph type="body" sz="quarter" idx="17" hasCustomPrompt="1"/>
          </p:nvPr>
        </p:nvSpPr>
        <p:spPr>
          <a:xfrm>
            <a:off x="2485222" y="3301694"/>
            <a:ext cx="5136925" cy="440616"/>
          </a:xfrm>
        </p:spPr>
        <p:txBody>
          <a:bodyPr vert="horz" lIns="91440" tIns="45720" rIns="91440" bIns="45720" rtlCol="0">
            <a:noAutofit/>
          </a:bodyPr>
          <a:lstStyle>
            <a:lvl1pPr marL="0" indent="0" algn="l">
              <a:buNone/>
              <a:defRPr lang="zh-CN" altLang="en-US" sz="2551" smtClean="0">
                <a:solidFill>
                  <a:schemeClr val="tx1">
                    <a:lumMod val="65000"/>
                    <a:lumOff val="35000"/>
                  </a:schemeClr>
                </a:solidFill>
              </a:defRPr>
            </a:lvl1pPr>
            <a:lvl2pPr>
              <a:defRPr lang="zh-CN" altLang="en-US" sz="2835" smtClean="0"/>
            </a:lvl2pPr>
            <a:lvl3pPr>
              <a:defRPr lang="zh-CN" altLang="en-US" sz="2551" smtClean="0"/>
            </a:lvl3pPr>
            <a:lvl4pPr>
              <a:defRPr lang="zh-CN" altLang="en-US" sz="2268" smtClean="0"/>
            </a:lvl4pPr>
            <a:lvl5pPr>
              <a:defRPr lang="zh-CN" altLang="en-US" sz="2268"/>
            </a:lvl5pPr>
          </a:lstStyle>
          <a:p>
            <a:pPr marL="323979" marR="0" lvl="0" indent="-323979" fontAlgn="auto">
              <a:spcAft>
                <a:spcPts val="0"/>
              </a:spcAft>
              <a:buClrTx/>
              <a:buSzTx/>
              <a:tabLst/>
            </a:pPr>
            <a:r>
              <a:rPr lang="zh-CN" altLang="en-US" dirty="0"/>
              <a:t>署名</a:t>
            </a:r>
            <a:endParaRPr lang="en-US" altLang="zh-CN" dirty="0"/>
          </a:p>
        </p:txBody>
      </p:sp>
      <p:sp>
        <p:nvSpPr>
          <p:cNvPr id="15" name="文本占位符 62"/>
          <p:cNvSpPr>
            <a:spLocks noGrp="1"/>
          </p:cNvSpPr>
          <p:nvPr>
            <p:ph type="body" sz="quarter" idx="18" hasCustomPrompt="1"/>
          </p:nvPr>
        </p:nvSpPr>
        <p:spPr>
          <a:xfrm>
            <a:off x="2485222" y="3749062"/>
            <a:ext cx="5136925" cy="440616"/>
          </a:xfrm>
        </p:spPr>
        <p:txBody>
          <a:bodyPr vert="horz" lIns="91440" tIns="45720" rIns="91440" bIns="45720" rtlCol="0">
            <a:normAutofit/>
          </a:bodyPr>
          <a:lstStyle>
            <a:lvl1pPr marL="0" indent="0" algn="l">
              <a:buNone/>
              <a:defRPr lang="zh-CN" altLang="en-US" sz="2551" smtClean="0">
                <a:solidFill>
                  <a:schemeClr val="tx1">
                    <a:lumMod val="65000"/>
                    <a:lumOff val="35000"/>
                  </a:schemeClr>
                </a:solidFill>
              </a:defRPr>
            </a:lvl1pPr>
            <a:lvl2pPr>
              <a:defRPr lang="zh-CN" altLang="en-US" sz="2835" smtClean="0"/>
            </a:lvl2pPr>
            <a:lvl3pPr>
              <a:defRPr lang="zh-CN" altLang="en-US" sz="2551" smtClean="0"/>
            </a:lvl3pPr>
            <a:lvl4pPr>
              <a:defRPr lang="zh-CN" altLang="en-US" sz="2268" smtClean="0"/>
            </a:lvl4pPr>
            <a:lvl5pPr>
              <a:defRPr lang="zh-CN" altLang="en-US" sz="2268"/>
            </a:lvl5pPr>
          </a:lstStyle>
          <a:p>
            <a:pPr marL="323979" marR="0" lvl="0" indent="-323979" fontAlgn="auto">
              <a:spcAft>
                <a:spcPts val="0"/>
              </a:spcAft>
              <a:buClrTx/>
              <a:buSzTx/>
              <a:tabLst/>
            </a:pPr>
            <a:r>
              <a:rPr lang="zh-CN" altLang="en-US"/>
              <a:t>时间日期</a:t>
            </a:r>
            <a:endParaRPr lang="en-US" altLang="zh-CN" dirty="0"/>
          </a:p>
        </p:txBody>
      </p:sp>
    </p:spTree>
    <p:extLst>
      <p:ext uri="{BB962C8B-B14F-4D97-AF65-F5344CB8AC3E}">
        <p14:creationId xmlns:p14="http://schemas.microsoft.com/office/powerpoint/2010/main" val="270176357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49497" y="2"/>
            <a:ext cx="15378696" cy="1458038"/>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文本占位符 2"/>
          <p:cNvSpPr>
            <a:spLocks noGrp="1"/>
          </p:cNvSpPr>
          <p:nvPr>
            <p:ph type="body" idx="1"/>
          </p:nvPr>
        </p:nvSpPr>
        <p:spPr>
          <a:xfrm>
            <a:off x="949497" y="1593045"/>
            <a:ext cx="15378696" cy="711469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grpSp>
        <p:nvGrpSpPr>
          <p:cNvPr id="13" name="组合 12"/>
          <p:cNvGrpSpPr/>
          <p:nvPr userDrawn="1"/>
        </p:nvGrpSpPr>
        <p:grpSpPr>
          <a:xfrm>
            <a:off x="949495" y="1468215"/>
            <a:ext cx="15378697" cy="95481"/>
            <a:chOff x="-1122704" y="0"/>
            <a:chExt cx="30704616" cy="6858000"/>
          </a:xfrm>
        </p:grpSpPr>
        <p:sp>
          <p:nvSpPr>
            <p:cNvPr id="14" name="平行四边形 13"/>
            <p:cNvSpPr/>
            <p:nvPr/>
          </p:nvSpPr>
          <p:spPr>
            <a:xfrm flipH="1">
              <a:off x="2352002" y="0"/>
              <a:ext cx="27229910" cy="685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p>
          </p:txBody>
        </p:sp>
        <p:sp>
          <p:nvSpPr>
            <p:cNvPr id="15" name="平行四边形 14"/>
            <p:cNvSpPr/>
            <p:nvPr/>
          </p:nvSpPr>
          <p:spPr>
            <a:xfrm flipH="1">
              <a:off x="-1122704" y="0"/>
              <a:ext cx="718396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dirty="0"/>
            </a:p>
          </p:txBody>
        </p:sp>
      </p:gr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78" r:id="rId3"/>
    <p:sldLayoutId id="2147483680" r:id="rId4"/>
    <p:sldLayoutId id="2147483677" r:id="rId5"/>
    <p:sldLayoutId id="2147483651" r:id="rId6"/>
    <p:sldLayoutId id="2147483668" r:id="rId7"/>
    <p:sldLayoutId id="2147483669" r:id="rId8"/>
    <p:sldLayoutId id="2147483670" r:id="rId9"/>
    <p:sldLayoutId id="2147483671" r:id="rId10"/>
    <p:sldLayoutId id="2147483672" r:id="rId11"/>
    <p:sldLayoutId id="2147483679" r:id="rId12"/>
    <p:sldLayoutId id="2147483673" r:id="rId13"/>
    <p:sldLayoutId id="2147483674" r:id="rId14"/>
    <p:sldLayoutId id="2147483675" r:id="rId15"/>
    <p:sldLayoutId id="2147483676" r:id="rId16"/>
    <p:sldLayoutId id="2147483654" r:id="rId17"/>
    <p:sldLayoutId id="2147483655" r:id="rId18"/>
    <p:sldLayoutId id="2147483661" r:id="rId19"/>
    <p:sldLayoutId id="2147483667" r:id="rId20"/>
    <p:sldLayoutId id="2147483681" r:id="rId21"/>
  </p:sldLayoutIdLst>
  <p:hf hdr="0" dt="0"/>
  <p:txStyles>
    <p:titleStyle>
      <a:lvl1pPr algn="l" defTabSz="914397" rtl="0" eaLnBrk="1" latinLnBrk="0" hangingPunct="1">
        <a:lnSpc>
          <a:spcPct val="90000"/>
        </a:lnSpc>
        <a:spcBef>
          <a:spcPct val="0"/>
        </a:spcBef>
        <a:buNone/>
        <a:defRPr sz="5400" b="1" kern="1200">
          <a:solidFill>
            <a:schemeClr val="tx1">
              <a:lumMod val="85000"/>
              <a:lumOff val="15000"/>
            </a:schemeClr>
          </a:solidFill>
          <a:latin typeface="+mj-lt"/>
          <a:ea typeface="+mj-ea"/>
          <a:cs typeface="+mj-cs"/>
        </a:defRPr>
      </a:lvl1pPr>
    </p:titleStyle>
    <p:bodyStyle>
      <a:lvl1pPr marL="228600" indent="-228600" algn="l" defTabSz="914397" rtl="0" eaLnBrk="1" latinLnBrk="0" hangingPunct="1">
        <a:lnSpc>
          <a:spcPct val="150000"/>
        </a:lnSpc>
        <a:spcBef>
          <a:spcPts val="1000"/>
        </a:spcBef>
        <a:buFont typeface="Arial" panose="020B0604020202020204" pitchFamily="34" charset="0"/>
        <a:buChar char="•"/>
        <a:defRPr sz="2400" kern="1200">
          <a:solidFill>
            <a:schemeClr val="tx1">
              <a:lumMod val="65000"/>
              <a:lumOff val="35000"/>
            </a:schemeClr>
          </a:solidFill>
          <a:latin typeface="+mn-lt"/>
          <a:ea typeface="+mn-ea"/>
          <a:cs typeface="+mn-cs"/>
        </a:defRPr>
      </a:lvl1pPr>
      <a:lvl2pPr marL="685798"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2996"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3pPr>
      <a:lvl4pPr marL="1600195"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4pPr>
      <a:lvl5pPr marL="2057394" indent="-228600" algn="l" defTabSz="914397" rtl="0" eaLnBrk="1" latinLnBrk="0" hangingPunct="1">
        <a:lnSpc>
          <a:spcPct val="15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5pPr>
      <a:lvl6pPr marL="2514592"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91"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90"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88" indent="-228600" algn="l" defTabSz="91439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97" rtl="0" eaLnBrk="1" latinLnBrk="0" hangingPunct="1">
        <a:defRPr sz="1800" kern="1200">
          <a:solidFill>
            <a:schemeClr val="tx1"/>
          </a:solidFill>
          <a:latin typeface="+mn-lt"/>
          <a:ea typeface="+mn-ea"/>
          <a:cs typeface="+mn-cs"/>
        </a:defRPr>
      </a:lvl1pPr>
      <a:lvl2pPr marL="457199" algn="l" defTabSz="914397" rtl="0" eaLnBrk="1" latinLnBrk="0" hangingPunct="1">
        <a:defRPr sz="1800" kern="1200">
          <a:solidFill>
            <a:schemeClr val="tx1"/>
          </a:solidFill>
          <a:latin typeface="+mn-lt"/>
          <a:ea typeface="+mn-ea"/>
          <a:cs typeface="+mn-cs"/>
        </a:defRPr>
      </a:lvl2pPr>
      <a:lvl3pPr marL="914397" algn="l" defTabSz="914397" rtl="0" eaLnBrk="1" latinLnBrk="0" hangingPunct="1">
        <a:defRPr sz="1800" kern="1200">
          <a:solidFill>
            <a:schemeClr val="tx1"/>
          </a:solidFill>
          <a:latin typeface="+mn-lt"/>
          <a:ea typeface="+mn-ea"/>
          <a:cs typeface="+mn-cs"/>
        </a:defRPr>
      </a:lvl3pPr>
      <a:lvl4pPr marL="1371596" algn="l" defTabSz="914397" rtl="0" eaLnBrk="1" latinLnBrk="0" hangingPunct="1">
        <a:defRPr sz="1800" kern="1200">
          <a:solidFill>
            <a:schemeClr val="tx1"/>
          </a:solidFill>
          <a:latin typeface="+mn-lt"/>
          <a:ea typeface="+mn-ea"/>
          <a:cs typeface="+mn-cs"/>
        </a:defRPr>
      </a:lvl4pPr>
      <a:lvl5pPr marL="1828795" algn="l" defTabSz="914397" rtl="0" eaLnBrk="1" latinLnBrk="0" hangingPunct="1">
        <a:defRPr sz="1800" kern="1200">
          <a:solidFill>
            <a:schemeClr val="tx1"/>
          </a:solidFill>
          <a:latin typeface="+mn-lt"/>
          <a:ea typeface="+mn-ea"/>
          <a:cs typeface="+mn-cs"/>
        </a:defRPr>
      </a:lvl5pPr>
      <a:lvl6pPr marL="2285993" algn="l" defTabSz="914397" rtl="0" eaLnBrk="1" latinLnBrk="0" hangingPunct="1">
        <a:defRPr sz="1800" kern="1200">
          <a:solidFill>
            <a:schemeClr val="tx1"/>
          </a:solidFill>
          <a:latin typeface="+mn-lt"/>
          <a:ea typeface="+mn-ea"/>
          <a:cs typeface="+mn-cs"/>
        </a:defRPr>
      </a:lvl6pPr>
      <a:lvl7pPr marL="2743191" algn="l" defTabSz="914397" rtl="0" eaLnBrk="1" latinLnBrk="0" hangingPunct="1">
        <a:defRPr sz="1800" kern="1200">
          <a:solidFill>
            <a:schemeClr val="tx1"/>
          </a:solidFill>
          <a:latin typeface="+mn-lt"/>
          <a:ea typeface="+mn-ea"/>
          <a:cs typeface="+mn-cs"/>
        </a:defRPr>
      </a:lvl7pPr>
      <a:lvl8pPr marL="3200390" algn="l" defTabSz="914397" rtl="0" eaLnBrk="1" latinLnBrk="0" hangingPunct="1">
        <a:defRPr sz="1800" kern="1200">
          <a:solidFill>
            <a:schemeClr val="tx1"/>
          </a:solidFill>
          <a:latin typeface="+mn-lt"/>
          <a:ea typeface="+mn-ea"/>
          <a:cs typeface="+mn-cs"/>
        </a:defRPr>
      </a:lvl8pPr>
      <a:lvl9pPr marL="3657590" algn="l" defTabSz="91439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7.xml"/><Relationship Id="rId1" Type="http://schemas.openxmlformats.org/officeDocument/2006/relationships/vmlDrawing" Target="../drawings/vmlDrawing8.vml"/><Relationship Id="rId6" Type="http://schemas.openxmlformats.org/officeDocument/2006/relationships/image" Target="../media/image26.wmf"/><Relationship Id="rId5" Type="http://schemas.openxmlformats.org/officeDocument/2006/relationships/oleObject" Target="../embeddings/oleObject9.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2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D3ACA3B-4256-495D-A63C-81C7F000BEC4}"/>
              </a:ext>
            </a:extLst>
          </p:cNvPr>
          <p:cNvSpPr>
            <a:spLocks noGrp="1"/>
          </p:cNvSpPr>
          <p:nvPr>
            <p:ph type="body" sz="quarter" idx="10"/>
          </p:nvPr>
        </p:nvSpPr>
        <p:spPr/>
        <p:txBody>
          <a:bodyPr/>
          <a:lstStyle/>
          <a:p>
            <a:endParaRPr lang="zh-CN" altLang="en-US"/>
          </a:p>
        </p:txBody>
      </p:sp>
      <p:sp>
        <p:nvSpPr>
          <p:cNvPr id="3" name="文本占位符 2">
            <a:extLst>
              <a:ext uri="{FF2B5EF4-FFF2-40B4-BE49-F238E27FC236}">
                <a16:creationId xmlns:a16="http://schemas.microsoft.com/office/drawing/2014/main" id="{F8DEEEBC-E15A-4402-A897-78CE0237B449}"/>
              </a:ext>
            </a:extLst>
          </p:cNvPr>
          <p:cNvSpPr>
            <a:spLocks noGrp="1"/>
          </p:cNvSpPr>
          <p:nvPr>
            <p:ph type="body" sz="quarter" idx="11"/>
          </p:nvPr>
        </p:nvSpPr>
        <p:spPr/>
        <p:txBody>
          <a:bodyPr/>
          <a:lstStyle/>
          <a:p>
            <a:endParaRPr lang="zh-CN" altLang="en-US"/>
          </a:p>
        </p:txBody>
      </p:sp>
      <p:sp>
        <p:nvSpPr>
          <p:cNvPr id="4" name="副标题 3">
            <a:extLst>
              <a:ext uri="{FF2B5EF4-FFF2-40B4-BE49-F238E27FC236}">
                <a16:creationId xmlns:a16="http://schemas.microsoft.com/office/drawing/2014/main" id="{B83D8818-FB69-42C0-9C4D-9EF247E8541C}"/>
              </a:ext>
            </a:extLst>
          </p:cNvPr>
          <p:cNvSpPr>
            <a:spLocks noGrp="1"/>
          </p:cNvSpPr>
          <p:nvPr>
            <p:ph type="subTitle" idx="1"/>
          </p:nvPr>
        </p:nvSpPr>
        <p:spPr/>
        <p:txBody>
          <a:bodyPr/>
          <a:lstStyle/>
          <a:p>
            <a:endParaRPr lang="zh-CN" altLang="en-US"/>
          </a:p>
        </p:txBody>
      </p:sp>
      <p:sp>
        <p:nvSpPr>
          <p:cNvPr id="5" name="标题 4">
            <a:extLst>
              <a:ext uri="{FF2B5EF4-FFF2-40B4-BE49-F238E27FC236}">
                <a16:creationId xmlns:a16="http://schemas.microsoft.com/office/drawing/2014/main" id="{E75CDD66-EC9C-4682-8AC4-F11F848C3453}"/>
              </a:ext>
            </a:extLst>
          </p:cNvPr>
          <p:cNvSpPr>
            <a:spLocks noGrp="1"/>
          </p:cNvSpPr>
          <p:nvPr>
            <p:ph type="ctrTitle"/>
          </p:nvPr>
        </p:nvSpPr>
        <p:spPr/>
        <p:txBody>
          <a:bodyPr/>
          <a:lstStyle/>
          <a:p>
            <a:r>
              <a:rPr lang="zh-CN" altLang="en-US" dirty="0"/>
              <a:t>业绩归因</a:t>
            </a:r>
          </a:p>
        </p:txBody>
      </p:sp>
    </p:spTree>
    <p:extLst>
      <p:ext uri="{BB962C8B-B14F-4D97-AF65-F5344CB8AC3E}">
        <p14:creationId xmlns:p14="http://schemas.microsoft.com/office/powerpoint/2010/main" val="1773504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553A9-2E90-4709-9FCB-0E6DB802A321}"/>
              </a:ext>
            </a:extLst>
          </p:cNvPr>
          <p:cNvSpPr>
            <a:spLocks noGrp="1"/>
          </p:cNvSpPr>
          <p:nvPr>
            <p:ph type="title"/>
          </p:nvPr>
        </p:nvSpPr>
        <p:spPr/>
        <p:txBody>
          <a:bodyPr/>
          <a:lstStyle/>
          <a:p>
            <a:r>
              <a:rPr lang="zh-CN" altLang="en-US" dirty="0"/>
              <a:t>（一）投资业绩</a:t>
            </a:r>
          </a:p>
        </p:txBody>
      </p:sp>
      <p:sp>
        <p:nvSpPr>
          <p:cNvPr id="3" name="文本占位符 2">
            <a:extLst>
              <a:ext uri="{FF2B5EF4-FFF2-40B4-BE49-F238E27FC236}">
                <a16:creationId xmlns:a16="http://schemas.microsoft.com/office/drawing/2014/main" id="{7F4E1109-82C3-4B5B-9A6D-03C0C65AF030}"/>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53522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AEB3A800-79EC-41CC-87F6-F5FE97ED3468}"/>
              </a:ext>
            </a:extLst>
          </p:cNvPr>
          <p:cNvSpPr>
            <a:spLocks noGrp="1"/>
          </p:cNvSpPr>
          <p:nvPr>
            <p:ph type="title"/>
          </p:nvPr>
        </p:nvSpPr>
        <p:spPr/>
        <p:txBody>
          <a:bodyPr>
            <a:normAutofit/>
          </a:bodyPr>
          <a:lstStyle/>
          <a:p>
            <a:r>
              <a:rPr lang="zh-CN" altLang="en-US" dirty="0"/>
              <a:t>市场背景</a:t>
            </a:r>
          </a:p>
        </p:txBody>
      </p:sp>
      <p:sp>
        <p:nvSpPr>
          <p:cNvPr id="9" name="内容占位符 8">
            <a:extLst>
              <a:ext uri="{FF2B5EF4-FFF2-40B4-BE49-F238E27FC236}">
                <a16:creationId xmlns:a16="http://schemas.microsoft.com/office/drawing/2014/main" id="{26EBF7BB-4D2E-40D5-9BD0-110AD3FCA751}"/>
              </a:ext>
            </a:extLst>
          </p:cNvPr>
          <p:cNvSpPr>
            <a:spLocks noGrp="1"/>
          </p:cNvSpPr>
          <p:nvPr>
            <p:ph idx="1"/>
          </p:nvPr>
        </p:nvSpPr>
        <p:spPr/>
        <p:txBody>
          <a:bodyPr/>
          <a:lstStyle/>
          <a:p>
            <a:r>
              <a:rPr lang="zh-CN" altLang="en-US" dirty="0"/>
              <a:t>现状</a:t>
            </a:r>
            <a:endParaRPr lang="en-US" altLang="zh-CN" dirty="0"/>
          </a:p>
          <a:p>
            <a:pPr lvl="1"/>
            <a:r>
              <a:rPr lang="zh-CN" altLang="en-US" dirty="0"/>
              <a:t>目前市场通常将债券业绩区分为资本利得、票息收入。</a:t>
            </a:r>
            <a:endParaRPr lang="en-US" altLang="zh-CN" dirty="0"/>
          </a:p>
          <a:p>
            <a:pPr lvl="1"/>
            <a:endParaRPr lang="en-US" altLang="zh-CN" dirty="0"/>
          </a:p>
          <a:p>
            <a:r>
              <a:rPr lang="zh-CN" altLang="en-US" dirty="0"/>
              <a:t>问题</a:t>
            </a:r>
            <a:endParaRPr lang="en-US" altLang="zh-CN" dirty="0"/>
          </a:p>
          <a:p>
            <a:pPr lvl="1"/>
            <a:r>
              <a:rPr lang="zh-CN" altLang="en-US" dirty="0"/>
              <a:t>债券收益的简单划分，无法获知债券投资收益的驱动因素；</a:t>
            </a:r>
            <a:endParaRPr lang="en-US" altLang="zh-CN" dirty="0"/>
          </a:p>
          <a:p>
            <a:pPr lvl="1"/>
            <a:r>
              <a:rPr lang="zh-CN" altLang="en-US" dirty="0"/>
              <a:t>无法评估交易员的操作能力或者投资策略的实施效果，更无法指导投资策略的制定。</a:t>
            </a:r>
            <a:endParaRPr lang="en-US" altLang="zh-CN" dirty="0"/>
          </a:p>
          <a:p>
            <a:pPr lvl="1"/>
            <a:endParaRPr lang="en-US" altLang="zh-CN" dirty="0"/>
          </a:p>
          <a:p>
            <a:pPr lvl="1"/>
            <a:r>
              <a:rPr lang="zh-CN" altLang="en-US" dirty="0"/>
              <a:t>如何将影响因素逐步剥离出来</a:t>
            </a:r>
            <a:endParaRPr lang="en-US" altLang="zh-CN" dirty="0"/>
          </a:p>
          <a:p>
            <a:pPr lvl="1"/>
            <a:r>
              <a:rPr lang="zh-CN" altLang="en-US" dirty="0"/>
              <a:t>如何评价投资管理人</a:t>
            </a:r>
            <a:r>
              <a:rPr lang="en-US" altLang="zh-CN" dirty="0"/>
              <a:t>/</a:t>
            </a:r>
            <a:r>
              <a:rPr lang="zh-CN" altLang="en-US" dirty="0"/>
              <a:t>交易员的投资水平</a:t>
            </a:r>
            <a:endParaRPr lang="en-US" altLang="zh-CN" dirty="0"/>
          </a:p>
          <a:p>
            <a:pPr lvl="1"/>
            <a:r>
              <a:rPr lang="zh-CN" altLang="en-US" dirty="0"/>
              <a:t>如何比较不同子市场的投资业绩</a:t>
            </a:r>
          </a:p>
          <a:p>
            <a:endParaRPr lang="zh-CN" altLang="en-US" dirty="0"/>
          </a:p>
        </p:txBody>
      </p:sp>
    </p:spTree>
    <p:extLst>
      <p:ext uri="{BB962C8B-B14F-4D97-AF65-F5344CB8AC3E}">
        <p14:creationId xmlns:p14="http://schemas.microsoft.com/office/powerpoint/2010/main" val="2131033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id="{6CB64F9A-F11A-429F-81CF-0C4C6533609A}"/>
              </a:ext>
            </a:extLst>
          </p:cNvPr>
          <p:cNvSpPr>
            <a:spLocks noGrp="1"/>
          </p:cNvSpPr>
          <p:nvPr>
            <p:ph type="title"/>
          </p:nvPr>
        </p:nvSpPr>
        <p:spPr/>
        <p:txBody>
          <a:bodyPr/>
          <a:lstStyle/>
          <a:p>
            <a:r>
              <a:rPr lang="zh-CN" altLang="en-US" dirty="0"/>
              <a:t>投资业绩的概念</a:t>
            </a:r>
          </a:p>
        </p:txBody>
      </p:sp>
      <p:sp>
        <p:nvSpPr>
          <p:cNvPr id="12" name="内容占位符 11">
            <a:extLst>
              <a:ext uri="{FF2B5EF4-FFF2-40B4-BE49-F238E27FC236}">
                <a16:creationId xmlns:a16="http://schemas.microsoft.com/office/drawing/2014/main" id="{CE95E3E0-0B89-4B4F-91D4-5010AF49E416}"/>
              </a:ext>
            </a:extLst>
          </p:cNvPr>
          <p:cNvSpPr>
            <a:spLocks noGrp="1"/>
          </p:cNvSpPr>
          <p:nvPr>
            <p:ph idx="1"/>
          </p:nvPr>
        </p:nvSpPr>
        <p:spPr/>
        <p:txBody>
          <a:bodyPr>
            <a:normAutofit/>
          </a:bodyPr>
          <a:lstStyle/>
          <a:p>
            <a:r>
              <a:rPr lang="zh-CN" altLang="en-US" dirty="0"/>
              <a:t>业绩的精确衡量和准确评价，能够准确评估出投资活动的收益能力，还会揭示市场的主要盈利因素，有助于提高或修正未来的投资策略。在具体形式上表现为投资回报率，譬如年化收益率、持有期收益率等。</a:t>
            </a:r>
            <a:endParaRPr lang="en-US" altLang="zh-CN" dirty="0"/>
          </a:p>
          <a:p>
            <a:endParaRPr lang="en-US" altLang="zh-CN" dirty="0"/>
          </a:p>
          <a:p>
            <a:r>
              <a:rPr lang="zh-CN" altLang="en-US" dirty="0"/>
              <a:t>目前，市场长期缺乏衡量债券投资收益的指数</a:t>
            </a:r>
            <a:endParaRPr lang="en-US" altLang="zh-CN" dirty="0"/>
          </a:p>
          <a:p>
            <a:pPr lvl="1"/>
            <a:r>
              <a:rPr lang="zh-CN" altLang="en-US" dirty="0"/>
              <a:t>全市场指数的成分个券数量众多、新老个券流动性差异较大、以及按流通量配比繁琐等因素，投资者仅能作为参考，而不能实现精确复制；</a:t>
            </a:r>
            <a:endParaRPr lang="en-US" altLang="zh-CN" dirty="0"/>
          </a:p>
          <a:p>
            <a:pPr lvl="1"/>
            <a:r>
              <a:rPr lang="zh-CN" altLang="en-US" dirty="0"/>
              <a:t>全市场指数包含了大量不活跃债券，估值行情会平滑实际的损益；</a:t>
            </a:r>
            <a:endParaRPr lang="en-US" altLang="zh-CN" dirty="0"/>
          </a:p>
          <a:p>
            <a:pPr lvl="1"/>
            <a:endParaRPr lang="en-US" altLang="zh-CN" dirty="0"/>
          </a:p>
          <a:p>
            <a:r>
              <a:rPr lang="zh-CN" altLang="en-US" dirty="0"/>
              <a:t>全市场指数较难满足机构投资的收益目标</a:t>
            </a:r>
            <a:endParaRPr lang="en-US" altLang="zh-CN" dirty="0"/>
          </a:p>
          <a:p>
            <a:pPr lvl="1"/>
            <a:r>
              <a:rPr lang="zh-CN" altLang="en-US" dirty="0"/>
              <a:t>机构持债品种分散程度有限</a:t>
            </a:r>
            <a:endParaRPr lang="en-US" altLang="zh-CN" dirty="0"/>
          </a:p>
          <a:p>
            <a:pPr lvl="1"/>
            <a:r>
              <a:rPr lang="zh-CN" altLang="en-US" dirty="0"/>
              <a:t>复制成本随着个券数目的增加而急剧增加</a:t>
            </a:r>
            <a:endParaRPr lang="en-US" altLang="zh-CN" dirty="0"/>
          </a:p>
        </p:txBody>
      </p:sp>
      <p:sp>
        <p:nvSpPr>
          <p:cNvPr id="6" name="Rectangle 1">
            <a:extLst>
              <a:ext uri="{FF2B5EF4-FFF2-40B4-BE49-F238E27FC236}">
                <a16:creationId xmlns:a16="http://schemas.microsoft.com/office/drawing/2014/main" id="{FC8DC6F3-5FDD-4245-B231-F33243B699F0}"/>
              </a:ext>
            </a:extLst>
          </p:cNvPr>
          <p:cNvSpPr>
            <a:spLocks noChangeArrowheads="1"/>
          </p:cNvSpPr>
          <p:nvPr/>
        </p:nvSpPr>
        <p:spPr bwMode="auto">
          <a:xfrm>
            <a:off x="2159995" y="-119819"/>
            <a:ext cx="65" cy="2399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endParaRPr lang="zh-CN" altLang="zh-CN" sz="1559" dirty="0">
              <a:solidFill>
                <a:srgbClr val="3F3F3F"/>
              </a:solidFill>
              <a:latin typeface="微软雅黑" panose="020B0503020204020204" pitchFamily="34" charset="-122"/>
              <a:ea typeface="微软雅黑" panose="020B0503020204020204" pitchFamily="34" charset="-122"/>
            </a:endParaRPr>
          </a:p>
        </p:txBody>
      </p:sp>
      <p:sp>
        <p:nvSpPr>
          <p:cNvPr id="8" name="AutoShape 3" descr="https://mmbiz.qpic.cn/mmbiz_png/zUAvLdkwaTneh3JC3gCIvoHdMC2VEqX71uP1mOaAbcDNByJpgAr3y4M02XBu9ZazoyLOvmxrYuyicYM8BQ4KV9w/640?tp=webp&amp;wxfrom=5&amp;wx_lazy=1">
            <a:extLst>
              <a:ext uri="{FF2B5EF4-FFF2-40B4-BE49-F238E27FC236}">
                <a16:creationId xmlns:a16="http://schemas.microsoft.com/office/drawing/2014/main" id="{B4FDB8A3-BE07-48E3-A6A5-308B000E7164}"/>
              </a:ext>
            </a:extLst>
          </p:cNvPr>
          <p:cNvSpPr>
            <a:spLocks noChangeAspect="1" noChangeArrowheads="1"/>
          </p:cNvSpPr>
          <p:nvPr/>
        </p:nvSpPr>
        <p:spPr bwMode="auto">
          <a:xfrm>
            <a:off x="2218492" y="-159601"/>
            <a:ext cx="431998" cy="432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9600" tIns="64800" rIns="129600" bIns="64800" numCol="1" anchor="t" anchorCtr="0" compatLnSpc="1">
            <a:prstTxWarp prst="textNoShape">
              <a:avLst/>
            </a:prstTxWarp>
          </a:bodyPr>
          <a:lstStyle/>
          <a:p>
            <a:endParaRPr lang="zh-CN" altLang="en-US" sz="3616"/>
          </a:p>
        </p:txBody>
      </p:sp>
      <p:sp>
        <p:nvSpPr>
          <p:cNvPr id="9" name="AutoShape 4" descr="https://mmbiz.qpic.cn/mmbiz_png/fgnkxfGnnkTCn9CM7gsz2TeC23XHeGqX9biandgaN1E7AmkTJRoKA989qiajibqyrMShTN87xW9pmXsO2Gm7QxpCg/640.png?tp=webp&amp;wxfrom=5&amp;wx_lazy=1">
            <a:extLst>
              <a:ext uri="{FF2B5EF4-FFF2-40B4-BE49-F238E27FC236}">
                <a16:creationId xmlns:a16="http://schemas.microsoft.com/office/drawing/2014/main" id="{10A3AD61-4870-45BD-80A8-AC4F5D33D3F0}"/>
              </a:ext>
            </a:extLst>
          </p:cNvPr>
          <p:cNvSpPr>
            <a:spLocks noChangeAspect="1" noChangeArrowheads="1"/>
          </p:cNvSpPr>
          <p:nvPr/>
        </p:nvSpPr>
        <p:spPr bwMode="auto">
          <a:xfrm>
            <a:off x="2218492" y="553647"/>
            <a:ext cx="431998" cy="4319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9600" tIns="64800" rIns="129600" bIns="64800" numCol="1" anchor="t" anchorCtr="0" compatLnSpc="1">
            <a:prstTxWarp prst="textNoShape">
              <a:avLst/>
            </a:prstTxWarp>
          </a:bodyPr>
          <a:lstStyle/>
          <a:p>
            <a:endParaRPr lang="zh-CN" altLang="en-US" sz="3616"/>
          </a:p>
        </p:txBody>
      </p:sp>
      <p:sp>
        <p:nvSpPr>
          <p:cNvPr id="10" name="AutoShape 5" descr="https://mmbiz.qpic.cn/mmbiz_png/zUAvLdkwaTneh3JC3gCIvoHdMC2VEqX72f8ulqgof5gU7B6t74gRSPP9HJEmKFF50o9cJmpwvUhJk6QDRPliaeA/640?tp=webp&amp;wxfrom=5&amp;wx_lazy=1">
            <a:extLst>
              <a:ext uri="{FF2B5EF4-FFF2-40B4-BE49-F238E27FC236}">
                <a16:creationId xmlns:a16="http://schemas.microsoft.com/office/drawing/2014/main" id="{1BA2B57C-14A0-4BB3-B831-4ECAAF66AAEB}"/>
              </a:ext>
            </a:extLst>
          </p:cNvPr>
          <p:cNvSpPr>
            <a:spLocks noChangeAspect="1" noChangeArrowheads="1"/>
          </p:cNvSpPr>
          <p:nvPr/>
        </p:nvSpPr>
        <p:spPr bwMode="auto">
          <a:xfrm>
            <a:off x="2218492" y="2047641"/>
            <a:ext cx="431998" cy="4319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9600" tIns="64800" rIns="129600" bIns="64800" numCol="1" anchor="t" anchorCtr="0" compatLnSpc="1">
            <a:prstTxWarp prst="textNoShape">
              <a:avLst/>
            </a:prstTxWarp>
          </a:bodyPr>
          <a:lstStyle/>
          <a:p>
            <a:endParaRPr lang="zh-CN" altLang="en-US" sz="3616"/>
          </a:p>
        </p:txBody>
      </p:sp>
    </p:spTree>
    <p:extLst>
      <p:ext uri="{BB962C8B-B14F-4D97-AF65-F5344CB8AC3E}">
        <p14:creationId xmlns:p14="http://schemas.microsoft.com/office/powerpoint/2010/main" val="3593255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A487D8-7B6F-4F58-AC7F-F95545205B2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675DF2E-90B7-47DA-8D9E-241EACA6CE6D}"/>
              </a:ext>
            </a:extLst>
          </p:cNvPr>
          <p:cNvSpPr>
            <a:spLocks noGrp="1"/>
          </p:cNvSpPr>
          <p:nvPr>
            <p:ph idx="1"/>
          </p:nvPr>
        </p:nvSpPr>
        <p:spPr/>
        <p:txBody>
          <a:bodyPr/>
          <a:lstStyle/>
          <a:p>
            <a:r>
              <a:rPr lang="zh-CN" altLang="en-US" dirty="0"/>
              <a:t>目前，债券市场的业绩分析较简单，缺乏风险和收益的平衡。</a:t>
            </a:r>
            <a:endParaRPr lang="en-US" altLang="zh-CN" dirty="0"/>
          </a:p>
          <a:p>
            <a:pPr lvl="1"/>
            <a:r>
              <a:rPr lang="zh-CN" altLang="en-US" dirty="0"/>
              <a:t>通常将债券业绩简单划分为资本利得和票息收入，并采取迎合业绩考核的方式灵活调整账户分类，初期的好处显而易见；</a:t>
            </a:r>
            <a:endParaRPr lang="en-US" altLang="zh-CN" dirty="0"/>
          </a:p>
          <a:p>
            <a:pPr lvl="1"/>
            <a:r>
              <a:rPr lang="zh-CN" altLang="en-US" dirty="0"/>
              <a:t>无法合理分析投资收益的主要因素，无法评估交易团队择时、选券能力、交易能力等。</a:t>
            </a:r>
            <a:endParaRPr lang="en-US" altLang="zh-CN" dirty="0"/>
          </a:p>
          <a:p>
            <a:pPr lvl="1"/>
            <a:r>
              <a:rPr lang="zh-CN" altLang="en-US" dirty="0"/>
              <a:t>投资团队可能为博取超额回报过于激进，在缺乏投资能力的情况下，让机构承受过度风险。</a:t>
            </a:r>
          </a:p>
          <a:p>
            <a:endParaRPr lang="en-US" altLang="zh-CN" dirty="0"/>
          </a:p>
          <a:p>
            <a:r>
              <a:rPr lang="zh-CN" altLang="zh-CN" dirty="0"/>
              <a:t>行业</a:t>
            </a:r>
            <a:r>
              <a:rPr lang="zh-CN" altLang="en-US" dirty="0"/>
              <a:t>的资管</a:t>
            </a:r>
            <a:r>
              <a:rPr lang="zh-CN" altLang="zh-CN" dirty="0"/>
              <a:t>软件</a:t>
            </a:r>
            <a:r>
              <a:rPr lang="zh-CN" altLang="en-US" dirty="0"/>
              <a:t>也沿用这一思路</a:t>
            </a:r>
            <a:endParaRPr lang="en-US" altLang="zh-CN" dirty="0"/>
          </a:p>
          <a:p>
            <a:pPr lvl="1"/>
            <a:r>
              <a:rPr lang="zh-CN" altLang="en-US" dirty="0"/>
              <a:t>简化假设</a:t>
            </a:r>
            <a:r>
              <a:rPr lang="zh-CN" altLang="zh-CN" dirty="0"/>
              <a:t>到期收益率曲线平行移动来简化计算</a:t>
            </a:r>
            <a:endParaRPr lang="en-US" altLang="zh-CN" dirty="0"/>
          </a:p>
          <a:p>
            <a:pPr lvl="1"/>
            <a:r>
              <a:rPr lang="zh-CN" altLang="zh-CN" dirty="0"/>
              <a:t>但这种曲线平移的假设在实践中是极少的情况</a:t>
            </a:r>
          </a:p>
          <a:p>
            <a:endParaRPr lang="zh-CN" altLang="en-US" dirty="0"/>
          </a:p>
        </p:txBody>
      </p:sp>
    </p:spTree>
    <p:extLst>
      <p:ext uri="{BB962C8B-B14F-4D97-AF65-F5344CB8AC3E}">
        <p14:creationId xmlns:p14="http://schemas.microsoft.com/office/powerpoint/2010/main" val="1079937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F9242F-A2A7-4FF0-ADA2-58909D3E8E9C}"/>
              </a:ext>
            </a:extLst>
          </p:cNvPr>
          <p:cNvSpPr>
            <a:spLocks noGrp="1"/>
          </p:cNvSpPr>
          <p:nvPr>
            <p:ph type="title"/>
          </p:nvPr>
        </p:nvSpPr>
        <p:spPr/>
        <p:txBody>
          <a:bodyPr/>
          <a:lstStyle/>
          <a:p>
            <a:r>
              <a:rPr lang="zh-CN" altLang="en-US" dirty="0"/>
              <a:t>投资收益的来源</a:t>
            </a:r>
          </a:p>
        </p:txBody>
      </p:sp>
      <p:sp>
        <p:nvSpPr>
          <p:cNvPr id="3" name="内容占位符 2">
            <a:extLst>
              <a:ext uri="{FF2B5EF4-FFF2-40B4-BE49-F238E27FC236}">
                <a16:creationId xmlns:a16="http://schemas.microsoft.com/office/drawing/2014/main" id="{2A449C43-3811-4614-865D-88AC34FCD0C8}"/>
              </a:ext>
            </a:extLst>
          </p:cNvPr>
          <p:cNvSpPr>
            <a:spLocks noGrp="1"/>
          </p:cNvSpPr>
          <p:nvPr>
            <p:ph idx="1"/>
          </p:nvPr>
        </p:nvSpPr>
        <p:spPr/>
        <p:txBody>
          <a:bodyPr/>
          <a:lstStyle/>
          <a:p>
            <a:r>
              <a:rPr lang="zh-CN" altLang="en-US" dirty="0"/>
              <a:t>首先，要清晰的界定债券投资的收益来源，以及对应的影响因素</a:t>
            </a:r>
            <a:endParaRPr lang="en-US" altLang="zh-CN" dirty="0"/>
          </a:p>
          <a:p>
            <a:endParaRPr lang="zh-CN" altLang="en-US" dirty="0"/>
          </a:p>
        </p:txBody>
      </p:sp>
      <p:grpSp>
        <p:nvGrpSpPr>
          <p:cNvPr id="21" name="组合 20">
            <a:extLst>
              <a:ext uri="{FF2B5EF4-FFF2-40B4-BE49-F238E27FC236}">
                <a16:creationId xmlns:a16="http://schemas.microsoft.com/office/drawing/2014/main" id="{DDF19018-9D44-4879-AF38-EF06E2CAA756}"/>
              </a:ext>
            </a:extLst>
          </p:cNvPr>
          <p:cNvGrpSpPr/>
          <p:nvPr/>
        </p:nvGrpSpPr>
        <p:grpSpPr>
          <a:xfrm>
            <a:off x="1235959" y="2941518"/>
            <a:ext cx="15628961" cy="4825720"/>
            <a:chOff x="986143" y="1768113"/>
            <a:chExt cx="8593460" cy="2957031"/>
          </a:xfrm>
        </p:grpSpPr>
        <p:sp>
          <p:nvSpPr>
            <p:cNvPr id="22" name="矩形 21">
              <a:extLst>
                <a:ext uri="{FF2B5EF4-FFF2-40B4-BE49-F238E27FC236}">
                  <a16:creationId xmlns:a16="http://schemas.microsoft.com/office/drawing/2014/main" id="{29B2B716-D37C-4CC4-9C77-AC915C2C26C7}"/>
                </a:ext>
              </a:extLst>
            </p:cNvPr>
            <p:cNvSpPr/>
            <p:nvPr/>
          </p:nvSpPr>
          <p:spPr>
            <a:xfrm>
              <a:off x="8530081" y="1768113"/>
              <a:ext cx="1049522" cy="295232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en-US" altLang="zh-CN" sz="2268" dirty="0">
                  <a:solidFill>
                    <a:sysClr val="windowText" lastClr="000000"/>
                  </a:solidFill>
                  <a:latin typeface="微软雅黑" panose="020B0503020204020204" pitchFamily="34" charset="-122"/>
                  <a:ea typeface="微软雅黑" panose="020B0503020204020204" pitchFamily="34" charset="-122"/>
                </a:rPr>
                <a:t>FTP</a:t>
              </a:r>
              <a:r>
                <a:rPr lang="zh-CN" altLang="en-US" sz="2268" dirty="0">
                  <a:solidFill>
                    <a:sysClr val="windowText" lastClr="000000"/>
                  </a:solidFill>
                  <a:latin typeface="微软雅黑" panose="020B0503020204020204" pitchFamily="34" charset="-122"/>
                  <a:ea typeface="微软雅黑" panose="020B0503020204020204" pitchFamily="34" charset="-122"/>
                </a:rPr>
                <a:t>成本</a:t>
              </a: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监管资源</a:t>
              </a: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通道费用</a:t>
              </a:r>
              <a:endParaRPr lang="en-US" altLang="zh-CN" sz="2268" dirty="0">
                <a:solidFill>
                  <a:sysClr val="windowText" lastClr="000000"/>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AAF07A38-3CA7-4843-9BCD-247E1680EC6C}"/>
                </a:ext>
              </a:extLst>
            </p:cNvPr>
            <p:cNvSpPr/>
            <p:nvPr/>
          </p:nvSpPr>
          <p:spPr>
            <a:xfrm>
              <a:off x="5822011" y="1768113"/>
              <a:ext cx="1083051" cy="295232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已付利息</a:t>
              </a:r>
            </a:p>
          </p:txBody>
        </p:sp>
        <p:sp>
          <p:nvSpPr>
            <p:cNvPr id="24" name="矩形 23">
              <a:extLst>
                <a:ext uri="{FF2B5EF4-FFF2-40B4-BE49-F238E27FC236}">
                  <a16:creationId xmlns:a16="http://schemas.microsoft.com/office/drawing/2014/main" id="{F99BE13F-4A73-4000-AEB3-C6CEFE3F286B}"/>
                </a:ext>
              </a:extLst>
            </p:cNvPr>
            <p:cNvSpPr/>
            <p:nvPr/>
          </p:nvSpPr>
          <p:spPr>
            <a:xfrm>
              <a:off x="7127329" y="1768113"/>
              <a:ext cx="1049522" cy="295232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融资成本</a:t>
              </a: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杠杆成本</a:t>
              </a: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流动性溢价</a:t>
              </a:r>
            </a:p>
          </p:txBody>
        </p:sp>
        <p:sp>
          <p:nvSpPr>
            <p:cNvPr id="25" name="矩形 24">
              <a:extLst>
                <a:ext uri="{FF2B5EF4-FFF2-40B4-BE49-F238E27FC236}">
                  <a16:creationId xmlns:a16="http://schemas.microsoft.com/office/drawing/2014/main" id="{E8C09CC9-C88C-42C9-8C76-DD706CA3F6C4}"/>
                </a:ext>
              </a:extLst>
            </p:cNvPr>
            <p:cNvSpPr/>
            <p:nvPr/>
          </p:nvSpPr>
          <p:spPr>
            <a:xfrm>
              <a:off x="4537507" y="1768332"/>
              <a:ext cx="1058561" cy="295232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应计利息</a:t>
              </a:r>
            </a:p>
          </p:txBody>
        </p:sp>
        <p:sp>
          <p:nvSpPr>
            <p:cNvPr id="26" name="矩形 25">
              <a:extLst>
                <a:ext uri="{FF2B5EF4-FFF2-40B4-BE49-F238E27FC236}">
                  <a16:creationId xmlns:a16="http://schemas.microsoft.com/office/drawing/2014/main" id="{B84F0531-7736-473E-9F06-FE4FD9A35685}"/>
                </a:ext>
              </a:extLst>
            </p:cNvPr>
            <p:cNvSpPr/>
            <p:nvPr/>
          </p:nvSpPr>
          <p:spPr>
            <a:xfrm>
              <a:off x="2234488" y="1772816"/>
              <a:ext cx="2056262" cy="295232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endParaRPr lang="en-US" altLang="zh-CN" sz="2268"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2268" dirty="0">
                  <a:solidFill>
                    <a:sysClr val="windowText" lastClr="000000"/>
                  </a:solidFill>
                  <a:latin typeface="微软雅黑" panose="020B0503020204020204" pitchFamily="34" charset="-122"/>
                  <a:ea typeface="微软雅黑" panose="020B0503020204020204" pitchFamily="34" charset="-122"/>
                </a:rPr>
                <a:t>净价价值</a:t>
              </a:r>
            </a:p>
          </p:txBody>
        </p:sp>
        <p:grpSp>
          <p:nvGrpSpPr>
            <p:cNvPr id="27" name="组合 26">
              <a:extLst>
                <a:ext uri="{FF2B5EF4-FFF2-40B4-BE49-F238E27FC236}">
                  <a16:creationId xmlns:a16="http://schemas.microsoft.com/office/drawing/2014/main" id="{5EE56D56-ACC0-4579-AD2C-F64FA8D2FCB8}"/>
                </a:ext>
              </a:extLst>
            </p:cNvPr>
            <p:cNvGrpSpPr/>
            <p:nvPr/>
          </p:nvGrpSpPr>
          <p:grpSpPr>
            <a:xfrm>
              <a:off x="986143" y="1988840"/>
              <a:ext cx="8444993" cy="1021067"/>
              <a:chOff x="1490199" y="1975885"/>
              <a:chExt cx="8444993" cy="1021067"/>
            </a:xfrm>
          </p:grpSpPr>
          <p:sp>
            <p:nvSpPr>
              <p:cNvPr id="28" name="矩形 27">
                <a:extLst>
                  <a:ext uri="{FF2B5EF4-FFF2-40B4-BE49-F238E27FC236}">
                    <a16:creationId xmlns:a16="http://schemas.microsoft.com/office/drawing/2014/main" id="{EB4A5E20-B0F0-4D7C-9E6F-766D6C19DFB5}"/>
                  </a:ext>
                </a:extLst>
              </p:cNvPr>
              <p:cNvSpPr/>
              <p:nvPr/>
            </p:nvSpPr>
            <p:spPr>
              <a:xfrm>
                <a:off x="1490199" y="1975885"/>
                <a:ext cx="792088" cy="1000838"/>
              </a:xfrm>
              <a:prstGeom prst="rect">
                <a:avLst/>
              </a:pr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68" b="1" dirty="0">
                    <a:solidFill>
                      <a:srgbClr val="002060"/>
                    </a:solidFill>
                    <a:latin typeface="微软雅黑" panose="020B0503020204020204" pitchFamily="34" charset="-122"/>
                    <a:ea typeface="微软雅黑" panose="020B0503020204020204" pitchFamily="34" charset="-122"/>
                  </a:rPr>
                  <a:t>总</a:t>
                </a:r>
                <a:endParaRPr lang="en-US" altLang="zh-CN" sz="2268" b="1" dirty="0">
                  <a:solidFill>
                    <a:srgbClr val="002060"/>
                  </a:solidFill>
                  <a:latin typeface="微软雅黑" panose="020B0503020204020204" pitchFamily="34" charset="-122"/>
                  <a:ea typeface="微软雅黑" panose="020B0503020204020204" pitchFamily="34" charset="-122"/>
                </a:endParaRPr>
              </a:p>
              <a:p>
                <a:pPr algn="ctr"/>
                <a:r>
                  <a:rPr lang="zh-CN" altLang="en-US" sz="2268" b="1" dirty="0">
                    <a:solidFill>
                      <a:srgbClr val="002060"/>
                    </a:solidFill>
                    <a:latin typeface="微软雅黑" panose="020B0503020204020204" pitchFamily="34" charset="-122"/>
                    <a:ea typeface="微软雅黑" panose="020B0503020204020204" pitchFamily="34" charset="-122"/>
                  </a:rPr>
                  <a:t>收</a:t>
                </a:r>
                <a:endParaRPr lang="en-US" altLang="zh-CN" sz="2268" b="1" dirty="0">
                  <a:solidFill>
                    <a:srgbClr val="002060"/>
                  </a:solidFill>
                  <a:latin typeface="微软雅黑" panose="020B0503020204020204" pitchFamily="34" charset="-122"/>
                  <a:ea typeface="微软雅黑" panose="020B0503020204020204" pitchFamily="34" charset="-122"/>
                </a:endParaRPr>
              </a:p>
              <a:p>
                <a:pPr algn="ctr"/>
                <a:r>
                  <a:rPr lang="zh-CN" altLang="en-US" sz="2268" b="1" dirty="0">
                    <a:solidFill>
                      <a:srgbClr val="002060"/>
                    </a:solidFill>
                    <a:latin typeface="微软雅黑" panose="020B0503020204020204" pitchFamily="34" charset="-122"/>
                    <a:ea typeface="微软雅黑" panose="020B0503020204020204" pitchFamily="34" charset="-122"/>
                  </a:rPr>
                  <a:t>益</a:t>
                </a:r>
              </a:p>
            </p:txBody>
          </p:sp>
          <p:sp>
            <p:nvSpPr>
              <p:cNvPr id="29" name="矩形 28">
                <a:extLst>
                  <a:ext uri="{FF2B5EF4-FFF2-40B4-BE49-F238E27FC236}">
                    <a16:creationId xmlns:a16="http://schemas.microsoft.com/office/drawing/2014/main" id="{920499A4-F2A6-4B0C-8A49-87EBB23C163A}"/>
                  </a:ext>
                </a:extLst>
              </p:cNvPr>
              <p:cNvSpPr/>
              <p:nvPr/>
            </p:nvSpPr>
            <p:spPr>
              <a:xfrm>
                <a:off x="2803261" y="1993324"/>
                <a:ext cx="792088" cy="1000838"/>
              </a:xfrm>
              <a:prstGeom prst="rect">
                <a:avLst/>
              </a:prstGeom>
              <a:solidFill>
                <a:schemeClr val="accent3">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68" b="1" dirty="0">
                    <a:solidFill>
                      <a:srgbClr val="002060"/>
                    </a:solidFill>
                    <a:latin typeface="微软雅黑" panose="020B0503020204020204" pitchFamily="34" charset="-122"/>
                    <a:ea typeface="微软雅黑" panose="020B0503020204020204" pitchFamily="34" charset="-122"/>
                  </a:rPr>
                  <a:t>期末市值</a:t>
                </a:r>
              </a:p>
            </p:txBody>
          </p:sp>
          <p:sp>
            <p:nvSpPr>
              <p:cNvPr id="30" name="矩形 29">
                <a:extLst>
                  <a:ext uri="{FF2B5EF4-FFF2-40B4-BE49-F238E27FC236}">
                    <a16:creationId xmlns:a16="http://schemas.microsoft.com/office/drawing/2014/main" id="{2F45FCD8-36B8-4290-9234-17697335A2D2}"/>
                  </a:ext>
                </a:extLst>
              </p:cNvPr>
              <p:cNvSpPr/>
              <p:nvPr/>
            </p:nvSpPr>
            <p:spPr>
              <a:xfrm>
                <a:off x="3914871" y="1996114"/>
                <a:ext cx="792088" cy="1000838"/>
              </a:xfrm>
              <a:prstGeom prst="rect">
                <a:avLst/>
              </a:prstGeom>
              <a:solidFill>
                <a:schemeClr val="accent3">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68" b="1" dirty="0">
                    <a:solidFill>
                      <a:srgbClr val="002060"/>
                    </a:solidFill>
                    <a:latin typeface="微软雅黑" panose="020B0503020204020204" pitchFamily="34" charset="-122"/>
                    <a:ea typeface="微软雅黑" panose="020B0503020204020204" pitchFamily="34" charset="-122"/>
                  </a:rPr>
                  <a:t>期初市值</a:t>
                </a:r>
              </a:p>
            </p:txBody>
          </p:sp>
          <p:sp>
            <p:nvSpPr>
              <p:cNvPr id="31" name="矩形 30">
                <a:extLst>
                  <a:ext uri="{FF2B5EF4-FFF2-40B4-BE49-F238E27FC236}">
                    <a16:creationId xmlns:a16="http://schemas.microsoft.com/office/drawing/2014/main" id="{697C0ABD-BCD8-4C5A-8FC5-499761644156}"/>
                  </a:ext>
                </a:extLst>
              </p:cNvPr>
              <p:cNvSpPr/>
              <p:nvPr/>
            </p:nvSpPr>
            <p:spPr>
              <a:xfrm>
                <a:off x="5190031" y="1975885"/>
                <a:ext cx="792088" cy="1000838"/>
              </a:xfrm>
              <a:prstGeom prst="rect">
                <a:avLst/>
              </a:prstGeom>
              <a:solidFill>
                <a:schemeClr val="accent6">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68" b="1" dirty="0">
                    <a:solidFill>
                      <a:srgbClr val="002060"/>
                    </a:solidFill>
                    <a:latin typeface="微软雅黑" panose="020B0503020204020204" pitchFamily="34" charset="-122"/>
                    <a:ea typeface="微软雅黑" panose="020B0503020204020204" pitchFamily="34" charset="-122"/>
                  </a:rPr>
                  <a:t>应计利息</a:t>
                </a:r>
              </a:p>
            </p:txBody>
          </p:sp>
          <p:sp>
            <p:nvSpPr>
              <p:cNvPr id="32" name="矩形 31">
                <a:extLst>
                  <a:ext uri="{FF2B5EF4-FFF2-40B4-BE49-F238E27FC236}">
                    <a16:creationId xmlns:a16="http://schemas.microsoft.com/office/drawing/2014/main" id="{8F6E675E-D35E-4B6B-8CEB-27EA4D64488C}"/>
                  </a:ext>
                </a:extLst>
              </p:cNvPr>
              <p:cNvSpPr/>
              <p:nvPr/>
            </p:nvSpPr>
            <p:spPr>
              <a:xfrm>
                <a:off x="6465191" y="1996114"/>
                <a:ext cx="792088" cy="1000838"/>
              </a:xfrm>
              <a:prstGeom prst="rect">
                <a:avLst/>
              </a:prstGeom>
              <a:solidFill>
                <a:schemeClr val="accent6">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68" b="1" dirty="0">
                    <a:solidFill>
                      <a:srgbClr val="002060"/>
                    </a:solidFill>
                    <a:latin typeface="微软雅黑" panose="020B0503020204020204" pitchFamily="34" charset="-122"/>
                    <a:ea typeface="微软雅黑" panose="020B0503020204020204" pitchFamily="34" charset="-122"/>
                  </a:rPr>
                  <a:t>再投资收益</a:t>
                </a:r>
              </a:p>
            </p:txBody>
          </p:sp>
          <p:sp>
            <p:nvSpPr>
              <p:cNvPr id="33" name="矩形 32">
                <a:extLst>
                  <a:ext uri="{FF2B5EF4-FFF2-40B4-BE49-F238E27FC236}">
                    <a16:creationId xmlns:a16="http://schemas.microsoft.com/office/drawing/2014/main" id="{4305BEFB-96A1-45E5-A413-B9A5712D6884}"/>
                  </a:ext>
                </a:extLst>
              </p:cNvPr>
              <p:cNvSpPr/>
              <p:nvPr/>
            </p:nvSpPr>
            <p:spPr>
              <a:xfrm>
                <a:off x="7740352" y="1996114"/>
                <a:ext cx="792088" cy="1000838"/>
              </a:xfrm>
              <a:prstGeom prst="rect">
                <a:avLst/>
              </a:prstGeom>
              <a:solidFill>
                <a:schemeClr val="accent4">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68" b="1" dirty="0">
                    <a:solidFill>
                      <a:srgbClr val="002060"/>
                    </a:solidFill>
                    <a:latin typeface="微软雅黑" panose="020B0503020204020204" pitchFamily="34" charset="-122"/>
                    <a:ea typeface="微软雅黑" panose="020B0503020204020204" pitchFamily="34" charset="-122"/>
                  </a:rPr>
                  <a:t>融资成本</a:t>
                </a:r>
              </a:p>
            </p:txBody>
          </p:sp>
          <p:sp>
            <p:nvSpPr>
              <p:cNvPr id="34" name="加号 33">
                <a:extLst>
                  <a:ext uri="{FF2B5EF4-FFF2-40B4-BE49-F238E27FC236}">
                    <a16:creationId xmlns:a16="http://schemas.microsoft.com/office/drawing/2014/main" id="{61058690-F20C-4343-BADA-C61F307E8333}"/>
                  </a:ext>
                </a:extLst>
              </p:cNvPr>
              <p:cNvSpPr/>
              <p:nvPr/>
            </p:nvSpPr>
            <p:spPr>
              <a:xfrm>
                <a:off x="4794806" y="2369687"/>
                <a:ext cx="348114" cy="313984"/>
              </a:xfrm>
              <a:prstGeom prst="mathPlus">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8" b="1"/>
              </a:p>
            </p:txBody>
          </p:sp>
          <p:sp>
            <p:nvSpPr>
              <p:cNvPr id="35" name="减号 34">
                <a:extLst>
                  <a:ext uri="{FF2B5EF4-FFF2-40B4-BE49-F238E27FC236}">
                    <a16:creationId xmlns:a16="http://schemas.microsoft.com/office/drawing/2014/main" id="{EE5E06F1-4266-4906-896D-3ED166C4288F}"/>
                  </a:ext>
                </a:extLst>
              </p:cNvPr>
              <p:cNvSpPr/>
              <p:nvPr/>
            </p:nvSpPr>
            <p:spPr>
              <a:xfrm>
                <a:off x="3609673" y="2461924"/>
                <a:ext cx="288032" cy="188390"/>
              </a:xfrm>
              <a:prstGeom prst="mathMinus">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8" b="1"/>
              </a:p>
            </p:txBody>
          </p:sp>
          <p:sp>
            <p:nvSpPr>
              <p:cNvPr id="36" name="等于号 37">
                <a:extLst>
                  <a:ext uri="{FF2B5EF4-FFF2-40B4-BE49-F238E27FC236}">
                    <a16:creationId xmlns:a16="http://schemas.microsoft.com/office/drawing/2014/main" id="{0BD9EA39-8DC3-43FF-9FF3-18A686BC0E2C}"/>
                  </a:ext>
                </a:extLst>
              </p:cNvPr>
              <p:cNvSpPr/>
              <p:nvPr/>
            </p:nvSpPr>
            <p:spPr>
              <a:xfrm>
                <a:off x="2296882" y="2408591"/>
                <a:ext cx="432048" cy="295056"/>
              </a:xfrm>
              <a:prstGeom prst="mathEqual">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8" b="1">
                  <a:solidFill>
                    <a:schemeClr val="tx1"/>
                  </a:solidFill>
                </a:endParaRPr>
              </a:p>
            </p:txBody>
          </p:sp>
          <p:sp>
            <p:nvSpPr>
              <p:cNvPr id="37" name="加号 36">
                <a:extLst>
                  <a:ext uri="{FF2B5EF4-FFF2-40B4-BE49-F238E27FC236}">
                    <a16:creationId xmlns:a16="http://schemas.microsoft.com/office/drawing/2014/main" id="{CAE3957A-6B51-4335-B619-57FF0C7BD9F2}"/>
                  </a:ext>
                </a:extLst>
              </p:cNvPr>
              <p:cNvSpPr/>
              <p:nvPr/>
            </p:nvSpPr>
            <p:spPr>
              <a:xfrm>
                <a:off x="6055638" y="2389916"/>
                <a:ext cx="348114" cy="313984"/>
              </a:xfrm>
              <a:prstGeom prst="mathPlus">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8" b="1"/>
              </a:p>
            </p:txBody>
          </p:sp>
          <p:sp>
            <p:nvSpPr>
              <p:cNvPr id="38" name="减号 37">
                <a:extLst>
                  <a:ext uri="{FF2B5EF4-FFF2-40B4-BE49-F238E27FC236}">
                    <a16:creationId xmlns:a16="http://schemas.microsoft.com/office/drawing/2014/main" id="{055DE0BC-8C14-4123-A65B-AB24DDF827D3}"/>
                  </a:ext>
                </a:extLst>
              </p:cNvPr>
              <p:cNvSpPr/>
              <p:nvPr/>
            </p:nvSpPr>
            <p:spPr>
              <a:xfrm>
                <a:off x="7344126" y="2461924"/>
                <a:ext cx="288032" cy="188390"/>
              </a:xfrm>
              <a:prstGeom prst="mathMinus">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8" b="1"/>
              </a:p>
            </p:txBody>
          </p:sp>
          <p:sp>
            <p:nvSpPr>
              <p:cNvPr id="39" name="矩形 38">
                <a:extLst>
                  <a:ext uri="{FF2B5EF4-FFF2-40B4-BE49-F238E27FC236}">
                    <a16:creationId xmlns:a16="http://schemas.microsoft.com/office/drawing/2014/main" id="{4965A3CA-1CBC-4CC3-B22E-930AAF86CD0D}"/>
                  </a:ext>
                </a:extLst>
              </p:cNvPr>
              <p:cNvSpPr/>
              <p:nvPr/>
            </p:nvSpPr>
            <p:spPr>
              <a:xfrm>
                <a:off x="9143104" y="1996114"/>
                <a:ext cx="792088" cy="1000838"/>
              </a:xfrm>
              <a:prstGeom prst="rect">
                <a:avLst/>
              </a:prstGeom>
              <a:solidFill>
                <a:schemeClr val="accent4">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68" b="1" dirty="0">
                    <a:solidFill>
                      <a:srgbClr val="002060"/>
                    </a:solidFill>
                    <a:latin typeface="微软雅黑" panose="020B0503020204020204" pitchFamily="34" charset="-122"/>
                    <a:ea typeface="微软雅黑" panose="020B0503020204020204" pitchFamily="34" charset="-122"/>
                  </a:rPr>
                  <a:t>业务成本</a:t>
                </a:r>
              </a:p>
            </p:txBody>
          </p:sp>
          <p:sp>
            <p:nvSpPr>
              <p:cNvPr id="40" name="减号 39">
                <a:extLst>
                  <a:ext uri="{FF2B5EF4-FFF2-40B4-BE49-F238E27FC236}">
                    <a16:creationId xmlns:a16="http://schemas.microsoft.com/office/drawing/2014/main" id="{93489019-FCC0-4E84-AB79-4107CCC8EBEF}"/>
                  </a:ext>
                </a:extLst>
              </p:cNvPr>
              <p:cNvSpPr/>
              <p:nvPr/>
            </p:nvSpPr>
            <p:spPr>
              <a:xfrm>
                <a:off x="8746877" y="2461924"/>
                <a:ext cx="288032" cy="188390"/>
              </a:xfrm>
              <a:prstGeom prst="mathMinus">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8" b="1"/>
              </a:p>
            </p:txBody>
          </p:sp>
        </p:grpSp>
      </p:grpSp>
    </p:spTree>
    <p:extLst>
      <p:ext uri="{BB962C8B-B14F-4D97-AF65-F5344CB8AC3E}">
        <p14:creationId xmlns:p14="http://schemas.microsoft.com/office/powerpoint/2010/main" val="2979183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553A9-2E90-4709-9FCB-0E6DB802A321}"/>
              </a:ext>
            </a:extLst>
          </p:cNvPr>
          <p:cNvSpPr>
            <a:spLocks noGrp="1"/>
          </p:cNvSpPr>
          <p:nvPr>
            <p:ph type="title"/>
          </p:nvPr>
        </p:nvSpPr>
        <p:spPr/>
        <p:txBody>
          <a:bodyPr/>
          <a:lstStyle/>
          <a:p>
            <a:r>
              <a:rPr lang="zh-CN" altLang="en-US" dirty="0"/>
              <a:t>（二）方法介绍</a:t>
            </a:r>
          </a:p>
        </p:txBody>
      </p:sp>
      <p:sp>
        <p:nvSpPr>
          <p:cNvPr id="3" name="文本占位符 2">
            <a:extLst>
              <a:ext uri="{FF2B5EF4-FFF2-40B4-BE49-F238E27FC236}">
                <a16:creationId xmlns:a16="http://schemas.microsoft.com/office/drawing/2014/main" id="{7F4E1109-82C3-4B5B-9A6D-03C0C65AF030}"/>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0494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34">
            <a:extLst>
              <a:ext uri="{FF2B5EF4-FFF2-40B4-BE49-F238E27FC236}">
                <a16:creationId xmlns:a16="http://schemas.microsoft.com/office/drawing/2014/main" id="{35782FE2-AB33-4768-AD9C-417D139A309F}"/>
              </a:ext>
            </a:extLst>
          </p:cNvPr>
          <p:cNvSpPr>
            <a:spLocks noGrp="1"/>
          </p:cNvSpPr>
          <p:nvPr>
            <p:ph type="title"/>
          </p:nvPr>
        </p:nvSpPr>
        <p:spPr/>
        <p:txBody>
          <a:bodyPr/>
          <a:lstStyle/>
          <a:p>
            <a:r>
              <a:rPr lang="zh-CN" altLang="en-US" dirty="0"/>
              <a:t>收益来源的分解</a:t>
            </a:r>
          </a:p>
        </p:txBody>
      </p:sp>
      <p:sp>
        <p:nvSpPr>
          <p:cNvPr id="3" name="内容占位符 2">
            <a:extLst>
              <a:ext uri="{FF2B5EF4-FFF2-40B4-BE49-F238E27FC236}">
                <a16:creationId xmlns:a16="http://schemas.microsoft.com/office/drawing/2014/main" id="{AE869D1D-89E1-4638-B495-CDA6E03F6B45}"/>
              </a:ext>
            </a:extLst>
          </p:cNvPr>
          <p:cNvSpPr>
            <a:spLocks noGrp="1"/>
          </p:cNvSpPr>
          <p:nvPr>
            <p:ph idx="1"/>
          </p:nvPr>
        </p:nvSpPr>
        <p:spPr/>
        <p:txBody>
          <a:bodyPr/>
          <a:lstStyle/>
          <a:p>
            <a:r>
              <a:rPr lang="zh-CN" altLang="en-US" dirty="0"/>
              <a:t>将债券投资收益与各类影响债券价格因素之间的对应关系进行合理的层次化分解，逐步剥离影响债券业绩的诸多因素，包括交易议价能力、持有时间、票息率、交易时机把握、个券筛选能力等，整体的架构参见如下示意图。</a:t>
            </a:r>
          </a:p>
          <a:p>
            <a:endParaRPr lang="zh-CN" altLang="en-US" dirty="0"/>
          </a:p>
        </p:txBody>
      </p:sp>
      <p:grpSp>
        <p:nvGrpSpPr>
          <p:cNvPr id="4" name="组 6">
            <a:extLst>
              <a:ext uri="{FF2B5EF4-FFF2-40B4-BE49-F238E27FC236}">
                <a16:creationId xmlns:a16="http://schemas.microsoft.com/office/drawing/2014/main" id="{0FA86011-DDD6-4EC3-877A-48DA14A02219}"/>
              </a:ext>
            </a:extLst>
          </p:cNvPr>
          <p:cNvGrpSpPr/>
          <p:nvPr/>
        </p:nvGrpSpPr>
        <p:grpSpPr>
          <a:xfrm>
            <a:off x="3435000" y="3635432"/>
            <a:ext cx="10869200" cy="4796736"/>
            <a:chOff x="432796" y="749096"/>
            <a:chExt cx="11419406" cy="4969938"/>
          </a:xfrm>
        </p:grpSpPr>
        <p:sp>
          <p:nvSpPr>
            <p:cNvPr id="5" name="矩形 4">
              <a:extLst>
                <a:ext uri="{FF2B5EF4-FFF2-40B4-BE49-F238E27FC236}">
                  <a16:creationId xmlns:a16="http://schemas.microsoft.com/office/drawing/2014/main" id="{6C4B3E4B-5FF6-4F38-BC4A-1C23B62752A3}"/>
                </a:ext>
              </a:extLst>
            </p:cNvPr>
            <p:cNvSpPr/>
            <p:nvPr/>
          </p:nvSpPr>
          <p:spPr>
            <a:xfrm>
              <a:off x="4095840" y="749096"/>
              <a:ext cx="2737548" cy="582994"/>
            </a:xfrm>
            <a:prstGeom prst="rect">
              <a:avLst/>
            </a:prstGeom>
            <a:solidFill>
              <a:schemeClr val="accent6">
                <a:lumMod val="40000"/>
                <a:lumOff val="60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债券投资业绩</a:t>
              </a:r>
            </a:p>
          </p:txBody>
        </p:sp>
        <p:sp>
          <p:nvSpPr>
            <p:cNvPr id="6" name="矩形 5">
              <a:extLst>
                <a:ext uri="{FF2B5EF4-FFF2-40B4-BE49-F238E27FC236}">
                  <a16:creationId xmlns:a16="http://schemas.microsoft.com/office/drawing/2014/main" id="{F1413B8D-F057-4F60-9FE5-5392B6708ADC}"/>
                </a:ext>
              </a:extLst>
            </p:cNvPr>
            <p:cNvSpPr/>
            <p:nvPr/>
          </p:nvSpPr>
          <p:spPr>
            <a:xfrm>
              <a:off x="1358694" y="2022725"/>
              <a:ext cx="2123495" cy="582994"/>
            </a:xfrm>
            <a:prstGeom prst="rect">
              <a:avLst/>
            </a:prstGeom>
            <a:solidFill>
              <a:srgbClr val="92D050"/>
            </a:solid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交易能力收益</a:t>
              </a:r>
            </a:p>
          </p:txBody>
        </p:sp>
        <p:sp>
          <p:nvSpPr>
            <p:cNvPr id="7" name="矩形 6">
              <a:extLst>
                <a:ext uri="{FF2B5EF4-FFF2-40B4-BE49-F238E27FC236}">
                  <a16:creationId xmlns:a16="http://schemas.microsoft.com/office/drawing/2014/main" id="{A313FEE4-B69A-4EE5-B7C3-F6ED83BB20EA}"/>
                </a:ext>
              </a:extLst>
            </p:cNvPr>
            <p:cNvSpPr/>
            <p:nvPr/>
          </p:nvSpPr>
          <p:spPr>
            <a:xfrm>
              <a:off x="6583225" y="2000954"/>
              <a:ext cx="2079771" cy="582994"/>
            </a:xfrm>
            <a:prstGeom prst="rect">
              <a:avLst/>
            </a:prstGeom>
            <a:solidFill>
              <a:srgbClr val="92D050"/>
            </a:solid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市场定价收益</a:t>
              </a:r>
            </a:p>
          </p:txBody>
        </p:sp>
        <p:cxnSp>
          <p:nvCxnSpPr>
            <p:cNvPr id="8" name="直接连接符 8">
              <a:extLst>
                <a:ext uri="{FF2B5EF4-FFF2-40B4-BE49-F238E27FC236}">
                  <a16:creationId xmlns:a16="http://schemas.microsoft.com/office/drawing/2014/main" id="{9A1845C4-41C3-4B18-AC75-9775A34EF3D7}"/>
                </a:ext>
              </a:extLst>
            </p:cNvPr>
            <p:cNvCxnSpPr>
              <a:stCxn id="7" idx="2"/>
              <a:endCxn id="8" idx="0"/>
            </p:cNvCxnSpPr>
            <p:nvPr/>
          </p:nvCxnSpPr>
          <p:spPr>
            <a:xfrm>
              <a:off x="7623111" y="2583948"/>
              <a:ext cx="0" cy="0"/>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0">
              <a:extLst>
                <a:ext uri="{FF2B5EF4-FFF2-40B4-BE49-F238E27FC236}">
                  <a16:creationId xmlns:a16="http://schemas.microsoft.com/office/drawing/2014/main" id="{31FE54C6-C633-4E4D-91F4-8140A02E4A60}"/>
                </a:ext>
              </a:extLst>
            </p:cNvPr>
            <p:cNvCxnSpPr>
              <a:stCxn id="7" idx="2"/>
              <a:endCxn id="9" idx="0"/>
            </p:cNvCxnSpPr>
            <p:nvPr/>
          </p:nvCxnSpPr>
          <p:spPr>
            <a:xfrm>
              <a:off x="7623111" y="2583948"/>
              <a:ext cx="0" cy="0"/>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4DCBF27A-CF96-4B25-9BC7-A8C2BF9C1091}"/>
                </a:ext>
              </a:extLst>
            </p:cNvPr>
            <p:cNvSpPr/>
            <p:nvPr/>
          </p:nvSpPr>
          <p:spPr>
            <a:xfrm>
              <a:off x="906329" y="3568496"/>
              <a:ext cx="1715892" cy="582994"/>
            </a:xfrm>
            <a:prstGeom prst="rect">
              <a:avLst/>
            </a:prstGeom>
            <a:solidFill>
              <a:srgbClr val="FF9966"/>
            </a:solidFill>
            <a:ln w="31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持有时长</a:t>
              </a:r>
            </a:p>
          </p:txBody>
        </p:sp>
        <p:sp>
          <p:nvSpPr>
            <p:cNvPr id="11" name="矩形 10">
              <a:extLst>
                <a:ext uri="{FF2B5EF4-FFF2-40B4-BE49-F238E27FC236}">
                  <a16:creationId xmlns:a16="http://schemas.microsoft.com/office/drawing/2014/main" id="{6970057E-1992-4EB0-AEC7-D0316A9B0527}"/>
                </a:ext>
              </a:extLst>
            </p:cNvPr>
            <p:cNvSpPr/>
            <p:nvPr/>
          </p:nvSpPr>
          <p:spPr>
            <a:xfrm>
              <a:off x="4322727" y="3568497"/>
              <a:ext cx="3180654" cy="582994"/>
            </a:xfrm>
            <a:prstGeom prst="rect">
              <a:avLst/>
            </a:prstGeom>
            <a:solidFill>
              <a:srgbClr val="FF9966"/>
            </a:solidFill>
            <a:ln w="31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择时能力</a:t>
              </a:r>
            </a:p>
          </p:txBody>
        </p:sp>
        <p:sp>
          <p:nvSpPr>
            <p:cNvPr id="12" name="矩形 11">
              <a:extLst>
                <a:ext uri="{FF2B5EF4-FFF2-40B4-BE49-F238E27FC236}">
                  <a16:creationId xmlns:a16="http://schemas.microsoft.com/office/drawing/2014/main" id="{2BCF9CBF-7F54-419D-9173-CF3C531A4FEF}"/>
                </a:ext>
              </a:extLst>
            </p:cNvPr>
            <p:cNvSpPr/>
            <p:nvPr/>
          </p:nvSpPr>
          <p:spPr>
            <a:xfrm>
              <a:off x="8535185" y="3568497"/>
              <a:ext cx="3111261" cy="582994"/>
            </a:xfrm>
            <a:prstGeom prst="rect">
              <a:avLst/>
            </a:prstGeom>
            <a:solidFill>
              <a:srgbClr val="FF9966"/>
            </a:solidFill>
            <a:ln w="31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择券能力</a:t>
              </a:r>
            </a:p>
          </p:txBody>
        </p:sp>
        <p:cxnSp>
          <p:nvCxnSpPr>
            <p:cNvPr id="13" name="直接连接符 12">
              <a:extLst>
                <a:ext uri="{FF2B5EF4-FFF2-40B4-BE49-F238E27FC236}">
                  <a16:creationId xmlns:a16="http://schemas.microsoft.com/office/drawing/2014/main" id="{42A5B6F5-D15D-4770-AD9C-0BE32DAD76DB}"/>
                </a:ext>
              </a:extLst>
            </p:cNvPr>
            <p:cNvCxnSpPr>
              <a:stCxn id="9" idx="2"/>
              <a:endCxn id="14" idx="0"/>
            </p:cNvCxnSpPr>
            <p:nvPr/>
          </p:nvCxnSpPr>
          <p:spPr>
            <a:xfrm flipH="1">
              <a:off x="1764275" y="2583948"/>
              <a:ext cx="5676897" cy="98454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7">
              <a:extLst>
                <a:ext uri="{FF2B5EF4-FFF2-40B4-BE49-F238E27FC236}">
                  <a16:creationId xmlns:a16="http://schemas.microsoft.com/office/drawing/2014/main" id="{F9975887-A702-4D88-A321-6EBE14C696F2}"/>
                </a:ext>
              </a:extLst>
            </p:cNvPr>
            <p:cNvCxnSpPr>
              <a:stCxn id="9" idx="2"/>
              <a:endCxn id="15" idx="0"/>
            </p:cNvCxnSpPr>
            <p:nvPr/>
          </p:nvCxnSpPr>
          <p:spPr>
            <a:xfrm flipH="1">
              <a:off x="6178430" y="2583948"/>
              <a:ext cx="1262742" cy="98454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9">
              <a:extLst>
                <a:ext uri="{FF2B5EF4-FFF2-40B4-BE49-F238E27FC236}">
                  <a16:creationId xmlns:a16="http://schemas.microsoft.com/office/drawing/2014/main" id="{D6B60B99-2394-4190-A41B-86DFCA13592B}"/>
                </a:ext>
              </a:extLst>
            </p:cNvPr>
            <p:cNvCxnSpPr>
              <a:stCxn id="9" idx="2"/>
              <a:endCxn id="16" idx="0"/>
            </p:cNvCxnSpPr>
            <p:nvPr/>
          </p:nvCxnSpPr>
          <p:spPr>
            <a:xfrm>
              <a:off x="7441172" y="2583948"/>
              <a:ext cx="2775858" cy="98454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0895314D-1B95-42B6-B975-43008EF2C6CA}"/>
                </a:ext>
              </a:extLst>
            </p:cNvPr>
            <p:cNvSpPr/>
            <p:nvPr/>
          </p:nvSpPr>
          <p:spPr>
            <a:xfrm>
              <a:off x="432796" y="5136038"/>
              <a:ext cx="1158445" cy="582994"/>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息票收益</a:t>
              </a:r>
            </a:p>
          </p:txBody>
        </p:sp>
        <p:sp>
          <p:nvSpPr>
            <p:cNvPr id="17" name="矩形 16">
              <a:extLst>
                <a:ext uri="{FF2B5EF4-FFF2-40B4-BE49-F238E27FC236}">
                  <a16:creationId xmlns:a16="http://schemas.microsoft.com/office/drawing/2014/main" id="{279F6F37-122F-4708-893E-65A2B2CE3DA6}"/>
                </a:ext>
              </a:extLst>
            </p:cNvPr>
            <p:cNvSpPr/>
            <p:nvPr/>
          </p:nvSpPr>
          <p:spPr>
            <a:xfrm>
              <a:off x="2120083" y="5136038"/>
              <a:ext cx="1149734" cy="582994"/>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价格收敛</a:t>
              </a:r>
              <a:endParaRPr lang="en-US" altLang="zh-CN" sz="1559" b="1" dirty="0">
                <a:solidFill>
                  <a:srgbClr val="002060"/>
                </a:solidFill>
                <a:latin typeface="微软雅黑" panose="020B0503020204020204" pitchFamily="34" charset="-122"/>
                <a:ea typeface="微软雅黑" panose="020B0503020204020204" pitchFamily="34" charset="-122"/>
              </a:endParaRPr>
            </a:p>
          </p:txBody>
        </p:sp>
        <p:cxnSp>
          <p:nvCxnSpPr>
            <p:cNvPr id="18" name="直接连接符 26">
              <a:extLst>
                <a:ext uri="{FF2B5EF4-FFF2-40B4-BE49-F238E27FC236}">
                  <a16:creationId xmlns:a16="http://schemas.microsoft.com/office/drawing/2014/main" id="{32963518-9E91-4858-87B8-B6912FBD785A}"/>
                </a:ext>
              </a:extLst>
            </p:cNvPr>
            <p:cNvCxnSpPr>
              <a:stCxn id="14" idx="2"/>
              <a:endCxn id="23" idx="0"/>
            </p:cNvCxnSpPr>
            <p:nvPr/>
          </p:nvCxnSpPr>
          <p:spPr>
            <a:xfrm flipH="1">
              <a:off x="1012019" y="4151490"/>
              <a:ext cx="752256" cy="984548"/>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28">
              <a:extLst>
                <a:ext uri="{FF2B5EF4-FFF2-40B4-BE49-F238E27FC236}">
                  <a16:creationId xmlns:a16="http://schemas.microsoft.com/office/drawing/2014/main" id="{0B3EE519-E3DA-4FF3-AC11-BFC05DC8D48E}"/>
                </a:ext>
              </a:extLst>
            </p:cNvPr>
            <p:cNvCxnSpPr>
              <a:stCxn id="14" idx="2"/>
              <a:endCxn id="24" idx="0"/>
            </p:cNvCxnSpPr>
            <p:nvPr/>
          </p:nvCxnSpPr>
          <p:spPr>
            <a:xfrm>
              <a:off x="1764275" y="4151490"/>
              <a:ext cx="930675" cy="984548"/>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7189320-5D1A-474D-A5A0-455CF2E74461}"/>
                </a:ext>
              </a:extLst>
            </p:cNvPr>
            <p:cNvSpPr/>
            <p:nvPr/>
          </p:nvSpPr>
          <p:spPr>
            <a:xfrm>
              <a:off x="4052300" y="5136040"/>
              <a:ext cx="727295" cy="582994"/>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平移</a:t>
              </a:r>
              <a:endParaRPr lang="en-US" altLang="zh-CN" sz="1559" b="1" dirty="0">
                <a:solidFill>
                  <a:srgbClr val="002060"/>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9A17F6EE-1BE1-40F5-A031-96559FEAB5CF}"/>
                </a:ext>
              </a:extLst>
            </p:cNvPr>
            <p:cNvSpPr/>
            <p:nvPr/>
          </p:nvSpPr>
          <p:spPr>
            <a:xfrm>
              <a:off x="5146315" y="5136040"/>
              <a:ext cx="727294" cy="582994"/>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扭曲</a:t>
              </a:r>
              <a:endParaRPr lang="en-US" altLang="zh-CN" sz="1559" b="1" dirty="0">
                <a:solidFill>
                  <a:srgbClr val="002060"/>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DE361378-17FD-47E0-A728-47192931155D}"/>
                </a:ext>
              </a:extLst>
            </p:cNvPr>
            <p:cNvSpPr/>
            <p:nvPr/>
          </p:nvSpPr>
          <p:spPr>
            <a:xfrm>
              <a:off x="6240327" y="5136038"/>
              <a:ext cx="727296" cy="582994"/>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蝶式</a:t>
              </a:r>
              <a:endParaRPr lang="en-US" altLang="zh-CN" sz="1559" b="1" dirty="0">
                <a:solidFill>
                  <a:srgbClr val="002060"/>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0B2BB164-9213-4212-9FE1-183419C0ACC3}"/>
                </a:ext>
              </a:extLst>
            </p:cNvPr>
            <p:cNvSpPr/>
            <p:nvPr/>
          </p:nvSpPr>
          <p:spPr>
            <a:xfrm>
              <a:off x="7326180" y="5136038"/>
              <a:ext cx="705515" cy="582994"/>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时间</a:t>
              </a:r>
              <a:endParaRPr lang="en-US" altLang="zh-CN" sz="1559" b="1" dirty="0">
                <a:solidFill>
                  <a:srgbClr val="002060"/>
                </a:solidFill>
                <a:latin typeface="微软雅黑" panose="020B0503020204020204" pitchFamily="34" charset="-122"/>
                <a:ea typeface="微软雅黑" panose="020B0503020204020204" pitchFamily="34" charset="-122"/>
              </a:endParaRPr>
            </a:p>
          </p:txBody>
        </p:sp>
        <p:cxnSp>
          <p:nvCxnSpPr>
            <p:cNvPr id="24" name="直接连接符 41">
              <a:extLst>
                <a:ext uri="{FF2B5EF4-FFF2-40B4-BE49-F238E27FC236}">
                  <a16:creationId xmlns:a16="http://schemas.microsoft.com/office/drawing/2014/main" id="{927BFCA8-4709-4BEA-A62D-971049029410}"/>
                </a:ext>
              </a:extLst>
            </p:cNvPr>
            <p:cNvCxnSpPr>
              <a:stCxn id="15" idx="2"/>
            </p:cNvCxnSpPr>
            <p:nvPr/>
          </p:nvCxnSpPr>
          <p:spPr>
            <a:xfrm flipH="1">
              <a:off x="4415948" y="4151490"/>
              <a:ext cx="1762482" cy="984550"/>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43">
              <a:extLst>
                <a:ext uri="{FF2B5EF4-FFF2-40B4-BE49-F238E27FC236}">
                  <a16:creationId xmlns:a16="http://schemas.microsoft.com/office/drawing/2014/main" id="{6DC8CC8B-0D96-46D8-B701-CD973803DD9F}"/>
                </a:ext>
              </a:extLst>
            </p:cNvPr>
            <p:cNvCxnSpPr>
              <a:stCxn id="15" idx="2"/>
            </p:cNvCxnSpPr>
            <p:nvPr/>
          </p:nvCxnSpPr>
          <p:spPr>
            <a:xfrm flipH="1">
              <a:off x="5509962" y="4151490"/>
              <a:ext cx="668468" cy="984550"/>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45">
              <a:extLst>
                <a:ext uri="{FF2B5EF4-FFF2-40B4-BE49-F238E27FC236}">
                  <a16:creationId xmlns:a16="http://schemas.microsoft.com/office/drawing/2014/main" id="{B048BAAA-5490-466B-BB95-3F3B94966CF8}"/>
                </a:ext>
              </a:extLst>
            </p:cNvPr>
            <p:cNvCxnSpPr>
              <a:stCxn id="15" idx="2"/>
            </p:cNvCxnSpPr>
            <p:nvPr/>
          </p:nvCxnSpPr>
          <p:spPr>
            <a:xfrm>
              <a:off x="6178430" y="4151490"/>
              <a:ext cx="425545" cy="984548"/>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47">
              <a:extLst>
                <a:ext uri="{FF2B5EF4-FFF2-40B4-BE49-F238E27FC236}">
                  <a16:creationId xmlns:a16="http://schemas.microsoft.com/office/drawing/2014/main" id="{6FA766AD-E060-4767-8DF8-D3671B421392}"/>
                </a:ext>
              </a:extLst>
            </p:cNvPr>
            <p:cNvCxnSpPr>
              <a:stCxn id="15" idx="2"/>
            </p:cNvCxnSpPr>
            <p:nvPr/>
          </p:nvCxnSpPr>
          <p:spPr>
            <a:xfrm>
              <a:off x="6178430" y="4151490"/>
              <a:ext cx="1500508" cy="984548"/>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45159720-30DD-4008-8458-59F4707AA04E}"/>
                </a:ext>
              </a:extLst>
            </p:cNvPr>
            <p:cNvSpPr/>
            <p:nvPr/>
          </p:nvSpPr>
          <p:spPr>
            <a:xfrm>
              <a:off x="8957924" y="5134688"/>
              <a:ext cx="1357081" cy="582993"/>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券种配置</a:t>
              </a:r>
            </a:p>
          </p:txBody>
        </p:sp>
        <p:sp>
          <p:nvSpPr>
            <p:cNvPr id="29" name="矩形 28">
              <a:extLst>
                <a:ext uri="{FF2B5EF4-FFF2-40B4-BE49-F238E27FC236}">
                  <a16:creationId xmlns:a16="http://schemas.microsoft.com/office/drawing/2014/main" id="{F8971A33-0629-434A-A8DA-A2EC0982FE71}"/>
                </a:ext>
              </a:extLst>
            </p:cNvPr>
            <p:cNvSpPr/>
            <p:nvPr/>
          </p:nvSpPr>
          <p:spPr>
            <a:xfrm>
              <a:off x="10495121" y="5136038"/>
              <a:ext cx="1357081" cy="582993"/>
            </a:xfrm>
            <a:prstGeom prst="rect">
              <a:avLst/>
            </a:pr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59" b="1" dirty="0">
                  <a:solidFill>
                    <a:srgbClr val="002060"/>
                  </a:solidFill>
                  <a:latin typeface="微软雅黑" panose="020B0503020204020204" pitchFamily="34" charset="-122"/>
                  <a:ea typeface="微软雅黑" panose="020B0503020204020204" pitchFamily="34" charset="-122"/>
                </a:rPr>
                <a:t>个券选择</a:t>
              </a:r>
            </a:p>
          </p:txBody>
        </p:sp>
        <p:cxnSp>
          <p:nvCxnSpPr>
            <p:cNvPr id="30" name="直接连接符 51">
              <a:extLst>
                <a:ext uri="{FF2B5EF4-FFF2-40B4-BE49-F238E27FC236}">
                  <a16:creationId xmlns:a16="http://schemas.microsoft.com/office/drawing/2014/main" id="{6BA50991-6D98-437C-B62C-F99A18037294}"/>
                </a:ext>
              </a:extLst>
            </p:cNvPr>
            <p:cNvCxnSpPr>
              <a:stCxn id="16" idx="2"/>
            </p:cNvCxnSpPr>
            <p:nvPr/>
          </p:nvCxnSpPr>
          <p:spPr>
            <a:xfrm flipH="1">
              <a:off x="9663969" y="4151490"/>
              <a:ext cx="553061" cy="984548"/>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53">
              <a:extLst>
                <a:ext uri="{FF2B5EF4-FFF2-40B4-BE49-F238E27FC236}">
                  <a16:creationId xmlns:a16="http://schemas.microsoft.com/office/drawing/2014/main" id="{94250626-2686-489D-922A-A0067B661A93}"/>
                </a:ext>
              </a:extLst>
            </p:cNvPr>
            <p:cNvCxnSpPr/>
            <p:nvPr/>
          </p:nvCxnSpPr>
          <p:spPr>
            <a:xfrm>
              <a:off x="10431327" y="4151490"/>
              <a:ext cx="626013" cy="984548"/>
            </a:xfrm>
            <a:prstGeom prst="line">
              <a:avLst/>
            </a:prstGeom>
            <a:ln w="31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2AE8AD97-C8F4-4783-B975-E72C59063BEF}"/>
                </a:ext>
              </a:extLst>
            </p:cNvPr>
            <p:cNvCxnSpPr>
              <a:stCxn id="5" idx="2"/>
              <a:endCxn id="6" idx="0"/>
            </p:cNvCxnSpPr>
            <p:nvPr/>
          </p:nvCxnSpPr>
          <p:spPr>
            <a:xfrm flipH="1">
              <a:off x="2420442" y="1332090"/>
              <a:ext cx="3044174" cy="690635"/>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B1A7D107-6BAB-4B6F-B8CE-67790011A244}"/>
                </a:ext>
              </a:extLst>
            </p:cNvPr>
            <p:cNvCxnSpPr>
              <a:stCxn id="7" idx="0"/>
              <a:endCxn id="5" idx="2"/>
            </p:cNvCxnSpPr>
            <p:nvPr/>
          </p:nvCxnSpPr>
          <p:spPr>
            <a:xfrm flipH="1" flipV="1">
              <a:off x="5464615" y="1332090"/>
              <a:ext cx="2158496" cy="668864"/>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624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D6EE3784-ECCE-489B-8443-D1BA77891EB1}"/>
              </a:ext>
            </a:extLst>
          </p:cNvPr>
          <p:cNvGrpSpPr/>
          <p:nvPr/>
        </p:nvGrpSpPr>
        <p:grpSpPr>
          <a:xfrm>
            <a:off x="518782" y="3499266"/>
            <a:ext cx="16240125" cy="4950866"/>
            <a:chOff x="1368597" y="3869284"/>
            <a:chExt cx="14804853" cy="4950866"/>
          </a:xfrm>
        </p:grpSpPr>
        <mc:AlternateContent xmlns:mc="http://schemas.openxmlformats.org/markup-compatibility/2006">
          <mc:Choice xmlns:a14="http://schemas.microsoft.com/office/drawing/2010/main" Requires="a14">
            <p:sp>
              <p:nvSpPr>
                <p:cNvPr id="23" name="矩形 22"/>
                <p:cNvSpPr/>
                <p:nvPr/>
              </p:nvSpPr>
              <p:spPr>
                <a:xfrm>
                  <a:off x="2070128" y="4040491"/>
                  <a:ext cx="1613067"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200" b="1" i="1" smtClean="0">
                            <a:solidFill>
                              <a:srgbClr val="0070C0"/>
                            </a:solidFill>
                            <a:latin typeface="Cambria Math" panose="02040503050406030204" pitchFamily="18" charset="0"/>
                          </a:rPr>
                          <m:t>𝒚</m:t>
                        </m:r>
                        <m:r>
                          <a:rPr lang="en-US" altLang="zh-CN" sz="2200" b="1" i="1" smtClean="0">
                            <a:solidFill>
                              <a:srgbClr val="0070C0"/>
                            </a:solidFill>
                            <a:latin typeface="Cambria Math" panose="02040503050406030204" pitchFamily="18" charset="0"/>
                            <a:ea typeface="Cambria Math" panose="02040503050406030204" pitchFamily="18" charset="0"/>
                          </a:rPr>
                          <m:t>×</m:t>
                        </m:r>
                        <m:r>
                          <a:rPr lang="zh-CN" altLang="en-US" sz="2200" b="1" i="1" smtClean="0">
                            <a:solidFill>
                              <a:srgbClr val="0070C0"/>
                            </a:solidFill>
                            <a:latin typeface="Cambria Math" panose="02040503050406030204" pitchFamily="18" charset="0"/>
                          </a:rPr>
                          <m:t>∆</m:t>
                        </m:r>
                        <m:r>
                          <a:rPr lang="zh-CN" altLang="en-US" sz="2200" b="1" i="1" smtClean="0">
                            <a:solidFill>
                              <a:srgbClr val="0070C0"/>
                            </a:solidFill>
                            <a:latin typeface="Cambria Math" panose="02040503050406030204" pitchFamily="18" charset="0"/>
                          </a:rPr>
                          <m:t>𝒕</m:t>
                        </m:r>
                      </m:oMath>
                    </m:oMathPara>
                  </a14:m>
                  <a:endParaRPr lang="zh-CN" altLang="en-US" sz="2200" b="1" dirty="0">
                    <a:solidFill>
                      <a:srgbClr val="0070C0"/>
                    </a:solidFill>
                  </a:endParaRPr>
                </a:p>
              </p:txBody>
            </p:sp>
          </mc:Choice>
          <mc:Fallback>
            <p:sp>
              <p:nvSpPr>
                <p:cNvPr id="23" name="矩形 22"/>
                <p:cNvSpPr>
                  <a:spLocks noRot="1" noChangeAspect="1" noMove="1" noResize="1" noEditPoints="1" noAdjustHandles="1" noChangeArrowheads="1" noChangeShapeType="1" noTextEdit="1"/>
                </p:cNvSpPr>
                <p:nvPr/>
              </p:nvSpPr>
              <p:spPr>
                <a:xfrm>
                  <a:off x="2070128" y="4040491"/>
                  <a:ext cx="1613067" cy="430887"/>
                </a:xfrm>
                <a:prstGeom prst="rect">
                  <a:avLst/>
                </a:prstGeom>
                <a:blipFill>
                  <a:blip r:embed="rId2"/>
                  <a:stretch>
                    <a:fillRect b="-126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矩形 43"/>
                <p:cNvSpPr/>
                <p:nvPr/>
              </p:nvSpPr>
              <p:spPr>
                <a:xfrm>
                  <a:off x="1855697" y="4478317"/>
                  <a:ext cx="1975308" cy="529504"/>
                </a:xfrm>
                <a:prstGeom prst="rect">
                  <a:avLst/>
                </a:prstGeom>
                <a:solidFill>
                  <a:srgbClr val="CCECFF"/>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0070C0"/>
                                </a:solidFill>
                                <a:latin typeface="Cambria Math" panose="02040503050406030204" pitchFamily="18" charset="0"/>
                              </a:rPr>
                            </m:ctrlPr>
                          </m:sSubPr>
                          <m:e>
                            <m:r>
                              <a:rPr lang="zh-CN" altLang="en-US" sz="2200" b="1" i="1" smtClean="0">
                                <a:solidFill>
                                  <a:srgbClr val="0070C0"/>
                                </a:solidFill>
                                <a:latin typeface="Cambria Math" panose="02040503050406030204" pitchFamily="18" charset="0"/>
                              </a:rPr>
                              <m:t>𝒓</m:t>
                            </m:r>
                          </m:e>
                          <m:sub>
                            <m:r>
                              <a:rPr lang="zh-CN" altLang="en-US" sz="2200" b="1" i="1" smtClean="0">
                                <a:solidFill>
                                  <a:srgbClr val="0070C0"/>
                                </a:solidFill>
                                <a:latin typeface="Cambria Math" panose="02040503050406030204" pitchFamily="18" charset="0"/>
                              </a:rPr>
                              <m:t>持有收益</m:t>
                            </m:r>
                          </m:sub>
                        </m:sSub>
                      </m:oMath>
                    </m:oMathPara>
                  </a14:m>
                  <a:endParaRPr lang="zh-CN" altLang="en-US" sz="2200" b="1" dirty="0">
                    <a:solidFill>
                      <a:srgbClr val="0070C0"/>
                    </a:solidFill>
                  </a:endParaRPr>
                </a:p>
              </p:txBody>
            </p:sp>
          </mc:Choice>
          <mc:Fallback>
            <p:sp>
              <p:nvSpPr>
                <p:cNvPr id="44" name="矩形 43"/>
                <p:cNvSpPr>
                  <a:spLocks noRot="1" noChangeAspect="1" noMove="1" noResize="1" noEditPoints="1" noAdjustHandles="1" noChangeArrowheads="1" noChangeShapeType="1" noTextEdit="1"/>
                </p:cNvSpPr>
                <p:nvPr/>
              </p:nvSpPr>
              <p:spPr>
                <a:xfrm>
                  <a:off x="1855697" y="4478317"/>
                  <a:ext cx="1975308" cy="529504"/>
                </a:xfrm>
                <a:prstGeom prst="rect">
                  <a:avLst/>
                </a:prstGeom>
                <a:blipFill>
                  <a:blip r:embed="rId3"/>
                  <a:stretch>
                    <a:fillRect b="-160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矩形 46"/>
                <p:cNvSpPr/>
                <p:nvPr/>
              </p:nvSpPr>
              <p:spPr>
                <a:xfrm>
                  <a:off x="1998267" y="6156808"/>
                  <a:ext cx="1031682" cy="430887"/>
                </a:xfrm>
                <a:prstGeom prst="rect">
                  <a:avLst/>
                </a:prstGeom>
              </p:spPr>
              <p:txBody>
                <a:bodyPr wrap="square">
                  <a:spAutoFit/>
                </a:bodyPr>
                <a:lstStyle/>
                <a:p>
                  <a:r>
                    <a:rPr lang="en-US" altLang="zh-CN" sz="2200" b="1" dirty="0">
                      <a:solidFill>
                        <a:srgbClr val="0070C0"/>
                      </a:solidFill>
                    </a:rPr>
                    <a:t>C</a:t>
                  </a:r>
                  <a14:m>
                    <m:oMath xmlns:m="http://schemas.openxmlformats.org/officeDocument/2006/math">
                      <m:r>
                        <a:rPr lang="zh-CN" altLang="en-US" sz="2200" b="1" i="1" smtClean="0">
                          <a:solidFill>
                            <a:srgbClr val="0070C0"/>
                          </a:solidFill>
                          <a:latin typeface="Cambria Math" panose="02040503050406030204" pitchFamily="18" charset="0"/>
                        </a:rPr>
                        <m:t>𝒅𝒕</m:t>
                      </m:r>
                    </m:oMath>
                  </a14:m>
                  <a:endParaRPr lang="zh-CN" altLang="en-US" sz="2200" b="1" dirty="0">
                    <a:solidFill>
                      <a:srgbClr val="0070C0"/>
                    </a:solidFill>
                  </a:endParaRPr>
                </a:p>
              </p:txBody>
            </p:sp>
          </mc:Choice>
          <mc:Fallback>
            <p:sp>
              <p:nvSpPr>
                <p:cNvPr id="47" name="矩形 46"/>
                <p:cNvSpPr>
                  <a:spLocks noRot="1" noChangeAspect="1" noMove="1" noResize="1" noEditPoints="1" noAdjustHandles="1" noChangeArrowheads="1" noChangeShapeType="1" noTextEdit="1"/>
                </p:cNvSpPr>
                <p:nvPr/>
              </p:nvSpPr>
              <p:spPr>
                <a:xfrm>
                  <a:off x="1998267" y="6156808"/>
                  <a:ext cx="1031682" cy="430887"/>
                </a:xfrm>
                <a:prstGeom prst="rect">
                  <a:avLst/>
                </a:prstGeom>
                <a:blipFill>
                  <a:blip r:embed="rId4"/>
                  <a:stretch>
                    <a:fillRect l="-6989" t="-7042" b="-2957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矩形 47"/>
                <p:cNvSpPr/>
                <p:nvPr/>
              </p:nvSpPr>
              <p:spPr>
                <a:xfrm>
                  <a:off x="3294277" y="6156808"/>
                  <a:ext cx="1303901" cy="430887"/>
                </a:xfrm>
                <a:prstGeom prst="rect">
                  <a:avLst/>
                </a:prstGeom>
              </p:spPr>
              <p:txBody>
                <a:bodyPr wrap="square">
                  <a:spAutoFit/>
                </a:bodyPr>
                <a:lstStyle/>
                <a:p>
                  <a:r>
                    <a:rPr lang="en-US" altLang="zh-CN" sz="2200" b="1" dirty="0">
                      <a:solidFill>
                        <a:srgbClr val="0070C0"/>
                      </a:solidFill>
                    </a:rPr>
                    <a:t>(y-C</a:t>
                  </a:r>
                  <a14:m>
                    <m:oMath xmlns:m="http://schemas.openxmlformats.org/officeDocument/2006/math">
                      <m:r>
                        <a:rPr lang="en-US" altLang="zh-CN" sz="2200" b="1" smtClean="0">
                          <a:solidFill>
                            <a:srgbClr val="0070C0"/>
                          </a:solidFill>
                          <a:latin typeface="Cambria Math" panose="02040503050406030204" pitchFamily="18" charset="0"/>
                        </a:rPr>
                        <m:t>)</m:t>
                      </m:r>
                      <m:r>
                        <a:rPr lang="zh-CN" altLang="en-US" sz="2200" b="1" i="1" smtClean="0">
                          <a:solidFill>
                            <a:srgbClr val="0070C0"/>
                          </a:solidFill>
                          <a:latin typeface="Cambria Math" panose="02040503050406030204" pitchFamily="18" charset="0"/>
                        </a:rPr>
                        <m:t>∆</m:t>
                      </m:r>
                      <m:r>
                        <a:rPr lang="zh-CN" altLang="en-US" sz="2200" b="1" i="1" smtClean="0">
                          <a:solidFill>
                            <a:srgbClr val="0070C0"/>
                          </a:solidFill>
                          <a:latin typeface="Cambria Math" panose="02040503050406030204" pitchFamily="18" charset="0"/>
                        </a:rPr>
                        <m:t>𝒕</m:t>
                      </m:r>
                    </m:oMath>
                  </a14:m>
                  <a:endParaRPr lang="zh-CN" altLang="en-US" sz="2200" b="1" dirty="0">
                    <a:solidFill>
                      <a:srgbClr val="0070C0"/>
                    </a:solidFill>
                  </a:endParaRPr>
                </a:p>
              </p:txBody>
            </p:sp>
          </mc:Choice>
          <mc:Fallback>
            <p:sp>
              <p:nvSpPr>
                <p:cNvPr id="48" name="矩形 47"/>
                <p:cNvSpPr>
                  <a:spLocks noRot="1" noChangeAspect="1" noMove="1" noResize="1" noEditPoints="1" noAdjustHandles="1" noChangeArrowheads="1" noChangeShapeType="1" noTextEdit="1"/>
                </p:cNvSpPr>
                <p:nvPr/>
              </p:nvSpPr>
              <p:spPr>
                <a:xfrm>
                  <a:off x="3294277" y="6156808"/>
                  <a:ext cx="1303901" cy="430887"/>
                </a:xfrm>
                <a:prstGeom prst="rect">
                  <a:avLst/>
                </a:prstGeom>
                <a:blipFill>
                  <a:blip r:embed="rId5"/>
                  <a:stretch>
                    <a:fillRect l="-5556" t="-7042" b="-2957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2" name="矩形 61"/>
                <p:cNvSpPr/>
                <p:nvPr/>
              </p:nvSpPr>
              <p:spPr>
                <a:xfrm>
                  <a:off x="1483405" y="6868536"/>
                  <a:ext cx="1242518" cy="524824"/>
                </a:xfrm>
                <a:prstGeom prst="rect">
                  <a:avLst/>
                </a:prstGeom>
                <a:solidFill>
                  <a:srgbClr val="CCECFF"/>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0070C0"/>
                                </a:solidFill>
                                <a:latin typeface="Cambria Math" panose="02040503050406030204" pitchFamily="18" charset="0"/>
                              </a:rPr>
                            </m:ctrlPr>
                          </m:sSubPr>
                          <m:e>
                            <m:r>
                              <a:rPr lang="zh-CN" altLang="en-US" sz="2200" b="1" i="1" smtClean="0">
                                <a:solidFill>
                                  <a:srgbClr val="0070C0"/>
                                </a:solidFill>
                                <a:latin typeface="Cambria Math" panose="02040503050406030204" pitchFamily="18" charset="0"/>
                              </a:rPr>
                              <m:t>𝒓</m:t>
                            </m:r>
                          </m:e>
                          <m:sub>
                            <m:r>
                              <a:rPr lang="zh-CN" altLang="en-US" sz="2200" b="1" i="1" smtClean="0">
                                <a:solidFill>
                                  <a:srgbClr val="0070C0"/>
                                </a:solidFill>
                                <a:latin typeface="Cambria Math" panose="02040503050406030204" pitchFamily="18" charset="0"/>
                              </a:rPr>
                              <m:t>票息</m:t>
                            </m:r>
                          </m:sub>
                        </m:sSub>
                      </m:oMath>
                    </m:oMathPara>
                  </a14:m>
                  <a:endParaRPr lang="zh-CN" altLang="en-US" sz="2200" b="1" dirty="0">
                    <a:solidFill>
                      <a:srgbClr val="0070C0"/>
                    </a:solidFill>
                  </a:endParaRPr>
                </a:p>
              </p:txBody>
            </p:sp>
          </mc:Choice>
          <mc:Fallback>
            <p:sp>
              <p:nvSpPr>
                <p:cNvPr id="62" name="矩形 61"/>
                <p:cNvSpPr>
                  <a:spLocks noRot="1" noChangeAspect="1" noMove="1" noResize="1" noEditPoints="1" noAdjustHandles="1" noChangeArrowheads="1" noChangeShapeType="1" noTextEdit="1"/>
                </p:cNvSpPr>
                <p:nvPr/>
              </p:nvSpPr>
              <p:spPr>
                <a:xfrm>
                  <a:off x="1483405" y="6868536"/>
                  <a:ext cx="1242518" cy="524824"/>
                </a:xfrm>
                <a:prstGeom prst="rect">
                  <a:avLst/>
                </a:prstGeom>
                <a:blipFill>
                  <a:blip r:embed="rId6"/>
                  <a:stretch>
                    <a:fillRect b="-186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 name="矩形 62"/>
                <p:cNvSpPr/>
                <p:nvPr/>
              </p:nvSpPr>
              <p:spPr>
                <a:xfrm>
                  <a:off x="3440467" y="6868536"/>
                  <a:ext cx="1168711" cy="531492"/>
                </a:xfrm>
                <a:prstGeom prst="rect">
                  <a:avLst/>
                </a:prstGeom>
                <a:solidFill>
                  <a:srgbClr val="CCECFF"/>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0070C0"/>
                                </a:solidFill>
                                <a:latin typeface="Cambria Math" panose="02040503050406030204" pitchFamily="18" charset="0"/>
                              </a:rPr>
                            </m:ctrlPr>
                          </m:sSubPr>
                          <m:e>
                            <m:r>
                              <a:rPr lang="zh-CN" altLang="en-US" sz="2200" b="1" i="1" smtClean="0">
                                <a:solidFill>
                                  <a:srgbClr val="0070C0"/>
                                </a:solidFill>
                                <a:latin typeface="Cambria Math" panose="02040503050406030204" pitchFamily="18" charset="0"/>
                              </a:rPr>
                              <m:t>𝒓</m:t>
                            </m:r>
                          </m:e>
                          <m:sub>
                            <m:r>
                              <a:rPr lang="zh-CN" altLang="en-US" sz="2200" b="1" i="1" smtClean="0">
                                <a:solidFill>
                                  <a:srgbClr val="0070C0"/>
                                </a:solidFill>
                                <a:latin typeface="Cambria Math" panose="02040503050406030204" pitchFamily="18" charset="0"/>
                              </a:rPr>
                              <m:t>收敛</m:t>
                            </m:r>
                          </m:sub>
                        </m:sSub>
                      </m:oMath>
                    </m:oMathPara>
                  </a14:m>
                  <a:endParaRPr lang="zh-CN" altLang="en-US" sz="2200" b="1" dirty="0">
                    <a:solidFill>
                      <a:srgbClr val="0070C0"/>
                    </a:solidFill>
                  </a:endParaRPr>
                </a:p>
              </p:txBody>
            </p:sp>
          </mc:Choice>
          <mc:Fallback>
            <p:sp>
              <p:nvSpPr>
                <p:cNvPr id="63" name="矩形 62"/>
                <p:cNvSpPr>
                  <a:spLocks noRot="1" noChangeAspect="1" noMove="1" noResize="1" noEditPoints="1" noAdjustHandles="1" noChangeArrowheads="1" noChangeShapeType="1" noTextEdit="1"/>
                </p:cNvSpPr>
                <p:nvPr/>
              </p:nvSpPr>
              <p:spPr>
                <a:xfrm>
                  <a:off x="3440467" y="6868536"/>
                  <a:ext cx="1168711" cy="531492"/>
                </a:xfrm>
                <a:prstGeom prst="rect">
                  <a:avLst/>
                </a:prstGeom>
                <a:blipFill>
                  <a:blip r:embed="rId7"/>
                  <a:stretch>
                    <a:fillRect b="-18391"/>
                  </a:stretch>
                </a:blipFill>
              </p:spPr>
              <p:txBody>
                <a:bodyPr/>
                <a:lstStyle/>
                <a:p>
                  <a:r>
                    <a:rPr lang="zh-CN" altLang="en-US">
                      <a:noFill/>
                    </a:rPr>
                    <a:t> </a:t>
                  </a:r>
                </a:p>
              </p:txBody>
            </p:sp>
          </mc:Fallback>
        </mc:AlternateContent>
        <p:sp>
          <p:nvSpPr>
            <p:cNvPr id="28" name="矩形 27"/>
            <p:cNvSpPr/>
            <p:nvPr/>
          </p:nvSpPr>
          <p:spPr>
            <a:xfrm>
              <a:off x="1368597" y="3879744"/>
              <a:ext cx="3364923" cy="4940406"/>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mc:AlternateContent xmlns:mc="http://schemas.openxmlformats.org/markup-compatibility/2006">
          <mc:Choice xmlns:a14="http://schemas.microsoft.com/office/drawing/2010/main" Requires="a14">
            <p:sp>
              <p:nvSpPr>
                <p:cNvPr id="24" name="矩形 23"/>
                <p:cNvSpPr/>
                <p:nvPr/>
              </p:nvSpPr>
              <p:spPr>
                <a:xfrm>
                  <a:off x="7243048" y="4084083"/>
                  <a:ext cx="2216602"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b="1" smtClean="0">
                            <a:solidFill>
                              <a:srgbClr val="C00000"/>
                            </a:solidFill>
                            <a:latin typeface="Cambria Math" panose="02040503050406030204" pitchFamily="18" charset="0"/>
                          </a:rPr>
                          <m:t>−</m:t>
                        </m:r>
                        <m:r>
                          <a:rPr lang="zh-CN" altLang="en-US" sz="2200" b="1" i="1" smtClean="0">
                            <a:solidFill>
                              <a:srgbClr val="C00000"/>
                            </a:solidFill>
                            <a:latin typeface="Cambria Math" panose="02040503050406030204" pitchFamily="18" charset="0"/>
                          </a:rPr>
                          <m:t>𝑴𝑫</m:t>
                        </m:r>
                        <m:r>
                          <a:rPr lang="en-US" altLang="zh-CN" sz="2200" b="1" i="1" smtClean="0">
                            <a:solidFill>
                              <a:srgbClr val="C00000"/>
                            </a:solidFill>
                            <a:latin typeface="Cambria Math" panose="02040503050406030204" pitchFamily="18" charset="0"/>
                            <a:ea typeface="Cambria Math" panose="02040503050406030204" pitchFamily="18" charset="0"/>
                          </a:rPr>
                          <m:t>×</m:t>
                        </m:r>
                        <m:r>
                          <a:rPr lang="zh-CN" altLang="en-US" sz="2200" b="1" i="1" smtClean="0">
                            <a:solidFill>
                              <a:srgbClr val="C00000"/>
                            </a:solidFill>
                            <a:latin typeface="Cambria Math" panose="02040503050406030204" pitchFamily="18" charset="0"/>
                          </a:rPr>
                          <m:t>∆</m:t>
                        </m:r>
                        <m:r>
                          <a:rPr lang="en-US" altLang="zh-CN" sz="2200" b="1" i="1" smtClean="0">
                            <a:solidFill>
                              <a:srgbClr val="C00000"/>
                            </a:solidFill>
                            <a:latin typeface="Cambria Math" panose="02040503050406030204" pitchFamily="18" charset="0"/>
                          </a:rPr>
                          <m:t>𝒚𝒄</m:t>
                        </m:r>
                      </m:oMath>
                    </m:oMathPara>
                  </a14:m>
                  <a:endParaRPr lang="zh-CN" altLang="en-US" sz="2200" b="1" dirty="0">
                    <a:solidFill>
                      <a:srgbClr val="C00000"/>
                    </a:solidFill>
                  </a:endParaRPr>
                </a:p>
              </p:txBody>
            </p:sp>
          </mc:Choice>
          <mc:Fallback>
            <p:sp>
              <p:nvSpPr>
                <p:cNvPr id="24" name="矩形 23"/>
                <p:cNvSpPr>
                  <a:spLocks noRot="1" noChangeAspect="1" noMove="1" noResize="1" noEditPoints="1" noAdjustHandles="1" noChangeArrowheads="1" noChangeShapeType="1" noTextEdit="1"/>
                </p:cNvSpPr>
                <p:nvPr/>
              </p:nvSpPr>
              <p:spPr>
                <a:xfrm>
                  <a:off x="7243048" y="4084083"/>
                  <a:ext cx="2216602" cy="430887"/>
                </a:xfrm>
                <a:prstGeom prst="rect">
                  <a:avLst/>
                </a:prstGeom>
                <a:blipFill>
                  <a:blip r:embed="rId8"/>
                  <a:stretch>
                    <a:fillRect b="-126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矩形 44"/>
                <p:cNvSpPr/>
                <p:nvPr/>
              </p:nvSpPr>
              <p:spPr>
                <a:xfrm>
                  <a:off x="7601235" y="4515130"/>
                  <a:ext cx="1653917" cy="528093"/>
                </a:xfrm>
                <a:prstGeom prst="rect">
                  <a:avLst/>
                </a:prstGeom>
                <a:solidFill>
                  <a:schemeClr val="accent5">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zh-CN" altLang="en-US" sz="2200" b="1" i="1" smtClean="0">
                                <a:solidFill>
                                  <a:srgbClr val="C00000"/>
                                </a:solidFill>
                                <a:latin typeface="Cambria Math" panose="02040503050406030204" pitchFamily="18" charset="0"/>
                              </a:rPr>
                              <m:t>𝒓</m:t>
                            </m:r>
                          </m:e>
                          <m:sub>
                            <m:r>
                              <a:rPr lang="zh-CN" altLang="en-US" sz="2200" b="1" i="1" smtClean="0">
                                <a:solidFill>
                                  <a:srgbClr val="C00000"/>
                                </a:solidFill>
                                <a:latin typeface="Cambria Math" panose="02040503050406030204" pitchFamily="18" charset="0"/>
                              </a:rPr>
                              <m:t>曲线管理</m:t>
                            </m:r>
                          </m:sub>
                        </m:sSub>
                      </m:oMath>
                    </m:oMathPara>
                  </a14:m>
                  <a:endParaRPr lang="zh-CN" altLang="en-US" sz="2200" b="1" dirty="0">
                    <a:solidFill>
                      <a:srgbClr val="C00000"/>
                    </a:solidFill>
                  </a:endParaRPr>
                </a:p>
              </p:txBody>
            </p:sp>
          </mc:Choice>
          <mc:Fallback>
            <p:sp>
              <p:nvSpPr>
                <p:cNvPr id="45" name="矩形 44"/>
                <p:cNvSpPr>
                  <a:spLocks noRot="1" noChangeAspect="1" noMove="1" noResize="1" noEditPoints="1" noAdjustHandles="1" noChangeArrowheads="1" noChangeShapeType="1" noTextEdit="1"/>
                </p:cNvSpPr>
                <p:nvPr/>
              </p:nvSpPr>
              <p:spPr>
                <a:xfrm>
                  <a:off x="7601235" y="4515130"/>
                  <a:ext cx="1653917" cy="528093"/>
                </a:xfrm>
                <a:prstGeom prst="rect">
                  <a:avLst/>
                </a:prstGeom>
                <a:blipFill>
                  <a:blip r:embed="rId9"/>
                  <a:stretch>
                    <a:fillRect b="-160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矩形 49"/>
                <p:cNvSpPr/>
                <p:nvPr/>
              </p:nvSpPr>
              <p:spPr>
                <a:xfrm>
                  <a:off x="4862506" y="6156808"/>
                  <a:ext cx="1602772" cy="53226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en-US" altLang="zh-CN" sz="2200" b="1" i="1" smtClean="0">
                                <a:solidFill>
                                  <a:srgbClr val="C00000"/>
                                </a:solidFill>
                                <a:latin typeface="Cambria Math" panose="02040503050406030204" pitchFamily="18" charset="0"/>
                              </a:rPr>
                              <m:t>−</m:t>
                            </m:r>
                            <m:r>
                              <a:rPr lang="en-US" altLang="zh-CN" sz="2200" b="1" i="1" smtClean="0">
                                <a:solidFill>
                                  <a:srgbClr val="C00000"/>
                                </a:solidFill>
                                <a:latin typeface="Cambria Math" panose="02040503050406030204" pitchFamily="18" charset="0"/>
                              </a:rPr>
                              <m:t>𝑴𝑫</m:t>
                            </m:r>
                            <m:r>
                              <a:rPr lang="en-US" altLang="zh-CN" sz="2200" b="1" i="1" smtClean="0">
                                <a:solidFill>
                                  <a:srgbClr val="C00000"/>
                                </a:solidFill>
                                <a:latin typeface="Cambria Math" panose="02040503050406030204" pitchFamily="18" charset="0"/>
                                <a:ea typeface="Cambria Math" panose="02040503050406030204" pitchFamily="18" charset="0"/>
                              </a:rPr>
                              <m:t>×</m:t>
                            </m:r>
                            <m:r>
                              <a:rPr lang="en-US" altLang="zh-CN" sz="2200" b="1" i="1" smtClean="0">
                                <a:solidFill>
                                  <a:srgbClr val="C00000"/>
                                </a:solidFill>
                                <a:latin typeface="Cambria Math" panose="02040503050406030204" pitchFamily="18" charset="0"/>
                              </a:rPr>
                              <m:t>𝑭</m:t>
                            </m:r>
                          </m:e>
                          <m:sub>
                            <m:r>
                              <a:rPr lang="zh-CN" altLang="en-US" sz="2200" b="1" i="1" smtClean="0">
                                <a:solidFill>
                                  <a:srgbClr val="C00000"/>
                                </a:solidFill>
                                <a:latin typeface="Cambria Math" panose="02040503050406030204" pitchFamily="18" charset="0"/>
                              </a:rPr>
                              <m:t>平移</m:t>
                            </m:r>
                          </m:sub>
                        </m:sSub>
                      </m:oMath>
                    </m:oMathPara>
                  </a14:m>
                  <a:endParaRPr lang="zh-CN" altLang="en-US" sz="2200" b="1" dirty="0">
                    <a:solidFill>
                      <a:srgbClr val="C00000"/>
                    </a:solidFill>
                  </a:endParaRPr>
                </a:p>
              </p:txBody>
            </p:sp>
          </mc:Choice>
          <mc:Fallback>
            <p:sp>
              <p:nvSpPr>
                <p:cNvPr id="50" name="矩形 49"/>
                <p:cNvSpPr>
                  <a:spLocks noRot="1" noChangeAspect="1" noMove="1" noResize="1" noEditPoints="1" noAdjustHandles="1" noChangeArrowheads="1" noChangeShapeType="1" noTextEdit="1"/>
                </p:cNvSpPr>
                <p:nvPr/>
              </p:nvSpPr>
              <p:spPr>
                <a:xfrm>
                  <a:off x="4862506" y="6156808"/>
                  <a:ext cx="1602772" cy="532262"/>
                </a:xfrm>
                <a:prstGeom prst="rect">
                  <a:avLst/>
                </a:prstGeom>
                <a:blipFill>
                  <a:blip r:embed="rId10"/>
                  <a:stretch>
                    <a:fillRect r="-12153" b="-170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1" name="矩形 50"/>
                <p:cNvSpPr/>
                <p:nvPr/>
              </p:nvSpPr>
              <p:spPr>
                <a:xfrm>
                  <a:off x="6729606" y="6156808"/>
                  <a:ext cx="1602772" cy="52674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en-US" altLang="zh-CN" sz="2200" b="1" i="1" smtClean="0">
                                <a:solidFill>
                                  <a:srgbClr val="C00000"/>
                                </a:solidFill>
                                <a:latin typeface="Cambria Math" panose="02040503050406030204" pitchFamily="18" charset="0"/>
                              </a:rPr>
                              <m:t>−</m:t>
                            </m:r>
                            <m:r>
                              <a:rPr lang="en-US" altLang="zh-CN" sz="2200" b="1" i="1" smtClean="0">
                                <a:solidFill>
                                  <a:srgbClr val="C00000"/>
                                </a:solidFill>
                                <a:latin typeface="Cambria Math" panose="02040503050406030204" pitchFamily="18" charset="0"/>
                              </a:rPr>
                              <m:t>𝑴𝑫</m:t>
                            </m:r>
                            <m:r>
                              <a:rPr lang="en-US" altLang="zh-CN" sz="2200" b="1" i="1" smtClean="0">
                                <a:solidFill>
                                  <a:srgbClr val="C00000"/>
                                </a:solidFill>
                                <a:latin typeface="Cambria Math" panose="02040503050406030204" pitchFamily="18" charset="0"/>
                                <a:ea typeface="Cambria Math" panose="02040503050406030204" pitchFamily="18" charset="0"/>
                              </a:rPr>
                              <m:t>×</m:t>
                            </m:r>
                            <m:r>
                              <a:rPr lang="en-US" altLang="zh-CN" sz="2200" b="1" i="1" smtClean="0">
                                <a:solidFill>
                                  <a:srgbClr val="C00000"/>
                                </a:solidFill>
                                <a:latin typeface="Cambria Math" panose="02040503050406030204" pitchFamily="18" charset="0"/>
                              </a:rPr>
                              <m:t>𝑭</m:t>
                            </m:r>
                          </m:e>
                          <m:sub>
                            <m:r>
                              <a:rPr lang="zh-CN" altLang="en-US" sz="2200" b="1" i="1" smtClean="0">
                                <a:solidFill>
                                  <a:srgbClr val="C00000"/>
                                </a:solidFill>
                                <a:latin typeface="Cambria Math" panose="02040503050406030204" pitchFamily="18" charset="0"/>
                              </a:rPr>
                              <m:t>扭曲</m:t>
                            </m:r>
                          </m:sub>
                        </m:sSub>
                      </m:oMath>
                    </m:oMathPara>
                  </a14:m>
                  <a:endParaRPr lang="zh-CN" altLang="en-US" sz="2200" b="1" dirty="0">
                    <a:solidFill>
                      <a:srgbClr val="C00000"/>
                    </a:solidFill>
                  </a:endParaRPr>
                </a:p>
              </p:txBody>
            </p:sp>
          </mc:Choice>
          <mc:Fallback>
            <p:sp>
              <p:nvSpPr>
                <p:cNvPr id="51" name="矩形 50"/>
                <p:cNvSpPr>
                  <a:spLocks noRot="1" noChangeAspect="1" noMove="1" noResize="1" noEditPoints="1" noAdjustHandles="1" noChangeArrowheads="1" noChangeShapeType="1" noTextEdit="1"/>
                </p:cNvSpPr>
                <p:nvPr/>
              </p:nvSpPr>
              <p:spPr>
                <a:xfrm>
                  <a:off x="6729606" y="6156808"/>
                  <a:ext cx="1602772" cy="526747"/>
                </a:xfrm>
                <a:prstGeom prst="rect">
                  <a:avLst/>
                </a:prstGeom>
                <a:blipFill>
                  <a:blip r:embed="rId11"/>
                  <a:stretch>
                    <a:fillRect r="-11806" b="-160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2" name="矩形 51"/>
                <p:cNvSpPr/>
                <p:nvPr/>
              </p:nvSpPr>
              <p:spPr>
                <a:xfrm>
                  <a:off x="8596706" y="6156808"/>
                  <a:ext cx="1602772" cy="53008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en-US" altLang="zh-CN" sz="2200" b="1" i="1" smtClean="0">
                                <a:solidFill>
                                  <a:srgbClr val="C00000"/>
                                </a:solidFill>
                                <a:latin typeface="Cambria Math" panose="02040503050406030204" pitchFamily="18" charset="0"/>
                              </a:rPr>
                              <m:t>−</m:t>
                            </m:r>
                            <m:r>
                              <a:rPr lang="en-US" altLang="zh-CN" sz="2200" b="1" i="1" smtClean="0">
                                <a:solidFill>
                                  <a:srgbClr val="C00000"/>
                                </a:solidFill>
                                <a:latin typeface="Cambria Math" panose="02040503050406030204" pitchFamily="18" charset="0"/>
                              </a:rPr>
                              <m:t>𝑴𝑫</m:t>
                            </m:r>
                            <m:r>
                              <a:rPr lang="en-US" altLang="zh-CN" sz="2200" b="1" i="1" smtClean="0">
                                <a:solidFill>
                                  <a:srgbClr val="C00000"/>
                                </a:solidFill>
                                <a:latin typeface="Cambria Math" panose="02040503050406030204" pitchFamily="18" charset="0"/>
                                <a:ea typeface="Cambria Math" panose="02040503050406030204" pitchFamily="18" charset="0"/>
                              </a:rPr>
                              <m:t>×</m:t>
                            </m:r>
                            <m:r>
                              <a:rPr lang="en-US" altLang="zh-CN" sz="2200" b="1" i="1" smtClean="0">
                                <a:solidFill>
                                  <a:srgbClr val="C00000"/>
                                </a:solidFill>
                                <a:latin typeface="Cambria Math" panose="02040503050406030204" pitchFamily="18" charset="0"/>
                              </a:rPr>
                              <m:t>𝑭</m:t>
                            </m:r>
                          </m:e>
                          <m:sub>
                            <m:r>
                              <a:rPr lang="zh-CN" altLang="en-US" sz="2200" b="1" i="1" smtClean="0">
                                <a:solidFill>
                                  <a:srgbClr val="C00000"/>
                                </a:solidFill>
                                <a:latin typeface="Cambria Math" panose="02040503050406030204" pitchFamily="18" charset="0"/>
                              </a:rPr>
                              <m:t>曲率</m:t>
                            </m:r>
                          </m:sub>
                        </m:sSub>
                      </m:oMath>
                    </m:oMathPara>
                  </a14:m>
                  <a:endParaRPr lang="zh-CN" altLang="en-US" sz="2200" b="1" dirty="0">
                    <a:solidFill>
                      <a:srgbClr val="C00000"/>
                    </a:solidFill>
                  </a:endParaRPr>
                </a:p>
              </p:txBody>
            </p:sp>
          </mc:Choice>
          <mc:Fallback>
            <p:sp>
              <p:nvSpPr>
                <p:cNvPr id="52" name="矩形 51"/>
                <p:cNvSpPr>
                  <a:spLocks noRot="1" noChangeAspect="1" noMove="1" noResize="1" noEditPoints="1" noAdjustHandles="1" noChangeArrowheads="1" noChangeShapeType="1" noTextEdit="1"/>
                </p:cNvSpPr>
                <p:nvPr/>
              </p:nvSpPr>
              <p:spPr>
                <a:xfrm>
                  <a:off x="8596706" y="6156808"/>
                  <a:ext cx="1602772" cy="530082"/>
                </a:xfrm>
                <a:prstGeom prst="rect">
                  <a:avLst/>
                </a:prstGeom>
                <a:blipFill>
                  <a:blip r:embed="rId12"/>
                  <a:stretch>
                    <a:fillRect r="-12153" b="-172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3" name="矩形 52"/>
                <p:cNvSpPr/>
                <p:nvPr/>
              </p:nvSpPr>
              <p:spPr>
                <a:xfrm>
                  <a:off x="10463806" y="6156808"/>
                  <a:ext cx="1602772" cy="52591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en-US" altLang="zh-CN" sz="2200" b="1" i="1" smtClean="0">
                                <a:solidFill>
                                  <a:srgbClr val="C00000"/>
                                </a:solidFill>
                                <a:latin typeface="Cambria Math" panose="02040503050406030204" pitchFamily="18" charset="0"/>
                              </a:rPr>
                              <m:t>−</m:t>
                            </m:r>
                            <m:r>
                              <a:rPr lang="en-US" altLang="zh-CN" sz="2200" b="1" i="1" smtClean="0">
                                <a:solidFill>
                                  <a:srgbClr val="C00000"/>
                                </a:solidFill>
                                <a:latin typeface="Cambria Math" panose="02040503050406030204" pitchFamily="18" charset="0"/>
                              </a:rPr>
                              <m:t>𝑴𝑫</m:t>
                            </m:r>
                            <m:r>
                              <a:rPr lang="en-US" altLang="zh-CN" sz="2200" b="1" i="1" smtClean="0">
                                <a:solidFill>
                                  <a:srgbClr val="C00000"/>
                                </a:solidFill>
                                <a:latin typeface="Cambria Math" panose="02040503050406030204" pitchFamily="18" charset="0"/>
                                <a:ea typeface="Cambria Math" panose="02040503050406030204" pitchFamily="18" charset="0"/>
                              </a:rPr>
                              <m:t>×</m:t>
                            </m:r>
                            <m:r>
                              <a:rPr lang="en-US" altLang="zh-CN" sz="2200" b="1" i="1" smtClean="0">
                                <a:solidFill>
                                  <a:srgbClr val="C00000"/>
                                </a:solidFill>
                                <a:latin typeface="Cambria Math" panose="02040503050406030204" pitchFamily="18" charset="0"/>
                              </a:rPr>
                              <m:t>𝑭</m:t>
                            </m:r>
                          </m:e>
                          <m:sub>
                            <m:r>
                              <a:rPr lang="zh-CN" altLang="en-US" sz="2200" b="1" i="1" smtClean="0">
                                <a:solidFill>
                                  <a:srgbClr val="C00000"/>
                                </a:solidFill>
                                <a:latin typeface="Cambria Math" panose="02040503050406030204" pitchFamily="18" charset="0"/>
                              </a:rPr>
                              <m:t>骑乘</m:t>
                            </m:r>
                          </m:sub>
                        </m:sSub>
                      </m:oMath>
                    </m:oMathPara>
                  </a14:m>
                  <a:endParaRPr lang="zh-CN" altLang="en-US" sz="2200" b="1" dirty="0">
                    <a:solidFill>
                      <a:srgbClr val="C00000"/>
                    </a:solidFill>
                  </a:endParaRPr>
                </a:p>
              </p:txBody>
            </p:sp>
          </mc:Choice>
          <mc:Fallback>
            <p:sp>
              <p:nvSpPr>
                <p:cNvPr id="53" name="矩形 52"/>
                <p:cNvSpPr>
                  <a:spLocks noRot="1" noChangeAspect="1" noMove="1" noResize="1" noEditPoints="1" noAdjustHandles="1" noChangeArrowheads="1" noChangeShapeType="1" noTextEdit="1"/>
                </p:cNvSpPr>
                <p:nvPr/>
              </p:nvSpPr>
              <p:spPr>
                <a:xfrm>
                  <a:off x="10463806" y="6156808"/>
                  <a:ext cx="1602772" cy="525913"/>
                </a:xfrm>
                <a:prstGeom prst="rect">
                  <a:avLst/>
                </a:prstGeom>
                <a:blipFill>
                  <a:blip r:embed="rId13"/>
                  <a:stretch>
                    <a:fillRect r="-12153" b="-183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矩形 55"/>
                <p:cNvSpPr/>
                <p:nvPr/>
              </p:nvSpPr>
              <p:spPr>
                <a:xfrm>
                  <a:off x="5323722" y="6828589"/>
                  <a:ext cx="1008979" cy="532262"/>
                </a:xfrm>
                <a:prstGeom prst="rect">
                  <a:avLst/>
                </a:prstGeom>
                <a:solidFill>
                  <a:schemeClr val="accent5">
                    <a:lumMod val="40000"/>
                    <a:lumOff val="60000"/>
                  </a:schemeClr>
                </a:solidFill>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zh-CN" altLang="en-US" sz="2200" b="1" i="1" smtClean="0">
                                <a:solidFill>
                                  <a:srgbClr val="C00000"/>
                                </a:solidFill>
                                <a:latin typeface="Cambria Math" panose="02040503050406030204" pitchFamily="18" charset="0"/>
                              </a:rPr>
                              <m:t>𝒓</m:t>
                            </m:r>
                          </m:e>
                          <m:sub>
                            <m:r>
                              <a:rPr lang="zh-CN" altLang="en-US" sz="2200" b="1" i="1" smtClean="0">
                                <a:solidFill>
                                  <a:srgbClr val="C00000"/>
                                </a:solidFill>
                                <a:latin typeface="Cambria Math" panose="02040503050406030204" pitchFamily="18" charset="0"/>
                              </a:rPr>
                              <m:t>平移</m:t>
                            </m:r>
                          </m:sub>
                        </m:sSub>
                      </m:oMath>
                    </m:oMathPara>
                  </a14:m>
                  <a:endParaRPr lang="zh-CN" altLang="en-US" sz="2200" b="1" dirty="0">
                    <a:solidFill>
                      <a:srgbClr val="C00000"/>
                    </a:solidFill>
                  </a:endParaRPr>
                </a:p>
              </p:txBody>
            </p:sp>
          </mc:Choice>
          <mc:Fallback>
            <p:sp>
              <p:nvSpPr>
                <p:cNvPr id="56" name="矩形 55"/>
                <p:cNvSpPr>
                  <a:spLocks noRot="1" noChangeAspect="1" noMove="1" noResize="1" noEditPoints="1" noAdjustHandles="1" noChangeArrowheads="1" noChangeShapeType="1" noTextEdit="1"/>
                </p:cNvSpPr>
                <p:nvPr/>
              </p:nvSpPr>
              <p:spPr>
                <a:xfrm>
                  <a:off x="5323722" y="6828589"/>
                  <a:ext cx="1008979" cy="532262"/>
                </a:xfrm>
                <a:prstGeom prst="rect">
                  <a:avLst/>
                </a:prstGeom>
                <a:blipFill>
                  <a:blip r:embed="rId14"/>
                  <a:stretch>
                    <a:fillRect b="-170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矩形 56"/>
                <p:cNvSpPr/>
                <p:nvPr/>
              </p:nvSpPr>
              <p:spPr>
                <a:xfrm>
                  <a:off x="7047245" y="6829070"/>
                  <a:ext cx="1008979" cy="526747"/>
                </a:xfrm>
                <a:prstGeom prst="rect">
                  <a:avLst/>
                </a:prstGeom>
                <a:solidFill>
                  <a:schemeClr val="accent5">
                    <a:lumMod val="40000"/>
                    <a:lumOff val="60000"/>
                  </a:schemeClr>
                </a:solidFill>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zh-CN" altLang="en-US" sz="2200" b="1" i="1" smtClean="0">
                                <a:solidFill>
                                  <a:srgbClr val="C00000"/>
                                </a:solidFill>
                                <a:latin typeface="Cambria Math" panose="02040503050406030204" pitchFamily="18" charset="0"/>
                              </a:rPr>
                              <m:t>𝒓</m:t>
                            </m:r>
                          </m:e>
                          <m:sub>
                            <m:r>
                              <a:rPr lang="zh-CN" altLang="en-US" sz="2200" b="1" i="1" smtClean="0">
                                <a:solidFill>
                                  <a:srgbClr val="C00000"/>
                                </a:solidFill>
                                <a:latin typeface="Cambria Math" panose="02040503050406030204" pitchFamily="18" charset="0"/>
                              </a:rPr>
                              <m:t>扭曲</m:t>
                            </m:r>
                          </m:sub>
                        </m:sSub>
                      </m:oMath>
                    </m:oMathPara>
                  </a14:m>
                  <a:endParaRPr lang="zh-CN" altLang="en-US" sz="2200" b="1" dirty="0">
                    <a:solidFill>
                      <a:srgbClr val="C00000"/>
                    </a:solidFill>
                  </a:endParaRPr>
                </a:p>
              </p:txBody>
            </p:sp>
          </mc:Choice>
          <mc:Fallback>
            <p:sp>
              <p:nvSpPr>
                <p:cNvPr id="57" name="矩形 56"/>
                <p:cNvSpPr>
                  <a:spLocks noRot="1" noChangeAspect="1" noMove="1" noResize="1" noEditPoints="1" noAdjustHandles="1" noChangeArrowheads="1" noChangeShapeType="1" noTextEdit="1"/>
                </p:cNvSpPr>
                <p:nvPr/>
              </p:nvSpPr>
              <p:spPr>
                <a:xfrm>
                  <a:off x="7047245" y="6829070"/>
                  <a:ext cx="1008979" cy="526747"/>
                </a:xfrm>
                <a:prstGeom prst="rect">
                  <a:avLst/>
                </a:prstGeom>
                <a:blipFill>
                  <a:blip r:embed="rId15"/>
                  <a:stretch>
                    <a:fillRect b="-174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 name="矩形 57"/>
                <p:cNvSpPr/>
                <p:nvPr/>
              </p:nvSpPr>
              <p:spPr>
                <a:xfrm>
                  <a:off x="8770768" y="6828782"/>
                  <a:ext cx="1377764" cy="530082"/>
                </a:xfrm>
                <a:prstGeom prst="rect">
                  <a:avLst/>
                </a:prstGeom>
                <a:solidFill>
                  <a:schemeClr val="accent5">
                    <a:lumMod val="40000"/>
                    <a:lumOff val="60000"/>
                  </a:schemeClr>
                </a:solidFill>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zh-CN" altLang="en-US" sz="2200" b="1" i="1" smtClean="0">
                                <a:solidFill>
                                  <a:srgbClr val="C00000"/>
                                </a:solidFill>
                                <a:latin typeface="Cambria Math" panose="02040503050406030204" pitchFamily="18" charset="0"/>
                              </a:rPr>
                              <m:t>𝒓</m:t>
                            </m:r>
                          </m:e>
                          <m:sub>
                            <m:r>
                              <a:rPr lang="zh-CN" altLang="en-US" sz="2200" b="1" i="1" smtClean="0">
                                <a:solidFill>
                                  <a:srgbClr val="C00000"/>
                                </a:solidFill>
                                <a:latin typeface="Cambria Math" panose="02040503050406030204" pitchFamily="18" charset="0"/>
                              </a:rPr>
                              <m:t>曲率</m:t>
                            </m:r>
                          </m:sub>
                        </m:sSub>
                      </m:oMath>
                    </m:oMathPara>
                  </a14:m>
                  <a:endParaRPr lang="zh-CN" altLang="en-US" sz="2200" b="1" dirty="0">
                    <a:solidFill>
                      <a:srgbClr val="C00000"/>
                    </a:solidFill>
                  </a:endParaRPr>
                </a:p>
              </p:txBody>
            </p:sp>
          </mc:Choice>
          <mc:Fallback>
            <p:sp>
              <p:nvSpPr>
                <p:cNvPr id="58" name="矩形 57"/>
                <p:cNvSpPr>
                  <a:spLocks noRot="1" noChangeAspect="1" noMove="1" noResize="1" noEditPoints="1" noAdjustHandles="1" noChangeArrowheads="1" noChangeShapeType="1" noTextEdit="1"/>
                </p:cNvSpPr>
                <p:nvPr/>
              </p:nvSpPr>
              <p:spPr>
                <a:xfrm>
                  <a:off x="8770768" y="6828782"/>
                  <a:ext cx="1377764" cy="530082"/>
                </a:xfrm>
                <a:prstGeom prst="rect">
                  <a:avLst/>
                </a:prstGeom>
                <a:blipFill>
                  <a:blip r:embed="rId16"/>
                  <a:stretch>
                    <a:fillRect b="-174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矩形 58"/>
                <p:cNvSpPr/>
                <p:nvPr/>
              </p:nvSpPr>
              <p:spPr>
                <a:xfrm>
                  <a:off x="10863076" y="6829135"/>
                  <a:ext cx="1305875" cy="525913"/>
                </a:xfrm>
                <a:prstGeom prst="rect">
                  <a:avLst/>
                </a:prstGeom>
                <a:solidFill>
                  <a:schemeClr val="accent5">
                    <a:lumMod val="40000"/>
                    <a:lumOff val="60000"/>
                  </a:schemeClr>
                </a:solidFill>
              </p:spPr>
              <p:txBody>
                <a:bodyPr wrap="square" anchor="ctr">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smtClean="0">
                                <a:solidFill>
                                  <a:srgbClr val="C00000"/>
                                </a:solidFill>
                                <a:latin typeface="Cambria Math" panose="02040503050406030204" pitchFamily="18" charset="0"/>
                              </a:rPr>
                            </m:ctrlPr>
                          </m:sSubPr>
                          <m:e>
                            <m:r>
                              <a:rPr lang="zh-CN" altLang="en-US" sz="2200" b="1" i="1" smtClean="0">
                                <a:solidFill>
                                  <a:srgbClr val="C00000"/>
                                </a:solidFill>
                                <a:latin typeface="Cambria Math" panose="02040503050406030204" pitchFamily="18" charset="0"/>
                              </a:rPr>
                              <m:t>𝒓</m:t>
                            </m:r>
                          </m:e>
                          <m:sub>
                            <m:r>
                              <a:rPr lang="zh-CN" altLang="en-US" sz="2200" b="1" i="1" smtClean="0">
                                <a:solidFill>
                                  <a:srgbClr val="C00000"/>
                                </a:solidFill>
                                <a:latin typeface="Cambria Math" panose="02040503050406030204" pitchFamily="18" charset="0"/>
                              </a:rPr>
                              <m:t>骑乘</m:t>
                            </m:r>
                          </m:sub>
                        </m:sSub>
                      </m:oMath>
                    </m:oMathPara>
                  </a14:m>
                  <a:endParaRPr lang="zh-CN" altLang="en-US" sz="2200" b="1" dirty="0">
                    <a:solidFill>
                      <a:srgbClr val="C00000"/>
                    </a:solidFill>
                  </a:endParaRPr>
                </a:p>
              </p:txBody>
            </p:sp>
          </mc:Choice>
          <mc:Fallback>
            <p:sp>
              <p:nvSpPr>
                <p:cNvPr id="59" name="矩形 58"/>
                <p:cNvSpPr>
                  <a:spLocks noRot="1" noChangeAspect="1" noMove="1" noResize="1" noEditPoints="1" noAdjustHandles="1" noChangeArrowheads="1" noChangeShapeType="1" noTextEdit="1"/>
                </p:cNvSpPr>
                <p:nvPr/>
              </p:nvSpPr>
              <p:spPr>
                <a:xfrm>
                  <a:off x="10863076" y="6829135"/>
                  <a:ext cx="1305875" cy="525913"/>
                </a:xfrm>
                <a:prstGeom prst="rect">
                  <a:avLst/>
                </a:prstGeom>
                <a:blipFill>
                  <a:blip r:embed="rId17"/>
                  <a:stretch>
                    <a:fillRect b="-18605"/>
                  </a:stretch>
                </a:blipFill>
              </p:spPr>
              <p:txBody>
                <a:bodyPr/>
                <a:lstStyle/>
                <a:p>
                  <a:r>
                    <a:rPr lang="zh-CN" altLang="en-US">
                      <a:noFill/>
                    </a:rPr>
                    <a:t> </a:t>
                  </a:r>
                </a:p>
              </p:txBody>
            </p:sp>
          </mc:Fallback>
        </mc:AlternateContent>
        <p:sp>
          <p:nvSpPr>
            <p:cNvPr id="34" name="矩形 33"/>
            <p:cNvSpPr/>
            <p:nvPr/>
          </p:nvSpPr>
          <p:spPr>
            <a:xfrm>
              <a:off x="4881390" y="3875838"/>
              <a:ext cx="7356833" cy="4940407"/>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mc:AlternateContent xmlns:mc="http://schemas.openxmlformats.org/markup-compatibility/2006">
          <mc:Choice xmlns:a14="http://schemas.microsoft.com/office/drawing/2010/main" Requires="a14">
            <p:sp>
              <p:nvSpPr>
                <p:cNvPr id="25" name="矩形 24"/>
                <p:cNvSpPr/>
                <p:nvPr/>
              </p:nvSpPr>
              <p:spPr>
                <a:xfrm>
                  <a:off x="13003427" y="4028854"/>
                  <a:ext cx="2053551"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b="1" smtClean="0">
                            <a:latin typeface="Cambria Math" panose="02040503050406030204" pitchFamily="18" charset="0"/>
                          </a:rPr>
                          <m:t>−</m:t>
                        </m:r>
                        <m:r>
                          <a:rPr lang="zh-CN" altLang="en-US" sz="2200" b="1" i="1" smtClean="0">
                            <a:latin typeface="Cambria Math" panose="02040503050406030204" pitchFamily="18" charset="0"/>
                          </a:rPr>
                          <m:t>𝑴𝑫</m:t>
                        </m:r>
                        <m:r>
                          <a:rPr lang="en-US" altLang="zh-CN" sz="2200" b="1" i="1" smtClean="0">
                            <a:latin typeface="Cambria Math" panose="02040503050406030204" pitchFamily="18" charset="0"/>
                            <a:ea typeface="Cambria Math" panose="02040503050406030204" pitchFamily="18" charset="0"/>
                          </a:rPr>
                          <m:t>×</m:t>
                        </m:r>
                        <m:r>
                          <a:rPr lang="zh-CN" altLang="en-US" sz="2200" b="1" i="1" smtClean="0">
                            <a:latin typeface="Cambria Math" panose="02040503050406030204" pitchFamily="18" charset="0"/>
                          </a:rPr>
                          <m:t>∆</m:t>
                        </m:r>
                        <m:r>
                          <a:rPr lang="en-US" altLang="zh-CN" sz="2200" b="1" i="1" smtClean="0">
                            <a:latin typeface="Cambria Math" panose="02040503050406030204" pitchFamily="18" charset="0"/>
                          </a:rPr>
                          <m:t>𝒔</m:t>
                        </m:r>
                      </m:oMath>
                    </m:oMathPara>
                  </a14:m>
                  <a:endParaRPr lang="zh-CN" altLang="en-US" sz="2200" b="1" dirty="0"/>
                </a:p>
              </p:txBody>
            </p:sp>
          </mc:Choice>
          <mc:Fallback>
            <p:sp>
              <p:nvSpPr>
                <p:cNvPr id="25" name="矩形 24"/>
                <p:cNvSpPr>
                  <a:spLocks noRot="1" noChangeAspect="1" noMove="1" noResize="1" noEditPoints="1" noAdjustHandles="1" noChangeArrowheads="1" noChangeShapeType="1" noTextEdit="1"/>
                </p:cNvSpPr>
                <p:nvPr/>
              </p:nvSpPr>
              <p:spPr>
                <a:xfrm>
                  <a:off x="13003427" y="4028854"/>
                  <a:ext cx="2053551" cy="430887"/>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矩形 45"/>
                <p:cNvSpPr/>
                <p:nvPr/>
              </p:nvSpPr>
              <p:spPr>
                <a:xfrm>
                  <a:off x="13288488" y="4478317"/>
                  <a:ext cx="1693531" cy="531171"/>
                </a:xfrm>
                <a:prstGeom prst="rect">
                  <a:avLst/>
                </a:prstGeom>
                <a:solidFill>
                  <a:schemeClr val="accent4">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a:latin typeface="Cambria Math" panose="02040503050406030204" pitchFamily="18" charset="0"/>
                              </a:rPr>
                            </m:ctrlPr>
                          </m:sSubPr>
                          <m:e>
                            <m:r>
                              <a:rPr lang="zh-CN" altLang="en-US" sz="2200" b="1" i="1" smtClean="0">
                                <a:latin typeface="Cambria Math" panose="02040503050406030204" pitchFamily="18" charset="0"/>
                              </a:rPr>
                              <m:t>𝒓</m:t>
                            </m:r>
                          </m:e>
                          <m:sub>
                            <m:r>
                              <a:rPr lang="zh-CN" altLang="en-US" sz="2200" b="1" i="1" smtClean="0">
                                <a:latin typeface="Cambria Math" panose="02040503050406030204" pitchFamily="18" charset="0"/>
                              </a:rPr>
                              <m:t>个券管理</m:t>
                            </m:r>
                          </m:sub>
                        </m:sSub>
                      </m:oMath>
                    </m:oMathPara>
                  </a14:m>
                  <a:endParaRPr lang="zh-CN" altLang="en-US" sz="2200" b="1" dirty="0"/>
                </a:p>
              </p:txBody>
            </p:sp>
          </mc:Choice>
          <mc:Fallback>
            <p:sp>
              <p:nvSpPr>
                <p:cNvPr id="46" name="矩形 45"/>
                <p:cNvSpPr>
                  <a:spLocks noRot="1" noChangeAspect="1" noMove="1" noResize="1" noEditPoints="1" noAdjustHandles="1" noChangeArrowheads="1" noChangeShapeType="1" noTextEdit="1"/>
                </p:cNvSpPr>
                <p:nvPr/>
              </p:nvSpPr>
              <p:spPr>
                <a:xfrm>
                  <a:off x="13288488" y="4478317"/>
                  <a:ext cx="1693531" cy="531171"/>
                </a:xfrm>
                <a:prstGeom prst="rect">
                  <a:avLst/>
                </a:prstGeom>
                <a:blipFill>
                  <a:blip r:embed="rId19"/>
                  <a:stretch>
                    <a:fillRect b="-160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矩形 53"/>
                <p:cNvSpPr/>
                <p:nvPr/>
              </p:nvSpPr>
              <p:spPr>
                <a:xfrm>
                  <a:off x="12330906" y="6156808"/>
                  <a:ext cx="1641162" cy="5270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a:latin typeface="Cambria Math" panose="02040503050406030204" pitchFamily="18" charset="0"/>
                              </a:rPr>
                            </m:ctrlPr>
                          </m:sSubPr>
                          <m:e>
                            <m:r>
                              <a:rPr lang="en-US" altLang="zh-CN" sz="2200" b="1" i="1" smtClean="0">
                                <a:latin typeface="Cambria Math" panose="02040503050406030204" pitchFamily="18" charset="0"/>
                              </a:rPr>
                              <m:t>−</m:t>
                            </m:r>
                            <m:r>
                              <a:rPr lang="en-US" altLang="zh-CN" sz="2200" b="1" i="1" smtClean="0">
                                <a:latin typeface="Cambria Math" panose="02040503050406030204" pitchFamily="18" charset="0"/>
                              </a:rPr>
                              <m:t>𝑴𝑫</m:t>
                            </m:r>
                            <m:r>
                              <a:rPr lang="en-US" altLang="zh-CN" sz="2200" b="1"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rPr>
                              <m:t>𝑭</m:t>
                            </m:r>
                          </m:e>
                          <m:sub>
                            <m:r>
                              <a:rPr lang="zh-CN" altLang="en-US" sz="2200" b="1" i="1" smtClean="0">
                                <a:latin typeface="Cambria Math" panose="02040503050406030204" pitchFamily="18" charset="0"/>
                              </a:rPr>
                              <m:t>行业</m:t>
                            </m:r>
                          </m:sub>
                        </m:sSub>
                      </m:oMath>
                    </m:oMathPara>
                  </a14:m>
                  <a:endParaRPr lang="zh-CN" altLang="en-US" sz="2200" b="1" dirty="0"/>
                </a:p>
              </p:txBody>
            </p:sp>
          </mc:Choice>
          <mc:Fallback>
            <p:sp>
              <p:nvSpPr>
                <p:cNvPr id="54" name="矩形 53"/>
                <p:cNvSpPr>
                  <a:spLocks noRot="1" noChangeAspect="1" noMove="1" noResize="1" noEditPoints="1" noAdjustHandles="1" noChangeArrowheads="1" noChangeShapeType="1" noTextEdit="1"/>
                </p:cNvSpPr>
                <p:nvPr/>
              </p:nvSpPr>
              <p:spPr>
                <a:xfrm>
                  <a:off x="12330906" y="6156808"/>
                  <a:ext cx="1641162" cy="527004"/>
                </a:xfrm>
                <a:prstGeom prst="rect">
                  <a:avLst/>
                </a:prstGeom>
                <a:blipFill>
                  <a:blip r:embed="rId20"/>
                  <a:stretch>
                    <a:fillRect r="-9153" b="-160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矩形 54"/>
                <p:cNvSpPr/>
                <p:nvPr/>
              </p:nvSpPr>
              <p:spPr>
                <a:xfrm>
                  <a:off x="14236397" y="6156808"/>
                  <a:ext cx="1641162" cy="5297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a:latin typeface="Cambria Math" panose="02040503050406030204" pitchFamily="18" charset="0"/>
                              </a:rPr>
                            </m:ctrlPr>
                          </m:sSubPr>
                          <m:e>
                            <m:r>
                              <a:rPr lang="en-US" altLang="zh-CN" sz="2200" b="1" i="1" smtClean="0">
                                <a:latin typeface="Cambria Math" panose="02040503050406030204" pitchFamily="18" charset="0"/>
                              </a:rPr>
                              <m:t>−</m:t>
                            </m:r>
                            <m:r>
                              <a:rPr lang="en-US" altLang="zh-CN" sz="2200" b="1" i="1" smtClean="0">
                                <a:latin typeface="Cambria Math" panose="02040503050406030204" pitchFamily="18" charset="0"/>
                              </a:rPr>
                              <m:t>𝑴𝑫</m:t>
                            </m:r>
                            <m:r>
                              <a:rPr lang="en-US" altLang="zh-CN" sz="2200" b="1"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rPr>
                              <m:t>𝑭</m:t>
                            </m:r>
                          </m:e>
                          <m:sub>
                            <m:r>
                              <a:rPr lang="zh-CN" altLang="en-US" sz="2200" b="1" i="1" smtClean="0">
                                <a:latin typeface="Cambria Math" panose="02040503050406030204" pitchFamily="18" charset="0"/>
                              </a:rPr>
                              <m:t>个券</m:t>
                            </m:r>
                          </m:sub>
                        </m:sSub>
                      </m:oMath>
                    </m:oMathPara>
                  </a14:m>
                  <a:endParaRPr lang="zh-CN" altLang="en-US" sz="2200" b="1" dirty="0"/>
                </a:p>
              </p:txBody>
            </p:sp>
          </mc:Choice>
          <mc:Fallback>
            <p:sp>
              <p:nvSpPr>
                <p:cNvPr id="55" name="矩形 54"/>
                <p:cNvSpPr>
                  <a:spLocks noRot="1" noChangeAspect="1" noMove="1" noResize="1" noEditPoints="1" noAdjustHandles="1" noChangeArrowheads="1" noChangeShapeType="1" noTextEdit="1"/>
                </p:cNvSpPr>
                <p:nvPr/>
              </p:nvSpPr>
              <p:spPr>
                <a:xfrm>
                  <a:off x="14236397" y="6156808"/>
                  <a:ext cx="1641162" cy="529760"/>
                </a:xfrm>
                <a:prstGeom prst="rect">
                  <a:avLst/>
                </a:prstGeom>
                <a:blipFill>
                  <a:blip r:embed="rId21"/>
                  <a:stretch>
                    <a:fillRect r="-9153" b="-160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矩形 59"/>
                <p:cNvSpPr/>
                <p:nvPr/>
              </p:nvSpPr>
              <p:spPr>
                <a:xfrm>
                  <a:off x="12883495" y="6868536"/>
                  <a:ext cx="1033146" cy="527004"/>
                </a:xfrm>
                <a:prstGeom prst="rect">
                  <a:avLst/>
                </a:prstGeom>
                <a:solidFill>
                  <a:schemeClr val="accent4">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a:latin typeface="Cambria Math" panose="02040503050406030204" pitchFamily="18" charset="0"/>
                              </a:rPr>
                            </m:ctrlPr>
                          </m:sSubPr>
                          <m:e>
                            <m:r>
                              <a:rPr lang="zh-CN" altLang="en-US" sz="2200" b="1" i="1" smtClean="0">
                                <a:latin typeface="Cambria Math" panose="02040503050406030204" pitchFamily="18" charset="0"/>
                              </a:rPr>
                              <m:t>𝒓</m:t>
                            </m:r>
                          </m:e>
                          <m:sub>
                            <m:r>
                              <a:rPr lang="zh-CN" altLang="en-US" sz="2200" b="1" i="1" smtClean="0">
                                <a:latin typeface="Cambria Math" panose="02040503050406030204" pitchFamily="18" charset="0"/>
                              </a:rPr>
                              <m:t>行业</m:t>
                            </m:r>
                          </m:sub>
                        </m:sSub>
                      </m:oMath>
                    </m:oMathPara>
                  </a14:m>
                  <a:endParaRPr lang="zh-CN" altLang="en-US" sz="2200" b="1" dirty="0"/>
                </a:p>
              </p:txBody>
            </p:sp>
          </mc:Choice>
          <mc:Fallback>
            <p:sp>
              <p:nvSpPr>
                <p:cNvPr id="60" name="矩形 59"/>
                <p:cNvSpPr>
                  <a:spLocks noRot="1" noChangeAspect="1" noMove="1" noResize="1" noEditPoints="1" noAdjustHandles="1" noChangeArrowheads="1" noChangeShapeType="1" noTextEdit="1"/>
                </p:cNvSpPr>
                <p:nvPr/>
              </p:nvSpPr>
              <p:spPr>
                <a:xfrm>
                  <a:off x="12883495" y="6868536"/>
                  <a:ext cx="1033146" cy="527004"/>
                </a:xfrm>
                <a:prstGeom prst="rect">
                  <a:avLst/>
                </a:prstGeom>
                <a:blipFill>
                  <a:blip r:embed="rId22"/>
                  <a:stretch>
                    <a:fillRect b="-174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1" name="矩形 60"/>
                <p:cNvSpPr/>
                <p:nvPr/>
              </p:nvSpPr>
              <p:spPr>
                <a:xfrm>
                  <a:off x="14631182" y="6868536"/>
                  <a:ext cx="1246377" cy="529760"/>
                </a:xfrm>
                <a:prstGeom prst="rect">
                  <a:avLst/>
                </a:prstGeom>
                <a:solidFill>
                  <a:schemeClr val="accent4">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b="1" i="1">
                                <a:latin typeface="Cambria Math" panose="02040503050406030204" pitchFamily="18" charset="0"/>
                              </a:rPr>
                            </m:ctrlPr>
                          </m:sSubPr>
                          <m:e>
                            <m:r>
                              <a:rPr lang="zh-CN" altLang="en-US" sz="2200" b="1" i="1" smtClean="0">
                                <a:latin typeface="Cambria Math" panose="02040503050406030204" pitchFamily="18" charset="0"/>
                              </a:rPr>
                              <m:t>𝒓</m:t>
                            </m:r>
                          </m:e>
                          <m:sub>
                            <m:r>
                              <a:rPr lang="zh-CN" altLang="en-US" sz="2200" b="1" i="1" smtClean="0">
                                <a:latin typeface="Cambria Math" panose="02040503050406030204" pitchFamily="18" charset="0"/>
                              </a:rPr>
                              <m:t>个券</m:t>
                            </m:r>
                          </m:sub>
                        </m:sSub>
                      </m:oMath>
                    </m:oMathPara>
                  </a14:m>
                  <a:endParaRPr lang="zh-CN" altLang="en-US" sz="2200" b="1" dirty="0"/>
                </a:p>
              </p:txBody>
            </p:sp>
          </mc:Choice>
          <mc:Fallback>
            <p:sp>
              <p:nvSpPr>
                <p:cNvPr id="61" name="矩形 60"/>
                <p:cNvSpPr>
                  <a:spLocks noRot="1" noChangeAspect="1" noMove="1" noResize="1" noEditPoints="1" noAdjustHandles="1" noChangeArrowheads="1" noChangeShapeType="1" noTextEdit="1"/>
                </p:cNvSpPr>
                <p:nvPr/>
              </p:nvSpPr>
              <p:spPr>
                <a:xfrm>
                  <a:off x="14631182" y="6868536"/>
                  <a:ext cx="1246377" cy="529760"/>
                </a:xfrm>
                <a:prstGeom prst="rect">
                  <a:avLst/>
                </a:prstGeom>
                <a:blipFill>
                  <a:blip r:embed="rId23"/>
                  <a:stretch>
                    <a:fillRect b="-16092"/>
                  </a:stretch>
                </a:blipFill>
              </p:spPr>
              <p:txBody>
                <a:bodyPr/>
                <a:lstStyle/>
                <a:p>
                  <a:r>
                    <a:rPr lang="zh-CN" altLang="en-US">
                      <a:noFill/>
                    </a:rPr>
                    <a:t> </a:t>
                  </a:r>
                </a:p>
              </p:txBody>
            </p:sp>
          </mc:Fallback>
        </mc:AlternateContent>
        <p:sp>
          <p:nvSpPr>
            <p:cNvPr id="35" name="矩形 34"/>
            <p:cNvSpPr/>
            <p:nvPr/>
          </p:nvSpPr>
          <p:spPr>
            <a:xfrm>
              <a:off x="12362566" y="3869284"/>
              <a:ext cx="3810884" cy="4894308"/>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grpSp>
      <p:sp>
        <p:nvSpPr>
          <p:cNvPr id="5" name="标题 4">
            <a:extLst>
              <a:ext uri="{FF2B5EF4-FFF2-40B4-BE49-F238E27FC236}">
                <a16:creationId xmlns:a16="http://schemas.microsoft.com/office/drawing/2014/main" id="{13429F1B-75C4-4A15-B1F5-C93D12ED7975}"/>
              </a:ext>
            </a:extLst>
          </p:cNvPr>
          <p:cNvSpPr>
            <a:spLocks noGrp="1"/>
          </p:cNvSpPr>
          <p:nvPr>
            <p:ph type="title"/>
          </p:nvPr>
        </p:nvSpPr>
        <p:spPr/>
        <p:txBody>
          <a:bodyPr/>
          <a:lstStyle/>
          <a:p>
            <a:r>
              <a:rPr lang="zh-CN" altLang="en-US" dirty="0"/>
              <a:t>数学过程</a:t>
            </a:r>
          </a:p>
        </p:txBody>
      </p:sp>
      <mc:AlternateContent xmlns:mc="http://schemas.openxmlformats.org/markup-compatibility/2006">
        <mc:Choice xmlns:a14="http://schemas.microsoft.com/office/drawing/2010/main" Requires="a14">
          <p:sp>
            <p:nvSpPr>
              <p:cNvPr id="6" name="内容占位符 5">
                <a:extLst>
                  <a:ext uri="{FF2B5EF4-FFF2-40B4-BE49-F238E27FC236}">
                    <a16:creationId xmlns:a16="http://schemas.microsoft.com/office/drawing/2014/main" id="{9E82C9B1-9158-4E3C-B1A7-2CC3A26C20E5}"/>
                  </a:ext>
                </a:extLst>
              </p:cNvPr>
              <p:cNvSpPr>
                <a:spLocks noGrp="1"/>
              </p:cNvSpPr>
              <p:nvPr>
                <p:ph idx="1"/>
              </p:nvPr>
            </p:nvSpPr>
            <p:spPr>
              <a:xfrm>
                <a:off x="949497" y="1593045"/>
                <a:ext cx="15378696" cy="170810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zh-CN" altLang="en-US" sz="3200" b="1" i="1" smtClean="0">
                              <a:latin typeface="Cambria Math" panose="02040503050406030204" pitchFamily="18" charset="0"/>
                            </a:rPr>
                          </m:ctrlPr>
                        </m:fPr>
                        <m:num>
                          <m:r>
                            <a:rPr lang="zh-CN" altLang="en-US" sz="3200" b="1" i="1">
                              <a:latin typeface="Cambria Math" panose="02040503050406030204" pitchFamily="18" charset="0"/>
                            </a:rPr>
                            <m:t>𝒅</m:t>
                          </m:r>
                          <m:d>
                            <m:dPr>
                              <m:begChr m:val=""/>
                              <m:ctrlPr>
                                <a:rPr lang="zh-CN" altLang="en-US" sz="3200" b="1" i="1">
                                  <a:latin typeface="Cambria Math" panose="02040503050406030204" pitchFamily="18" charset="0"/>
                                </a:rPr>
                              </m:ctrlPr>
                            </m:dPr>
                            <m:e>
                              <m:r>
                                <a:rPr lang="zh-CN" altLang="en-US" sz="3200" b="1" i="1">
                                  <a:latin typeface="Cambria Math" panose="02040503050406030204" pitchFamily="18" charset="0"/>
                                </a:rPr>
                                <m:t>𝑷</m:t>
                              </m:r>
                              <m:r>
                                <a:rPr lang="zh-CN" altLang="en-US" sz="3200" b="1">
                                  <a:latin typeface="Cambria Math" panose="02040503050406030204" pitchFamily="18" charset="0"/>
                                </a:rPr>
                                <m:t>(</m:t>
                              </m:r>
                              <m:r>
                                <a:rPr lang="zh-CN" altLang="en-US" sz="3200" b="1" i="1">
                                  <a:latin typeface="Cambria Math" panose="02040503050406030204" pitchFamily="18" charset="0"/>
                                </a:rPr>
                                <m:t>𝒕</m:t>
                              </m:r>
                              <m:r>
                                <a:rPr lang="zh-CN" altLang="en-US" sz="3200" b="1">
                                  <a:latin typeface="Cambria Math" panose="02040503050406030204" pitchFamily="18" charset="0"/>
                                </a:rPr>
                                <m:t>,</m:t>
                              </m:r>
                              <m:r>
                                <a:rPr lang="zh-CN" altLang="en-US" sz="3200" b="1" i="1">
                                  <a:latin typeface="Cambria Math" panose="02040503050406030204" pitchFamily="18" charset="0"/>
                                </a:rPr>
                                <m:t>𝒚</m:t>
                              </m:r>
                            </m:e>
                          </m:d>
                        </m:num>
                        <m:den>
                          <m:r>
                            <a:rPr lang="zh-CN" altLang="en-US" sz="3200" b="1" i="1">
                              <a:latin typeface="Cambria Math" panose="02040503050406030204" pitchFamily="18" charset="0"/>
                            </a:rPr>
                            <m:t>𝑷</m:t>
                          </m:r>
                        </m:den>
                      </m:f>
                      <m:r>
                        <a:rPr lang="zh-CN" altLang="en-US" sz="3200" b="1">
                          <a:latin typeface="Cambria Math" panose="02040503050406030204" pitchFamily="18" charset="0"/>
                        </a:rPr>
                        <m:t>=</m:t>
                      </m:r>
                      <m:f>
                        <m:fPr>
                          <m:ctrlPr>
                            <a:rPr lang="zh-CN" altLang="en-US" sz="3200" b="1" i="1">
                              <a:latin typeface="Cambria Math" panose="02040503050406030204" pitchFamily="18" charset="0"/>
                            </a:rPr>
                          </m:ctrlPr>
                        </m:fPr>
                        <m:num>
                          <m:r>
                            <a:rPr lang="zh-CN" altLang="en-US" sz="3200" b="1" i="1">
                              <a:latin typeface="Cambria Math" panose="02040503050406030204" pitchFamily="18" charset="0"/>
                            </a:rPr>
                            <m:t>𝝏</m:t>
                          </m:r>
                          <m:r>
                            <a:rPr lang="zh-CN" altLang="en-US" sz="3200" b="1" i="1">
                              <a:latin typeface="Cambria Math" panose="02040503050406030204" pitchFamily="18" charset="0"/>
                            </a:rPr>
                            <m:t>𝑷</m:t>
                          </m:r>
                        </m:num>
                        <m:den>
                          <m:r>
                            <a:rPr lang="zh-CN" altLang="en-US" sz="3200" b="1" i="1">
                              <a:latin typeface="Cambria Math" panose="02040503050406030204" pitchFamily="18" charset="0"/>
                            </a:rPr>
                            <m:t>𝑷</m:t>
                          </m:r>
                          <m:r>
                            <a:rPr lang="zh-CN" altLang="en-US" sz="3200" b="1" i="1">
                              <a:latin typeface="Cambria Math" panose="02040503050406030204" pitchFamily="18" charset="0"/>
                            </a:rPr>
                            <m:t>𝝏</m:t>
                          </m:r>
                          <m:r>
                            <a:rPr lang="zh-CN" altLang="en-US" sz="3200" b="1" i="1">
                              <a:latin typeface="Cambria Math" panose="02040503050406030204" pitchFamily="18" charset="0"/>
                            </a:rPr>
                            <m:t>𝒕</m:t>
                          </m:r>
                        </m:den>
                      </m:f>
                      <m:r>
                        <a:rPr lang="zh-CN" altLang="en-US" sz="3200" b="1" i="1">
                          <a:latin typeface="Cambria Math" panose="02040503050406030204" pitchFamily="18" charset="0"/>
                        </a:rPr>
                        <m:t>𝒅𝒕</m:t>
                      </m:r>
                      <m:r>
                        <a:rPr lang="zh-CN" altLang="en-US" sz="3200" b="1">
                          <a:latin typeface="Cambria Math" panose="02040503050406030204" pitchFamily="18" charset="0"/>
                        </a:rPr>
                        <m:t>+</m:t>
                      </m:r>
                      <m:f>
                        <m:fPr>
                          <m:ctrlPr>
                            <a:rPr lang="zh-CN" altLang="en-US" sz="3200" b="1" i="1">
                              <a:latin typeface="Cambria Math" panose="02040503050406030204" pitchFamily="18" charset="0"/>
                            </a:rPr>
                          </m:ctrlPr>
                        </m:fPr>
                        <m:num>
                          <m:r>
                            <a:rPr lang="zh-CN" altLang="en-US" sz="3200" b="1" i="1">
                              <a:latin typeface="Cambria Math" panose="02040503050406030204" pitchFamily="18" charset="0"/>
                            </a:rPr>
                            <m:t>𝝏</m:t>
                          </m:r>
                          <m:r>
                            <a:rPr lang="zh-CN" altLang="en-US" sz="3200" b="1" i="1">
                              <a:latin typeface="Cambria Math" panose="02040503050406030204" pitchFamily="18" charset="0"/>
                            </a:rPr>
                            <m:t>𝑷</m:t>
                          </m:r>
                        </m:num>
                        <m:den>
                          <m:r>
                            <a:rPr lang="zh-CN" altLang="en-US" sz="3200" b="1" i="1">
                              <a:latin typeface="Cambria Math" panose="02040503050406030204" pitchFamily="18" charset="0"/>
                            </a:rPr>
                            <m:t>𝑷</m:t>
                          </m:r>
                          <m:r>
                            <a:rPr lang="zh-CN" altLang="en-US" sz="3200" b="1" i="1">
                              <a:latin typeface="Cambria Math" panose="02040503050406030204" pitchFamily="18" charset="0"/>
                            </a:rPr>
                            <m:t>𝝏</m:t>
                          </m:r>
                          <m:r>
                            <a:rPr lang="en-US" altLang="zh-CN" sz="3200" b="1" i="1">
                              <a:latin typeface="Cambria Math"/>
                            </a:rPr>
                            <m:t>𝒚</m:t>
                          </m:r>
                        </m:den>
                      </m:f>
                      <m:r>
                        <a:rPr lang="zh-CN" altLang="en-US" sz="3200" b="1" i="1">
                          <a:latin typeface="Cambria Math" panose="02040503050406030204" pitchFamily="18" charset="0"/>
                        </a:rPr>
                        <m:t>𝒅</m:t>
                      </m:r>
                      <m:r>
                        <a:rPr lang="en-US" altLang="zh-CN" sz="3200" b="1" i="1">
                          <a:latin typeface="Cambria Math"/>
                        </a:rPr>
                        <m:t>𝒚</m:t>
                      </m:r>
                      <m:r>
                        <a:rPr lang="zh-CN" altLang="en-US" sz="3200" b="1" i="1">
                          <a:latin typeface="Cambria Math" panose="02040503050406030204" pitchFamily="18" charset="0"/>
                        </a:rPr>
                        <m:t>≈</m:t>
                      </m:r>
                      <m:r>
                        <a:rPr lang="zh-CN" altLang="en-US" sz="3200" b="1" i="1" smtClean="0">
                          <a:solidFill>
                            <a:srgbClr val="0070C0"/>
                          </a:solidFill>
                          <a:latin typeface="Cambria Math" panose="02040503050406030204" pitchFamily="18" charset="0"/>
                        </a:rPr>
                        <m:t>𝒚</m:t>
                      </m:r>
                      <m:r>
                        <a:rPr lang="en-US" altLang="zh-CN" sz="3200" b="1" i="1">
                          <a:solidFill>
                            <a:srgbClr val="0070C0"/>
                          </a:solidFill>
                          <a:latin typeface="Cambria Math" panose="02040503050406030204" pitchFamily="18" charset="0"/>
                          <a:ea typeface="Cambria Math" panose="02040503050406030204" pitchFamily="18" charset="0"/>
                        </a:rPr>
                        <m:t>×</m:t>
                      </m:r>
                      <m:r>
                        <a:rPr lang="zh-CN" altLang="en-US" sz="3200" b="1" i="1">
                          <a:solidFill>
                            <a:srgbClr val="0070C0"/>
                          </a:solidFill>
                          <a:latin typeface="Cambria Math" panose="02040503050406030204" pitchFamily="18" charset="0"/>
                        </a:rPr>
                        <m:t>∆</m:t>
                      </m:r>
                      <m:r>
                        <a:rPr lang="zh-CN" altLang="en-US" sz="3200" b="1" i="1">
                          <a:solidFill>
                            <a:srgbClr val="0070C0"/>
                          </a:solidFill>
                          <a:latin typeface="Cambria Math" panose="02040503050406030204" pitchFamily="18" charset="0"/>
                        </a:rPr>
                        <m:t>𝒕</m:t>
                      </m:r>
                      <m:r>
                        <a:rPr lang="en-US" altLang="zh-CN" sz="3200" b="1" i="1" smtClean="0">
                          <a:solidFill>
                            <a:schemeClr val="tx1">
                              <a:lumMod val="75000"/>
                              <a:lumOff val="25000"/>
                            </a:schemeClr>
                          </a:solidFill>
                          <a:latin typeface="Cambria Math" panose="02040503050406030204" pitchFamily="18" charset="0"/>
                        </a:rPr>
                        <m:t>+</m:t>
                      </m:r>
                      <m:d>
                        <m:dPr>
                          <m:begChr m:val="["/>
                          <m:endChr m:val="]"/>
                          <m:ctrlPr>
                            <a:rPr lang="zh-CN" altLang="en-US" sz="3200" b="1" i="1" smtClean="0">
                              <a:solidFill>
                                <a:schemeClr val="tx1">
                                  <a:lumMod val="75000"/>
                                  <a:lumOff val="25000"/>
                                </a:schemeClr>
                              </a:solidFill>
                              <a:latin typeface="Cambria Math" panose="02040503050406030204" pitchFamily="18" charset="0"/>
                            </a:rPr>
                          </m:ctrlPr>
                        </m:dPr>
                        <m:e>
                          <m:r>
                            <a:rPr lang="en-US" altLang="zh-CN" sz="3200" b="1" i="1" smtClean="0">
                              <a:solidFill>
                                <a:srgbClr val="C00000"/>
                              </a:solidFill>
                              <a:latin typeface="Cambria Math" panose="02040503050406030204" pitchFamily="18" charset="0"/>
                            </a:rPr>
                            <m:t>−</m:t>
                          </m:r>
                          <m:r>
                            <a:rPr lang="en-US" altLang="zh-CN" sz="3200" b="1" i="1" smtClean="0">
                              <a:solidFill>
                                <a:srgbClr val="C00000"/>
                              </a:solidFill>
                              <a:latin typeface="Cambria Math" panose="02040503050406030204" pitchFamily="18" charset="0"/>
                            </a:rPr>
                            <m:t>𝑴𝑫</m:t>
                          </m:r>
                          <m:r>
                            <a:rPr lang="en-US" altLang="zh-CN" sz="3200" b="1" i="1" smtClean="0">
                              <a:solidFill>
                                <a:srgbClr val="C00000"/>
                              </a:solidFill>
                              <a:latin typeface="Cambria Math" panose="02040503050406030204" pitchFamily="18" charset="0"/>
                            </a:rPr>
                            <m:t>×∆</m:t>
                          </m:r>
                          <m:r>
                            <a:rPr lang="en-US" altLang="zh-CN" sz="3200" b="1" i="1">
                              <a:solidFill>
                                <a:srgbClr val="C00000"/>
                              </a:solidFill>
                              <a:latin typeface="Cambria Math" panose="02040503050406030204" pitchFamily="18" charset="0"/>
                            </a:rPr>
                            <m:t>𝒚𝒄</m:t>
                          </m:r>
                        </m:e>
                      </m:d>
                      <m:r>
                        <a:rPr lang="en-US" altLang="zh-CN" sz="3200" b="1" i="1" smtClean="0">
                          <a:solidFill>
                            <a:schemeClr val="tx1">
                              <a:lumMod val="75000"/>
                              <a:lumOff val="25000"/>
                            </a:schemeClr>
                          </a:solidFill>
                          <a:latin typeface="Cambria Math" panose="02040503050406030204" pitchFamily="18" charset="0"/>
                        </a:rPr>
                        <m:t>+</m:t>
                      </m:r>
                      <m:d>
                        <m:dPr>
                          <m:begChr m:val="["/>
                          <m:endChr m:val="]"/>
                          <m:ctrlPr>
                            <a:rPr lang="en-US" altLang="zh-CN" sz="3200" b="1" i="1" smtClean="0">
                              <a:solidFill>
                                <a:schemeClr val="tx1">
                                  <a:lumMod val="75000"/>
                                  <a:lumOff val="25000"/>
                                </a:schemeClr>
                              </a:solidFill>
                              <a:latin typeface="Cambria Math" panose="02040503050406030204" pitchFamily="18" charset="0"/>
                            </a:rPr>
                          </m:ctrlPr>
                        </m:dPr>
                        <m:e>
                          <m:r>
                            <a:rPr lang="en-US" altLang="zh-CN" sz="3200" b="1" i="1" smtClean="0">
                              <a:solidFill>
                                <a:schemeClr val="tx1">
                                  <a:lumMod val="75000"/>
                                  <a:lumOff val="25000"/>
                                </a:schemeClr>
                              </a:solidFill>
                              <a:latin typeface="Cambria Math" panose="02040503050406030204" pitchFamily="18" charset="0"/>
                            </a:rPr>
                            <m:t>−</m:t>
                          </m:r>
                          <m:r>
                            <a:rPr lang="en-US" altLang="zh-CN" sz="3200" b="1" i="1" smtClean="0">
                              <a:solidFill>
                                <a:schemeClr val="tx1">
                                  <a:lumMod val="75000"/>
                                  <a:lumOff val="25000"/>
                                </a:schemeClr>
                              </a:solidFill>
                              <a:latin typeface="Cambria Math" panose="02040503050406030204" pitchFamily="18" charset="0"/>
                            </a:rPr>
                            <m:t>𝑴𝑫</m:t>
                          </m:r>
                          <m:r>
                            <a:rPr lang="en-US" altLang="zh-CN" sz="3200" b="1" i="1" smtClean="0">
                              <a:solidFill>
                                <a:schemeClr val="tx1">
                                  <a:lumMod val="75000"/>
                                  <a:lumOff val="25000"/>
                                </a:schemeClr>
                              </a:solidFill>
                              <a:latin typeface="Cambria Math" panose="02040503050406030204" pitchFamily="18" charset="0"/>
                            </a:rPr>
                            <m:t>×∆</m:t>
                          </m:r>
                          <m:r>
                            <a:rPr lang="en-US" altLang="zh-CN" sz="3200" b="1" i="1">
                              <a:solidFill>
                                <a:schemeClr val="tx1">
                                  <a:lumMod val="75000"/>
                                  <a:lumOff val="25000"/>
                                </a:schemeClr>
                              </a:solidFill>
                              <a:latin typeface="Cambria Math" panose="02040503050406030204" pitchFamily="18" charset="0"/>
                            </a:rPr>
                            <m:t>𝒔</m:t>
                          </m:r>
                        </m:e>
                      </m:d>
                    </m:oMath>
                  </m:oMathPara>
                </a14:m>
                <a:endParaRPr lang="zh-CN" altLang="en-US" sz="3200" b="1" dirty="0"/>
              </a:p>
            </p:txBody>
          </p:sp>
        </mc:Choice>
        <mc:Fallback>
          <p:sp>
            <p:nvSpPr>
              <p:cNvPr id="6" name="内容占位符 5">
                <a:extLst>
                  <a:ext uri="{FF2B5EF4-FFF2-40B4-BE49-F238E27FC236}">
                    <a16:creationId xmlns:a16="http://schemas.microsoft.com/office/drawing/2014/main" id="{9E82C9B1-9158-4E3C-B1A7-2CC3A26C20E5}"/>
                  </a:ext>
                </a:extLst>
              </p:cNvPr>
              <p:cNvSpPr>
                <a:spLocks noGrp="1" noRot="1" noChangeAspect="1" noMove="1" noResize="1" noEditPoints="1" noAdjustHandles="1" noChangeArrowheads="1" noChangeShapeType="1" noTextEdit="1"/>
              </p:cNvSpPr>
              <p:nvPr>
                <p:ph idx="1"/>
              </p:nvPr>
            </p:nvSpPr>
            <p:spPr>
              <a:xfrm>
                <a:off x="949497" y="1593045"/>
                <a:ext cx="15378696" cy="1708109"/>
              </a:xfrm>
              <a:blipFill>
                <a:blip r:embed="rId2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37105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BA62D77-F4A9-4D62-93A1-4A51C53782B9}"/>
              </a:ext>
            </a:extLst>
          </p:cNvPr>
          <p:cNvSpPr>
            <a:spLocks noGrp="1"/>
          </p:cNvSpPr>
          <p:nvPr>
            <p:ph type="title"/>
          </p:nvPr>
        </p:nvSpPr>
        <p:spPr/>
        <p:txBody>
          <a:bodyPr/>
          <a:lstStyle/>
          <a:p>
            <a:r>
              <a:rPr lang="zh-CN" altLang="en-US" dirty="0"/>
              <a:t>计算步骤</a:t>
            </a:r>
          </a:p>
        </p:txBody>
      </p:sp>
      <p:sp>
        <p:nvSpPr>
          <p:cNvPr id="3" name="内容占位符 2">
            <a:extLst>
              <a:ext uri="{FF2B5EF4-FFF2-40B4-BE49-F238E27FC236}">
                <a16:creationId xmlns:a16="http://schemas.microsoft.com/office/drawing/2014/main" id="{C7F5D87C-C7B3-48DF-A01B-D5F269B203C2}"/>
              </a:ext>
            </a:extLst>
          </p:cNvPr>
          <p:cNvSpPr>
            <a:spLocks noGrp="1"/>
          </p:cNvSpPr>
          <p:nvPr>
            <p:ph idx="1"/>
          </p:nvPr>
        </p:nvSpPr>
        <p:spPr/>
        <p:txBody>
          <a:bodyPr/>
          <a:lstStyle/>
          <a:p>
            <a:r>
              <a:rPr lang="zh-CN" altLang="en-US" dirty="0"/>
              <a:t>第一步，时间段</a:t>
            </a:r>
            <a:r>
              <a:rPr lang="en-US" altLang="zh-CN" dirty="0"/>
              <a:t>[t,t+1],</a:t>
            </a:r>
            <a:r>
              <a:rPr lang="zh-CN" altLang="en-US" dirty="0"/>
              <a:t>用价格剥离法分解债券业绩为</a:t>
            </a:r>
            <a:r>
              <a:rPr lang="en-US" altLang="zh-CN" dirty="0"/>
              <a:t>9</a:t>
            </a:r>
            <a:r>
              <a:rPr lang="zh-CN" altLang="en-US" dirty="0"/>
              <a:t>个部分</a:t>
            </a:r>
            <a:endParaRPr lang="en-US" altLang="zh-CN" dirty="0"/>
          </a:p>
          <a:p>
            <a:pPr lvl="1"/>
            <a:r>
              <a:rPr lang="zh-CN" altLang="en-US" dirty="0"/>
              <a:t>根据</a:t>
            </a:r>
            <a:r>
              <a:rPr lang="en-US" altLang="zh-CN" dirty="0"/>
              <a:t>t</a:t>
            </a:r>
            <a:r>
              <a:rPr lang="zh-CN" altLang="en-US" dirty="0"/>
              <a:t>和</a:t>
            </a:r>
            <a:r>
              <a:rPr lang="en-US" altLang="zh-CN" dirty="0"/>
              <a:t>t+1</a:t>
            </a:r>
            <a:r>
              <a:rPr lang="zh-CN" altLang="en-US" dirty="0"/>
              <a:t>时刻的基准利率曲线和信用曲线，用线性插值法计算利率变动和信用利差变动</a:t>
            </a:r>
            <a:endParaRPr lang="en-US" altLang="zh-CN" dirty="0"/>
          </a:p>
          <a:p>
            <a:pPr lvl="1"/>
            <a:r>
              <a:rPr lang="zh-CN" altLang="en-US" dirty="0"/>
              <a:t>运用</a:t>
            </a:r>
            <a:r>
              <a:rPr lang="en-US" altLang="zh-CN" dirty="0"/>
              <a:t>Hermite/NS/</a:t>
            </a:r>
            <a:r>
              <a:rPr lang="zh-CN" altLang="en-US" dirty="0"/>
              <a:t>三次样条等方法，将利率变动分解为平移因子、扭曲因子、蝶式因子和时间因子的变动</a:t>
            </a:r>
            <a:endParaRPr lang="en-US" altLang="zh-CN" dirty="0"/>
          </a:p>
          <a:p>
            <a:pPr lvl="1"/>
            <a:r>
              <a:rPr lang="zh-CN" altLang="en-US" dirty="0"/>
              <a:t>用价格剥离法分解债券业绩为</a:t>
            </a:r>
            <a:r>
              <a:rPr lang="en-US" altLang="zh-CN" dirty="0"/>
              <a:t>9</a:t>
            </a:r>
            <a:r>
              <a:rPr lang="zh-CN" altLang="en-US" dirty="0"/>
              <a:t>个部分</a:t>
            </a:r>
            <a:endParaRPr lang="en-US" altLang="zh-CN" dirty="0"/>
          </a:p>
          <a:p>
            <a:pPr lvl="1"/>
            <a:endParaRPr lang="en-US" altLang="zh-CN" dirty="0"/>
          </a:p>
          <a:p>
            <a:r>
              <a:rPr lang="zh-CN" altLang="en-US" dirty="0"/>
              <a:t>第二步，变化</a:t>
            </a:r>
            <a:r>
              <a:rPr lang="en-US" altLang="zh-CN" dirty="0"/>
              <a:t>t</a:t>
            </a:r>
            <a:r>
              <a:rPr lang="zh-CN" altLang="en-US" dirty="0"/>
              <a:t>，获得特定债券存续期的业绩分解时间序列（日频）</a:t>
            </a:r>
          </a:p>
          <a:p>
            <a:endParaRPr lang="en-US" altLang="zh-CN" dirty="0"/>
          </a:p>
          <a:p>
            <a:r>
              <a:rPr lang="zh-CN" altLang="en-US" dirty="0"/>
              <a:t>第三步，重复第一、二步，获得债券组合的业绩分解时间序列（日频）</a:t>
            </a:r>
          </a:p>
          <a:p>
            <a:endParaRPr lang="zh-CN" altLang="en-US" dirty="0"/>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203245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BD781A-C8B4-4976-B817-F0506139D0D1}"/>
              </a:ext>
            </a:extLst>
          </p:cNvPr>
          <p:cNvSpPr>
            <a:spLocks noGrp="1"/>
          </p:cNvSpPr>
          <p:nvPr>
            <p:ph type="title"/>
          </p:nvPr>
        </p:nvSpPr>
        <p:spPr/>
        <p:txBody>
          <a:bodyPr/>
          <a:lstStyle/>
          <a:p>
            <a:r>
              <a:rPr lang="zh-CN" altLang="en-US" dirty="0"/>
              <a:t>应用场景</a:t>
            </a:r>
          </a:p>
        </p:txBody>
      </p:sp>
      <p:sp>
        <p:nvSpPr>
          <p:cNvPr id="3" name="内容占位符 2">
            <a:extLst>
              <a:ext uri="{FF2B5EF4-FFF2-40B4-BE49-F238E27FC236}">
                <a16:creationId xmlns:a16="http://schemas.microsoft.com/office/drawing/2014/main" id="{3FA299B3-1750-468E-8583-3F0BAB410E1A}"/>
              </a:ext>
            </a:extLst>
          </p:cNvPr>
          <p:cNvSpPr>
            <a:spLocks noGrp="1"/>
          </p:cNvSpPr>
          <p:nvPr>
            <p:ph idx="1"/>
          </p:nvPr>
        </p:nvSpPr>
        <p:spPr/>
        <p:txBody>
          <a:bodyPr/>
          <a:lstStyle/>
          <a:p>
            <a:r>
              <a:rPr lang="zh-CN" altLang="en-US" dirty="0"/>
              <a:t>自主业绩分析</a:t>
            </a:r>
          </a:p>
          <a:p>
            <a:pPr lvl="1"/>
            <a:r>
              <a:rPr lang="zh-CN" altLang="en-US" dirty="0"/>
              <a:t>对于单券交易，从买入后随即进行业绩分解，每日对单笔交易的业绩进行分解</a:t>
            </a:r>
          </a:p>
          <a:p>
            <a:pPr lvl="1"/>
            <a:r>
              <a:rPr lang="zh-CN" altLang="en-US" dirty="0"/>
              <a:t>对于投资组合，可逐一跟踪投资组合内每只券的交易行为所带来的的业绩变动，并指导交易</a:t>
            </a:r>
          </a:p>
          <a:p>
            <a:pPr lvl="1"/>
            <a:r>
              <a:rPr lang="zh-CN" altLang="en-US" dirty="0"/>
              <a:t>对于全市场债券，设计特定风格的策略组合，跟踪各类策略的业绩变动，以揭示全市场的趋势变动</a:t>
            </a:r>
            <a:endParaRPr lang="en-US" altLang="zh-CN" dirty="0"/>
          </a:p>
          <a:p>
            <a:pPr lvl="1"/>
            <a:endParaRPr lang="en-US" altLang="zh-CN" dirty="0"/>
          </a:p>
          <a:p>
            <a:r>
              <a:rPr lang="zh-CN" altLang="en-US" dirty="0"/>
              <a:t>内部风控</a:t>
            </a:r>
          </a:p>
          <a:p>
            <a:pPr lvl="1"/>
            <a:r>
              <a:rPr lang="zh-CN" altLang="en-US" dirty="0"/>
              <a:t>交易员可自主输入交易流水，利用本产品构建虚拟投资组合，并跟踪业绩变动</a:t>
            </a:r>
          </a:p>
          <a:p>
            <a:pPr lvl="1"/>
            <a:r>
              <a:rPr lang="zh-CN" altLang="en-US" dirty="0"/>
              <a:t>交易主管或中后台人员可以用来评价或考核交易员的交易水平和贡献度，以及投资策略的效果</a:t>
            </a:r>
            <a:endParaRPr lang="en-US" altLang="zh-CN" dirty="0"/>
          </a:p>
          <a:p>
            <a:pPr lvl="1"/>
            <a:endParaRPr lang="zh-CN" altLang="en-US" dirty="0"/>
          </a:p>
          <a:p>
            <a:r>
              <a:rPr lang="zh-CN" altLang="en-US" dirty="0"/>
              <a:t>投资能力评估</a:t>
            </a:r>
            <a:endParaRPr lang="en-US" altLang="zh-CN" dirty="0"/>
          </a:p>
          <a:p>
            <a:pPr lvl="1"/>
            <a:r>
              <a:rPr lang="zh-CN" altLang="en-US" dirty="0"/>
              <a:t>发布特定类型、特定行业、特定策略的业绩分析报告</a:t>
            </a:r>
          </a:p>
        </p:txBody>
      </p:sp>
    </p:spTree>
    <p:extLst>
      <p:ext uri="{BB962C8B-B14F-4D97-AF65-F5344CB8AC3E}">
        <p14:creationId xmlns:p14="http://schemas.microsoft.com/office/powerpoint/2010/main" val="364659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通用业绩指标</a:t>
            </a:r>
            <a:endParaRPr lang="zh-CN" altLang="en-US" dirty="0"/>
          </a:p>
        </p:txBody>
      </p:sp>
      <p:sp>
        <p:nvSpPr>
          <p:cNvPr id="1028" name="Rectangle 3"/>
          <p:cNvSpPr>
            <a:spLocks noGrp="1" noRot="1" noChangeArrowheads="1"/>
          </p:cNvSpPr>
          <p:nvPr>
            <p:ph sz="half" idx="4294967295"/>
          </p:nvPr>
        </p:nvSpPr>
        <p:spPr>
          <a:xfrm>
            <a:off x="949495" y="1593144"/>
            <a:ext cx="5783436" cy="7089725"/>
          </a:xfrm>
        </p:spPr>
        <p:txBody>
          <a:bodyPr>
            <a:noAutofit/>
          </a:bodyPr>
          <a:lstStyle/>
          <a:p>
            <a:r>
              <a:rPr lang="zh-CN" altLang="en-US" b="1" dirty="0">
                <a:latin typeface="+mn-ea"/>
              </a:rPr>
              <a:t>夏普指数</a:t>
            </a:r>
            <a:r>
              <a:rPr lang="zh-CN" altLang="en-US" dirty="0">
                <a:latin typeface="+mn-ea"/>
              </a:rPr>
              <a:t>：用资产组合的长期平均超额收益（相对于无风险收益）除以这个时期该资产组合的收益的标准差。 </a:t>
            </a:r>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r>
              <a:rPr lang="zh-CN" altLang="en-US" dirty="0">
                <a:latin typeface="+mn-ea"/>
              </a:rPr>
              <a:t>反映投资人降低非系统风险的能力</a:t>
            </a:r>
            <a:endParaRPr lang="en-US" altLang="zh-CN" dirty="0">
              <a:latin typeface="+mn-ea"/>
            </a:endParaRPr>
          </a:p>
          <a:p>
            <a:r>
              <a:rPr lang="zh-CN" altLang="en-US" dirty="0">
                <a:latin typeface="+mn-ea"/>
              </a:rPr>
              <a:t>较大的</a:t>
            </a:r>
            <a:r>
              <a:rPr lang="en-US" altLang="zh-CN" dirty="0">
                <a:latin typeface="+mn-ea"/>
                <a:cs typeface="Times New Roman" panose="02020603050405020304" pitchFamily="18" charset="0"/>
              </a:rPr>
              <a:t>Sharpe</a:t>
            </a:r>
            <a:r>
              <a:rPr lang="zh-CN" altLang="en-US" dirty="0">
                <a:latin typeface="+mn-ea"/>
              </a:rPr>
              <a:t>指数表示较好的绩效</a:t>
            </a:r>
            <a:endParaRPr lang="en-US" altLang="zh-CN" dirty="0">
              <a:latin typeface="+mn-ea"/>
            </a:endParaRPr>
          </a:p>
        </p:txBody>
      </p:sp>
      <p:graphicFrame>
        <p:nvGraphicFramePr>
          <p:cNvPr id="12" name="内容占位符 7"/>
          <p:cNvGraphicFramePr>
            <a:graphicFrameLocks noGrp="1"/>
          </p:cNvGraphicFramePr>
          <p:nvPr>
            <p:ph idx="4294967295"/>
            <p:extLst>
              <p:ext uri="{D42A27DB-BD31-4B8C-83A1-F6EECF244321}">
                <p14:modId xmlns:p14="http://schemas.microsoft.com/office/powerpoint/2010/main" val="642067759"/>
              </p:ext>
            </p:extLst>
          </p:nvPr>
        </p:nvGraphicFramePr>
        <p:xfrm>
          <a:off x="9937279" y="7137117"/>
          <a:ext cx="6774248" cy="1977753"/>
        </p:xfrm>
        <a:graphic>
          <a:graphicData uri="http://schemas.openxmlformats.org/drawingml/2006/table">
            <a:tbl>
              <a:tblPr firstRow="1">
                <a:tableStyleId>{21E4AEA4-8DFA-4A89-87EB-49C32662AFE0}</a:tableStyleId>
              </a:tblPr>
              <a:tblGrid>
                <a:gridCol w="1693562">
                  <a:extLst>
                    <a:ext uri="{9D8B030D-6E8A-4147-A177-3AD203B41FA5}">
                      <a16:colId xmlns:a16="http://schemas.microsoft.com/office/drawing/2014/main" val="20000"/>
                    </a:ext>
                  </a:extLst>
                </a:gridCol>
                <a:gridCol w="1693562">
                  <a:extLst>
                    <a:ext uri="{9D8B030D-6E8A-4147-A177-3AD203B41FA5}">
                      <a16:colId xmlns:a16="http://schemas.microsoft.com/office/drawing/2014/main" val="20001"/>
                    </a:ext>
                  </a:extLst>
                </a:gridCol>
                <a:gridCol w="1693562">
                  <a:extLst>
                    <a:ext uri="{9D8B030D-6E8A-4147-A177-3AD203B41FA5}">
                      <a16:colId xmlns:a16="http://schemas.microsoft.com/office/drawing/2014/main" val="20002"/>
                    </a:ext>
                  </a:extLst>
                </a:gridCol>
                <a:gridCol w="1693562">
                  <a:extLst>
                    <a:ext uri="{9D8B030D-6E8A-4147-A177-3AD203B41FA5}">
                      <a16:colId xmlns:a16="http://schemas.microsoft.com/office/drawing/2014/main" val="20003"/>
                    </a:ext>
                  </a:extLst>
                </a:gridCol>
              </a:tblGrid>
              <a:tr h="431121">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2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p>
                      <a:pPr algn="ctr" rtl="0" fontAlgn="ctr"/>
                      <a:r>
                        <a:rPr lang="zh-CN" altLang="en-US" sz="2200" b="1" u="none" strike="noStrike" dirty="0">
                          <a:effectLst/>
                          <a:latin typeface="微软雅黑" panose="020B0503020204020204" pitchFamily="34" charset="-122"/>
                          <a:ea typeface="微软雅黑" panose="020B0503020204020204" pitchFamily="34" charset="-122"/>
                        </a:rPr>
                        <a:t>夏普指标</a:t>
                      </a:r>
                      <a:endParaRPr lang="zh-CN" altLang="en-US" sz="2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rtl="0" fontAlgn="ctr"/>
                      <a:r>
                        <a:rPr lang="zh-CN" altLang="en-US" sz="2200" b="1" u="none" strike="noStrike" dirty="0">
                          <a:effectLst/>
                          <a:latin typeface="微软雅黑" panose="020B0503020204020204" pitchFamily="34" charset="-122"/>
                          <a:ea typeface="微软雅黑" panose="020B0503020204020204" pitchFamily="34" charset="-122"/>
                        </a:rPr>
                        <a:t>特雷纳指标</a:t>
                      </a:r>
                      <a:endParaRPr lang="zh-CN" altLang="en-US" sz="2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rtl="0" fontAlgn="ctr"/>
                      <a:r>
                        <a:rPr lang="zh-CN" altLang="en-US" sz="2200" b="1" u="none" strike="noStrike" dirty="0">
                          <a:effectLst/>
                          <a:latin typeface="微软雅黑" panose="020B0503020204020204" pitchFamily="34" charset="-122"/>
                          <a:ea typeface="微软雅黑" panose="020B0503020204020204" pitchFamily="34" charset="-122"/>
                        </a:rPr>
                        <a:t>詹森指数</a:t>
                      </a:r>
                      <a:endParaRPr lang="zh-CN" altLang="en-US" sz="2200" b="1" i="0" u="none" strike="noStrike" dirty="0">
                        <a:solidFill>
                          <a:srgbClr val="FFFFFF"/>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0"/>
                  </a:ext>
                </a:extLst>
              </a:tr>
              <a:tr h="504291">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effectLst/>
                          <a:latin typeface="微软雅黑" panose="020B0503020204020204" pitchFamily="34" charset="-122"/>
                          <a:ea typeface="微软雅黑" panose="020B0503020204020204" pitchFamily="34" charset="-122"/>
                        </a:rPr>
                        <a:t>资产组合</a:t>
                      </a: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A</a:t>
                      </a:r>
                      <a:endParaRPr kumimoji="0"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p>
                      <a:pPr algn="ctr" fontAlgn="ctr"/>
                      <a:r>
                        <a:rPr lang="zh-CN" altLang="en-US" sz="2200" u="none" strike="noStrike" dirty="0">
                          <a:solidFill>
                            <a:srgbClr val="FF0000"/>
                          </a:solidFill>
                          <a:effectLst/>
                          <a:latin typeface="微软雅黑" panose="020B0503020204020204" pitchFamily="34" charset="-122"/>
                          <a:ea typeface="微软雅黑" panose="020B0503020204020204" pitchFamily="34" charset="-122"/>
                        </a:rPr>
                        <a:t>    </a:t>
                      </a:r>
                      <a:r>
                        <a:rPr lang="en-US" altLang="zh-CN" sz="2200" u="none" strike="noStrike" dirty="0">
                          <a:solidFill>
                            <a:srgbClr val="FF0000"/>
                          </a:solidFill>
                          <a:effectLst/>
                          <a:latin typeface="微软雅黑" panose="020B0503020204020204" pitchFamily="34" charset="-122"/>
                          <a:ea typeface="微软雅黑" panose="020B0503020204020204" pitchFamily="34" charset="-122"/>
                        </a:rPr>
                        <a:t>0.58 </a:t>
                      </a:r>
                      <a:endParaRPr lang="en-US" altLang="zh-CN" sz="2200" b="0" i="0" u="none" strike="noStrike" dirty="0">
                        <a:solidFill>
                          <a:srgbClr val="FF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200" u="none" strike="noStrike" dirty="0">
                          <a:solidFill>
                            <a:srgbClr val="FF0000"/>
                          </a:solidFill>
                          <a:effectLst/>
                          <a:latin typeface="微软雅黑" panose="020B0503020204020204" pitchFamily="34" charset="-122"/>
                          <a:ea typeface="微软雅黑" panose="020B0503020204020204" pitchFamily="34" charset="-122"/>
                        </a:rPr>
                        <a:t>      </a:t>
                      </a:r>
                      <a:r>
                        <a:rPr lang="en-US" altLang="zh-CN" sz="2200" u="none" strike="noStrike" dirty="0">
                          <a:solidFill>
                            <a:srgbClr val="FF0000"/>
                          </a:solidFill>
                          <a:effectLst/>
                          <a:latin typeface="微软雅黑" panose="020B0503020204020204" pitchFamily="34" charset="-122"/>
                          <a:ea typeface="微软雅黑" panose="020B0503020204020204" pitchFamily="34" charset="-122"/>
                        </a:rPr>
                        <a:t>10.00 </a:t>
                      </a:r>
                      <a:endParaRPr lang="en-US" altLang="zh-CN" sz="2200" b="0" i="0" u="none" strike="noStrike" dirty="0">
                        <a:solidFill>
                          <a:srgbClr val="FF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200" u="none" strike="noStrike">
                          <a:effectLst/>
                          <a:latin typeface="微软雅黑" panose="020B0503020204020204" pitchFamily="34" charset="-122"/>
                          <a:ea typeface="微软雅黑" panose="020B0503020204020204" pitchFamily="34" charset="-122"/>
                        </a:rPr>
                        <a:t>    </a:t>
                      </a:r>
                      <a:r>
                        <a:rPr lang="en-US" altLang="zh-CN" sz="2200" u="none" strike="noStrike">
                          <a:effectLst/>
                          <a:latin typeface="微软雅黑" panose="020B0503020204020204" pitchFamily="34" charset="-122"/>
                          <a:ea typeface="微软雅黑" panose="020B0503020204020204" pitchFamily="34" charset="-122"/>
                        </a:rPr>
                        <a:t>1.40 </a:t>
                      </a:r>
                      <a:endParaRPr lang="en-US" altLang="zh-CN" sz="2200" b="0" i="0" u="none" strike="noStrike">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1"/>
                  </a:ext>
                </a:extLst>
              </a:tr>
              <a:tr h="504291">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effectLst/>
                          <a:latin typeface="微软雅黑" panose="020B0503020204020204" pitchFamily="34" charset="-122"/>
                          <a:ea typeface="微软雅黑" panose="020B0503020204020204" pitchFamily="34" charset="-122"/>
                        </a:rPr>
                        <a:t>资产组合</a:t>
                      </a: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B</a:t>
                      </a:r>
                      <a:endParaRPr kumimoji="0" lang="en-US" altLang="zh-CN"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p>
                      <a:pPr algn="ctr" fontAlgn="ctr"/>
                      <a:r>
                        <a:rPr lang="zh-CN" altLang="en-US" sz="2200" u="none" strike="noStrike">
                          <a:effectLst/>
                          <a:latin typeface="微软雅黑" panose="020B0503020204020204" pitchFamily="34" charset="-122"/>
                          <a:ea typeface="微软雅黑" panose="020B0503020204020204" pitchFamily="34" charset="-122"/>
                        </a:rPr>
                        <a:t>    </a:t>
                      </a:r>
                      <a:r>
                        <a:rPr lang="en-US" altLang="zh-CN" sz="2200" u="none" strike="noStrike">
                          <a:effectLst/>
                          <a:latin typeface="微软雅黑" panose="020B0503020204020204" pitchFamily="34" charset="-122"/>
                          <a:ea typeface="微软雅黑" panose="020B0503020204020204" pitchFamily="34" charset="-122"/>
                        </a:rPr>
                        <a:t>0.35 </a:t>
                      </a:r>
                      <a:endParaRPr lang="en-US" altLang="zh-CN" sz="2200" b="0" i="0" u="none" strike="noStrike">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200" u="none" strike="noStrike">
                          <a:effectLst/>
                          <a:latin typeface="微软雅黑" panose="020B0503020204020204" pitchFamily="34" charset="-122"/>
                          <a:ea typeface="微软雅黑" panose="020B0503020204020204" pitchFamily="34" charset="-122"/>
                        </a:rPr>
                        <a:t>       </a:t>
                      </a:r>
                      <a:r>
                        <a:rPr lang="en-US" altLang="zh-CN" sz="2200" u="none" strike="noStrike">
                          <a:effectLst/>
                          <a:latin typeface="微软雅黑" panose="020B0503020204020204" pitchFamily="34" charset="-122"/>
                          <a:ea typeface="微软雅黑" panose="020B0503020204020204" pitchFamily="34" charset="-122"/>
                        </a:rPr>
                        <a:t>7.86 </a:t>
                      </a:r>
                      <a:endParaRPr lang="en-US" altLang="zh-CN" sz="2200" b="0" i="0" u="none" strike="noStrike">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200" u="none" strike="noStrike" dirty="0">
                          <a:effectLst/>
                          <a:latin typeface="微软雅黑" panose="020B0503020204020204" pitchFamily="34" charset="-122"/>
                          <a:ea typeface="微软雅黑" panose="020B0503020204020204" pitchFamily="34" charset="-122"/>
                        </a:rPr>
                        <a:t>   </a:t>
                      </a:r>
                      <a:r>
                        <a:rPr lang="en-US" altLang="zh-CN" sz="2200" u="none" strike="noStrike" dirty="0">
                          <a:solidFill>
                            <a:srgbClr val="FF0000"/>
                          </a:solidFill>
                          <a:effectLst/>
                          <a:latin typeface="微软雅黑" panose="020B0503020204020204" pitchFamily="34" charset="-122"/>
                          <a:ea typeface="微软雅黑" panose="020B0503020204020204" pitchFamily="34" charset="-122"/>
                        </a:rPr>
                        <a:t>11.00 </a:t>
                      </a:r>
                      <a:endParaRPr lang="en-US" altLang="zh-CN" sz="2200" b="0" i="0" u="none" strike="noStrike" dirty="0">
                        <a:solidFill>
                          <a:srgbClr val="FF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2"/>
                  </a:ext>
                </a:extLst>
              </a:tr>
              <a:tr h="504291">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effectLst/>
                          <a:latin typeface="微软雅黑" panose="020B0503020204020204" pitchFamily="34" charset="-122"/>
                          <a:ea typeface="微软雅黑" panose="020B0503020204020204" pitchFamily="34" charset="-122"/>
                        </a:rPr>
                        <a:t>市场指数</a:t>
                      </a:r>
                      <a:endParaRPr kumimoji="0" lang="zh-CN" altLang="en-US" sz="22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p>
                      <a:pPr algn="ctr" fontAlgn="ctr"/>
                      <a:r>
                        <a:rPr lang="zh-CN" altLang="en-US" sz="2200" u="none" strike="noStrike" dirty="0">
                          <a:effectLst/>
                          <a:latin typeface="微软雅黑" panose="020B0503020204020204" pitchFamily="34" charset="-122"/>
                          <a:ea typeface="微软雅黑" panose="020B0503020204020204" pitchFamily="34" charset="-122"/>
                        </a:rPr>
                        <a:t>    </a:t>
                      </a:r>
                      <a:r>
                        <a:rPr lang="en-US" altLang="zh-CN" sz="2200" u="none" strike="noStrike" dirty="0">
                          <a:effectLst/>
                          <a:latin typeface="微软雅黑" panose="020B0503020204020204" pitchFamily="34" charset="-122"/>
                          <a:ea typeface="微软雅黑" panose="020B0503020204020204" pitchFamily="34" charset="-122"/>
                        </a:rPr>
                        <a:t>0.44 </a:t>
                      </a:r>
                      <a:endParaRPr lang="en-US" altLang="zh-CN" sz="2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200" u="none" strike="noStrike" dirty="0">
                          <a:effectLst/>
                          <a:latin typeface="微软雅黑" panose="020B0503020204020204" pitchFamily="34" charset="-122"/>
                          <a:ea typeface="微软雅黑" panose="020B0503020204020204" pitchFamily="34" charset="-122"/>
                        </a:rPr>
                        <a:t>       </a:t>
                      </a:r>
                      <a:r>
                        <a:rPr lang="en-US" altLang="zh-CN" sz="2200" u="none" strike="noStrike" dirty="0">
                          <a:effectLst/>
                          <a:latin typeface="微软雅黑" panose="020B0503020204020204" pitchFamily="34" charset="-122"/>
                          <a:ea typeface="微软雅黑" panose="020B0503020204020204" pitchFamily="34" charset="-122"/>
                        </a:rPr>
                        <a:t>8.00 </a:t>
                      </a:r>
                      <a:endParaRPr lang="en-US" altLang="zh-CN" sz="2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tc>
                  <a:txBody>
                    <a:bodyPr/>
                    <a:lstStyle/>
                    <a:p>
                      <a:pPr algn="ctr" fontAlgn="ctr"/>
                      <a:r>
                        <a:rPr lang="zh-CN" altLang="en-US" sz="2200" u="none" strike="noStrike" dirty="0">
                          <a:effectLst/>
                          <a:latin typeface="微软雅黑" panose="020B0503020204020204" pitchFamily="34" charset="-122"/>
                          <a:ea typeface="微软雅黑" panose="020B0503020204020204" pitchFamily="34" charset="-122"/>
                        </a:rPr>
                        <a:t>    </a:t>
                      </a:r>
                      <a:r>
                        <a:rPr lang="en-US" altLang="zh-CN" sz="2200" u="none" strike="noStrike" dirty="0">
                          <a:effectLst/>
                          <a:latin typeface="微软雅黑" panose="020B0503020204020204" pitchFamily="34" charset="-122"/>
                          <a:ea typeface="微软雅黑" panose="020B0503020204020204" pitchFamily="34" charset="-122"/>
                        </a:rPr>
                        <a:t>8.00 </a:t>
                      </a:r>
                      <a:endParaRPr lang="en-US" altLang="zh-CN" sz="2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3500" marR="13500" marT="13500" marB="0" anchor="ctr"/>
                </a:tc>
                <a:extLst>
                  <a:ext uri="{0D108BD9-81ED-4DB2-BD59-A6C34878D82A}">
                    <a16:rowId xmlns:a16="http://schemas.microsoft.com/office/drawing/2014/main" val="10003"/>
                  </a:ext>
                </a:extLst>
              </a:tr>
            </a:tbl>
          </a:graphicData>
        </a:graphic>
      </p:graphicFrame>
      <p:graphicFrame>
        <p:nvGraphicFramePr>
          <p:cNvPr id="1026" name="Object 2"/>
          <p:cNvGraphicFramePr>
            <a:graphicFrameLocks noChangeAspect="1"/>
          </p:cNvGraphicFramePr>
          <p:nvPr>
            <p:extLst>
              <p:ext uri="{D42A27DB-BD31-4B8C-83A1-F6EECF244321}">
                <p14:modId xmlns:p14="http://schemas.microsoft.com/office/powerpoint/2010/main" val="3433543783"/>
              </p:ext>
            </p:extLst>
          </p:nvPr>
        </p:nvGraphicFramePr>
        <p:xfrm>
          <a:off x="2656383" y="3009582"/>
          <a:ext cx="1821296" cy="1233278"/>
        </p:xfrm>
        <a:graphic>
          <a:graphicData uri="http://schemas.openxmlformats.org/presentationml/2006/ole">
            <mc:AlternateContent xmlns:mc="http://schemas.openxmlformats.org/markup-compatibility/2006">
              <mc:Choice xmlns:v="urn:schemas-microsoft-com:vml" Requires="v">
                <p:oleObj spid="_x0000_s9254" name="Equation" r:id="rId3" imgW="634680" imgH="482400" progId="Equation.DSMT4">
                  <p:embed/>
                </p:oleObj>
              </mc:Choice>
              <mc:Fallback>
                <p:oleObj name="Equation" r:id="rId3" imgW="634680" imgH="482400" progId="Equation.DSMT4">
                  <p:embed/>
                  <p:pic>
                    <p:nvPicPr>
                      <p:cNvPr id="1026" name="Object 2"/>
                      <p:cNvPicPr>
                        <a:picLocks noChangeAspect="1" noChangeArrowheads="1"/>
                      </p:cNvPicPr>
                      <p:nvPr/>
                    </p:nvPicPr>
                    <p:blipFill>
                      <a:blip r:embed="rId4"/>
                      <a:srcRect/>
                      <a:stretch>
                        <a:fillRect/>
                      </a:stretch>
                    </p:blipFill>
                    <p:spPr bwMode="auto">
                      <a:xfrm>
                        <a:off x="2656383" y="3009582"/>
                        <a:ext cx="1821296" cy="1233278"/>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20187851"/>
              </p:ext>
            </p:extLst>
          </p:nvPr>
        </p:nvGraphicFramePr>
        <p:xfrm>
          <a:off x="1865298" y="4242860"/>
          <a:ext cx="3951830" cy="1203605"/>
        </p:xfrm>
        <a:graphic>
          <a:graphicData uri="http://schemas.openxmlformats.org/presentationml/2006/ole">
            <mc:AlternateContent xmlns:mc="http://schemas.openxmlformats.org/markup-compatibility/2006">
              <mc:Choice xmlns:v="urn:schemas-microsoft-com:vml" Requires="v">
                <p:oleObj spid="_x0000_s9255" name="公式" r:id="rId5" imgW="2501640" imgH="761760" progId="Equation.3">
                  <p:embed/>
                </p:oleObj>
              </mc:Choice>
              <mc:Fallback>
                <p:oleObj name="公式" r:id="rId5" imgW="2501640" imgH="761760" progId="Equation.3">
                  <p:embed/>
                  <p:pic>
                    <p:nvPicPr>
                      <p:cNvPr id="5" name="对象 4"/>
                      <p:cNvPicPr/>
                      <p:nvPr/>
                    </p:nvPicPr>
                    <p:blipFill>
                      <a:blip r:embed="rId6"/>
                      <a:stretch>
                        <a:fillRect/>
                      </a:stretch>
                    </p:blipFill>
                    <p:spPr>
                      <a:xfrm>
                        <a:off x="1865298" y="4242860"/>
                        <a:ext cx="3951830" cy="1203605"/>
                      </a:xfrm>
                      <a:prstGeom prst="rect">
                        <a:avLst/>
                      </a:prstGeom>
                    </p:spPr>
                  </p:pic>
                </p:oleObj>
              </mc:Fallback>
            </mc:AlternateContent>
          </a:graphicData>
        </a:graphic>
      </p:graphicFrame>
      <p:sp>
        <p:nvSpPr>
          <p:cNvPr id="7" name="Rectangle 3"/>
          <p:cNvSpPr txBox="1">
            <a:spLocks noRot="1" noChangeArrowheads="1"/>
          </p:cNvSpPr>
          <p:nvPr/>
        </p:nvSpPr>
        <p:spPr>
          <a:xfrm>
            <a:off x="6830510" y="1594269"/>
            <a:ext cx="4751692" cy="7088600"/>
          </a:xfrm>
          <a:prstGeom prst="rect">
            <a:avLst/>
          </a:prstGeom>
        </p:spPr>
        <p:txBody>
          <a:bodyPr vert="horz" lIns="129600" tIns="64800" rIns="129600" bIns="64800" rtlCol="0">
            <a:normAutofit/>
          </a:bodyPr>
          <a:lstStyle>
            <a:lvl1pPr marL="342900" indent="-3429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1pPr>
            <a:lvl2pPr marL="742950" indent="-28575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2pPr>
            <a:lvl3pPr marL="1143000" indent="-2286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3pPr>
            <a:lvl4pPr marL="1600200" indent="-2286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4pPr>
            <a:lvl5pPr marL="2057400" indent="-2286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485992" lvl="1" indent="-485992">
              <a:buFont typeface="Arial" pitchFamily="34" charset="0"/>
              <a:buChar char="•"/>
            </a:pP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特雷纳指标</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2400" dirty="0" err="1">
                <a:solidFill>
                  <a:schemeClr val="tx1">
                    <a:lumMod val="65000"/>
                    <a:lumOff val="35000"/>
                  </a:schemeClr>
                </a:solidFill>
                <a:latin typeface="微软雅黑" panose="020B0503020204020204" pitchFamily="34" charset="-122"/>
                <a:ea typeface="微软雅黑" panose="020B0503020204020204" pitchFamily="34" charset="-122"/>
              </a:rPr>
              <a:t>Treynor</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）：组合承受一个单位的系统风险后，所获取的风险收益。 </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pPr lvl="1"/>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pPr lvl="1"/>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pPr lvl="1"/>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表示反映投资组合经理的市场调整能力</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较大的</a:t>
            </a:r>
            <a:r>
              <a:rPr lang="en-US" altLang="zh-CN" sz="2400" dirty="0" err="1">
                <a:solidFill>
                  <a:schemeClr val="tx1">
                    <a:lumMod val="65000"/>
                    <a:lumOff val="35000"/>
                  </a:schemeClr>
                </a:solidFill>
                <a:latin typeface="微软雅黑" panose="020B0503020204020204" pitchFamily="34" charset="-122"/>
                <a:ea typeface="微软雅黑" panose="020B0503020204020204" pitchFamily="34" charset="-122"/>
              </a:rPr>
              <a:t>Treynor</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指数意味着较好的绩效</a:t>
            </a:r>
          </a:p>
        </p:txBody>
      </p:sp>
      <p:sp>
        <p:nvSpPr>
          <p:cNvPr id="8" name="内容占位符 2"/>
          <p:cNvSpPr txBox="1">
            <a:spLocks/>
          </p:cNvSpPr>
          <p:nvPr/>
        </p:nvSpPr>
        <p:spPr>
          <a:xfrm>
            <a:off x="11760249" y="1609272"/>
            <a:ext cx="4751692" cy="7088600"/>
          </a:xfrm>
          <a:prstGeom prst="rect">
            <a:avLst/>
          </a:prstGeom>
        </p:spPr>
        <p:txBody>
          <a:bodyPr vert="horz" lIns="129600" tIns="64800" rIns="129600" bIns="64800" rtlCol="0">
            <a:normAutofit/>
          </a:bodyPr>
          <a:lstStyle>
            <a:lvl1pPr marL="342900" indent="-3429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1pPr>
            <a:lvl2pPr marL="742950" indent="-28575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2pPr>
            <a:lvl3pPr marL="1143000" indent="-2286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3pPr>
            <a:lvl4pPr marL="1600200" indent="-2286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4pPr>
            <a:lvl5pPr marL="2057400" indent="-228600" algn="l" defTabSz="914400" rtl="0" eaLnBrk="1" latinLnBrk="0" hangingPunct="1">
              <a:lnSpc>
                <a:spcPct val="120000"/>
              </a:lnSpc>
              <a:spcBef>
                <a:spcPct val="20000"/>
              </a:spcBef>
              <a:buFont typeface="Arial" pitchFamily="34" charset="0"/>
              <a:buChar char="»"/>
              <a:defRPr sz="1800" b="0" kern="1200">
                <a:solidFill>
                  <a:schemeClr val="accent1">
                    <a:lumMod val="75000"/>
                  </a:schemeClr>
                </a:solidFill>
                <a:latin typeface="等线" panose="02010600030101010101" pitchFamily="2" charset="-122"/>
                <a:ea typeface="等线" panose="02010600030101010101" pitchFamily="2" charset="-122"/>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詹森指数</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Jensen</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）：表示投资组合收益率与相同系统风险水平下市场投资组合收益率的绝对收益。</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Jensen</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指数</a:t>
            </a:r>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&gt;0</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时，表示该投资组合的绩效优于市场投资组合绩效；</a:t>
            </a:r>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pPr marL="485992" lvl="1" indent="-485992">
              <a:buFont typeface="Arial" pitchFamily="34" charset="0"/>
              <a:buChar char="•"/>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较大的</a:t>
            </a:r>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rPr>
              <a:t>Jensen</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指数意味着较好的绩效</a:t>
            </a:r>
          </a:p>
          <a:p>
            <a:endPar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endParaRPr>
          </a:p>
          <a:p>
            <a:endPar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9" name="Object 2"/>
          <p:cNvGraphicFramePr>
            <a:graphicFrameLocks noChangeAspect="1"/>
          </p:cNvGraphicFramePr>
          <p:nvPr>
            <p:extLst/>
          </p:nvPr>
        </p:nvGraphicFramePr>
        <p:xfrm>
          <a:off x="8461806" y="3181918"/>
          <a:ext cx="1546567" cy="1189925"/>
        </p:xfrm>
        <a:graphic>
          <a:graphicData uri="http://schemas.openxmlformats.org/presentationml/2006/ole">
            <mc:AlternateContent xmlns:mc="http://schemas.openxmlformats.org/markup-compatibility/2006">
              <mc:Choice xmlns:v="urn:schemas-microsoft-com:vml" Requires="v">
                <p:oleObj spid="_x0000_s9256" name="Equation" r:id="rId7" imgW="622080" imgH="482400" progId="Equation.DSMT4">
                  <p:embed/>
                </p:oleObj>
              </mc:Choice>
              <mc:Fallback>
                <p:oleObj name="Equation" r:id="rId7" imgW="622080" imgH="482400" progId="Equation.DSMT4">
                  <p:embed/>
                  <p:pic>
                    <p:nvPicPr>
                      <p:cNvPr id="9" name="Object 2"/>
                      <p:cNvPicPr>
                        <a:picLocks noChangeAspect="1" noChangeArrowheads="1"/>
                      </p:cNvPicPr>
                      <p:nvPr/>
                    </p:nvPicPr>
                    <p:blipFill>
                      <a:blip r:embed="rId8"/>
                      <a:srcRect/>
                      <a:stretch>
                        <a:fillRect/>
                      </a:stretch>
                    </p:blipFill>
                    <p:spPr bwMode="auto">
                      <a:xfrm>
                        <a:off x="8461806" y="3181918"/>
                        <a:ext cx="1546567" cy="1189925"/>
                      </a:xfrm>
                      <a:prstGeom prst="rect">
                        <a:avLst/>
                      </a:prstGeom>
                      <a:noFill/>
                      <a:ln>
                        <a:noFill/>
                      </a:ln>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2209784287"/>
              </p:ext>
            </p:extLst>
          </p:nvPr>
        </p:nvGraphicFramePr>
        <p:xfrm>
          <a:off x="12450798" y="3409674"/>
          <a:ext cx="3370593" cy="734412"/>
        </p:xfrm>
        <a:graphic>
          <a:graphicData uri="http://schemas.openxmlformats.org/presentationml/2006/ole">
            <mc:AlternateContent xmlns:mc="http://schemas.openxmlformats.org/markup-compatibility/2006">
              <mc:Choice xmlns:v="urn:schemas-microsoft-com:vml" Requires="v">
                <p:oleObj spid="_x0000_s9257" name="Equation" r:id="rId9" imgW="1498320" imgH="304560" progId="Equation.DSMT4">
                  <p:embed/>
                </p:oleObj>
              </mc:Choice>
              <mc:Fallback>
                <p:oleObj name="Equation" r:id="rId9" imgW="1498320" imgH="304560" progId="Equation.DSMT4">
                  <p:embed/>
                  <p:pic>
                    <p:nvPicPr>
                      <p:cNvPr id="10" name="Object 2"/>
                      <p:cNvPicPr>
                        <a:picLocks noChangeAspect="1" noChangeArrowheads="1"/>
                      </p:cNvPicPr>
                      <p:nvPr/>
                    </p:nvPicPr>
                    <p:blipFill>
                      <a:blip r:embed="rId10"/>
                      <a:srcRect/>
                      <a:stretch>
                        <a:fillRect/>
                      </a:stretch>
                    </p:blipFill>
                    <p:spPr bwMode="auto">
                      <a:xfrm>
                        <a:off x="12450798" y="3409674"/>
                        <a:ext cx="3370593" cy="734412"/>
                      </a:xfrm>
                      <a:prstGeom prst="rect">
                        <a:avLst/>
                      </a:prstGeom>
                      <a:noFill/>
                      <a:ln>
                        <a:noFill/>
                      </a:ln>
                    </p:spPr>
                  </p:pic>
                </p:oleObj>
              </mc:Fallback>
            </mc:AlternateContent>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1891562347"/>
              </p:ext>
            </p:extLst>
          </p:nvPr>
        </p:nvGraphicFramePr>
        <p:xfrm>
          <a:off x="568411" y="7094374"/>
          <a:ext cx="8801788" cy="2324400"/>
        </p:xfrm>
        <a:graphic>
          <a:graphicData uri="http://schemas.openxmlformats.org/drawingml/2006/table">
            <a:tbl>
              <a:tblPr firstRow="1">
                <a:tableStyleId>{FABFCF23-3B69-468F-B69F-88F6DE6A72F2}</a:tableStyleId>
              </a:tblPr>
              <a:tblGrid>
                <a:gridCol w="2200447">
                  <a:extLst>
                    <a:ext uri="{9D8B030D-6E8A-4147-A177-3AD203B41FA5}">
                      <a16:colId xmlns:a16="http://schemas.microsoft.com/office/drawing/2014/main" val="20000"/>
                    </a:ext>
                  </a:extLst>
                </a:gridCol>
                <a:gridCol w="2200447">
                  <a:extLst>
                    <a:ext uri="{9D8B030D-6E8A-4147-A177-3AD203B41FA5}">
                      <a16:colId xmlns:a16="http://schemas.microsoft.com/office/drawing/2014/main" val="20001"/>
                    </a:ext>
                  </a:extLst>
                </a:gridCol>
                <a:gridCol w="2200447">
                  <a:extLst>
                    <a:ext uri="{9D8B030D-6E8A-4147-A177-3AD203B41FA5}">
                      <a16:colId xmlns:a16="http://schemas.microsoft.com/office/drawing/2014/main" val="20002"/>
                    </a:ext>
                  </a:extLst>
                </a:gridCol>
                <a:gridCol w="2200447">
                  <a:extLst>
                    <a:ext uri="{9D8B030D-6E8A-4147-A177-3AD203B41FA5}">
                      <a16:colId xmlns:a16="http://schemas.microsoft.com/office/drawing/2014/main" val="20003"/>
                    </a:ext>
                  </a:extLst>
                </a:gridCol>
              </a:tblGrid>
              <a:tr h="388799">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预期收益</a:t>
                      </a:r>
                      <a:r>
                        <a:rPr kumimoji="0" lang="en-US" altLang="zh-CN" sz="22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a:t>
                      </a:r>
                      <a:r>
                        <a:rPr kumimoji="0" lang="en-US" altLang="zh-CN" sz="2200" u="none" strike="noStrike" cap="none" normalizeH="0" baseline="0" dirty="0" err="1">
                          <a:ln>
                            <a:noFill/>
                          </a:ln>
                          <a:solidFill>
                            <a:schemeClr val="bg1"/>
                          </a:solidFill>
                          <a:effectLst/>
                          <a:latin typeface="微软雅黑" panose="020B0503020204020204" pitchFamily="34" charset="-122"/>
                          <a:ea typeface="微软雅黑" panose="020B0503020204020204" pitchFamily="34" charset="-122"/>
                        </a:rPr>
                        <a:t>rp</a:t>
                      </a:r>
                      <a:r>
                        <a:rPr kumimoji="0" lang="en-US" altLang="zh-CN" sz="22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a:t>
                      </a:r>
                      <a:endParaRPr kumimoji="0" lang="zh-CN" altLang="en-US" sz="2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标准差</a:t>
                      </a:r>
                      <a:r>
                        <a:rPr kumimoji="0" lang="en-US" altLang="zh-CN" sz="22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(sigma)</a:t>
                      </a:r>
                      <a:endParaRPr kumimoji="0" lang="zh-CN" altLang="en-US" sz="2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贝塔值</a:t>
                      </a:r>
                      <a:r>
                        <a:rPr kumimoji="0" lang="en-US" altLang="zh-CN" sz="22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(beta)</a:t>
                      </a:r>
                      <a:endParaRPr kumimoji="0" lang="zh-CN" altLang="en-US" sz="2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129600" marR="129600" marT="64800" marB="64800" horzOverflow="overflow"/>
                </a:tc>
                <a:extLst>
                  <a:ext uri="{0D108BD9-81ED-4DB2-BD59-A6C34878D82A}">
                    <a16:rowId xmlns:a16="http://schemas.microsoft.com/office/drawing/2014/main" val="10000"/>
                  </a:ext>
                </a:extLst>
              </a:tr>
              <a:tr h="388799">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a:ln>
                            <a:noFill/>
                          </a:ln>
                          <a:effectLst/>
                          <a:latin typeface="微软雅黑" panose="020B0503020204020204" pitchFamily="34" charset="-122"/>
                          <a:ea typeface="微软雅黑" panose="020B0503020204020204" pitchFamily="34" charset="-122"/>
                        </a:rPr>
                        <a:t>资产组合</a:t>
                      </a: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A</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12</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12</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0.7</a:t>
                      </a:r>
                      <a:endParaRPr kumimoji="0" lang="en-US" altLang="zh-CN" sz="2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extLst>
                  <a:ext uri="{0D108BD9-81ED-4DB2-BD59-A6C34878D82A}">
                    <a16:rowId xmlns:a16="http://schemas.microsoft.com/office/drawing/2014/main" val="10001"/>
                  </a:ext>
                </a:extLst>
              </a:tr>
              <a:tr h="388799">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effectLst/>
                          <a:latin typeface="微软雅黑" panose="020B0503020204020204" pitchFamily="34" charset="-122"/>
                          <a:ea typeface="微软雅黑" panose="020B0503020204020204" pitchFamily="34" charset="-122"/>
                        </a:rPr>
                        <a:t>资产组合</a:t>
                      </a: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B</a:t>
                      </a:r>
                      <a:endParaRPr kumimoji="0" lang="en-US" altLang="zh-CN" sz="2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16</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31</a:t>
                      </a:r>
                      <a:endParaRPr kumimoji="0" lang="en-US" altLang="zh-CN" sz="2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1.4</a:t>
                      </a:r>
                      <a:endParaRPr kumimoji="0" lang="en-US" altLang="zh-CN" sz="2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extLst>
                  <a:ext uri="{0D108BD9-81ED-4DB2-BD59-A6C34878D82A}">
                    <a16:rowId xmlns:a16="http://schemas.microsoft.com/office/drawing/2014/main" val="10002"/>
                  </a:ext>
                </a:extLst>
              </a:tr>
              <a:tr h="388799">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a:ln>
                            <a:noFill/>
                          </a:ln>
                          <a:effectLst/>
                          <a:latin typeface="微软雅黑" panose="020B0503020204020204" pitchFamily="34" charset="-122"/>
                          <a:ea typeface="微软雅黑" panose="020B0503020204020204" pitchFamily="34" charset="-122"/>
                        </a:rPr>
                        <a:t>市场指数</a:t>
                      </a:r>
                      <a:endParaRPr kumimoji="0" lang="zh-CN" altLang="en-US"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13</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18</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1.0</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extLst>
                  <a:ext uri="{0D108BD9-81ED-4DB2-BD59-A6C34878D82A}">
                    <a16:rowId xmlns:a16="http://schemas.microsoft.com/office/drawing/2014/main" val="10003"/>
                  </a:ext>
                </a:extLst>
              </a:tr>
              <a:tr h="388799">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200" u="none" strike="noStrike" cap="none" normalizeH="0" baseline="0" dirty="0">
                          <a:ln>
                            <a:noFill/>
                          </a:ln>
                          <a:effectLst/>
                          <a:latin typeface="微软雅黑" panose="020B0503020204020204" pitchFamily="34" charset="-122"/>
                          <a:ea typeface="微软雅黑" panose="020B0503020204020204" pitchFamily="34" charset="-122"/>
                        </a:rPr>
                        <a:t>无风险资产</a:t>
                      </a:r>
                      <a:endParaRPr kumimoji="0" lang="zh-CN" altLang="en-US" sz="2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5</a:t>
                      </a:r>
                      <a:endParaRPr kumimoji="0" lang="en-US" altLang="zh-CN" sz="2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a:ln>
                            <a:noFill/>
                          </a:ln>
                          <a:effectLst/>
                          <a:latin typeface="微软雅黑" panose="020B0503020204020204" pitchFamily="34" charset="-122"/>
                          <a:ea typeface="微软雅黑" panose="020B0503020204020204" pitchFamily="34" charset="-122"/>
                        </a:rPr>
                        <a:t>0</a:t>
                      </a:r>
                      <a:endParaRPr kumimoji="0" lang="en-US" altLang="zh-CN" sz="2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tc>
                  <a:txBody>
                    <a:bodyPr/>
                    <a:lstStyle>
                      <a:lvl1pPr>
                        <a:spcBef>
                          <a:spcPct val="20000"/>
                        </a:spcBef>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SzPct val="75000"/>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tx2"/>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tx2"/>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u="none" strike="noStrike" cap="none" normalizeH="0" baseline="0" dirty="0">
                          <a:ln>
                            <a:noFill/>
                          </a:ln>
                          <a:effectLst/>
                          <a:latin typeface="微软雅黑" panose="020B0503020204020204" pitchFamily="34" charset="-122"/>
                          <a:ea typeface="微软雅黑" panose="020B0503020204020204" pitchFamily="34" charset="-122"/>
                        </a:rPr>
                        <a:t>0</a:t>
                      </a:r>
                      <a:endParaRPr kumimoji="0" lang="en-US" altLang="zh-CN" sz="2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9600" marR="129600" marT="64800" marB="64800"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3093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AE4E509-B9EB-45CE-A738-73D737731BF6}"/>
              </a:ext>
            </a:extLst>
          </p:cNvPr>
          <p:cNvSpPr>
            <a:spLocks noGrp="1"/>
          </p:cNvSpPr>
          <p:nvPr>
            <p:ph type="title"/>
          </p:nvPr>
        </p:nvSpPr>
        <p:spPr/>
        <p:txBody>
          <a:bodyPr/>
          <a:lstStyle/>
          <a:p>
            <a:r>
              <a:rPr lang="zh-CN" altLang="en-US" dirty="0"/>
              <a:t>业绩报告的主要内容</a:t>
            </a:r>
          </a:p>
        </p:txBody>
      </p:sp>
      <p:graphicFrame>
        <p:nvGraphicFramePr>
          <p:cNvPr id="8" name="内容占位符 7"/>
          <p:cNvGraphicFramePr>
            <a:graphicFrameLocks noGrp="1"/>
          </p:cNvGraphicFramePr>
          <p:nvPr>
            <p:ph idx="1"/>
            <p:extLst>
              <p:ext uri="{D42A27DB-BD31-4B8C-83A1-F6EECF244321}">
                <p14:modId xmlns:p14="http://schemas.microsoft.com/office/powerpoint/2010/main" val="1501208472"/>
              </p:ext>
            </p:extLst>
          </p:nvPr>
        </p:nvGraphicFramePr>
        <p:xfrm>
          <a:off x="949498" y="1593144"/>
          <a:ext cx="15378695" cy="71144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6685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553A9-2E90-4709-9FCB-0E6DB802A321}"/>
              </a:ext>
            </a:extLst>
          </p:cNvPr>
          <p:cNvSpPr>
            <a:spLocks noGrp="1"/>
          </p:cNvSpPr>
          <p:nvPr>
            <p:ph type="title"/>
          </p:nvPr>
        </p:nvSpPr>
        <p:spPr/>
        <p:txBody>
          <a:bodyPr/>
          <a:lstStyle/>
          <a:p>
            <a:r>
              <a:rPr lang="zh-CN" altLang="en-US" dirty="0"/>
              <a:t>（三）个券业绩</a:t>
            </a:r>
          </a:p>
        </p:txBody>
      </p:sp>
      <p:sp>
        <p:nvSpPr>
          <p:cNvPr id="3" name="文本占位符 2">
            <a:extLst>
              <a:ext uri="{FF2B5EF4-FFF2-40B4-BE49-F238E27FC236}">
                <a16:creationId xmlns:a16="http://schemas.microsoft.com/office/drawing/2014/main" id="{7F4E1109-82C3-4B5B-9A6D-03C0C65AF030}"/>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91578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995" y="4067875"/>
            <a:ext cx="15487946" cy="4860242"/>
          </a:xfrm>
          <a:prstGeom prst="rect">
            <a:avLst/>
          </a:prstGeom>
          <a:noFill/>
          <a:extLst>
            <a:ext uri="{909E8E84-426E-40DD-AFC4-6F175D3DCCD1}">
              <a14:hiddenFill xmlns:a14="http://schemas.microsoft.com/office/drawing/2010/main">
                <a:solidFill>
                  <a:srgbClr val="FFFFFF"/>
                </a:solidFill>
              </a14:hiddenFill>
            </a:ext>
          </a:extLst>
        </p:spPr>
      </p:pic>
      <p:sp>
        <p:nvSpPr>
          <p:cNvPr id="6" name="椭圆 5"/>
          <p:cNvSpPr/>
          <p:nvPr/>
        </p:nvSpPr>
        <p:spPr>
          <a:xfrm>
            <a:off x="11647958" y="8240120"/>
            <a:ext cx="5503980" cy="9279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16"/>
          </a:p>
        </p:txBody>
      </p:sp>
      <p:sp>
        <p:nvSpPr>
          <p:cNvPr id="8" name="矩形 7"/>
          <p:cNvSpPr/>
          <p:nvPr/>
        </p:nvSpPr>
        <p:spPr>
          <a:xfrm>
            <a:off x="2687991" y="3952135"/>
            <a:ext cx="6269399" cy="4623982"/>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16"/>
          </a:p>
        </p:txBody>
      </p:sp>
      <p:sp>
        <p:nvSpPr>
          <p:cNvPr id="9" name="标题 8">
            <a:extLst>
              <a:ext uri="{FF2B5EF4-FFF2-40B4-BE49-F238E27FC236}">
                <a16:creationId xmlns:a16="http://schemas.microsoft.com/office/drawing/2014/main" id="{19676271-62D8-4DE4-A255-01F2A3D62892}"/>
              </a:ext>
            </a:extLst>
          </p:cNvPr>
          <p:cNvSpPr>
            <a:spLocks noGrp="1"/>
          </p:cNvSpPr>
          <p:nvPr>
            <p:ph type="title"/>
          </p:nvPr>
        </p:nvSpPr>
        <p:spPr/>
        <p:txBody>
          <a:bodyPr/>
          <a:lstStyle/>
          <a:p>
            <a:r>
              <a:rPr lang="zh-CN" altLang="en-US" dirty="0"/>
              <a:t>交易流水</a:t>
            </a:r>
          </a:p>
        </p:txBody>
      </p:sp>
      <p:sp>
        <p:nvSpPr>
          <p:cNvPr id="3" name="内容占位符 2">
            <a:extLst>
              <a:ext uri="{FF2B5EF4-FFF2-40B4-BE49-F238E27FC236}">
                <a16:creationId xmlns:a16="http://schemas.microsoft.com/office/drawing/2014/main" id="{9880B506-1A67-427F-89D0-4122D6A7A174}"/>
              </a:ext>
            </a:extLst>
          </p:cNvPr>
          <p:cNvSpPr>
            <a:spLocks noGrp="1"/>
          </p:cNvSpPr>
          <p:nvPr>
            <p:ph idx="1"/>
          </p:nvPr>
        </p:nvSpPr>
        <p:spPr/>
        <p:txBody>
          <a:bodyPr/>
          <a:lstStyle/>
          <a:p>
            <a:pPr>
              <a:lnSpc>
                <a:spcPct val="100000"/>
              </a:lnSpc>
            </a:pPr>
            <a:r>
              <a:rPr lang="zh-CN" altLang="en-US" dirty="0"/>
              <a:t>债券：</a:t>
            </a:r>
            <a:r>
              <a:rPr lang="en-US" altLang="zh-CN" dirty="0"/>
              <a:t>140202.IB(</a:t>
            </a:r>
            <a:r>
              <a:rPr lang="zh-CN" altLang="en-US" dirty="0"/>
              <a:t>票面</a:t>
            </a:r>
            <a:r>
              <a:rPr lang="en-US" altLang="zh-CN" dirty="0"/>
              <a:t>5.75%)</a:t>
            </a:r>
          </a:p>
          <a:p>
            <a:pPr>
              <a:lnSpc>
                <a:spcPct val="100000"/>
              </a:lnSpc>
            </a:pPr>
            <a:r>
              <a:rPr lang="zh-CN" altLang="en-US" dirty="0"/>
              <a:t>建仓时间：</a:t>
            </a:r>
            <a:r>
              <a:rPr lang="en-US" altLang="zh-CN" dirty="0"/>
              <a:t>2016-1-1</a:t>
            </a:r>
          </a:p>
          <a:p>
            <a:pPr>
              <a:lnSpc>
                <a:spcPct val="100000"/>
              </a:lnSpc>
            </a:pPr>
            <a:r>
              <a:rPr lang="zh-CN" altLang="en-US" dirty="0"/>
              <a:t>清仓时间：</a:t>
            </a:r>
            <a:r>
              <a:rPr lang="en-US" altLang="zh-CN" dirty="0"/>
              <a:t>2016-8-31</a:t>
            </a:r>
          </a:p>
          <a:p>
            <a:pPr>
              <a:lnSpc>
                <a:spcPct val="100000"/>
              </a:lnSpc>
            </a:pPr>
            <a:r>
              <a:rPr lang="zh-CN" altLang="en-US" dirty="0"/>
              <a:t>对比组合：</a:t>
            </a:r>
            <a:r>
              <a:rPr lang="zh-CN" altLang="en-US" b="1" dirty="0"/>
              <a:t>待偿期在</a:t>
            </a:r>
            <a:r>
              <a:rPr lang="en-US" altLang="zh-CN" b="1" dirty="0"/>
              <a:t>1-3</a:t>
            </a:r>
            <a:r>
              <a:rPr lang="zh-CN" altLang="en-US" b="1" dirty="0"/>
              <a:t>年</a:t>
            </a:r>
          </a:p>
          <a:p>
            <a:pPr>
              <a:lnSpc>
                <a:spcPct val="100000"/>
              </a:lnSpc>
            </a:pPr>
            <a:endParaRPr lang="zh-CN" altLang="en-US" dirty="0"/>
          </a:p>
        </p:txBody>
      </p:sp>
    </p:spTree>
    <p:extLst>
      <p:ext uri="{BB962C8B-B14F-4D97-AF65-F5344CB8AC3E}">
        <p14:creationId xmlns:p14="http://schemas.microsoft.com/office/powerpoint/2010/main" val="310395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409701" y="2184468"/>
            <a:ext cx="14668500" cy="6760247"/>
            <a:chOff x="1771721" y="1541164"/>
            <a:chExt cx="7384029" cy="4769746"/>
          </a:xfrm>
        </p:grpSpPr>
        <p:grpSp>
          <p:nvGrpSpPr>
            <p:cNvPr id="8" name="组合 7"/>
            <p:cNvGrpSpPr/>
            <p:nvPr/>
          </p:nvGrpSpPr>
          <p:grpSpPr>
            <a:xfrm>
              <a:off x="1771721" y="1908195"/>
              <a:ext cx="7381282" cy="4048277"/>
              <a:chOff x="432796" y="749096"/>
              <a:chExt cx="11125376" cy="4969938"/>
            </a:xfrm>
          </p:grpSpPr>
          <p:sp>
            <p:nvSpPr>
              <p:cNvPr id="9" name="矩形 8"/>
              <p:cNvSpPr/>
              <p:nvPr/>
            </p:nvSpPr>
            <p:spPr>
              <a:xfrm>
                <a:off x="4095840" y="749096"/>
                <a:ext cx="1715892" cy="582994"/>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总收益</a:t>
                </a:r>
              </a:p>
            </p:txBody>
          </p:sp>
          <p:sp>
            <p:nvSpPr>
              <p:cNvPr id="10" name="矩形 9"/>
              <p:cNvSpPr/>
              <p:nvPr/>
            </p:nvSpPr>
            <p:spPr>
              <a:xfrm>
                <a:off x="1766296" y="2022725"/>
                <a:ext cx="1715892"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交易能力</a:t>
                </a:r>
                <a:endParaRPr lang="en-US" altLang="zh-CN" sz="2000" dirty="0">
                  <a:solidFill>
                    <a:schemeClr val="tx1"/>
                  </a:solidFill>
                  <a:latin typeface="微软雅黑" panose="020B0503020204020204" pitchFamily="34" charset="-122"/>
                  <a:ea typeface="微软雅黑" panose="020B0503020204020204" pitchFamily="34" charset="-122"/>
                </a:endParaRPr>
              </a:p>
              <a:p>
                <a:pPr algn="ctr"/>
                <a:r>
                  <a:rPr lang="zh-CN" altLang="en-US" sz="2000" dirty="0">
                    <a:solidFill>
                      <a:schemeClr val="tx1"/>
                    </a:solidFill>
                    <a:latin typeface="微软雅黑" panose="020B0503020204020204" pitchFamily="34" charset="-122"/>
                    <a:ea typeface="微软雅黑" panose="020B0503020204020204" pitchFamily="34" charset="-122"/>
                  </a:rPr>
                  <a:t>收益</a:t>
                </a:r>
              </a:p>
            </p:txBody>
          </p:sp>
          <p:sp>
            <p:nvSpPr>
              <p:cNvPr id="11" name="矩形 10"/>
              <p:cNvSpPr/>
              <p:nvPr/>
            </p:nvSpPr>
            <p:spPr>
              <a:xfrm>
                <a:off x="6583226" y="2000954"/>
                <a:ext cx="1715892"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市场定价</a:t>
                </a:r>
                <a:endParaRPr lang="en-US" altLang="zh-CN" sz="2000" dirty="0">
                  <a:solidFill>
                    <a:schemeClr val="tx1"/>
                  </a:solidFill>
                  <a:latin typeface="微软雅黑" panose="020B0503020204020204" pitchFamily="34" charset="-122"/>
                  <a:ea typeface="微软雅黑" panose="020B0503020204020204" pitchFamily="34" charset="-122"/>
                </a:endParaRPr>
              </a:p>
              <a:p>
                <a:pPr algn="ctr"/>
                <a:r>
                  <a:rPr lang="zh-CN" altLang="en-US" sz="2000" dirty="0">
                    <a:solidFill>
                      <a:schemeClr val="tx1"/>
                    </a:solidFill>
                    <a:latin typeface="微软雅黑" panose="020B0503020204020204" pitchFamily="34" charset="-122"/>
                    <a:ea typeface="微软雅黑" panose="020B0503020204020204" pitchFamily="34" charset="-122"/>
                  </a:rPr>
                  <a:t>收益</a:t>
                </a:r>
              </a:p>
            </p:txBody>
          </p:sp>
          <p:cxnSp>
            <p:nvCxnSpPr>
              <p:cNvPr id="12" name="直接连接符 11"/>
              <p:cNvCxnSpPr>
                <a:stCxn id="9" idx="2"/>
                <a:endCxn id="10" idx="0"/>
              </p:cNvCxnSpPr>
              <p:nvPr/>
            </p:nvCxnSpPr>
            <p:spPr>
              <a:xfrm flipH="1">
                <a:off x="2624242" y="1332090"/>
                <a:ext cx="2329544" cy="690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2"/>
                <a:endCxn id="11" idx="0"/>
              </p:cNvCxnSpPr>
              <p:nvPr/>
            </p:nvCxnSpPr>
            <p:spPr>
              <a:xfrm>
                <a:off x="4953786" y="1332090"/>
                <a:ext cx="2487386" cy="6688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906329" y="3568496"/>
                <a:ext cx="1715892"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持有收益</a:t>
                </a:r>
              </a:p>
            </p:txBody>
          </p:sp>
          <p:sp>
            <p:nvSpPr>
              <p:cNvPr id="15" name="矩形 14"/>
              <p:cNvSpPr/>
              <p:nvPr/>
            </p:nvSpPr>
            <p:spPr>
              <a:xfrm>
                <a:off x="5320484" y="3568496"/>
                <a:ext cx="1715892"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利率曲线</a:t>
                </a:r>
                <a:endParaRPr lang="en-US" altLang="zh-CN" sz="2000" dirty="0">
                  <a:solidFill>
                    <a:schemeClr val="tx1"/>
                  </a:solidFill>
                  <a:latin typeface="微软雅黑" panose="020B0503020204020204" pitchFamily="34" charset="-122"/>
                  <a:ea typeface="微软雅黑" panose="020B0503020204020204" pitchFamily="34" charset="-122"/>
                </a:endParaRPr>
              </a:p>
              <a:p>
                <a:pPr algn="ctr"/>
                <a:r>
                  <a:rPr lang="zh-CN" altLang="en-US" sz="2000" dirty="0">
                    <a:solidFill>
                      <a:schemeClr val="tx1"/>
                    </a:solidFill>
                    <a:latin typeface="微软雅黑" panose="020B0503020204020204" pitchFamily="34" charset="-122"/>
                    <a:ea typeface="微软雅黑" panose="020B0503020204020204" pitchFamily="34" charset="-122"/>
                  </a:rPr>
                  <a:t>管理收益</a:t>
                </a:r>
              </a:p>
            </p:txBody>
          </p:sp>
          <p:sp>
            <p:nvSpPr>
              <p:cNvPr id="16" name="矩形 15"/>
              <p:cNvSpPr/>
              <p:nvPr/>
            </p:nvSpPr>
            <p:spPr>
              <a:xfrm>
                <a:off x="9359084" y="3568496"/>
                <a:ext cx="1715892"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信用利差</a:t>
                </a:r>
                <a:endParaRPr lang="en-US" altLang="zh-CN" sz="2000" dirty="0">
                  <a:solidFill>
                    <a:schemeClr val="tx1"/>
                  </a:solidFill>
                  <a:latin typeface="微软雅黑" panose="020B0503020204020204" pitchFamily="34" charset="-122"/>
                  <a:ea typeface="微软雅黑" panose="020B0503020204020204" pitchFamily="34" charset="-122"/>
                </a:endParaRPr>
              </a:p>
              <a:p>
                <a:pPr algn="ctr"/>
                <a:r>
                  <a:rPr lang="zh-CN" altLang="en-US" sz="2000" dirty="0">
                    <a:solidFill>
                      <a:schemeClr val="tx1"/>
                    </a:solidFill>
                    <a:latin typeface="微软雅黑" panose="020B0503020204020204" pitchFamily="34" charset="-122"/>
                    <a:ea typeface="微软雅黑" panose="020B0503020204020204" pitchFamily="34" charset="-122"/>
                  </a:rPr>
                  <a:t>管理收益</a:t>
                </a:r>
              </a:p>
            </p:txBody>
          </p:sp>
          <p:cxnSp>
            <p:nvCxnSpPr>
              <p:cNvPr id="17" name="直接连接符 16"/>
              <p:cNvCxnSpPr>
                <a:stCxn id="11" idx="2"/>
                <a:endCxn id="14" idx="0"/>
              </p:cNvCxnSpPr>
              <p:nvPr/>
            </p:nvCxnSpPr>
            <p:spPr>
              <a:xfrm flipH="1">
                <a:off x="1764275" y="2583948"/>
                <a:ext cx="5676897"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1" idx="2"/>
                <a:endCxn id="15" idx="0"/>
              </p:cNvCxnSpPr>
              <p:nvPr/>
            </p:nvCxnSpPr>
            <p:spPr>
              <a:xfrm flipH="1">
                <a:off x="6178430" y="2583948"/>
                <a:ext cx="1262742"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1" idx="2"/>
                <a:endCxn id="16" idx="0"/>
              </p:cNvCxnSpPr>
              <p:nvPr/>
            </p:nvCxnSpPr>
            <p:spPr>
              <a:xfrm>
                <a:off x="7441172" y="2583948"/>
                <a:ext cx="2775858"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32796" y="5136038"/>
                <a:ext cx="1158445"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息票收益</a:t>
                </a:r>
              </a:p>
            </p:txBody>
          </p:sp>
          <p:sp>
            <p:nvSpPr>
              <p:cNvPr id="21" name="矩形 20"/>
              <p:cNvSpPr/>
              <p:nvPr/>
            </p:nvSpPr>
            <p:spPr>
              <a:xfrm>
                <a:off x="2120083" y="5136038"/>
                <a:ext cx="1149734"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价格收敛</a:t>
                </a:r>
                <a:endParaRPr lang="en-US" altLang="zh-CN" sz="2000" dirty="0">
                  <a:solidFill>
                    <a:schemeClr val="tx1"/>
                  </a:solidFill>
                  <a:latin typeface="微软雅黑" panose="020B0503020204020204" pitchFamily="34" charset="-122"/>
                  <a:ea typeface="微软雅黑" panose="020B0503020204020204" pitchFamily="34" charset="-122"/>
                </a:endParaRPr>
              </a:p>
            </p:txBody>
          </p:sp>
          <p:cxnSp>
            <p:nvCxnSpPr>
              <p:cNvPr id="22" name="直接连接符 21"/>
              <p:cNvCxnSpPr>
                <a:stCxn id="14" idx="2"/>
                <a:endCxn id="20" idx="0"/>
              </p:cNvCxnSpPr>
              <p:nvPr/>
            </p:nvCxnSpPr>
            <p:spPr>
              <a:xfrm flipH="1">
                <a:off x="1012019" y="4151490"/>
                <a:ext cx="752256"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4" idx="2"/>
                <a:endCxn id="21" idx="0"/>
              </p:cNvCxnSpPr>
              <p:nvPr/>
            </p:nvCxnSpPr>
            <p:spPr>
              <a:xfrm>
                <a:off x="1764275" y="4151490"/>
                <a:ext cx="930675"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052300" y="5136040"/>
                <a:ext cx="727295"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平移</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5146315" y="5136040"/>
                <a:ext cx="727294"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扭曲</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6240327" y="5136038"/>
                <a:ext cx="727296"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蝶式</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7326180" y="5136038"/>
                <a:ext cx="705515"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时间</a:t>
                </a:r>
                <a:endParaRPr lang="en-US" altLang="zh-CN" sz="2000" dirty="0">
                  <a:solidFill>
                    <a:schemeClr val="tx1"/>
                  </a:solidFill>
                  <a:latin typeface="微软雅黑" panose="020B0503020204020204" pitchFamily="34" charset="-122"/>
                  <a:ea typeface="微软雅黑" panose="020B0503020204020204" pitchFamily="34" charset="-122"/>
                </a:endParaRPr>
              </a:p>
            </p:txBody>
          </p:sp>
          <p:cxnSp>
            <p:nvCxnSpPr>
              <p:cNvPr id="28" name="直接连接符 27"/>
              <p:cNvCxnSpPr>
                <a:stCxn id="15" idx="2"/>
                <a:endCxn id="24" idx="0"/>
              </p:cNvCxnSpPr>
              <p:nvPr/>
            </p:nvCxnSpPr>
            <p:spPr>
              <a:xfrm flipH="1">
                <a:off x="4415948" y="4151490"/>
                <a:ext cx="1762482" cy="9845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5" idx="2"/>
                <a:endCxn id="25" idx="0"/>
              </p:cNvCxnSpPr>
              <p:nvPr/>
            </p:nvCxnSpPr>
            <p:spPr>
              <a:xfrm flipH="1">
                <a:off x="5509962" y="4151490"/>
                <a:ext cx="668468" cy="9845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5" idx="2"/>
                <a:endCxn id="26" idx="0"/>
              </p:cNvCxnSpPr>
              <p:nvPr/>
            </p:nvCxnSpPr>
            <p:spPr>
              <a:xfrm>
                <a:off x="6178430" y="4151490"/>
                <a:ext cx="425545"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5" idx="2"/>
                <a:endCxn id="27" idx="0"/>
              </p:cNvCxnSpPr>
              <p:nvPr/>
            </p:nvCxnSpPr>
            <p:spPr>
              <a:xfrm>
                <a:off x="6178430" y="4151490"/>
                <a:ext cx="1500508"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9163136" y="5136038"/>
                <a:ext cx="1001665"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券种配置</a:t>
                </a:r>
              </a:p>
            </p:txBody>
          </p:sp>
          <p:sp>
            <p:nvSpPr>
              <p:cNvPr id="33" name="矩形 32"/>
              <p:cNvSpPr/>
              <p:nvPr/>
            </p:nvSpPr>
            <p:spPr>
              <a:xfrm>
                <a:off x="10556507" y="5136038"/>
                <a:ext cx="1001665" cy="5829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个券选择</a:t>
                </a:r>
              </a:p>
            </p:txBody>
          </p:sp>
          <p:cxnSp>
            <p:nvCxnSpPr>
              <p:cNvPr id="34" name="直接连接符 33"/>
              <p:cNvCxnSpPr>
                <a:stCxn id="16" idx="2"/>
                <a:endCxn id="32" idx="0"/>
              </p:cNvCxnSpPr>
              <p:nvPr/>
            </p:nvCxnSpPr>
            <p:spPr>
              <a:xfrm flipH="1">
                <a:off x="9663969" y="4151490"/>
                <a:ext cx="553061"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endCxn id="33" idx="0"/>
              </p:cNvCxnSpPr>
              <p:nvPr/>
            </p:nvCxnSpPr>
            <p:spPr>
              <a:xfrm>
                <a:off x="10431327" y="4151490"/>
                <a:ext cx="626013" cy="984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p:nvSpPr>
          <p:spPr>
            <a:xfrm>
              <a:off x="4416436" y="1541164"/>
              <a:ext cx="633069" cy="325731"/>
            </a:xfrm>
            <a:prstGeom prst="rect">
              <a:avLst/>
            </a:prstGeom>
            <a:solidFill>
              <a:schemeClr val="bg2"/>
            </a:solidFill>
          </p:spPr>
          <p:txBody>
            <a:bodyPr wrap="square" rtlCol="0">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0.09%</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37" name="TextBox 36"/>
            <p:cNvSpPr txBox="1"/>
            <p:nvPr/>
          </p:nvSpPr>
          <p:spPr>
            <a:xfrm>
              <a:off x="7046001" y="3015767"/>
              <a:ext cx="594584" cy="325731"/>
            </a:xfrm>
            <a:prstGeom prst="rect">
              <a:avLst/>
            </a:prstGeom>
            <a:solidFill>
              <a:schemeClr val="bg2"/>
            </a:solidFill>
          </p:spPr>
          <p:txBody>
            <a:bodyPr wrap="square" rtlCol="0">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1.89%</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3839098" y="3028677"/>
              <a:ext cx="593850" cy="325731"/>
            </a:xfrm>
            <a:prstGeom prst="rect">
              <a:avLst/>
            </a:prstGeom>
            <a:solidFill>
              <a:schemeClr val="bg2"/>
            </a:solidFill>
          </p:spPr>
          <p:txBody>
            <a:bodyPr wrap="square" rtlCol="0">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-1.8%</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39" name="TextBox 38"/>
            <p:cNvSpPr txBox="1"/>
            <p:nvPr/>
          </p:nvSpPr>
          <p:spPr>
            <a:xfrm>
              <a:off x="3291063" y="4272907"/>
              <a:ext cx="533388" cy="325731"/>
            </a:xfrm>
            <a:prstGeom prst="rect">
              <a:avLst/>
            </a:prstGeom>
            <a:solidFill>
              <a:schemeClr val="bg2"/>
            </a:solidFill>
          </p:spPr>
          <p:txBody>
            <a:bodyPr wrap="square" rtlCol="0">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1.9%</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40" name="TextBox 39"/>
            <p:cNvSpPr txBox="1"/>
            <p:nvPr/>
          </p:nvSpPr>
          <p:spPr>
            <a:xfrm>
              <a:off x="6247181" y="4272907"/>
              <a:ext cx="661271" cy="282301"/>
            </a:xfrm>
            <a:prstGeom prst="rect">
              <a:avLst/>
            </a:prstGeom>
            <a:solidFill>
              <a:schemeClr val="bg2"/>
            </a:solidFill>
          </p:spPr>
          <p:txBody>
            <a:bodyPr wrap="square" rtlCol="0">
              <a:spAutoFit/>
            </a:bodyPr>
            <a:lstStyle/>
            <a:p>
              <a:pPr algn="ctr"/>
              <a:r>
                <a:rPr lang="en-US" altLang="zh-CN" sz="2000" b="1" dirty="0">
                  <a:solidFill>
                    <a:srgbClr val="FF0000"/>
                  </a:solidFill>
                  <a:latin typeface="微软雅黑" panose="020B0503020204020204" pitchFamily="34" charset="-122"/>
                  <a:ea typeface="微软雅黑" panose="020B0503020204020204" pitchFamily="34" charset="-122"/>
                </a:rPr>
                <a:t>0.62%</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41" name="TextBox 40"/>
            <p:cNvSpPr txBox="1"/>
            <p:nvPr/>
          </p:nvSpPr>
          <p:spPr>
            <a:xfrm>
              <a:off x="8350374" y="3842477"/>
              <a:ext cx="802629" cy="282301"/>
            </a:xfrm>
            <a:prstGeom prst="rect">
              <a:avLst/>
            </a:prstGeom>
            <a:solidFill>
              <a:schemeClr val="bg2"/>
            </a:solidFill>
          </p:spPr>
          <p:txBody>
            <a:bodyPr wrap="square" rtlCol="0">
              <a:spAutoFit/>
            </a:bodyPr>
            <a:lstStyle/>
            <a:p>
              <a:pPr algn="ctr"/>
              <a:r>
                <a:rPr lang="en-US" altLang="zh-CN" sz="2000" b="1" dirty="0">
                  <a:solidFill>
                    <a:srgbClr val="FF0000"/>
                  </a:solidFill>
                  <a:latin typeface="微软雅黑" panose="020B0503020204020204" pitchFamily="34" charset="-122"/>
                  <a:ea typeface="微软雅黑" panose="020B0503020204020204" pitchFamily="34" charset="-122"/>
                </a:rPr>
                <a:t>-0.62%</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42" name="TextBox 41"/>
            <p:cNvSpPr txBox="1"/>
            <p:nvPr/>
          </p:nvSpPr>
          <p:spPr>
            <a:xfrm>
              <a:off x="1839094" y="6041199"/>
              <a:ext cx="633840"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3.87%</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43" name="TextBox 42"/>
            <p:cNvSpPr txBox="1"/>
            <p:nvPr/>
          </p:nvSpPr>
          <p:spPr>
            <a:xfrm>
              <a:off x="2955657" y="6038110"/>
              <a:ext cx="762806"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-1.86%</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44" name="TextBox 43"/>
            <p:cNvSpPr txBox="1"/>
            <p:nvPr/>
          </p:nvSpPr>
          <p:spPr>
            <a:xfrm>
              <a:off x="4097477" y="6038110"/>
              <a:ext cx="633840"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1.17%</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45" name="TextBox 44"/>
            <p:cNvSpPr txBox="1"/>
            <p:nvPr/>
          </p:nvSpPr>
          <p:spPr>
            <a:xfrm>
              <a:off x="4823315" y="6038110"/>
              <a:ext cx="645437"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-0.16%</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46" name="TextBox 45"/>
            <p:cNvSpPr txBox="1"/>
            <p:nvPr/>
          </p:nvSpPr>
          <p:spPr>
            <a:xfrm>
              <a:off x="7587569" y="6050325"/>
              <a:ext cx="762805"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-0.74%</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47" name="TextBox 46"/>
            <p:cNvSpPr txBox="1"/>
            <p:nvPr/>
          </p:nvSpPr>
          <p:spPr>
            <a:xfrm>
              <a:off x="8521910" y="6041199"/>
              <a:ext cx="633840"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0.11%</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48" name="TextBox 47"/>
            <p:cNvSpPr txBox="1"/>
            <p:nvPr/>
          </p:nvSpPr>
          <p:spPr>
            <a:xfrm>
              <a:off x="5554762" y="6042518"/>
              <a:ext cx="633840"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-0.43%</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49" name="TextBox 48"/>
            <p:cNvSpPr txBox="1"/>
            <p:nvPr/>
          </p:nvSpPr>
          <p:spPr>
            <a:xfrm>
              <a:off x="6274612" y="6044681"/>
              <a:ext cx="633840" cy="260585"/>
            </a:xfrm>
            <a:prstGeom prst="rect">
              <a:avLst/>
            </a:prstGeom>
            <a:solidFill>
              <a:schemeClr val="bg2"/>
            </a:solidFill>
          </p:spPr>
          <p:txBody>
            <a:bodyPr wrap="square" rtlCol="0">
              <a:spAutoFit/>
            </a:bodyPr>
            <a:lstStyle/>
            <a:p>
              <a:pPr algn="ctr"/>
              <a:r>
                <a:rPr lang="en-US" altLang="zh-CN" sz="1800" b="1" dirty="0">
                  <a:solidFill>
                    <a:srgbClr val="FF0000"/>
                  </a:solidFill>
                  <a:latin typeface="微软雅黑" panose="020B0503020204020204" pitchFamily="34" charset="-122"/>
                  <a:ea typeface="微软雅黑" panose="020B0503020204020204" pitchFamily="34" charset="-122"/>
                </a:rPr>
                <a:t>0.04%</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50" name="椭圆 49"/>
          <p:cNvSpPr/>
          <p:nvPr/>
        </p:nvSpPr>
        <p:spPr>
          <a:xfrm>
            <a:off x="2622436" y="3652498"/>
            <a:ext cx="4365647" cy="1659191"/>
          </a:xfrm>
          <a:prstGeom prst="ellipse">
            <a:avLst/>
          </a:prstGeom>
          <a:solidFill>
            <a:srgbClr val="92D050">
              <a:alpha val="1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5" name="标题 4">
            <a:extLst>
              <a:ext uri="{FF2B5EF4-FFF2-40B4-BE49-F238E27FC236}">
                <a16:creationId xmlns:a16="http://schemas.microsoft.com/office/drawing/2014/main" id="{23DA7A04-4F87-4DDA-AA25-91BA160B4FA8}"/>
              </a:ext>
            </a:extLst>
          </p:cNvPr>
          <p:cNvSpPr>
            <a:spLocks noGrp="1"/>
          </p:cNvSpPr>
          <p:nvPr>
            <p:ph type="title"/>
          </p:nvPr>
        </p:nvSpPr>
        <p:spPr/>
        <p:txBody>
          <a:bodyPr/>
          <a:lstStyle/>
          <a:p>
            <a:r>
              <a:rPr lang="zh-CN" altLang="en-US" dirty="0"/>
              <a:t>收益分解</a:t>
            </a:r>
          </a:p>
        </p:txBody>
      </p:sp>
    </p:spTree>
    <p:extLst>
      <p:ext uri="{BB962C8B-B14F-4D97-AF65-F5344CB8AC3E}">
        <p14:creationId xmlns:p14="http://schemas.microsoft.com/office/powerpoint/2010/main" val="467998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273" t="2317" r="8344" b="6891"/>
          <a:stretch/>
        </p:blipFill>
        <p:spPr bwMode="auto">
          <a:xfrm>
            <a:off x="1285874" y="1458040"/>
            <a:ext cx="14897101" cy="8133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a:extLst>
              <a:ext uri="{FF2B5EF4-FFF2-40B4-BE49-F238E27FC236}">
                <a16:creationId xmlns:a16="http://schemas.microsoft.com/office/drawing/2014/main" id="{689CD21C-DA24-4A30-ACE9-B2BAD9A73376}"/>
              </a:ext>
            </a:extLst>
          </p:cNvPr>
          <p:cNvSpPr>
            <a:spLocks noGrp="1"/>
          </p:cNvSpPr>
          <p:nvPr>
            <p:ph type="title"/>
          </p:nvPr>
        </p:nvSpPr>
        <p:spPr/>
        <p:txBody>
          <a:bodyPr/>
          <a:lstStyle/>
          <a:p>
            <a:r>
              <a:rPr lang="zh-CN" altLang="en-US" dirty="0"/>
              <a:t>净值曲线和业绩跟踪</a:t>
            </a:r>
            <a:r>
              <a:rPr lang="zh-CN" altLang="en-US" sz="4000" dirty="0"/>
              <a:t>（与</a:t>
            </a:r>
            <a:r>
              <a:rPr lang="en-US" altLang="zh-CN" sz="4000" dirty="0"/>
              <a:t>1-3</a:t>
            </a:r>
            <a:r>
              <a:rPr lang="zh-CN" altLang="en-US" sz="4000" dirty="0"/>
              <a:t>年期指数比较）</a:t>
            </a:r>
            <a:endParaRPr lang="zh-CN" altLang="en-US" dirty="0"/>
          </a:p>
        </p:txBody>
      </p:sp>
    </p:spTree>
    <p:extLst>
      <p:ext uri="{BB962C8B-B14F-4D97-AF65-F5344CB8AC3E}">
        <p14:creationId xmlns:p14="http://schemas.microsoft.com/office/powerpoint/2010/main" val="418126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a:graphicFrameLocks/>
          </p:cNvGraphicFramePr>
          <p:nvPr>
            <p:extLst>
              <p:ext uri="{D42A27DB-BD31-4B8C-83A1-F6EECF244321}">
                <p14:modId xmlns:p14="http://schemas.microsoft.com/office/powerpoint/2010/main" val="3489514002"/>
              </p:ext>
            </p:extLst>
          </p:nvPr>
        </p:nvGraphicFramePr>
        <p:xfrm>
          <a:off x="819793" y="1842533"/>
          <a:ext cx="15508399" cy="7349092"/>
        </p:xfrm>
        <a:graphic>
          <a:graphicData uri="http://schemas.openxmlformats.org/drawingml/2006/chart">
            <c:chart xmlns:c="http://schemas.openxmlformats.org/drawingml/2006/chart" xmlns:r="http://schemas.openxmlformats.org/officeDocument/2006/relationships" r:id="rId2"/>
          </a:graphicData>
        </a:graphic>
      </p:graphicFrame>
      <p:sp>
        <p:nvSpPr>
          <p:cNvPr id="5" name="标题 4">
            <a:extLst>
              <a:ext uri="{FF2B5EF4-FFF2-40B4-BE49-F238E27FC236}">
                <a16:creationId xmlns:a16="http://schemas.microsoft.com/office/drawing/2014/main" id="{8E45BB8C-09FA-4F33-A107-1FEF0F808611}"/>
              </a:ext>
            </a:extLst>
          </p:cNvPr>
          <p:cNvSpPr>
            <a:spLocks noGrp="1"/>
          </p:cNvSpPr>
          <p:nvPr>
            <p:ph type="title"/>
          </p:nvPr>
        </p:nvSpPr>
        <p:spPr/>
        <p:txBody>
          <a:bodyPr/>
          <a:lstStyle/>
          <a:p>
            <a:r>
              <a:rPr lang="zh-CN" altLang="en-US" dirty="0"/>
              <a:t>择时评价</a:t>
            </a:r>
          </a:p>
        </p:txBody>
      </p:sp>
    </p:spTree>
    <p:extLst>
      <p:ext uri="{BB962C8B-B14F-4D97-AF65-F5344CB8AC3E}">
        <p14:creationId xmlns:p14="http://schemas.microsoft.com/office/powerpoint/2010/main" val="369412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2005F-15CC-490F-8DA8-EBDA684A3FE2}"/>
              </a:ext>
            </a:extLst>
          </p:cNvPr>
          <p:cNvSpPr>
            <a:spLocks noGrp="1"/>
          </p:cNvSpPr>
          <p:nvPr>
            <p:ph type="title"/>
          </p:nvPr>
        </p:nvSpPr>
        <p:spPr/>
        <p:txBody>
          <a:bodyPr/>
          <a:lstStyle/>
          <a:p>
            <a:r>
              <a:rPr lang="zh-CN" altLang="en-US" dirty="0"/>
              <a:t>个券评价</a:t>
            </a:r>
          </a:p>
        </p:txBody>
      </p:sp>
      <p:pic>
        <p:nvPicPr>
          <p:cNvPr id="4" name="Picture 3">
            <a:extLst>
              <a:ext uri="{FF2B5EF4-FFF2-40B4-BE49-F238E27FC236}">
                <a16:creationId xmlns:a16="http://schemas.microsoft.com/office/drawing/2014/main" id="{116A0106-76A8-4E65-9D4D-59DE30847F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9749" y="1669774"/>
            <a:ext cx="13030201" cy="7643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396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711CFA-D3E2-4647-A2D4-1F71E4DCF61B}"/>
              </a:ext>
            </a:extLst>
          </p:cNvPr>
          <p:cNvSpPr>
            <a:spLocks noGrp="1"/>
          </p:cNvSpPr>
          <p:nvPr>
            <p:ph type="title"/>
          </p:nvPr>
        </p:nvSpPr>
        <p:spPr/>
        <p:txBody>
          <a:bodyPr/>
          <a:lstStyle/>
          <a:p>
            <a:r>
              <a:rPr lang="zh-CN" altLang="en-US" dirty="0"/>
              <a:t>业绩分析汇总</a:t>
            </a:r>
          </a:p>
        </p:txBody>
      </p:sp>
      <p:pic>
        <p:nvPicPr>
          <p:cNvPr id="21" name="内容占位符 20">
            <a:extLst>
              <a:ext uri="{FF2B5EF4-FFF2-40B4-BE49-F238E27FC236}">
                <a16:creationId xmlns:a16="http://schemas.microsoft.com/office/drawing/2014/main" id="{EFF4CC33-63F0-4253-9703-3D317703868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42737"/>
          <a:stretch/>
        </p:blipFill>
        <p:spPr bwMode="auto">
          <a:xfrm>
            <a:off x="2286000" y="1603154"/>
            <a:ext cx="11682104" cy="792365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F39D3E25-103D-4887-B3A5-B62F1F1DF7E3}"/>
              </a:ext>
            </a:extLst>
          </p:cNvPr>
          <p:cNvSpPr/>
          <p:nvPr/>
        </p:nvSpPr>
        <p:spPr>
          <a:xfrm>
            <a:off x="11696700" y="2166175"/>
            <a:ext cx="1733550" cy="647371"/>
          </a:xfrm>
          <a:prstGeom prst="rect">
            <a:avLst/>
          </a:prstGeom>
          <a:solidFill>
            <a:srgbClr val="FF8A65">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248916D-7B46-4A3D-B3B9-2461FC39ED9D}"/>
              </a:ext>
            </a:extLst>
          </p:cNvPr>
          <p:cNvSpPr/>
          <p:nvPr/>
        </p:nvSpPr>
        <p:spPr>
          <a:xfrm>
            <a:off x="11696700" y="3997356"/>
            <a:ext cx="1733550" cy="630457"/>
          </a:xfrm>
          <a:prstGeom prst="rect">
            <a:avLst/>
          </a:prstGeom>
          <a:solidFill>
            <a:srgbClr val="FF8A65">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DB1E2EE-F8DF-40AA-86A1-3EA508B65B7A}"/>
              </a:ext>
            </a:extLst>
          </p:cNvPr>
          <p:cNvSpPr/>
          <p:nvPr/>
        </p:nvSpPr>
        <p:spPr>
          <a:xfrm>
            <a:off x="11696700" y="7082084"/>
            <a:ext cx="1733550" cy="630457"/>
          </a:xfrm>
          <a:prstGeom prst="rect">
            <a:avLst/>
          </a:prstGeom>
          <a:solidFill>
            <a:srgbClr val="FF8A65">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42568884-7860-4B24-8C7C-5A18FC8BA595}"/>
              </a:ext>
            </a:extLst>
          </p:cNvPr>
          <p:cNvSpPr/>
          <p:nvPr/>
        </p:nvSpPr>
        <p:spPr>
          <a:xfrm>
            <a:off x="11696700" y="8896351"/>
            <a:ext cx="1733550" cy="539749"/>
          </a:xfrm>
          <a:prstGeom prst="rect">
            <a:avLst/>
          </a:prstGeom>
          <a:solidFill>
            <a:srgbClr val="FF8A65">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49718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553A9-2E90-4709-9FCB-0E6DB802A321}"/>
              </a:ext>
            </a:extLst>
          </p:cNvPr>
          <p:cNvSpPr>
            <a:spLocks noGrp="1"/>
          </p:cNvSpPr>
          <p:nvPr>
            <p:ph type="title"/>
          </p:nvPr>
        </p:nvSpPr>
        <p:spPr/>
        <p:txBody>
          <a:bodyPr/>
          <a:lstStyle/>
          <a:p>
            <a:r>
              <a:rPr lang="zh-CN" altLang="en-US" dirty="0"/>
              <a:t>（四）投研策略业绩</a:t>
            </a:r>
          </a:p>
        </p:txBody>
      </p:sp>
      <p:sp>
        <p:nvSpPr>
          <p:cNvPr id="3" name="文本占位符 2">
            <a:extLst>
              <a:ext uri="{FF2B5EF4-FFF2-40B4-BE49-F238E27FC236}">
                <a16:creationId xmlns:a16="http://schemas.microsoft.com/office/drawing/2014/main" id="{7F4E1109-82C3-4B5B-9A6D-03C0C65AF030}"/>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84853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8B9644-6BA3-4E63-9F9B-D4061A84EDED}"/>
              </a:ext>
            </a:extLst>
          </p:cNvPr>
          <p:cNvSpPr>
            <a:spLocks noGrp="1"/>
          </p:cNvSpPr>
          <p:nvPr>
            <p:ph type="title"/>
          </p:nvPr>
        </p:nvSpPr>
        <p:spPr/>
        <p:txBody>
          <a:bodyPr/>
          <a:lstStyle/>
          <a:p>
            <a:r>
              <a:rPr lang="zh-CN" altLang="en-US" dirty="0"/>
              <a:t>根据业绩评价投研能力</a:t>
            </a:r>
          </a:p>
        </p:txBody>
      </p:sp>
      <p:sp>
        <p:nvSpPr>
          <p:cNvPr id="3" name="内容占位符 2">
            <a:extLst>
              <a:ext uri="{FF2B5EF4-FFF2-40B4-BE49-F238E27FC236}">
                <a16:creationId xmlns:a16="http://schemas.microsoft.com/office/drawing/2014/main" id="{1E761ED5-8C47-483B-99C9-59B97ED0FCEE}"/>
              </a:ext>
            </a:extLst>
          </p:cNvPr>
          <p:cNvSpPr>
            <a:spLocks noGrp="1"/>
          </p:cNvSpPr>
          <p:nvPr>
            <p:ph sz="half" idx="2"/>
          </p:nvPr>
        </p:nvSpPr>
        <p:spPr/>
        <p:txBody>
          <a:bodyPr/>
          <a:lstStyle/>
          <a:p>
            <a:r>
              <a:rPr lang="zh-CN" altLang="en-US" dirty="0"/>
              <a:t>目前尚未有卖方研究团队，定期明确的表达对期限结构的走势判断。</a:t>
            </a:r>
            <a:endParaRPr lang="en-US" altLang="zh-CN" dirty="0"/>
          </a:p>
          <a:p>
            <a:r>
              <a:rPr lang="zh-CN" altLang="en-US" dirty="0"/>
              <a:t>退求其次，采用了较粗糙的人工判断的方式，对</a:t>
            </a:r>
            <a:r>
              <a:rPr lang="en-US" altLang="zh-CN" dirty="0"/>
              <a:t>201X</a:t>
            </a:r>
            <a:r>
              <a:rPr lang="zh-CN" altLang="en-US" dirty="0"/>
              <a:t>年，两家知名卖方研究的长端利率债周度策略回测，演示业绩归因的应用效果。</a:t>
            </a:r>
            <a:endParaRPr lang="en-US" altLang="zh-CN" dirty="0"/>
          </a:p>
          <a:p>
            <a:endParaRPr lang="en-US" altLang="zh-CN" dirty="0"/>
          </a:p>
          <a:p>
            <a:endParaRPr lang="zh-CN" altLang="en-US" dirty="0"/>
          </a:p>
        </p:txBody>
      </p:sp>
      <p:graphicFrame>
        <p:nvGraphicFramePr>
          <p:cNvPr id="6" name="内容占位符 5">
            <a:extLst>
              <a:ext uri="{FF2B5EF4-FFF2-40B4-BE49-F238E27FC236}">
                <a16:creationId xmlns:a16="http://schemas.microsoft.com/office/drawing/2014/main" id="{501DFD94-BCE5-4126-8A4C-088306AE8042}"/>
              </a:ext>
            </a:extLst>
          </p:cNvPr>
          <p:cNvGraphicFramePr>
            <a:graphicFrameLocks noGrp="1"/>
          </p:cNvGraphicFramePr>
          <p:nvPr>
            <p:ph sz="quarter" idx="4"/>
            <p:extLst>
              <p:ext uri="{D42A27DB-BD31-4B8C-83A1-F6EECF244321}">
                <p14:modId xmlns:p14="http://schemas.microsoft.com/office/powerpoint/2010/main" val="472220785"/>
              </p:ext>
            </p:extLst>
          </p:nvPr>
        </p:nvGraphicFramePr>
        <p:xfrm>
          <a:off x="9715500" y="1620838"/>
          <a:ext cx="6700838" cy="38417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内容占位符 6">
            <a:extLst>
              <a:ext uri="{FF2B5EF4-FFF2-40B4-BE49-F238E27FC236}">
                <a16:creationId xmlns:a16="http://schemas.microsoft.com/office/drawing/2014/main" id="{B828EE32-5B6E-4632-B410-D1474945E425}"/>
              </a:ext>
            </a:extLst>
          </p:cNvPr>
          <p:cNvGraphicFramePr>
            <a:graphicFrameLocks/>
          </p:cNvGraphicFramePr>
          <p:nvPr>
            <p:extLst>
              <p:ext uri="{D42A27DB-BD31-4B8C-83A1-F6EECF244321}">
                <p14:modId xmlns:p14="http://schemas.microsoft.com/office/powerpoint/2010/main" val="3532023860"/>
              </p:ext>
            </p:extLst>
          </p:nvPr>
        </p:nvGraphicFramePr>
        <p:xfrm>
          <a:off x="1219201" y="5755481"/>
          <a:ext cx="7277099" cy="2855120"/>
        </p:xfrm>
        <a:graphic>
          <a:graphicData uri="http://schemas.openxmlformats.org/drawingml/2006/table">
            <a:tbl>
              <a:tblPr firstRow="1">
                <a:tableStyleId>{5C22544A-7EE6-4342-B048-85BDC9FD1C3A}</a:tableStyleId>
              </a:tblPr>
              <a:tblGrid>
                <a:gridCol w="2760277">
                  <a:extLst>
                    <a:ext uri="{9D8B030D-6E8A-4147-A177-3AD203B41FA5}">
                      <a16:colId xmlns:a16="http://schemas.microsoft.com/office/drawing/2014/main" val="20000"/>
                    </a:ext>
                  </a:extLst>
                </a:gridCol>
                <a:gridCol w="2258411">
                  <a:extLst>
                    <a:ext uri="{9D8B030D-6E8A-4147-A177-3AD203B41FA5}">
                      <a16:colId xmlns:a16="http://schemas.microsoft.com/office/drawing/2014/main" val="20001"/>
                    </a:ext>
                  </a:extLst>
                </a:gridCol>
                <a:gridCol w="2258411">
                  <a:extLst>
                    <a:ext uri="{9D8B030D-6E8A-4147-A177-3AD203B41FA5}">
                      <a16:colId xmlns:a16="http://schemas.microsoft.com/office/drawing/2014/main" val="20002"/>
                    </a:ext>
                  </a:extLst>
                </a:gridCol>
              </a:tblGrid>
              <a:tr h="713780">
                <a:tc>
                  <a:txBody>
                    <a:bodyPr/>
                    <a:lstStyle/>
                    <a:p>
                      <a:pPr marL="0" algn="ctr" defTabSz="914400" rtl="0" eaLnBrk="1" fontAlgn="b" latinLnBrk="0" hangingPunct="1"/>
                      <a:r>
                        <a:rPr lang="zh-CN" altLang="en-US" sz="2000" b="1" kern="1200" dirty="0">
                          <a:solidFill>
                            <a:schemeClr val="lt1"/>
                          </a:solidFill>
                          <a:latin typeface="+mn-lt"/>
                          <a:ea typeface="+mn-ea"/>
                          <a:cs typeface="+mn-cs"/>
                        </a:rPr>
                        <a:t>通用业绩指标</a:t>
                      </a:r>
                    </a:p>
                  </a:txBody>
                  <a:tcPr marL="0" marR="0" marT="0" marB="0" anchor="ctr"/>
                </a:tc>
                <a:tc>
                  <a:txBody>
                    <a:bodyPr/>
                    <a:lstStyle/>
                    <a:p>
                      <a:pPr marL="0" algn="ctr" defTabSz="914400" rtl="0" eaLnBrk="1" fontAlgn="b" latinLnBrk="0" hangingPunct="1"/>
                      <a:r>
                        <a:rPr lang="zh-CN" altLang="en-US" sz="2000" b="1" kern="1200" dirty="0">
                          <a:solidFill>
                            <a:schemeClr val="lt1"/>
                          </a:solidFill>
                          <a:latin typeface="+mn-lt"/>
                          <a:ea typeface="+mn-ea"/>
                          <a:cs typeface="+mn-cs"/>
                        </a:rPr>
                        <a:t>国泰君安</a:t>
                      </a:r>
                    </a:p>
                  </a:txBody>
                  <a:tcPr marL="0" marR="0" marT="0" marB="0" anchor="ctr"/>
                </a:tc>
                <a:tc>
                  <a:txBody>
                    <a:bodyPr/>
                    <a:lstStyle/>
                    <a:p>
                      <a:pPr marL="0" algn="ctr" defTabSz="914400" rtl="0" eaLnBrk="1" fontAlgn="b" latinLnBrk="0" hangingPunct="1"/>
                      <a:r>
                        <a:rPr lang="zh-CN" altLang="en-US" sz="2000" kern="1200" dirty="0"/>
                        <a:t>华创</a:t>
                      </a:r>
                      <a:endParaRPr lang="zh-CN" altLang="en-US" sz="2000" kern="1200" dirty="0">
                        <a:solidFill>
                          <a:schemeClr val="dk1"/>
                        </a:solidFill>
                        <a:latin typeface="华文楷体" pitchFamily="2" charset="-122"/>
                        <a:ea typeface="华文楷体" pitchFamily="2" charset="-122"/>
                        <a:cs typeface="+mn-cs"/>
                      </a:endParaRPr>
                    </a:p>
                  </a:txBody>
                  <a:tcPr marL="0" marR="0" marT="0" marB="0" anchor="ctr"/>
                </a:tc>
                <a:extLst>
                  <a:ext uri="{0D108BD9-81ED-4DB2-BD59-A6C34878D82A}">
                    <a16:rowId xmlns:a16="http://schemas.microsoft.com/office/drawing/2014/main" val="10000"/>
                  </a:ext>
                </a:extLst>
              </a:tr>
              <a:tr h="713780">
                <a:tc>
                  <a:txBody>
                    <a:bodyPr/>
                    <a:lstStyle/>
                    <a:p>
                      <a:pPr marL="0" algn="ctr" defTabSz="914400" rtl="0" eaLnBrk="1" fontAlgn="b" latinLnBrk="0" hangingPunct="1"/>
                      <a:r>
                        <a:rPr lang="zh-CN" altLang="en-US" sz="2000" kern="1200" dirty="0"/>
                        <a:t>年化收益率</a:t>
                      </a:r>
                      <a:endParaRPr lang="zh-CN" altLang="en-US" sz="2000" kern="1200" dirty="0">
                        <a:solidFill>
                          <a:schemeClr val="dk1"/>
                        </a:solidFill>
                        <a:latin typeface="华文楷体" pitchFamily="2" charset="-122"/>
                        <a:ea typeface="华文楷体" pitchFamily="2" charset="-122"/>
                        <a:cs typeface="+mn-cs"/>
                      </a:endParaRPr>
                    </a:p>
                  </a:txBody>
                  <a:tcPr marL="0" marR="0" marT="0" marB="0" anchor="ctr"/>
                </a:tc>
                <a:tc>
                  <a:txBody>
                    <a:bodyPr/>
                    <a:lstStyle/>
                    <a:p>
                      <a:pPr marL="0" algn="ctr" defTabSz="914400" rtl="0" eaLnBrk="1" fontAlgn="b" latinLnBrk="0" hangingPunct="1"/>
                      <a:r>
                        <a:rPr lang="en-US" altLang="zh-CN" sz="2000" kern="1200" dirty="0"/>
                        <a:t>6.38%</a:t>
                      </a:r>
                      <a:endParaRPr lang="en-US" altLang="zh-CN" sz="2000" kern="1200" dirty="0">
                        <a:solidFill>
                          <a:schemeClr val="dk1"/>
                        </a:solidFill>
                        <a:latin typeface="华文楷体" pitchFamily="2" charset="-122"/>
                        <a:ea typeface="华文楷体" pitchFamily="2" charset="-122"/>
                        <a:cs typeface="+mn-cs"/>
                      </a:endParaRPr>
                    </a:p>
                  </a:txBody>
                  <a:tcPr marL="0" marR="0" marT="0" marB="0" anchor="ctr"/>
                </a:tc>
                <a:tc>
                  <a:txBody>
                    <a:bodyPr/>
                    <a:lstStyle/>
                    <a:p>
                      <a:pPr marL="0" algn="ctr" defTabSz="914400" rtl="0" eaLnBrk="1" fontAlgn="b" latinLnBrk="0" hangingPunct="1"/>
                      <a:r>
                        <a:rPr lang="en-US" altLang="zh-CN" sz="2000" kern="1200" dirty="0"/>
                        <a:t>0.63%</a:t>
                      </a:r>
                      <a:endParaRPr lang="en-US" altLang="zh-CN" sz="2000" kern="1200" dirty="0">
                        <a:solidFill>
                          <a:schemeClr val="dk1"/>
                        </a:solidFill>
                        <a:latin typeface="华文楷体" pitchFamily="2" charset="-122"/>
                        <a:ea typeface="华文楷体" pitchFamily="2" charset="-122"/>
                        <a:cs typeface="+mn-cs"/>
                      </a:endParaRPr>
                    </a:p>
                  </a:txBody>
                  <a:tcPr marL="0" marR="0" marT="0" marB="0" anchor="ctr"/>
                </a:tc>
                <a:extLst>
                  <a:ext uri="{0D108BD9-81ED-4DB2-BD59-A6C34878D82A}">
                    <a16:rowId xmlns:a16="http://schemas.microsoft.com/office/drawing/2014/main" val="10001"/>
                  </a:ext>
                </a:extLst>
              </a:tr>
              <a:tr h="713780">
                <a:tc>
                  <a:txBody>
                    <a:bodyPr/>
                    <a:lstStyle/>
                    <a:p>
                      <a:pPr marL="0" algn="ctr" defTabSz="914400" rtl="0" eaLnBrk="1" fontAlgn="b" latinLnBrk="0" hangingPunct="1"/>
                      <a:r>
                        <a:rPr lang="zh-CN" altLang="en-US" sz="2000" kern="1200"/>
                        <a:t>最大回撤率</a:t>
                      </a:r>
                      <a:endParaRPr lang="zh-CN" altLang="en-US" sz="2000" kern="1200">
                        <a:solidFill>
                          <a:schemeClr val="dk1"/>
                        </a:solidFill>
                        <a:latin typeface="华文楷体" pitchFamily="2" charset="-122"/>
                        <a:ea typeface="华文楷体" pitchFamily="2" charset="-122"/>
                        <a:cs typeface="+mn-cs"/>
                      </a:endParaRPr>
                    </a:p>
                  </a:txBody>
                  <a:tcPr marL="0" marR="0" marT="0" marB="0" anchor="ctr"/>
                </a:tc>
                <a:tc>
                  <a:txBody>
                    <a:bodyPr/>
                    <a:lstStyle/>
                    <a:p>
                      <a:pPr marL="0" algn="ctr" defTabSz="914400" rtl="0" eaLnBrk="1" fontAlgn="b" latinLnBrk="0" hangingPunct="1"/>
                      <a:r>
                        <a:rPr lang="en-US" altLang="zh-CN" sz="2000" kern="1200" dirty="0"/>
                        <a:t>-0.72%</a:t>
                      </a:r>
                      <a:endParaRPr lang="en-US" altLang="zh-CN" sz="2000" kern="1200" dirty="0">
                        <a:solidFill>
                          <a:schemeClr val="dk1"/>
                        </a:solidFill>
                        <a:latin typeface="华文楷体" pitchFamily="2" charset="-122"/>
                        <a:ea typeface="华文楷体" pitchFamily="2" charset="-122"/>
                        <a:cs typeface="+mn-cs"/>
                      </a:endParaRPr>
                    </a:p>
                  </a:txBody>
                  <a:tcPr marL="0" marR="0" marT="0" marB="0" anchor="ctr"/>
                </a:tc>
                <a:tc>
                  <a:txBody>
                    <a:bodyPr/>
                    <a:lstStyle/>
                    <a:p>
                      <a:pPr marL="0" algn="ctr" defTabSz="914400" rtl="0" eaLnBrk="1" fontAlgn="b" latinLnBrk="0" hangingPunct="1"/>
                      <a:r>
                        <a:rPr lang="en-US" altLang="zh-CN" sz="2000" kern="1200" dirty="0"/>
                        <a:t>-0.72%</a:t>
                      </a:r>
                      <a:endParaRPr lang="en-US" altLang="zh-CN" sz="2000" kern="1200" dirty="0">
                        <a:solidFill>
                          <a:schemeClr val="dk1"/>
                        </a:solidFill>
                        <a:latin typeface="华文楷体" pitchFamily="2" charset="-122"/>
                        <a:ea typeface="华文楷体" pitchFamily="2" charset="-122"/>
                        <a:cs typeface="+mn-cs"/>
                      </a:endParaRPr>
                    </a:p>
                  </a:txBody>
                  <a:tcPr marL="0" marR="0" marT="0" marB="0" anchor="ctr"/>
                </a:tc>
                <a:extLst>
                  <a:ext uri="{0D108BD9-81ED-4DB2-BD59-A6C34878D82A}">
                    <a16:rowId xmlns:a16="http://schemas.microsoft.com/office/drawing/2014/main" val="10002"/>
                  </a:ext>
                </a:extLst>
              </a:tr>
              <a:tr h="713780">
                <a:tc>
                  <a:txBody>
                    <a:bodyPr/>
                    <a:lstStyle/>
                    <a:p>
                      <a:pPr marL="0" algn="ctr" defTabSz="914400" rtl="0" eaLnBrk="1" fontAlgn="b" latinLnBrk="0" hangingPunct="1"/>
                      <a:r>
                        <a:rPr lang="zh-CN" altLang="en-US" sz="2000" kern="1200"/>
                        <a:t>夏普比率</a:t>
                      </a:r>
                      <a:endParaRPr lang="zh-CN" altLang="en-US" sz="2000" kern="1200">
                        <a:solidFill>
                          <a:schemeClr val="dk1"/>
                        </a:solidFill>
                        <a:latin typeface="华文楷体" pitchFamily="2" charset="-122"/>
                        <a:ea typeface="华文楷体" pitchFamily="2" charset="-122"/>
                        <a:cs typeface="+mn-cs"/>
                      </a:endParaRPr>
                    </a:p>
                  </a:txBody>
                  <a:tcPr marL="0" marR="0" marT="0" marB="0" anchor="ctr"/>
                </a:tc>
                <a:tc>
                  <a:txBody>
                    <a:bodyPr/>
                    <a:lstStyle/>
                    <a:p>
                      <a:pPr marL="0" algn="ctr" defTabSz="914400" rtl="0" eaLnBrk="1" fontAlgn="b" latinLnBrk="0" hangingPunct="1"/>
                      <a:r>
                        <a:rPr lang="en-US" altLang="zh-CN" sz="2000" kern="1200"/>
                        <a:t>0.5040</a:t>
                      </a:r>
                      <a:endParaRPr lang="en-US" altLang="zh-CN" sz="2000" kern="1200">
                        <a:solidFill>
                          <a:schemeClr val="dk1"/>
                        </a:solidFill>
                        <a:latin typeface="华文楷体" pitchFamily="2" charset="-122"/>
                        <a:ea typeface="华文楷体" pitchFamily="2" charset="-122"/>
                        <a:cs typeface="+mn-cs"/>
                      </a:endParaRPr>
                    </a:p>
                  </a:txBody>
                  <a:tcPr marL="0" marR="0" marT="0" marB="0" anchor="ctr"/>
                </a:tc>
                <a:tc>
                  <a:txBody>
                    <a:bodyPr/>
                    <a:lstStyle/>
                    <a:p>
                      <a:pPr marL="0" algn="ctr" defTabSz="914400" rtl="0" eaLnBrk="1" fontAlgn="b" latinLnBrk="0" hangingPunct="1"/>
                      <a:r>
                        <a:rPr lang="en-US" altLang="zh-CN" sz="2000" kern="1200" dirty="0"/>
                        <a:t>0.1924</a:t>
                      </a:r>
                      <a:endParaRPr lang="en-US" altLang="zh-CN" sz="2000" kern="1200" dirty="0">
                        <a:solidFill>
                          <a:schemeClr val="dk1"/>
                        </a:solidFill>
                        <a:latin typeface="华文楷体" pitchFamily="2" charset="-122"/>
                        <a:ea typeface="华文楷体" pitchFamily="2" charset="-122"/>
                        <a:cs typeface="+mn-cs"/>
                      </a:endParaRPr>
                    </a:p>
                  </a:txBody>
                  <a:tcPr marL="0" marR="0" marT="0" marB="0" anchor="ctr"/>
                </a:tc>
                <a:extLst>
                  <a:ext uri="{0D108BD9-81ED-4DB2-BD59-A6C34878D82A}">
                    <a16:rowId xmlns:a16="http://schemas.microsoft.com/office/drawing/2014/main" val="10003"/>
                  </a:ext>
                </a:extLst>
              </a:tr>
            </a:tbl>
          </a:graphicData>
        </a:graphic>
      </p:graphicFrame>
      <p:graphicFrame>
        <p:nvGraphicFramePr>
          <p:cNvPr id="31" name="内容占位符 30">
            <a:extLst>
              <a:ext uri="{FF2B5EF4-FFF2-40B4-BE49-F238E27FC236}">
                <a16:creationId xmlns:a16="http://schemas.microsoft.com/office/drawing/2014/main" id="{4EFFF9DE-2F86-47C1-8C75-643AE2060002}"/>
              </a:ext>
            </a:extLst>
          </p:cNvPr>
          <p:cNvGraphicFramePr>
            <a:graphicFrameLocks noGrp="1"/>
          </p:cNvGraphicFramePr>
          <p:nvPr>
            <p:ph sz="quarter" idx="10"/>
            <p:extLst>
              <p:ext uri="{D42A27DB-BD31-4B8C-83A1-F6EECF244321}">
                <p14:modId xmlns:p14="http://schemas.microsoft.com/office/powerpoint/2010/main" val="3007964948"/>
              </p:ext>
            </p:extLst>
          </p:nvPr>
        </p:nvGraphicFramePr>
        <p:xfrm>
          <a:off x="9715500" y="5567363"/>
          <a:ext cx="6700838" cy="38655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0730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9397906" y="1023304"/>
            <a:ext cx="6795214" cy="3342303"/>
            <a:chOff x="3379978" y="4031432"/>
            <a:chExt cx="2383983" cy="1295499"/>
          </a:xfrm>
        </p:grpSpPr>
        <p:pic>
          <p:nvPicPr>
            <p:cNvPr id="5" name="组合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5183" y="4709226"/>
              <a:ext cx="461888" cy="61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6" name="组合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7049" y="4745955"/>
              <a:ext cx="437958" cy="58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7" name="组合 1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25434" y="4887187"/>
              <a:ext cx="329771" cy="439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8" name="组合 20"/>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35896" y="4797152"/>
              <a:ext cx="399560" cy="52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pic>
          <p:nvPicPr>
            <p:cNvPr id="9" name="组合 2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24983" y="4777675"/>
              <a:ext cx="399560" cy="54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10" name="Freeform 59"/>
            <p:cNvSpPr>
              <a:spLocks/>
            </p:cNvSpPr>
            <p:nvPr/>
          </p:nvSpPr>
          <p:spPr bwMode="auto">
            <a:xfrm>
              <a:off x="3379978" y="4235913"/>
              <a:ext cx="511681" cy="561238"/>
            </a:xfrm>
            <a:custGeom>
              <a:avLst/>
              <a:gdLst>
                <a:gd name="T0" fmla="*/ 418 w 997"/>
                <a:gd name="T1" fmla="*/ 0 h 1006"/>
                <a:gd name="T2" fmla="*/ 23 w 997"/>
                <a:gd name="T3" fmla="*/ 383 h 1006"/>
                <a:gd name="T4" fmla="*/ 364 w 997"/>
                <a:gd name="T5" fmla="*/ 736 h 1006"/>
                <a:gd name="T6" fmla="*/ 715 w 997"/>
                <a:gd name="T7" fmla="*/ 1006 h 1006"/>
                <a:gd name="T8" fmla="*/ 629 w 997"/>
                <a:gd name="T9" fmla="*/ 741 h 1006"/>
                <a:gd name="T10" fmla="*/ 671 w 997"/>
                <a:gd name="T11" fmla="*/ 745 h 1006"/>
                <a:gd name="T12" fmla="*/ 939 w 997"/>
                <a:gd name="T13" fmla="*/ 453 h 1006"/>
                <a:gd name="T14" fmla="*/ 449 w 997"/>
                <a:gd name="T15" fmla="*/ 1 h 1006"/>
                <a:gd name="T16" fmla="*/ 418 w 997"/>
                <a:gd name="T17" fmla="*/ 0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7" h="1006">
                  <a:moveTo>
                    <a:pt x="418" y="0"/>
                  </a:moveTo>
                  <a:cubicBezTo>
                    <a:pt x="242" y="0"/>
                    <a:pt x="0" y="96"/>
                    <a:pt x="23" y="383"/>
                  </a:cubicBezTo>
                  <a:cubicBezTo>
                    <a:pt x="47" y="688"/>
                    <a:pt x="364" y="736"/>
                    <a:pt x="364" y="736"/>
                  </a:cubicBezTo>
                  <a:cubicBezTo>
                    <a:pt x="451" y="931"/>
                    <a:pt x="715" y="1006"/>
                    <a:pt x="715" y="1006"/>
                  </a:cubicBezTo>
                  <a:cubicBezTo>
                    <a:pt x="547" y="769"/>
                    <a:pt x="629" y="741"/>
                    <a:pt x="629" y="741"/>
                  </a:cubicBezTo>
                  <a:cubicBezTo>
                    <a:pt x="629" y="741"/>
                    <a:pt x="645" y="745"/>
                    <a:pt x="671" y="745"/>
                  </a:cubicBezTo>
                  <a:cubicBezTo>
                    <a:pt x="745" y="745"/>
                    <a:pt x="895" y="712"/>
                    <a:pt x="939" y="453"/>
                  </a:cubicBezTo>
                  <a:cubicBezTo>
                    <a:pt x="997" y="105"/>
                    <a:pt x="626" y="13"/>
                    <a:pt x="449" y="1"/>
                  </a:cubicBezTo>
                  <a:cubicBezTo>
                    <a:pt x="439" y="0"/>
                    <a:pt x="428" y="0"/>
                    <a:pt x="418" y="0"/>
                  </a:cubicBezTo>
                </a:path>
              </a:pathLst>
            </a:custGeom>
            <a:solidFill>
              <a:srgbClr val="354B5E"/>
            </a:solidFill>
            <a:ln>
              <a:noFill/>
            </a:ln>
            <a:extLst>
              <a:ext uri="{91240B29-F687-4F45-9708-019B960494DF}">
                <a14:hiddenLine xmlns:a14="http://schemas.microsoft.com/office/drawing/2010/main" w="9525">
                  <a:solidFill>
                    <a:srgbClr val="000000"/>
                  </a:solidFill>
                  <a:round/>
                  <a:headEnd/>
                  <a:tailEnd/>
                </a14:hiddenLine>
              </a:ext>
            </a:extLst>
          </p:spPr>
          <p:txBody>
            <a:bodyPr anchor="t"/>
            <a:lstStyle/>
            <a:p>
              <a:pPr algn="ctr"/>
              <a:r>
                <a:rPr lang="zh-CN" altLang="en-US" sz="2268" b="1" dirty="0">
                  <a:solidFill>
                    <a:schemeClr val="bg1"/>
                  </a:solidFill>
                  <a:latin typeface="微软雅黑" panose="020B0503020204020204" pitchFamily="34" charset="-122"/>
                  <a:ea typeface="微软雅黑" panose="020B0503020204020204" pitchFamily="34" charset="-122"/>
                </a:rPr>
                <a:t>内容</a:t>
              </a:r>
              <a:endParaRPr lang="en-US" altLang="zh-CN" sz="2268" b="1" dirty="0">
                <a:solidFill>
                  <a:schemeClr val="bg1"/>
                </a:solidFill>
                <a:latin typeface="微软雅黑" panose="020B0503020204020204" pitchFamily="34" charset="-122"/>
                <a:ea typeface="微软雅黑" panose="020B0503020204020204" pitchFamily="34" charset="-122"/>
              </a:endParaRPr>
            </a:p>
            <a:p>
              <a:pPr algn="ctr"/>
              <a:r>
                <a:rPr lang="zh-CN" altLang="en-US" sz="2268" b="1" dirty="0">
                  <a:solidFill>
                    <a:schemeClr val="bg1"/>
                  </a:solidFill>
                  <a:latin typeface="微软雅黑" panose="020B0503020204020204" pitchFamily="34" charset="-122"/>
                  <a:ea typeface="微软雅黑" panose="020B0503020204020204" pitchFamily="34" charset="-122"/>
                </a:rPr>
                <a:t>问答</a:t>
              </a:r>
            </a:p>
          </p:txBody>
        </p:sp>
        <p:sp>
          <p:nvSpPr>
            <p:cNvPr id="11" name="Freeform 60"/>
            <p:cNvSpPr>
              <a:spLocks/>
            </p:cNvSpPr>
            <p:nvPr/>
          </p:nvSpPr>
          <p:spPr bwMode="auto">
            <a:xfrm>
              <a:off x="4545858" y="4031432"/>
              <a:ext cx="679125" cy="638568"/>
            </a:xfrm>
            <a:custGeom>
              <a:avLst/>
              <a:gdLst>
                <a:gd name="T0" fmla="*/ 493 w 911"/>
                <a:gd name="T1" fmla="*/ 0 h 858"/>
                <a:gd name="T2" fmla="*/ 236 w 911"/>
                <a:gd name="T3" fmla="*/ 61 h 858"/>
                <a:gd name="T4" fmla="*/ 94 w 911"/>
                <a:gd name="T5" fmla="*/ 465 h 858"/>
                <a:gd name="T6" fmla="*/ 444 w 911"/>
                <a:gd name="T7" fmla="*/ 730 h 858"/>
                <a:gd name="T8" fmla="*/ 447 w 911"/>
                <a:gd name="T9" fmla="*/ 730 h 858"/>
                <a:gd name="T10" fmla="*/ 381 w 911"/>
                <a:gd name="T11" fmla="*/ 858 h 858"/>
                <a:gd name="T12" fmla="*/ 894 w 911"/>
                <a:gd name="T13" fmla="*/ 343 h 858"/>
                <a:gd name="T14" fmla="*/ 493 w 911"/>
                <a:gd name="T15" fmla="*/ 0 h 8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1" h="858">
                  <a:moveTo>
                    <a:pt x="493" y="0"/>
                  </a:moveTo>
                  <a:cubicBezTo>
                    <a:pt x="402" y="0"/>
                    <a:pt x="311" y="21"/>
                    <a:pt x="236" y="61"/>
                  </a:cubicBezTo>
                  <a:cubicBezTo>
                    <a:pt x="0" y="186"/>
                    <a:pt x="94" y="465"/>
                    <a:pt x="94" y="465"/>
                  </a:cubicBezTo>
                  <a:cubicBezTo>
                    <a:pt x="140" y="722"/>
                    <a:pt x="412" y="730"/>
                    <a:pt x="444" y="730"/>
                  </a:cubicBezTo>
                  <a:cubicBezTo>
                    <a:pt x="446" y="730"/>
                    <a:pt x="447" y="730"/>
                    <a:pt x="447" y="730"/>
                  </a:cubicBezTo>
                  <a:cubicBezTo>
                    <a:pt x="436" y="786"/>
                    <a:pt x="381" y="858"/>
                    <a:pt x="381" y="858"/>
                  </a:cubicBezTo>
                  <a:cubicBezTo>
                    <a:pt x="424" y="858"/>
                    <a:pt x="911" y="695"/>
                    <a:pt x="894" y="343"/>
                  </a:cubicBezTo>
                  <a:cubicBezTo>
                    <a:pt x="882" y="101"/>
                    <a:pt x="689" y="0"/>
                    <a:pt x="493" y="0"/>
                  </a:cubicBezTo>
                </a:path>
              </a:pathLst>
            </a:custGeom>
            <a:solidFill>
              <a:srgbClr val="354B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r>
                <a:rPr lang="zh-CN" altLang="en-US" sz="2268" b="1" dirty="0">
                  <a:solidFill>
                    <a:schemeClr val="bg1"/>
                  </a:solidFill>
                  <a:latin typeface="微软雅黑" panose="020B0503020204020204" pitchFamily="34" charset="-122"/>
                  <a:ea typeface="微软雅黑" panose="020B0503020204020204" pitchFamily="34" charset="-122"/>
                </a:rPr>
                <a:t>业务</a:t>
              </a:r>
              <a:endParaRPr lang="en-US" altLang="zh-CN" sz="2268" b="1" dirty="0">
                <a:solidFill>
                  <a:schemeClr val="bg1"/>
                </a:solidFill>
                <a:latin typeface="微软雅黑" panose="020B0503020204020204" pitchFamily="34" charset="-122"/>
                <a:ea typeface="微软雅黑" panose="020B0503020204020204" pitchFamily="34" charset="-122"/>
              </a:endParaRPr>
            </a:p>
            <a:p>
              <a:pPr algn="ctr"/>
              <a:r>
                <a:rPr lang="zh-CN" altLang="en-US" sz="2268" b="1" dirty="0">
                  <a:solidFill>
                    <a:schemeClr val="bg1"/>
                  </a:solidFill>
                  <a:latin typeface="微软雅黑" panose="020B0503020204020204" pitchFamily="34" charset="-122"/>
                  <a:ea typeface="微软雅黑" panose="020B0503020204020204" pitchFamily="34" charset="-122"/>
                </a:rPr>
                <a:t>沟通</a:t>
              </a:r>
            </a:p>
          </p:txBody>
        </p:sp>
        <p:sp>
          <p:nvSpPr>
            <p:cNvPr id="12" name="Freeform 61"/>
            <p:cNvSpPr>
              <a:spLocks/>
            </p:cNvSpPr>
            <p:nvPr/>
          </p:nvSpPr>
          <p:spPr bwMode="auto">
            <a:xfrm>
              <a:off x="5214289" y="4237838"/>
              <a:ext cx="549672" cy="510775"/>
            </a:xfrm>
            <a:custGeom>
              <a:avLst/>
              <a:gdLst>
                <a:gd name="T0" fmla="*/ 733 w 1195"/>
                <a:gd name="T1" fmla="*/ 0 h 1110"/>
                <a:gd name="T2" fmla="*/ 645 w 1195"/>
                <a:gd name="T3" fmla="*/ 6 h 1110"/>
                <a:gd name="T4" fmla="*/ 105 w 1195"/>
                <a:gd name="T5" fmla="*/ 595 h 1110"/>
                <a:gd name="T6" fmla="*/ 429 w 1195"/>
                <a:gd name="T7" fmla="*/ 919 h 1110"/>
                <a:gd name="T8" fmla="*/ 504 w 1195"/>
                <a:gd name="T9" fmla="*/ 909 h 1110"/>
                <a:gd name="T10" fmla="*/ 506 w 1195"/>
                <a:gd name="T11" fmla="*/ 909 h 1110"/>
                <a:gd name="T12" fmla="*/ 559 w 1195"/>
                <a:gd name="T13" fmla="*/ 1110 h 1110"/>
                <a:gd name="T14" fmla="*/ 772 w 1195"/>
                <a:gd name="T15" fmla="*/ 882 h 1110"/>
                <a:gd name="T16" fmla="*/ 1193 w 1195"/>
                <a:gd name="T17" fmla="*/ 421 h 1110"/>
                <a:gd name="T18" fmla="*/ 733 w 1195"/>
                <a:gd name="T19" fmla="*/ 0 h 1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95" h="1110">
                  <a:moveTo>
                    <a:pt x="733" y="0"/>
                  </a:moveTo>
                  <a:cubicBezTo>
                    <a:pt x="702" y="0"/>
                    <a:pt x="673" y="2"/>
                    <a:pt x="645" y="6"/>
                  </a:cubicBezTo>
                  <a:cubicBezTo>
                    <a:pt x="435" y="38"/>
                    <a:pt x="0" y="185"/>
                    <a:pt x="105" y="595"/>
                  </a:cubicBezTo>
                  <a:cubicBezTo>
                    <a:pt x="176" y="875"/>
                    <a:pt x="335" y="919"/>
                    <a:pt x="429" y="919"/>
                  </a:cubicBezTo>
                  <a:cubicBezTo>
                    <a:pt x="474" y="919"/>
                    <a:pt x="504" y="909"/>
                    <a:pt x="504" y="909"/>
                  </a:cubicBezTo>
                  <a:cubicBezTo>
                    <a:pt x="504" y="909"/>
                    <a:pt x="505" y="909"/>
                    <a:pt x="506" y="909"/>
                  </a:cubicBezTo>
                  <a:cubicBezTo>
                    <a:pt x="522" y="909"/>
                    <a:pt x="613" y="917"/>
                    <a:pt x="559" y="1110"/>
                  </a:cubicBezTo>
                  <a:cubicBezTo>
                    <a:pt x="559" y="1110"/>
                    <a:pt x="768" y="988"/>
                    <a:pt x="772" y="882"/>
                  </a:cubicBezTo>
                  <a:cubicBezTo>
                    <a:pt x="772" y="882"/>
                    <a:pt x="1195" y="787"/>
                    <a:pt x="1193" y="421"/>
                  </a:cubicBezTo>
                  <a:cubicBezTo>
                    <a:pt x="1192" y="102"/>
                    <a:pt x="937" y="0"/>
                    <a:pt x="733" y="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t"/>
            <a:lstStyle/>
            <a:p>
              <a:pPr algn="ctr"/>
              <a:r>
                <a:rPr lang="zh-CN" altLang="en-US" sz="2268" b="1" dirty="0">
                  <a:solidFill>
                    <a:schemeClr val="bg1"/>
                  </a:solidFill>
                  <a:latin typeface="微软雅黑" panose="020B0503020204020204" pitchFamily="34" charset="-122"/>
                  <a:ea typeface="微软雅黑" panose="020B0503020204020204" pitchFamily="34" charset="-122"/>
                </a:rPr>
                <a:t>技术</a:t>
              </a:r>
              <a:endParaRPr lang="en-US" altLang="zh-CN" sz="2268" b="1" dirty="0">
                <a:solidFill>
                  <a:schemeClr val="bg1"/>
                </a:solidFill>
                <a:latin typeface="微软雅黑" panose="020B0503020204020204" pitchFamily="34" charset="-122"/>
                <a:ea typeface="微软雅黑" panose="020B0503020204020204" pitchFamily="34" charset="-122"/>
              </a:endParaRPr>
            </a:p>
            <a:p>
              <a:pPr algn="ctr"/>
              <a:r>
                <a:rPr lang="zh-CN" altLang="en-US" sz="2268" b="1" dirty="0">
                  <a:solidFill>
                    <a:schemeClr val="bg1"/>
                  </a:solidFill>
                  <a:latin typeface="微软雅黑" panose="020B0503020204020204" pitchFamily="34" charset="-122"/>
                  <a:ea typeface="微软雅黑" panose="020B0503020204020204" pitchFamily="34" charset="-122"/>
                </a:rPr>
                <a:t>探讨</a:t>
              </a:r>
              <a:endParaRPr lang="en-US" altLang="zh-CN" sz="2268" b="1" dirty="0">
                <a:solidFill>
                  <a:schemeClr val="bg1"/>
                </a:solidFill>
                <a:latin typeface="微软雅黑" panose="020B0503020204020204" pitchFamily="34" charset="-122"/>
                <a:ea typeface="微软雅黑" panose="020B0503020204020204" pitchFamily="34" charset="-122"/>
              </a:endParaRPr>
            </a:p>
          </p:txBody>
        </p:sp>
        <p:sp>
          <p:nvSpPr>
            <p:cNvPr id="13" name="Freeform 62"/>
            <p:cNvSpPr>
              <a:spLocks/>
            </p:cNvSpPr>
            <p:nvPr/>
          </p:nvSpPr>
          <p:spPr bwMode="auto">
            <a:xfrm>
              <a:off x="3925830" y="4156880"/>
              <a:ext cx="769383" cy="624254"/>
            </a:xfrm>
            <a:custGeom>
              <a:avLst/>
              <a:gdLst>
                <a:gd name="T0" fmla="*/ 453 w 1313"/>
                <a:gd name="T1" fmla="*/ 0 h 1064"/>
                <a:gd name="T2" fmla="*/ 32 w 1313"/>
                <a:gd name="T3" fmla="*/ 351 h 1064"/>
                <a:gd name="T4" fmla="*/ 188 w 1313"/>
                <a:gd name="T5" fmla="*/ 754 h 1064"/>
                <a:gd name="T6" fmla="*/ 771 w 1313"/>
                <a:gd name="T7" fmla="*/ 1064 h 1064"/>
                <a:gd name="T8" fmla="*/ 708 w 1313"/>
                <a:gd name="T9" fmla="*/ 914 h 1064"/>
                <a:gd name="T10" fmla="*/ 816 w 1313"/>
                <a:gd name="T11" fmla="*/ 97 h 1064"/>
                <a:gd name="T12" fmla="*/ 453 w 1313"/>
                <a:gd name="T13" fmla="*/ 0 h 1064"/>
              </a:gdLst>
              <a:ahLst/>
              <a:cxnLst>
                <a:cxn ang="0">
                  <a:pos x="T0" y="T1"/>
                </a:cxn>
                <a:cxn ang="0">
                  <a:pos x="T2" y="T3"/>
                </a:cxn>
                <a:cxn ang="0">
                  <a:pos x="T4" y="T5"/>
                </a:cxn>
                <a:cxn ang="0">
                  <a:pos x="T6" y="T7"/>
                </a:cxn>
                <a:cxn ang="0">
                  <a:pos x="T8" y="T9"/>
                </a:cxn>
                <a:cxn ang="0">
                  <a:pos x="T10" y="T11"/>
                </a:cxn>
                <a:cxn ang="0">
                  <a:pos x="T12" y="T13"/>
                </a:cxn>
              </a:cxnLst>
              <a:rect l="0" t="0" r="r" b="b"/>
              <a:pathLst>
                <a:path w="1313" h="1064">
                  <a:moveTo>
                    <a:pt x="453" y="0"/>
                  </a:moveTo>
                  <a:cubicBezTo>
                    <a:pt x="193" y="0"/>
                    <a:pt x="54" y="185"/>
                    <a:pt x="32" y="351"/>
                  </a:cubicBezTo>
                  <a:cubicBezTo>
                    <a:pt x="0" y="582"/>
                    <a:pt x="188" y="754"/>
                    <a:pt x="188" y="754"/>
                  </a:cubicBezTo>
                  <a:cubicBezTo>
                    <a:pt x="430" y="1029"/>
                    <a:pt x="771" y="1064"/>
                    <a:pt x="771" y="1064"/>
                  </a:cubicBezTo>
                  <a:cubicBezTo>
                    <a:pt x="708" y="1018"/>
                    <a:pt x="708" y="914"/>
                    <a:pt x="708" y="914"/>
                  </a:cubicBezTo>
                  <a:cubicBezTo>
                    <a:pt x="1077" y="876"/>
                    <a:pt x="1313" y="340"/>
                    <a:pt x="816" y="97"/>
                  </a:cubicBezTo>
                  <a:cubicBezTo>
                    <a:pt x="676" y="29"/>
                    <a:pt x="555" y="0"/>
                    <a:pt x="453" y="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r>
                <a:rPr lang="zh-CN" altLang="en-US" sz="2268" b="1" dirty="0">
                  <a:solidFill>
                    <a:schemeClr val="bg1"/>
                  </a:solidFill>
                  <a:latin typeface="微软雅黑" panose="020B0503020204020204" pitchFamily="34" charset="-122"/>
                  <a:ea typeface="微软雅黑" panose="020B0503020204020204" pitchFamily="34" charset="-122"/>
                </a:rPr>
                <a:t>观点</a:t>
              </a:r>
              <a:endParaRPr lang="en-US" altLang="zh-CN" sz="2268" b="1" dirty="0">
                <a:solidFill>
                  <a:schemeClr val="bg1"/>
                </a:solidFill>
                <a:latin typeface="微软雅黑" panose="020B0503020204020204" pitchFamily="34" charset="-122"/>
                <a:ea typeface="微软雅黑" panose="020B0503020204020204" pitchFamily="34" charset="-122"/>
              </a:endParaRPr>
            </a:p>
            <a:p>
              <a:pPr algn="ctr"/>
              <a:r>
                <a:rPr lang="zh-CN" altLang="en-US" sz="2268" b="1" dirty="0">
                  <a:solidFill>
                    <a:schemeClr val="bg1"/>
                  </a:solidFill>
                  <a:latin typeface="微软雅黑" panose="020B0503020204020204" pitchFamily="34" charset="-122"/>
                  <a:ea typeface="微软雅黑" panose="020B0503020204020204" pitchFamily="34" charset="-122"/>
                </a:rPr>
                <a:t>交流</a:t>
              </a:r>
            </a:p>
          </p:txBody>
        </p:sp>
      </p:grpSp>
      <p:sp>
        <p:nvSpPr>
          <p:cNvPr id="3" name="标题 2">
            <a:extLst>
              <a:ext uri="{FF2B5EF4-FFF2-40B4-BE49-F238E27FC236}">
                <a16:creationId xmlns:a16="http://schemas.microsoft.com/office/drawing/2014/main" id="{C89F7814-AB3A-42F7-8D35-D3C448A30926}"/>
              </a:ext>
            </a:extLst>
          </p:cNvPr>
          <p:cNvSpPr>
            <a:spLocks noGrp="1"/>
          </p:cNvSpPr>
          <p:nvPr>
            <p:ph type="ctrTitle"/>
          </p:nvPr>
        </p:nvSpPr>
        <p:spPr/>
        <p:txBody>
          <a:bodyPr>
            <a:normAutofit/>
          </a:bodyPr>
          <a:lstStyle/>
          <a:p>
            <a:r>
              <a:rPr lang="zh-CN" altLang="en-US" dirty="0">
                <a:solidFill>
                  <a:schemeClr val="tx1">
                    <a:lumMod val="65000"/>
                    <a:lumOff val="35000"/>
                  </a:schemeClr>
                </a:solidFill>
              </a:rPr>
              <a:t>感谢聆听！</a:t>
            </a:r>
          </a:p>
        </p:txBody>
      </p:sp>
    </p:spTree>
    <p:extLst>
      <p:ext uri="{BB962C8B-B14F-4D97-AF65-F5344CB8AC3E}">
        <p14:creationId xmlns:p14="http://schemas.microsoft.com/office/powerpoint/2010/main" val="31986358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THEME" val="9c5cb8d0-5353-41d0-b7da-fa70b1597a98"/>
  <p:tag name="ISLIDE.GUIDESSETTING" val="{&quot;Id&quot;:&quot;GuidesStyle_Wide&quot;,&quot;Name&quot;:&quot;宽&quot;,&quot;HeaderHeight&quot;:15.0,&quot;FooterHeight&quot;:9.0,&quot;SideMargin&quot;:5.5,&quot;TopMargin&quot;:0.0,&quot;BottomMargin&quot;:0.0,&quot;IntervalMargin&quot;:2.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主题5">
  <a:themeElements>
    <a:clrScheme name="自定义 21">
      <a:dk1>
        <a:srgbClr val="000000"/>
      </a:dk1>
      <a:lt1>
        <a:srgbClr val="FFFFFF"/>
      </a:lt1>
      <a:dk2>
        <a:srgbClr val="778495"/>
      </a:dk2>
      <a:lt2>
        <a:srgbClr val="F0F0F0"/>
      </a:lt2>
      <a:accent1>
        <a:srgbClr val="FF8A65"/>
      </a:accent1>
      <a:accent2>
        <a:srgbClr val="FF7043"/>
      </a:accent2>
      <a:accent3>
        <a:srgbClr val="56687C"/>
      </a:accent3>
      <a:accent4>
        <a:srgbClr val="44546A"/>
      </a:accent4>
      <a:accent5>
        <a:srgbClr val="FF7043"/>
      </a:accent5>
      <a:accent6>
        <a:srgbClr val="FF8A65"/>
      </a:accent6>
      <a:hlink>
        <a:srgbClr val="FF8A65"/>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20972</TotalTime>
  <Words>1387</Words>
  <Application>Microsoft Office PowerPoint</Application>
  <PresentationFormat>自定义</PresentationFormat>
  <Paragraphs>288</Paragraphs>
  <Slides>23</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23</vt:i4>
      </vt:variant>
    </vt:vector>
  </HeadingPairs>
  <TitlesOfParts>
    <vt:vector size="36" baseType="lpstr">
      <vt:lpstr>等线</vt:lpstr>
      <vt:lpstr>华文楷体</vt:lpstr>
      <vt:lpstr>微软雅黑</vt:lpstr>
      <vt:lpstr>Arial</vt:lpstr>
      <vt:lpstr>Cambria Math</vt:lpstr>
      <vt:lpstr>Impact</vt:lpstr>
      <vt:lpstr>Segoe UI</vt:lpstr>
      <vt:lpstr>Times New Roman</vt:lpstr>
      <vt:lpstr>Wingdings</vt:lpstr>
      <vt:lpstr>主题5</vt:lpstr>
      <vt:lpstr>think-cell Slide</vt:lpstr>
      <vt:lpstr>Equation</vt:lpstr>
      <vt:lpstr>公式</vt:lpstr>
      <vt:lpstr>业绩归因</vt:lpstr>
      <vt:lpstr>（一）投资业绩</vt:lpstr>
      <vt:lpstr>市场背景</vt:lpstr>
      <vt:lpstr>投资业绩的概念</vt:lpstr>
      <vt:lpstr>PowerPoint 演示文稿</vt:lpstr>
      <vt:lpstr>投资收益的来源</vt:lpstr>
      <vt:lpstr>（二）方法介绍</vt:lpstr>
      <vt:lpstr>收益来源的分解</vt:lpstr>
      <vt:lpstr>数学过程</vt:lpstr>
      <vt:lpstr>计算步骤</vt:lpstr>
      <vt:lpstr>应用场景</vt:lpstr>
      <vt:lpstr>通用业绩指标</vt:lpstr>
      <vt:lpstr>业绩报告的主要内容</vt:lpstr>
      <vt:lpstr>（三）个券业绩</vt:lpstr>
      <vt:lpstr>交易流水</vt:lpstr>
      <vt:lpstr>收益分解</vt:lpstr>
      <vt:lpstr>净值曲线和业绩跟踪（与1-3年期指数比较）</vt:lpstr>
      <vt:lpstr>择时评价</vt:lpstr>
      <vt:lpstr>个券评价</vt:lpstr>
      <vt:lpstr>业绩分析汇总</vt:lpstr>
      <vt:lpstr>（四）投研策略业绩</vt:lpstr>
      <vt:lpstr>根据业绩评价投研能力</vt:lpstr>
      <vt:lpstr>感谢聆听！</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Q Q</cp:lastModifiedBy>
  <cp:revision>688</cp:revision>
  <cp:lastPrinted>2017-08-08T16:00:00Z</cp:lastPrinted>
  <dcterms:created xsi:type="dcterms:W3CDTF">2017-08-08T16:00:00Z</dcterms:created>
  <dcterms:modified xsi:type="dcterms:W3CDTF">2018-03-16T11:01:07Z</dcterms:modified>
  <cp:category>work report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9c5cb8d0-5353-41d0-b7da-fa70b1597a98</vt:lpwstr>
  </property>
</Properties>
</file>