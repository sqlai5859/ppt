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1"/>
  </p:notesMasterIdLst>
  <p:sldIdLst>
    <p:sldId id="428" r:id="rId2"/>
    <p:sldId id="656" r:id="rId3"/>
    <p:sldId id="657" r:id="rId4"/>
    <p:sldId id="658" r:id="rId5"/>
    <p:sldId id="659" r:id="rId6"/>
    <p:sldId id="592" r:id="rId7"/>
    <p:sldId id="429" r:id="rId8"/>
    <p:sldId id="460" r:id="rId9"/>
    <p:sldId id="461" r:id="rId10"/>
    <p:sldId id="560" r:id="rId11"/>
    <p:sldId id="462" r:id="rId12"/>
    <p:sldId id="573" r:id="rId13"/>
    <p:sldId id="574" r:id="rId14"/>
    <p:sldId id="464" r:id="rId15"/>
    <p:sldId id="463" r:id="rId16"/>
    <p:sldId id="465" r:id="rId17"/>
    <p:sldId id="466" r:id="rId18"/>
    <p:sldId id="467" r:id="rId19"/>
    <p:sldId id="468" r:id="rId20"/>
    <p:sldId id="561" r:id="rId21"/>
    <p:sldId id="469" r:id="rId22"/>
    <p:sldId id="471" r:id="rId23"/>
    <p:sldId id="470" r:id="rId24"/>
    <p:sldId id="472" r:id="rId25"/>
    <p:sldId id="474" r:id="rId26"/>
    <p:sldId id="475" r:id="rId27"/>
    <p:sldId id="473" r:id="rId28"/>
    <p:sldId id="477" r:id="rId29"/>
    <p:sldId id="478" r:id="rId30"/>
    <p:sldId id="290" r:id="rId31"/>
    <p:sldId id="1599" r:id="rId32"/>
    <p:sldId id="479" r:id="rId33"/>
    <p:sldId id="291" r:id="rId34"/>
    <p:sldId id="293" r:id="rId35"/>
    <p:sldId id="484" r:id="rId36"/>
    <p:sldId id="562" r:id="rId37"/>
    <p:sldId id="481" r:id="rId38"/>
    <p:sldId id="482" r:id="rId39"/>
    <p:sldId id="483" r:id="rId40"/>
    <p:sldId id="485" r:id="rId41"/>
    <p:sldId id="486" r:id="rId42"/>
    <p:sldId id="489" r:id="rId43"/>
    <p:sldId id="563" r:id="rId44"/>
    <p:sldId id="564" r:id="rId45"/>
    <p:sldId id="487" r:id="rId46"/>
    <p:sldId id="490" r:id="rId47"/>
    <p:sldId id="499" r:id="rId48"/>
    <p:sldId id="500" r:id="rId49"/>
    <p:sldId id="491" r:id="rId50"/>
    <p:sldId id="492" r:id="rId51"/>
    <p:sldId id="493" r:id="rId52"/>
    <p:sldId id="501" r:id="rId53"/>
    <p:sldId id="494" r:id="rId54"/>
    <p:sldId id="541" r:id="rId55"/>
    <p:sldId id="575" r:id="rId56"/>
    <p:sldId id="543" r:id="rId57"/>
    <p:sldId id="495" r:id="rId58"/>
    <p:sldId id="497" r:id="rId59"/>
    <p:sldId id="508" r:id="rId60"/>
    <p:sldId id="565" r:id="rId61"/>
    <p:sldId id="677" r:id="rId62"/>
    <p:sldId id="498" r:id="rId63"/>
    <p:sldId id="509" r:id="rId64"/>
    <p:sldId id="671" r:id="rId65"/>
    <p:sldId id="672" r:id="rId66"/>
    <p:sldId id="673" r:id="rId67"/>
    <p:sldId id="674" r:id="rId68"/>
    <p:sldId id="675" r:id="rId69"/>
    <p:sldId id="676" r:id="rId70"/>
    <p:sldId id="514" r:id="rId71"/>
    <p:sldId id="646" r:id="rId72"/>
    <p:sldId id="527" r:id="rId73"/>
    <p:sldId id="524" r:id="rId74"/>
    <p:sldId id="531" r:id="rId75"/>
    <p:sldId id="569" r:id="rId76"/>
    <p:sldId id="538" r:id="rId77"/>
    <p:sldId id="533" r:id="rId78"/>
    <p:sldId id="701" r:id="rId79"/>
    <p:sldId id="707" r:id="rId80"/>
    <p:sldId id="706" r:id="rId81"/>
    <p:sldId id="704" r:id="rId82"/>
    <p:sldId id="695" r:id="rId83"/>
    <p:sldId id="1386" r:id="rId84"/>
    <p:sldId id="1686" r:id="rId85"/>
    <p:sldId id="1687" r:id="rId86"/>
    <p:sldId id="1688" r:id="rId87"/>
    <p:sldId id="1689" r:id="rId88"/>
    <p:sldId id="1690" r:id="rId89"/>
    <p:sldId id="1691" r:id="rId90"/>
    <p:sldId id="718" r:id="rId91"/>
    <p:sldId id="722" r:id="rId92"/>
    <p:sldId id="723" r:id="rId93"/>
    <p:sldId id="724" r:id="rId94"/>
    <p:sldId id="708" r:id="rId95"/>
    <p:sldId id="624" r:id="rId96"/>
    <p:sldId id="1682" r:id="rId97"/>
    <p:sldId id="631" r:id="rId98"/>
    <p:sldId id="632" r:id="rId99"/>
    <p:sldId id="634" r:id="rId100"/>
    <p:sldId id="635" r:id="rId101"/>
    <p:sldId id="636" r:id="rId102"/>
    <p:sldId id="637" r:id="rId103"/>
    <p:sldId id="678" r:id="rId104"/>
    <p:sldId id="640" r:id="rId105"/>
    <p:sldId id="641" r:id="rId106"/>
    <p:sldId id="652" r:id="rId107"/>
    <p:sldId id="647" r:id="rId108"/>
    <p:sldId id="643" r:id="rId109"/>
    <p:sldId id="642" r:id="rId110"/>
    <p:sldId id="694" r:id="rId111"/>
    <p:sldId id="689" r:id="rId112"/>
    <p:sldId id="690" r:id="rId113"/>
    <p:sldId id="691" r:id="rId114"/>
    <p:sldId id="692" r:id="rId115"/>
    <p:sldId id="693" r:id="rId116"/>
    <p:sldId id="644" r:id="rId117"/>
    <p:sldId id="645" r:id="rId118"/>
    <p:sldId id="679" r:id="rId119"/>
    <p:sldId id="680" r:id="rId120"/>
  </p:sldIdLst>
  <p:sldSz cx="17279938" cy="9720263"/>
  <p:notesSz cx="9263063" cy="16822738"/>
  <p:custDataLst>
    <p:tags r:id="rId122"/>
  </p:custDataLst>
  <p:defaultTex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D317274D-FF44-400D-AACF-5A3A7C195636}">
          <p14:sldIdLst>
            <p14:sldId id="428"/>
            <p14:sldId id="656"/>
            <p14:sldId id="657"/>
            <p14:sldId id="658"/>
            <p14:sldId id="659"/>
            <p14:sldId id="592"/>
            <p14:sldId id="429"/>
            <p14:sldId id="460"/>
            <p14:sldId id="461"/>
            <p14:sldId id="560"/>
            <p14:sldId id="462"/>
            <p14:sldId id="573"/>
            <p14:sldId id="574"/>
            <p14:sldId id="464"/>
            <p14:sldId id="463"/>
            <p14:sldId id="465"/>
            <p14:sldId id="466"/>
            <p14:sldId id="467"/>
            <p14:sldId id="468"/>
            <p14:sldId id="561"/>
            <p14:sldId id="469"/>
            <p14:sldId id="471"/>
            <p14:sldId id="470"/>
            <p14:sldId id="472"/>
            <p14:sldId id="474"/>
            <p14:sldId id="475"/>
            <p14:sldId id="473"/>
            <p14:sldId id="477"/>
            <p14:sldId id="478"/>
            <p14:sldId id="290"/>
            <p14:sldId id="1599"/>
            <p14:sldId id="479"/>
            <p14:sldId id="291"/>
            <p14:sldId id="293"/>
            <p14:sldId id="484"/>
            <p14:sldId id="562"/>
            <p14:sldId id="481"/>
            <p14:sldId id="482"/>
            <p14:sldId id="483"/>
            <p14:sldId id="485"/>
            <p14:sldId id="486"/>
            <p14:sldId id="489"/>
            <p14:sldId id="563"/>
            <p14:sldId id="564"/>
            <p14:sldId id="487"/>
            <p14:sldId id="490"/>
            <p14:sldId id="499"/>
            <p14:sldId id="500"/>
            <p14:sldId id="491"/>
            <p14:sldId id="492"/>
            <p14:sldId id="493"/>
            <p14:sldId id="501"/>
            <p14:sldId id="494"/>
            <p14:sldId id="541"/>
            <p14:sldId id="575"/>
            <p14:sldId id="543"/>
            <p14:sldId id="495"/>
            <p14:sldId id="497"/>
            <p14:sldId id="508"/>
            <p14:sldId id="565"/>
            <p14:sldId id="677"/>
            <p14:sldId id="498"/>
            <p14:sldId id="509"/>
            <p14:sldId id="671"/>
            <p14:sldId id="672"/>
            <p14:sldId id="673"/>
            <p14:sldId id="674"/>
            <p14:sldId id="675"/>
            <p14:sldId id="676"/>
            <p14:sldId id="514"/>
            <p14:sldId id="646"/>
            <p14:sldId id="527"/>
            <p14:sldId id="524"/>
            <p14:sldId id="531"/>
            <p14:sldId id="569"/>
            <p14:sldId id="538"/>
            <p14:sldId id="533"/>
            <p14:sldId id="701"/>
            <p14:sldId id="707"/>
            <p14:sldId id="706"/>
            <p14:sldId id="704"/>
            <p14:sldId id="695"/>
            <p14:sldId id="1386"/>
            <p14:sldId id="1686"/>
            <p14:sldId id="1687"/>
            <p14:sldId id="1688"/>
            <p14:sldId id="1689"/>
            <p14:sldId id="1690"/>
            <p14:sldId id="1691"/>
            <p14:sldId id="718"/>
            <p14:sldId id="722"/>
            <p14:sldId id="723"/>
            <p14:sldId id="724"/>
            <p14:sldId id="708"/>
            <p14:sldId id="624"/>
            <p14:sldId id="1682"/>
            <p14:sldId id="631"/>
            <p14:sldId id="632"/>
            <p14:sldId id="634"/>
            <p14:sldId id="635"/>
            <p14:sldId id="636"/>
            <p14:sldId id="637"/>
            <p14:sldId id="678"/>
            <p14:sldId id="640"/>
            <p14:sldId id="641"/>
            <p14:sldId id="652"/>
            <p14:sldId id="647"/>
            <p14:sldId id="643"/>
            <p14:sldId id="642"/>
            <p14:sldId id="694"/>
            <p14:sldId id="689"/>
            <p14:sldId id="690"/>
            <p14:sldId id="691"/>
            <p14:sldId id="692"/>
            <p14:sldId id="693"/>
            <p14:sldId id="644"/>
            <p14:sldId id="645"/>
            <p14:sldId id="679"/>
            <p14:sldId id="6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FF8A65"/>
    <a:srgbClr val="EAECEF"/>
    <a:srgbClr val="FFFFCC"/>
    <a:srgbClr val="FF9966"/>
    <a:srgbClr val="FFE8E0"/>
    <a:srgbClr val="009900"/>
    <a:srgbClr val="92D050"/>
    <a:srgbClr val="7F7F7F"/>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07" autoAdjust="0"/>
    <p:restoredTop sz="94219" autoAdjust="0"/>
  </p:normalViewPr>
  <p:slideViewPr>
    <p:cSldViewPr snapToGrid="0">
      <p:cViewPr>
        <p:scale>
          <a:sx n="66" d="100"/>
          <a:sy n="66" d="100"/>
        </p:scale>
        <p:origin x="536" y="80"/>
      </p:cViewPr>
      <p:guideLst/>
    </p:cSldViewPr>
  </p:slideViewPr>
  <p:notesTextViewPr>
    <p:cViewPr>
      <p:scale>
        <a:sx n="1" d="1"/>
        <a:sy n="1" d="1"/>
      </p:scale>
      <p:origin x="0" y="0"/>
    </p:cViewPr>
  </p:notesTextViewPr>
  <p:sorterViewPr>
    <p:cViewPr>
      <p:scale>
        <a:sx n="66" d="100"/>
        <a:sy n="66" d="100"/>
      </p:scale>
      <p:origin x="0" y="-3432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diagrams/_rels/data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image" Target="../media/image10.png"/></Relationships>
</file>

<file path=ppt/diagrams/_rels/drawing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8C4E27-7F6D-49FB-9B2E-CB525B010D8F}" type="doc">
      <dgm:prSet loTypeId="urn:microsoft.com/office/officeart/2005/8/layout/radial5" loCatId="cycle" qsTypeId="urn:microsoft.com/office/officeart/2005/8/quickstyle/simple5" qsCatId="simple" csTypeId="urn:microsoft.com/office/officeart/2005/8/colors/colorful2" csCatId="colorful" phldr="1"/>
      <dgm:spPr/>
      <dgm:t>
        <a:bodyPr/>
        <a:lstStyle/>
        <a:p>
          <a:endParaRPr lang="zh-CN" altLang="en-US"/>
        </a:p>
      </dgm:t>
    </dgm:pt>
    <dgm:pt modelId="{7779934A-DEDE-4C05-9E45-241777273EB3}">
      <dgm:prSet phldrT="[文本]" custT="1"/>
      <dgm:spPr/>
      <dgm:t>
        <a:bodyPr/>
        <a:lstStyle/>
        <a:p>
          <a:r>
            <a:rPr lang="zh-CN" altLang="en-US" sz="2000" b="1" dirty="0"/>
            <a:t>系统性风险</a:t>
          </a:r>
        </a:p>
      </dgm:t>
    </dgm:pt>
    <dgm:pt modelId="{7D238DCD-26E0-4701-B360-59AC86EE12F2}" type="parTrans" cxnId="{09D2DD0B-7F85-4324-A37B-64DC80A37E14}">
      <dgm:prSet/>
      <dgm:spPr/>
      <dgm:t>
        <a:bodyPr/>
        <a:lstStyle/>
        <a:p>
          <a:endParaRPr lang="zh-CN" altLang="en-US" sz="2000" b="1"/>
        </a:p>
      </dgm:t>
    </dgm:pt>
    <dgm:pt modelId="{A777E4A5-BC95-46CD-B368-F148237C1DF7}" type="sibTrans" cxnId="{09D2DD0B-7F85-4324-A37B-64DC80A37E14}">
      <dgm:prSet/>
      <dgm:spPr/>
      <dgm:t>
        <a:bodyPr/>
        <a:lstStyle/>
        <a:p>
          <a:endParaRPr lang="zh-CN" altLang="en-US" sz="2000" b="1"/>
        </a:p>
      </dgm:t>
    </dgm:pt>
    <dgm:pt modelId="{3EB75DB3-7E3F-4917-8654-8C7BD838DEDD}">
      <dgm:prSet phldrT="[文本]" custT="1"/>
      <dgm:spPr/>
      <dgm:t>
        <a:bodyPr/>
        <a:lstStyle/>
        <a:p>
          <a:r>
            <a:rPr lang="zh-CN" altLang="en-US" sz="2000" b="1" dirty="0"/>
            <a:t>股票市场</a:t>
          </a:r>
        </a:p>
      </dgm:t>
    </dgm:pt>
    <dgm:pt modelId="{703A459D-8C67-4ACC-BCF8-1216E05ED3C7}" type="parTrans" cxnId="{B670F38B-A6DB-41D1-8DB6-D67837E33773}">
      <dgm:prSet custT="1"/>
      <dgm:spPr/>
      <dgm:t>
        <a:bodyPr/>
        <a:lstStyle/>
        <a:p>
          <a:endParaRPr lang="zh-CN" altLang="en-US" sz="2000" b="1"/>
        </a:p>
      </dgm:t>
    </dgm:pt>
    <dgm:pt modelId="{66A692C5-8B4F-41A8-AA8A-E5BBF87C13D6}" type="sibTrans" cxnId="{B670F38B-A6DB-41D1-8DB6-D67837E33773}">
      <dgm:prSet/>
      <dgm:spPr/>
      <dgm:t>
        <a:bodyPr/>
        <a:lstStyle/>
        <a:p>
          <a:endParaRPr lang="zh-CN" altLang="en-US" sz="2000" b="1"/>
        </a:p>
      </dgm:t>
    </dgm:pt>
    <dgm:pt modelId="{7F157C9D-B5C3-4FE5-97EC-4FCF4A831FEB}">
      <dgm:prSet phldrT="[文本]" custT="1"/>
      <dgm:spPr/>
      <dgm:t>
        <a:bodyPr/>
        <a:lstStyle/>
        <a:p>
          <a:r>
            <a:rPr lang="zh-CN" altLang="en-US" sz="2000" b="1" dirty="0"/>
            <a:t>银行信贷市场</a:t>
          </a:r>
        </a:p>
      </dgm:t>
    </dgm:pt>
    <dgm:pt modelId="{0B7F87A7-4545-4641-B9DF-794BEB3CDD0E}" type="parTrans" cxnId="{5CDE5D62-BAD7-4CE3-8D27-9A46C845B21A}">
      <dgm:prSet custT="1"/>
      <dgm:spPr/>
      <dgm:t>
        <a:bodyPr/>
        <a:lstStyle/>
        <a:p>
          <a:endParaRPr lang="zh-CN" altLang="en-US" sz="2000" b="1"/>
        </a:p>
      </dgm:t>
    </dgm:pt>
    <dgm:pt modelId="{B20CA721-7361-4895-A942-B702E147974C}" type="sibTrans" cxnId="{5CDE5D62-BAD7-4CE3-8D27-9A46C845B21A}">
      <dgm:prSet/>
      <dgm:spPr/>
      <dgm:t>
        <a:bodyPr/>
        <a:lstStyle/>
        <a:p>
          <a:endParaRPr lang="zh-CN" altLang="en-US" sz="2000" b="1"/>
        </a:p>
      </dgm:t>
    </dgm:pt>
    <dgm:pt modelId="{46A4E90A-91BB-4FB6-9274-C453973E4F32}">
      <dgm:prSet phldrT="[文本]" custT="1"/>
      <dgm:spPr/>
      <dgm:t>
        <a:bodyPr/>
        <a:lstStyle/>
        <a:p>
          <a:r>
            <a:rPr lang="zh-CN" altLang="en-US" sz="2000" b="1" dirty="0"/>
            <a:t>公司债市场</a:t>
          </a:r>
        </a:p>
      </dgm:t>
    </dgm:pt>
    <dgm:pt modelId="{542E36C3-8BA3-4556-9B87-E3322F68DA8B}" type="parTrans" cxnId="{E948A4BD-5B8E-47FD-822E-E3AF7ABC5100}">
      <dgm:prSet custT="1"/>
      <dgm:spPr/>
      <dgm:t>
        <a:bodyPr/>
        <a:lstStyle/>
        <a:p>
          <a:endParaRPr lang="zh-CN" altLang="en-US" sz="2000" b="1"/>
        </a:p>
      </dgm:t>
    </dgm:pt>
    <dgm:pt modelId="{321377D8-2A6B-414F-BBDC-AA7784CBB1C2}" type="sibTrans" cxnId="{E948A4BD-5B8E-47FD-822E-E3AF7ABC5100}">
      <dgm:prSet/>
      <dgm:spPr/>
      <dgm:t>
        <a:bodyPr/>
        <a:lstStyle/>
        <a:p>
          <a:endParaRPr lang="zh-CN" altLang="en-US" sz="2000" b="1"/>
        </a:p>
      </dgm:t>
    </dgm:pt>
    <dgm:pt modelId="{2474AB6C-F88F-48BE-BFDA-9E58FBC1738C}">
      <dgm:prSet phldrT="[文本]" custT="1"/>
      <dgm:spPr/>
      <dgm:t>
        <a:bodyPr/>
        <a:lstStyle/>
        <a:p>
          <a:r>
            <a:rPr lang="zh-CN" altLang="en-US" sz="2000" b="1" dirty="0"/>
            <a:t>住房抵押债</a:t>
          </a:r>
        </a:p>
      </dgm:t>
    </dgm:pt>
    <dgm:pt modelId="{17E768EF-FD54-45A1-86DE-A858253171ED}" type="parTrans" cxnId="{F7713C52-8CA7-4B57-BFC9-2101769F7F30}">
      <dgm:prSet custT="1"/>
      <dgm:spPr/>
      <dgm:t>
        <a:bodyPr/>
        <a:lstStyle/>
        <a:p>
          <a:endParaRPr lang="zh-CN" altLang="en-US" sz="2000" b="1"/>
        </a:p>
      </dgm:t>
    </dgm:pt>
    <dgm:pt modelId="{F5E59ABC-1890-4A1F-ABAE-357AAA023E5D}" type="sibTrans" cxnId="{F7713C52-8CA7-4B57-BFC9-2101769F7F30}">
      <dgm:prSet/>
      <dgm:spPr/>
      <dgm:t>
        <a:bodyPr/>
        <a:lstStyle/>
        <a:p>
          <a:endParaRPr lang="zh-CN" altLang="en-US" sz="2000" b="1"/>
        </a:p>
      </dgm:t>
    </dgm:pt>
    <dgm:pt modelId="{5C2E7739-C4E4-40A5-866E-264182F6FBEC}">
      <dgm:prSet phldrT="[文本]" custT="1"/>
      <dgm:spPr/>
      <dgm:t>
        <a:bodyPr/>
        <a:lstStyle/>
        <a:p>
          <a:r>
            <a:rPr lang="zh-CN" altLang="en-US" sz="2000" b="1" dirty="0"/>
            <a:t>消费市场</a:t>
          </a:r>
        </a:p>
      </dgm:t>
    </dgm:pt>
    <dgm:pt modelId="{E548BD40-3997-4522-B330-BD17690D8700}" type="parTrans" cxnId="{26CF20E8-3F78-438F-873C-7201DEE79E4C}">
      <dgm:prSet custT="1"/>
      <dgm:spPr/>
      <dgm:t>
        <a:bodyPr/>
        <a:lstStyle/>
        <a:p>
          <a:endParaRPr lang="zh-CN" altLang="en-US" sz="2000" b="1"/>
        </a:p>
      </dgm:t>
    </dgm:pt>
    <dgm:pt modelId="{30FA97CA-2295-4BDE-9E3F-EC0ECFF265A7}" type="sibTrans" cxnId="{26CF20E8-3F78-438F-873C-7201DEE79E4C}">
      <dgm:prSet/>
      <dgm:spPr/>
      <dgm:t>
        <a:bodyPr/>
        <a:lstStyle/>
        <a:p>
          <a:endParaRPr lang="zh-CN" altLang="en-US" sz="2000" b="1"/>
        </a:p>
      </dgm:t>
    </dgm:pt>
    <dgm:pt modelId="{CC3EFA7B-8BD6-454D-B338-933FEA38709F}">
      <dgm:prSet phldrT="[文本]" custT="1"/>
      <dgm:spPr/>
      <dgm:t>
        <a:bodyPr/>
        <a:lstStyle/>
        <a:p>
          <a:r>
            <a:rPr lang="zh-CN" altLang="en-US" sz="2000" b="1" dirty="0"/>
            <a:t>商品市场</a:t>
          </a:r>
        </a:p>
      </dgm:t>
    </dgm:pt>
    <dgm:pt modelId="{B7590A28-4C58-476C-8C19-C826EF2242A2}" type="parTrans" cxnId="{F1EC7F0B-01F0-4EB9-8D6E-3D54787E7AE6}">
      <dgm:prSet custT="1"/>
      <dgm:spPr/>
      <dgm:t>
        <a:bodyPr/>
        <a:lstStyle/>
        <a:p>
          <a:endParaRPr lang="zh-CN" altLang="en-US" sz="2000" b="1"/>
        </a:p>
      </dgm:t>
    </dgm:pt>
    <dgm:pt modelId="{82CF3BB0-3B75-41EA-8545-9268A754284B}" type="sibTrans" cxnId="{F1EC7F0B-01F0-4EB9-8D6E-3D54787E7AE6}">
      <dgm:prSet/>
      <dgm:spPr/>
      <dgm:t>
        <a:bodyPr/>
        <a:lstStyle/>
        <a:p>
          <a:endParaRPr lang="zh-CN" altLang="en-US" sz="2000" b="1"/>
        </a:p>
      </dgm:t>
    </dgm:pt>
    <dgm:pt modelId="{EA8C5400-19B9-46A2-AC68-CC85CFC63CA3}">
      <dgm:prSet phldrT="[文本]" custT="1"/>
      <dgm:spPr/>
      <dgm:t>
        <a:bodyPr/>
        <a:lstStyle/>
        <a:p>
          <a:r>
            <a:rPr lang="zh-CN" altLang="en-US" sz="2000" b="1" dirty="0"/>
            <a:t>国债市场</a:t>
          </a:r>
        </a:p>
      </dgm:t>
    </dgm:pt>
    <dgm:pt modelId="{181F97F2-8BB1-4B67-8CBA-14D98129D20F}" type="parTrans" cxnId="{88833E83-E06C-4FB9-9808-FDD6ECAC2642}">
      <dgm:prSet custT="1"/>
      <dgm:spPr/>
      <dgm:t>
        <a:bodyPr/>
        <a:lstStyle/>
        <a:p>
          <a:endParaRPr lang="zh-CN" altLang="en-US" sz="2000"/>
        </a:p>
      </dgm:t>
    </dgm:pt>
    <dgm:pt modelId="{35996C04-52E3-4030-8AAD-91E253F425F1}" type="sibTrans" cxnId="{88833E83-E06C-4FB9-9808-FDD6ECAC2642}">
      <dgm:prSet/>
      <dgm:spPr/>
      <dgm:t>
        <a:bodyPr/>
        <a:lstStyle/>
        <a:p>
          <a:endParaRPr lang="zh-CN" altLang="en-US" sz="2000"/>
        </a:p>
      </dgm:t>
    </dgm:pt>
    <dgm:pt modelId="{129FEA6F-2A82-4C7B-95B7-3A2BFED5FB20}" type="pres">
      <dgm:prSet presAssocID="{AC8C4E27-7F6D-49FB-9B2E-CB525B010D8F}" presName="Name0" presStyleCnt="0">
        <dgm:presLayoutVars>
          <dgm:chMax val="1"/>
          <dgm:dir/>
          <dgm:animLvl val="ctr"/>
          <dgm:resizeHandles val="exact"/>
        </dgm:presLayoutVars>
      </dgm:prSet>
      <dgm:spPr/>
    </dgm:pt>
    <dgm:pt modelId="{B85F2F39-9CAF-4149-9C11-61F3E4FE7F5D}" type="pres">
      <dgm:prSet presAssocID="{7779934A-DEDE-4C05-9E45-241777273EB3}" presName="centerShape" presStyleLbl="node0" presStyleIdx="0" presStyleCnt="1"/>
      <dgm:spPr/>
    </dgm:pt>
    <dgm:pt modelId="{8D8E2171-8F1F-4809-964E-E5614055411A}" type="pres">
      <dgm:prSet presAssocID="{703A459D-8C67-4ACC-BCF8-1216E05ED3C7}" presName="parTrans" presStyleLbl="sibTrans2D1" presStyleIdx="0" presStyleCnt="7"/>
      <dgm:spPr/>
    </dgm:pt>
    <dgm:pt modelId="{C83D3E7E-A743-4A62-AB5E-9FFD927BA9A6}" type="pres">
      <dgm:prSet presAssocID="{703A459D-8C67-4ACC-BCF8-1216E05ED3C7}" presName="connectorText" presStyleLbl="sibTrans2D1" presStyleIdx="0" presStyleCnt="7"/>
      <dgm:spPr/>
    </dgm:pt>
    <dgm:pt modelId="{4513A1D3-C0E4-418C-8C03-AEBEDD2713F1}" type="pres">
      <dgm:prSet presAssocID="{3EB75DB3-7E3F-4917-8654-8C7BD838DEDD}" presName="node" presStyleLbl="node1" presStyleIdx="0" presStyleCnt="7">
        <dgm:presLayoutVars>
          <dgm:bulletEnabled val="1"/>
        </dgm:presLayoutVars>
      </dgm:prSet>
      <dgm:spPr/>
    </dgm:pt>
    <dgm:pt modelId="{E4ADA339-7086-44E2-A122-CF40762DDE06}" type="pres">
      <dgm:prSet presAssocID="{181F97F2-8BB1-4B67-8CBA-14D98129D20F}" presName="parTrans" presStyleLbl="sibTrans2D1" presStyleIdx="1" presStyleCnt="7"/>
      <dgm:spPr/>
    </dgm:pt>
    <dgm:pt modelId="{8D920C1F-53C9-4710-A6B7-0AFF407249F9}" type="pres">
      <dgm:prSet presAssocID="{181F97F2-8BB1-4B67-8CBA-14D98129D20F}" presName="connectorText" presStyleLbl="sibTrans2D1" presStyleIdx="1" presStyleCnt="7"/>
      <dgm:spPr/>
    </dgm:pt>
    <dgm:pt modelId="{7FD328AE-61FE-4B47-8450-2699FE9C61C7}" type="pres">
      <dgm:prSet presAssocID="{EA8C5400-19B9-46A2-AC68-CC85CFC63CA3}" presName="node" presStyleLbl="node1" presStyleIdx="1" presStyleCnt="7">
        <dgm:presLayoutVars>
          <dgm:bulletEnabled val="1"/>
        </dgm:presLayoutVars>
      </dgm:prSet>
      <dgm:spPr/>
    </dgm:pt>
    <dgm:pt modelId="{275E1ACA-72D0-471D-8A7B-015070BBA0D6}" type="pres">
      <dgm:prSet presAssocID="{0B7F87A7-4545-4641-B9DF-794BEB3CDD0E}" presName="parTrans" presStyleLbl="sibTrans2D1" presStyleIdx="2" presStyleCnt="7"/>
      <dgm:spPr/>
    </dgm:pt>
    <dgm:pt modelId="{1B712A83-16D5-414F-86E5-D36ECF1192BF}" type="pres">
      <dgm:prSet presAssocID="{0B7F87A7-4545-4641-B9DF-794BEB3CDD0E}" presName="connectorText" presStyleLbl="sibTrans2D1" presStyleIdx="2" presStyleCnt="7"/>
      <dgm:spPr/>
    </dgm:pt>
    <dgm:pt modelId="{B07BE4C6-595E-4BD9-A3A5-23C3B30F2618}" type="pres">
      <dgm:prSet presAssocID="{7F157C9D-B5C3-4FE5-97EC-4FCF4A831FEB}" presName="node" presStyleLbl="node1" presStyleIdx="2" presStyleCnt="7">
        <dgm:presLayoutVars>
          <dgm:bulletEnabled val="1"/>
        </dgm:presLayoutVars>
      </dgm:prSet>
      <dgm:spPr/>
    </dgm:pt>
    <dgm:pt modelId="{9A50F9DE-2F44-4E2A-9ED7-E298EE9DC37A}" type="pres">
      <dgm:prSet presAssocID="{542E36C3-8BA3-4556-9B87-E3322F68DA8B}" presName="parTrans" presStyleLbl="sibTrans2D1" presStyleIdx="3" presStyleCnt="7"/>
      <dgm:spPr/>
    </dgm:pt>
    <dgm:pt modelId="{C90FC4C4-FBB4-4ED3-9055-F179C893A226}" type="pres">
      <dgm:prSet presAssocID="{542E36C3-8BA3-4556-9B87-E3322F68DA8B}" presName="connectorText" presStyleLbl="sibTrans2D1" presStyleIdx="3" presStyleCnt="7"/>
      <dgm:spPr/>
    </dgm:pt>
    <dgm:pt modelId="{B96E3689-12C0-4D33-A978-A63CFC168A5A}" type="pres">
      <dgm:prSet presAssocID="{46A4E90A-91BB-4FB6-9274-C453973E4F32}" presName="node" presStyleLbl="node1" presStyleIdx="3" presStyleCnt="7">
        <dgm:presLayoutVars>
          <dgm:bulletEnabled val="1"/>
        </dgm:presLayoutVars>
      </dgm:prSet>
      <dgm:spPr/>
    </dgm:pt>
    <dgm:pt modelId="{B38A2A3A-71AB-4612-AC03-E5D7D812038B}" type="pres">
      <dgm:prSet presAssocID="{17E768EF-FD54-45A1-86DE-A858253171ED}" presName="parTrans" presStyleLbl="sibTrans2D1" presStyleIdx="4" presStyleCnt="7"/>
      <dgm:spPr/>
    </dgm:pt>
    <dgm:pt modelId="{C082BA53-CE48-4140-AD68-98B4CF4E0321}" type="pres">
      <dgm:prSet presAssocID="{17E768EF-FD54-45A1-86DE-A858253171ED}" presName="connectorText" presStyleLbl="sibTrans2D1" presStyleIdx="4" presStyleCnt="7"/>
      <dgm:spPr/>
    </dgm:pt>
    <dgm:pt modelId="{3224B751-A585-47E1-AC86-2E29007718E6}" type="pres">
      <dgm:prSet presAssocID="{2474AB6C-F88F-48BE-BFDA-9E58FBC1738C}" presName="node" presStyleLbl="node1" presStyleIdx="4" presStyleCnt="7">
        <dgm:presLayoutVars>
          <dgm:bulletEnabled val="1"/>
        </dgm:presLayoutVars>
      </dgm:prSet>
      <dgm:spPr/>
    </dgm:pt>
    <dgm:pt modelId="{0751A105-A031-462F-A2DC-B238E7D45142}" type="pres">
      <dgm:prSet presAssocID="{E548BD40-3997-4522-B330-BD17690D8700}" presName="parTrans" presStyleLbl="sibTrans2D1" presStyleIdx="5" presStyleCnt="7"/>
      <dgm:spPr/>
    </dgm:pt>
    <dgm:pt modelId="{29FA4999-B7D3-46A7-BB4C-BACF9B383ACB}" type="pres">
      <dgm:prSet presAssocID="{E548BD40-3997-4522-B330-BD17690D8700}" presName="connectorText" presStyleLbl="sibTrans2D1" presStyleIdx="5" presStyleCnt="7"/>
      <dgm:spPr/>
    </dgm:pt>
    <dgm:pt modelId="{851929AB-A41E-48AD-B8D2-F6DAEF561E98}" type="pres">
      <dgm:prSet presAssocID="{5C2E7739-C4E4-40A5-866E-264182F6FBEC}" presName="node" presStyleLbl="node1" presStyleIdx="5" presStyleCnt="7">
        <dgm:presLayoutVars>
          <dgm:bulletEnabled val="1"/>
        </dgm:presLayoutVars>
      </dgm:prSet>
      <dgm:spPr/>
    </dgm:pt>
    <dgm:pt modelId="{406A28E8-39B0-4E25-93B4-00FC7F448C36}" type="pres">
      <dgm:prSet presAssocID="{B7590A28-4C58-476C-8C19-C826EF2242A2}" presName="parTrans" presStyleLbl="sibTrans2D1" presStyleIdx="6" presStyleCnt="7"/>
      <dgm:spPr/>
    </dgm:pt>
    <dgm:pt modelId="{5DFB6F45-03C3-406F-AFB1-EAA1C831D51A}" type="pres">
      <dgm:prSet presAssocID="{B7590A28-4C58-476C-8C19-C826EF2242A2}" presName="connectorText" presStyleLbl="sibTrans2D1" presStyleIdx="6" presStyleCnt="7"/>
      <dgm:spPr/>
    </dgm:pt>
    <dgm:pt modelId="{3B46B3E2-F8D3-420F-B7F5-98B83AF2FDDB}" type="pres">
      <dgm:prSet presAssocID="{CC3EFA7B-8BD6-454D-B338-933FEA38709F}" presName="node" presStyleLbl="node1" presStyleIdx="6" presStyleCnt="7">
        <dgm:presLayoutVars>
          <dgm:bulletEnabled val="1"/>
        </dgm:presLayoutVars>
      </dgm:prSet>
      <dgm:spPr/>
    </dgm:pt>
  </dgm:ptLst>
  <dgm:cxnLst>
    <dgm:cxn modelId="{388D9805-084F-4FE3-A60C-A96E3DC785E4}" type="presOf" srcId="{7779934A-DEDE-4C05-9E45-241777273EB3}" destId="{B85F2F39-9CAF-4149-9C11-61F3E4FE7F5D}" srcOrd="0" destOrd="0" presId="urn:microsoft.com/office/officeart/2005/8/layout/radial5"/>
    <dgm:cxn modelId="{11620208-38EE-4D97-8BEF-6DBE79211D0E}" type="presOf" srcId="{181F97F2-8BB1-4B67-8CBA-14D98129D20F}" destId="{E4ADA339-7086-44E2-A122-CF40762DDE06}" srcOrd="0" destOrd="0" presId="urn:microsoft.com/office/officeart/2005/8/layout/radial5"/>
    <dgm:cxn modelId="{F1EC7F0B-01F0-4EB9-8D6E-3D54787E7AE6}" srcId="{7779934A-DEDE-4C05-9E45-241777273EB3}" destId="{CC3EFA7B-8BD6-454D-B338-933FEA38709F}" srcOrd="6" destOrd="0" parTransId="{B7590A28-4C58-476C-8C19-C826EF2242A2}" sibTransId="{82CF3BB0-3B75-41EA-8545-9268A754284B}"/>
    <dgm:cxn modelId="{09D2DD0B-7F85-4324-A37B-64DC80A37E14}" srcId="{AC8C4E27-7F6D-49FB-9B2E-CB525B010D8F}" destId="{7779934A-DEDE-4C05-9E45-241777273EB3}" srcOrd="0" destOrd="0" parTransId="{7D238DCD-26E0-4701-B360-59AC86EE12F2}" sibTransId="{A777E4A5-BC95-46CD-B368-F148237C1DF7}"/>
    <dgm:cxn modelId="{4E173512-370E-4528-8543-2B6B267F84AB}" type="presOf" srcId="{B7590A28-4C58-476C-8C19-C826EF2242A2}" destId="{406A28E8-39B0-4E25-93B4-00FC7F448C36}" srcOrd="0" destOrd="0" presId="urn:microsoft.com/office/officeart/2005/8/layout/radial5"/>
    <dgm:cxn modelId="{194F012D-AE66-4868-94B6-B3C6F005D274}" type="presOf" srcId="{B7590A28-4C58-476C-8C19-C826EF2242A2}" destId="{5DFB6F45-03C3-406F-AFB1-EAA1C831D51A}" srcOrd="1" destOrd="0" presId="urn:microsoft.com/office/officeart/2005/8/layout/radial5"/>
    <dgm:cxn modelId="{920DDF2F-9636-4AA8-9292-D1A8BFA778A3}" type="presOf" srcId="{E548BD40-3997-4522-B330-BD17690D8700}" destId="{29FA4999-B7D3-46A7-BB4C-BACF9B383ACB}" srcOrd="1" destOrd="0" presId="urn:microsoft.com/office/officeart/2005/8/layout/radial5"/>
    <dgm:cxn modelId="{2B103B5F-CB4B-46FD-833D-6740A26C8F9F}" type="presOf" srcId="{542E36C3-8BA3-4556-9B87-E3322F68DA8B}" destId="{9A50F9DE-2F44-4E2A-9ED7-E298EE9DC37A}" srcOrd="0" destOrd="0" presId="urn:microsoft.com/office/officeart/2005/8/layout/radial5"/>
    <dgm:cxn modelId="{5CDE5D62-BAD7-4CE3-8D27-9A46C845B21A}" srcId="{7779934A-DEDE-4C05-9E45-241777273EB3}" destId="{7F157C9D-B5C3-4FE5-97EC-4FCF4A831FEB}" srcOrd="2" destOrd="0" parTransId="{0B7F87A7-4545-4641-B9DF-794BEB3CDD0E}" sibTransId="{B20CA721-7361-4895-A942-B702E147974C}"/>
    <dgm:cxn modelId="{DB646E44-F9BF-4958-9885-3E7AF457CA19}" type="presOf" srcId="{181F97F2-8BB1-4B67-8CBA-14D98129D20F}" destId="{8D920C1F-53C9-4710-A6B7-0AFF407249F9}" srcOrd="1" destOrd="0" presId="urn:microsoft.com/office/officeart/2005/8/layout/radial5"/>
    <dgm:cxn modelId="{D6FC5971-0485-4DDC-8551-CC71F024DE83}" type="presOf" srcId="{CC3EFA7B-8BD6-454D-B338-933FEA38709F}" destId="{3B46B3E2-F8D3-420F-B7F5-98B83AF2FDDB}" srcOrd="0" destOrd="0" presId="urn:microsoft.com/office/officeart/2005/8/layout/radial5"/>
    <dgm:cxn modelId="{4A459A51-F363-4213-A9E3-44E548675C61}" type="presOf" srcId="{E548BD40-3997-4522-B330-BD17690D8700}" destId="{0751A105-A031-462F-A2DC-B238E7D45142}" srcOrd="0" destOrd="0" presId="urn:microsoft.com/office/officeart/2005/8/layout/radial5"/>
    <dgm:cxn modelId="{F7713C52-8CA7-4B57-BFC9-2101769F7F30}" srcId="{7779934A-DEDE-4C05-9E45-241777273EB3}" destId="{2474AB6C-F88F-48BE-BFDA-9E58FBC1738C}" srcOrd="4" destOrd="0" parTransId="{17E768EF-FD54-45A1-86DE-A858253171ED}" sibTransId="{F5E59ABC-1890-4A1F-ABAE-357AAA023E5D}"/>
    <dgm:cxn modelId="{F27C4772-BDE4-46C2-9384-4331DDEC7322}" type="presOf" srcId="{703A459D-8C67-4ACC-BCF8-1216E05ED3C7}" destId="{8D8E2171-8F1F-4809-964E-E5614055411A}" srcOrd="0" destOrd="0" presId="urn:microsoft.com/office/officeart/2005/8/layout/radial5"/>
    <dgm:cxn modelId="{00A1F256-9A70-428E-9EF8-EC8493467302}" type="presOf" srcId="{17E768EF-FD54-45A1-86DE-A858253171ED}" destId="{C082BA53-CE48-4140-AD68-98B4CF4E0321}" srcOrd="1" destOrd="0" presId="urn:microsoft.com/office/officeart/2005/8/layout/radial5"/>
    <dgm:cxn modelId="{D3964D7B-1180-4AAF-9AF2-09E3A9B6636B}" type="presOf" srcId="{17E768EF-FD54-45A1-86DE-A858253171ED}" destId="{B38A2A3A-71AB-4612-AC03-E5D7D812038B}" srcOrd="0" destOrd="0" presId="urn:microsoft.com/office/officeart/2005/8/layout/radial5"/>
    <dgm:cxn modelId="{88833E83-E06C-4FB9-9808-FDD6ECAC2642}" srcId="{7779934A-DEDE-4C05-9E45-241777273EB3}" destId="{EA8C5400-19B9-46A2-AC68-CC85CFC63CA3}" srcOrd="1" destOrd="0" parTransId="{181F97F2-8BB1-4B67-8CBA-14D98129D20F}" sibTransId="{35996C04-52E3-4030-8AAD-91E253F425F1}"/>
    <dgm:cxn modelId="{B670F38B-A6DB-41D1-8DB6-D67837E33773}" srcId="{7779934A-DEDE-4C05-9E45-241777273EB3}" destId="{3EB75DB3-7E3F-4917-8654-8C7BD838DEDD}" srcOrd="0" destOrd="0" parTransId="{703A459D-8C67-4ACC-BCF8-1216E05ED3C7}" sibTransId="{66A692C5-8B4F-41A8-AA8A-E5BBF87C13D6}"/>
    <dgm:cxn modelId="{280E8795-1B14-45FF-A5C1-921073553670}" type="presOf" srcId="{AC8C4E27-7F6D-49FB-9B2E-CB525B010D8F}" destId="{129FEA6F-2A82-4C7B-95B7-3A2BFED5FB20}" srcOrd="0" destOrd="0" presId="urn:microsoft.com/office/officeart/2005/8/layout/radial5"/>
    <dgm:cxn modelId="{D6ECD3A2-8D9E-4A25-B0FB-2FC15F7EDC4B}" type="presOf" srcId="{3EB75DB3-7E3F-4917-8654-8C7BD838DEDD}" destId="{4513A1D3-C0E4-418C-8C03-AEBEDD2713F1}" srcOrd="0" destOrd="0" presId="urn:microsoft.com/office/officeart/2005/8/layout/radial5"/>
    <dgm:cxn modelId="{B643E5AA-4295-464E-81CF-752CF05C89CF}" type="presOf" srcId="{7F157C9D-B5C3-4FE5-97EC-4FCF4A831FEB}" destId="{B07BE4C6-595E-4BD9-A3A5-23C3B30F2618}" srcOrd="0" destOrd="0" presId="urn:microsoft.com/office/officeart/2005/8/layout/radial5"/>
    <dgm:cxn modelId="{D1A86CB3-CB6C-4A32-AE0F-4B597BE8705B}" type="presOf" srcId="{542E36C3-8BA3-4556-9B87-E3322F68DA8B}" destId="{C90FC4C4-FBB4-4ED3-9055-F179C893A226}" srcOrd="1" destOrd="0" presId="urn:microsoft.com/office/officeart/2005/8/layout/radial5"/>
    <dgm:cxn modelId="{416715B4-FF14-4D8C-9764-0E29A2565262}" type="presOf" srcId="{EA8C5400-19B9-46A2-AC68-CC85CFC63CA3}" destId="{7FD328AE-61FE-4B47-8450-2699FE9C61C7}" srcOrd="0" destOrd="0" presId="urn:microsoft.com/office/officeart/2005/8/layout/radial5"/>
    <dgm:cxn modelId="{E86CF2B6-4D45-4AC8-838F-D5CB54D23544}" type="presOf" srcId="{703A459D-8C67-4ACC-BCF8-1216E05ED3C7}" destId="{C83D3E7E-A743-4A62-AB5E-9FFD927BA9A6}" srcOrd="1" destOrd="0" presId="urn:microsoft.com/office/officeart/2005/8/layout/radial5"/>
    <dgm:cxn modelId="{E948A4BD-5B8E-47FD-822E-E3AF7ABC5100}" srcId="{7779934A-DEDE-4C05-9E45-241777273EB3}" destId="{46A4E90A-91BB-4FB6-9274-C453973E4F32}" srcOrd="3" destOrd="0" parTransId="{542E36C3-8BA3-4556-9B87-E3322F68DA8B}" sibTransId="{321377D8-2A6B-414F-BBDC-AA7784CBB1C2}"/>
    <dgm:cxn modelId="{23B094C9-A58E-4E8D-99CA-E46CD1BCE278}" type="presOf" srcId="{0B7F87A7-4545-4641-B9DF-794BEB3CDD0E}" destId="{1B712A83-16D5-414F-86E5-D36ECF1192BF}" srcOrd="1" destOrd="0" presId="urn:microsoft.com/office/officeart/2005/8/layout/radial5"/>
    <dgm:cxn modelId="{07BCB2D5-054E-46EC-9B0C-E8BA45955112}" type="presOf" srcId="{5C2E7739-C4E4-40A5-866E-264182F6FBEC}" destId="{851929AB-A41E-48AD-B8D2-F6DAEF561E98}" srcOrd="0" destOrd="0" presId="urn:microsoft.com/office/officeart/2005/8/layout/radial5"/>
    <dgm:cxn modelId="{26CF20E8-3F78-438F-873C-7201DEE79E4C}" srcId="{7779934A-DEDE-4C05-9E45-241777273EB3}" destId="{5C2E7739-C4E4-40A5-866E-264182F6FBEC}" srcOrd="5" destOrd="0" parTransId="{E548BD40-3997-4522-B330-BD17690D8700}" sibTransId="{30FA97CA-2295-4BDE-9E3F-EC0ECFF265A7}"/>
    <dgm:cxn modelId="{A7E62CEC-98BA-408C-B954-C9EDD2DEE6C0}" type="presOf" srcId="{0B7F87A7-4545-4641-B9DF-794BEB3CDD0E}" destId="{275E1ACA-72D0-471D-8A7B-015070BBA0D6}" srcOrd="0" destOrd="0" presId="urn:microsoft.com/office/officeart/2005/8/layout/radial5"/>
    <dgm:cxn modelId="{AEF9C9F6-2770-41F8-9717-4031110F8244}" type="presOf" srcId="{2474AB6C-F88F-48BE-BFDA-9E58FBC1738C}" destId="{3224B751-A585-47E1-AC86-2E29007718E6}" srcOrd="0" destOrd="0" presId="urn:microsoft.com/office/officeart/2005/8/layout/radial5"/>
    <dgm:cxn modelId="{CD181CFB-EF3A-4EFA-B94B-A2C845A05FCD}" type="presOf" srcId="{46A4E90A-91BB-4FB6-9274-C453973E4F32}" destId="{B96E3689-12C0-4D33-A978-A63CFC168A5A}" srcOrd="0" destOrd="0" presId="urn:microsoft.com/office/officeart/2005/8/layout/radial5"/>
    <dgm:cxn modelId="{4CDB6853-4983-48FD-BE68-030CE32D65CD}" type="presParOf" srcId="{129FEA6F-2A82-4C7B-95B7-3A2BFED5FB20}" destId="{B85F2F39-9CAF-4149-9C11-61F3E4FE7F5D}" srcOrd="0" destOrd="0" presId="urn:microsoft.com/office/officeart/2005/8/layout/radial5"/>
    <dgm:cxn modelId="{D75ADE42-7C7C-4638-8621-6BB1C3D584FB}" type="presParOf" srcId="{129FEA6F-2A82-4C7B-95B7-3A2BFED5FB20}" destId="{8D8E2171-8F1F-4809-964E-E5614055411A}" srcOrd="1" destOrd="0" presId="urn:microsoft.com/office/officeart/2005/8/layout/radial5"/>
    <dgm:cxn modelId="{A4A326DA-834E-4A27-8BA6-A4E688240B99}" type="presParOf" srcId="{8D8E2171-8F1F-4809-964E-E5614055411A}" destId="{C83D3E7E-A743-4A62-AB5E-9FFD927BA9A6}" srcOrd="0" destOrd="0" presId="urn:microsoft.com/office/officeart/2005/8/layout/radial5"/>
    <dgm:cxn modelId="{55746CF9-2D7C-41FD-BA75-421F3B590E63}" type="presParOf" srcId="{129FEA6F-2A82-4C7B-95B7-3A2BFED5FB20}" destId="{4513A1D3-C0E4-418C-8C03-AEBEDD2713F1}" srcOrd="2" destOrd="0" presId="urn:microsoft.com/office/officeart/2005/8/layout/radial5"/>
    <dgm:cxn modelId="{1DB174CB-B8C0-4244-BFD5-85B292A79E74}" type="presParOf" srcId="{129FEA6F-2A82-4C7B-95B7-3A2BFED5FB20}" destId="{E4ADA339-7086-44E2-A122-CF40762DDE06}" srcOrd="3" destOrd="0" presId="urn:microsoft.com/office/officeart/2005/8/layout/radial5"/>
    <dgm:cxn modelId="{97ACB765-7FD1-4D99-95E4-82B89AC17A73}" type="presParOf" srcId="{E4ADA339-7086-44E2-A122-CF40762DDE06}" destId="{8D920C1F-53C9-4710-A6B7-0AFF407249F9}" srcOrd="0" destOrd="0" presId="urn:microsoft.com/office/officeart/2005/8/layout/radial5"/>
    <dgm:cxn modelId="{5F61A3F0-3A76-428C-817B-B47877471DC7}" type="presParOf" srcId="{129FEA6F-2A82-4C7B-95B7-3A2BFED5FB20}" destId="{7FD328AE-61FE-4B47-8450-2699FE9C61C7}" srcOrd="4" destOrd="0" presId="urn:microsoft.com/office/officeart/2005/8/layout/radial5"/>
    <dgm:cxn modelId="{79D91962-E133-470C-8B59-559CFF21AF1E}" type="presParOf" srcId="{129FEA6F-2A82-4C7B-95B7-3A2BFED5FB20}" destId="{275E1ACA-72D0-471D-8A7B-015070BBA0D6}" srcOrd="5" destOrd="0" presId="urn:microsoft.com/office/officeart/2005/8/layout/radial5"/>
    <dgm:cxn modelId="{00E17FC5-64C8-4C3C-A7BE-1F5AB7107062}" type="presParOf" srcId="{275E1ACA-72D0-471D-8A7B-015070BBA0D6}" destId="{1B712A83-16D5-414F-86E5-D36ECF1192BF}" srcOrd="0" destOrd="0" presId="urn:microsoft.com/office/officeart/2005/8/layout/radial5"/>
    <dgm:cxn modelId="{07C8B2A9-CA18-4AD2-96F0-DA94855342B9}" type="presParOf" srcId="{129FEA6F-2A82-4C7B-95B7-3A2BFED5FB20}" destId="{B07BE4C6-595E-4BD9-A3A5-23C3B30F2618}" srcOrd="6" destOrd="0" presId="urn:microsoft.com/office/officeart/2005/8/layout/radial5"/>
    <dgm:cxn modelId="{4FF00BB6-1955-438A-9466-D43E3F3C0AE3}" type="presParOf" srcId="{129FEA6F-2A82-4C7B-95B7-3A2BFED5FB20}" destId="{9A50F9DE-2F44-4E2A-9ED7-E298EE9DC37A}" srcOrd="7" destOrd="0" presId="urn:microsoft.com/office/officeart/2005/8/layout/radial5"/>
    <dgm:cxn modelId="{4FFBFBA8-C0B5-4A61-B485-63DA858BD394}" type="presParOf" srcId="{9A50F9DE-2F44-4E2A-9ED7-E298EE9DC37A}" destId="{C90FC4C4-FBB4-4ED3-9055-F179C893A226}" srcOrd="0" destOrd="0" presId="urn:microsoft.com/office/officeart/2005/8/layout/radial5"/>
    <dgm:cxn modelId="{F9DE337C-FC06-4F07-A426-B7389BDD59D7}" type="presParOf" srcId="{129FEA6F-2A82-4C7B-95B7-3A2BFED5FB20}" destId="{B96E3689-12C0-4D33-A978-A63CFC168A5A}" srcOrd="8" destOrd="0" presId="urn:microsoft.com/office/officeart/2005/8/layout/radial5"/>
    <dgm:cxn modelId="{14C765F2-F9FA-409A-A386-DEAEF771BCD4}" type="presParOf" srcId="{129FEA6F-2A82-4C7B-95B7-3A2BFED5FB20}" destId="{B38A2A3A-71AB-4612-AC03-E5D7D812038B}" srcOrd="9" destOrd="0" presId="urn:microsoft.com/office/officeart/2005/8/layout/radial5"/>
    <dgm:cxn modelId="{1510FAF2-837C-4ED8-BDF5-F9A573A83BEF}" type="presParOf" srcId="{B38A2A3A-71AB-4612-AC03-E5D7D812038B}" destId="{C082BA53-CE48-4140-AD68-98B4CF4E0321}" srcOrd="0" destOrd="0" presId="urn:microsoft.com/office/officeart/2005/8/layout/radial5"/>
    <dgm:cxn modelId="{09F4C726-EB52-4855-94E8-32B4A4C50E53}" type="presParOf" srcId="{129FEA6F-2A82-4C7B-95B7-3A2BFED5FB20}" destId="{3224B751-A585-47E1-AC86-2E29007718E6}" srcOrd="10" destOrd="0" presId="urn:microsoft.com/office/officeart/2005/8/layout/radial5"/>
    <dgm:cxn modelId="{966430EB-101B-489E-9D07-4AC0C31196E2}" type="presParOf" srcId="{129FEA6F-2A82-4C7B-95B7-3A2BFED5FB20}" destId="{0751A105-A031-462F-A2DC-B238E7D45142}" srcOrd="11" destOrd="0" presId="urn:microsoft.com/office/officeart/2005/8/layout/radial5"/>
    <dgm:cxn modelId="{6E0AE084-BDD4-40CF-B0FF-BD335A15B419}" type="presParOf" srcId="{0751A105-A031-462F-A2DC-B238E7D45142}" destId="{29FA4999-B7D3-46A7-BB4C-BACF9B383ACB}" srcOrd="0" destOrd="0" presId="urn:microsoft.com/office/officeart/2005/8/layout/radial5"/>
    <dgm:cxn modelId="{854C7F0B-9478-43B1-96DE-0518D5FC7B99}" type="presParOf" srcId="{129FEA6F-2A82-4C7B-95B7-3A2BFED5FB20}" destId="{851929AB-A41E-48AD-B8D2-F6DAEF561E98}" srcOrd="12" destOrd="0" presId="urn:microsoft.com/office/officeart/2005/8/layout/radial5"/>
    <dgm:cxn modelId="{D63B87E1-A4BF-40B8-A660-D62E976EA0EE}" type="presParOf" srcId="{129FEA6F-2A82-4C7B-95B7-3A2BFED5FB20}" destId="{406A28E8-39B0-4E25-93B4-00FC7F448C36}" srcOrd="13" destOrd="0" presId="urn:microsoft.com/office/officeart/2005/8/layout/radial5"/>
    <dgm:cxn modelId="{74FEA85D-DE55-4651-817D-5D4371809460}" type="presParOf" srcId="{406A28E8-39B0-4E25-93B4-00FC7F448C36}" destId="{5DFB6F45-03C3-406F-AFB1-EAA1C831D51A}" srcOrd="0" destOrd="0" presId="urn:microsoft.com/office/officeart/2005/8/layout/radial5"/>
    <dgm:cxn modelId="{28A13077-89E1-43BE-A7D9-0ED44A709F9B}" type="presParOf" srcId="{129FEA6F-2A82-4C7B-95B7-3A2BFED5FB20}" destId="{3B46B3E2-F8D3-420F-B7F5-98B83AF2FDDB}" srcOrd="14" destOrd="0" presId="urn:microsoft.com/office/officeart/2005/8/layout/radial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762774-11CB-4A3A-B0D1-7119DDD0C1A7}" type="doc">
      <dgm:prSet loTypeId="urn:microsoft.com/office/officeart/2005/8/layout/radial3" loCatId="cycle" qsTypeId="urn:microsoft.com/office/officeart/2005/8/quickstyle/simple1" qsCatId="simple" csTypeId="urn:microsoft.com/office/officeart/2005/8/colors/colorful4" csCatId="colorful" phldr="1"/>
      <dgm:spPr/>
      <dgm:t>
        <a:bodyPr/>
        <a:lstStyle/>
        <a:p>
          <a:endParaRPr lang="zh-CN" altLang="en-US"/>
        </a:p>
      </dgm:t>
    </dgm:pt>
    <dgm:pt modelId="{AFD8EFF9-3C01-4D03-8DE1-E03E7CAEC5CF}">
      <dgm:prSet phldrT="[文本]" custT="1"/>
      <dgm:spPr>
        <a:solidFill>
          <a:srgbClr val="00B0F0">
            <a:alpha val="50000"/>
          </a:srgbClr>
        </a:solidFill>
      </dgm:spPr>
      <dgm:t>
        <a:bodyPr/>
        <a:lstStyle/>
        <a:p>
          <a:r>
            <a:rPr lang="zh-CN" altLang="en-US" sz="2000" b="1" dirty="0"/>
            <a:t>行业内竞争者</a:t>
          </a:r>
          <a:br>
            <a:rPr lang="en-US" altLang="zh-CN" sz="2000" dirty="0"/>
          </a:br>
          <a:br>
            <a:rPr lang="en-US" altLang="zh-CN" sz="2000" dirty="0"/>
          </a:br>
          <a:r>
            <a:rPr lang="zh-CN" altLang="en-US" sz="2000" dirty="0"/>
            <a:t>与目前对手的竞争</a:t>
          </a:r>
        </a:p>
      </dgm:t>
    </dgm:pt>
    <dgm:pt modelId="{B6A45690-A431-4644-981E-29ABF5441A3A}" type="parTrans" cxnId="{09278094-4D78-45CA-9098-EA276217AD12}">
      <dgm:prSet/>
      <dgm:spPr/>
      <dgm:t>
        <a:bodyPr/>
        <a:lstStyle/>
        <a:p>
          <a:endParaRPr lang="zh-CN" altLang="en-US" sz="2000"/>
        </a:p>
      </dgm:t>
    </dgm:pt>
    <dgm:pt modelId="{AB8076A3-8214-4A72-8BE6-3D016A29B457}" type="sibTrans" cxnId="{09278094-4D78-45CA-9098-EA276217AD12}">
      <dgm:prSet/>
      <dgm:spPr/>
      <dgm:t>
        <a:bodyPr/>
        <a:lstStyle/>
        <a:p>
          <a:endParaRPr lang="zh-CN" altLang="en-US" sz="2000"/>
        </a:p>
      </dgm:t>
    </dgm:pt>
    <dgm:pt modelId="{3301E911-511D-419E-83E3-3B52542978DA}">
      <dgm:prSet phldrT="[文本]" custT="1"/>
      <dgm:spPr/>
      <dgm:t>
        <a:bodyPr/>
        <a:lstStyle/>
        <a:p>
          <a:r>
            <a:rPr lang="zh-CN" altLang="en-US" sz="2000" b="1" dirty="0"/>
            <a:t>潜在进入者</a:t>
          </a:r>
          <a:br>
            <a:rPr lang="en-US" altLang="zh-CN" sz="2000" dirty="0"/>
          </a:br>
          <a:endParaRPr lang="en-US" altLang="zh-CN" sz="2000" dirty="0"/>
        </a:p>
        <a:p>
          <a:r>
            <a:rPr lang="zh-CN" altLang="en-US" sz="2000" dirty="0"/>
            <a:t>竞争者威胁</a:t>
          </a:r>
        </a:p>
      </dgm:t>
    </dgm:pt>
    <dgm:pt modelId="{6BC3184B-CB94-4FA8-8C97-68A834164A69}" type="parTrans" cxnId="{BAE36D7D-B5F0-4FA8-86C6-47C95129371B}">
      <dgm:prSet/>
      <dgm:spPr/>
      <dgm:t>
        <a:bodyPr/>
        <a:lstStyle/>
        <a:p>
          <a:endParaRPr lang="zh-CN" altLang="en-US" sz="2000"/>
        </a:p>
      </dgm:t>
    </dgm:pt>
    <dgm:pt modelId="{A271DE78-78AB-49B7-95F6-46A6665E13B3}" type="sibTrans" cxnId="{BAE36D7D-B5F0-4FA8-86C6-47C95129371B}">
      <dgm:prSet/>
      <dgm:spPr/>
      <dgm:t>
        <a:bodyPr/>
        <a:lstStyle/>
        <a:p>
          <a:endParaRPr lang="zh-CN" altLang="en-US" sz="2000"/>
        </a:p>
      </dgm:t>
    </dgm:pt>
    <dgm:pt modelId="{80B38D8F-0F4A-4204-8D56-341A12F94F0E}">
      <dgm:prSet phldrT="[文本]" custT="1"/>
      <dgm:spPr/>
      <dgm:t>
        <a:bodyPr/>
        <a:lstStyle/>
        <a:p>
          <a:r>
            <a:rPr lang="zh-CN" altLang="en-US" sz="2000" b="1" dirty="0"/>
            <a:t>购买者</a:t>
          </a:r>
          <a:br>
            <a:rPr lang="en-US" altLang="zh-CN" sz="2000" dirty="0"/>
          </a:br>
          <a:endParaRPr lang="en-US" altLang="zh-CN" sz="2000" dirty="0"/>
        </a:p>
        <a:p>
          <a:r>
            <a:rPr lang="zh-CN" altLang="en-US" sz="2000" dirty="0"/>
            <a:t>购买者的议价能力</a:t>
          </a:r>
        </a:p>
      </dgm:t>
    </dgm:pt>
    <dgm:pt modelId="{7CA76899-974F-4F87-9B23-D0799561FDCA}" type="parTrans" cxnId="{023366E6-2C31-4ADB-A094-3447442ECE62}">
      <dgm:prSet/>
      <dgm:spPr/>
      <dgm:t>
        <a:bodyPr/>
        <a:lstStyle/>
        <a:p>
          <a:endParaRPr lang="zh-CN" altLang="en-US" sz="2000"/>
        </a:p>
      </dgm:t>
    </dgm:pt>
    <dgm:pt modelId="{8E347799-BF64-4A0B-A831-BA88F687BF1F}" type="sibTrans" cxnId="{023366E6-2C31-4ADB-A094-3447442ECE62}">
      <dgm:prSet/>
      <dgm:spPr/>
      <dgm:t>
        <a:bodyPr/>
        <a:lstStyle/>
        <a:p>
          <a:endParaRPr lang="zh-CN" altLang="en-US" sz="2000"/>
        </a:p>
      </dgm:t>
    </dgm:pt>
    <dgm:pt modelId="{DAD8688F-FA32-4DA5-A23D-7077BB99ED21}">
      <dgm:prSet phldrT="[文本]" custT="1"/>
      <dgm:spPr/>
      <dgm:t>
        <a:bodyPr/>
        <a:lstStyle/>
        <a:p>
          <a:r>
            <a:rPr lang="zh-CN" altLang="en-US" sz="2000" b="1" dirty="0"/>
            <a:t>替代品</a:t>
          </a:r>
          <a:br>
            <a:rPr lang="en-US" altLang="zh-CN" sz="2000" dirty="0"/>
          </a:br>
          <a:endParaRPr lang="en-US" altLang="zh-CN" sz="2000" dirty="0"/>
        </a:p>
        <a:p>
          <a:r>
            <a:rPr lang="zh-CN" altLang="en-US" sz="2000" dirty="0"/>
            <a:t>替代产品的威胁</a:t>
          </a:r>
        </a:p>
      </dgm:t>
    </dgm:pt>
    <dgm:pt modelId="{6179CFCC-B742-40C3-BDD0-838A6471B22A}" type="parTrans" cxnId="{47438C0E-B55E-457C-9E37-3B7422B04EDD}">
      <dgm:prSet/>
      <dgm:spPr/>
      <dgm:t>
        <a:bodyPr/>
        <a:lstStyle/>
        <a:p>
          <a:endParaRPr lang="zh-CN" altLang="en-US" sz="2000"/>
        </a:p>
      </dgm:t>
    </dgm:pt>
    <dgm:pt modelId="{098133EA-F2C7-4253-B0AF-9F5C1CEFF26E}" type="sibTrans" cxnId="{47438C0E-B55E-457C-9E37-3B7422B04EDD}">
      <dgm:prSet/>
      <dgm:spPr/>
      <dgm:t>
        <a:bodyPr/>
        <a:lstStyle/>
        <a:p>
          <a:endParaRPr lang="zh-CN" altLang="en-US" sz="2000"/>
        </a:p>
      </dgm:t>
    </dgm:pt>
    <dgm:pt modelId="{63EE5C34-BF45-405A-8DB2-BA80CD92E6D9}">
      <dgm:prSet phldrT="[文本]" custT="1"/>
      <dgm:spPr/>
      <dgm:t>
        <a:bodyPr/>
        <a:lstStyle/>
        <a:p>
          <a:r>
            <a:rPr lang="zh-CN" altLang="en-US" sz="2000" b="1" dirty="0"/>
            <a:t>供应商</a:t>
          </a:r>
          <a:br>
            <a:rPr lang="en-US" altLang="zh-CN" sz="2000" dirty="0"/>
          </a:br>
          <a:endParaRPr lang="en-US" altLang="zh-CN" sz="2000" dirty="0"/>
        </a:p>
        <a:p>
          <a:r>
            <a:rPr lang="zh-CN" altLang="en-US" sz="2000" dirty="0"/>
            <a:t>讨价还价能力</a:t>
          </a:r>
        </a:p>
      </dgm:t>
    </dgm:pt>
    <dgm:pt modelId="{48F9DE04-74B2-45ED-9450-7601E5293136}" type="parTrans" cxnId="{9B3AA9EA-B481-4041-ACEC-521F9DABFADB}">
      <dgm:prSet/>
      <dgm:spPr/>
      <dgm:t>
        <a:bodyPr/>
        <a:lstStyle/>
        <a:p>
          <a:endParaRPr lang="zh-CN" altLang="en-US" sz="2000"/>
        </a:p>
      </dgm:t>
    </dgm:pt>
    <dgm:pt modelId="{C197D45C-8825-46B1-A3B6-554181B94758}" type="sibTrans" cxnId="{9B3AA9EA-B481-4041-ACEC-521F9DABFADB}">
      <dgm:prSet/>
      <dgm:spPr/>
      <dgm:t>
        <a:bodyPr/>
        <a:lstStyle/>
        <a:p>
          <a:endParaRPr lang="zh-CN" altLang="en-US" sz="2000"/>
        </a:p>
      </dgm:t>
    </dgm:pt>
    <dgm:pt modelId="{E6444D2C-FA89-44AB-A69C-2CD7C0E66250}" type="pres">
      <dgm:prSet presAssocID="{0F762774-11CB-4A3A-B0D1-7119DDD0C1A7}" presName="composite" presStyleCnt="0">
        <dgm:presLayoutVars>
          <dgm:chMax val="1"/>
          <dgm:dir/>
          <dgm:resizeHandles val="exact"/>
        </dgm:presLayoutVars>
      </dgm:prSet>
      <dgm:spPr/>
    </dgm:pt>
    <dgm:pt modelId="{BABE3086-6C45-4E71-86C5-AED985C57240}" type="pres">
      <dgm:prSet presAssocID="{0F762774-11CB-4A3A-B0D1-7119DDD0C1A7}" presName="radial" presStyleCnt="0">
        <dgm:presLayoutVars>
          <dgm:animLvl val="ctr"/>
        </dgm:presLayoutVars>
      </dgm:prSet>
      <dgm:spPr/>
    </dgm:pt>
    <dgm:pt modelId="{B1C5BD55-4359-45E6-9096-412ED876B610}" type="pres">
      <dgm:prSet presAssocID="{AFD8EFF9-3C01-4D03-8DE1-E03E7CAEC5CF}" presName="centerShape" presStyleLbl="vennNode1" presStyleIdx="0" presStyleCnt="5" custScaleX="80239" custScaleY="80239"/>
      <dgm:spPr/>
    </dgm:pt>
    <dgm:pt modelId="{C2F9A696-A26D-4A43-8E4B-16533C03C84C}" type="pres">
      <dgm:prSet presAssocID="{3301E911-511D-419E-83E3-3B52542978DA}" presName="node" presStyleLbl="vennNode1" presStyleIdx="1" presStyleCnt="5">
        <dgm:presLayoutVars>
          <dgm:bulletEnabled val="1"/>
        </dgm:presLayoutVars>
      </dgm:prSet>
      <dgm:spPr/>
    </dgm:pt>
    <dgm:pt modelId="{5502C40D-D053-4228-8AAE-220B08D4CF3D}" type="pres">
      <dgm:prSet presAssocID="{80B38D8F-0F4A-4204-8D56-341A12F94F0E}" presName="node" presStyleLbl="vennNode1" presStyleIdx="2" presStyleCnt="5">
        <dgm:presLayoutVars>
          <dgm:bulletEnabled val="1"/>
        </dgm:presLayoutVars>
      </dgm:prSet>
      <dgm:spPr/>
    </dgm:pt>
    <dgm:pt modelId="{DF5A5E56-EAC0-4BD0-8983-A22A0136EC66}" type="pres">
      <dgm:prSet presAssocID="{DAD8688F-FA32-4DA5-A23D-7077BB99ED21}" presName="node" presStyleLbl="vennNode1" presStyleIdx="3" presStyleCnt="5">
        <dgm:presLayoutVars>
          <dgm:bulletEnabled val="1"/>
        </dgm:presLayoutVars>
      </dgm:prSet>
      <dgm:spPr/>
    </dgm:pt>
    <dgm:pt modelId="{6906441A-4276-45A4-9323-1BBACD622E68}" type="pres">
      <dgm:prSet presAssocID="{63EE5C34-BF45-405A-8DB2-BA80CD92E6D9}" presName="node" presStyleLbl="vennNode1" presStyleIdx="4" presStyleCnt="5">
        <dgm:presLayoutVars>
          <dgm:bulletEnabled val="1"/>
        </dgm:presLayoutVars>
      </dgm:prSet>
      <dgm:spPr/>
    </dgm:pt>
  </dgm:ptLst>
  <dgm:cxnLst>
    <dgm:cxn modelId="{47438C0E-B55E-457C-9E37-3B7422B04EDD}" srcId="{AFD8EFF9-3C01-4D03-8DE1-E03E7CAEC5CF}" destId="{DAD8688F-FA32-4DA5-A23D-7077BB99ED21}" srcOrd="2" destOrd="0" parTransId="{6179CFCC-B742-40C3-BDD0-838A6471B22A}" sibTransId="{098133EA-F2C7-4253-B0AF-9F5C1CEFF26E}"/>
    <dgm:cxn modelId="{048E6415-0F37-4D2E-9440-8539B99DFC90}" type="presOf" srcId="{80B38D8F-0F4A-4204-8D56-341A12F94F0E}" destId="{5502C40D-D053-4228-8AAE-220B08D4CF3D}" srcOrd="0" destOrd="0" presId="urn:microsoft.com/office/officeart/2005/8/layout/radial3"/>
    <dgm:cxn modelId="{2E823244-4D68-400C-8DEB-5C7F35583A72}" type="presOf" srcId="{63EE5C34-BF45-405A-8DB2-BA80CD92E6D9}" destId="{6906441A-4276-45A4-9323-1BBACD622E68}" srcOrd="0" destOrd="0" presId="urn:microsoft.com/office/officeart/2005/8/layout/radial3"/>
    <dgm:cxn modelId="{4906274C-D4F7-4E91-B0B3-5BA180A75B0B}" type="presOf" srcId="{0F762774-11CB-4A3A-B0D1-7119DDD0C1A7}" destId="{E6444D2C-FA89-44AB-A69C-2CD7C0E66250}" srcOrd="0" destOrd="0" presId="urn:microsoft.com/office/officeart/2005/8/layout/radial3"/>
    <dgm:cxn modelId="{3EE88370-FA24-41CB-A805-2813EBAD23AD}" type="presOf" srcId="{3301E911-511D-419E-83E3-3B52542978DA}" destId="{C2F9A696-A26D-4A43-8E4B-16533C03C84C}" srcOrd="0" destOrd="0" presId="urn:microsoft.com/office/officeart/2005/8/layout/radial3"/>
    <dgm:cxn modelId="{BAE36D7D-B5F0-4FA8-86C6-47C95129371B}" srcId="{AFD8EFF9-3C01-4D03-8DE1-E03E7CAEC5CF}" destId="{3301E911-511D-419E-83E3-3B52542978DA}" srcOrd="0" destOrd="0" parTransId="{6BC3184B-CB94-4FA8-8C97-68A834164A69}" sibTransId="{A271DE78-78AB-49B7-95F6-46A6665E13B3}"/>
    <dgm:cxn modelId="{09278094-4D78-45CA-9098-EA276217AD12}" srcId="{0F762774-11CB-4A3A-B0D1-7119DDD0C1A7}" destId="{AFD8EFF9-3C01-4D03-8DE1-E03E7CAEC5CF}" srcOrd="0" destOrd="0" parTransId="{B6A45690-A431-4644-981E-29ABF5441A3A}" sibTransId="{AB8076A3-8214-4A72-8BE6-3D016A29B457}"/>
    <dgm:cxn modelId="{8E133ABB-C170-4B71-A08E-A8F7DC555DF9}" type="presOf" srcId="{AFD8EFF9-3C01-4D03-8DE1-E03E7CAEC5CF}" destId="{B1C5BD55-4359-45E6-9096-412ED876B610}" srcOrd="0" destOrd="0" presId="urn:microsoft.com/office/officeart/2005/8/layout/radial3"/>
    <dgm:cxn modelId="{DE1E9EDB-BFE9-4169-9AFE-CBFE349A8D3D}" type="presOf" srcId="{DAD8688F-FA32-4DA5-A23D-7077BB99ED21}" destId="{DF5A5E56-EAC0-4BD0-8983-A22A0136EC66}" srcOrd="0" destOrd="0" presId="urn:microsoft.com/office/officeart/2005/8/layout/radial3"/>
    <dgm:cxn modelId="{023366E6-2C31-4ADB-A094-3447442ECE62}" srcId="{AFD8EFF9-3C01-4D03-8DE1-E03E7CAEC5CF}" destId="{80B38D8F-0F4A-4204-8D56-341A12F94F0E}" srcOrd="1" destOrd="0" parTransId="{7CA76899-974F-4F87-9B23-D0799561FDCA}" sibTransId="{8E347799-BF64-4A0B-A831-BA88F687BF1F}"/>
    <dgm:cxn modelId="{9B3AA9EA-B481-4041-ACEC-521F9DABFADB}" srcId="{AFD8EFF9-3C01-4D03-8DE1-E03E7CAEC5CF}" destId="{63EE5C34-BF45-405A-8DB2-BA80CD92E6D9}" srcOrd="3" destOrd="0" parTransId="{48F9DE04-74B2-45ED-9450-7601E5293136}" sibTransId="{C197D45C-8825-46B1-A3B6-554181B94758}"/>
    <dgm:cxn modelId="{028457D3-065C-49D0-AFCC-57E6676DA256}" type="presParOf" srcId="{E6444D2C-FA89-44AB-A69C-2CD7C0E66250}" destId="{BABE3086-6C45-4E71-86C5-AED985C57240}" srcOrd="0" destOrd="0" presId="urn:microsoft.com/office/officeart/2005/8/layout/radial3"/>
    <dgm:cxn modelId="{B2E37653-4DF7-492A-8136-55F77BFC0E7E}" type="presParOf" srcId="{BABE3086-6C45-4E71-86C5-AED985C57240}" destId="{B1C5BD55-4359-45E6-9096-412ED876B610}" srcOrd="0" destOrd="0" presId="urn:microsoft.com/office/officeart/2005/8/layout/radial3"/>
    <dgm:cxn modelId="{74D2353C-4C8F-4ABE-99AF-619268C1117A}" type="presParOf" srcId="{BABE3086-6C45-4E71-86C5-AED985C57240}" destId="{C2F9A696-A26D-4A43-8E4B-16533C03C84C}" srcOrd="1" destOrd="0" presId="urn:microsoft.com/office/officeart/2005/8/layout/radial3"/>
    <dgm:cxn modelId="{D8E0B630-7769-4C1A-8ABA-B351256D92A5}" type="presParOf" srcId="{BABE3086-6C45-4E71-86C5-AED985C57240}" destId="{5502C40D-D053-4228-8AAE-220B08D4CF3D}" srcOrd="2" destOrd="0" presId="urn:microsoft.com/office/officeart/2005/8/layout/radial3"/>
    <dgm:cxn modelId="{CFF33A21-201C-49F4-A493-296711411BD7}" type="presParOf" srcId="{BABE3086-6C45-4E71-86C5-AED985C57240}" destId="{DF5A5E56-EAC0-4BD0-8983-A22A0136EC66}" srcOrd="3" destOrd="0" presId="urn:microsoft.com/office/officeart/2005/8/layout/radial3"/>
    <dgm:cxn modelId="{72DD86CC-2164-4D98-AF73-BCEE1D952DD5}" type="presParOf" srcId="{BABE3086-6C45-4E71-86C5-AED985C57240}" destId="{6906441A-4276-45A4-9323-1BBACD622E68}" srcOrd="4"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7F39855-53F5-4AAF-AE42-C5BE6144E473}" type="doc">
      <dgm:prSet loTypeId="urn:microsoft.com/office/officeart/2005/8/layout/radial1" loCatId="cycle" qsTypeId="urn:microsoft.com/office/officeart/2005/8/quickstyle/simple2" qsCatId="simple" csTypeId="urn:microsoft.com/office/officeart/2005/8/colors/colorful2" csCatId="colorful" phldr="1"/>
      <dgm:spPr/>
      <dgm:t>
        <a:bodyPr/>
        <a:lstStyle/>
        <a:p>
          <a:endParaRPr lang="zh-CN" altLang="en-US"/>
        </a:p>
      </dgm:t>
    </dgm:pt>
    <dgm:pt modelId="{89D84F56-1B4F-4C84-A4A7-1A9A06265EEF}">
      <dgm:prSet phldrT="[文本]" custT="1"/>
      <dgm:spPr/>
      <dgm:t>
        <a:bodyPr/>
        <a:lstStyle/>
        <a:p>
          <a:pPr algn="ctr"/>
          <a:r>
            <a:rPr lang="zh-CN" altLang="en-US" sz="3600" dirty="0"/>
            <a:t>企业</a:t>
          </a:r>
        </a:p>
      </dgm:t>
    </dgm:pt>
    <dgm:pt modelId="{93441C9A-02CD-4F45-BCAB-DF70611E7FB0}" type="parTrans" cxnId="{3043731E-15EE-4363-B81C-E33937CE2B50}">
      <dgm:prSet/>
      <dgm:spPr/>
      <dgm:t>
        <a:bodyPr/>
        <a:lstStyle/>
        <a:p>
          <a:pPr algn="ctr"/>
          <a:endParaRPr lang="zh-CN" altLang="en-US" sz="2000"/>
        </a:p>
      </dgm:t>
    </dgm:pt>
    <dgm:pt modelId="{F24DB115-08AF-48BB-890E-7FD8200D1ED4}" type="sibTrans" cxnId="{3043731E-15EE-4363-B81C-E33937CE2B50}">
      <dgm:prSet/>
      <dgm:spPr/>
      <dgm:t>
        <a:bodyPr/>
        <a:lstStyle/>
        <a:p>
          <a:pPr algn="ctr"/>
          <a:endParaRPr lang="zh-CN" altLang="en-US" sz="2000"/>
        </a:p>
      </dgm:t>
    </dgm:pt>
    <dgm:pt modelId="{FF5599DD-ABB8-468F-B5CD-9D389971DF10}">
      <dgm:prSet phldrT="[文本]" custT="1"/>
      <dgm:spPr/>
      <dgm:t>
        <a:bodyPr/>
        <a:lstStyle/>
        <a:p>
          <a:pPr algn="ctr"/>
          <a:r>
            <a:rPr lang="zh-CN" altLang="en-US" sz="2000" b="1" dirty="0"/>
            <a:t>股东</a:t>
          </a:r>
        </a:p>
      </dgm:t>
    </dgm:pt>
    <dgm:pt modelId="{9A29E97B-AE60-4358-B4AB-51A2B1A0C631}" type="parTrans" cxnId="{2FB2889E-9BA0-4377-8111-D0A8152F38CC}">
      <dgm:prSet custT="1"/>
      <dgm:spPr>
        <a:ln>
          <a:solidFill>
            <a:schemeClr val="bg1">
              <a:lumMod val="65000"/>
            </a:schemeClr>
          </a:solidFill>
          <a:prstDash val="sysDot"/>
          <a:headEnd type="triangle" w="med" len="med"/>
          <a:tailEnd type="triangle" w="med" len="med"/>
        </a:ln>
      </dgm:spPr>
      <dgm:t>
        <a:bodyPr/>
        <a:lstStyle/>
        <a:p>
          <a:pPr algn="ctr"/>
          <a:endParaRPr lang="zh-CN" altLang="en-US" sz="600"/>
        </a:p>
      </dgm:t>
    </dgm:pt>
    <dgm:pt modelId="{88108ADA-ED0C-4C54-9C53-CE8DDECADF41}" type="sibTrans" cxnId="{2FB2889E-9BA0-4377-8111-D0A8152F38CC}">
      <dgm:prSet/>
      <dgm:spPr/>
      <dgm:t>
        <a:bodyPr/>
        <a:lstStyle/>
        <a:p>
          <a:pPr algn="ctr"/>
          <a:endParaRPr lang="zh-CN" altLang="en-US" sz="2000"/>
        </a:p>
      </dgm:t>
    </dgm:pt>
    <dgm:pt modelId="{72F48633-5825-4A3C-BC4B-71F16C4ACF58}">
      <dgm:prSet phldrT="[文本]" custT="1"/>
      <dgm:spPr/>
      <dgm:t>
        <a:bodyPr/>
        <a:lstStyle/>
        <a:p>
          <a:pPr algn="ctr"/>
          <a:r>
            <a:rPr lang="zh-CN" altLang="en-US" sz="2000" b="1" dirty="0"/>
            <a:t>政府</a:t>
          </a:r>
        </a:p>
      </dgm:t>
    </dgm:pt>
    <dgm:pt modelId="{D39C5592-1263-4B60-B530-73846C6E35A4}" type="parTrans" cxnId="{91AC88B8-B47A-4443-9400-124098FB6723}">
      <dgm:prSet custT="1"/>
      <dgm:spPr>
        <a:ln>
          <a:solidFill>
            <a:schemeClr val="bg1">
              <a:lumMod val="65000"/>
            </a:schemeClr>
          </a:solidFill>
          <a:prstDash val="sysDot"/>
          <a:headEnd type="triangle" w="med" len="med"/>
          <a:tailEnd type="triangle" w="med" len="med"/>
        </a:ln>
      </dgm:spPr>
      <dgm:t>
        <a:bodyPr/>
        <a:lstStyle/>
        <a:p>
          <a:pPr algn="ctr"/>
          <a:endParaRPr lang="zh-CN" altLang="en-US" sz="600"/>
        </a:p>
      </dgm:t>
    </dgm:pt>
    <dgm:pt modelId="{9D3B0D0C-CD92-4ABB-B48A-FFE7393BB782}" type="sibTrans" cxnId="{91AC88B8-B47A-4443-9400-124098FB6723}">
      <dgm:prSet/>
      <dgm:spPr/>
      <dgm:t>
        <a:bodyPr/>
        <a:lstStyle/>
        <a:p>
          <a:pPr algn="ctr"/>
          <a:endParaRPr lang="zh-CN" altLang="en-US" sz="2000"/>
        </a:p>
      </dgm:t>
    </dgm:pt>
    <dgm:pt modelId="{21DD4964-F15A-4804-959F-53A1F187C1E6}">
      <dgm:prSet phldrT="[文本]" custT="1"/>
      <dgm:spPr/>
      <dgm:t>
        <a:bodyPr/>
        <a:lstStyle/>
        <a:p>
          <a:pPr algn="ctr"/>
          <a:r>
            <a:rPr lang="zh-CN" altLang="en-US" sz="2000" b="1" dirty="0"/>
            <a:t>雇员</a:t>
          </a:r>
        </a:p>
      </dgm:t>
    </dgm:pt>
    <dgm:pt modelId="{0DAB8C00-AEF5-484F-B711-35AA46A0C87B}" type="parTrans" cxnId="{91D7CBE1-AAD6-47EB-AA50-2C04F6C86573}">
      <dgm:prSet custT="1"/>
      <dgm:spPr>
        <a:ln>
          <a:solidFill>
            <a:schemeClr val="bg1">
              <a:lumMod val="65000"/>
            </a:schemeClr>
          </a:solidFill>
          <a:prstDash val="sysDot"/>
          <a:headEnd type="triangle" w="med" len="med"/>
          <a:tailEnd type="triangle" w="med" len="med"/>
        </a:ln>
      </dgm:spPr>
      <dgm:t>
        <a:bodyPr/>
        <a:lstStyle/>
        <a:p>
          <a:pPr algn="ctr"/>
          <a:endParaRPr lang="zh-CN" altLang="en-US" sz="600"/>
        </a:p>
      </dgm:t>
    </dgm:pt>
    <dgm:pt modelId="{9624A56C-A1CE-4D97-B7BA-F65E921CA997}" type="sibTrans" cxnId="{91D7CBE1-AAD6-47EB-AA50-2C04F6C86573}">
      <dgm:prSet/>
      <dgm:spPr/>
      <dgm:t>
        <a:bodyPr/>
        <a:lstStyle/>
        <a:p>
          <a:pPr algn="ctr"/>
          <a:endParaRPr lang="zh-CN" altLang="en-US" sz="2000"/>
        </a:p>
      </dgm:t>
    </dgm:pt>
    <dgm:pt modelId="{26A8E78B-5160-46C7-959E-652C53D7B8CD}">
      <dgm:prSet phldrT="[文本]" custT="1"/>
      <dgm:spPr/>
      <dgm:t>
        <a:bodyPr/>
        <a:lstStyle/>
        <a:p>
          <a:pPr algn="ctr"/>
          <a:r>
            <a:rPr lang="zh-CN" altLang="en-US" sz="2000" b="1" dirty="0"/>
            <a:t>客户</a:t>
          </a:r>
        </a:p>
      </dgm:t>
    </dgm:pt>
    <dgm:pt modelId="{56A39F5C-508F-4DFB-8B48-2BCD63E0AB59}" type="parTrans" cxnId="{CF55E07F-5CB0-4ED3-BAC6-E8418E0F4B4C}">
      <dgm:prSet custT="1"/>
      <dgm:spPr>
        <a:ln>
          <a:solidFill>
            <a:schemeClr val="bg1">
              <a:lumMod val="65000"/>
            </a:schemeClr>
          </a:solidFill>
          <a:prstDash val="sysDot"/>
          <a:headEnd type="triangle" w="med" len="med"/>
          <a:tailEnd type="triangle" w="med" len="med"/>
        </a:ln>
      </dgm:spPr>
      <dgm:t>
        <a:bodyPr/>
        <a:lstStyle/>
        <a:p>
          <a:pPr algn="ctr"/>
          <a:endParaRPr lang="zh-CN" altLang="en-US" sz="600"/>
        </a:p>
      </dgm:t>
    </dgm:pt>
    <dgm:pt modelId="{46CFB082-C521-407E-A244-26D361BC7A7C}" type="sibTrans" cxnId="{CF55E07F-5CB0-4ED3-BAC6-E8418E0F4B4C}">
      <dgm:prSet/>
      <dgm:spPr/>
      <dgm:t>
        <a:bodyPr/>
        <a:lstStyle/>
        <a:p>
          <a:pPr algn="ctr"/>
          <a:endParaRPr lang="zh-CN" altLang="en-US" sz="2000"/>
        </a:p>
      </dgm:t>
    </dgm:pt>
    <dgm:pt modelId="{26F3BE57-D87A-4F6B-9E41-B1FFDFE51F76}">
      <dgm:prSet phldrT="[文本]" custT="1"/>
      <dgm:spPr/>
      <dgm:t>
        <a:bodyPr/>
        <a:lstStyle/>
        <a:p>
          <a:pPr algn="ctr"/>
          <a:r>
            <a:rPr lang="zh-CN" altLang="en-US" sz="2000" b="1" dirty="0"/>
            <a:t>社会</a:t>
          </a:r>
        </a:p>
      </dgm:t>
    </dgm:pt>
    <dgm:pt modelId="{FE40697D-5D2D-464F-97E6-E4ABFD2599C6}" type="parTrans" cxnId="{BB178983-6006-4792-80C3-B8746A3B994F}">
      <dgm:prSet custT="1"/>
      <dgm:spPr>
        <a:ln>
          <a:solidFill>
            <a:schemeClr val="bg1">
              <a:lumMod val="65000"/>
            </a:schemeClr>
          </a:solidFill>
          <a:prstDash val="sysDot"/>
          <a:headEnd type="triangle" w="med" len="med"/>
          <a:tailEnd type="triangle" w="med" len="med"/>
        </a:ln>
      </dgm:spPr>
      <dgm:t>
        <a:bodyPr/>
        <a:lstStyle/>
        <a:p>
          <a:pPr algn="ctr"/>
          <a:endParaRPr lang="zh-CN" altLang="en-US" sz="600"/>
        </a:p>
      </dgm:t>
    </dgm:pt>
    <dgm:pt modelId="{CD9010B5-E4BC-403D-B66A-5AEC0B5EEC7C}" type="sibTrans" cxnId="{BB178983-6006-4792-80C3-B8746A3B994F}">
      <dgm:prSet/>
      <dgm:spPr/>
      <dgm:t>
        <a:bodyPr/>
        <a:lstStyle/>
        <a:p>
          <a:pPr algn="ctr"/>
          <a:endParaRPr lang="zh-CN" altLang="en-US" sz="2000"/>
        </a:p>
      </dgm:t>
    </dgm:pt>
    <dgm:pt modelId="{4F5A4C29-3627-46A3-A5EE-A7C5CC89E0C0}">
      <dgm:prSet phldrT="[文本]" custT="1"/>
      <dgm:spPr/>
      <dgm:t>
        <a:bodyPr/>
        <a:lstStyle/>
        <a:p>
          <a:pPr algn="ctr"/>
          <a:r>
            <a:rPr lang="zh-CN" altLang="en-US" sz="2000" b="1" dirty="0"/>
            <a:t>债权人</a:t>
          </a:r>
        </a:p>
      </dgm:t>
    </dgm:pt>
    <dgm:pt modelId="{34E522B0-5FCB-44DA-8979-A357DC4FCE21}" type="parTrans" cxnId="{954FEE6D-6B75-44CE-A2C8-C2A027398B3A}">
      <dgm:prSet custT="1"/>
      <dgm:spPr>
        <a:ln>
          <a:solidFill>
            <a:schemeClr val="bg1">
              <a:lumMod val="65000"/>
            </a:schemeClr>
          </a:solidFill>
          <a:prstDash val="sysDot"/>
          <a:headEnd type="triangle" w="med" len="med"/>
          <a:tailEnd type="triangle" w="med" len="med"/>
        </a:ln>
      </dgm:spPr>
      <dgm:t>
        <a:bodyPr/>
        <a:lstStyle/>
        <a:p>
          <a:endParaRPr lang="zh-CN" altLang="en-US" sz="600"/>
        </a:p>
      </dgm:t>
    </dgm:pt>
    <dgm:pt modelId="{F683F756-8170-4CDE-9311-13AE7EC14239}" type="sibTrans" cxnId="{954FEE6D-6B75-44CE-A2C8-C2A027398B3A}">
      <dgm:prSet/>
      <dgm:spPr/>
      <dgm:t>
        <a:bodyPr/>
        <a:lstStyle/>
        <a:p>
          <a:endParaRPr lang="zh-CN" altLang="en-US" sz="2000"/>
        </a:p>
      </dgm:t>
    </dgm:pt>
    <dgm:pt modelId="{CFE993B1-1AD7-4ECB-AB06-77C8F56A3AFB}" type="pres">
      <dgm:prSet presAssocID="{37F39855-53F5-4AAF-AE42-C5BE6144E473}" presName="cycle" presStyleCnt="0">
        <dgm:presLayoutVars>
          <dgm:chMax val="1"/>
          <dgm:dir/>
          <dgm:animLvl val="ctr"/>
          <dgm:resizeHandles val="exact"/>
        </dgm:presLayoutVars>
      </dgm:prSet>
      <dgm:spPr/>
    </dgm:pt>
    <dgm:pt modelId="{0C0276AB-6598-44B9-ADBF-4EF1A84957B3}" type="pres">
      <dgm:prSet presAssocID="{89D84F56-1B4F-4C84-A4A7-1A9A06265EEF}" presName="centerShape" presStyleLbl="node0" presStyleIdx="0" presStyleCnt="1"/>
      <dgm:spPr/>
    </dgm:pt>
    <dgm:pt modelId="{021FF07D-9633-4091-B1E3-9764CF9DF18B}" type="pres">
      <dgm:prSet presAssocID="{9A29E97B-AE60-4358-B4AB-51A2B1A0C631}" presName="Name9" presStyleLbl="parChTrans1D2" presStyleIdx="0" presStyleCnt="6"/>
      <dgm:spPr/>
    </dgm:pt>
    <dgm:pt modelId="{08DDE287-F3A2-4AFC-AAAF-62719254964A}" type="pres">
      <dgm:prSet presAssocID="{9A29E97B-AE60-4358-B4AB-51A2B1A0C631}" presName="connTx" presStyleLbl="parChTrans1D2" presStyleIdx="0" presStyleCnt="6"/>
      <dgm:spPr/>
    </dgm:pt>
    <dgm:pt modelId="{69882A96-083C-4403-AF74-A27D5B79E932}" type="pres">
      <dgm:prSet presAssocID="{FF5599DD-ABB8-468F-B5CD-9D389971DF10}" presName="node" presStyleLbl="node1" presStyleIdx="0" presStyleCnt="6" custScaleX="62973" custScaleY="64012" custRadScaleRad="89770" custRadScaleInc="691">
        <dgm:presLayoutVars>
          <dgm:bulletEnabled val="1"/>
        </dgm:presLayoutVars>
      </dgm:prSet>
      <dgm:spPr/>
    </dgm:pt>
    <dgm:pt modelId="{72C69E55-0490-495A-B243-247739D14501}" type="pres">
      <dgm:prSet presAssocID="{34E522B0-5FCB-44DA-8979-A357DC4FCE21}" presName="Name9" presStyleLbl="parChTrans1D2" presStyleIdx="1" presStyleCnt="6"/>
      <dgm:spPr/>
    </dgm:pt>
    <dgm:pt modelId="{8351E8A3-29F2-4154-AD55-78DAD7D4BE20}" type="pres">
      <dgm:prSet presAssocID="{34E522B0-5FCB-44DA-8979-A357DC4FCE21}" presName="connTx" presStyleLbl="parChTrans1D2" presStyleIdx="1" presStyleCnt="6"/>
      <dgm:spPr/>
    </dgm:pt>
    <dgm:pt modelId="{09F568E9-B74F-430D-B56C-C809B5DFB17C}" type="pres">
      <dgm:prSet presAssocID="{4F5A4C29-3627-46A3-A5EE-A7C5CC89E0C0}" presName="node" presStyleLbl="node1" presStyleIdx="1" presStyleCnt="6" custScaleX="62973" custScaleY="64012">
        <dgm:presLayoutVars>
          <dgm:bulletEnabled val="1"/>
        </dgm:presLayoutVars>
      </dgm:prSet>
      <dgm:spPr/>
    </dgm:pt>
    <dgm:pt modelId="{B407FD0B-9C7E-4782-8B2B-059A4ECA62C2}" type="pres">
      <dgm:prSet presAssocID="{D39C5592-1263-4B60-B530-73846C6E35A4}" presName="Name9" presStyleLbl="parChTrans1D2" presStyleIdx="2" presStyleCnt="6"/>
      <dgm:spPr/>
    </dgm:pt>
    <dgm:pt modelId="{B60FCE3B-7BFF-4D15-A336-8689B12CFD5C}" type="pres">
      <dgm:prSet presAssocID="{D39C5592-1263-4B60-B530-73846C6E35A4}" presName="connTx" presStyleLbl="parChTrans1D2" presStyleIdx="2" presStyleCnt="6"/>
      <dgm:spPr/>
    </dgm:pt>
    <dgm:pt modelId="{E5FFDA36-2489-41C8-A6BA-89BAEC2AC2E6}" type="pres">
      <dgm:prSet presAssocID="{72F48633-5825-4A3C-BC4B-71F16C4ACF58}" presName="node" presStyleLbl="node1" presStyleIdx="2" presStyleCnt="6" custScaleX="62973" custScaleY="64012">
        <dgm:presLayoutVars>
          <dgm:bulletEnabled val="1"/>
        </dgm:presLayoutVars>
      </dgm:prSet>
      <dgm:spPr/>
    </dgm:pt>
    <dgm:pt modelId="{F0ED9A2D-74F3-48FB-957D-494C18F7C621}" type="pres">
      <dgm:prSet presAssocID="{0DAB8C00-AEF5-484F-B711-35AA46A0C87B}" presName="Name9" presStyleLbl="parChTrans1D2" presStyleIdx="3" presStyleCnt="6"/>
      <dgm:spPr/>
    </dgm:pt>
    <dgm:pt modelId="{613314FA-8AEC-4136-A2D7-2E8044259B0B}" type="pres">
      <dgm:prSet presAssocID="{0DAB8C00-AEF5-484F-B711-35AA46A0C87B}" presName="connTx" presStyleLbl="parChTrans1D2" presStyleIdx="3" presStyleCnt="6"/>
      <dgm:spPr/>
    </dgm:pt>
    <dgm:pt modelId="{8C3BC8A6-8B35-4B74-903B-5F9B772249C4}" type="pres">
      <dgm:prSet presAssocID="{21DD4964-F15A-4804-959F-53A1F187C1E6}" presName="node" presStyleLbl="node1" presStyleIdx="3" presStyleCnt="6" custScaleX="62973" custScaleY="64012">
        <dgm:presLayoutVars>
          <dgm:bulletEnabled val="1"/>
        </dgm:presLayoutVars>
      </dgm:prSet>
      <dgm:spPr/>
    </dgm:pt>
    <dgm:pt modelId="{ABA9A774-AA5A-4D45-9E78-DDA3E600D3C2}" type="pres">
      <dgm:prSet presAssocID="{56A39F5C-508F-4DFB-8B48-2BCD63E0AB59}" presName="Name9" presStyleLbl="parChTrans1D2" presStyleIdx="4" presStyleCnt="6"/>
      <dgm:spPr/>
    </dgm:pt>
    <dgm:pt modelId="{75419370-54F9-4B40-AE1A-415D22410ECA}" type="pres">
      <dgm:prSet presAssocID="{56A39F5C-508F-4DFB-8B48-2BCD63E0AB59}" presName="connTx" presStyleLbl="parChTrans1D2" presStyleIdx="4" presStyleCnt="6"/>
      <dgm:spPr/>
    </dgm:pt>
    <dgm:pt modelId="{245E6957-20C1-492B-8E6F-1A2400C701ED}" type="pres">
      <dgm:prSet presAssocID="{26A8E78B-5160-46C7-959E-652C53D7B8CD}" presName="node" presStyleLbl="node1" presStyleIdx="4" presStyleCnt="6" custScaleX="62973" custScaleY="64012">
        <dgm:presLayoutVars>
          <dgm:bulletEnabled val="1"/>
        </dgm:presLayoutVars>
      </dgm:prSet>
      <dgm:spPr/>
    </dgm:pt>
    <dgm:pt modelId="{C2893A9A-FD2C-4E19-9E53-6DF242815998}" type="pres">
      <dgm:prSet presAssocID="{FE40697D-5D2D-464F-97E6-E4ABFD2599C6}" presName="Name9" presStyleLbl="parChTrans1D2" presStyleIdx="5" presStyleCnt="6"/>
      <dgm:spPr/>
    </dgm:pt>
    <dgm:pt modelId="{640976C2-E322-42A9-9F76-675F54047BC2}" type="pres">
      <dgm:prSet presAssocID="{FE40697D-5D2D-464F-97E6-E4ABFD2599C6}" presName="connTx" presStyleLbl="parChTrans1D2" presStyleIdx="5" presStyleCnt="6"/>
      <dgm:spPr/>
    </dgm:pt>
    <dgm:pt modelId="{0925C147-C1FF-4AA0-873E-5BBA2480A55D}" type="pres">
      <dgm:prSet presAssocID="{26F3BE57-D87A-4F6B-9E41-B1FFDFE51F76}" presName="node" presStyleLbl="node1" presStyleIdx="5" presStyleCnt="6" custScaleX="62973" custScaleY="64012">
        <dgm:presLayoutVars>
          <dgm:bulletEnabled val="1"/>
        </dgm:presLayoutVars>
      </dgm:prSet>
      <dgm:spPr/>
    </dgm:pt>
  </dgm:ptLst>
  <dgm:cxnLst>
    <dgm:cxn modelId="{34E94601-4FFE-4C39-8A02-A72CEFF4D8BA}" type="presOf" srcId="{4F5A4C29-3627-46A3-A5EE-A7C5CC89E0C0}" destId="{09F568E9-B74F-430D-B56C-C809B5DFB17C}" srcOrd="0" destOrd="0" presId="urn:microsoft.com/office/officeart/2005/8/layout/radial1"/>
    <dgm:cxn modelId="{78C57708-2166-47A4-B34E-E449B6FC29A0}" type="presOf" srcId="{56A39F5C-508F-4DFB-8B48-2BCD63E0AB59}" destId="{75419370-54F9-4B40-AE1A-415D22410ECA}" srcOrd="1" destOrd="0" presId="urn:microsoft.com/office/officeart/2005/8/layout/radial1"/>
    <dgm:cxn modelId="{C71D1716-285D-4643-9B3D-FD2064DE73A1}" type="presOf" srcId="{26A8E78B-5160-46C7-959E-652C53D7B8CD}" destId="{245E6957-20C1-492B-8E6F-1A2400C701ED}" srcOrd="0" destOrd="0" presId="urn:microsoft.com/office/officeart/2005/8/layout/radial1"/>
    <dgm:cxn modelId="{3043731E-15EE-4363-B81C-E33937CE2B50}" srcId="{37F39855-53F5-4AAF-AE42-C5BE6144E473}" destId="{89D84F56-1B4F-4C84-A4A7-1A9A06265EEF}" srcOrd="0" destOrd="0" parTransId="{93441C9A-02CD-4F45-BCAB-DF70611E7FB0}" sibTransId="{F24DB115-08AF-48BB-890E-7FD8200D1ED4}"/>
    <dgm:cxn modelId="{5DB9111F-770D-4846-BB29-F124893808E0}" type="presOf" srcId="{56A39F5C-508F-4DFB-8B48-2BCD63E0AB59}" destId="{ABA9A774-AA5A-4D45-9E78-DDA3E600D3C2}" srcOrd="0" destOrd="0" presId="urn:microsoft.com/office/officeart/2005/8/layout/radial1"/>
    <dgm:cxn modelId="{F2A7CF23-0049-4326-A2FA-55EEB7C1A4A7}" type="presOf" srcId="{37F39855-53F5-4AAF-AE42-C5BE6144E473}" destId="{CFE993B1-1AD7-4ECB-AB06-77C8F56A3AFB}" srcOrd="0" destOrd="0" presId="urn:microsoft.com/office/officeart/2005/8/layout/radial1"/>
    <dgm:cxn modelId="{0AA8EE2A-F3F3-4369-A1AD-3FCDA032CE5C}" type="presOf" srcId="{26F3BE57-D87A-4F6B-9E41-B1FFDFE51F76}" destId="{0925C147-C1FF-4AA0-873E-5BBA2480A55D}" srcOrd="0" destOrd="0" presId="urn:microsoft.com/office/officeart/2005/8/layout/radial1"/>
    <dgm:cxn modelId="{06C0975F-51B8-4DB8-9797-D4F622B401F0}" type="presOf" srcId="{0DAB8C00-AEF5-484F-B711-35AA46A0C87B}" destId="{F0ED9A2D-74F3-48FB-957D-494C18F7C621}" srcOrd="0" destOrd="0" presId="urn:microsoft.com/office/officeart/2005/8/layout/radial1"/>
    <dgm:cxn modelId="{7FD4944C-DF95-4FD6-B119-F6B3B08F8175}" type="presOf" srcId="{9A29E97B-AE60-4358-B4AB-51A2B1A0C631}" destId="{021FF07D-9633-4091-B1E3-9764CF9DF18B}" srcOrd="0" destOrd="0" presId="urn:microsoft.com/office/officeart/2005/8/layout/radial1"/>
    <dgm:cxn modelId="{954FEE6D-6B75-44CE-A2C8-C2A027398B3A}" srcId="{89D84F56-1B4F-4C84-A4A7-1A9A06265EEF}" destId="{4F5A4C29-3627-46A3-A5EE-A7C5CC89E0C0}" srcOrd="1" destOrd="0" parTransId="{34E522B0-5FCB-44DA-8979-A357DC4FCE21}" sibTransId="{F683F756-8170-4CDE-9311-13AE7EC14239}"/>
    <dgm:cxn modelId="{ADA3347D-987F-4E4E-B7AB-9D3483AB9FEA}" type="presOf" srcId="{FF5599DD-ABB8-468F-B5CD-9D389971DF10}" destId="{69882A96-083C-4403-AF74-A27D5B79E932}" srcOrd="0" destOrd="0" presId="urn:microsoft.com/office/officeart/2005/8/layout/radial1"/>
    <dgm:cxn modelId="{CF55E07F-5CB0-4ED3-BAC6-E8418E0F4B4C}" srcId="{89D84F56-1B4F-4C84-A4A7-1A9A06265EEF}" destId="{26A8E78B-5160-46C7-959E-652C53D7B8CD}" srcOrd="4" destOrd="0" parTransId="{56A39F5C-508F-4DFB-8B48-2BCD63E0AB59}" sibTransId="{46CFB082-C521-407E-A244-26D361BC7A7C}"/>
    <dgm:cxn modelId="{BB178983-6006-4792-80C3-B8746A3B994F}" srcId="{89D84F56-1B4F-4C84-A4A7-1A9A06265EEF}" destId="{26F3BE57-D87A-4F6B-9E41-B1FFDFE51F76}" srcOrd="5" destOrd="0" parTransId="{FE40697D-5D2D-464F-97E6-E4ABFD2599C6}" sibTransId="{CD9010B5-E4BC-403D-B66A-5AEC0B5EEC7C}"/>
    <dgm:cxn modelId="{DAA28989-9A8E-4203-B684-1CAA1D7158CE}" type="presOf" srcId="{21DD4964-F15A-4804-959F-53A1F187C1E6}" destId="{8C3BC8A6-8B35-4B74-903B-5F9B772249C4}" srcOrd="0" destOrd="0" presId="urn:microsoft.com/office/officeart/2005/8/layout/radial1"/>
    <dgm:cxn modelId="{2FB2889E-9BA0-4377-8111-D0A8152F38CC}" srcId="{89D84F56-1B4F-4C84-A4A7-1A9A06265EEF}" destId="{FF5599DD-ABB8-468F-B5CD-9D389971DF10}" srcOrd="0" destOrd="0" parTransId="{9A29E97B-AE60-4358-B4AB-51A2B1A0C631}" sibTransId="{88108ADA-ED0C-4C54-9C53-CE8DDECADF41}"/>
    <dgm:cxn modelId="{A17E9CAC-9440-4E99-842C-66B24B915CEA}" type="presOf" srcId="{FE40697D-5D2D-464F-97E6-E4ABFD2599C6}" destId="{C2893A9A-FD2C-4E19-9E53-6DF242815998}" srcOrd="0" destOrd="0" presId="urn:microsoft.com/office/officeart/2005/8/layout/radial1"/>
    <dgm:cxn modelId="{2E7591B1-99A6-4661-8DD0-575DA1D45494}" type="presOf" srcId="{72F48633-5825-4A3C-BC4B-71F16C4ACF58}" destId="{E5FFDA36-2489-41C8-A6BA-89BAEC2AC2E6}" srcOrd="0" destOrd="0" presId="urn:microsoft.com/office/officeart/2005/8/layout/radial1"/>
    <dgm:cxn modelId="{EB3F72B2-3A1E-476D-9DD3-C7EEAE8D917D}" type="presOf" srcId="{D39C5592-1263-4B60-B530-73846C6E35A4}" destId="{B60FCE3B-7BFF-4D15-A336-8689B12CFD5C}" srcOrd="1" destOrd="0" presId="urn:microsoft.com/office/officeart/2005/8/layout/radial1"/>
    <dgm:cxn modelId="{91AC88B8-B47A-4443-9400-124098FB6723}" srcId="{89D84F56-1B4F-4C84-A4A7-1A9A06265EEF}" destId="{72F48633-5825-4A3C-BC4B-71F16C4ACF58}" srcOrd="2" destOrd="0" parTransId="{D39C5592-1263-4B60-B530-73846C6E35A4}" sibTransId="{9D3B0D0C-CD92-4ABB-B48A-FFE7393BB782}"/>
    <dgm:cxn modelId="{BBEBC7B8-A710-4FE7-91F9-E2ED5B5CBE55}" type="presOf" srcId="{34E522B0-5FCB-44DA-8979-A357DC4FCE21}" destId="{8351E8A3-29F2-4154-AD55-78DAD7D4BE20}" srcOrd="1" destOrd="0" presId="urn:microsoft.com/office/officeart/2005/8/layout/radial1"/>
    <dgm:cxn modelId="{EE630FBB-A136-4AA3-9D89-5B41026BD1D2}" type="presOf" srcId="{D39C5592-1263-4B60-B530-73846C6E35A4}" destId="{B407FD0B-9C7E-4782-8B2B-059A4ECA62C2}" srcOrd="0" destOrd="0" presId="urn:microsoft.com/office/officeart/2005/8/layout/radial1"/>
    <dgm:cxn modelId="{B66263CD-8CAB-4F4D-BBE1-EE8743EB91BE}" type="presOf" srcId="{89D84F56-1B4F-4C84-A4A7-1A9A06265EEF}" destId="{0C0276AB-6598-44B9-ADBF-4EF1A84957B3}" srcOrd="0" destOrd="0" presId="urn:microsoft.com/office/officeart/2005/8/layout/radial1"/>
    <dgm:cxn modelId="{780908D0-0E33-4478-9C77-40EA2A110818}" type="presOf" srcId="{FE40697D-5D2D-464F-97E6-E4ABFD2599C6}" destId="{640976C2-E322-42A9-9F76-675F54047BC2}" srcOrd="1" destOrd="0" presId="urn:microsoft.com/office/officeart/2005/8/layout/radial1"/>
    <dgm:cxn modelId="{52707DD1-5A00-4E63-8A9E-38E52F106CD8}" type="presOf" srcId="{0DAB8C00-AEF5-484F-B711-35AA46A0C87B}" destId="{613314FA-8AEC-4136-A2D7-2E8044259B0B}" srcOrd="1" destOrd="0" presId="urn:microsoft.com/office/officeart/2005/8/layout/radial1"/>
    <dgm:cxn modelId="{7178EBD5-2402-4CB1-B1E8-2D03642462A7}" type="presOf" srcId="{9A29E97B-AE60-4358-B4AB-51A2B1A0C631}" destId="{08DDE287-F3A2-4AFC-AAAF-62719254964A}" srcOrd="1" destOrd="0" presId="urn:microsoft.com/office/officeart/2005/8/layout/radial1"/>
    <dgm:cxn modelId="{91D7CBE1-AAD6-47EB-AA50-2C04F6C86573}" srcId="{89D84F56-1B4F-4C84-A4A7-1A9A06265EEF}" destId="{21DD4964-F15A-4804-959F-53A1F187C1E6}" srcOrd="3" destOrd="0" parTransId="{0DAB8C00-AEF5-484F-B711-35AA46A0C87B}" sibTransId="{9624A56C-A1CE-4D97-B7BA-F65E921CA997}"/>
    <dgm:cxn modelId="{65556BEE-DD9B-4E49-8D1B-9508A361E26B}" type="presOf" srcId="{34E522B0-5FCB-44DA-8979-A357DC4FCE21}" destId="{72C69E55-0490-495A-B243-247739D14501}" srcOrd="0" destOrd="0" presId="urn:microsoft.com/office/officeart/2005/8/layout/radial1"/>
    <dgm:cxn modelId="{7265A988-2604-487A-84F9-9866F5F8893B}" type="presParOf" srcId="{CFE993B1-1AD7-4ECB-AB06-77C8F56A3AFB}" destId="{0C0276AB-6598-44B9-ADBF-4EF1A84957B3}" srcOrd="0" destOrd="0" presId="urn:microsoft.com/office/officeart/2005/8/layout/radial1"/>
    <dgm:cxn modelId="{32F0486B-9187-4F60-B1AF-FEDF7CA40AEF}" type="presParOf" srcId="{CFE993B1-1AD7-4ECB-AB06-77C8F56A3AFB}" destId="{021FF07D-9633-4091-B1E3-9764CF9DF18B}" srcOrd="1" destOrd="0" presId="urn:microsoft.com/office/officeart/2005/8/layout/radial1"/>
    <dgm:cxn modelId="{E7AC3F3D-A46E-4AFC-B5DA-23D1485F451B}" type="presParOf" srcId="{021FF07D-9633-4091-B1E3-9764CF9DF18B}" destId="{08DDE287-F3A2-4AFC-AAAF-62719254964A}" srcOrd="0" destOrd="0" presId="urn:microsoft.com/office/officeart/2005/8/layout/radial1"/>
    <dgm:cxn modelId="{9ABCE8CD-F892-40BC-BCAF-6DCB1F497E9B}" type="presParOf" srcId="{CFE993B1-1AD7-4ECB-AB06-77C8F56A3AFB}" destId="{69882A96-083C-4403-AF74-A27D5B79E932}" srcOrd="2" destOrd="0" presId="urn:microsoft.com/office/officeart/2005/8/layout/radial1"/>
    <dgm:cxn modelId="{EFA26D77-1B8E-41BB-B62E-30858D480517}" type="presParOf" srcId="{CFE993B1-1AD7-4ECB-AB06-77C8F56A3AFB}" destId="{72C69E55-0490-495A-B243-247739D14501}" srcOrd="3" destOrd="0" presId="urn:microsoft.com/office/officeart/2005/8/layout/radial1"/>
    <dgm:cxn modelId="{DA9B68EE-D6A4-4CBB-8ACE-D3F6765C1750}" type="presParOf" srcId="{72C69E55-0490-495A-B243-247739D14501}" destId="{8351E8A3-29F2-4154-AD55-78DAD7D4BE20}" srcOrd="0" destOrd="0" presId="urn:microsoft.com/office/officeart/2005/8/layout/radial1"/>
    <dgm:cxn modelId="{CDC5AC9F-16A9-4BF8-A6D7-97C26D0DA61D}" type="presParOf" srcId="{CFE993B1-1AD7-4ECB-AB06-77C8F56A3AFB}" destId="{09F568E9-B74F-430D-B56C-C809B5DFB17C}" srcOrd="4" destOrd="0" presId="urn:microsoft.com/office/officeart/2005/8/layout/radial1"/>
    <dgm:cxn modelId="{A209B378-C6D2-4A63-A4E5-CE3B1538473E}" type="presParOf" srcId="{CFE993B1-1AD7-4ECB-AB06-77C8F56A3AFB}" destId="{B407FD0B-9C7E-4782-8B2B-059A4ECA62C2}" srcOrd="5" destOrd="0" presId="urn:microsoft.com/office/officeart/2005/8/layout/radial1"/>
    <dgm:cxn modelId="{D77E6756-8C30-4602-901E-B76FAF012462}" type="presParOf" srcId="{B407FD0B-9C7E-4782-8B2B-059A4ECA62C2}" destId="{B60FCE3B-7BFF-4D15-A336-8689B12CFD5C}" srcOrd="0" destOrd="0" presId="urn:microsoft.com/office/officeart/2005/8/layout/radial1"/>
    <dgm:cxn modelId="{24229831-265E-4AFB-8503-9B67CECE9975}" type="presParOf" srcId="{CFE993B1-1AD7-4ECB-AB06-77C8F56A3AFB}" destId="{E5FFDA36-2489-41C8-A6BA-89BAEC2AC2E6}" srcOrd="6" destOrd="0" presId="urn:microsoft.com/office/officeart/2005/8/layout/radial1"/>
    <dgm:cxn modelId="{38172427-FE01-4E98-B44D-2BA5E661A43F}" type="presParOf" srcId="{CFE993B1-1AD7-4ECB-AB06-77C8F56A3AFB}" destId="{F0ED9A2D-74F3-48FB-957D-494C18F7C621}" srcOrd="7" destOrd="0" presId="urn:microsoft.com/office/officeart/2005/8/layout/radial1"/>
    <dgm:cxn modelId="{132318BD-B403-4058-9916-70CB5F4164A3}" type="presParOf" srcId="{F0ED9A2D-74F3-48FB-957D-494C18F7C621}" destId="{613314FA-8AEC-4136-A2D7-2E8044259B0B}" srcOrd="0" destOrd="0" presId="urn:microsoft.com/office/officeart/2005/8/layout/radial1"/>
    <dgm:cxn modelId="{470A82E3-651C-49B0-ACDB-392841FA36D5}" type="presParOf" srcId="{CFE993B1-1AD7-4ECB-AB06-77C8F56A3AFB}" destId="{8C3BC8A6-8B35-4B74-903B-5F9B772249C4}" srcOrd="8" destOrd="0" presId="urn:microsoft.com/office/officeart/2005/8/layout/radial1"/>
    <dgm:cxn modelId="{7310BD36-AFE1-40AC-9F8F-914D80D109F5}" type="presParOf" srcId="{CFE993B1-1AD7-4ECB-AB06-77C8F56A3AFB}" destId="{ABA9A774-AA5A-4D45-9E78-DDA3E600D3C2}" srcOrd="9" destOrd="0" presId="urn:microsoft.com/office/officeart/2005/8/layout/radial1"/>
    <dgm:cxn modelId="{39126E04-2019-42BC-94F5-7D8B0EED3705}" type="presParOf" srcId="{ABA9A774-AA5A-4D45-9E78-DDA3E600D3C2}" destId="{75419370-54F9-4B40-AE1A-415D22410ECA}" srcOrd="0" destOrd="0" presId="urn:microsoft.com/office/officeart/2005/8/layout/radial1"/>
    <dgm:cxn modelId="{59F9B760-004A-41DD-82BF-D21FDCCAAF2B}" type="presParOf" srcId="{CFE993B1-1AD7-4ECB-AB06-77C8F56A3AFB}" destId="{245E6957-20C1-492B-8E6F-1A2400C701ED}" srcOrd="10" destOrd="0" presId="urn:microsoft.com/office/officeart/2005/8/layout/radial1"/>
    <dgm:cxn modelId="{2970119E-16B1-42FF-A88F-5B910A8FCD55}" type="presParOf" srcId="{CFE993B1-1AD7-4ECB-AB06-77C8F56A3AFB}" destId="{C2893A9A-FD2C-4E19-9E53-6DF242815998}" srcOrd="11" destOrd="0" presId="urn:microsoft.com/office/officeart/2005/8/layout/radial1"/>
    <dgm:cxn modelId="{64A60D9B-FF5A-4AB9-9A3E-EF6FB8304320}" type="presParOf" srcId="{C2893A9A-FD2C-4E19-9E53-6DF242815998}" destId="{640976C2-E322-42A9-9F76-675F54047BC2}" srcOrd="0" destOrd="0" presId="urn:microsoft.com/office/officeart/2005/8/layout/radial1"/>
    <dgm:cxn modelId="{52533833-4EAD-465F-9087-83E6544E4669}" type="presParOf" srcId="{CFE993B1-1AD7-4ECB-AB06-77C8F56A3AFB}" destId="{0925C147-C1FF-4AA0-873E-5BBA2480A55D}" srcOrd="12"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BDDD279-0D78-43B5-9DD6-9CB5A277F5DE}" type="doc">
      <dgm:prSet loTypeId="urn:microsoft.com/office/officeart/2005/8/layout/hList2" loCatId="list" qsTypeId="urn:microsoft.com/office/officeart/2005/8/quickstyle/simple2" qsCatId="simple" csTypeId="urn:microsoft.com/office/officeart/2005/8/colors/colorful1" csCatId="colorful" phldr="1"/>
      <dgm:spPr/>
      <dgm:t>
        <a:bodyPr/>
        <a:lstStyle/>
        <a:p>
          <a:endParaRPr lang="en-US"/>
        </a:p>
      </dgm:t>
    </dgm:pt>
    <dgm:pt modelId="{9DDD6D95-3D15-461E-B2E8-49919EDD2714}">
      <dgm:prSet phldrT="[Text]" custT="1"/>
      <dgm:spPr/>
      <dgm:t>
        <a:bodyPr/>
        <a:lstStyle/>
        <a:p>
          <a:r>
            <a:rPr lang="zh-CN" altLang="en-US" sz="4400" b="1" dirty="0">
              <a:solidFill>
                <a:srgbClr val="C00000"/>
              </a:solidFill>
            </a:rPr>
            <a:t>触发情形</a:t>
          </a:r>
          <a:endParaRPr lang="en-US" sz="4400" b="1" dirty="0">
            <a:solidFill>
              <a:srgbClr val="C00000"/>
            </a:solidFill>
          </a:endParaRPr>
        </a:p>
      </dgm:t>
    </dgm:pt>
    <dgm:pt modelId="{9BBCC928-0092-470B-AA77-1A18541E7275}" type="parTrans" cxnId="{CA591CD0-CC0E-4D8E-8F55-41E7C39F260A}">
      <dgm:prSet/>
      <dgm:spPr/>
      <dgm:t>
        <a:bodyPr/>
        <a:lstStyle/>
        <a:p>
          <a:endParaRPr lang="en-US"/>
        </a:p>
      </dgm:t>
    </dgm:pt>
    <dgm:pt modelId="{477396D8-0E2C-4323-94CA-BA9C20E80193}" type="sibTrans" cxnId="{CA591CD0-CC0E-4D8E-8F55-41E7C39F260A}">
      <dgm:prSet/>
      <dgm:spPr/>
      <dgm:t>
        <a:bodyPr/>
        <a:lstStyle/>
        <a:p>
          <a:endParaRPr lang="en-US"/>
        </a:p>
      </dgm:t>
    </dgm:pt>
    <dgm:pt modelId="{0650C90B-E27A-4F12-9562-B735F5C48E56}">
      <dgm:prSet phldrT="[Text]" custT="1"/>
      <dgm:spPr/>
      <dgm:t>
        <a:bodyPr/>
        <a:lstStyle/>
        <a:p>
          <a:r>
            <a:rPr lang="zh-CN" altLang="en-US" sz="2400" b="1" dirty="0"/>
            <a:t>违约主体范围</a:t>
          </a:r>
          <a:r>
            <a:rPr lang="zh-CN" altLang="en-US" sz="2400" dirty="0"/>
            <a:t>：包含发行人全部</a:t>
          </a:r>
          <a:r>
            <a:rPr lang="en-US" altLang="zh-CN" sz="2400" dirty="0"/>
            <a:t>/</a:t>
          </a:r>
          <a:r>
            <a:rPr lang="zh-CN" altLang="en-US" sz="2400" dirty="0"/>
            <a:t>部分子公司、控股股东及其子公司的债务</a:t>
          </a:r>
          <a:endParaRPr lang="en-US" sz="2400" dirty="0"/>
        </a:p>
      </dgm:t>
    </dgm:pt>
    <dgm:pt modelId="{4AD5EC1B-0A68-4132-8093-113AD44BB842}" type="parTrans" cxnId="{D200186C-21A4-4F41-AE41-36C383FD87F8}">
      <dgm:prSet/>
      <dgm:spPr/>
      <dgm:t>
        <a:bodyPr/>
        <a:lstStyle/>
        <a:p>
          <a:endParaRPr lang="en-US"/>
        </a:p>
      </dgm:t>
    </dgm:pt>
    <dgm:pt modelId="{575ACD62-C7A1-4AED-8DA1-AC5374A4FB3A}" type="sibTrans" cxnId="{D200186C-21A4-4F41-AE41-36C383FD87F8}">
      <dgm:prSet/>
      <dgm:spPr/>
      <dgm:t>
        <a:bodyPr/>
        <a:lstStyle/>
        <a:p>
          <a:endParaRPr lang="en-US"/>
        </a:p>
      </dgm:t>
    </dgm:pt>
    <dgm:pt modelId="{308E37CD-3F0C-4584-A032-7DD4FD06802B}">
      <dgm:prSet phldrT="[Text]" custT="1"/>
      <dgm:spPr/>
      <dgm:t>
        <a:bodyPr/>
        <a:lstStyle/>
        <a:p>
          <a:r>
            <a:rPr lang="zh-CN" altLang="en-US" sz="4400" b="1" dirty="0">
              <a:solidFill>
                <a:schemeClr val="tx2">
                  <a:lumMod val="75000"/>
                </a:schemeClr>
              </a:solidFill>
            </a:rPr>
            <a:t>处置程序</a:t>
          </a:r>
          <a:endParaRPr lang="en-US" sz="4400" b="1" dirty="0">
            <a:solidFill>
              <a:schemeClr val="tx2">
                <a:lumMod val="75000"/>
              </a:schemeClr>
            </a:solidFill>
          </a:endParaRPr>
        </a:p>
      </dgm:t>
    </dgm:pt>
    <dgm:pt modelId="{C971C70F-0CFB-41C0-BD41-1E71E988B9D0}" type="parTrans" cxnId="{3EC6465D-329B-4D83-BE6D-BD4E5CE1E3C5}">
      <dgm:prSet/>
      <dgm:spPr/>
      <dgm:t>
        <a:bodyPr/>
        <a:lstStyle/>
        <a:p>
          <a:endParaRPr lang="en-US"/>
        </a:p>
      </dgm:t>
    </dgm:pt>
    <dgm:pt modelId="{F7BF3C68-B132-4E07-9033-430873F3DA57}" type="sibTrans" cxnId="{3EC6465D-329B-4D83-BE6D-BD4E5CE1E3C5}">
      <dgm:prSet/>
      <dgm:spPr/>
      <dgm:t>
        <a:bodyPr/>
        <a:lstStyle/>
        <a:p>
          <a:endParaRPr lang="en-US"/>
        </a:p>
      </dgm:t>
    </dgm:pt>
    <dgm:pt modelId="{6F8BEC3A-7D21-4E5B-8594-62452976EBA6}">
      <dgm:prSet phldrT="[Text]" custT="1"/>
      <dgm:spPr/>
      <dgm:t>
        <a:bodyPr/>
        <a:lstStyle/>
        <a:p>
          <a:r>
            <a:rPr lang="zh-CN" altLang="en-US" sz="2400" b="1" dirty="0"/>
            <a:t>书面通知</a:t>
          </a:r>
          <a:r>
            <a:rPr lang="zh-CN" altLang="en-US" sz="2400" dirty="0"/>
            <a:t>：发行人书面通知主承销商，主承销商书面通知全体持有人</a:t>
          </a:r>
          <a:endParaRPr lang="en-US" sz="2400" dirty="0"/>
        </a:p>
      </dgm:t>
    </dgm:pt>
    <dgm:pt modelId="{FC00C458-BBCD-4817-9C4A-F37BFCC23EA8}" type="parTrans" cxnId="{AF4842B7-9B77-4783-85F7-EDB0232DB7B5}">
      <dgm:prSet/>
      <dgm:spPr/>
      <dgm:t>
        <a:bodyPr/>
        <a:lstStyle/>
        <a:p>
          <a:endParaRPr lang="en-US"/>
        </a:p>
      </dgm:t>
    </dgm:pt>
    <dgm:pt modelId="{2803D724-B370-4823-831C-4E5FE65F3AFB}" type="sibTrans" cxnId="{AF4842B7-9B77-4783-85F7-EDB0232DB7B5}">
      <dgm:prSet/>
      <dgm:spPr/>
      <dgm:t>
        <a:bodyPr/>
        <a:lstStyle/>
        <a:p>
          <a:endParaRPr lang="en-US"/>
        </a:p>
      </dgm:t>
    </dgm:pt>
    <dgm:pt modelId="{C2B432AB-0583-4AD6-852C-E769776E0458}">
      <dgm:prSet custT="1"/>
      <dgm:spPr/>
      <dgm:t>
        <a:bodyPr/>
        <a:lstStyle/>
        <a:p>
          <a:r>
            <a:rPr lang="zh-CN" altLang="en-US" sz="2400" b="1" dirty="0"/>
            <a:t>违约债务种类</a:t>
          </a:r>
          <a:r>
            <a:rPr lang="zh-CN" altLang="en-US" sz="2400" dirty="0"/>
            <a:t>：债券、金融机构贷款、承兑汇票、金融租赁、资产管理计划融资、银行理财直接融资工具等；</a:t>
          </a:r>
          <a:endParaRPr lang="en-US" altLang="zh-CN" sz="2400" dirty="0"/>
        </a:p>
      </dgm:t>
    </dgm:pt>
    <dgm:pt modelId="{ED6DA36A-A398-442F-94DD-8FF632A9A7DE}" type="parTrans" cxnId="{0D5BA174-AFF4-491B-A45A-5B97CFE584BE}">
      <dgm:prSet/>
      <dgm:spPr/>
      <dgm:t>
        <a:bodyPr/>
        <a:lstStyle/>
        <a:p>
          <a:endParaRPr lang="zh-CN" altLang="en-US"/>
        </a:p>
      </dgm:t>
    </dgm:pt>
    <dgm:pt modelId="{0D2D06A4-1F53-490D-9371-A8782483D030}" type="sibTrans" cxnId="{0D5BA174-AFF4-491B-A45A-5B97CFE584BE}">
      <dgm:prSet/>
      <dgm:spPr/>
      <dgm:t>
        <a:bodyPr/>
        <a:lstStyle/>
        <a:p>
          <a:endParaRPr lang="zh-CN" altLang="en-US"/>
        </a:p>
      </dgm:t>
    </dgm:pt>
    <dgm:pt modelId="{C91616EC-5208-42CA-80A3-B8E797878CAB}">
      <dgm:prSet custT="1"/>
      <dgm:spPr/>
      <dgm:t>
        <a:bodyPr/>
        <a:lstStyle/>
        <a:p>
          <a:r>
            <a:rPr lang="zh-CN" altLang="en-US" sz="2400" b="1" dirty="0"/>
            <a:t>违约金额下限</a:t>
          </a:r>
          <a:r>
            <a:rPr lang="zh-CN" altLang="en-US" sz="2400" dirty="0"/>
            <a:t>：单独或一定期间内累计达到一定金额，通常为一个绝对值或达到净资产的一定比例孰低者</a:t>
          </a:r>
          <a:endParaRPr lang="en-US" altLang="zh-CN" sz="2400" dirty="0"/>
        </a:p>
      </dgm:t>
    </dgm:pt>
    <dgm:pt modelId="{1D770F5D-81DC-4BE1-8ABA-CBC17A9BBBA3}" type="parTrans" cxnId="{B71E04B1-626A-4A87-8849-9AB2C6B29AB8}">
      <dgm:prSet/>
      <dgm:spPr/>
      <dgm:t>
        <a:bodyPr/>
        <a:lstStyle/>
        <a:p>
          <a:endParaRPr lang="zh-CN" altLang="en-US"/>
        </a:p>
      </dgm:t>
    </dgm:pt>
    <dgm:pt modelId="{3A3C919F-65B3-4827-A1BB-14234C50A79E}" type="sibTrans" cxnId="{B71E04B1-626A-4A87-8849-9AB2C6B29AB8}">
      <dgm:prSet/>
      <dgm:spPr/>
      <dgm:t>
        <a:bodyPr/>
        <a:lstStyle/>
        <a:p>
          <a:endParaRPr lang="zh-CN" altLang="en-US"/>
        </a:p>
      </dgm:t>
    </dgm:pt>
    <dgm:pt modelId="{23CBEC61-7535-4145-BECD-82F60EF7F9A3}">
      <dgm:prSet custT="1"/>
      <dgm:spPr/>
      <dgm:t>
        <a:bodyPr/>
        <a:lstStyle/>
        <a:p>
          <a:endParaRPr lang="en-US" altLang="zh-CN" sz="2400" dirty="0"/>
        </a:p>
      </dgm:t>
    </dgm:pt>
    <dgm:pt modelId="{EB9DF3D8-F88B-486E-BEEB-C63323049DE7}" type="parTrans" cxnId="{CBF01796-96E4-4A74-97ED-D0B87D832AA7}">
      <dgm:prSet/>
      <dgm:spPr/>
      <dgm:t>
        <a:bodyPr/>
        <a:lstStyle/>
        <a:p>
          <a:endParaRPr lang="zh-CN" altLang="en-US"/>
        </a:p>
      </dgm:t>
    </dgm:pt>
    <dgm:pt modelId="{F18D1193-C49D-458E-BC0B-38999EDC14F1}" type="sibTrans" cxnId="{CBF01796-96E4-4A74-97ED-D0B87D832AA7}">
      <dgm:prSet/>
      <dgm:spPr/>
      <dgm:t>
        <a:bodyPr/>
        <a:lstStyle/>
        <a:p>
          <a:endParaRPr lang="zh-CN" altLang="en-US"/>
        </a:p>
      </dgm:t>
    </dgm:pt>
    <dgm:pt modelId="{CA3566E7-6C83-4089-AAB2-292DFE524318}">
      <dgm:prSet custT="1"/>
      <dgm:spPr/>
      <dgm:t>
        <a:bodyPr/>
        <a:lstStyle/>
        <a:p>
          <a:endParaRPr lang="en-US" altLang="zh-CN" sz="2400" dirty="0"/>
        </a:p>
      </dgm:t>
    </dgm:pt>
    <dgm:pt modelId="{CC84315C-8072-40D8-A559-2919E518EB18}" type="parTrans" cxnId="{FE76D9BB-C7E8-44E2-B328-D3BD9EBA896F}">
      <dgm:prSet/>
      <dgm:spPr/>
      <dgm:t>
        <a:bodyPr/>
        <a:lstStyle/>
        <a:p>
          <a:endParaRPr lang="zh-CN" altLang="en-US"/>
        </a:p>
      </dgm:t>
    </dgm:pt>
    <dgm:pt modelId="{F6388EDE-D35F-4F26-84C9-2B3DD51E8713}" type="sibTrans" cxnId="{FE76D9BB-C7E8-44E2-B328-D3BD9EBA896F}">
      <dgm:prSet/>
      <dgm:spPr/>
      <dgm:t>
        <a:bodyPr/>
        <a:lstStyle/>
        <a:p>
          <a:endParaRPr lang="zh-CN" altLang="en-US"/>
        </a:p>
      </dgm:t>
    </dgm:pt>
    <dgm:pt modelId="{426C888C-536B-4594-AD36-81B73CE5B720}">
      <dgm:prSet custT="1"/>
      <dgm:spPr/>
      <dgm:t>
        <a:bodyPr/>
        <a:lstStyle/>
        <a:p>
          <a:r>
            <a:rPr lang="zh-CN" altLang="en-US" sz="2400" b="1" dirty="0"/>
            <a:t>救济和豁免</a:t>
          </a:r>
          <a:r>
            <a:rPr lang="zh-CN" altLang="en-US" sz="2400" dirty="0"/>
            <a:t>：持有人会议，发行人做出解释或提供救济方案，持有人可选择无条件豁免、有条件豁免还是回售</a:t>
          </a:r>
          <a:endParaRPr lang="en-US" altLang="zh-CN" sz="2400" dirty="0"/>
        </a:p>
      </dgm:t>
    </dgm:pt>
    <dgm:pt modelId="{6173BEF4-4343-4DC7-A98B-0553D5035751}" type="parTrans" cxnId="{DC78A3DB-72E0-485C-8A63-CE64AC292B4F}">
      <dgm:prSet/>
      <dgm:spPr/>
      <dgm:t>
        <a:bodyPr/>
        <a:lstStyle/>
        <a:p>
          <a:endParaRPr lang="zh-CN" altLang="en-US"/>
        </a:p>
      </dgm:t>
    </dgm:pt>
    <dgm:pt modelId="{A4F2A81F-117E-4B52-8856-A336DC96DB0C}" type="sibTrans" cxnId="{DC78A3DB-72E0-485C-8A63-CE64AC292B4F}">
      <dgm:prSet/>
      <dgm:spPr/>
      <dgm:t>
        <a:bodyPr/>
        <a:lstStyle/>
        <a:p>
          <a:endParaRPr lang="zh-CN" altLang="en-US"/>
        </a:p>
      </dgm:t>
    </dgm:pt>
    <dgm:pt modelId="{384FE05C-5DA6-4D1D-A451-8634E5D8927E}">
      <dgm:prSet custT="1"/>
      <dgm:spPr/>
      <dgm:t>
        <a:bodyPr/>
        <a:lstStyle/>
        <a:p>
          <a:r>
            <a:rPr lang="zh-CN" altLang="en-US" sz="2400" b="1" dirty="0"/>
            <a:t>宽限期</a:t>
          </a:r>
          <a:r>
            <a:rPr lang="zh-CN" altLang="en-US" sz="2400" dirty="0"/>
            <a:t>：可按约定给予发行人一定的宽限期，不超过</a:t>
          </a:r>
          <a:r>
            <a:rPr lang="en-US" altLang="zh-CN" sz="2400" dirty="0"/>
            <a:t>10</a:t>
          </a:r>
          <a:r>
            <a:rPr lang="zh-CN" altLang="en-US" sz="2400" dirty="0"/>
            <a:t>个工作日</a:t>
          </a:r>
        </a:p>
      </dgm:t>
    </dgm:pt>
    <dgm:pt modelId="{708F2892-2999-43CD-AB63-A538A83A9477}" type="parTrans" cxnId="{6B1D9144-8755-4FAD-AA31-9BEC942FDA26}">
      <dgm:prSet/>
      <dgm:spPr/>
      <dgm:t>
        <a:bodyPr/>
        <a:lstStyle/>
        <a:p>
          <a:endParaRPr lang="zh-CN" altLang="en-US"/>
        </a:p>
      </dgm:t>
    </dgm:pt>
    <dgm:pt modelId="{BCE9C0B4-9043-4006-882A-43134B2242A9}" type="sibTrans" cxnId="{6B1D9144-8755-4FAD-AA31-9BEC942FDA26}">
      <dgm:prSet/>
      <dgm:spPr/>
      <dgm:t>
        <a:bodyPr/>
        <a:lstStyle/>
        <a:p>
          <a:endParaRPr lang="zh-CN" altLang="en-US"/>
        </a:p>
      </dgm:t>
    </dgm:pt>
    <dgm:pt modelId="{0D5159E8-DE53-4307-BEFB-726B2315F046}">
      <dgm:prSet phldrT="[Text]" custT="1"/>
      <dgm:spPr/>
      <dgm:t>
        <a:bodyPr/>
        <a:lstStyle/>
        <a:p>
          <a:endParaRPr lang="en-US" sz="2400" dirty="0"/>
        </a:p>
      </dgm:t>
    </dgm:pt>
    <dgm:pt modelId="{B8849BF6-8F0B-4DE6-93CA-056968F91C18}" type="parTrans" cxnId="{F7F3DEE1-09DF-42B3-8860-777952FC500E}">
      <dgm:prSet/>
      <dgm:spPr/>
      <dgm:t>
        <a:bodyPr/>
        <a:lstStyle/>
        <a:p>
          <a:endParaRPr lang="zh-CN" altLang="en-US"/>
        </a:p>
      </dgm:t>
    </dgm:pt>
    <dgm:pt modelId="{614AB801-AB25-4F0C-8480-BE4BBD839802}" type="sibTrans" cxnId="{F7F3DEE1-09DF-42B3-8860-777952FC500E}">
      <dgm:prSet/>
      <dgm:spPr/>
      <dgm:t>
        <a:bodyPr/>
        <a:lstStyle/>
        <a:p>
          <a:endParaRPr lang="zh-CN" altLang="en-US"/>
        </a:p>
      </dgm:t>
    </dgm:pt>
    <dgm:pt modelId="{B3F322AD-518D-42E3-B0AD-B4449F4A4C45}">
      <dgm:prSet custT="1"/>
      <dgm:spPr/>
      <dgm:t>
        <a:bodyPr/>
        <a:lstStyle/>
        <a:p>
          <a:endParaRPr lang="en-US" altLang="zh-CN" sz="2400" dirty="0"/>
        </a:p>
      </dgm:t>
    </dgm:pt>
    <dgm:pt modelId="{68195570-C266-4A39-B78F-5C398F054FD4}" type="parTrans" cxnId="{DA669743-17D4-4F9E-86E6-789C318638B2}">
      <dgm:prSet/>
      <dgm:spPr/>
      <dgm:t>
        <a:bodyPr/>
        <a:lstStyle/>
        <a:p>
          <a:endParaRPr lang="zh-CN" altLang="en-US"/>
        </a:p>
      </dgm:t>
    </dgm:pt>
    <dgm:pt modelId="{DDB30EA6-C549-4EEB-9922-E9D39213154A}" type="sibTrans" cxnId="{DA669743-17D4-4F9E-86E6-789C318638B2}">
      <dgm:prSet/>
      <dgm:spPr/>
      <dgm:t>
        <a:bodyPr/>
        <a:lstStyle/>
        <a:p>
          <a:endParaRPr lang="zh-CN" altLang="en-US"/>
        </a:p>
      </dgm:t>
    </dgm:pt>
    <dgm:pt modelId="{55594D35-0032-4B5F-85FC-D4F5944F2120}" type="pres">
      <dgm:prSet presAssocID="{1BDDD279-0D78-43B5-9DD6-9CB5A277F5DE}" presName="linearFlow" presStyleCnt="0">
        <dgm:presLayoutVars>
          <dgm:dir/>
          <dgm:animLvl val="lvl"/>
          <dgm:resizeHandles/>
        </dgm:presLayoutVars>
      </dgm:prSet>
      <dgm:spPr/>
    </dgm:pt>
    <dgm:pt modelId="{6A1C4BCA-4735-4B3C-B2AE-E32E6896F1B1}" type="pres">
      <dgm:prSet presAssocID="{9DDD6D95-3D15-461E-B2E8-49919EDD2714}" presName="compositeNode" presStyleCnt="0">
        <dgm:presLayoutVars>
          <dgm:bulletEnabled val="1"/>
        </dgm:presLayoutVars>
      </dgm:prSet>
      <dgm:spPr/>
    </dgm:pt>
    <dgm:pt modelId="{11A51B75-9BEC-4AE1-9BC6-2B14515ED971}" type="pres">
      <dgm:prSet presAssocID="{9DDD6D95-3D15-461E-B2E8-49919EDD2714}" presName="image" presStyleLbl="fgImgPlace1" presStyleIdx="0" presStyleCnt="2" custScaleX="44598" custScaleY="44598"/>
      <dgm:spPr>
        <a:blipFill rotWithShape="1">
          <a:blip xmlns:r="http://schemas.openxmlformats.org/officeDocument/2006/relationships" r:embed="rId1">
            <a:duotone>
              <a:schemeClr val="accent5">
                <a:shade val="45000"/>
                <a:satMod val="135000"/>
              </a:schemeClr>
              <a:prstClr val="white"/>
            </a:duotone>
          </a:blip>
          <a:stretch>
            <a:fillRect/>
          </a:stretch>
        </a:blipFill>
        <a:ln>
          <a:noFill/>
        </a:ln>
      </dgm:spPr>
    </dgm:pt>
    <dgm:pt modelId="{4DDFB252-9B5B-484D-B390-CCE55D864A3F}" type="pres">
      <dgm:prSet presAssocID="{9DDD6D95-3D15-461E-B2E8-49919EDD2714}" presName="childNode" presStyleLbl="node1" presStyleIdx="0" presStyleCnt="2" custScaleX="108531" custScaleY="116576">
        <dgm:presLayoutVars>
          <dgm:bulletEnabled val="1"/>
        </dgm:presLayoutVars>
      </dgm:prSet>
      <dgm:spPr/>
    </dgm:pt>
    <dgm:pt modelId="{07D6245A-4A9E-4507-BA18-C839EB0AD480}" type="pres">
      <dgm:prSet presAssocID="{9DDD6D95-3D15-461E-B2E8-49919EDD2714}" presName="parentNode" presStyleLbl="revTx" presStyleIdx="0" presStyleCnt="2">
        <dgm:presLayoutVars>
          <dgm:chMax val="0"/>
          <dgm:bulletEnabled val="1"/>
        </dgm:presLayoutVars>
      </dgm:prSet>
      <dgm:spPr/>
    </dgm:pt>
    <dgm:pt modelId="{89A3DF56-48FC-493E-AF82-CD696466C6DD}" type="pres">
      <dgm:prSet presAssocID="{477396D8-0E2C-4323-94CA-BA9C20E80193}" presName="sibTrans" presStyleCnt="0"/>
      <dgm:spPr/>
    </dgm:pt>
    <dgm:pt modelId="{5768182A-8703-469C-BEA6-2D225ED33F7C}" type="pres">
      <dgm:prSet presAssocID="{308E37CD-3F0C-4584-A032-7DD4FD06802B}" presName="compositeNode" presStyleCnt="0">
        <dgm:presLayoutVars>
          <dgm:bulletEnabled val="1"/>
        </dgm:presLayoutVars>
      </dgm:prSet>
      <dgm:spPr/>
    </dgm:pt>
    <dgm:pt modelId="{804E411A-7CCE-42F2-B6B6-1D97D828491E}" type="pres">
      <dgm:prSet presAssocID="{308E37CD-3F0C-4584-A032-7DD4FD06802B}" presName="image" presStyleLbl="fgImgPlace1" presStyleIdx="1" presStyleCnt="2" custScaleX="44598" custScaleY="44598"/>
      <dgm:spPr>
        <a:blipFill rotWithShape="1">
          <a:blip xmlns:r="http://schemas.openxmlformats.org/officeDocument/2006/relationships" r:embed="rId2">
            <a:duotone>
              <a:schemeClr val="accent5">
                <a:shade val="45000"/>
                <a:satMod val="135000"/>
              </a:schemeClr>
              <a:prstClr val="white"/>
            </a:duotone>
          </a:blip>
          <a:stretch>
            <a:fillRect/>
          </a:stretch>
        </a:blipFill>
        <a:ln>
          <a:noFill/>
        </a:ln>
      </dgm:spPr>
    </dgm:pt>
    <dgm:pt modelId="{8E3791E4-435F-4EC4-A987-82FD0EC233D7}" type="pres">
      <dgm:prSet presAssocID="{308E37CD-3F0C-4584-A032-7DD4FD06802B}" presName="childNode" presStyleLbl="node1" presStyleIdx="1" presStyleCnt="2" custScaleX="108531" custScaleY="116576">
        <dgm:presLayoutVars>
          <dgm:bulletEnabled val="1"/>
        </dgm:presLayoutVars>
      </dgm:prSet>
      <dgm:spPr/>
    </dgm:pt>
    <dgm:pt modelId="{FF94A183-8FE2-4715-90A9-39556EFB58F2}" type="pres">
      <dgm:prSet presAssocID="{308E37CD-3F0C-4584-A032-7DD4FD06802B}" presName="parentNode" presStyleLbl="revTx" presStyleIdx="1" presStyleCnt="2">
        <dgm:presLayoutVars>
          <dgm:chMax val="0"/>
          <dgm:bulletEnabled val="1"/>
        </dgm:presLayoutVars>
      </dgm:prSet>
      <dgm:spPr/>
    </dgm:pt>
  </dgm:ptLst>
  <dgm:cxnLst>
    <dgm:cxn modelId="{D29AC711-57D3-4283-85BA-7DCC1BB31065}" type="presOf" srcId="{384FE05C-5DA6-4D1D-A451-8634E5D8927E}" destId="{8E3791E4-435F-4EC4-A987-82FD0EC233D7}" srcOrd="0" destOrd="4" presId="urn:microsoft.com/office/officeart/2005/8/layout/hList2"/>
    <dgm:cxn modelId="{D7BEC91A-9BAC-42F3-94B0-94AF4CA3A80D}" type="presOf" srcId="{426C888C-536B-4594-AD36-81B73CE5B720}" destId="{8E3791E4-435F-4EC4-A987-82FD0EC233D7}" srcOrd="0" destOrd="2" presId="urn:microsoft.com/office/officeart/2005/8/layout/hList2"/>
    <dgm:cxn modelId="{B90EE41D-8A31-4B4A-91F5-E59D6B9D5A1B}" type="presOf" srcId="{308E37CD-3F0C-4584-A032-7DD4FD06802B}" destId="{FF94A183-8FE2-4715-90A9-39556EFB58F2}" srcOrd="0" destOrd="0" presId="urn:microsoft.com/office/officeart/2005/8/layout/hList2"/>
    <dgm:cxn modelId="{6A700E1F-F96B-4873-83C5-05AD9DC26D23}" type="presOf" srcId="{C91616EC-5208-42CA-80A3-B8E797878CAB}" destId="{4DDFB252-9B5B-484D-B390-CCE55D864A3F}" srcOrd="0" destOrd="4" presId="urn:microsoft.com/office/officeart/2005/8/layout/hList2"/>
    <dgm:cxn modelId="{82F2D52F-980A-448A-9A85-A6EFCD551760}" type="presOf" srcId="{1BDDD279-0D78-43B5-9DD6-9CB5A277F5DE}" destId="{55594D35-0032-4B5F-85FC-D4F5944F2120}" srcOrd="0" destOrd="0" presId="urn:microsoft.com/office/officeart/2005/8/layout/hList2"/>
    <dgm:cxn modelId="{3EC6465D-329B-4D83-BE6D-BD4E5CE1E3C5}" srcId="{1BDDD279-0D78-43B5-9DD6-9CB5A277F5DE}" destId="{308E37CD-3F0C-4584-A032-7DD4FD06802B}" srcOrd="1" destOrd="0" parTransId="{C971C70F-0CFB-41C0-BD41-1E71E988B9D0}" sibTransId="{F7BF3C68-B132-4E07-9033-430873F3DA57}"/>
    <dgm:cxn modelId="{693AE741-48A6-41DF-A825-EC816718E1D2}" type="presOf" srcId="{0D5159E8-DE53-4307-BEFB-726B2315F046}" destId="{8E3791E4-435F-4EC4-A987-82FD0EC233D7}" srcOrd="0" destOrd="1" presId="urn:microsoft.com/office/officeart/2005/8/layout/hList2"/>
    <dgm:cxn modelId="{DA669743-17D4-4F9E-86E6-789C318638B2}" srcId="{308E37CD-3F0C-4584-A032-7DD4FD06802B}" destId="{B3F322AD-518D-42E3-B0AD-B4449F4A4C45}" srcOrd="3" destOrd="0" parTransId="{68195570-C266-4A39-B78F-5C398F054FD4}" sibTransId="{DDB30EA6-C549-4EEB-9922-E9D39213154A}"/>
    <dgm:cxn modelId="{6B1D9144-8755-4FAD-AA31-9BEC942FDA26}" srcId="{308E37CD-3F0C-4584-A032-7DD4FD06802B}" destId="{384FE05C-5DA6-4D1D-A451-8634E5D8927E}" srcOrd="4" destOrd="0" parTransId="{708F2892-2999-43CD-AB63-A538A83A9477}" sibTransId="{BCE9C0B4-9043-4006-882A-43134B2242A9}"/>
    <dgm:cxn modelId="{D200186C-21A4-4F41-AE41-36C383FD87F8}" srcId="{9DDD6D95-3D15-461E-B2E8-49919EDD2714}" destId="{0650C90B-E27A-4F12-9562-B735F5C48E56}" srcOrd="0" destOrd="0" parTransId="{4AD5EC1B-0A68-4132-8093-113AD44BB842}" sibTransId="{575ACD62-C7A1-4AED-8DA1-AC5374A4FB3A}"/>
    <dgm:cxn modelId="{0D5BA174-AFF4-491B-A45A-5B97CFE584BE}" srcId="{9DDD6D95-3D15-461E-B2E8-49919EDD2714}" destId="{C2B432AB-0583-4AD6-852C-E769776E0458}" srcOrd="2" destOrd="0" parTransId="{ED6DA36A-A398-442F-94DD-8FF632A9A7DE}" sibTransId="{0D2D06A4-1F53-490D-9371-A8782483D030}"/>
    <dgm:cxn modelId="{B802A683-A4FA-4E7C-B6FA-B630F396030E}" type="presOf" srcId="{23CBEC61-7535-4145-BECD-82F60EF7F9A3}" destId="{4DDFB252-9B5B-484D-B390-CCE55D864A3F}" srcOrd="0" destOrd="1" presId="urn:microsoft.com/office/officeart/2005/8/layout/hList2"/>
    <dgm:cxn modelId="{B3658F87-511B-4F6C-AAB6-7286DC26DE58}" type="presOf" srcId="{B3F322AD-518D-42E3-B0AD-B4449F4A4C45}" destId="{8E3791E4-435F-4EC4-A987-82FD0EC233D7}" srcOrd="0" destOrd="3" presId="urn:microsoft.com/office/officeart/2005/8/layout/hList2"/>
    <dgm:cxn modelId="{CBF01796-96E4-4A74-97ED-D0B87D832AA7}" srcId="{9DDD6D95-3D15-461E-B2E8-49919EDD2714}" destId="{23CBEC61-7535-4145-BECD-82F60EF7F9A3}" srcOrd="1" destOrd="0" parTransId="{EB9DF3D8-F88B-486E-BEEB-C63323049DE7}" sibTransId="{F18D1193-C49D-458E-BC0B-38999EDC14F1}"/>
    <dgm:cxn modelId="{EE016398-9D38-498B-8D22-3C50489B7AC4}" type="presOf" srcId="{C2B432AB-0583-4AD6-852C-E769776E0458}" destId="{4DDFB252-9B5B-484D-B390-CCE55D864A3F}" srcOrd="0" destOrd="2" presId="urn:microsoft.com/office/officeart/2005/8/layout/hList2"/>
    <dgm:cxn modelId="{7372A8A5-F366-4AD4-B035-560233703BCB}" type="presOf" srcId="{CA3566E7-6C83-4089-AAB2-292DFE524318}" destId="{4DDFB252-9B5B-484D-B390-CCE55D864A3F}" srcOrd="0" destOrd="3" presId="urn:microsoft.com/office/officeart/2005/8/layout/hList2"/>
    <dgm:cxn modelId="{B71E04B1-626A-4A87-8849-9AB2C6B29AB8}" srcId="{9DDD6D95-3D15-461E-B2E8-49919EDD2714}" destId="{C91616EC-5208-42CA-80A3-B8E797878CAB}" srcOrd="4" destOrd="0" parTransId="{1D770F5D-81DC-4BE1-8ABA-CBC17A9BBBA3}" sibTransId="{3A3C919F-65B3-4827-A1BB-14234C50A79E}"/>
    <dgm:cxn modelId="{AF4842B7-9B77-4783-85F7-EDB0232DB7B5}" srcId="{308E37CD-3F0C-4584-A032-7DD4FD06802B}" destId="{6F8BEC3A-7D21-4E5B-8594-62452976EBA6}" srcOrd="0" destOrd="0" parTransId="{FC00C458-BBCD-4817-9C4A-F37BFCC23EA8}" sibTransId="{2803D724-B370-4823-831C-4E5FE65F3AFB}"/>
    <dgm:cxn modelId="{FE76D9BB-C7E8-44E2-B328-D3BD9EBA896F}" srcId="{9DDD6D95-3D15-461E-B2E8-49919EDD2714}" destId="{CA3566E7-6C83-4089-AAB2-292DFE524318}" srcOrd="3" destOrd="0" parTransId="{CC84315C-8072-40D8-A559-2919E518EB18}" sibTransId="{F6388EDE-D35F-4F26-84C9-2B3DD51E8713}"/>
    <dgm:cxn modelId="{60C2B1C2-519F-4D06-8FAD-0AD3C8C28EE2}" type="presOf" srcId="{6F8BEC3A-7D21-4E5B-8594-62452976EBA6}" destId="{8E3791E4-435F-4EC4-A987-82FD0EC233D7}" srcOrd="0" destOrd="0" presId="urn:microsoft.com/office/officeart/2005/8/layout/hList2"/>
    <dgm:cxn modelId="{CA591CD0-CC0E-4D8E-8F55-41E7C39F260A}" srcId="{1BDDD279-0D78-43B5-9DD6-9CB5A277F5DE}" destId="{9DDD6D95-3D15-461E-B2E8-49919EDD2714}" srcOrd="0" destOrd="0" parTransId="{9BBCC928-0092-470B-AA77-1A18541E7275}" sibTransId="{477396D8-0E2C-4323-94CA-BA9C20E80193}"/>
    <dgm:cxn modelId="{DC78A3DB-72E0-485C-8A63-CE64AC292B4F}" srcId="{308E37CD-3F0C-4584-A032-7DD4FD06802B}" destId="{426C888C-536B-4594-AD36-81B73CE5B720}" srcOrd="2" destOrd="0" parTransId="{6173BEF4-4343-4DC7-A98B-0553D5035751}" sibTransId="{A4F2A81F-117E-4B52-8856-A336DC96DB0C}"/>
    <dgm:cxn modelId="{3DDF06DF-B677-47C5-AD5C-DCC89B54C710}" type="presOf" srcId="{9DDD6D95-3D15-461E-B2E8-49919EDD2714}" destId="{07D6245A-4A9E-4507-BA18-C839EB0AD480}" srcOrd="0" destOrd="0" presId="urn:microsoft.com/office/officeart/2005/8/layout/hList2"/>
    <dgm:cxn modelId="{F7F3DEE1-09DF-42B3-8860-777952FC500E}" srcId="{308E37CD-3F0C-4584-A032-7DD4FD06802B}" destId="{0D5159E8-DE53-4307-BEFB-726B2315F046}" srcOrd="1" destOrd="0" parTransId="{B8849BF6-8F0B-4DE6-93CA-056968F91C18}" sibTransId="{614AB801-AB25-4F0C-8480-BE4BBD839802}"/>
    <dgm:cxn modelId="{558D56F0-1631-4BF1-9E28-9339BA4C5366}" type="presOf" srcId="{0650C90B-E27A-4F12-9562-B735F5C48E56}" destId="{4DDFB252-9B5B-484D-B390-CCE55D864A3F}" srcOrd="0" destOrd="0" presId="urn:microsoft.com/office/officeart/2005/8/layout/hList2"/>
    <dgm:cxn modelId="{D73D3945-1F86-4C1B-96FD-2B1847CCCA1C}" type="presParOf" srcId="{55594D35-0032-4B5F-85FC-D4F5944F2120}" destId="{6A1C4BCA-4735-4B3C-B2AE-E32E6896F1B1}" srcOrd="0" destOrd="0" presId="urn:microsoft.com/office/officeart/2005/8/layout/hList2"/>
    <dgm:cxn modelId="{A73C498A-9049-47D5-83F3-21147D059A3E}" type="presParOf" srcId="{6A1C4BCA-4735-4B3C-B2AE-E32E6896F1B1}" destId="{11A51B75-9BEC-4AE1-9BC6-2B14515ED971}" srcOrd="0" destOrd="0" presId="urn:microsoft.com/office/officeart/2005/8/layout/hList2"/>
    <dgm:cxn modelId="{5EA1F35D-4944-4DC3-AD67-02AF9891567D}" type="presParOf" srcId="{6A1C4BCA-4735-4B3C-B2AE-E32E6896F1B1}" destId="{4DDFB252-9B5B-484D-B390-CCE55D864A3F}" srcOrd="1" destOrd="0" presId="urn:microsoft.com/office/officeart/2005/8/layout/hList2"/>
    <dgm:cxn modelId="{47781FCB-44F5-4AD8-9B70-5E1012DA9398}" type="presParOf" srcId="{6A1C4BCA-4735-4B3C-B2AE-E32E6896F1B1}" destId="{07D6245A-4A9E-4507-BA18-C839EB0AD480}" srcOrd="2" destOrd="0" presId="urn:microsoft.com/office/officeart/2005/8/layout/hList2"/>
    <dgm:cxn modelId="{919D8033-76DD-43ED-B949-800187A83217}" type="presParOf" srcId="{55594D35-0032-4B5F-85FC-D4F5944F2120}" destId="{89A3DF56-48FC-493E-AF82-CD696466C6DD}" srcOrd="1" destOrd="0" presId="urn:microsoft.com/office/officeart/2005/8/layout/hList2"/>
    <dgm:cxn modelId="{7AB9E8AC-32D5-42C7-AECC-93B0D5ED14EA}" type="presParOf" srcId="{55594D35-0032-4B5F-85FC-D4F5944F2120}" destId="{5768182A-8703-469C-BEA6-2D225ED33F7C}" srcOrd="2" destOrd="0" presId="urn:microsoft.com/office/officeart/2005/8/layout/hList2"/>
    <dgm:cxn modelId="{5627D0A9-85AE-48FB-BAF1-3D54291AC54B}" type="presParOf" srcId="{5768182A-8703-469C-BEA6-2D225ED33F7C}" destId="{804E411A-7CCE-42F2-B6B6-1D97D828491E}" srcOrd="0" destOrd="0" presId="urn:microsoft.com/office/officeart/2005/8/layout/hList2"/>
    <dgm:cxn modelId="{2B1F72C2-1EFB-46FC-B96E-0EE85FCB1B20}" type="presParOf" srcId="{5768182A-8703-469C-BEA6-2D225ED33F7C}" destId="{8E3791E4-435F-4EC4-A987-82FD0EC233D7}" srcOrd="1" destOrd="0" presId="urn:microsoft.com/office/officeart/2005/8/layout/hList2"/>
    <dgm:cxn modelId="{655CBE0F-DB03-4D6F-800A-DE8CA8ED5907}" type="presParOf" srcId="{5768182A-8703-469C-BEA6-2D225ED33F7C}" destId="{FF94A183-8FE2-4715-90A9-39556EFB58F2}" srcOrd="2" destOrd="0" presId="urn:microsoft.com/office/officeart/2005/8/layout/h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BDDD279-0D78-43B5-9DD6-9CB5A277F5DE}" type="doc">
      <dgm:prSet loTypeId="urn:microsoft.com/office/officeart/2005/8/layout/default" loCatId="list" qsTypeId="urn:microsoft.com/office/officeart/2005/8/quickstyle/simple2" qsCatId="simple" csTypeId="urn:microsoft.com/office/officeart/2005/8/colors/colorful1" csCatId="colorful" phldr="1"/>
      <dgm:spPr/>
      <dgm:t>
        <a:bodyPr/>
        <a:lstStyle/>
        <a:p>
          <a:endParaRPr lang="en-US"/>
        </a:p>
      </dgm:t>
    </dgm:pt>
    <dgm:pt modelId="{9DDD6D95-3D15-461E-B2E8-49919EDD2714}">
      <dgm:prSet phldrT="[Text]" custT="1"/>
      <dgm:spPr>
        <a:solidFill>
          <a:srgbClr val="0070C0"/>
        </a:solidFill>
      </dgm:spPr>
      <dgm:t>
        <a:bodyPr/>
        <a:lstStyle/>
        <a:p>
          <a:r>
            <a:rPr lang="zh-CN" altLang="en-US" sz="4400" b="1" dirty="0">
              <a:solidFill>
                <a:schemeClr val="bg1"/>
              </a:solidFill>
              <a:effectLst>
                <a:outerShdw blurRad="38100" dist="38100" dir="2700000" algn="tl">
                  <a:srgbClr val="000000">
                    <a:alpha val="43137"/>
                  </a:srgbClr>
                </a:outerShdw>
              </a:effectLst>
            </a:rPr>
            <a:t>触发情形</a:t>
          </a:r>
          <a:endParaRPr lang="en-US" sz="4400" b="1" dirty="0">
            <a:solidFill>
              <a:schemeClr val="bg1"/>
            </a:solidFill>
            <a:effectLst>
              <a:outerShdw blurRad="38100" dist="38100" dir="2700000" algn="tl">
                <a:srgbClr val="000000">
                  <a:alpha val="43137"/>
                </a:srgbClr>
              </a:outerShdw>
            </a:effectLst>
          </a:endParaRPr>
        </a:p>
      </dgm:t>
    </dgm:pt>
    <dgm:pt modelId="{9BBCC928-0092-470B-AA77-1A18541E7275}" type="parTrans" cxnId="{CA591CD0-CC0E-4D8E-8F55-41E7C39F260A}">
      <dgm:prSet/>
      <dgm:spPr/>
      <dgm:t>
        <a:bodyPr/>
        <a:lstStyle/>
        <a:p>
          <a:endParaRPr lang="en-US"/>
        </a:p>
      </dgm:t>
    </dgm:pt>
    <dgm:pt modelId="{477396D8-0E2C-4323-94CA-BA9C20E80193}" type="sibTrans" cxnId="{CA591CD0-CC0E-4D8E-8F55-41E7C39F260A}">
      <dgm:prSet/>
      <dgm:spPr/>
      <dgm:t>
        <a:bodyPr/>
        <a:lstStyle/>
        <a:p>
          <a:endParaRPr lang="en-US"/>
        </a:p>
      </dgm:t>
    </dgm:pt>
    <dgm:pt modelId="{0650C90B-E27A-4F12-9562-B735F5C48E56}">
      <dgm:prSet phldrT="[Text]" custT="1"/>
      <dgm:spPr>
        <a:solidFill>
          <a:srgbClr val="0070C0"/>
        </a:solidFill>
      </dgm:spPr>
      <dgm:t>
        <a:bodyPr/>
        <a:lstStyle/>
        <a:p>
          <a:r>
            <a:rPr lang="zh-CN" altLang="en-US" sz="2400" b="1" dirty="0"/>
            <a:t>财务指标承诺事项</a:t>
          </a:r>
          <a:r>
            <a:rPr lang="zh-CN" altLang="en-US" sz="2400" dirty="0"/>
            <a:t>：合并或母公司口径，可选择按年度或季度监测，相关财务指标可选择资产负债率、净资产收益率和净利润、流动比率、有息债务</a:t>
          </a:r>
          <a:r>
            <a:rPr lang="en-US" altLang="zh-CN" sz="2400" dirty="0"/>
            <a:t>/</a:t>
          </a:r>
          <a:r>
            <a:rPr lang="zh-CN" altLang="en-US" sz="2400" dirty="0"/>
            <a:t>短期有息债务年增长率、未偿还债务融资工具余额占有息债务比重、母公司“经营活动净现金流</a:t>
          </a:r>
          <a:r>
            <a:rPr lang="en-US" altLang="zh-CN" sz="2400" dirty="0"/>
            <a:t>/</a:t>
          </a:r>
          <a:r>
            <a:rPr lang="zh-CN" altLang="en-US" sz="2400" dirty="0"/>
            <a:t>总负债”比例。</a:t>
          </a:r>
          <a:endParaRPr lang="en-US" sz="2400" dirty="0"/>
        </a:p>
      </dgm:t>
    </dgm:pt>
    <dgm:pt modelId="{4AD5EC1B-0A68-4132-8093-113AD44BB842}" type="parTrans" cxnId="{D200186C-21A4-4F41-AE41-36C383FD87F8}">
      <dgm:prSet/>
      <dgm:spPr/>
      <dgm:t>
        <a:bodyPr/>
        <a:lstStyle/>
        <a:p>
          <a:endParaRPr lang="en-US"/>
        </a:p>
      </dgm:t>
    </dgm:pt>
    <dgm:pt modelId="{575ACD62-C7A1-4AED-8DA1-AC5374A4FB3A}" type="sibTrans" cxnId="{D200186C-21A4-4F41-AE41-36C383FD87F8}">
      <dgm:prSet/>
      <dgm:spPr/>
      <dgm:t>
        <a:bodyPr/>
        <a:lstStyle/>
        <a:p>
          <a:endParaRPr lang="en-US"/>
        </a:p>
      </dgm:t>
    </dgm:pt>
    <dgm:pt modelId="{308E37CD-3F0C-4584-A032-7DD4FD06802B}">
      <dgm:prSet phldrT="[Text]" custT="1"/>
      <dgm:spPr>
        <a:solidFill>
          <a:srgbClr val="00B050"/>
        </a:solidFill>
      </dgm:spPr>
      <dgm:t>
        <a:bodyPr/>
        <a:lstStyle/>
        <a:p>
          <a:r>
            <a:rPr lang="zh-CN" altLang="en-US" sz="4400" b="1" dirty="0">
              <a:solidFill>
                <a:schemeClr val="bg1"/>
              </a:solidFill>
              <a:effectLst>
                <a:outerShdw blurRad="38100" dist="38100" dir="2700000" algn="tl">
                  <a:srgbClr val="000000">
                    <a:alpha val="43137"/>
                  </a:srgbClr>
                </a:outerShdw>
              </a:effectLst>
            </a:rPr>
            <a:t>处置程序</a:t>
          </a:r>
          <a:endParaRPr lang="en-US" sz="4400" b="1" dirty="0">
            <a:solidFill>
              <a:schemeClr val="bg1"/>
            </a:solidFill>
            <a:effectLst>
              <a:outerShdw blurRad="38100" dist="38100" dir="2700000" algn="tl">
                <a:srgbClr val="000000">
                  <a:alpha val="43137"/>
                </a:srgbClr>
              </a:outerShdw>
            </a:effectLst>
          </a:endParaRPr>
        </a:p>
      </dgm:t>
    </dgm:pt>
    <dgm:pt modelId="{C971C70F-0CFB-41C0-BD41-1E71E988B9D0}" type="parTrans" cxnId="{3EC6465D-329B-4D83-BE6D-BD4E5CE1E3C5}">
      <dgm:prSet/>
      <dgm:spPr/>
      <dgm:t>
        <a:bodyPr/>
        <a:lstStyle/>
        <a:p>
          <a:endParaRPr lang="en-US"/>
        </a:p>
      </dgm:t>
    </dgm:pt>
    <dgm:pt modelId="{F7BF3C68-B132-4E07-9033-430873F3DA57}" type="sibTrans" cxnId="{3EC6465D-329B-4D83-BE6D-BD4E5CE1E3C5}">
      <dgm:prSet/>
      <dgm:spPr/>
      <dgm:t>
        <a:bodyPr/>
        <a:lstStyle/>
        <a:p>
          <a:endParaRPr lang="en-US"/>
        </a:p>
      </dgm:t>
    </dgm:pt>
    <dgm:pt modelId="{6F8BEC3A-7D21-4E5B-8594-62452976EBA6}">
      <dgm:prSet phldrT="[Text]" custT="1"/>
      <dgm:spPr>
        <a:solidFill>
          <a:srgbClr val="00B050"/>
        </a:solidFill>
      </dgm:spPr>
      <dgm:t>
        <a:bodyPr/>
        <a:lstStyle/>
        <a:p>
          <a:r>
            <a:rPr lang="zh-CN" altLang="en-US" sz="2400" b="1" dirty="0">
              <a:solidFill>
                <a:schemeClr val="bg1"/>
              </a:solidFill>
            </a:rPr>
            <a:t>通知</a:t>
          </a:r>
          <a:r>
            <a:rPr lang="zh-CN" altLang="en-US" sz="2400" dirty="0">
              <a:solidFill>
                <a:schemeClr val="bg1"/>
              </a:solidFill>
            </a:rPr>
            <a:t>：发行人应在</a:t>
          </a:r>
          <a:r>
            <a:rPr lang="en-US" altLang="zh-CN" sz="2400" dirty="0">
              <a:solidFill>
                <a:schemeClr val="bg1"/>
              </a:solidFill>
            </a:rPr>
            <a:t>2</a:t>
          </a:r>
          <a:r>
            <a:rPr lang="zh-CN" altLang="en-US" sz="2400" dirty="0">
              <a:solidFill>
                <a:schemeClr val="bg1"/>
              </a:solidFill>
            </a:rPr>
            <a:t>个工作日内予以公告并启动后续处置措施：</a:t>
          </a:r>
          <a:endParaRPr lang="en-US" sz="2400" dirty="0">
            <a:solidFill>
              <a:schemeClr val="bg1"/>
            </a:solidFill>
          </a:endParaRPr>
        </a:p>
      </dgm:t>
    </dgm:pt>
    <dgm:pt modelId="{FC00C458-BBCD-4817-9C4A-F37BFCC23EA8}" type="parTrans" cxnId="{AF4842B7-9B77-4783-85F7-EDB0232DB7B5}">
      <dgm:prSet/>
      <dgm:spPr/>
      <dgm:t>
        <a:bodyPr/>
        <a:lstStyle/>
        <a:p>
          <a:endParaRPr lang="en-US"/>
        </a:p>
      </dgm:t>
    </dgm:pt>
    <dgm:pt modelId="{2803D724-B370-4823-831C-4E5FE65F3AFB}" type="sibTrans" cxnId="{AF4842B7-9B77-4783-85F7-EDB0232DB7B5}">
      <dgm:prSet/>
      <dgm:spPr/>
      <dgm:t>
        <a:bodyPr/>
        <a:lstStyle/>
        <a:p>
          <a:endParaRPr lang="en-US"/>
        </a:p>
      </dgm:t>
    </dgm:pt>
    <dgm:pt modelId="{CAC5F125-746A-4444-965F-10C4F4BD069E}">
      <dgm:prSet custT="1"/>
      <dgm:spPr>
        <a:solidFill>
          <a:srgbClr val="0070C0"/>
        </a:solidFill>
      </dgm:spPr>
      <dgm:t>
        <a:bodyPr/>
        <a:lstStyle/>
        <a:p>
          <a:r>
            <a:rPr lang="zh-CN" altLang="en-US" sz="2400" b="1" dirty="0"/>
            <a:t>事先约束事项</a:t>
          </a:r>
          <a:r>
            <a:rPr lang="zh-CN" altLang="en-US" sz="2400" dirty="0"/>
            <a:t>：出售</a:t>
          </a:r>
          <a:r>
            <a:rPr lang="en-US" altLang="zh-CN" sz="2400" dirty="0"/>
            <a:t>/</a:t>
          </a:r>
          <a:r>
            <a:rPr lang="zh-CN" altLang="en-US" sz="2400" dirty="0"/>
            <a:t>转移重大资产、股权委托管理协议变更、质押或减持上市公司股权、名股实债、资产池承诺、对外提供重大担保以及债务重组。</a:t>
          </a:r>
          <a:endParaRPr lang="en-US" altLang="zh-CN" sz="2400" dirty="0"/>
        </a:p>
      </dgm:t>
    </dgm:pt>
    <dgm:pt modelId="{1E4056F6-F449-4982-892E-035E743FF0C1}" type="parTrans" cxnId="{B7DC7D41-0230-4ABC-B471-3A0154E2813B}">
      <dgm:prSet/>
      <dgm:spPr/>
      <dgm:t>
        <a:bodyPr/>
        <a:lstStyle/>
        <a:p>
          <a:endParaRPr lang="zh-CN" altLang="en-US"/>
        </a:p>
      </dgm:t>
    </dgm:pt>
    <dgm:pt modelId="{8C80F931-D435-4D35-AF39-37708447071F}" type="sibTrans" cxnId="{B7DC7D41-0230-4ABC-B471-3A0154E2813B}">
      <dgm:prSet/>
      <dgm:spPr/>
      <dgm:t>
        <a:bodyPr/>
        <a:lstStyle/>
        <a:p>
          <a:endParaRPr lang="zh-CN" altLang="en-US"/>
        </a:p>
      </dgm:t>
    </dgm:pt>
    <dgm:pt modelId="{BACC92C1-FF76-4FBF-AE76-530A5AB293FC}">
      <dgm:prSet custT="1"/>
      <dgm:spPr>
        <a:solidFill>
          <a:srgbClr val="00B050"/>
        </a:solidFill>
      </dgm:spPr>
      <dgm:t>
        <a:bodyPr/>
        <a:lstStyle/>
        <a:p>
          <a:r>
            <a:rPr lang="zh-CN" altLang="en-US" sz="2400" b="1" dirty="0">
              <a:solidFill>
                <a:schemeClr val="bg1"/>
              </a:solidFill>
            </a:rPr>
            <a:t>救济和豁免</a:t>
          </a:r>
          <a:endParaRPr lang="en-US" altLang="zh-CN" sz="2400" b="1" dirty="0">
            <a:solidFill>
              <a:schemeClr val="bg1"/>
            </a:solidFill>
          </a:endParaRPr>
        </a:p>
      </dgm:t>
    </dgm:pt>
    <dgm:pt modelId="{6E2EAF87-6CF3-48B2-8EC2-E7F33F73FA24}" type="parTrans" cxnId="{42701240-7158-4F24-8820-4BBD27FEE44C}">
      <dgm:prSet/>
      <dgm:spPr/>
      <dgm:t>
        <a:bodyPr/>
        <a:lstStyle/>
        <a:p>
          <a:endParaRPr lang="zh-CN" altLang="en-US"/>
        </a:p>
      </dgm:t>
    </dgm:pt>
    <dgm:pt modelId="{2493D22C-9298-4B5A-A9FE-4A5E52CCA82B}" type="sibTrans" cxnId="{42701240-7158-4F24-8820-4BBD27FEE44C}">
      <dgm:prSet/>
      <dgm:spPr/>
      <dgm:t>
        <a:bodyPr/>
        <a:lstStyle/>
        <a:p>
          <a:endParaRPr lang="zh-CN" altLang="en-US"/>
        </a:p>
      </dgm:t>
    </dgm:pt>
    <dgm:pt modelId="{3F5019B3-042C-4FBE-93E8-E8ED8ECA145B}">
      <dgm:prSet custT="1"/>
      <dgm:spPr>
        <a:solidFill>
          <a:srgbClr val="00B050"/>
        </a:solidFill>
      </dgm:spPr>
      <dgm:t>
        <a:bodyPr/>
        <a:lstStyle/>
        <a:p>
          <a:r>
            <a:rPr lang="zh-CN" altLang="en-US" sz="2400" dirty="0">
              <a:solidFill>
                <a:schemeClr val="bg1"/>
              </a:solidFill>
            </a:rPr>
            <a:t>如持有人会议无效或未形成有效决议，持有人可根据事先约定视同无条件豁免还是视同未豁免；</a:t>
          </a:r>
          <a:endParaRPr lang="en-US" altLang="zh-CN" sz="2400" dirty="0">
            <a:solidFill>
              <a:schemeClr val="bg1"/>
            </a:solidFill>
          </a:endParaRPr>
        </a:p>
      </dgm:t>
    </dgm:pt>
    <dgm:pt modelId="{F9608D34-FEA3-4929-8CAA-EDC7917B3170}" type="parTrans" cxnId="{02739E5F-0B32-4EB2-A1F0-E7786400CFBE}">
      <dgm:prSet/>
      <dgm:spPr/>
      <dgm:t>
        <a:bodyPr/>
        <a:lstStyle/>
        <a:p>
          <a:endParaRPr lang="zh-CN" altLang="en-US"/>
        </a:p>
      </dgm:t>
    </dgm:pt>
    <dgm:pt modelId="{FAC040AA-B9C7-43E8-9696-2034A8DEDF6F}" type="sibTrans" cxnId="{02739E5F-0B32-4EB2-A1F0-E7786400CFBE}">
      <dgm:prSet/>
      <dgm:spPr/>
      <dgm:t>
        <a:bodyPr/>
        <a:lstStyle/>
        <a:p>
          <a:endParaRPr lang="zh-CN" altLang="en-US"/>
        </a:p>
      </dgm:t>
    </dgm:pt>
    <dgm:pt modelId="{F28F609B-A0CB-4299-8256-ACFB8759A87D}">
      <dgm:prSet custT="1"/>
      <dgm:spPr>
        <a:solidFill>
          <a:srgbClr val="00B050"/>
        </a:solidFill>
      </dgm:spPr>
      <dgm:t>
        <a:bodyPr/>
        <a:lstStyle/>
        <a:p>
          <a:r>
            <a:rPr lang="zh-CN" altLang="en-US" sz="2400" dirty="0">
              <a:solidFill>
                <a:schemeClr val="bg1"/>
              </a:solidFill>
            </a:rPr>
            <a:t>如果持有人会议决议未豁免的或有条件豁免，但发行人未在约定时间内完成相关法律手续的，则视同违约。</a:t>
          </a:r>
          <a:endParaRPr lang="en-US" altLang="zh-CN" sz="2400" dirty="0">
            <a:solidFill>
              <a:schemeClr val="bg1"/>
            </a:solidFill>
          </a:endParaRPr>
        </a:p>
      </dgm:t>
    </dgm:pt>
    <dgm:pt modelId="{C01B11A9-7005-4992-8635-D62ACFD0A5A7}" type="parTrans" cxnId="{5344034F-B413-4A04-8CC4-68CC263E2CC7}">
      <dgm:prSet/>
      <dgm:spPr/>
      <dgm:t>
        <a:bodyPr/>
        <a:lstStyle/>
        <a:p>
          <a:endParaRPr lang="zh-CN" altLang="en-US"/>
        </a:p>
      </dgm:t>
    </dgm:pt>
    <dgm:pt modelId="{AAB68266-74F9-4A36-B4C2-26806F651E3F}" type="sibTrans" cxnId="{5344034F-B413-4A04-8CC4-68CC263E2CC7}">
      <dgm:prSet/>
      <dgm:spPr/>
      <dgm:t>
        <a:bodyPr/>
        <a:lstStyle/>
        <a:p>
          <a:endParaRPr lang="zh-CN" altLang="en-US"/>
        </a:p>
      </dgm:t>
    </dgm:pt>
    <dgm:pt modelId="{4A37DE86-E83E-4682-938F-0CAA73EE613F}">
      <dgm:prSet custT="1"/>
      <dgm:spPr>
        <a:solidFill>
          <a:srgbClr val="00B050"/>
        </a:solidFill>
      </dgm:spPr>
      <dgm:t>
        <a:bodyPr/>
        <a:lstStyle/>
        <a:p>
          <a:r>
            <a:rPr lang="zh-CN" altLang="en-US" sz="2400" b="1" dirty="0">
              <a:solidFill>
                <a:schemeClr val="bg1"/>
              </a:solidFill>
            </a:rPr>
            <a:t>宽限期</a:t>
          </a:r>
          <a:r>
            <a:rPr lang="zh-CN" altLang="en-US" sz="2400" dirty="0">
              <a:solidFill>
                <a:schemeClr val="bg1"/>
              </a:solidFill>
            </a:rPr>
            <a:t>，须早于持有人会议召开时间。</a:t>
          </a:r>
        </a:p>
      </dgm:t>
    </dgm:pt>
    <dgm:pt modelId="{4C748900-C60C-4092-BF11-7A36E0824731}" type="parTrans" cxnId="{B8B69B13-B32F-44D8-BE29-40854B0CAC28}">
      <dgm:prSet/>
      <dgm:spPr/>
      <dgm:t>
        <a:bodyPr/>
        <a:lstStyle/>
        <a:p>
          <a:endParaRPr lang="zh-CN" altLang="en-US"/>
        </a:p>
      </dgm:t>
    </dgm:pt>
    <dgm:pt modelId="{8B022A69-DEB9-4109-82E1-B1062B9379A7}" type="sibTrans" cxnId="{B8B69B13-B32F-44D8-BE29-40854B0CAC28}">
      <dgm:prSet/>
      <dgm:spPr/>
      <dgm:t>
        <a:bodyPr/>
        <a:lstStyle/>
        <a:p>
          <a:endParaRPr lang="zh-CN" altLang="en-US"/>
        </a:p>
      </dgm:t>
    </dgm:pt>
    <dgm:pt modelId="{50D15D10-7FC8-4385-A85B-54C94152CBE0}">
      <dgm:prSet phldrT="[Text]" custT="1"/>
      <dgm:spPr>
        <a:solidFill>
          <a:srgbClr val="0070C0"/>
        </a:solidFill>
      </dgm:spPr>
      <dgm:t>
        <a:bodyPr/>
        <a:lstStyle/>
        <a:p>
          <a:endParaRPr lang="en-US" sz="2400" dirty="0"/>
        </a:p>
      </dgm:t>
    </dgm:pt>
    <dgm:pt modelId="{F301AA34-D9C0-40FB-9302-5375B5028A31}" type="parTrans" cxnId="{6BA9E65D-2142-450C-8305-15245F6DE662}">
      <dgm:prSet/>
      <dgm:spPr/>
      <dgm:t>
        <a:bodyPr/>
        <a:lstStyle/>
        <a:p>
          <a:endParaRPr lang="zh-CN" altLang="en-US"/>
        </a:p>
      </dgm:t>
    </dgm:pt>
    <dgm:pt modelId="{451199D4-24D6-4EFC-8A06-FADF22AF2AC3}" type="sibTrans" cxnId="{6BA9E65D-2142-450C-8305-15245F6DE662}">
      <dgm:prSet/>
      <dgm:spPr/>
      <dgm:t>
        <a:bodyPr/>
        <a:lstStyle/>
        <a:p>
          <a:endParaRPr lang="zh-CN" altLang="en-US"/>
        </a:p>
      </dgm:t>
    </dgm:pt>
    <dgm:pt modelId="{974CB88A-344C-4F1C-BC31-23F23ADFB3DE}">
      <dgm:prSet phldrT="[Text]" custT="1"/>
      <dgm:spPr>
        <a:solidFill>
          <a:srgbClr val="00B050"/>
        </a:solidFill>
      </dgm:spPr>
      <dgm:t>
        <a:bodyPr/>
        <a:lstStyle/>
        <a:p>
          <a:endParaRPr lang="en-US" sz="2400" dirty="0">
            <a:solidFill>
              <a:schemeClr val="bg1"/>
            </a:solidFill>
          </a:endParaRPr>
        </a:p>
      </dgm:t>
    </dgm:pt>
    <dgm:pt modelId="{F1AF5365-C04C-4A4D-B644-B9F7C5EAD725}" type="parTrans" cxnId="{1F4E7341-7BF3-4A83-B7BF-37A8EB43FF0F}">
      <dgm:prSet/>
      <dgm:spPr/>
      <dgm:t>
        <a:bodyPr/>
        <a:lstStyle/>
        <a:p>
          <a:endParaRPr lang="zh-CN" altLang="en-US"/>
        </a:p>
      </dgm:t>
    </dgm:pt>
    <dgm:pt modelId="{36E2D817-E57D-4B35-9863-A4EFC7166668}" type="sibTrans" cxnId="{1F4E7341-7BF3-4A83-B7BF-37A8EB43FF0F}">
      <dgm:prSet/>
      <dgm:spPr/>
      <dgm:t>
        <a:bodyPr/>
        <a:lstStyle/>
        <a:p>
          <a:endParaRPr lang="zh-CN" altLang="en-US"/>
        </a:p>
      </dgm:t>
    </dgm:pt>
    <dgm:pt modelId="{74DD9F92-1565-40EE-9A73-9E3C47E9EE4E}">
      <dgm:prSet custT="1"/>
      <dgm:spPr>
        <a:solidFill>
          <a:srgbClr val="00B050"/>
        </a:solidFill>
      </dgm:spPr>
      <dgm:t>
        <a:bodyPr/>
        <a:lstStyle/>
        <a:p>
          <a:endParaRPr lang="en-US" altLang="zh-CN" sz="2400" dirty="0">
            <a:solidFill>
              <a:schemeClr val="bg1"/>
            </a:solidFill>
          </a:endParaRPr>
        </a:p>
      </dgm:t>
    </dgm:pt>
    <dgm:pt modelId="{E81A6EAB-52AE-412B-B493-F5F4EA195D6E}" type="parTrans" cxnId="{F42601D0-3491-4F8E-8B62-5EBE5D570B83}">
      <dgm:prSet/>
      <dgm:spPr/>
      <dgm:t>
        <a:bodyPr/>
        <a:lstStyle/>
        <a:p>
          <a:endParaRPr lang="zh-CN" altLang="en-US"/>
        </a:p>
      </dgm:t>
    </dgm:pt>
    <dgm:pt modelId="{836C6D8D-46C6-4ED6-8E72-7D3467356C8B}" type="sibTrans" cxnId="{F42601D0-3491-4F8E-8B62-5EBE5D570B83}">
      <dgm:prSet/>
      <dgm:spPr/>
      <dgm:t>
        <a:bodyPr/>
        <a:lstStyle/>
        <a:p>
          <a:endParaRPr lang="zh-CN" altLang="en-US"/>
        </a:p>
      </dgm:t>
    </dgm:pt>
    <dgm:pt modelId="{D8574DD7-AF3F-472B-BD30-408B98E14999}">
      <dgm:prSet custT="1"/>
      <dgm:spPr>
        <a:solidFill>
          <a:srgbClr val="00B050"/>
        </a:solidFill>
      </dgm:spPr>
      <dgm:t>
        <a:bodyPr/>
        <a:lstStyle/>
        <a:p>
          <a:endParaRPr lang="zh-CN" altLang="en-US" sz="2400" dirty="0">
            <a:solidFill>
              <a:schemeClr val="bg1"/>
            </a:solidFill>
          </a:endParaRPr>
        </a:p>
      </dgm:t>
    </dgm:pt>
    <dgm:pt modelId="{D8AA8F84-C9CE-4926-9B27-41F28DFB3E14}" type="parTrans" cxnId="{C35537ED-FE18-4469-94C7-E71A7EB9B8D2}">
      <dgm:prSet/>
      <dgm:spPr/>
      <dgm:t>
        <a:bodyPr/>
        <a:lstStyle/>
        <a:p>
          <a:endParaRPr lang="zh-CN" altLang="en-US"/>
        </a:p>
      </dgm:t>
    </dgm:pt>
    <dgm:pt modelId="{D0B5A5E5-1202-4193-A0E3-B2DCF91CE9E5}" type="sibTrans" cxnId="{C35537ED-FE18-4469-94C7-E71A7EB9B8D2}">
      <dgm:prSet/>
      <dgm:spPr/>
      <dgm:t>
        <a:bodyPr/>
        <a:lstStyle/>
        <a:p>
          <a:endParaRPr lang="zh-CN" altLang="en-US"/>
        </a:p>
      </dgm:t>
    </dgm:pt>
    <dgm:pt modelId="{9CAC7E97-1397-48B5-9680-7585C4E5155D}" type="pres">
      <dgm:prSet presAssocID="{1BDDD279-0D78-43B5-9DD6-9CB5A277F5DE}" presName="diagram" presStyleCnt="0">
        <dgm:presLayoutVars>
          <dgm:dir/>
          <dgm:resizeHandles val="exact"/>
        </dgm:presLayoutVars>
      </dgm:prSet>
      <dgm:spPr/>
    </dgm:pt>
    <dgm:pt modelId="{C2DE2F25-43A2-463F-8B1E-E71BAB4A8945}" type="pres">
      <dgm:prSet presAssocID="{9DDD6D95-3D15-461E-B2E8-49919EDD2714}" presName="node" presStyleLbl="node1" presStyleIdx="0" presStyleCnt="2" custScaleY="163709">
        <dgm:presLayoutVars>
          <dgm:bulletEnabled val="1"/>
        </dgm:presLayoutVars>
      </dgm:prSet>
      <dgm:spPr/>
    </dgm:pt>
    <dgm:pt modelId="{EE7E0348-A69F-48BF-B700-EC05732DA531}" type="pres">
      <dgm:prSet presAssocID="{477396D8-0E2C-4323-94CA-BA9C20E80193}" presName="sibTrans" presStyleCnt="0"/>
      <dgm:spPr/>
    </dgm:pt>
    <dgm:pt modelId="{CA297EA7-9154-40C1-B5BB-CF04159067A1}" type="pres">
      <dgm:prSet presAssocID="{308E37CD-3F0C-4584-A032-7DD4FD06802B}" presName="node" presStyleLbl="node1" presStyleIdx="1" presStyleCnt="2" custScaleY="163709">
        <dgm:presLayoutVars>
          <dgm:bulletEnabled val="1"/>
        </dgm:presLayoutVars>
      </dgm:prSet>
      <dgm:spPr/>
    </dgm:pt>
  </dgm:ptLst>
  <dgm:cxnLst>
    <dgm:cxn modelId="{B807A807-ABCD-40D9-8C91-D9618D9F421D}" type="presOf" srcId="{1BDDD279-0D78-43B5-9DD6-9CB5A277F5DE}" destId="{9CAC7E97-1397-48B5-9680-7585C4E5155D}" srcOrd="0" destOrd="0" presId="urn:microsoft.com/office/officeart/2005/8/layout/default"/>
    <dgm:cxn modelId="{B8B69B13-B32F-44D8-BE29-40854B0CAC28}" srcId="{308E37CD-3F0C-4584-A032-7DD4FD06802B}" destId="{4A37DE86-E83E-4682-938F-0CAA73EE613F}" srcOrd="3" destOrd="0" parTransId="{4C748900-C60C-4092-BF11-7A36E0824731}" sibTransId="{8B022A69-DEB9-4109-82E1-B1062B9379A7}"/>
    <dgm:cxn modelId="{09FC9B25-0476-46E5-B71B-6DEA1A3718C8}" type="presOf" srcId="{6F8BEC3A-7D21-4E5B-8594-62452976EBA6}" destId="{CA297EA7-9154-40C1-B5BB-CF04159067A1}" srcOrd="0" destOrd="1" presId="urn:microsoft.com/office/officeart/2005/8/layout/default"/>
    <dgm:cxn modelId="{B031712A-B7D3-40EB-96E9-22D4A3889D07}" type="presOf" srcId="{F28F609B-A0CB-4299-8256-ACFB8759A87D}" destId="{CA297EA7-9154-40C1-B5BB-CF04159067A1}" srcOrd="0" destOrd="5" presId="urn:microsoft.com/office/officeart/2005/8/layout/default"/>
    <dgm:cxn modelId="{42701240-7158-4F24-8820-4BBD27FEE44C}" srcId="{308E37CD-3F0C-4584-A032-7DD4FD06802B}" destId="{BACC92C1-FF76-4FBF-AE76-530A5AB293FC}" srcOrd="2" destOrd="0" parTransId="{6E2EAF87-6CF3-48B2-8EC2-E7F33F73FA24}" sibTransId="{2493D22C-9298-4B5A-A9FE-4A5E52CCA82B}"/>
    <dgm:cxn modelId="{3EC6465D-329B-4D83-BE6D-BD4E5CE1E3C5}" srcId="{1BDDD279-0D78-43B5-9DD6-9CB5A277F5DE}" destId="{308E37CD-3F0C-4584-A032-7DD4FD06802B}" srcOrd="1" destOrd="0" parTransId="{C971C70F-0CFB-41C0-BD41-1E71E988B9D0}" sibTransId="{F7BF3C68-B132-4E07-9033-430873F3DA57}"/>
    <dgm:cxn modelId="{6BA9E65D-2142-450C-8305-15245F6DE662}" srcId="{9DDD6D95-3D15-461E-B2E8-49919EDD2714}" destId="{50D15D10-7FC8-4385-A85B-54C94152CBE0}" srcOrd="1" destOrd="0" parTransId="{F301AA34-D9C0-40FB-9302-5375B5028A31}" sibTransId="{451199D4-24D6-4EFC-8A06-FADF22AF2AC3}"/>
    <dgm:cxn modelId="{02739E5F-0B32-4EB2-A1F0-E7786400CFBE}" srcId="{BACC92C1-FF76-4FBF-AE76-530A5AB293FC}" destId="{3F5019B3-042C-4FBE-93E8-E8ED8ECA145B}" srcOrd="0" destOrd="0" parTransId="{F9608D34-FEA3-4929-8CAA-EDC7917B3170}" sibTransId="{FAC040AA-B9C7-43E8-9696-2034A8DEDF6F}"/>
    <dgm:cxn modelId="{1F4E7341-7BF3-4A83-B7BF-37A8EB43FF0F}" srcId="{308E37CD-3F0C-4584-A032-7DD4FD06802B}" destId="{974CB88A-344C-4F1C-BC31-23F23ADFB3DE}" srcOrd="1" destOrd="0" parTransId="{F1AF5365-C04C-4A4D-B644-B9F7C5EAD725}" sibTransId="{36E2D817-E57D-4B35-9863-A4EFC7166668}"/>
    <dgm:cxn modelId="{B7DC7D41-0230-4ABC-B471-3A0154E2813B}" srcId="{9DDD6D95-3D15-461E-B2E8-49919EDD2714}" destId="{CAC5F125-746A-4444-965F-10C4F4BD069E}" srcOrd="2" destOrd="0" parTransId="{1E4056F6-F449-4982-892E-035E743FF0C1}" sibTransId="{8C80F931-D435-4D35-AF39-37708447071F}"/>
    <dgm:cxn modelId="{712C2C42-7A14-4FFF-8FAD-6C2C389E6657}" type="presOf" srcId="{0650C90B-E27A-4F12-9562-B735F5C48E56}" destId="{C2DE2F25-43A2-463F-8B1E-E71BAB4A8945}" srcOrd="0" destOrd="1" presId="urn:microsoft.com/office/officeart/2005/8/layout/default"/>
    <dgm:cxn modelId="{EECC4A67-7202-48B9-B2E2-AD92A7D050AD}" type="presOf" srcId="{4A37DE86-E83E-4682-938F-0CAA73EE613F}" destId="{CA297EA7-9154-40C1-B5BB-CF04159067A1}" srcOrd="0" destOrd="7" presId="urn:microsoft.com/office/officeart/2005/8/layout/default"/>
    <dgm:cxn modelId="{B017B369-9317-499F-9954-2C231A43D3FC}" type="presOf" srcId="{9DDD6D95-3D15-461E-B2E8-49919EDD2714}" destId="{C2DE2F25-43A2-463F-8B1E-E71BAB4A8945}" srcOrd="0" destOrd="0" presId="urn:microsoft.com/office/officeart/2005/8/layout/default"/>
    <dgm:cxn modelId="{D200186C-21A4-4F41-AE41-36C383FD87F8}" srcId="{9DDD6D95-3D15-461E-B2E8-49919EDD2714}" destId="{0650C90B-E27A-4F12-9562-B735F5C48E56}" srcOrd="0" destOrd="0" parTransId="{4AD5EC1B-0A68-4132-8093-113AD44BB842}" sibTransId="{575ACD62-C7A1-4AED-8DA1-AC5374A4FB3A}"/>
    <dgm:cxn modelId="{5344034F-B413-4A04-8CC4-68CC263E2CC7}" srcId="{BACC92C1-FF76-4FBF-AE76-530A5AB293FC}" destId="{F28F609B-A0CB-4299-8256-ACFB8759A87D}" srcOrd="1" destOrd="0" parTransId="{C01B11A9-7005-4992-8635-D62ACFD0A5A7}" sibTransId="{AAB68266-74F9-4A36-B4C2-26806F651E3F}"/>
    <dgm:cxn modelId="{2D88BD51-CF4B-4FFD-9593-C632B2294650}" type="presOf" srcId="{50D15D10-7FC8-4385-A85B-54C94152CBE0}" destId="{C2DE2F25-43A2-463F-8B1E-E71BAB4A8945}" srcOrd="0" destOrd="2" presId="urn:microsoft.com/office/officeart/2005/8/layout/default"/>
    <dgm:cxn modelId="{8F19D651-6F5E-476E-9BC8-E011E108E05C}" type="presOf" srcId="{D8574DD7-AF3F-472B-BD30-408B98E14999}" destId="{CA297EA7-9154-40C1-B5BB-CF04159067A1}" srcOrd="0" destOrd="8" presId="urn:microsoft.com/office/officeart/2005/8/layout/default"/>
    <dgm:cxn modelId="{5FAD4588-5609-428A-8141-7270AAB54F62}" type="presOf" srcId="{308E37CD-3F0C-4584-A032-7DD4FD06802B}" destId="{CA297EA7-9154-40C1-B5BB-CF04159067A1}" srcOrd="0" destOrd="0" presId="urn:microsoft.com/office/officeart/2005/8/layout/default"/>
    <dgm:cxn modelId="{40BE3B8D-D5DF-4670-9EC8-6AD5ABA39917}" type="presOf" srcId="{BACC92C1-FF76-4FBF-AE76-530A5AB293FC}" destId="{CA297EA7-9154-40C1-B5BB-CF04159067A1}" srcOrd="0" destOrd="3" presId="urn:microsoft.com/office/officeart/2005/8/layout/default"/>
    <dgm:cxn modelId="{A232ACA5-0DA2-488B-88EF-0D7ACB1E5F2D}" type="presOf" srcId="{CAC5F125-746A-4444-965F-10C4F4BD069E}" destId="{C2DE2F25-43A2-463F-8B1E-E71BAB4A8945}" srcOrd="0" destOrd="3" presId="urn:microsoft.com/office/officeart/2005/8/layout/default"/>
    <dgm:cxn modelId="{AF4842B7-9B77-4783-85F7-EDB0232DB7B5}" srcId="{308E37CD-3F0C-4584-A032-7DD4FD06802B}" destId="{6F8BEC3A-7D21-4E5B-8594-62452976EBA6}" srcOrd="0" destOrd="0" parTransId="{FC00C458-BBCD-4817-9C4A-F37BFCC23EA8}" sibTransId="{2803D724-B370-4823-831C-4E5FE65F3AFB}"/>
    <dgm:cxn modelId="{69F4F5BE-6BD8-4442-BDA9-494BBD1374B5}" type="presOf" srcId="{974CB88A-344C-4F1C-BC31-23F23ADFB3DE}" destId="{CA297EA7-9154-40C1-B5BB-CF04159067A1}" srcOrd="0" destOrd="2" presId="urn:microsoft.com/office/officeart/2005/8/layout/default"/>
    <dgm:cxn modelId="{82AA50CD-1CEF-4D37-AC67-79FD9DAD99B0}" type="presOf" srcId="{74DD9F92-1565-40EE-9A73-9E3C47E9EE4E}" destId="{CA297EA7-9154-40C1-B5BB-CF04159067A1}" srcOrd="0" destOrd="6" presId="urn:microsoft.com/office/officeart/2005/8/layout/default"/>
    <dgm:cxn modelId="{F42601D0-3491-4F8E-8B62-5EBE5D570B83}" srcId="{BACC92C1-FF76-4FBF-AE76-530A5AB293FC}" destId="{74DD9F92-1565-40EE-9A73-9E3C47E9EE4E}" srcOrd="2" destOrd="0" parTransId="{E81A6EAB-52AE-412B-B493-F5F4EA195D6E}" sibTransId="{836C6D8D-46C6-4ED6-8E72-7D3467356C8B}"/>
    <dgm:cxn modelId="{CA591CD0-CC0E-4D8E-8F55-41E7C39F260A}" srcId="{1BDDD279-0D78-43B5-9DD6-9CB5A277F5DE}" destId="{9DDD6D95-3D15-461E-B2E8-49919EDD2714}" srcOrd="0" destOrd="0" parTransId="{9BBCC928-0092-470B-AA77-1A18541E7275}" sibTransId="{477396D8-0E2C-4323-94CA-BA9C20E80193}"/>
    <dgm:cxn modelId="{656B7EE6-EA9D-45BF-A582-AEC987782F88}" type="presOf" srcId="{3F5019B3-042C-4FBE-93E8-E8ED8ECA145B}" destId="{CA297EA7-9154-40C1-B5BB-CF04159067A1}" srcOrd="0" destOrd="4" presId="urn:microsoft.com/office/officeart/2005/8/layout/default"/>
    <dgm:cxn modelId="{C35537ED-FE18-4469-94C7-E71A7EB9B8D2}" srcId="{308E37CD-3F0C-4584-A032-7DD4FD06802B}" destId="{D8574DD7-AF3F-472B-BD30-408B98E14999}" srcOrd="4" destOrd="0" parTransId="{D8AA8F84-C9CE-4926-9B27-41F28DFB3E14}" sibTransId="{D0B5A5E5-1202-4193-A0E3-B2DCF91CE9E5}"/>
    <dgm:cxn modelId="{A437EE9F-22C8-4D74-B076-5DD509AB18ED}" type="presParOf" srcId="{9CAC7E97-1397-48B5-9680-7585C4E5155D}" destId="{C2DE2F25-43A2-463F-8B1E-E71BAB4A8945}" srcOrd="0" destOrd="0" presId="urn:microsoft.com/office/officeart/2005/8/layout/default"/>
    <dgm:cxn modelId="{3C7282D0-15FC-4909-BDA1-0D279979654C}" type="presParOf" srcId="{9CAC7E97-1397-48B5-9680-7585C4E5155D}" destId="{EE7E0348-A69F-48BF-B700-EC05732DA531}" srcOrd="1" destOrd="0" presId="urn:microsoft.com/office/officeart/2005/8/layout/default"/>
    <dgm:cxn modelId="{9C2EB5B4-7FA7-48E8-86E9-18FB4A966311}" type="presParOf" srcId="{9CAC7E97-1397-48B5-9680-7585C4E5155D}" destId="{CA297EA7-9154-40C1-B5BB-CF04159067A1}"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BDDD279-0D78-43B5-9DD6-9CB5A277F5DE}" type="doc">
      <dgm:prSet loTypeId="urn:microsoft.com/office/officeart/2005/8/layout/vList5" loCatId="list" qsTypeId="urn:microsoft.com/office/officeart/2005/8/quickstyle/simple2" qsCatId="simple" csTypeId="urn:microsoft.com/office/officeart/2005/8/colors/colorful1" csCatId="colorful" phldr="1"/>
      <dgm:spPr/>
      <dgm:t>
        <a:bodyPr/>
        <a:lstStyle/>
        <a:p>
          <a:endParaRPr lang="en-US"/>
        </a:p>
      </dgm:t>
    </dgm:pt>
    <dgm:pt modelId="{9DDD6D95-3D15-461E-B2E8-49919EDD2714}">
      <dgm:prSet phldrT="[Text]" custT="1"/>
      <dgm:spPr/>
      <dgm:t>
        <a:bodyPr/>
        <a:lstStyle/>
        <a:p>
          <a:r>
            <a:rPr lang="zh-CN" altLang="en-US" sz="3200" b="1" dirty="0">
              <a:solidFill>
                <a:schemeClr val="bg1"/>
              </a:solidFill>
              <a:effectLst>
                <a:outerShdw blurRad="38100" dist="38100" dir="2700000" algn="tl">
                  <a:srgbClr val="000000">
                    <a:alpha val="43137"/>
                  </a:srgbClr>
                </a:outerShdw>
              </a:effectLst>
            </a:rPr>
            <a:t>触发情形</a:t>
          </a:r>
          <a:endParaRPr lang="en-US" sz="3200" b="1" dirty="0">
            <a:solidFill>
              <a:schemeClr val="bg1"/>
            </a:solidFill>
            <a:effectLst>
              <a:outerShdw blurRad="38100" dist="38100" dir="2700000" algn="tl">
                <a:srgbClr val="000000">
                  <a:alpha val="43137"/>
                </a:srgbClr>
              </a:outerShdw>
            </a:effectLst>
          </a:endParaRPr>
        </a:p>
      </dgm:t>
    </dgm:pt>
    <dgm:pt modelId="{9BBCC928-0092-470B-AA77-1A18541E7275}" type="parTrans" cxnId="{CA591CD0-CC0E-4D8E-8F55-41E7C39F260A}">
      <dgm:prSet/>
      <dgm:spPr/>
      <dgm:t>
        <a:bodyPr/>
        <a:lstStyle/>
        <a:p>
          <a:endParaRPr lang="en-US"/>
        </a:p>
      </dgm:t>
    </dgm:pt>
    <dgm:pt modelId="{477396D8-0E2C-4323-94CA-BA9C20E80193}" type="sibTrans" cxnId="{CA591CD0-CC0E-4D8E-8F55-41E7C39F260A}">
      <dgm:prSet/>
      <dgm:spPr/>
      <dgm:t>
        <a:bodyPr/>
        <a:lstStyle/>
        <a:p>
          <a:endParaRPr lang="en-US"/>
        </a:p>
      </dgm:t>
    </dgm:pt>
    <dgm:pt modelId="{0650C90B-E27A-4F12-9562-B735F5C48E56}">
      <dgm:prSet phldrT="[Text]" custT="1"/>
      <dgm:spPr>
        <a:solidFill>
          <a:schemeClr val="accent2">
            <a:lumMod val="20000"/>
            <a:lumOff val="80000"/>
          </a:schemeClr>
        </a:solidFill>
      </dgm:spPr>
      <dgm:t>
        <a:bodyPr/>
        <a:lstStyle/>
        <a:p>
          <a:r>
            <a:rPr lang="zh-CN" altLang="en-US" sz="2400" dirty="0"/>
            <a:t>选择控股股东变更、实际控制人变更、指定股东不再为发行人股东、董事长或总经理变动或无法履行职责、发行人约定比例以上董事发生变动。</a:t>
          </a:r>
          <a:endParaRPr lang="en-US" sz="2400" dirty="0"/>
        </a:p>
      </dgm:t>
    </dgm:pt>
    <dgm:pt modelId="{4AD5EC1B-0A68-4132-8093-113AD44BB842}" type="parTrans" cxnId="{D200186C-21A4-4F41-AE41-36C383FD87F8}">
      <dgm:prSet/>
      <dgm:spPr/>
      <dgm:t>
        <a:bodyPr/>
        <a:lstStyle/>
        <a:p>
          <a:endParaRPr lang="en-US"/>
        </a:p>
      </dgm:t>
    </dgm:pt>
    <dgm:pt modelId="{575ACD62-C7A1-4AED-8DA1-AC5374A4FB3A}" type="sibTrans" cxnId="{D200186C-21A4-4F41-AE41-36C383FD87F8}">
      <dgm:prSet/>
      <dgm:spPr/>
      <dgm:t>
        <a:bodyPr/>
        <a:lstStyle/>
        <a:p>
          <a:endParaRPr lang="en-US"/>
        </a:p>
      </dgm:t>
    </dgm:pt>
    <dgm:pt modelId="{308E37CD-3F0C-4584-A032-7DD4FD06802B}">
      <dgm:prSet phldrT="[Text]" custT="1"/>
      <dgm:spPr/>
      <dgm:t>
        <a:bodyPr/>
        <a:lstStyle/>
        <a:p>
          <a:r>
            <a:rPr lang="zh-CN" altLang="en-US" sz="3200" b="1" dirty="0">
              <a:solidFill>
                <a:schemeClr val="bg1"/>
              </a:solidFill>
              <a:effectLst>
                <a:outerShdw blurRad="38100" dist="38100" dir="2700000" algn="tl">
                  <a:srgbClr val="000000">
                    <a:alpha val="43137"/>
                  </a:srgbClr>
                </a:outerShdw>
              </a:effectLst>
            </a:rPr>
            <a:t>处置程序</a:t>
          </a:r>
          <a:endParaRPr lang="en-US" sz="3200" b="1" dirty="0">
            <a:solidFill>
              <a:schemeClr val="bg1"/>
            </a:solidFill>
            <a:effectLst>
              <a:outerShdw blurRad="38100" dist="38100" dir="2700000" algn="tl">
                <a:srgbClr val="000000">
                  <a:alpha val="43137"/>
                </a:srgbClr>
              </a:outerShdw>
            </a:effectLst>
          </a:endParaRPr>
        </a:p>
      </dgm:t>
    </dgm:pt>
    <dgm:pt modelId="{C971C70F-0CFB-41C0-BD41-1E71E988B9D0}" type="parTrans" cxnId="{3EC6465D-329B-4D83-BE6D-BD4E5CE1E3C5}">
      <dgm:prSet/>
      <dgm:spPr/>
      <dgm:t>
        <a:bodyPr/>
        <a:lstStyle/>
        <a:p>
          <a:endParaRPr lang="en-US"/>
        </a:p>
      </dgm:t>
    </dgm:pt>
    <dgm:pt modelId="{F7BF3C68-B132-4E07-9033-430873F3DA57}" type="sibTrans" cxnId="{3EC6465D-329B-4D83-BE6D-BD4E5CE1E3C5}">
      <dgm:prSet/>
      <dgm:spPr/>
      <dgm:t>
        <a:bodyPr/>
        <a:lstStyle/>
        <a:p>
          <a:endParaRPr lang="en-US"/>
        </a:p>
      </dgm:t>
    </dgm:pt>
    <dgm:pt modelId="{6F8BEC3A-7D21-4E5B-8594-62452976EBA6}">
      <dgm:prSet phldrT="[Text]" custT="1"/>
      <dgm:spPr>
        <a:solidFill>
          <a:srgbClr val="CCECFF"/>
        </a:solidFill>
      </dgm:spPr>
      <dgm:t>
        <a:bodyPr/>
        <a:lstStyle/>
        <a:p>
          <a:r>
            <a:rPr lang="zh-CN" altLang="en-US" sz="2400" b="1" dirty="0"/>
            <a:t>信息披露</a:t>
          </a:r>
          <a:r>
            <a:rPr lang="zh-CN" altLang="en-US" sz="2400" dirty="0"/>
            <a:t>：发行人应于</a:t>
          </a:r>
          <a:r>
            <a:rPr lang="en-US" altLang="zh-CN" sz="2400" dirty="0"/>
            <a:t>2</a:t>
          </a:r>
          <a:r>
            <a:rPr lang="zh-CN" altLang="en-US" sz="2400" dirty="0"/>
            <a:t>个工作日内披露控制权变更的起因、现状和可能影响，并持续披露相关事项；</a:t>
          </a:r>
          <a:endParaRPr lang="en-US" sz="2400" dirty="0"/>
        </a:p>
      </dgm:t>
    </dgm:pt>
    <dgm:pt modelId="{FC00C458-BBCD-4817-9C4A-F37BFCC23EA8}" type="parTrans" cxnId="{AF4842B7-9B77-4783-85F7-EDB0232DB7B5}">
      <dgm:prSet/>
      <dgm:spPr/>
      <dgm:t>
        <a:bodyPr/>
        <a:lstStyle/>
        <a:p>
          <a:endParaRPr lang="en-US"/>
        </a:p>
      </dgm:t>
    </dgm:pt>
    <dgm:pt modelId="{2803D724-B370-4823-831C-4E5FE65F3AFB}" type="sibTrans" cxnId="{AF4842B7-9B77-4783-85F7-EDB0232DB7B5}">
      <dgm:prSet/>
      <dgm:spPr/>
      <dgm:t>
        <a:bodyPr/>
        <a:lstStyle/>
        <a:p>
          <a:endParaRPr lang="en-US"/>
        </a:p>
      </dgm:t>
    </dgm:pt>
    <dgm:pt modelId="{0672E12D-8FB8-4770-AD36-5A65A3EB35B8}">
      <dgm:prSet phldrT="[Text]" custT="1"/>
      <dgm:spPr>
        <a:solidFill>
          <a:schemeClr val="accent2">
            <a:lumMod val="20000"/>
            <a:lumOff val="80000"/>
          </a:schemeClr>
        </a:solidFill>
      </dgm:spPr>
      <dgm:t>
        <a:bodyPr/>
        <a:lstStyle/>
        <a:p>
          <a:r>
            <a:rPr lang="zh-CN" altLang="en-US" sz="2400" dirty="0"/>
            <a:t>或因控制权变更导致信用评级发生变化（信用评级下调或评级展望调整由稳定调为负面），也视为触发该条款。</a:t>
          </a:r>
          <a:endParaRPr lang="en-US" sz="2400" dirty="0"/>
        </a:p>
      </dgm:t>
    </dgm:pt>
    <dgm:pt modelId="{7D539CB1-EF28-465B-8774-92220D721EEE}" type="parTrans" cxnId="{DE43FB2F-0F1B-4543-A322-E58308A115ED}">
      <dgm:prSet/>
      <dgm:spPr/>
      <dgm:t>
        <a:bodyPr/>
        <a:lstStyle/>
        <a:p>
          <a:endParaRPr lang="zh-CN" altLang="en-US"/>
        </a:p>
      </dgm:t>
    </dgm:pt>
    <dgm:pt modelId="{49BE453F-22A2-47BF-A920-AE7F612EC4D6}" type="sibTrans" cxnId="{DE43FB2F-0F1B-4543-A322-E58308A115ED}">
      <dgm:prSet/>
      <dgm:spPr/>
      <dgm:t>
        <a:bodyPr/>
        <a:lstStyle/>
        <a:p>
          <a:endParaRPr lang="zh-CN" altLang="en-US"/>
        </a:p>
      </dgm:t>
    </dgm:pt>
    <dgm:pt modelId="{90E68E97-7FF2-4919-A828-6519D15E616A}">
      <dgm:prSet phldrT="[Text]" custT="1"/>
      <dgm:spPr>
        <a:solidFill>
          <a:schemeClr val="accent2">
            <a:lumMod val="20000"/>
            <a:lumOff val="80000"/>
          </a:schemeClr>
        </a:solidFill>
      </dgm:spPr>
      <dgm:t>
        <a:bodyPr/>
        <a:lstStyle/>
        <a:p>
          <a:endParaRPr lang="en-US" sz="2400" dirty="0"/>
        </a:p>
      </dgm:t>
    </dgm:pt>
    <dgm:pt modelId="{76C3F6E0-4E43-42D8-B9E1-99445523E0D6}" type="parTrans" cxnId="{1745966F-0A70-49D2-AE03-3B16D52E3799}">
      <dgm:prSet/>
      <dgm:spPr/>
      <dgm:t>
        <a:bodyPr/>
        <a:lstStyle/>
        <a:p>
          <a:endParaRPr lang="zh-CN" altLang="en-US"/>
        </a:p>
      </dgm:t>
    </dgm:pt>
    <dgm:pt modelId="{1ED8132E-0139-4056-AAFE-4B2DC0EB2A5B}" type="sibTrans" cxnId="{1745966F-0A70-49D2-AE03-3B16D52E3799}">
      <dgm:prSet/>
      <dgm:spPr/>
      <dgm:t>
        <a:bodyPr/>
        <a:lstStyle/>
        <a:p>
          <a:endParaRPr lang="zh-CN" altLang="en-US"/>
        </a:p>
      </dgm:t>
    </dgm:pt>
    <dgm:pt modelId="{DA99B821-EA31-479E-A301-B7A50C97BC4D}">
      <dgm:prSet custT="1"/>
      <dgm:spPr>
        <a:solidFill>
          <a:srgbClr val="CCECFF"/>
        </a:solidFill>
      </dgm:spPr>
      <dgm:t>
        <a:bodyPr/>
        <a:lstStyle/>
        <a:p>
          <a:r>
            <a:rPr lang="zh-CN" altLang="en-US" sz="2400" b="1" dirty="0"/>
            <a:t>回售安排</a:t>
          </a:r>
          <a:r>
            <a:rPr lang="zh-CN" altLang="en-US" sz="2400" dirty="0"/>
            <a:t>：发行人应于</a:t>
          </a:r>
          <a:r>
            <a:rPr lang="en-US" altLang="zh-CN" sz="2400" dirty="0"/>
            <a:t>2</a:t>
          </a:r>
          <a:r>
            <a:rPr lang="zh-CN" altLang="en-US" sz="2400" dirty="0"/>
            <a:t>个工作日内发布回售公告，根据市场惯例，投资者回售价格为票面价值的</a:t>
          </a:r>
          <a:r>
            <a:rPr lang="en-US" altLang="zh-CN" sz="2400" dirty="0"/>
            <a:t>101%</a:t>
          </a:r>
          <a:r>
            <a:rPr lang="zh-CN" altLang="en-US" sz="2400" dirty="0"/>
            <a:t>，发行人可选择其他回售价格，但应在募集说明书中明确。</a:t>
          </a:r>
        </a:p>
      </dgm:t>
    </dgm:pt>
    <dgm:pt modelId="{8678B532-A11B-41D8-B076-0AF7B23FEDB0}" type="parTrans" cxnId="{DA33F967-EEAD-4FD5-AA55-69A21BA0B3FD}">
      <dgm:prSet/>
      <dgm:spPr/>
      <dgm:t>
        <a:bodyPr/>
        <a:lstStyle/>
        <a:p>
          <a:endParaRPr lang="zh-CN" altLang="en-US"/>
        </a:p>
      </dgm:t>
    </dgm:pt>
    <dgm:pt modelId="{A2C4FD75-9A01-4B97-A177-456192CA87A0}" type="sibTrans" cxnId="{DA33F967-EEAD-4FD5-AA55-69A21BA0B3FD}">
      <dgm:prSet/>
      <dgm:spPr/>
      <dgm:t>
        <a:bodyPr/>
        <a:lstStyle/>
        <a:p>
          <a:endParaRPr lang="zh-CN" altLang="en-US"/>
        </a:p>
      </dgm:t>
    </dgm:pt>
    <dgm:pt modelId="{DF290D2C-1014-4A0A-BA20-92A226FB08B3}">
      <dgm:prSet custT="1"/>
      <dgm:spPr>
        <a:solidFill>
          <a:srgbClr val="CCECFF"/>
        </a:solidFill>
      </dgm:spPr>
      <dgm:t>
        <a:bodyPr/>
        <a:lstStyle/>
        <a:p>
          <a:endParaRPr lang="en-US" altLang="zh-CN" sz="2400" dirty="0"/>
        </a:p>
      </dgm:t>
    </dgm:pt>
    <dgm:pt modelId="{1B18A00F-F3F2-4F44-9EE8-9612AD8D218F}" type="parTrans" cxnId="{92FAB166-810C-4857-B418-F181AC715CB9}">
      <dgm:prSet/>
      <dgm:spPr/>
      <dgm:t>
        <a:bodyPr/>
        <a:lstStyle/>
        <a:p>
          <a:endParaRPr lang="zh-CN" altLang="en-US"/>
        </a:p>
      </dgm:t>
    </dgm:pt>
    <dgm:pt modelId="{162A1C50-7F1F-4540-8061-3ED4CC3B7B03}" type="sibTrans" cxnId="{92FAB166-810C-4857-B418-F181AC715CB9}">
      <dgm:prSet/>
      <dgm:spPr/>
      <dgm:t>
        <a:bodyPr/>
        <a:lstStyle/>
        <a:p>
          <a:endParaRPr lang="zh-CN" altLang="en-US"/>
        </a:p>
      </dgm:t>
    </dgm:pt>
    <dgm:pt modelId="{B623D98F-C241-4571-9956-7DA65B7A667A}">
      <dgm:prSet custT="1"/>
      <dgm:spPr>
        <a:solidFill>
          <a:srgbClr val="CCECFF"/>
        </a:solidFill>
      </dgm:spPr>
      <dgm:t>
        <a:bodyPr/>
        <a:lstStyle/>
        <a:p>
          <a:r>
            <a:rPr lang="zh-CN" altLang="en-US" sz="2400" dirty="0"/>
            <a:t>投资者可选择全部或部分回售，发行人应在回售登记期（不应超过</a:t>
          </a:r>
          <a:r>
            <a:rPr lang="en-US" altLang="zh-CN" sz="2400" dirty="0"/>
            <a:t>10</a:t>
          </a:r>
          <a:r>
            <a:rPr lang="zh-CN" altLang="en-US" sz="2400" dirty="0"/>
            <a:t>天）结束后一个月内完成兑付。</a:t>
          </a:r>
        </a:p>
      </dgm:t>
    </dgm:pt>
    <dgm:pt modelId="{7231D200-7525-4FE7-B5D8-4240F0381488}" type="parTrans" cxnId="{E3D95BC5-3CBA-4ED6-96A2-5CA0EECD4ADD}">
      <dgm:prSet/>
      <dgm:spPr/>
      <dgm:t>
        <a:bodyPr/>
        <a:lstStyle/>
        <a:p>
          <a:endParaRPr lang="zh-CN" altLang="en-US"/>
        </a:p>
      </dgm:t>
    </dgm:pt>
    <dgm:pt modelId="{95527812-A34C-4E72-AC3D-3C49D7DE0C24}" type="sibTrans" cxnId="{E3D95BC5-3CBA-4ED6-96A2-5CA0EECD4ADD}">
      <dgm:prSet/>
      <dgm:spPr/>
      <dgm:t>
        <a:bodyPr/>
        <a:lstStyle/>
        <a:p>
          <a:endParaRPr lang="zh-CN" altLang="en-US"/>
        </a:p>
      </dgm:t>
    </dgm:pt>
    <dgm:pt modelId="{38043355-8CA2-4CB2-9F37-63390515CC09}" type="pres">
      <dgm:prSet presAssocID="{1BDDD279-0D78-43B5-9DD6-9CB5A277F5DE}" presName="Name0" presStyleCnt="0">
        <dgm:presLayoutVars>
          <dgm:dir/>
          <dgm:animLvl val="lvl"/>
          <dgm:resizeHandles val="exact"/>
        </dgm:presLayoutVars>
      </dgm:prSet>
      <dgm:spPr/>
    </dgm:pt>
    <dgm:pt modelId="{AA7215CA-94D0-441C-BCBF-8EA5B61C0FEB}" type="pres">
      <dgm:prSet presAssocID="{9DDD6D95-3D15-461E-B2E8-49919EDD2714}" presName="linNode" presStyleCnt="0"/>
      <dgm:spPr/>
    </dgm:pt>
    <dgm:pt modelId="{0FA1CE76-1D66-4C6E-B142-7B4587045186}" type="pres">
      <dgm:prSet presAssocID="{9DDD6D95-3D15-461E-B2E8-49919EDD2714}" presName="parentText" presStyleLbl="node1" presStyleIdx="0" presStyleCnt="2" custScaleX="18664" custScaleY="142452">
        <dgm:presLayoutVars>
          <dgm:chMax val="1"/>
          <dgm:bulletEnabled val="1"/>
        </dgm:presLayoutVars>
      </dgm:prSet>
      <dgm:spPr/>
    </dgm:pt>
    <dgm:pt modelId="{B623A238-803F-47D8-B325-D5CE0E07CDAD}" type="pres">
      <dgm:prSet presAssocID="{9DDD6D95-3D15-461E-B2E8-49919EDD2714}" presName="descendantText" presStyleLbl="alignAccFollowNode1" presStyleIdx="0" presStyleCnt="2" custScaleX="122802" custScaleY="178949">
        <dgm:presLayoutVars>
          <dgm:bulletEnabled val="1"/>
        </dgm:presLayoutVars>
      </dgm:prSet>
      <dgm:spPr/>
    </dgm:pt>
    <dgm:pt modelId="{879CC6CE-FCB4-4D60-BACA-9DB60A798E21}" type="pres">
      <dgm:prSet presAssocID="{477396D8-0E2C-4323-94CA-BA9C20E80193}" presName="sp" presStyleCnt="0"/>
      <dgm:spPr/>
    </dgm:pt>
    <dgm:pt modelId="{E789DE1B-736C-483D-B616-4B8C1B0A3A53}" type="pres">
      <dgm:prSet presAssocID="{308E37CD-3F0C-4584-A032-7DD4FD06802B}" presName="linNode" presStyleCnt="0"/>
      <dgm:spPr/>
    </dgm:pt>
    <dgm:pt modelId="{502C9178-53DF-4EC9-9ADF-6B08BFDBE0BD}" type="pres">
      <dgm:prSet presAssocID="{308E37CD-3F0C-4584-A032-7DD4FD06802B}" presName="parentText" presStyleLbl="node1" presStyleIdx="1" presStyleCnt="2" custScaleX="18664" custScaleY="142452">
        <dgm:presLayoutVars>
          <dgm:chMax val="1"/>
          <dgm:bulletEnabled val="1"/>
        </dgm:presLayoutVars>
      </dgm:prSet>
      <dgm:spPr/>
    </dgm:pt>
    <dgm:pt modelId="{26B4D427-2130-4AAA-8F38-F5091D28245E}" type="pres">
      <dgm:prSet presAssocID="{308E37CD-3F0C-4584-A032-7DD4FD06802B}" presName="descendantText" presStyleLbl="alignAccFollowNode1" presStyleIdx="1" presStyleCnt="2" custScaleX="122802" custScaleY="178949">
        <dgm:presLayoutVars>
          <dgm:bulletEnabled val="1"/>
        </dgm:presLayoutVars>
      </dgm:prSet>
      <dgm:spPr/>
    </dgm:pt>
  </dgm:ptLst>
  <dgm:cxnLst>
    <dgm:cxn modelId="{001F1F2A-5EB6-4DBE-BD76-4A81FBA12690}" type="presOf" srcId="{B623D98F-C241-4571-9956-7DA65B7A667A}" destId="{26B4D427-2130-4AAA-8F38-F5091D28245E}" srcOrd="0" destOrd="3" presId="urn:microsoft.com/office/officeart/2005/8/layout/vList5"/>
    <dgm:cxn modelId="{DE43FB2F-0F1B-4543-A322-E58308A115ED}" srcId="{9DDD6D95-3D15-461E-B2E8-49919EDD2714}" destId="{0672E12D-8FB8-4770-AD36-5A65A3EB35B8}" srcOrd="2" destOrd="0" parTransId="{7D539CB1-EF28-465B-8774-92220D721EEE}" sibTransId="{49BE453F-22A2-47BF-A920-AE7F612EC4D6}"/>
    <dgm:cxn modelId="{3D160B38-E6C0-41A6-9532-ACA33251D217}" type="presOf" srcId="{90E68E97-7FF2-4919-A828-6519D15E616A}" destId="{B623A238-803F-47D8-B325-D5CE0E07CDAD}" srcOrd="0" destOrd="1" presId="urn:microsoft.com/office/officeart/2005/8/layout/vList5"/>
    <dgm:cxn modelId="{3EC6465D-329B-4D83-BE6D-BD4E5CE1E3C5}" srcId="{1BDDD279-0D78-43B5-9DD6-9CB5A277F5DE}" destId="{308E37CD-3F0C-4584-A032-7DD4FD06802B}" srcOrd="1" destOrd="0" parTransId="{C971C70F-0CFB-41C0-BD41-1E71E988B9D0}" sibTransId="{F7BF3C68-B132-4E07-9033-430873F3DA57}"/>
    <dgm:cxn modelId="{C1533866-DEF5-463A-BB7D-36CE424374FE}" type="presOf" srcId="{DA99B821-EA31-479E-A301-B7A50C97BC4D}" destId="{26B4D427-2130-4AAA-8F38-F5091D28245E}" srcOrd="0" destOrd="2" presId="urn:microsoft.com/office/officeart/2005/8/layout/vList5"/>
    <dgm:cxn modelId="{92FAB166-810C-4857-B418-F181AC715CB9}" srcId="{308E37CD-3F0C-4584-A032-7DD4FD06802B}" destId="{DF290D2C-1014-4A0A-BA20-92A226FB08B3}" srcOrd="1" destOrd="0" parTransId="{1B18A00F-F3F2-4F44-9EE8-9612AD8D218F}" sibTransId="{162A1C50-7F1F-4540-8061-3ED4CC3B7B03}"/>
    <dgm:cxn modelId="{DA33F967-EEAD-4FD5-AA55-69A21BA0B3FD}" srcId="{308E37CD-3F0C-4584-A032-7DD4FD06802B}" destId="{DA99B821-EA31-479E-A301-B7A50C97BC4D}" srcOrd="2" destOrd="0" parTransId="{8678B532-A11B-41D8-B076-0AF7B23FEDB0}" sibTransId="{A2C4FD75-9A01-4B97-A177-456192CA87A0}"/>
    <dgm:cxn modelId="{D200186C-21A4-4F41-AE41-36C383FD87F8}" srcId="{9DDD6D95-3D15-461E-B2E8-49919EDD2714}" destId="{0650C90B-E27A-4F12-9562-B735F5C48E56}" srcOrd="0" destOrd="0" parTransId="{4AD5EC1B-0A68-4132-8093-113AD44BB842}" sibTransId="{575ACD62-C7A1-4AED-8DA1-AC5374A4FB3A}"/>
    <dgm:cxn modelId="{EEF1374E-AF9E-4695-9F3C-B9E89FA6E61B}" type="presOf" srcId="{0672E12D-8FB8-4770-AD36-5A65A3EB35B8}" destId="{B623A238-803F-47D8-B325-D5CE0E07CDAD}" srcOrd="0" destOrd="2" presId="urn:microsoft.com/office/officeart/2005/8/layout/vList5"/>
    <dgm:cxn modelId="{1745966F-0A70-49D2-AE03-3B16D52E3799}" srcId="{9DDD6D95-3D15-461E-B2E8-49919EDD2714}" destId="{90E68E97-7FF2-4919-A828-6519D15E616A}" srcOrd="1" destOrd="0" parTransId="{76C3F6E0-4E43-42D8-B9E1-99445523E0D6}" sibTransId="{1ED8132E-0139-4056-AAFE-4B2DC0EB2A5B}"/>
    <dgm:cxn modelId="{5CA3329E-116E-4E93-8F58-3A11CFB53F79}" type="presOf" srcId="{6F8BEC3A-7D21-4E5B-8594-62452976EBA6}" destId="{26B4D427-2130-4AAA-8F38-F5091D28245E}" srcOrd="0" destOrd="0" presId="urn:microsoft.com/office/officeart/2005/8/layout/vList5"/>
    <dgm:cxn modelId="{93878F9F-E688-420A-8934-93C66EEE3961}" type="presOf" srcId="{9DDD6D95-3D15-461E-B2E8-49919EDD2714}" destId="{0FA1CE76-1D66-4C6E-B142-7B4587045186}" srcOrd="0" destOrd="0" presId="urn:microsoft.com/office/officeart/2005/8/layout/vList5"/>
    <dgm:cxn modelId="{69FF1EA2-E50C-4CE6-9C0E-7EC325225C42}" type="presOf" srcId="{0650C90B-E27A-4F12-9562-B735F5C48E56}" destId="{B623A238-803F-47D8-B325-D5CE0E07CDAD}" srcOrd="0" destOrd="0" presId="urn:microsoft.com/office/officeart/2005/8/layout/vList5"/>
    <dgm:cxn modelId="{AF4842B7-9B77-4783-85F7-EDB0232DB7B5}" srcId="{308E37CD-3F0C-4584-A032-7DD4FD06802B}" destId="{6F8BEC3A-7D21-4E5B-8594-62452976EBA6}" srcOrd="0" destOrd="0" parTransId="{FC00C458-BBCD-4817-9C4A-F37BFCC23EA8}" sibTransId="{2803D724-B370-4823-831C-4E5FE65F3AFB}"/>
    <dgm:cxn modelId="{13EE3FBC-8D2B-40F9-A369-08D5A28FD9A8}" type="presOf" srcId="{1BDDD279-0D78-43B5-9DD6-9CB5A277F5DE}" destId="{38043355-8CA2-4CB2-9F37-63390515CC09}" srcOrd="0" destOrd="0" presId="urn:microsoft.com/office/officeart/2005/8/layout/vList5"/>
    <dgm:cxn modelId="{E3D95BC5-3CBA-4ED6-96A2-5CA0EECD4ADD}" srcId="{308E37CD-3F0C-4584-A032-7DD4FD06802B}" destId="{B623D98F-C241-4571-9956-7DA65B7A667A}" srcOrd="3" destOrd="0" parTransId="{7231D200-7525-4FE7-B5D8-4240F0381488}" sibTransId="{95527812-A34C-4E72-AC3D-3C49D7DE0C24}"/>
    <dgm:cxn modelId="{496839CB-91FE-4D53-A8FA-D0DD56EE6A5B}" type="presOf" srcId="{DF290D2C-1014-4A0A-BA20-92A226FB08B3}" destId="{26B4D427-2130-4AAA-8F38-F5091D28245E}" srcOrd="0" destOrd="1" presId="urn:microsoft.com/office/officeart/2005/8/layout/vList5"/>
    <dgm:cxn modelId="{CA591CD0-CC0E-4D8E-8F55-41E7C39F260A}" srcId="{1BDDD279-0D78-43B5-9DD6-9CB5A277F5DE}" destId="{9DDD6D95-3D15-461E-B2E8-49919EDD2714}" srcOrd="0" destOrd="0" parTransId="{9BBCC928-0092-470B-AA77-1A18541E7275}" sibTransId="{477396D8-0E2C-4323-94CA-BA9C20E80193}"/>
    <dgm:cxn modelId="{970672F0-E8BE-4348-8E73-0EB5C44A8D5B}" type="presOf" srcId="{308E37CD-3F0C-4584-A032-7DD4FD06802B}" destId="{502C9178-53DF-4EC9-9ADF-6B08BFDBE0BD}" srcOrd="0" destOrd="0" presId="urn:microsoft.com/office/officeart/2005/8/layout/vList5"/>
    <dgm:cxn modelId="{6B458715-7044-4BA4-AB5D-B8DAA210BA7D}" type="presParOf" srcId="{38043355-8CA2-4CB2-9F37-63390515CC09}" destId="{AA7215CA-94D0-441C-BCBF-8EA5B61C0FEB}" srcOrd="0" destOrd="0" presId="urn:microsoft.com/office/officeart/2005/8/layout/vList5"/>
    <dgm:cxn modelId="{1850F412-416C-4B67-85A3-12C364784819}" type="presParOf" srcId="{AA7215CA-94D0-441C-BCBF-8EA5B61C0FEB}" destId="{0FA1CE76-1D66-4C6E-B142-7B4587045186}" srcOrd="0" destOrd="0" presId="urn:microsoft.com/office/officeart/2005/8/layout/vList5"/>
    <dgm:cxn modelId="{AC125901-583B-4C37-B69B-6FB65A34B4CF}" type="presParOf" srcId="{AA7215CA-94D0-441C-BCBF-8EA5B61C0FEB}" destId="{B623A238-803F-47D8-B325-D5CE0E07CDAD}" srcOrd="1" destOrd="0" presId="urn:microsoft.com/office/officeart/2005/8/layout/vList5"/>
    <dgm:cxn modelId="{8C1FF834-52F7-4BAA-A38F-9118C86F80B3}" type="presParOf" srcId="{38043355-8CA2-4CB2-9F37-63390515CC09}" destId="{879CC6CE-FCB4-4D60-BACA-9DB60A798E21}" srcOrd="1" destOrd="0" presId="urn:microsoft.com/office/officeart/2005/8/layout/vList5"/>
    <dgm:cxn modelId="{0D4F193B-E557-46A2-BBCE-E10B0C864281}" type="presParOf" srcId="{38043355-8CA2-4CB2-9F37-63390515CC09}" destId="{E789DE1B-736C-483D-B616-4B8C1B0A3A53}" srcOrd="2" destOrd="0" presId="urn:microsoft.com/office/officeart/2005/8/layout/vList5"/>
    <dgm:cxn modelId="{9B2F5C97-8FD7-4B5D-8335-75F028474CE5}" type="presParOf" srcId="{E789DE1B-736C-483D-B616-4B8C1B0A3A53}" destId="{502C9178-53DF-4EC9-9ADF-6B08BFDBE0BD}" srcOrd="0" destOrd="0" presId="urn:microsoft.com/office/officeart/2005/8/layout/vList5"/>
    <dgm:cxn modelId="{6D198EB0-A50F-42EE-B746-3A0E59BE6334}" type="presParOf" srcId="{E789DE1B-736C-483D-B616-4B8C1B0A3A53}" destId="{26B4D427-2130-4AAA-8F38-F5091D28245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5F2F39-9CAF-4149-9C11-61F3E4FE7F5D}">
      <dsp:nvSpPr>
        <dsp:cNvPr id="0" name=""/>
        <dsp:cNvSpPr/>
      </dsp:nvSpPr>
      <dsp:spPr>
        <a:xfrm>
          <a:off x="2769222" y="2494460"/>
          <a:ext cx="1914074" cy="1914074"/>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系统性风险</a:t>
          </a:r>
        </a:p>
      </dsp:txBody>
      <dsp:txXfrm>
        <a:off x="3049532" y="2774770"/>
        <a:ext cx="1353454" cy="1353454"/>
      </dsp:txXfrm>
    </dsp:sp>
    <dsp:sp modelId="{8D8E2171-8F1F-4809-964E-E5614055411A}">
      <dsp:nvSpPr>
        <dsp:cNvPr id="0" name=""/>
        <dsp:cNvSpPr/>
      </dsp:nvSpPr>
      <dsp:spPr>
        <a:xfrm rot="16200000">
          <a:off x="3522521" y="1796189"/>
          <a:ext cx="407475" cy="650785"/>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CN" altLang="en-US" sz="2000" b="1" kern="1200"/>
        </a:p>
      </dsp:txBody>
      <dsp:txXfrm>
        <a:off x="3583642" y="1987467"/>
        <a:ext cx="285233" cy="390471"/>
      </dsp:txXfrm>
    </dsp:sp>
    <dsp:sp modelId="{4513A1D3-C0E4-418C-8C03-AEBEDD2713F1}">
      <dsp:nvSpPr>
        <dsp:cNvPr id="0" name=""/>
        <dsp:cNvSpPr/>
      </dsp:nvSpPr>
      <dsp:spPr>
        <a:xfrm>
          <a:off x="2864925" y="2971"/>
          <a:ext cx="1722667" cy="172266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股票市场</a:t>
          </a:r>
        </a:p>
      </dsp:txBody>
      <dsp:txXfrm>
        <a:off x="3117204" y="255250"/>
        <a:ext cx="1218109" cy="1218109"/>
      </dsp:txXfrm>
    </dsp:sp>
    <dsp:sp modelId="{E4ADA339-7086-44E2-A122-CF40762DDE06}">
      <dsp:nvSpPr>
        <dsp:cNvPr id="0" name=""/>
        <dsp:cNvSpPr/>
      </dsp:nvSpPr>
      <dsp:spPr>
        <a:xfrm rot="19285714">
          <a:off x="4562291" y="2296916"/>
          <a:ext cx="407475" cy="650785"/>
        </a:xfrm>
        <a:prstGeom prst="rightArrow">
          <a:avLst>
            <a:gd name="adj1" fmla="val 60000"/>
            <a:gd name="adj2" fmla="val 50000"/>
          </a:avLst>
        </a:prstGeom>
        <a:gradFill rotWithShape="0">
          <a:gsLst>
            <a:gs pos="0">
              <a:schemeClr val="accent2">
                <a:hueOff val="1972195"/>
                <a:satOff val="-13651"/>
                <a:lumOff val="-3660"/>
                <a:alphaOff val="0"/>
                <a:satMod val="103000"/>
                <a:lumMod val="102000"/>
                <a:tint val="94000"/>
              </a:schemeClr>
            </a:gs>
            <a:gs pos="50000">
              <a:schemeClr val="accent2">
                <a:hueOff val="1972195"/>
                <a:satOff val="-13651"/>
                <a:lumOff val="-3660"/>
                <a:alphaOff val="0"/>
                <a:satMod val="110000"/>
                <a:lumMod val="100000"/>
                <a:shade val="100000"/>
              </a:schemeClr>
            </a:gs>
            <a:gs pos="100000">
              <a:schemeClr val="accent2">
                <a:hueOff val="1972195"/>
                <a:satOff val="-13651"/>
                <a:lumOff val="-366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CN" altLang="en-US" sz="2000" kern="1200"/>
        </a:p>
      </dsp:txBody>
      <dsp:txXfrm>
        <a:off x="4575626" y="2465181"/>
        <a:ext cx="285233" cy="390471"/>
      </dsp:txXfrm>
    </dsp:sp>
    <dsp:sp modelId="{7FD328AE-61FE-4B47-8450-2699FE9C61C7}">
      <dsp:nvSpPr>
        <dsp:cNvPr id="0" name=""/>
        <dsp:cNvSpPr/>
      </dsp:nvSpPr>
      <dsp:spPr>
        <a:xfrm>
          <a:off x="4887674" y="977076"/>
          <a:ext cx="1722667" cy="1722667"/>
        </a:xfrm>
        <a:prstGeom prst="ellipse">
          <a:avLst/>
        </a:prstGeom>
        <a:gradFill rotWithShape="0">
          <a:gsLst>
            <a:gs pos="0">
              <a:schemeClr val="accent2">
                <a:hueOff val="1972195"/>
                <a:satOff val="-13651"/>
                <a:lumOff val="-3660"/>
                <a:alphaOff val="0"/>
                <a:satMod val="103000"/>
                <a:lumMod val="102000"/>
                <a:tint val="94000"/>
              </a:schemeClr>
            </a:gs>
            <a:gs pos="50000">
              <a:schemeClr val="accent2">
                <a:hueOff val="1972195"/>
                <a:satOff val="-13651"/>
                <a:lumOff val="-3660"/>
                <a:alphaOff val="0"/>
                <a:satMod val="110000"/>
                <a:lumMod val="100000"/>
                <a:shade val="100000"/>
              </a:schemeClr>
            </a:gs>
            <a:gs pos="100000">
              <a:schemeClr val="accent2">
                <a:hueOff val="1972195"/>
                <a:satOff val="-13651"/>
                <a:lumOff val="-366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国债市场</a:t>
          </a:r>
        </a:p>
      </dsp:txBody>
      <dsp:txXfrm>
        <a:off x="5139953" y="1229355"/>
        <a:ext cx="1218109" cy="1218109"/>
      </dsp:txXfrm>
    </dsp:sp>
    <dsp:sp modelId="{275E1ACA-72D0-471D-8A7B-015070BBA0D6}">
      <dsp:nvSpPr>
        <dsp:cNvPr id="0" name=""/>
        <dsp:cNvSpPr/>
      </dsp:nvSpPr>
      <dsp:spPr>
        <a:xfrm rot="771429">
          <a:off x="4819093" y="3422039"/>
          <a:ext cx="407475" cy="650785"/>
        </a:xfrm>
        <a:prstGeom prst="rightArrow">
          <a:avLst>
            <a:gd name="adj1" fmla="val 60000"/>
            <a:gd name="adj2" fmla="val 50000"/>
          </a:avLst>
        </a:prstGeom>
        <a:gradFill rotWithShape="0">
          <a:gsLst>
            <a:gs pos="0">
              <a:schemeClr val="accent2">
                <a:hueOff val="3944390"/>
                <a:satOff val="-27302"/>
                <a:lumOff val="-7320"/>
                <a:alphaOff val="0"/>
                <a:satMod val="103000"/>
                <a:lumMod val="102000"/>
                <a:tint val="94000"/>
              </a:schemeClr>
            </a:gs>
            <a:gs pos="50000">
              <a:schemeClr val="accent2">
                <a:hueOff val="3944390"/>
                <a:satOff val="-27302"/>
                <a:lumOff val="-7320"/>
                <a:alphaOff val="0"/>
                <a:satMod val="110000"/>
                <a:lumMod val="100000"/>
                <a:shade val="100000"/>
              </a:schemeClr>
            </a:gs>
            <a:gs pos="100000">
              <a:schemeClr val="accent2">
                <a:hueOff val="3944390"/>
                <a:satOff val="-27302"/>
                <a:lumOff val="-732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CN" altLang="en-US" sz="2000" b="1" kern="1200"/>
        </a:p>
      </dsp:txBody>
      <dsp:txXfrm>
        <a:off x="4820625" y="3538595"/>
        <a:ext cx="285233" cy="390471"/>
      </dsp:txXfrm>
    </dsp:sp>
    <dsp:sp modelId="{B07BE4C6-595E-4BD9-A3A5-23C3B30F2618}">
      <dsp:nvSpPr>
        <dsp:cNvPr id="0" name=""/>
        <dsp:cNvSpPr/>
      </dsp:nvSpPr>
      <dsp:spPr>
        <a:xfrm>
          <a:off x="5387252" y="3165869"/>
          <a:ext cx="1722667" cy="1722667"/>
        </a:xfrm>
        <a:prstGeom prst="ellipse">
          <a:avLst/>
        </a:prstGeom>
        <a:gradFill rotWithShape="0">
          <a:gsLst>
            <a:gs pos="0">
              <a:schemeClr val="accent2">
                <a:hueOff val="3944390"/>
                <a:satOff val="-27302"/>
                <a:lumOff val="-7320"/>
                <a:alphaOff val="0"/>
                <a:satMod val="103000"/>
                <a:lumMod val="102000"/>
                <a:tint val="94000"/>
              </a:schemeClr>
            </a:gs>
            <a:gs pos="50000">
              <a:schemeClr val="accent2">
                <a:hueOff val="3944390"/>
                <a:satOff val="-27302"/>
                <a:lumOff val="-7320"/>
                <a:alphaOff val="0"/>
                <a:satMod val="110000"/>
                <a:lumMod val="100000"/>
                <a:shade val="100000"/>
              </a:schemeClr>
            </a:gs>
            <a:gs pos="100000">
              <a:schemeClr val="accent2">
                <a:hueOff val="3944390"/>
                <a:satOff val="-27302"/>
                <a:lumOff val="-732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银行信贷市场</a:t>
          </a:r>
        </a:p>
      </dsp:txBody>
      <dsp:txXfrm>
        <a:off x="5639531" y="3418148"/>
        <a:ext cx="1218109" cy="1218109"/>
      </dsp:txXfrm>
    </dsp:sp>
    <dsp:sp modelId="{9A50F9DE-2F44-4E2A-9ED7-E298EE9DC37A}">
      <dsp:nvSpPr>
        <dsp:cNvPr id="0" name=""/>
        <dsp:cNvSpPr/>
      </dsp:nvSpPr>
      <dsp:spPr>
        <a:xfrm rot="3857143">
          <a:off x="4099550" y="4324318"/>
          <a:ext cx="407475" cy="650785"/>
        </a:xfrm>
        <a:prstGeom prst="rightArrow">
          <a:avLst>
            <a:gd name="adj1" fmla="val 60000"/>
            <a:gd name="adj2" fmla="val 50000"/>
          </a:avLst>
        </a:prstGeom>
        <a:gradFill rotWithShape="0">
          <a:gsLst>
            <a:gs pos="0">
              <a:schemeClr val="accent2">
                <a:hueOff val="5916584"/>
                <a:satOff val="-40953"/>
                <a:lumOff val="-10980"/>
                <a:alphaOff val="0"/>
                <a:satMod val="103000"/>
                <a:lumMod val="102000"/>
                <a:tint val="94000"/>
              </a:schemeClr>
            </a:gs>
            <a:gs pos="50000">
              <a:schemeClr val="accent2">
                <a:hueOff val="5916584"/>
                <a:satOff val="-40953"/>
                <a:lumOff val="-10980"/>
                <a:alphaOff val="0"/>
                <a:satMod val="110000"/>
                <a:lumMod val="100000"/>
                <a:shade val="100000"/>
              </a:schemeClr>
            </a:gs>
            <a:gs pos="100000">
              <a:schemeClr val="accent2">
                <a:hueOff val="5916584"/>
                <a:satOff val="-40953"/>
                <a:lumOff val="-1098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CN" altLang="en-US" sz="2000" b="1" kern="1200"/>
        </a:p>
      </dsp:txBody>
      <dsp:txXfrm>
        <a:off x="4134152" y="4399407"/>
        <a:ext cx="285233" cy="390471"/>
      </dsp:txXfrm>
    </dsp:sp>
    <dsp:sp modelId="{B96E3689-12C0-4D33-A978-A63CFC168A5A}">
      <dsp:nvSpPr>
        <dsp:cNvPr id="0" name=""/>
        <dsp:cNvSpPr/>
      </dsp:nvSpPr>
      <dsp:spPr>
        <a:xfrm>
          <a:off x="3987466" y="4921145"/>
          <a:ext cx="1722667" cy="1722667"/>
        </a:xfrm>
        <a:prstGeom prst="ellipse">
          <a:avLst/>
        </a:prstGeom>
        <a:gradFill rotWithShape="0">
          <a:gsLst>
            <a:gs pos="0">
              <a:schemeClr val="accent2">
                <a:hueOff val="5916584"/>
                <a:satOff val="-40953"/>
                <a:lumOff val="-10980"/>
                <a:alphaOff val="0"/>
                <a:satMod val="103000"/>
                <a:lumMod val="102000"/>
                <a:tint val="94000"/>
              </a:schemeClr>
            </a:gs>
            <a:gs pos="50000">
              <a:schemeClr val="accent2">
                <a:hueOff val="5916584"/>
                <a:satOff val="-40953"/>
                <a:lumOff val="-10980"/>
                <a:alphaOff val="0"/>
                <a:satMod val="110000"/>
                <a:lumMod val="100000"/>
                <a:shade val="100000"/>
              </a:schemeClr>
            </a:gs>
            <a:gs pos="100000">
              <a:schemeClr val="accent2">
                <a:hueOff val="5916584"/>
                <a:satOff val="-40953"/>
                <a:lumOff val="-1098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公司债市场</a:t>
          </a:r>
        </a:p>
      </dsp:txBody>
      <dsp:txXfrm>
        <a:off x="4239745" y="5173424"/>
        <a:ext cx="1218109" cy="1218109"/>
      </dsp:txXfrm>
    </dsp:sp>
    <dsp:sp modelId="{B38A2A3A-71AB-4612-AC03-E5D7D812038B}">
      <dsp:nvSpPr>
        <dsp:cNvPr id="0" name=""/>
        <dsp:cNvSpPr/>
      </dsp:nvSpPr>
      <dsp:spPr>
        <a:xfrm rot="6942857">
          <a:off x="2945492" y="4324318"/>
          <a:ext cx="407475" cy="650785"/>
        </a:xfrm>
        <a:prstGeom prst="rightArrow">
          <a:avLst>
            <a:gd name="adj1" fmla="val 60000"/>
            <a:gd name="adj2" fmla="val 50000"/>
          </a:avLst>
        </a:prstGeom>
        <a:gradFill rotWithShape="0">
          <a:gsLst>
            <a:gs pos="0">
              <a:schemeClr val="accent2">
                <a:hueOff val="7888780"/>
                <a:satOff val="-54603"/>
                <a:lumOff val="-14640"/>
                <a:alphaOff val="0"/>
                <a:satMod val="103000"/>
                <a:lumMod val="102000"/>
                <a:tint val="94000"/>
              </a:schemeClr>
            </a:gs>
            <a:gs pos="50000">
              <a:schemeClr val="accent2">
                <a:hueOff val="7888780"/>
                <a:satOff val="-54603"/>
                <a:lumOff val="-14640"/>
                <a:alphaOff val="0"/>
                <a:satMod val="110000"/>
                <a:lumMod val="100000"/>
                <a:shade val="100000"/>
              </a:schemeClr>
            </a:gs>
            <a:gs pos="100000">
              <a:schemeClr val="accent2">
                <a:hueOff val="7888780"/>
                <a:satOff val="-54603"/>
                <a:lumOff val="-1464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CN" altLang="en-US" sz="2000" b="1" kern="1200"/>
        </a:p>
      </dsp:txBody>
      <dsp:txXfrm rot="10800000">
        <a:off x="3033132" y="4399407"/>
        <a:ext cx="285233" cy="390471"/>
      </dsp:txXfrm>
    </dsp:sp>
    <dsp:sp modelId="{3224B751-A585-47E1-AC86-2E29007718E6}">
      <dsp:nvSpPr>
        <dsp:cNvPr id="0" name=""/>
        <dsp:cNvSpPr/>
      </dsp:nvSpPr>
      <dsp:spPr>
        <a:xfrm>
          <a:off x="1742384" y="4921145"/>
          <a:ext cx="1722667" cy="1722667"/>
        </a:xfrm>
        <a:prstGeom prst="ellipse">
          <a:avLst/>
        </a:prstGeom>
        <a:gradFill rotWithShape="0">
          <a:gsLst>
            <a:gs pos="0">
              <a:schemeClr val="accent2">
                <a:hueOff val="7888780"/>
                <a:satOff val="-54603"/>
                <a:lumOff val="-14640"/>
                <a:alphaOff val="0"/>
                <a:satMod val="103000"/>
                <a:lumMod val="102000"/>
                <a:tint val="94000"/>
              </a:schemeClr>
            </a:gs>
            <a:gs pos="50000">
              <a:schemeClr val="accent2">
                <a:hueOff val="7888780"/>
                <a:satOff val="-54603"/>
                <a:lumOff val="-14640"/>
                <a:alphaOff val="0"/>
                <a:satMod val="110000"/>
                <a:lumMod val="100000"/>
                <a:shade val="100000"/>
              </a:schemeClr>
            </a:gs>
            <a:gs pos="100000">
              <a:schemeClr val="accent2">
                <a:hueOff val="7888780"/>
                <a:satOff val="-54603"/>
                <a:lumOff val="-1464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住房抵押债</a:t>
          </a:r>
        </a:p>
      </dsp:txBody>
      <dsp:txXfrm>
        <a:off x="1994663" y="5173424"/>
        <a:ext cx="1218109" cy="1218109"/>
      </dsp:txXfrm>
    </dsp:sp>
    <dsp:sp modelId="{0751A105-A031-462F-A2DC-B238E7D45142}">
      <dsp:nvSpPr>
        <dsp:cNvPr id="0" name=""/>
        <dsp:cNvSpPr/>
      </dsp:nvSpPr>
      <dsp:spPr>
        <a:xfrm rot="10028571">
          <a:off x="2225949" y="3422039"/>
          <a:ext cx="407475" cy="650785"/>
        </a:xfrm>
        <a:prstGeom prst="rightArrow">
          <a:avLst>
            <a:gd name="adj1" fmla="val 60000"/>
            <a:gd name="adj2" fmla="val 50000"/>
          </a:avLst>
        </a:prstGeom>
        <a:gradFill rotWithShape="0">
          <a:gsLst>
            <a:gs pos="0">
              <a:schemeClr val="accent2">
                <a:hueOff val="9860974"/>
                <a:satOff val="-68254"/>
                <a:lumOff val="-18300"/>
                <a:alphaOff val="0"/>
                <a:satMod val="103000"/>
                <a:lumMod val="102000"/>
                <a:tint val="94000"/>
              </a:schemeClr>
            </a:gs>
            <a:gs pos="50000">
              <a:schemeClr val="accent2">
                <a:hueOff val="9860974"/>
                <a:satOff val="-68254"/>
                <a:lumOff val="-18300"/>
                <a:alphaOff val="0"/>
                <a:satMod val="110000"/>
                <a:lumMod val="100000"/>
                <a:shade val="100000"/>
              </a:schemeClr>
            </a:gs>
            <a:gs pos="100000">
              <a:schemeClr val="accent2">
                <a:hueOff val="9860974"/>
                <a:satOff val="-68254"/>
                <a:lumOff val="-183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CN" altLang="en-US" sz="2000" b="1" kern="1200"/>
        </a:p>
      </dsp:txBody>
      <dsp:txXfrm rot="10800000">
        <a:off x="2346659" y="3538595"/>
        <a:ext cx="285233" cy="390471"/>
      </dsp:txXfrm>
    </dsp:sp>
    <dsp:sp modelId="{851929AB-A41E-48AD-B8D2-F6DAEF561E98}">
      <dsp:nvSpPr>
        <dsp:cNvPr id="0" name=""/>
        <dsp:cNvSpPr/>
      </dsp:nvSpPr>
      <dsp:spPr>
        <a:xfrm>
          <a:off x="342599" y="3165869"/>
          <a:ext cx="1722667" cy="1722667"/>
        </a:xfrm>
        <a:prstGeom prst="ellipse">
          <a:avLst/>
        </a:prstGeom>
        <a:gradFill rotWithShape="0">
          <a:gsLst>
            <a:gs pos="0">
              <a:schemeClr val="accent2">
                <a:hueOff val="9860974"/>
                <a:satOff val="-68254"/>
                <a:lumOff val="-18300"/>
                <a:alphaOff val="0"/>
                <a:satMod val="103000"/>
                <a:lumMod val="102000"/>
                <a:tint val="94000"/>
              </a:schemeClr>
            </a:gs>
            <a:gs pos="50000">
              <a:schemeClr val="accent2">
                <a:hueOff val="9860974"/>
                <a:satOff val="-68254"/>
                <a:lumOff val="-18300"/>
                <a:alphaOff val="0"/>
                <a:satMod val="110000"/>
                <a:lumMod val="100000"/>
                <a:shade val="100000"/>
              </a:schemeClr>
            </a:gs>
            <a:gs pos="100000">
              <a:schemeClr val="accent2">
                <a:hueOff val="9860974"/>
                <a:satOff val="-68254"/>
                <a:lumOff val="-183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消费市场</a:t>
          </a:r>
        </a:p>
      </dsp:txBody>
      <dsp:txXfrm>
        <a:off x="594878" y="3418148"/>
        <a:ext cx="1218109" cy="1218109"/>
      </dsp:txXfrm>
    </dsp:sp>
    <dsp:sp modelId="{406A28E8-39B0-4E25-93B4-00FC7F448C36}">
      <dsp:nvSpPr>
        <dsp:cNvPr id="0" name=""/>
        <dsp:cNvSpPr/>
      </dsp:nvSpPr>
      <dsp:spPr>
        <a:xfrm rot="13114286">
          <a:off x="2482751" y="2296916"/>
          <a:ext cx="407475" cy="650785"/>
        </a:xfrm>
        <a:prstGeom prst="rightArrow">
          <a:avLst>
            <a:gd name="adj1" fmla="val 60000"/>
            <a:gd name="adj2" fmla="val 50000"/>
          </a:avLst>
        </a:prstGeom>
        <a:gradFill rotWithShape="0">
          <a:gsLst>
            <a:gs pos="0">
              <a:schemeClr val="accent2">
                <a:hueOff val="11833169"/>
                <a:satOff val="-81905"/>
                <a:lumOff val="-21960"/>
                <a:alphaOff val="0"/>
                <a:satMod val="103000"/>
                <a:lumMod val="102000"/>
                <a:tint val="94000"/>
              </a:schemeClr>
            </a:gs>
            <a:gs pos="50000">
              <a:schemeClr val="accent2">
                <a:hueOff val="11833169"/>
                <a:satOff val="-81905"/>
                <a:lumOff val="-21960"/>
                <a:alphaOff val="0"/>
                <a:satMod val="110000"/>
                <a:lumMod val="100000"/>
                <a:shade val="100000"/>
              </a:schemeClr>
            </a:gs>
            <a:gs pos="100000">
              <a:schemeClr val="accent2">
                <a:hueOff val="11833169"/>
                <a:satOff val="-81905"/>
                <a:lumOff val="-2196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CN" altLang="en-US" sz="2000" b="1" kern="1200"/>
        </a:p>
      </dsp:txBody>
      <dsp:txXfrm rot="10800000">
        <a:off x="2591658" y="2465181"/>
        <a:ext cx="285233" cy="390471"/>
      </dsp:txXfrm>
    </dsp:sp>
    <dsp:sp modelId="{3B46B3E2-F8D3-420F-B7F5-98B83AF2FDDB}">
      <dsp:nvSpPr>
        <dsp:cNvPr id="0" name=""/>
        <dsp:cNvSpPr/>
      </dsp:nvSpPr>
      <dsp:spPr>
        <a:xfrm>
          <a:off x="842176" y="977076"/>
          <a:ext cx="1722667" cy="1722667"/>
        </a:xfrm>
        <a:prstGeom prst="ellipse">
          <a:avLst/>
        </a:prstGeom>
        <a:gradFill rotWithShape="0">
          <a:gsLst>
            <a:gs pos="0">
              <a:schemeClr val="accent2">
                <a:hueOff val="11833169"/>
                <a:satOff val="-81905"/>
                <a:lumOff val="-21960"/>
                <a:alphaOff val="0"/>
                <a:satMod val="103000"/>
                <a:lumMod val="102000"/>
                <a:tint val="94000"/>
              </a:schemeClr>
            </a:gs>
            <a:gs pos="50000">
              <a:schemeClr val="accent2">
                <a:hueOff val="11833169"/>
                <a:satOff val="-81905"/>
                <a:lumOff val="-21960"/>
                <a:alphaOff val="0"/>
                <a:satMod val="110000"/>
                <a:lumMod val="100000"/>
                <a:shade val="100000"/>
              </a:schemeClr>
            </a:gs>
            <a:gs pos="100000">
              <a:schemeClr val="accent2">
                <a:hueOff val="11833169"/>
                <a:satOff val="-81905"/>
                <a:lumOff val="-2196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商品市场</a:t>
          </a:r>
        </a:p>
      </dsp:txBody>
      <dsp:txXfrm>
        <a:off x="1094455" y="1229355"/>
        <a:ext cx="1218109" cy="12181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C5BD55-4359-45E6-9096-412ED876B610}">
      <dsp:nvSpPr>
        <dsp:cNvPr id="0" name=""/>
        <dsp:cNvSpPr/>
      </dsp:nvSpPr>
      <dsp:spPr>
        <a:xfrm>
          <a:off x="1939723" y="2084229"/>
          <a:ext cx="3111501" cy="3111501"/>
        </a:xfrm>
        <a:prstGeom prst="ellipse">
          <a:avLst/>
        </a:prstGeom>
        <a:solidFill>
          <a:srgbClr val="00B0F0">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行业内竞争者</a:t>
          </a:r>
          <a:br>
            <a:rPr lang="en-US" altLang="zh-CN" sz="2000" kern="1200" dirty="0"/>
          </a:br>
          <a:br>
            <a:rPr lang="en-US" altLang="zh-CN" sz="2000" kern="1200" dirty="0"/>
          </a:br>
          <a:r>
            <a:rPr lang="zh-CN" altLang="en-US" sz="2000" kern="1200" dirty="0"/>
            <a:t>与目前对手的竞争</a:t>
          </a:r>
        </a:p>
      </dsp:txBody>
      <dsp:txXfrm>
        <a:off x="2395392" y="2539898"/>
        <a:ext cx="2200163" cy="2200163"/>
      </dsp:txXfrm>
    </dsp:sp>
    <dsp:sp modelId="{C2F9A696-A26D-4A43-8E4B-16533C03C84C}">
      <dsp:nvSpPr>
        <dsp:cNvPr id="0" name=""/>
        <dsp:cNvSpPr/>
      </dsp:nvSpPr>
      <dsp:spPr>
        <a:xfrm>
          <a:off x="2526026" y="145198"/>
          <a:ext cx="1938896" cy="1938896"/>
        </a:xfrm>
        <a:prstGeom prst="ellipse">
          <a:avLst/>
        </a:prstGeom>
        <a:solidFill>
          <a:schemeClr val="accent4">
            <a:alpha val="50000"/>
            <a:hueOff val="-3005624"/>
            <a:satOff val="19541"/>
            <a:lumOff val="72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潜在进入者</a:t>
          </a:r>
          <a:br>
            <a:rPr lang="en-US" altLang="zh-CN" sz="2000" kern="1200" dirty="0"/>
          </a:br>
          <a:endParaRPr lang="en-US" altLang="zh-CN" sz="2000" kern="1200" dirty="0"/>
        </a:p>
        <a:p>
          <a:pPr marL="0" lvl="0" indent="0" algn="ctr" defTabSz="889000">
            <a:lnSpc>
              <a:spcPct val="90000"/>
            </a:lnSpc>
            <a:spcBef>
              <a:spcPct val="0"/>
            </a:spcBef>
            <a:spcAft>
              <a:spcPct val="35000"/>
            </a:spcAft>
            <a:buNone/>
          </a:pPr>
          <a:r>
            <a:rPr lang="zh-CN" altLang="en-US" sz="2000" kern="1200" dirty="0"/>
            <a:t>竞争者威胁</a:t>
          </a:r>
        </a:p>
      </dsp:txBody>
      <dsp:txXfrm>
        <a:off x="2809971" y="429143"/>
        <a:ext cx="1371006" cy="1371006"/>
      </dsp:txXfrm>
    </dsp:sp>
    <dsp:sp modelId="{5502C40D-D053-4228-8AAE-220B08D4CF3D}">
      <dsp:nvSpPr>
        <dsp:cNvPr id="0" name=""/>
        <dsp:cNvSpPr/>
      </dsp:nvSpPr>
      <dsp:spPr>
        <a:xfrm>
          <a:off x="5051360" y="2670532"/>
          <a:ext cx="1938896" cy="1938896"/>
        </a:xfrm>
        <a:prstGeom prst="ellipse">
          <a:avLst/>
        </a:prstGeom>
        <a:solidFill>
          <a:schemeClr val="accent4">
            <a:alpha val="50000"/>
            <a:hueOff val="-6011248"/>
            <a:satOff val="39081"/>
            <a:lumOff val="145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购买者</a:t>
          </a:r>
          <a:br>
            <a:rPr lang="en-US" altLang="zh-CN" sz="2000" kern="1200" dirty="0"/>
          </a:br>
          <a:endParaRPr lang="en-US" altLang="zh-CN" sz="2000" kern="1200" dirty="0"/>
        </a:p>
        <a:p>
          <a:pPr marL="0" lvl="0" indent="0" algn="ctr" defTabSz="889000">
            <a:lnSpc>
              <a:spcPct val="90000"/>
            </a:lnSpc>
            <a:spcBef>
              <a:spcPct val="0"/>
            </a:spcBef>
            <a:spcAft>
              <a:spcPct val="35000"/>
            </a:spcAft>
            <a:buNone/>
          </a:pPr>
          <a:r>
            <a:rPr lang="zh-CN" altLang="en-US" sz="2000" kern="1200" dirty="0"/>
            <a:t>购买者的议价能力</a:t>
          </a:r>
        </a:p>
      </dsp:txBody>
      <dsp:txXfrm>
        <a:off x="5335305" y="2954477"/>
        <a:ext cx="1371006" cy="1371006"/>
      </dsp:txXfrm>
    </dsp:sp>
    <dsp:sp modelId="{DF5A5E56-EAC0-4BD0-8983-A22A0136EC66}">
      <dsp:nvSpPr>
        <dsp:cNvPr id="0" name=""/>
        <dsp:cNvSpPr/>
      </dsp:nvSpPr>
      <dsp:spPr>
        <a:xfrm>
          <a:off x="2526026" y="5195866"/>
          <a:ext cx="1938896" cy="1938896"/>
        </a:xfrm>
        <a:prstGeom prst="ellipse">
          <a:avLst/>
        </a:prstGeom>
        <a:solidFill>
          <a:schemeClr val="accent4">
            <a:alpha val="50000"/>
            <a:hueOff val="-9016871"/>
            <a:satOff val="58622"/>
            <a:lumOff val="2176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替代品</a:t>
          </a:r>
          <a:br>
            <a:rPr lang="en-US" altLang="zh-CN" sz="2000" kern="1200" dirty="0"/>
          </a:br>
          <a:endParaRPr lang="en-US" altLang="zh-CN" sz="2000" kern="1200" dirty="0"/>
        </a:p>
        <a:p>
          <a:pPr marL="0" lvl="0" indent="0" algn="ctr" defTabSz="889000">
            <a:lnSpc>
              <a:spcPct val="90000"/>
            </a:lnSpc>
            <a:spcBef>
              <a:spcPct val="0"/>
            </a:spcBef>
            <a:spcAft>
              <a:spcPct val="35000"/>
            </a:spcAft>
            <a:buNone/>
          </a:pPr>
          <a:r>
            <a:rPr lang="zh-CN" altLang="en-US" sz="2000" kern="1200" dirty="0"/>
            <a:t>替代产品的威胁</a:t>
          </a:r>
        </a:p>
      </dsp:txBody>
      <dsp:txXfrm>
        <a:off x="2809971" y="5479811"/>
        <a:ext cx="1371006" cy="1371006"/>
      </dsp:txXfrm>
    </dsp:sp>
    <dsp:sp modelId="{6906441A-4276-45A4-9323-1BBACD622E68}">
      <dsp:nvSpPr>
        <dsp:cNvPr id="0" name=""/>
        <dsp:cNvSpPr/>
      </dsp:nvSpPr>
      <dsp:spPr>
        <a:xfrm>
          <a:off x="692" y="2670532"/>
          <a:ext cx="1938896" cy="1938896"/>
        </a:xfrm>
        <a:prstGeom prst="ellipse">
          <a:avLst/>
        </a:prstGeom>
        <a:solidFill>
          <a:schemeClr val="accent4">
            <a:alpha val="50000"/>
            <a:hueOff val="-12022495"/>
            <a:satOff val="78163"/>
            <a:lumOff val="2901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供应商</a:t>
          </a:r>
          <a:br>
            <a:rPr lang="en-US" altLang="zh-CN" sz="2000" kern="1200" dirty="0"/>
          </a:br>
          <a:endParaRPr lang="en-US" altLang="zh-CN" sz="2000" kern="1200" dirty="0"/>
        </a:p>
        <a:p>
          <a:pPr marL="0" lvl="0" indent="0" algn="ctr" defTabSz="889000">
            <a:lnSpc>
              <a:spcPct val="90000"/>
            </a:lnSpc>
            <a:spcBef>
              <a:spcPct val="0"/>
            </a:spcBef>
            <a:spcAft>
              <a:spcPct val="35000"/>
            </a:spcAft>
            <a:buNone/>
          </a:pPr>
          <a:r>
            <a:rPr lang="zh-CN" altLang="en-US" sz="2000" kern="1200" dirty="0"/>
            <a:t>讨价还价能力</a:t>
          </a:r>
        </a:p>
      </dsp:txBody>
      <dsp:txXfrm>
        <a:off x="284637" y="2954477"/>
        <a:ext cx="1371006" cy="13710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0276AB-6598-44B9-ADBF-4EF1A84957B3}">
      <dsp:nvSpPr>
        <dsp:cNvPr id="0" name=""/>
        <dsp:cNvSpPr/>
      </dsp:nvSpPr>
      <dsp:spPr>
        <a:xfrm>
          <a:off x="2994740" y="1860787"/>
          <a:ext cx="1412980" cy="141298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t>企业</a:t>
          </a:r>
        </a:p>
      </dsp:txBody>
      <dsp:txXfrm>
        <a:off x="3201666" y="2067713"/>
        <a:ext cx="999128" cy="999128"/>
      </dsp:txXfrm>
    </dsp:sp>
    <dsp:sp modelId="{021FF07D-9633-4091-B1E3-9764CF9DF18B}">
      <dsp:nvSpPr>
        <dsp:cNvPr id="0" name=""/>
        <dsp:cNvSpPr/>
      </dsp:nvSpPr>
      <dsp:spPr>
        <a:xfrm rot="16212438">
          <a:off x="3457945" y="1596880"/>
          <a:ext cx="493468" cy="34358"/>
        </a:xfrm>
        <a:custGeom>
          <a:avLst/>
          <a:gdLst/>
          <a:ahLst/>
          <a:cxnLst/>
          <a:rect l="0" t="0" r="0" b="0"/>
          <a:pathLst>
            <a:path>
              <a:moveTo>
                <a:pt x="0" y="17179"/>
              </a:moveTo>
              <a:lnTo>
                <a:pt x="493468" y="17179"/>
              </a:lnTo>
            </a:path>
          </a:pathLst>
        </a:custGeom>
        <a:noFill/>
        <a:ln w="12700" cap="flat" cmpd="sng" algn="ctr">
          <a:solidFill>
            <a:schemeClr val="bg1">
              <a:lumMod val="65000"/>
            </a:schemeClr>
          </a:solidFill>
          <a:prstDash val="sysDot"/>
          <a:miter lim="800000"/>
          <a:headEnd type="triangle" w="med" len="med"/>
          <a:tailEnd type="triangl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zh-CN" altLang="en-US" sz="600" kern="1200"/>
        </a:p>
      </dsp:txBody>
      <dsp:txXfrm>
        <a:off x="3692342" y="1601722"/>
        <a:ext cx="24673" cy="24673"/>
      </dsp:txXfrm>
    </dsp:sp>
    <dsp:sp modelId="{69882A96-083C-4403-AF74-A27D5B79E932}">
      <dsp:nvSpPr>
        <dsp:cNvPr id="0" name=""/>
        <dsp:cNvSpPr/>
      </dsp:nvSpPr>
      <dsp:spPr>
        <a:xfrm>
          <a:off x="3262310" y="462852"/>
          <a:ext cx="889796" cy="904477"/>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股东</a:t>
          </a:r>
        </a:p>
      </dsp:txBody>
      <dsp:txXfrm>
        <a:off x="3392618" y="595310"/>
        <a:ext cx="629180" cy="639561"/>
      </dsp:txXfrm>
    </dsp:sp>
    <dsp:sp modelId="{72C69E55-0490-495A-B243-247739D14501}">
      <dsp:nvSpPr>
        <dsp:cNvPr id="0" name=""/>
        <dsp:cNvSpPr/>
      </dsp:nvSpPr>
      <dsp:spPr>
        <a:xfrm rot="19800000">
          <a:off x="4267029" y="2025031"/>
          <a:ext cx="687287" cy="34358"/>
        </a:xfrm>
        <a:custGeom>
          <a:avLst/>
          <a:gdLst/>
          <a:ahLst/>
          <a:cxnLst/>
          <a:rect l="0" t="0" r="0" b="0"/>
          <a:pathLst>
            <a:path>
              <a:moveTo>
                <a:pt x="0" y="17179"/>
              </a:moveTo>
              <a:lnTo>
                <a:pt x="687287" y="17179"/>
              </a:lnTo>
            </a:path>
          </a:pathLst>
        </a:custGeom>
        <a:noFill/>
        <a:ln w="12700" cap="flat" cmpd="sng" algn="ctr">
          <a:solidFill>
            <a:schemeClr val="bg1">
              <a:lumMod val="65000"/>
            </a:schemeClr>
          </a:solidFill>
          <a:prstDash val="sysDot"/>
          <a:miter lim="800000"/>
          <a:headEnd type="triangle" w="med" len="med"/>
          <a:tailEnd type="triangl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zh-CN" altLang="en-US" sz="600" kern="1200"/>
        </a:p>
      </dsp:txBody>
      <dsp:txXfrm>
        <a:off x="4593491" y="2025028"/>
        <a:ext cx="34364" cy="34364"/>
      </dsp:txXfrm>
    </dsp:sp>
    <dsp:sp modelId="{09F568E9-B74F-430D-B56C-C809B5DFB17C}">
      <dsp:nvSpPr>
        <dsp:cNvPr id="0" name=""/>
        <dsp:cNvSpPr/>
      </dsp:nvSpPr>
      <dsp:spPr>
        <a:xfrm>
          <a:off x="4850232" y="1194800"/>
          <a:ext cx="889796" cy="904477"/>
        </a:xfrm>
        <a:prstGeom prst="ellipse">
          <a:avLst/>
        </a:prstGeom>
        <a:solidFill>
          <a:schemeClr val="accent2">
            <a:hueOff val="2366634"/>
            <a:satOff val="-16381"/>
            <a:lumOff val="-4392"/>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债权人</a:t>
          </a:r>
        </a:p>
      </dsp:txBody>
      <dsp:txXfrm>
        <a:off x="4980540" y="1327258"/>
        <a:ext cx="629180" cy="639561"/>
      </dsp:txXfrm>
    </dsp:sp>
    <dsp:sp modelId="{B407FD0B-9C7E-4782-8B2B-059A4ECA62C2}">
      <dsp:nvSpPr>
        <dsp:cNvPr id="0" name=""/>
        <dsp:cNvSpPr/>
      </dsp:nvSpPr>
      <dsp:spPr>
        <a:xfrm rot="1800000">
          <a:off x="4267029" y="3075165"/>
          <a:ext cx="687287" cy="34358"/>
        </a:xfrm>
        <a:custGeom>
          <a:avLst/>
          <a:gdLst/>
          <a:ahLst/>
          <a:cxnLst/>
          <a:rect l="0" t="0" r="0" b="0"/>
          <a:pathLst>
            <a:path>
              <a:moveTo>
                <a:pt x="0" y="17179"/>
              </a:moveTo>
              <a:lnTo>
                <a:pt x="687287" y="17179"/>
              </a:lnTo>
            </a:path>
          </a:pathLst>
        </a:custGeom>
        <a:noFill/>
        <a:ln w="12700" cap="flat" cmpd="sng" algn="ctr">
          <a:solidFill>
            <a:schemeClr val="bg1">
              <a:lumMod val="65000"/>
            </a:schemeClr>
          </a:solidFill>
          <a:prstDash val="sysDot"/>
          <a:miter lim="800000"/>
          <a:headEnd type="triangle" w="med" len="med"/>
          <a:tailEnd type="triangl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zh-CN" altLang="en-US" sz="600" kern="1200"/>
        </a:p>
      </dsp:txBody>
      <dsp:txXfrm>
        <a:off x="4593491" y="3075162"/>
        <a:ext cx="34364" cy="34364"/>
      </dsp:txXfrm>
    </dsp:sp>
    <dsp:sp modelId="{E5FFDA36-2489-41C8-A6BA-89BAEC2AC2E6}">
      <dsp:nvSpPr>
        <dsp:cNvPr id="0" name=""/>
        <dsp:cNvSpPr/>
      </dsp:nvSpPr>
      <dsp:spPr>
        <a:xfrm>
          <a:off x="4850232" y="3035277"/>
          <a:ext cx="889796" cy="904477"/>
        </a:xfrm>
        <a:prstGeom prst="ellipse">
          <a:avLst/>
        </a:prstGeom>
        <a:solidFill>
          <a:schemeClr val="accent2">
            <a:hueOff val="4733268"/>
            <a:satOff val="-32762"/>
            <a:lumOff val="-8784"/>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政府</a:t>
          </a:r>
        </a:p>
      </dsp:txBody>
      <dsp:txXfrm>
        <a:off x="4980540" y="3167735"/>
        <a:ext cx="629180" cy="639561"/>
      </dsp:txXfrm>
    </dsp:sp>
    <dsp:sp modelId="{F0ED9A2D-74F3-48FB-957D-494C18F7C621}">
      <dsp:nvSpPr>
        <dsp:cNvPr id="0" name=""/>
        <dsp:cNvSpPr/>
      </dsp:nvSpPr>
      <dsp:spPr>
        <a:xfrm rot="5400000">
          <a:off x="3360355" y="3597463"/>
          <a:ext cx="681749" cy="34358"/>
        </a:xfrm>
        <a:custGeom>
          <a:avLst/>
          <a:gdLst/>
          <a:ahLst/>
          <a:cxnLst/>
          <a:rect l="0" t="0" r="0" b="0"/>
          <a:pathLst>
            <a:path>
              <a:moveTo>
                <a:pt x="0" y="17179"/>
              </a:moveTo>
              <a:lnTo>
                <a:pt x="681749" y="17179"/>
              </a:lnTo>
            </a:path>
          </a:pathLst>
        </a:custGeom>
        <a:noFill/>
        <a:ln w="12700" cap="flat" cmpd="sng" algn="ctr">
          <a:solidFill>
            <a:schemeClr val="bg1">
              <a:lumMod val="65000"/>
            </a:schemeClr>
          </a:solidFill>
          <a:prstDash val="sysDot"/>
          <a:miter lim="800000"/>
          <a:headEnd type="triangle" w="med" len="med"/>
          <a:tailEnd type="triangl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zh-CN" altLang="en-US" sz="600" kern="1200"/>
        </a:p>
      </dsp:txBody>
      <dsp:txXfrm>
        <a:off x="3684186" y="3597598"/>
        <a:ext cx="34087" cy="34087"/>
      </dsp:txXfrm>
    </dsp:sp>
    <dsp:sp modelId="{8C3BC8A6-8B35-4B74-903B-5F9B772249C4}">
      <dsp:nvSpPr>
        <dsp:cNvPr id="0" name=""/>
        <dsp:cNvSpPr/>
      </dsp:nvSpPr>
      <dsp:spPr>
        <a:xfrm>
          <a:off x="3256332" y="3955516"/>
          <a:ext cx="889796" cy="904477"/>
        </a:xfrm>
        <a:prstGeom prst="ellipse">
          <a:avLst/>
        </a:prstGeom>
        <a:solidFill>
          <a:schemeClr val="accent2">
            <a:hueOff val="7099902"/>
            <a:satOff val="-49143"/>
            <a:lumOff val="-13176"/>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雇员</a:t>
          </a:r>
        </a:p>
      </dsp:txBody>
      <dsp:txXfrm>
        <a:off x="3386640" y="4087974"/>
        <a:ext cx="629180" cy="639561"/>
      </dsp:txXfrm>
    </dsp:sp>
    <dsp:sp modelId="{ABA9A774-AA5A-4D45-9E78-DDA3E600D3C2}">
      <dsp:nvSpPr>
        <dsp:cNvPr id="0" name=""/>
        <dsp:cNvSpPr/>
      </dsp:nvSpPr>
      <dsp:spPr>
        <a:xfrm rot="9000000">
          <a:off x="2448143" y="3075165"/>
          <a:ext cx="687287" cy="34358"/>
        </a:xfrm>
        <a:custGeom>
          <a:avLst/>
          <a:gdLst/>
          <a:ahLst/>
          <a:cxnLst/>
          <a:rect l="0" t="0" r="0" b="0"/>
          <a:pathLst>
            <a:path>
              <a:moveTo>
                <a:pt x="0" y="17179"/>
              </a:moveTo>
              <a:lnTo>
                <a:pt x="687287" y="17179"/>
              </a:lnTo>
            </a:path>
          </a:pathLst>
        </a:custGeom>
        <a:noFill/>
        <a:ln w="12700" cap="flat" cmpd="sng" algn="ctr">
          <a:solidFill>
            <a:schemeClr val="bg1">
              <a:lumMod val="65000"/>
            </a:schemeClr>
          </a:solidFill>
          <a:prstDash val="sysDot"/>
          <a:miter lim="800000"/>
          <a:headEnd type="triangle" w="med" len="med"/>
          <a:tailEnd type="triangl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zh-CN" altLang="en-US" sz="600" kern="1200"/>
        </a:p>
      </dsp:txBody>
      <dsp:txXfrm rot="10800000">
        <a:off x="2774605" y="3075162"/>
        <a:ext cx="34364" cy="34364"/>
      </dsp:txXfrm>
    </dsp:sp>
    <dsp:sp modelId="{245E6957-20C1-492B-8E6F-1A2400C701ED}">
      <dsp:nvSpPr>
        <dsp:cNvPr id="0" name=""/>
        <dsp:cNvSpPr/>
      </dsp:nvSpPr>
      <dsp:spPr>
        <a:xfrm>
          <a:off x="1662431" y="3035277"/>
          <a:ext cx="889796" cy="904477"/>
        </a:xfrm>
        <a:prstGeom prst="ellipse">
          <a:avLst/>
        </a:prstGeom>
        <a:solidFill>
          <a:schemeClr val="accent2">
            <a:hueOff val="9466535"/>
            <a:satOff val="-65524"/>
            <a:lumOff val="-1756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客户</a:t>
          </a:r>
        </a:p>
      </dsp:txBody>
      <dsp:txXfrm>
        <a:off x="1792739" y="3167735"/>
        <a:ext cx="629180" cy="639561"/>
      </dsp:txXfrm>
    </dsp:sp>
    <dsp:sp modelId="{C2893A9A-FD2C-4E19-9E53-6DF242815998}">
      <dsp:nvSpPr>
        <dsp:cNvPr id="0" name=""/>
        <dsp:cNvSpPr/>
      </dsp:nvSpPr>
      <dsp:spPr>
        <a:xfrm rot="12600000">
          <a:off x="2448143" y="2025031"/>
          <a:ext cx="687287" cy="34358"/>
        </a:xfrm>
        <a:custGeom>
          <a:avLst/>
          <a:gdLst/>
          <a:ahLst/>
          <a:cxnLst/>
          <a:rect l="0" t="0" r="0" b="0"/>
          <a:pathLst>
            <a:path>
              <a:moveTo>
                <a:pt x="0" y="17179"/>
              </a:moveTo>
              <a:lnTo>
                <a:pt x="687287" y="17179"/>
              </a:lnTo>
            </a:path>
          </a:pathLst>
        </a:custGeom>
        <a:noFill/>
        <a:ln w="12700" cap="flat" cmpd="sng" algn="ctr">
          <a:solidFill>
            <a:schemeClr val="bg1">
              <a:lumMod val="65000"/>
            </a:schemeClr>
          </a:solidFill>
          <a:prstDash val="sysDot"/>
          <a:miter lim="800000"/>
          <a:headEnd type="triangle" w="med" len="med"/>
          <a:tailEnd type="triangl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zh-CN" altLang="en-US" sz="600" kern="1200"/>
        </a:p>
      </dsp:txBody>
      <dsp:txXfrm rot="10800000">
        <a:off x="2774605" y="2025028"/>
        <a:ext cx="34364" cy="34364"/>
      </dsp:txXfrm>
    </dsp:sp>
    <dsp:sp modelId="{0925C147-C1FF-4AA0-873E-5BBA2480A55D}">
      <dsp:nvSpPr>
        <dsp:cNvPr id="0" name=""/>
        <dsp:cNvSpPr/>
      </dsp:nvSpPr>
      <dsp:spPr>
        <a:xfrm>
          <a:off x="1662431" y="1194800"/>
          <a:ext cx="889796" cy="904477"/>
        </a:xfrm>
        <a:prstGeom prst="ellipse">
          <a:avLst/>
        </a:prstGeom>
        <a:solidFill>
          <a:schemeClr val="accent2">
            <a:hueOff val="11833169"/>
            <a:satOff val="-81905"/>
            <a:lumOff val="-2196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社会</a:t>
          </a:r>
        </a:p>
      </dsp:txBody>
      <dsp:txXfrm>
        <a:off x="1792739" y="1327258"/>
        <a:ext cx="629180" cy="63956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D6245A-4A9E-4507-BA18-C839EB0AD480}">
      <dsp:nvSpPr>
        <dsp:cNvPr id="0" name=""/>
        <dsp:cNvSpPr/>
      </dsp:nvSpPr>
      <dsp:spPr>
        <a:xfrm rot="16200000">
          <a:off x="-2226592" y="3346636"/>
          <a:ext cx="5797396" cy="1105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75326" bIns="0" numCol="1" spcCol="1270" anchor="t" anchorCtr="0">
          <a:noAutofit/>
        </a:bodyPr>
        <a:lstStyle/>
        <a:p>
          <a:pPr marL="0" lvl="0" indent="0" algn="r" defTabSz="1955800">
            <a:lnSpc>
              <a:spcPct val="90000"/>
            </a:lnSpc>
            <a:spcBef>
              <a:spcPct val="0"/>
            </a:spcBef>
            <a:spcAft>
              <a:spcPct val="35000"/>
            </a:spcAft>
            <a:buNone/>
          </a:pPr>
          <a:r>
            <a:rPr lang="zh-CN" altLang="en-US" sz="4400" b="1" kern="1200" dirty="0">
              <a:solidFill>
                <a:srgbClr val="C00000"/>
              </a:solidFill>
            </a:rPr>
            <a:t>触发情形</a:t>
          </a:r>
          <a:endParaRPr lang="en-US" sz="4400" b="1" kern="1200" dirty="0">
            <a:solidFill>
              <a:srgbClr val="C00000"/>
            </a:solidFill>
          </a:endParaRPr>
        </a:p>
      </dsp:txBody>
      <dsp:txXfrm>
        <a:off x="-2226592" y="3346636"/>
        <a:ext cx="5797396" cy="1105881"/>
      </dsp:txXfrm>
    </dsp:sp>
    <dsp:sp modelId="{4DDFB252-9B5B-484D-B390-CCE55D864A3F}">
      <dsp:nvSpPr>
        <dsp:cNvPr id="0" name=""/>
        <dsp:cNvSpPr/>
      </dsp:nvSpPr>
      <dsp:spPr>
        <a:xfrm>
          <a:off x="990082" y="520390"/>
          <a:ext cx="5978388" cy="675837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0688" tIns="975326" rIns="170688" bIns="170688" numCol="1" spcCol="1270" anchor="t" anchorCtr="0">
          <a:noAutofit/>
        </a:bodyPr>
        <a:lstStyle/>
        <a:p>
          <a:pPr marL="228600" lvl="1" indent="-228600" algn="l" defTabSz="1066800">
            <a:lnSpc>
              <a:spcPct val="90000"/>
            </a:lnSpc>
            <a:spcBef>
              <a:spcPct val="0"/>
            </a:spcBef>
            <a:spcAft>
              <a:spcPct val="15000"/>
            </a:spcAft>
            <a:buChar char="•"/>
          </a:pPr>
          <a:r>
            <a:rPr lang="zh-CN" altLang="en-US" sz="2400" b="1" kern="1200" dirty="0"/>
            <a:t>违约主体范围</a:t>
          </a:r>
          <a:r>
            <a:rPr lang="zh-CN" altLang="en-US" sz="2400" kern="1200" dirty="0"/>
            <a:t>：包含发行人全部</a:t>
          </a:r>
          <a:r>
            <a:rPr lang="en-US" altLang="zh-CN" sz="2400" kern="1200" dirty="0"/>
            <a:t>/</a:t>
          </a:r>
          <a:r>
            <a:rPr lang="zh-CN" altLang="en-US" sz="2400" kern="1200" dirty="0"/>
            <a:t>部分子公司、控股股东及其子公司的债务</a:t>
          </a:r>
          <a:endParaRPr lang="en-US" sz="2400" kern="1200" dirty="0"/>
        </a:p>
        <a:p>
          <a:pPr marL="228600" lvl="1" indent="-228600" algn="l" defTabSz="1066800">
            <a:lnSpc>
              <a:spcPct val="90000"/>
            </a:lnSpc>
            <a:spcBef>
              <a:spcPct val="0"/>
            </a:spcBef>
            <a:spcAft>
              <a:spcPct val="15000"/>
            </a:spcAft>
            <a:buChar char="•"/>
          </a:pPr>
          <a:endParaRPr lang="en-US" altLang="zh-CN" sz="2400" kern="1200" dirty="0"/>
        </a:p>
        <a:p>
          <a:pPr marL="228600" lvl="1" indent="-228600" algn="l" defTabSz="1066800">
            <a:lnSpc>
              <a:spcPct val="90000"/>
            </a:lnSpc>
            <a:spcBef>
              <a:spcPct val="0"/>
            </a:spcBef>
            <a:spcAft>
              <a:spcPct val="15000"/>
            </a:spcAft>
            <a:buChar char="•"/>
          </a:pPr>
          <a:r>
            <a:rPr lang="zh-CN" altLang="en-US" sz="2400" b="1" kern="1200" dirty="0"/>
            <a:t>违约债务种类</a:t>
          </a:r>
          <a:r>
            <a:rPr lang="zh-CN" altLang="en-US" sz="2400" kern="1200" dirty="0"/>
            <a:t>：债券、金融机构贷款、承兑汇票、金融租赁、资产管理计划融资、银行理财直接融资工具等；</a:t>
          </a:r>
          <a:endParaRPr lang="en-US" altLang="zh-CN" sz="2400" kern="1200" dirty="0"/>
        </a:p>
        <a:p>
          <a:pPr marL="228600" lvl="1" indent="-228600" algn="l" defTabSz="1066800">
            <a:lnSpc>
              <a:spcPct val="90000"/>
            </a:lnSpc>
            <a:spcBef>
              <a:spcPct val="0"/>
            </a:spcBef>
            <a:spcAft>
              <a:spcPct val="15000"/>
            </a:spcAft>
            <a:buChar char="•"/>
          </a:pPr>
          <a:endParaRPr lang="en-US" altLang="zh-CN" sz="2400" kern="1200" dirty="0"/>
        </a:p>
        <a:p>
          <a:pPr marL="228600" lvl="1" indent="-228600" algn="l" defTabSz="1066800">
            <a:lnSpc>
              <a:spcPct val="90000"/>
            </a:lnSpc>
            <a:spcBef>
              <a:spcPct val="0"/>
            </a:spcBef>
            <a:spcAft>
              <a:spcPct val="15000"/>
            </a:spcAft>
            <a:buChar char="•"/>
          </a:pPr>
          <a:r>
            <a:rPr lang="zh-CN" altLang="en-US" sz="2400" b="1" kern="1200" dirty="0"/>
            <a:t>违约金额下限</a:t>
          </a:r>
          <a:r>
            <a:rPr lang="zh-CN" altLang="en-US" sz="2400" kern="1200" dirty="0"/>
            <a:t>：单独或一定期间内累计达到一定金额，通常为一个绝对值或达到净资产的一定比例孰低者</a:t>
          </a:r>
          <a:endParaRPr lang="en-US" altLang="zh-CN" sz="2400" kern="1200" dirty="0"/>
        </a:p>
      </dsp:txBody>
      <dsp:txXfrm>
        <a:off x="990082" y="520390"/>
        <a:ext cx="5978388" cy="6758373"/>
      </dsp:txXfrm>
    </dsp:sp>
    <dsp:sp modelId="{11A51B75-9BEC-4AE1-9BC6-2B14515ED971}">
      <dsp:nvSpPr>
        <dsp:cNvPr id="0" name=""/>
        <dsp:cNvSpPr/>
      </dsp:nvSpPr>
      <dsp:spPr>
        <a:xfrm>
          <a:off x="731845" y="153795"/>
          <a:ext cx="986401" cy="986401"/>
        </a:xfrm>
        <a:prstGeom prst="rect">
          <a:avLst/>
        </a:prstGeom>
        <a:blipFill rotWithShape="1">
          <a:blip xmlns:r="http://schemas.openxmlformats.org/officeDocument/2006/relationships" r:embed="rId1">
            <a:duotone>
              <a:schemeClr val="accent5">
                <a:shade val="45000"/>
                <a:satMod val="135000"/>
              </a:schemeClr>
              <a:prstClr val="white"/>
            </a:duotone>
          </a:blip>
          <a:stretch>
            <a:fillRect/>
          </a:stretch>
        </a:blipFill>
        <a:ln w="19050" cap="flat" cmpd="sng" algn="ctr">
          <a:noFill/>
          <a:prstDash val="solid"/>
          <a:miter lim="800000"/>
        </a:ln>
        <a:effectLst/>
      </dsp:spPr>
      <dsp:style>
        <a:lnRef idx="3">
          <a:scrgbClr r="0" g="0" b="0"/>
        </a:lnRef>
        <a:fillRef idx="1">
          <a:scrgbClr r="0" g="0" b="0"/>
        </a:fillRef>
        <a:effectRef idx="1">
          <a:scrgbClr r="0" g="0" b="0"/>
        </a:effectRef>
        <a:fontRef idx="minor"/>
      </dsp:style>
    </dsp:sp>
    <dsp:sp modelId="{FF94A183-8FE2-4715-90A9-39556EFB58F2}">
      <dsp:nvSpPr>
        <dsp:cNvPr id="0" name=""/>
        <dsp:cNvSpPr/>
      </dsp:nvSpPr>
      <dsp:spPr>
        <a:xfrm rot="16200000">
          <a:off x="6064466" y="3346636"/>
          <a:ext cx="5797396" cy="1105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75326" bIns="0" numCol="1" spcCol="1270" anchor="t" anchorCtr="0">
          <a:noAutofit/>
        </a:bodyPr>
        <a:lstStyle/>
        <a:p>
          <a:pPr marL="0" lvl="0" indent="0" algn="r" defTabSz="1955800">
            <a:lnSpc>
              <a:spcPct val="90000"/>
            </a:lnSpc>
            <a:spcBef>
              <a:spcPct val="0"/>
            </a:spcBef>
            <a:spcAft>
              <a:spcPct val="35000"/>
            </a:spcAft>
            <a:buNone/>
          </a:pPr>
          <a:r>
            <a:rPr lang="zh-CN" altLang="en-US" sz="4400" b="1" kern="1200" dirty="0">
              <a:solidFill>
                <a:schemeClr val="tx2">
                  <a:lumMod val="75000"/>
                </a:schemeClr>
              </a:solidFill>
            </a:rPr>
            <a:t>处置程序</a:t>
          </a:r>
          <a:endParaRPr lang="en-US" sz="4400" b="1" kern="1200" dirty="0">
            <a:solidFill>
              <a:schemeClr val="tx2">
                <a:lumMod val="75000"/>
              </a:schemeClr>
            </a:solidFill>
          </a:endParaRPr>
        </a:p>
      </dsp:txBody>
      <dsp:txXfrm>
        <a:off x="6064466" y="3346636"/>
        <a:ext cx="5797396" cy="1105881"/>
      </dsp:txXfrm>
    </dsp:sp>
    <dsp:sp modelId="{8E3791E4-435F-4EC4-A987-82FD0EC233D7}">
      <dsp:nvSpPr>
        <dsp:cNvPr id="0" name=""/>
        <dsp:cNvSpPr/>
      </dsp:nvSpPr>
      <dsp:spPr>
        <a:xfrm>
          <a:off x="9281142" y="520390"/>
          <a:ext cx="5978388" cy="675837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0688" tIns="975326" rIns="170688" bIns="170688" numCol="1" spcCol="1270" anchor="t" anchorCtr="0">
          <a:noAutofit/>
        </a:bodyPr>
        <a:lstStyle/>
        <a:p>
          <a:pPr marL="228600" lvl="1" indent="-228600" algn="l" defTabSz="1066800">
            <a:lnSpc>
              <a:spcPct val="90000"/>
            </a:lnSpc>
            <a:spcBef>
              <a:spcPct val="0"/>
            </a:spcBef>
            <a:spcAft>
              <a:spcPct val="15000"/>
            </a:spcAft>
            <a:buChar char="•"/>
          </a:pPr>
          <a:r>
            <a:rPr lang="zh-CN" altLang="en-US" sz="2400" b="1" kern="1200" dirty="0"/>
            <a:t>书面通知</a:t>
          </a:r>
          <a:r>
            <a:rPr lang="zh-CN" altLang="en-US" sz="2400" kern="1200" dirty="0"/>
            <a:t>：发行人书面通知主承销商，主承销商书面通知全体持有人</a:t>
          </a:r>
          <a:endParaRPr lang="en-US" sz="2400" kern="1200" dirty="0"/>
        </a:p>
        <a:p>
          <a:pPr marL="228600" lvl="1" indent="-228600" algn="l" defTabSz="1066800">
            <a:lnSpc>
              <a:spcPct val="90000"/>
            </a:lnSpc>
            <a:spcBef>
              <a:spcPct val="0"/>
            </a:spcBef>
            <a:spcAft>
              <a:spcPct val="15000"/>
            </a:spcAft>
            <a:buChar char="•"/>
          </a:pPr>
          <a:endParaRPr lang="en-US" sz="2400" kern="1200" dirty="0"/>
        </a:p>
        <a:p>
          <a:pPr marL="228600" lvl="1" indent="-228600" algn="l" defTabSz="1066800">
            <a:lnSpc>
              <a:spcPct val="90000"/>
            </a:lnSpc>
            <a:spcBef>
              <a:spcPct val="0"/>
            </a:spcBef>
            <a:spcAft>
              <a:spcPct val="15000"/>
            </a:spcAft>
            <a:buChar char="•"/>
          </a:pPr>
          <a:r>
            <a:rPr lang="zh-CN" altLang="en-US" sz="2400" b="1" kern="1200" dirty="0"/>
            <a:t>救济和豁免</a:t>
          </a:r>
          <a:r>
            <a:rPr lang="zh-CN" altLang="en-US" sz="2400" kern="1200" dirty="0"/>
            <a:t>：持有人会议，发行人做出解释或提供救济方案，持有人可选择无条件豁免、有条件豁免还是回售</a:t>
          </a:r>
          <a:endParaRPr lang="en-US" altLang="zh-CN" sz="2400" kern="1200" dirty="0"/>
        </a:p>
        <a:p>
          <a:pPr marL="228600" lvl="1" indent="-228600" algn="l" defTabSz="1066800">
            <a:lnSpc>
              <a:spcPct val="90000"/>
            </a:lnSpc>
            <a:spcBef>
              <a:spcPct val="0"/>
            </a:spcBef>
            <a:spcAft>
              <a:spcPct val="15000"/>
            </a:spcAft>
            <a:buChar char="•"/>
          </a:pPr>
          <a:endParaRPr lang="en-US" altLang="zh-CN" sz="2400" kern="1200" dirty="0"/>
        </a:p>
        <a:p>
          <a:pPr marL="228600" lvl="1" indent="-228600" algn="l" defTabSz="1066800">
            <a:lnSpc>
              <a:spcPct val="90000"/>
            </a:lnSpc>
            <a:spcBef>
              <a:spcPct val="0"/>
            </a:spcBef>
            <a:spcAft>
              <a:spcPct val="15000"/>
            </a:spcAft>
            <a:buChar char="•"/>
          </a:pPr>
          <a:r>
            <a:rPr lang="zh-CN" altLang="en-US" sz="2400" b="1" kern="1200" dirty="0"/>
            <a:t>宽限期</a:t>
          </a:r>
          <a:r>
            <a:rPr lang="zh-CN" altLang="en-US" sz="2400" kern="1200" dirty="0"/>
            <a:t>：可按约定给予发行人一定的宽限期，不超过</a:t>
          </a:r>
          <a:r>
            <a:rPr lang="en-US" altLang="zh-CN" sz="2400" kern="1200" dirty="0"/>
            <a:t>10</a:t>
          </a:r>
          <a:r>
            <a:rPr lang="zh-CN" altLang="en-US" sz="2400" kern="1200" dirty="0"/>
            <a:t>个工作日</a:t>
          </a:r>
        </a:p>
      </dsp:txBody>
      <dsp:txXfrm>
        <a:off x="9281142" y="520390"/>
        <a:ext cx="5978388" cy="6758373"/>
      </dsp:txXfrm>
    </dsp:sp>
    <dsp:sp modelId="{804E411A-7CCE-42F2-B6B6-1D97D828491E}">
      <dsp:nvSpPr>
        <dsp:cNvPr id="0" name=""/>
        <dsp:cNvSpPr/>
      </dsp:nvSpPr>
      <dsp:spPr>
        <a:xfrm>
          <a:off x="9022904" y="153795"/>
          <a:ext cx="986401" cy="986401"/>
        </a:xfrm>
        <a:prstGeom prst="rect">
          <a:avLst/>
        </a:prstGeom>
        <a:blipFill rotWithShape="1">
          <a:blip xmlns:r="http://schemas.openxmlformats.org/officeDocument/2006/relationships" r:embed="rId2">
            <a:duotone>
              <a:schemeClr val="accent5">
                <a:shade val="45000"/>
                <a:satMod val="135000"/>
              </a:schemeClr>
              <a:prstClr val="white"/>
            </a:duotone>
          </a:blip>
          <a:stretch>
            <a:fillRect/>
          </a:stretch>
        </a:blipFill>
        <a:ln w="19050" cap="flat" cmpd="sng" algn="ctr">
          <a:noFill/>
          <a:prstDash val="solid"/>
          <a:miter lim="800000"/>
        </a:ln>
        <a:effectLst/>
      </dsp:spPr>
      <dsp:style>
        <a:lnRef idx="3">
          <a:scrgbClr r="0" g="0" b="0"/>
        </a:lnRef>
        <a:fillRef idx="1">
          <a:scrgbClr r="0" g="0" b="0"/>
        </a:fillRef>
        <a:effectRef idx="1">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DE2F25-43A2-463F-8B1E-E71BAB4A8945}">
      <dsp:nvSpPr>
        <dsp:cNvPr id="0" name=""/>
        <dsp:cNvSpPr/>
      </dsp:nvSpPr>
      <dsp:spPr>
        <a:xfrm>
          <a:off x="1877" y="304691"/>
          <a:ext cx="7321400" cy="7191475"/>
        </a:xfrm>
        <a:prstGeom prst="rect">
          <a:avLst/>
        </a:prstGeom>
        <a:solidFill>
          <a:srgbClr val="0070C0"/>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zh-CN" altLang="en-US" sz="4400" b="1" kern="1200" dirty="0">
              <a:solidFill>
                <a:schemeClr val="bg1"/>
              </a:solidFill>
              <a:effectLst>
                <a:outerShdw blurRad="38100" dist="38100" dir="2700000" algn="tl">
                  <a:srgbClr val="000000">
                    <a:alpha val="43137"/>
                  </a:srgbClr>
                </a:outerShdw>
              </a:effectLst>
            </a:rPr>
            <a:t>触发情形</a:t>
          </a:r>
          <a:endParaRPr lang="en-US" sz="4400" b="1" kern="1200" dirty="0">
            <a:solidFill>
              <a:schemeClr val="bg1"/>
            </a:solidFill>
            <a:effectLst>
              <a:outerShdw blurRad="38100" dist="38100" dir="2700000" algn="tl">
                <a:srgbClr val="000000">
                  <a:alpha val="43137"/>
                </a:srgbClr>
              </a:outerShdw>
            </a:effectLst>
          </a:endParaRPr>
        </a:p>
        <a:p>
          <a:pPr marL="228600" lvl="1" indent="-228600" algn="l" defTabSz="1066800">
            <a:lnSpc>
              <a:spcPct val="90000"/>
            </a:lnSpc>
            <a:spcBef>
              <a:spcPct val="0"/>
            </a:spcBef>
            <a:spcAft>
              <a:spcPct val="15000"/>
            </a:spcAft>
            <a:buChar char="•"/>
          </a:pPr>
          <a:r>
            <a:rPr lang="zh-CN" altLang="en-US" sz="2400" b="1" kern="1200" dirty="0"/>
            <a:t>财务指标承诺事项</a:t>
          </a:r>
          <a:r>
            <a:rPr lang="zh-CN" altLang="en-US" sz="2400" kern="1200" dirty="0"/>
            <a:t>：合并或母公司口径，可选择按年度或季度监测，相关财务指标可选择资产负债率、净资产收益率和净利润、流动比率、有息债务</a:t>
          </a:r>
          <a:r>
            <a:rPr lang="en-US" altLang="zh-CN" sz="2400" kern="1200" dirty="0"/>
            <a:t>/</a:t>
          </a:r>
          <a:r>
            <a:rPr lang="zh-CN" altLang="en-US" sz="2400" kern="1200" dirty="0"/>
            <a:t>短期有息债务年增长率、未偿还债务融资工具余额占有息债务比重、母公司“经营活动净现金流</a:t>
          </a:r>
          <a:r>
            <a:rPr lang="en-US" altLang="zh-CN" sz="2400" kern="1200" dirty="0"/>
            <a:t>/</a:t>
          </a:r>
          <a:r>
            <a:rPr lang="zh-CN" altLang="en-US" sz="2400" kern="1200" dirty="0"/>
            <a:t>总负债”比例。</a:t>
          </a:r>
          <a:endParaRPr lang="en-US" sz="2400" kern="1200" dirty="0"/>
        </a:p>
        <a:p>
          <a:pPr marL="228600" lvl="1" indent="-228600" algn="l" defTabSz="1066800">
            <a:lnSpc>
              <a:spcPct val="90000"/>
            </a:lnSpc>
            <a:spcBef>
              <a:spcPct val="0"/>
            </a:spcBef>
            <a:spcAft>
              <a:spcPct val="15000"/>
            </a:spcAft>
            <a:buChar char="•"/>
          </a:pPr>
          <a:endParaRPr lang="en-US" sz="2400" kern="1200" dirty="0"/>
        </a:p>
        <a:p>
          <a:pPr marL="228600" lvl="1" indent="-228600" algn="l" defTabSz="1066800">
            <a:lnSpc>
              <a:spcPct val="90000"/>
            </a:lnSpc>
            <a:spcBef>
              <a:spcPct val="0"/>
            </a:spcBef>
            <a:spcAft>
              <a:spcPct val="15000"/>
            </a:spcAft>
            <a:buChar char="•"/>
          </a:pPr>
          <a:r>
            <a:rPr lang="zh-CN" altLang="en-US" sz="2400" b="1" kern="1200" dirty="0"/>
            <a:t>事先约束事项</a:t>
          </a:r>
          <a:r>
            <a:rPr lang="zh-CN" altLang="en-US" sz="2400" kern="1200" dirty="0"/>
            <a:t>：出售</a:t>
          </a:r>
          <a:r>
            <a:rPr lang="en-US" altLang="zh-CN" sz="2400" kern="1200" dirty="0"/>
            <a:t>/</a:t>
          </a:r>
          <a:r>
            <a:rPr lang="zh-CN" altLang="en-US" sz="2400" kern="1200" dirty="0"/>
            <a:t>转移重大资产、股权委托管理协议变更、质押或减持上市公司股权、名股实债、资产池承诺、对外提供重大担保以及债务重组。</a:t>
          </a:r>
          <a:endParaRPr lang="en-US" altLang="zh-CN" sz="2400" kern="1200" dirty="0"/>
        </a:p>
      </dsp:txBody>
      <dsp:txXfrm>
        <a:off x="1877" y="304691"/>
        <a:ext cx="7321400" cy="7191475"/>
      </dsp:txXfrm>
    </dsp:sp>
    <dsp:sp modelId="{CA297EA7-9154-40C1-B5BB-CF04159067A1}">
      <dsp:nvSpPr>
        <dsp:cNvPr id="0" name=""/>
        <dsp:cNvSpPr/>
      </dsp:nvSpPr>
      <dsp:spPr>
        <a:xfrm>
          <a:off x="8055418" y="304691"/>
          <a:ext cx="7321400" cy="7191475"/>
        </a:xfrm>
        <a:prstGeom prst="rect">
          <a:avLst/>
        </a:prstGeom>
        <a:solidFill>
          <a:srgbClr val="00B050"/>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zh-CN" altLang="en-US" sz="4400" b="1" kern="1200" dirty="0">
              <a:solidFill>
                <a:schemeClr val="bg1"/>
              </a:solidFill>
              <a:effectLst>
                <a:outerShdw blurRad="38100" dist="38100" dir="2700000" algn="tl">
                  <a:srgbClr val="000000">
                    <a:alpha val="43137"/>
                  </a:srgbClr>
                </a:outerShdw>
              </a:effectLst>
            </a:rPr>
            <a:t>处置程序</a:t>
          </a:r>
          <a:endParaRPr lang="en-US" sz="4400" b="1" kern="1200" dirty="0">
            <a:solidFill>
              <a:schemeClr val="bg1"/>
            </a:solidFill>
            <a:effectLst>
              <a:outerShdw blurRad="38100" dist="38100" dir="2700000" algn="tl">
                <a:srgbClr val="000000">
                  <a:alpha val="43137"/>
                </a:srgbClr>
              </a:outerShdw>
            </a:effectLst>
          </a:endParaRPr>
        </a:p>
        <a:p>
          <a:pPr marL="228600" lvl="1" indent="-228600" algn="l" defTabSz="1066800">
            <a:lnSpc>
              <a:spcPct val="90000"/>
            </a:lnSpc>
            <a:spcBef>
              <a:spcPct val="0"/>
            </a:spcBef>
            <a:spcAft>
              <a:spcPct val="15000"/>
            </a:spcAft>
            <a:buChar char="•"/>
          </a:pPr>
          <a:r>
            <a:rPr lang="zh-CN" altLang="en-US" sz="2400" b="1" kern="1200" dirty="0">
              <a:solidFill>
                <a:schemeClr val="bg1"/>
              </a:solidFill>
            </a:rPr>
            <a:t>通知</a:t>
          </a:r>
          <a:r>
            <a:rPr lang="zh-CN" altLang="en-US" sz="2400" kern="1200" dirty="0">
              <a:solidFill>
                <a:schemeClr val="bg1"/>
              </a:solidFill>
            </a:rPr>
            <a:t>：发行人应在</a:t>
          </a:r>
          <a:r>
            <a:rPr lang="en-US" altLang="zh-CN" sz="2400" kern="1200" dirty="0">
              <a:solidFill>
                <a:schemeClr val="bg1"/>
              </a:solidFill>
            </a:rPr>
            <a:t>2</a:t>
          </a:r>
          <a:r>
            <a:rPr lang="zh-CN" altLang="en-US" sz="2400" kern="1200" dirty="0">
              <a:solidFill>
                <a:schemeClr val="bg1"/>
              </a:solidFill>
            </a:rPr>
            <a:t>个工作日内予以公告并启动后续处置措施：</a:t>
          </a:r>
          <a:endParaRPr lang="en-US" sz="2400" kern="1200" dirty="0">
            <a:solidFill>
              <a:schemeClr val="bg1"/>
            </a:solidFill>
          </a:endParaRPr>
        </a:p>
        <a:p>
          <a:pPr marL="228600" lvl="1" indent="-228600" algn="l" defTabSz="1066800">
            <a:lnSpc>
              <a:spcPct val="90000"/>
            </a:lnSpc>
            <a:spcBef>
              <a:spcPct val="0"/>
            </a:spcBef>
            <a:spcAft>
              <a:spcPct val="15000"/>
            </a:spcAft>
            <a:buChar char="•"/>
          </a:pPr>
          <a:endParaRPr lang="en-US" sz="2400" kern="1200" dirty="0">
            <a:solidFill>
              <a:schemeClr val="bg1"/>
            </a:solidFill>
          </a:endParaRPr>
        </a:p>
        <a:p>
          <a:pPr marL="228600" lvl="1" indent="-228600" algn="l" defTabSz="1066800">
            <a:lnSpc>
              <a:spcPct val="90000"/>
            </a:lnSpc>
            <a:spcBef>
              <a:spcPct val="0"/>
            </a:spcBef>
            <a:spcAft>
              <a:spcPct val="15000"/>
            </a:spcAft>
            <a:buChar char="•"/>
          </a:pPr>
          <a:r>
            <a:rPr lang="zh-CN" altLang="en-US" sz="2400" b="1" kern="1200" dirty="0">
              <a:solidFill>
                <a:schemeClr val="bg1"/>
              </a:solidFill>
            </a:rPr>
            <a:t>救济和豁免</a:t>
          </a:r>
          <a:endParaRPr lang="en-US" altLang="zh-CN" sz="2400" b="1" kern="1200" dirty="0">
            <a:solidFill>
              <a:schemeClr val="bg1"/>
            </a:solidFill>
          </a:endParaRPr>
        </a:p>
        <a:p>
          <a:pPr marL="457200" lvl="2" indent="-228600" algn="l" defTabSz="1066800">
            <a:lnSpc>
              <a:spcPct val="90000"/>
            </a:lnSpc>
            <a:spcBef>
              <a:spcPct val="0"/>
            </a:spcBef>
            <a:spcAft>
              <a:spcPct val="15000"/>
            </a:spcAft>
            <a:buChar char="•"/>
          </a:pPr>
          <a:r>
            <a:rPr lang="zh-CN" altLang="en-US" sz="2400" kern="1200" dirty="0">
              <a:solidFill>
                <a:schemeClr val="bg1"/>
              </a:solidFill>
            </a:rPr>
            <a:t>如持有人会议无效或未形成有效决议，持有人可根据事先约定视同无条件豁免还是视同未豁免；</a:t>
          </a:r>
          <a:endParaRPr lang="en-US" altLang="zh-CN" sz="2400" kern="1200" dirty="0">
            <a:solidFill>
              <a:schemeClr val="bg1"/>
            </a:solidFill>
          </a:endParaRPr>
        </a:p>
        <a:p>
          <a:pPr marL="457200" lvl="2" indent="-228600" algn="l" defTabSz="1066800">
            <a:lnSpc>
              <a:spcPct val="90000"/>
            </a:lnSpc>
            <a:spcBef>
              <a:spcPct val="0"/>
            </a:spcBef>
            <a:spcAft>
              <a:spcPct val="15000"/>
            </a:spcAft>
            <a:buChar char="•"/>
          </a:pPr>
          <a:r>
            <a:rPr lang="zh-CN" altLang="en-US" sz="2400" kern="1200" dirty="0">
              <a:solidFill>
                <a:schemeClr val="bg1"/>
              </a:solidFill>
            </a:rPr>
            <a:t>如果持有人会议决议未豁免的或有条件豁免，但发行人未在约定时间内完成相关法律手续的，则视同违约。</a:t>
          </a:r>
          <a:endParaRPr lang="en-US" altLang="zh-CN" sz="2400" kern="1200" dirty="0">
            <a:solidFill>
              <a:schemeClr val="bg1"/>
            </a:solidFill>
          </a:endParaRPr>
        </a:p>
        <a:p>
          <a:pPr marL="457200" lvl="2" indent="-228600" algn="l" defTabSz="1066800">
            <a:lnSpc>
              <a:spcPct val="90000"/>
            </a:lnSpc>
            <a:spcBef>
              <a:spcPct val="0"/>
            </a:spcBef>
            <a:spcAft>
              <a:spcPct val="15000"/>
            </a:spcAft>
            <a:buChar char="•"/>
          </a:pPr>
          <a:endParaRPr lang="en-US" altLang="zh-CN" sz="2400" kern="1200" dirty="0">
            <a:solidFill>
              <a:schemeClr val="bg1"/>
            </a:solidFill>
          </a:endParaRPr>
        </a:p>
        <a:p>
          <a:pPr marL="228600" lvl="1" indent="-228600" algn="l" defTabSz="1066800">
            <a:lnSpc>
              <a:spcPct val="90000"/>
            </a:lnSpc>
            <a:spcBef>
              <a:spcPct val="0"/>
            </a:spcBef>
            <a:spcAft>
              <a:spcPct val="15000"/>
            </a:spcAft>
            <a:buChar char="•"/>
          </a:pPr>
          <a:r>
            <a:rPr lang="zh-CN" altLang="en-US" sz="2400" b="1" kern="1200" dirty="0">
              <a:solidFill>
                <a:schemeClr val="bg1"/>
              </a:solidFill>
            </a:rPr>
            <a:t>宽限期</a:t>
          </a:r>
          <a:r>
            <a:rPr lang="zh-CN" altLang="en-US" sz="2400" kern="1200" dirty="0">
              <a:solidFill>
                <a:schemeClr val="bg1"/>
              </a:solidFill>
            </a:rPr>
            <a:t>，须早于持有人会议召开时间。</a:t>
          </a:r>
        </a:p>
        <a:p>
          <a:pPr marL="228600" lvl="1" indent="-228600" algn="l" defTabSz="1066800">
            <a:lnSpc>
              <a:spcPct val="90000"/>
            </a:lnSpc>
            <a:spcBef>
              <a:spcPct val="0"/>
            </a:spcBef>
            <a:spcAft>
              <a:spcPct val="15000"/>
            </a:spcAft>
            <a:buChar char="•"/>
          </a:pPr>
          <a:endParaRPr lang="zh-CN" altLang="en-US" sz="2400" kern="1200" dirty="0">
            <a:solidFill>
              <a:schemeClr val="bg1"/>
            </a:solidFill>
          </a:endParaRPr>
        </a:p>
      </dsp:txBody>
      <dsp:txXfrm>
        <a:off x="8055418" y="304691"/>
        <a:ext cx="7321400" cy="71914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23A238-803F-47D8-B325-D5CE0E07CDAD}">
      <dsp:nvSpPr>
        <dsp:cNvPr id="0" name=""/>
        <dsp:cNvSpPr/>
      </dsp:nvSpPr>
      <dsp:spPr>
        <a:xfrm rot="5400000">
          <a:off x="6288780" y="-4120635"/>
          <a:ext cx="3833425" cy="12074818"/>
        </a:xfrm>
        <a:prstGeom prst="round2SameRect">
          <a:avLst/>
        </a:prstGeom>
        <a:solidFill>
          <a:schemeClr val="accent2">
            <a:lumMod val="20000"/>
            <a:lumOff val="8000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zh-CN" altLang="en-US" sz="2400" kern="1200" dirty="0"/>
            <a:t>选择控股股东变更、实际控制人变更、指定股东不再为发行人股东、董事长或总经理变动或无法履行职责、发行人约定比例以上董事发生变动。</a:t>
          </a:r>
          <a:endParaRPr lang="en-US" sz="2400" kern="1200" dirty="0"/>
        </a:p>
        <a:p>
          <a:pPr marL="228600" lvl="1" indent="-228600" algn="l" defTabSz="1066800">
            <a:lnSpc>
              <a:spcPct val="90000"/>
            </a:lnSpc>
            <a:spcBef>
              <a:spcPct val="0"/>
            </a:spcBef>
            <a:spcAft>
              <a:spcPct val="15000"/>
            </a:spcAft>
            <a:buChar char="•"/>
          </a:pPr>
          <a:endParaRPr lang="en-US" sz="2400" kern="1200" dirty="0"/>
        </a:p>
        <a:p>
          <a:pPr marL="228600" lvl="1" indent="-228600" algn="l" defTabSz="1066800">
            <a:lnSpc>
              <a:spcPct val="90000"/>
            </a:lnSpc>
            <a:spcBef>
              <a:spcPct val="0"/>
            </a:spcBef>
            <a:spcAft>
              <a:spcPct val="15000"/>
            </a:spcAft>
            <a:buChar char="•"/>
          </a:pPr>
          <a:r>
            <a:rPr lang="zh-CN" altLang="en-US" sz="2400" kern="1200" dirty="0"/>
            <a:t>或因控制权变更导致信用评级发生变化（信用评级下调或评级展望调整由稳定调为负面），也视为触发该条款。</a:t>
          </a:r>
          <a:endParaRPr lang="en-US" sz="2400" kern="1200" dirty="0"/>
        </a:p>
      </dsp:txBody>
      <dsp:txXfrm rot="-5400000">
        <a:off x="2168084" y="187193"/>
        <a:ext cx="11887686" cy="3459161"/>
      </dsp:txXfrm>
    </dsp:sp>
    <dsp:sp modelId="{0FA1CE76-1D66-4C6E-B142-7B4587045186}">
      <dsp:nvSpPr>
        <dsp:cNvPr id="0" name=""/>
        <dsp:cNvSpPr/>
      </dsp:nvSpPr>
      <dsp:spPr>
        <a:xfrm>
          <a:off x="1135793" y="9528"/>
          <a:ext cx="1032291" cy="3814488"/>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zh-CN" altLang="en-US" sz="3200" b="1" kern="1200" dirty="0">
              <a:solidFill>
                <a:schemeClr val="bg1"/>
              </a:solidFill>
              <a:effectLst>
                <a:outerShdw blurRad="38100" dist="38100" dir="2700000" algn="tl">
                  <a:srgbClr val="000000">
                    <a:alpha val="43137"/>
                  </a:srgbClr>
                </a:outerShdw>
              </a:effectLst>
            </a:rPr>
            <a:t>触发情形</a:t>
          </a:r>
          <a:endParaRPr lang="en-US" sz="3200" b="1" kern="1200" dirty="0">
            <a:solidFill>
              <a:schemeClr val="bg1"/>
            </a:solidFill>
            <a:effectLst>
              <a:outerShdw blurRad="38100" dist="38100" dir="2700000" algn="tl">
                <a:srgbClr val="000000">
                  <a:alpha val="43137"/>
                </a:srgbClr>
              </a:outerShdw>
            </a:effectLst>
          </a:endParaRPr>
        </a:p>
      </dsp:txBody>
      <dsp:txXfrm>
        <a:off x="1186185" y="59920"/>
        <a:ext cx="931507" cy="3713704"/>
      </dsp:txXfrm>
    </dsp:sp>
    <dsp:sp modelId="{26B4D427-2130-4AAA-8F38-F5091D28245E}">
      <dsp:nvSpPr>
        <dsp:cNvPr id="0" name=""/>
        <dsp:cNvSpPr/>
      </dsp:nvSpPr>
      <dsp:spPr>
        <a:xfrm rot="5400000">
          <a:off x="6288780" y="-153323"/>
          <a:ext cx="3833425" cy="12074818"/>
        </a:xfrm>
        <a:prstGeom prst="round2SameRect">
          <a:avLst/>
        </a:prstGeom>
        <a:solidFill>
          <a:srgbClr val="CCECFF"/>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zh-CN" altLang="en-US" sz="2400" b="1" kern="1200" dirty="0"/>
            <a:t>信息披露</a:t>
          </a:r>
          <a:r>
            <a:rPr lang="zh-CN" altLang="en-US" sz="2400" kern="1200" dirty="0"/>
            <a:t>：发行人应于</a:t>
          </a:r>
          <a:r>
            <a:rPr lang="en-US" altLang="zh-CN" sz="2400" kern="1200" dirty="0"/>
            <a:t>2</a:t>
          </a:r>
          <a:r>
            <a:rPr lang="zh-CN" altLang="en-US" sz="2400" kern="1200" dirty="0"/>
            <a:t>个工作日内披露控制权变更的起因、现状和可能影响，并持续披露相关事项；</a:t>
          </a:r>
          <a:endParaRPr lang="en-US" sz="2400" kern="1200" dirty="0"/>
        </a:p>
        <a:p>
          <a:pPr marL="228600" lvl="1" indent="-228600" algn="l" defTabSz="1066800">
            <a:lnSpc>
              <a:spcPct val="90000"/>
            </a:lnSpc>
            <a:spcBef>
              <a:spcPct val="0"/>
            </a:spcBef>
            <a:spcAft>
              <a:spcPct val="15000"/>
            </a:spcAft>
            <a:buChar char="•"/>
          </a:pPr>
          <a:endParaRPr lang="en-US" altLang="zh-CN" sz="2400" kern="1200" dirty="0"/>
        </a:p>
        <a:p>
          <a:pPr marL="228600" lvl="1" indent="-228600" algn="l" defTabSz="1066800">
            <a:lnSpc>
              <a:spcPct val="90000"/>
            </a:lnSpc>
            <a:spcBef>
              <a:spcPct val="0"/>
            </a:spcBef>
            <a:spcAft>
              <a:spcPct val="15000"/>
            </a:spcAft>
            <a:buChar char="•"/>
          </a:pPr>
          <a:r>
            <a:rPr lang="zh-CN" altLang="en-US" sz="2400" b="1" kern="1200" dirty="0"/>
            <a:t>回售安排</a:t>
          </a:r>
          <a:r>
            <a:rPr lang="zh-CN" altLang="en-US" sz="2400" kern="1200" dirty="0"/>
            <a:t>：发行人应于</a:t>
          </a:r>
          <a:r>
            <a:rPr lang="en-US" altLang="zh-CN" sz="2400" kern="1200" dirty="0"/>
            <a:t>2</a:t>
          </a:r>
          <a:r>
            <a:rPr lang="zh-CN" altLang="en-US" sz="2400" kern="1200" dirty="0"/>
            <a:t>个工作日内发布回售公告，根据市场惯例，投资者回售价格为票面价值的</a:t>
          </a:r>
          <a:r>
            <a:rPr lang="en-US" altLang="zh-CN" sz="2400" kern="1200" dirty="0"/>
            <a:t>101%</a:t>
          </a:r>
          <a:r>
            <a:rPr lang="zh-CN" altLang="en-US" sz="2400" kern="1200" dirty="0"/>
            <a:t>，发行人可选择其他回售价格，但应在募集说明书中明确。</a:t>
          </a:r>
        </a:p>
        <a:p>
          <a:pPr marL="228600" lvl="1" indent="-228600" algn="l" defTabSz="1066800">
            <a:lnSpc>
              <a:spcPct val="90000"/>
            </a:lnSpc>
            <a:spcBef>
              <a:spcPct val="0"/>
            </a:spcBef>
            <a:spcAft>
              <a:spcPct val="15000"/>
            </a:spcAft>
            <a:buChar char="•"/>
          </a:pPr>
          <a:r>
            <a:rPr lang="zh-CN" altLang="en-US" sz="2400" kern="1200" dirty="0"/>
            <a:t>投资者可选择全部或部分回售，发行人应在回售登记期（不应超过</a:t>
          </a:r>
          <a:r>
            <a:rPr lang="en-US" altLang="zh-CN" sz="2400" kern="1200" dirty="0"/>
            <a:t>10</a:t>
          </a:r>
          <a:r>
            <a:rPr lang="zh-CN" altLang="en-US" sz="2400" kern="1200" dirty="0"/>
            <a:t>天）结束后一个月内完成兑付。</a:t>
          </a:r>
        </a:p>
      </dsp:txBody>
      <dsp:txXfrm rot="-5400000">
        <a:off x="2168084" y="4154505"/>
        <a:ext cx="11887686" cy="3459161"/>
      </dsp:txXfrm>
    </dsp:sp>
    <dsp:sp modelId="{502C9178-53DF-4EC9-9ADF-6B08BFDBE0BD}">
      <dsp:nvSpPr>
        <dsp:cNvPr id="0" name=""/>
        <dsp:cNvSpPr/>
      </dsp:nvSpPr>
      <dsp:spPr>
        <a:xfrm>
          <a:off x="1135793" y="3976841"/>
          <a:ext cx="1032291" cy="3814488"/>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zh-CN" altLang="en-US" sz="3200" b="1" kern="1200" dirty="0">
              <a:solidFill>
                <a:schemeClr val="bg1"/>
              </a:solidFill>
              <a:effectLst>
                <a:outerShdw blurRad="38100" dist="38100" dir="2700000" algn="tl">
                  <a:srgbClr val="000000">
                    <a:alpha val="43137"/>
                  </a:srgbClr>
                </a:outerShdw>
              </a:effectLst>
            </a:rPr>
            <a:t>处置程序</a:t>
          </a:r>
          <a:endParaRPr lang="en-US" sz="3200" b="1" kern="1200" dirty="0">
            <a:solidFill>
              <a:schemeClr val="bg1"/>
            </a:solidFill>
            <a:effectLst>
              <a:outerShdw blurRad="38100" dist="38100" dir="2700000" algn="tl">
                <a:srgbClr val="000000">
                  <a:alpha val="43137"/>
                </a:srgbClr>
              </a:outerShdw>
            </a:effectLst>
          </a:endParaRPr>
        </a:p>
      </dsp:txBody>
      <dsp:txXfrm>
        <a:off x="1186185" y="4027233"/>
        <a:ext cx="931507" cy="3713704"/>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013994" cy="844058"/>
          </a:xfrm>
          <a:prstGeom prst="rect">
            <a:avLst/>
          </a:prstGeom>
        </p:spPr>
        <p:txBody>
          <a:bodyPr vert="horz" lIns="149056" tIns="74528" rIns="149056" bIns="74528" rtlCol="0"/>
          <a:lstStyle>
            <a:lvl1pPr algn="l">
              <a:defRPr sz="2000"/>
            </a:lvl1pPr>
          </a:lstStyle>
          <a:p>
            <a:endParaRPr lang="zh-CN" altLang="en-US"/>
          </a:p>
        </p:txBody>
      </p:sp>
      <p:sp>
        <p:nvSpPr>
          <p:cNvPr id="3" name="日期占位符 2"/>
          <p:cNvSpPr>
            <a:spLocks noGrp="1"/>
          </p:cNvSpPr>
          <p:nvPr>
            <p:ph type="dt" idx="1"/>
          </p:nvPr>
        </p:nvSpPr>
        <p:spPr>
          <a:xfrm>
            <a:off x="5246925" y="0"/>
            <a:ext cx="4013994" cy="844058"/>
          </a:xfrm>
          <a:prstGeom prst="rect">
            <a:avLst/>
          </a:prstGeom>
        </p:spPr>
        <p:txBody>
          <a:bodyPr vert="horz" lIns="149056" tIns="74528" rIns="149056" bIns="74528" rtlCol="0"/>
          <a:lstStyle>
            <a:lvl1pPr algn="r">
              <a:defRPr sz="2000"/>
            </a:lvl1pPr>
          </a:lstStyle>
          <a:p>
            <a:fld id="{C99AE140-4B24-4281-9FE3-03EDA98AAC88}" type="datetimeFigureOut">
              <a:rPr lang="zh-CN" altLang="en-US" smtClean="0"/>
              <a:t>2018/04/12</a:t>
            </a:fld>
            <a:endParaRPr lang="zh-CN" altLang="en-US"/>
          </a:p>
        </p:txBody>
      </p:sp>
      <p:sp>
        <p:nvSpPr>
          <p:cNvPr id="4" name="幻灯片图像占位符 3"/>
          <p:cNvSpPr>
            <a:spLocks noGrp="1" noRot="1" noChangeAspect="1"/>
          </p:cNvSpPr>
          <p:nvPr>
            <p:ph type="sldImg" idx="2"/>
          </p:nvPr>
        </p:nvSpPr>
        <p:spPr>
          <a:xfrm>
            <a:off x="-412750" y="2103438"/>
            <a:ext cx="10090150" cy="5676900"/>
          </a:xfrm>
          <a:prstGeom prst="rect">
            <a:avLst/>
          </a:prstGeom>
          <a:noFill/>
          <a:ln w="12700">
            <a:solidFill>
              <a:prstClr val="black"/>
            </a:solidFill>
          </a:ln>
        </p:spPr>
        <p:txBody>
          <a:bodyPr vert="horz" lIns="149056" tIns="74528" rIns="149056" bIns="74528" rtlCol="0" anchor="ctr"/>
          <a:lstStyle/>
          <a:p>
            <a:endParaRPr lang="zh-CN" altLang="en-US"/>
          </a:p>
        </p:txBody>
      </p:sp>
      <p:sp>
        <p:nvSpPr>
          <p:cNvPr id="5" name="备注占位符 4"/>
          <p:cNvSpPr>
            <a:spLocks noGrp="1"/>
          </p:cNvSpPr>
          <p:nvPr>
            <p:ph type="body" sz="quarter" idx="3"/>
          </p:nvPr>
        </p:nvSpPr>
        <p:spPr>
          <a:xfrm>
            <a:off x="926307" y="8095943"/>
            <a:ext cx="7410450" cy="6623953"/>
          </a:xfrm>
          <a:prstGeom prst="rect">
            <a:avLst/>
          </a:prstGeom>
        </p:spPr>
        <p:txBody>
          <a:bodyPr vert="horz" lIns="149056" tIns="74528" rIns="149056" bIns="74528"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15978682"/>
            <a:ext cx="4013994" cy="844057"/>
          </a:xfrm>
          <a:prstGeom prst="rect">
            <a:avLst/>
          </a:prstGeom>
        </p:spPr>
        <p:txBody>
          <a:bodyPr vert="horz" lIns="149056" tIns="74528" rIns="149056" bIns="74528" rtlCol="0" anchor="b"/>
          <a:lstStyle>
            <a:lvl1pPr algn="l">
              <a:defRPr sz="2000"/>
            </a:lvl1pPr>
          </a:lstStyle>
          <a:p>
            <a:endParaRPr lang="zh-CN" altLang="en-US"/>
          </a:p>
        </p:txBody>
      </p:sp>
      <p:sp>
        <p:nvSpPr>
          <p:cNvPr id="7" name="灯片编号占位符 6"/>
          <p:cNvSpPr>
            <a:spLocks noGrp="1"/>
          </p:cNvSpPr>
          <p:nvPr>
            <p:ph type="sldNum" sz="quarter" idx="5"/>
          </p:nvPr>
        </p:nvSpPr>
        <p:spPr>
          <a:xfrm>
            <a:off x="5246925" y="15978682"/>
            <a:ext cx="4013994" cy="844057"/>
          </a:xfrm>
          <a:prstGeom prst="rect">
            <a:avLst/>
          </a:prstGeom>
        </p:spPr>
        <p:txBody>
          <a:bodyPr vert="horz" lIns="149056" tIns="74528" rIns="149056" bIns="74528" rtlCol="0" anchor="b"/>
          <a:lstStyle>
            <a:lvl1pPr algn="r">
              <a:defRPr sz="2000"/>
            </a:lvl1pPr>
          </a:lstStyle>
          <a:p>
            <a:fld id="{CC9EDB89-1D0E-4D22-BCE0-E55E481BDC83}" type="slidenum">
              <a:rPr lang="zh-CN" altLang="en-US" smtClean="0"/>
              <a:t>‹#›</a:t>
            </a:fld>
            <a:endParaRPr lang="zh-CN" altLang="en-US"/>
          </a:p>
        </p:txBody>
      </p:sp>
    </p:spTree>
    <p:extLst>
      <p:ext uri="{BB962C8B-B14F-4D97-AF65-F5344CB8AC3E}">
        <p14:creationId xmlns:p14="http://schemas.microsoft.com/office/powerpoint/2010/main" val="2951156235"/>
      </p:ext>
    </p:extLst>
  </p:cSld>
  <p:clrMap bg1="lt1" tx1="dk1" bg2="lt2" tx2="dk2" accent1="accent1" accent2="accent2" accent3="accent3" accent4="accent4" accent5="accent5" accent6="accent6" hlink="hlink" folHlink="folHlink"/>
  <p:notesStyle>
    <a:lvl1pPr marL="0" algn="l" defTabSz="1295856" rtl="0" eaLnBrk="1" latinLnBrk="0" hangingPunct="1">
      <a:defRPr sz="1701" kern="1200">
        <a:solidFill>
          <a:schemeClr val="tx1"/>
        </a:solidFill>
        <a:latin typeface="+mn-lt"/>
        <a:ea typeface="+mn-ea"/>
        <a:cs typeface="+mn-cs"/>
      </a:defRPr>
    </a:lvl1pPr>
    <a:lvl2pPr marL="647929" algn="l" defTabSz="1295856" rtl="0" eaLnBrk="1" latinLnBrk="0" hangingPunct="1">
      <a:defRPr sz="1701" kern="1200">
        <a:solidFill>
          <a:schemeClr val="tx1"/>
        </a:solidFill>
        <a:latin typeface="+mn-lt"/>
        <a:ea typeface="+mn-ea"/>
        <a:cs typeface="+mn-cs"/>
      </a:defRPr>
    </a:lvl2pPr>
    <a:lvl3pPr marL="1295856" algn="l" defTabSz="1295856" rtl="0" eaLnBrk="1" latinLnBrk="0" hangingPunct="1">
      <a:defRPr sz="1701" kern="1200">
        <a:solidFill>
          <a:schemeClr val="tx1"/>
        </a:solidFill>
        <a:latin typeface="+mn-lt"/>
        <a:ea typeface="+mn-ea"/>
        <a:cs typeface="+mn-cs"/>
      </a:defRPr>
    </a:lvl3pPr>
    <a:lvl4pPr marL="1943784" algn="l" defTabSz="1295856" rtl="0" eaLnBrk="1" latinLnBrk="0" hangingPunct="1">
      <a:defRPr sz="1701" kern="1200">
        <a:solidFill>
          <a:schemeClr val="tx1"/>
        </a:solidFill>
        <a:latin typeface="+mn-lt"/>
        <a:ea typeface="+mn-ea"/>
        <a:cs typeface="+mn-cs"/>
      </a:defRPr>
    </a:lvl4pPr>
    <a:lvl5pPr marL="2591712" algn="l" defTabSz="1295856" rtl="0" eaLnBrk="1" latinLnBrk="0" hangingPunct="1">
      <a:defRPr sz="1701" kern="1200">
        <a:solidFill>
          <a:schemeClr val="tx1"/>
        </a:solidFill>
        <a:latin typeface="+mn-lt"/>
        <a:ea typeface="+mn-ea"/>
        <a:cs typeface="+mn-cs"/>
      </a:defRPr>
    </a:lvl5pPr>
    <a:lvl6pPr marL="3239640" algn="l" defTabSz="1295856" rtl="0" eaLnBrk="1" latinLnBrk="0" hangingPunct="1">
      <a:defRPr sz="1701" kern="1200">
        <a:solidFill>
          <a:schemeClr val="tx1"/>
        </a:solidFill>
        <a:latin typeface="+mn-lt"/>
        <a:ea typeface="+mn-ea"/>
        <a:cs typeface="+mn-cs"/>
      </a:defRPr>
    </a:lvl6pPr>
    <a:lvl7pPr marL="3887569" algn="l" defTabSz="1295856" rtl="0" eaLnBrk="1" latinLnBrk="0" hangingPunct="1">
      <a:defRPr sz="1701" kern="1200">
        <a:solidFill>
          <a:schemeClr val="tx1"/>
        </a:solidFill>
        <a:latin typeface="+mn-lt"/>
        <a:ea typeface="+mn-ea"/>
        <a:cs typeface="+mn-cs"/>
      </a:defRPr>
    </a:lvl7pPr>
    <a:lvl8pPr marL="4535496" algn="l" defTabSz="1295856" rtl="0" eaLnBrk="1" latinLnBrk="0" hangingPunct="1">
      <a:defRPr sz="1701" kern="1200">
        <a:solidFill>
          <a:schemeClr val="tx1"/>
        </a:solidFill>
        <a:latin typeface="+mn-lt"/>
        <a:ea typeface="+mn-ea"/>
        <a:cs typeface="+mn-cs"/>
      </a:defRPr>
    </a:lvl8pPr>
    <a:lvl9pPr marL="5183425" algn="l" defTabSz="1295856" rtl="0" eaLnBrk="1" latinLnBrk="0" hangingPunct="1">
      <a:defRPr sz="170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9EDB89-1D0E-4D22-BCE0-E55E481BDC83}" type="slidenum">
              <a:rPr lang="zh-CN" altLang="en-US" smtClean="0"/>
              <a:t>7</a:t>
            </a:fld>
            <a:endParaRPr lang="zh-CN" altLang="en-US"/>
          </a:p>
        </p:txBody>
      </p:sp>
    </p:spTree>
    <p:extLst>
      <p:ext uri="{BB962C8B-B14F-4D97-AF65-F5344CB8AC3E}">
        <p14:creationId xmlns:p14="http://schemas.microsoft.com/office/powerpoint/2010/main" val="1275524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9EDB89-1D0E-4D22-BCE0-E55E481BDC83}" type="slidenum">
              <a:rPr lang="zh-CN" altLang="en-US" smtClean="0"/>
              <a:t>11</a:t>
            </a:fld>
            <a:endParaRPr lang="zh-CN" altLang="en-US"/>
          </a:p>
        </p:txBody>
      </p:sp>
    </p:spTree>
    <p:extLst>
      <p:ext uri="{BB962C8B-B14F-4D97-AF65-F5344CB8AC3E}">
        <p14:creationId xmlns:p14="http://schemas.microsoft.com/office/powerpoint/2010/main" val="3443881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36DAC288-28CF-40C3-A408-271E9A37F250}" type="slidenum">
              <a:rPr kumimoji="0" lang="en-US" sz="1800" b="0" i="0" u="none" strike="noStrike" kern="0" cap="none" spc="0" normalizeH="0" baseline="0" noProof="0" smtClean="0">
                <a:ln>
                  <a:noFill/>
                </a:ln>
                <a:solidFill>
                  <a:prstClr val="black"/>
                </a:solidFill>
                <a:effectLst/>
                <a:uLnTx/>
                <a:uFillTx/>
                <a:latin typeface="Arial"/>
              </a:rPr>
              <a:pPr marL="0" marR="0" lvl="0" indent="0" defTabSz="914400" eaLnBrk="1" fontAlgn="auto" latinLnBrk="0" hangingPunct="1">
                <a:lnSpc>
                  <a:spcPct val="100000"/>
                </a:lnSpc>
                <a:spcBef>
                  <a:spcPts val="0"/>
                </a:spcBef>
                <a:spcAft>
                  <a:spcPts val="0"/>
                </a:spcAft>
                <a:buClrTx/>
                <a:buSzTx/>
                <a:buFontTx/>
                <a:buNone/>
                <a:tabLst/>
                <a:defRPr/>
              </a:pPr>
              <a:t>31</a:t>
            </a:fld>
            <a:endParaRPr kumimoji="0" lang="en-US" sz="1800" b="0" i="0" u="none" strike="noStrike" kern="0" cap="none" spc="0" normalizeH="0" baseline="0" noProof="0">
              <a:ln>
                <a:noFill/>
              </a:ln>
              <a:solidFill>
                <a:prstClr val="black"/>
              </a:solidFill>
              <a:effectLst/>
              <a:uLnTx/>
              <a:uFillTx/>
              <a:latin typeface="Arial"/>
            </a:endParaRPr>
          </a:p>
        </p:txBody>
      </p:sp>
    </p:spTree>
    <p:extLst>
      <p:ext uri="{BB962C8B-B14F-4D97-AF65-F5344CB8AC3E}">
        <p14:creationId xmlns:p14="http://schemas.microsoft.com/office/powerpoint/2010/main" val="2462423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9EDB89-1D0E-4D22-BCE0-E55E481BDC83}" type="slidenum">
              <a:rPr lang="zh-CN" altLang="en-US" smtClean="0"/>
              <a:t>33</a:t>
            </a:fld>
            <a:endParaRPr lang="zh-CN" altLang="en-US"/>
          </a:p>
        </p:txBody>
      </p:sp>
    </p:spTree>
    <p:extLst>
      <p:ext uri="{BB962C8B-B14F-4D97-AF65-F5344CB8AC3E}">
        <p14:creationId xmlns:p14="http://schemas.microsoft.com/office/powerpoint/2010/main" val="3922273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9EDB89-1D0E-4D22-BCE0-E55E481BDC83}" type="slidenum">
              <a:rPr lang="zh-CN" altLang="en-US" smtClean="0"/>
              <a:t>53</a:t>
            </a:fld>
            <a:endParaRPr lang="zh-CN" altLang="en-US"/>
          </a:p>
        </p:txBody>
      </p:sp>
    </p:spTree>
    <p:extLst>
      <p:ext uri="{BB962C8B-B14F-4D97-AF65-F5344CB8AC3E}">
        <p14:creationId xmlns:p14="http://schemas.microsoft.com/office/powerpoint/2010/main" val="2207390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D3F04A8-60ED-48D5-91DA-7C4712E67908}" type="slidenum">
              <a:rPr lang="en-US" smtClean="0">
                <a:solidFill>
                  <a:prstClr val="black"/>
                </a:solidFill>
              </a:rPr>
              <a:pPr/>
              <a:t>83</a:t>
            </a:fld>
            <a:endParaRPr lang="en-US">
              <a:solidFill>
                <a:prstClr val="black"/>
              </a:solidFill>
            </a:endParaRPr>
          </a:p>
        </p:txBody>
      </p:sp>
    </p:spTree>
    <p:extLst>
      <p:ext uri="{BB962C8B-B14F-4D97-AF65-F5344CB8AC3E}">
        <p14:creationId xmlns:p14="http://schemas.microsoft.com/office/powerpoint/2010/main" val="3378969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78C1A19-59DB-4578-B0D3-3B61E5083246}" type="slidenum">
              <a:rPr lang="de-DE">
                <a:solidFill>
                  <a:prstClr val="black"/>
                </a:solidFill>
              </a:rPr>
              <a:pPr/>
              <a:t>84</a:t>
            </a:fld>
            <a:endParaRPr lang="de-DE">
              <a:solidFill>
                <a:prstClr val="black"/>
              </a:solidFill>
            </a:endParaRPr>
          </a:p>
        </p:txBody>
      </p:sp>
      <p:sp>
        <p:nvSpPr>
          <p:cNvPr id="297986" name="Rectangle 7"/>
          <p:cNvSpPr txBox="1">
            <a:spLocks noGrp="1" noChangeArrowheads="1"/>
          </p:cNvSpPr>
          <p:nvPr/>
        </p:nvSpPr>
        <p:spPr bwMode="auto">
          <a:xfrm>
            <a:off x="5438410" y="15720987"/>
            <a:ext cx="4154865" cy="821374"/>
          </a:xfrm>
          <a:prstGeom prst="rect">
            <a:avLst/>
          </a:prstGeom>
          <a:noFill/>
          <a:ln w="9525">
            <a:noFill/>
            <a:miter lim="800000"/>
            <a:headEnd/>
            <a:tailEnd/>
          </a:ln>
        </p:spPr>
        <p:txBody>
          <a:bodyPr lIns="154573" tIns="77293" rIns="154573" bIns="77293" anchor="b"/>
          <a:lstStyle/>
          <a:p>
            <a:pPr algn="r" defTabSz="1544908"/>
            <a:fld id="{5DF5E5CD-03D8-46B6-8534-2BF732312C7A}" type="slidenum">
              <a:rPr lang="en-GB" sz="2100">
                <a:solidFill>
                  <a:prstClr val="black"/>
                </a:solidFill>
                <a:cs typeface="Arial" pitchFamily="34" charset="0"/>
              </a:rPr>
              <a:pPr algn="r" defTabSz="1544908"/>
              <a:t>84</a:t>
            </a:fld>
            <a:endParaRPr lang="en-GB" sz="2100">
              <a:solidFill>
                <a:prstClr val="black"/>
              </a:solidFill>
              <a:cs typeface="Arial" pitchFamily="34" charset="0"/>
            </a:endParaRPr>
          </a:p>
        </p:txBody>
      </p:sp>
      <p:sp>
        <p:nvSpPr>
          <p:cNvPr id="297987" name="Rectangle 2"/>
          <p:cNvSpPr>
            <a:spLocks noGrp="1" noRot="1" noChangeAspect="1" noChangeArrowheads="1" noTextEdit="1"/>
          </p:cNvSpPr>
          <p:nvPr>
            <p:ph type="sldImg"/>
          </p:nvPr>
        </p:nvSpPr>
        <p:spPr>
          <a:xfrm>
            <a:off x="-717550" y="1241425"/>
            <a:ext cx="11029950" cy="6205538"/>
          </a:xfrm>
          <a:ln/>
        </p:spPr>
      </p:sp>
      <p:sp>
        <p:nvSpPr>
          <p:cNvPr id="297988" name="Rectangle 3"/>
          <p:cNvSpPr>
            <a:spLocks noGrp="1" noChangeArrowheads="1"/>
          </p:cNvSpPr>
          <p:nvPr>
            <p:ph type="body" idx="1"/>
          </p:nvPr>
        </p:nvSpPr>
        <p:spPr>
          <a:xfrm>
            <a:off x="1279104" y="7857620"/>
            <a:ext cx="7035068" cy="7444062"/>
          </a:xfrm>
        </p:spPr>
        <p:txBody>
          <a:bodyPr lIns="154573" tIns="77293" rIns="154573" bIns="77293"/>
          <a:lstStyle/>
          <a:p>
            <a:endParaRPr lang="de-DE" noProof="1"/>
          </a:p>
        </p:txBody>
      </p:sp>
    </p:spTree>
    <p:extLst>
      <p:ext uri="{BB962C8B-B14F-4D97-AF65-F5344CB8AC3E}">
        <p14:creationId xmlns:p14="http://schemas.microsoft.com/office/powerpoint/2010/main" val="2195393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78C1A19-59DB-4578-B0D3-3B61E5083246}" type="slidenum">
              <a:rPr lang="de-DE">
                <a:solidFill>
                  <a:prstClr val="black"/>
                </a:solidFill>
              </a:rPr>
              <a:pPr/>
              <a:t>85</a:t>
            </a:fld>
            <a:endParaRPr lang="de-DE">
              <a:solidFill>
                <a:prstClr val="black"/>
              </a:solidFill>
            </a:endParaRPr>
          </a:p>
        </p:txBody>
      </p:sp>
      <p:sp>
        <p:nvSpPr>
          <p:cNvPr id="297986" name="Rectangle 7"/>
          <p:cNvSpPr txBox="1">
            <a:spLocks noGrp="1" noChangeArrowheads="1"/>
          </p:cNvSpPr>
          <p:nvPr/>
        </p:nvSpPr>
        <p:spPr bwMode="auto">
          <a:xfrm>
            <a:off x="5438410" y="15720987"/>
            <a:ext cx="4154865" cy="821374"/>
          </a:xfrm>
          <a:prstGeom prst="rect">
            <a:avLst/>
          </a:prstGeom>
          <a:noFill/>
          <a:ln w="9525">
            <a:noFill/>
            <a:miter lim="800000"/>
            <a:headEnd/>
            <a:tailEnd/>
          </a:ln>
        </p:spPr>
        <p:txBody>
          <a:bodyPr lIns="154573" tIns="77293" rIns="154573" bIns="77293" anchor="b"/>
          <a:lstStyle/>
          <a:p>
            <a:pPr algn="r" defTabSz="1544908"/>
            <a:fld id="{5DF5E5CD-03D8-46B6-8534-2BF732312C7A}" type="slidenum">
              <a:rPr lang="en-GB" sz="2100">
                <a:solidFill>
                  <a:prstClr val="black"/>
                </a:solidFill>
                <a:cs typeface="Arial" pitchFamily="34" charset="0"/>
              </a:rPr>
              <a:pPr algn="r" defTabSz="1544908"/>
              <a:t>85</a:t>
            </a:fld>
            <a:endParaRPr lang="en-GB" sz="2100">
              <a:solidFill>
                <a:prstClr val="black"/>
              </a:solidFill>
              <a:cs typeface="Arial" pitchFamily="34" charset="0"/>
            </a:endParaRPr>
          </a:p>
        </p:txBody>
      </p:sp>
      <p:sp>
        <p:nvSpPr>
          <p:cNvPr id="297987" name="Rectangle 2"/>
          <p:cNvSpPr>
            <a:spLocks noGrp="1" noRot="1" noChangeAspect="1" noChangeArrowheads="1" noTextEdit="1"/>
          </p:cNvSpPr>
          <p:nvPr>
            <p:ph type="sldImg"/>
          </p:nvPr>
        </p:nvSpPr>
        <p:spPr>
          <a:xfrm>
            <a:off x="-717550" y="1241425"/>
            <a:ext cx="11029950" cy="6205538"/>
          </a:xfrm>
          <a:ln/>
        </p:spPr>
      </p:sp>
      <p:sp>
        <p:nvSpPr>
          <p:cNvPr id="297988" name="Rectangle 3"/>
          <p:cNvSpPr>
            <a:spLocks noGrp="1" noChangeArrowheads="1"/>
          </p:cNvSpPr>
          <p:nvPr>
            <p:ph type="body" idx="1"/>
          </p:nvPr>
        </p:nvSpPr>
        <p:spPr>
          <a:xfrm>
            <a:off x="1279104" y="7857620"/>
            <a:ext cx="7035068" cy="7444062"/>
          </a:xfrm>
        </p:spPr>
        <p:txBody>
          <a:bodyPr lIns="154573" tIns="77293" rIns="154573" bIns="77293"/>
          <a:lstStyle/>
          <a:p>
            <a:endParaRPr lang="de-DE" noProof="1"/>
          </a:p>
        </p:txBody>
      </p:sp>
    </p:spTree>
    <p:extLst>
      <p:ext uri="{BB962C8B-B14F-4D97-AF65-F5344CB8AC3E}">
        <p14:creationId xmlns:p14="http://schemas.microsoft.com/office/powerpoint/2010/main" val="2361724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78C1A19-59DB-4578-B0D3-3B61E5083246}" type="slidenum">
              <a:rPr lang="de-DE">
                <a:solidFill>
                  <a:prstClr val="black"/>
                </a:solidFill>
              </a:rPr>
              <a:pPr/>
              <a:t>86</a:t>
            </a:fld>
            <a:endParaRPr lang="de-DE">
              <a:solidFill>
                <a:prstClr val="black"/>
              </a:solidFill>
            </a:endParaRPr>
          </a:p>
        </p:txBody>
      </p:sp>
      <p:sp>
        <p:nvSpPr>
          <p:cNvPr id="297986" name="Rectangle 7"/>
          <p:cNvSpPr txBox="1">
            <a:spLocks noGrp="1" noChangeArrowheads="1"/>
          </p:cNvSpPr>
          <p:nvPr/>
        </p:nvSpPr>
        <p:spPr bwMode="auto">
          <a:xfrm>
            <a:off x="5438410" y="15720987"/>
            <a:ext cx="4154865" cy="821374"/>
          </a:xfrm>
          <a:prstGeom prst="rect">
            <a:avLst/>
          </a:prstGeom>
          <a:noFill/>
          <a:ln w="9525">
            <a:noFill/>
            <a:miter lim="800000"/>
            <a:headEnd/>
            <a:tailEnd/>
          </a:ln>
        </p:spPr>
        <p:txBody>
          <a:bodyPr lIns="154573" tIns="77293" rIns="154573" bIns="77293" anchor="b"/>
          <a:lstStyle/>
          <a:p>
            <a:pPr algn="r" defTabSz="1544908"/>
            <a:fld id="{5DF5E5CD-03D8-46B6-8534-2BF732312C7A}" type="slidenum">
              <a:rPr lang="en-GB" sz="2100">
                <a:solidFill>
                  <a:prstClr val="black"/>
                </a:solidFill>
                <a:cs typeface="Arial" pitchFamily="34" charset="0"/>
              </a:rPr>
              <a:pPr algn="r" defTabSz="1544908"/>
              <a:t>86</a:t>
            </a:fld>
            <a:endParaRPr lang="en-GB" sz="2100">
              <a:solidFill>
                <a:prstClr val="black"/>
              </a:solidFill>
              <a:cs typeface="Arial" pitchFamily="34" charset="0"/>
            </a:endParaRPr>
          </a:p>
        </p:txBody>
      </p:sp>
      <p:sp>
        <p:nvSpPr>
          <p:cNvPr id="297987" name="Rectangle 2"/>
          <p:cNvSpPr>
            <a:spLocks noGrp="1" noRot="1" noChangeAspect="1" noChangeArrowheads="1" noTextEdit="1"/>
          </p:cNvSpPr>
          <p:nvPr>
            <p:ph type="sldImg"/>
          </p:nvPr>
        </p:nvSpPr>
        <p:spPr>
          <a:xfrm>
            <a:off x="-717550" y="1241425"/>
            <a:ext cx="11029950" cy="6205538"/>
          </a:xfrm>
          <a:ln/>
        </p:spPr>
      </p:sp>
      <p:sp>
        <p:nvSpPr>
          <p:cNvPr id="297988" name="Rectangle 3"/>
          <p:cNvSpPr>
            <a:spLocks noGrp="1" noChangeArrowheads="1"/>
          </p:cNvSpPr>
          <p:nvPr>
            <p:ph type="body" idx="1"/>
          </p:nvPr>
        </p:nvSpPr>
        <p:spPr>
          <a:xfrm>
            <a:off x="1279104" y="7857620"/>
            <a:ext cx="7035068" cy="7444062"/>
          </a:xfrm>
        </p:spPr>
        <p:txBody>
          <a:bodyPr lIns="154573" tIns="77293" rIns="154573" bIns="77293"/>
          <a:lstStyle/>
          <a:p>
            <a:endParaRPr lang="de-DE" noProof="1"/>
          </a:p>
        </p:txBody>
      </p:sp>
    </p:spTree>
    <p:extLst>
      <p:ext uri="{BB962C8B-B14F-4D97-AF65-F5344CB8AC3E}">
        <p14:creationId xmlns:p14="http://schemas.microsoft.com/office/powerpoint/2010/main" val="3181400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78C1A19-59DB-4578-B0D3-3B61E5083246}" type="slidenum">
              <a:rPr lang="de-DE">
                <a:solidFill>
                  <a:prstClr val="black"/>
                </a:solidFill>
              </a:rPr>
              <a:pPr/>
              <a:t>87</a:t>
            </a:fld>
            <a:endParaRPr lang="de-DE">
              <a:solidFill>
                <a:prstClr val="black"/>
              </a:solidFill>
            </a:endParaRPr>
          </a:p>
        </p:txBody>
      </p:sp>
      <p:sp>
        <p:nvSpPr>
          <p:cNvPr id="297986" name="Rectangle 7"/>
          <p:cNvSpPr txBox="1">
            <a:spLocks noGrp="1" noChangeArrowheads="1"/>
          </p:cNvSpPr>
          <p:nvPr/>
        </p:nvSpPr>
        <p:spPr bwMode="auto">
          <a:xfrm>
            <a:off x="5438410" y="15720987"/>
            <a:ext cx="4154865" cy="821374"/>
          </a:xfrm>
          <a:prstGeom prst="rect">
            <a:avLst/>
          </a:prstGeom>
          <a:noFill/>
          <a:ln w="9525">
            <a:noFill/>
            <a:miter lim="800000"/>
            <a:headEnd/>
            <a:tailEnd/>
          </a:ln>
        </p:spPr>
        <p:txBody>
          <a:bodyPr lIns="154573" tIns="77293" rIns="154573" bIns="77293" anchor="b"/>
          <a:lstStyle/>
          <a:p>
            <a:pPr algn="r" defTabSz="1544908"/>
            <a:fld id="{5DF5E5CD-03D8-46B6-8534-2BF732312C7A}" type="slidenum">
              <a:rPr lang="en-GB" sz="2100">
                <a:solidFill>
                  <a:prstClr val="black"/>
                </a:solidFill>
                <a:cs typeface="Arial" pitchFamily="34" charset="0"/>
              </a:rPr>
              <a:pPr algn="r" defTabSz="1544908"/>
              <a:t>87</a:t>
            </a:fld>
            <a:endParaRPr lang="en-GB" sz="2100">
              <a:solidFill>
                <a:prstClr val="black"/>
              </a:solidFill>
              <a:cs typeface="Arial" pitchFamily="34" charset="0"/>
            </a:endParaRPr>
          </a:p>
        </p:txBody>
      </p:sp>
      <p:sp>
        <p:nvSpPr>
          <p:cNvPr id="297987" name="Rectangle 2"/>
          <p:cNvSpPr>
            <a:spLocks noGrp="1" noRot="1" noChangeAspect="1" noChangeArrowheads="1" noTextEdit="1"/>
          </p:cNvSpPr>
          <p:nvPr>
            <p:ph type="sldImg"/>
          </p:nvPr>
        </p:nvSpPr>
        <p:spPr>
          <a:xfrm>
            <a:off x="-717550" y="1241425"/>
            <a:ext cx="11029950" cy="6205538"/>
          </a:xfrm>
          <a:ln/>
        </p:spPr>
      </p:sp>
      <p:sp>
        <p:nvSpPr>
          <p:cNvPr id="297988" name="Rectangle 3"/>
          <p:cNvSpPr>
            <a:spLocks noGrp="1" noChangeArrowheads="1"/>
          </p:cNvSpPr>
          <p:nvPr>
            <p:ph type="body" idx="1"/>
          </p:nvPr>
        </p:nvSpPr>
        <p:spPr>
          <a:xfrm>
            <a:off x="1279104" y="7857620"/>
            <a:ext cx="7035068" cy="7444062"/>
          </a:xfrm>
        </p:spPr>
        <p:txBody>
          <a:bodyPr lIns="154573" tIns="77293" rIns="154573" bIns="77293"/>
          <a:lstStyle/>
          <a:p>
            <a:endParaRPr lang="de-DE" noProof="1"/>
          </a:p>
        </p:txBody>
      </p:sp>
    </p:spTree>
    <p:extLst>
      <p:ext uri="{BB962C8B-B14F-4D97-AF65-F5344CB8AC3E}">
        <p14:creationId xmlns:p14="http://schemas.microsoft.com/office/powerpoint/2010/main" val="199289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78C1A19-59DB-4578-B0D3-3B61E5083246}" type="slidenum">
              <a:rPr lang="de-DE">
                <a:solidFill>
                  <a:prstClr val="black"/>
                </a:solidFill>
              </a:rPr>
              <a:pPr/>
              <a:t>88</a:t>
            </a:fld>
            <a:endParaRPr lang="de-DE">
              <a:solidFill>
                <a:prstClr val="black"/>
              </a:solidFill>
            </a:endParaRPr>
          </a:p>
        </p:txBody>
      </p:sp>
      <p:sp>
        <p:nvSpPr>
          <p:cNvPr id="297986" name="Rectangle 7"/>
          <p:cNvSpPr txBox="1">
            <a:spLocks noGrp="1" noChangeArrowheads="1"/>
          </p:cNvSpPr>
          <p:nvPr/>
        </p:nvSpPr>
        <p:spPr bwMode="auto">
          <a:xfrm>
            <a:off x="5438410" y="15720987"/>
            <a:ext cx="4154865" cy="821374"/>
          </a:xfrm>
          <a:prstGeom prst="rect">
            <a:avLst/>
          </a:prstGeom>
          <a:noFill/>
          <a:ln w="9525">
            <a:noFill/>
            <a:miter lim="800000"/>
            <a:headEnd/>
            <a:tailEnd/>
          </a:ln>
        </p:spPr>
        <p:txBody>
          <a:bodyPr lIns="154573" tIns="77293" rIns="154573" bIns="77293" anchor="b"/>
          <a:lstStyle/>
          <a:p>
            <a:pPr algn="r" defTabSz="1544908"/>
            <a:fld id="{5DF5E5CD-03D8-46B6-8534-2BF732312C7A}" type="slidenum">
              <a:rPr lang="en-GB" sz="2100">
                <a:solidFill>
                  <a:prstClr val="black"/>
                </a:solidFill>
                <a:cs typeface="Arial" pitchFamily="34" charset="0"/>
              </a:rPr>
              <a:pPr algn="r" defTabSz="1544908"/>
              <a:t>88</a:t>
            </a:fld>
            <a:endParaRPr lang="en-GB" sz="2100">
              <a:solidFill>
                <a:prstClr val="black"/>
              </a:solidFill>
              <a:cs typeface="Arial" pitchFamily="34" charset="0"/>
            </a:endParaRPr>
          </a:p>
        </p:txBody>
      </p:sp>
      <p:sp>
        <p:nvSpPr>
          <p:cNvPr id="297987" name="Rectangle 2"/>
          <p:cNvSpPr>
            <a:spLocks noGrp="1" noRot="1" noChangeAspect="1" noChangeArrowheads="1" noTextEdit="1"/>
          </p:cNvSpPr>
          <p:nvPr>
            <p:ph type="sldImg"/>
          </p:nvPr>
        </p:nvSpPr>
        <p:spPr>
          <a:xfrm>
            <a:off x="-717550" y="1241425"/>
            <a:ext cx="11029950" cy="6205538"/>
          </a:xfrm>
          <a:ln/>
        </p:spPr>
      </p:sp>
      <p:sp>
        <p:nvSpPr>
          <p:cNvPr id="297988" name="Rectangle 3"/>
          <p:cNvSpPr>
            <a:spLocks noGrp="1" noChangeArrowheads="1"/>
          </p:cNvSpPr>
          <p:nvPr>
            <p:ph type="body" idx="1"/>
          </p:nvPr>
        </p:nvSpPr>
        <p:spPr>
          <a:xfrm>
            <a:off x="1279104" y="7857620"/>
            <a:ext cx="7035068" cy="7444062"/>
          </a:xfrm>
        </p:spPr>
        <p:txBody>
          <a:bodyPr lIns="154573" tIns="77293" rIns="154573" bIns="77293"/>
          <a:lstStyle/>
          <a:p>
            <a:endParaRPr lang="de-DE" noProof="1"/>
          </a:p>
        </p:txBody>
      </p:sp>
    </p:spTree>
    <p:extLst>
      <p:ext uri="{BB962C8B-B14F-4D97-AF65-F5344CB8AC3E}">
        <p14:creationId xmlns:p14="http://schemas.microsoft.com/office/powerpoint/2010/main" val="1618657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78C1A19-59DB-4578-B0D3-3B61E5083246}" type="slidenum">
              <a:rPr lang="de-DE">
                <a:solidFill>
                  <a:prstClr val="black"/>
                </a:solidFill>
              </a:rPr>
              <a:pPr/>
              <a:t>89</a:t>
            </a:fld>
            <a:endParaRPr lang="de-DE">
              <a:solidFill>
                <a:prstClr val="black"/>
              </a:solidFill>
            </a:endParaRPr>
          </a:p>
        </p:txBody>
      </p:sp>
      <p:sp>
        <p:nvSpPr>
          <p:cNvPr id="297986" name="Rectangle 7"/>
          <p:cNvSpPr txBox="1">
            <a:spLocks noGrp="1" noChangeArrowheads="1"/>
          </p:cNvSpPr>
          <p:nvPr/>
        </p:nvSpPr>
        <p:spPr bwMode="auto">
          <a:xfrm>
            <a:off x="5438410" y="15720987"/>
            <a:ext cx="4154865" cy="821374"/>
          </a:xfrm>
          <a:prstGeom prst="rect">
            <a:avLst/>
          </a:prstGeom>
          <a:noFill/>
          <a:ln w="9525">
            <a:noFill/>
            <a:miter lim="800000"/>
            <a:headEnd/>
            <a:tailEnd/>
          </a:ln>
        </p:spPr>
        <p:txBody>
          <a:bodyPr lIns="154573" tIns="77293" rIns="154573" bIns="77293" anchor="b"/>
          <a:lstStyle/>
          <a:p>
            <a:pPr algn="r" defTabSz="1544908"/>
            <a:fld id="{5DF5E5CD-03D8-46B6-8534-2BF732312C7A}" type="slidenum">
              <a:rPr lang="en-GB" sz="2100">
                <a:solidFill>
                  <a:prstClr val="black"/>
                </a:solidFill>
                <a:cs typeface="Arial" pitchFamily="34" charset="0"/>
              </a:rPr>
              <a:pPr algn="r" defTabSz="1544908"/>
              <a:t>89</a:t>
            </a:fld>
            <a:endParaRPr lang="en-GB" sz="2100">
              <a:solidFill>
                <a:prstClr val="black"/>
              </a:solidFill>
              <a:cs typeface="Arial" pitchFamily="34" charset="0"/>
            </a:endParaRPr>
          </a:p>
        </p:txBody>
      </p:sp>
      <p:sp>
        <p:nvSpPr>
          <p:cNvPr id="297987" name="Rectangle 2"/>
          <p:cNvSpPr>
            <a:spLocks noGrp="1" noRot="1" noChangeAspect="1" noChangeArrowheads="1" noTextEdit="1"/>
          </p:cNvSpPr>
          <p:nvPr>
            <p:ph type="sldImg"/>
          </p:nvPr>
        </p:nvSpPr>
        <p:spPr>
          <a:xfrm>
            <a:off x="-717550" y="1241425"/>
            <a:ext cx="11029950" cy="6205538"/>
          </a:xfrm>
          <a:ln/>
        </p:spPr>
      </p:sp>
      <p:sp>
        <p:nvSpPr>
          <p:cNvPr id="297988" name="Rectangle 3"/>
          <p:cNvSpPr>
            <a:spLocks noGrp="1" noChangeArrowheads="1"/>
          </p:cNvSpPr>
          <p:nvPr>
            <p:ph type="body" idx="1"/>
          </p:nvPr>
        </p:nvSpPr>
        <p:spPr>
          <a:xfrm>
            <a:off x="1279104" y="7857620"/>
            <a:ext cx="7035068" cy="7444062"/>
          </a:xfrm>
        </p:spPr>
        <p:txBody>
          <a:bodyPr lIns="154573" tIns="77293" rIns="154573" bIns="77293"/>
          <a:lstStyle/>
          <a:p>
            <a:endParaRPr lang="de-DE" noProof="1"/>
          </a:p>
        </p:txBody>
      </p:sp>
    </p:spTree>
    <p:extLst>
      <p:ext uri="{BB962C8B-B14F-4D97-AF65-F5344CB8AC3E}">
        <p14:creationId xmlns:p14="http://schemas.microsoft.com/office/powerpoint/2010/main" val="590951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defTabSz="1490563">
              <a:defRPr/>
            </a:pPr>
            <a:r>
              <a:rPr lang="en-US" sz="2900" kern="0">
                <a:solidFill>
                  <a:sysClr val="windowText" lastClr="000000"/>
                </a:solidFill>
              </a:rPr>
              <a:t>Microsoft 2016</a:t>
            </a:r>
            <a:endParaRPr lang="en-US" sz="2900" kern="0" dirty="0">
              <a:solidFill>
                <a:sysClr val="windowText" lastClr="000000"/>
              </a:solidFill>
            </a:endParaRPr>
          </a:p>
        </p:txBody>
      </p:sp>
      <p:sp>
        <p:nvSpPr>
          <p:cNvPr id="5" name="Footer Placeholder 4"/>
          <p:cNvSpPr>
            <a:spLocks noGrp="1"/>
          </p:cNvSpPr>
          <p:nvPr>
            <p:ph type="ftr" sz="quarter" idx="11"/>
          </p:nvPr>
        </p:nvSpPr>
        <p:spPr/>
        <p:txBody>
          <a:bodyPr/>
          <a:lstStyle/>
          <a:p>
            <a:pPr defTabSz="1490073" eaLnBrk="0" hangingPunct="0">
              <a:defRPr/>
            </a:pPr>
            <a:r>
              <a:rPr lang="en-US" sz="700" kern="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endParaRPr lang="en-US" sz="700" kern="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defTabSz="1490563">
              <a:defRPr/>
            </a:pPr>
            <a:fld id="{38EEC551-8CDA-4EB6-89BB-2A86C9F091C8}" type="datetime8">
              <a:rPr lang="en-US" sz="2900" kern="0">
                <a:solidFill>
                  <a:sysClr val="windowText" lastClr="000000"/>
                </a:solidFill>
              </a:rPr>
              <a:pPr defTabSz="1490563">
                <a:defRPr/>
              </a:pPr>
              <a:t>4/12/2018 9:13 AM</a:t>
            </a:fld>
            <a:endParaRPr lang="en-US" sz="2900" kern="0" dirty="0">
              <a:solidFill>
                <a:sysClr val="windowText" lastClr="000000"/>
              </a:solidFill>
            </a:endParaRPr>
          </a:p>
        </p:txBody>
      </p:sp>
      <p:sp>
        <p:nvSpPr>
          <p:cNvPr id="7" name="Slide Number Placeholder 6"/>
          <p:cNvSpPr>
            <a:spLocks noGrp="1"/>
          </p:cNvSpPr>
          <p:nvPr>
            <p:ph type="sldNum" sz="quarter" idx="13"/>
          </p:nvPr>
        </p:nvSpPr>
        <p:spPr/>
        <p:txBody>
          <a:bodyPr/>
          <a:lstStyle/>
          <a:p>
            <a:pPr defTabSz="1490563">
              <a:defRPr/>
            </a:pPr>
            <a:fld id="{B4008EB6-D09E-4580-8CD6-DDB14511944F}" type="slidenum">
              <a:rPr lang="en-US" sz="2900" kern="0">
                <a:solidFill>
                  <a:sysClr val="windowText" lastClr="000000"/>
                </a:solidFill>
              </a:rPr>
              <a:pPr defTabSz="1490563">
                <a:defRPr/>
              </a:pPr>
              <a:t>91</a:t>
            </a:fld>
            <a:endParaRPr lang="en-US" sz="2900" kern="0" dirty="0">
              <a:solidFill>
                <a:sysClr val="windowText" lastClr="000000"/>
              </a:solidFill>
            </a:endParaRPr>
          </a:p>
        </p:txBody>
      </p:sp>
    </p:spTree>
    <p:extLst>
      <p:ext uri="{BB962C8B-B14F-4D97-AF65-F5344CB8AC3E}">
        <p14:creationId xmlns:p14="http://schemas.microsoft.com/office/powerpoint/2010/main" val="3410977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defTabSz="1490563">
              <a:defRPr/>
            </a:pPr>
            <a:r>
              <a:rPr lang="en-US" sz="2900" kern="0">
                <a:solidFill>
                  <a:sysClr val="windowText" lastClr="000000"/>
                </a:solidFill>
              </a:rPr>
              <a:t>Microsoft 2016</a:t>
            </a:r>
            <a:endParaRPr lang="en-US" sz="2900" kern="0" dirty="0">
              <a:solidFill>
                <a:sysClr val="windowText" lastClr="000000"/>
              </a:solidFill>
            </a:endParaRPr>
          </a:p>
        </p:txBody>
      </p:sp>
      <p:sp>
        <p:nvSpPr>
          <p:cNvPr id="5" name="Footer Placeholder 4"/>
          <p:cNvSpPr>
            <a:spLocks noGrp="1"/>
          </p:cNvSpPr>
          <p:nvPr>
            <p:ph type="ftr" sz="quarter" idx="11"/>
          </p:nvPr>
        </p:nvSpPr>
        <p:spPr/>
        <p:txBody>
          <a:bodyPr/>
          <a:lstStyle/>
          <a:p>
            <a:pPr defTabSz="1490073" eaLnBrk="0" hangingPunct="0">
              <a:defRPr/>
            </a:pPr>
            <a:r>
              <a:rPr lang="en-US" sz="700" kern="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endParaRPr lang="en-US" sz="700" kern="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defTabSz="1490563">
              <a:defRPr/>
            </a:pPr>
            <a:fld id="{38EEC551-8CDA-4EB6-89BB-2A86C9F091C8}" type="datetime8">
              <a:rPr lang="en-US" sz="2900" kern="0">
                <a:solidFill>
                  <a:sysClr val="windowText" lastClr="000000"/>
                </a:solidFill>
              </a:rPr>
              <a:pPr defTabSz="1490563">
                <a:defRPr/>
              </a:pPr>
              <a:t>4/12/2018 9:13 AM</a:t>
            </a:fld>
            <a:endParaRPr lang="en-US" sz="2900" kern="0" dirty="0">
              <a:solidFill>
                <a:sysClr val="windowText" lastClr="000000"/>
              </a:solidFill>
            </a:endParaRPr>
          </a:p>
        </p:txBody>
      </p:sp>
      <p:sp>
        <p:nvSpPr>
          <p:cNvPr id="7" name="Slide Number Placeholder 6"/>
          <p:cNvSpPr>
            <a:spLocks noGrp="1"/>
          </p:cNvSpPr>
          <p:nvPr>
            <p:ph type="sldNum" sz="quarter" idx="13"/>
          </p:nvPr>
        </p:nvSpPr>
        <p:spPr/>
        <p:txBody>
          <a:bodyPr/>
          <a:lstStyle/>
          <a:p>
            <a:pPr defTabSz="1490563">
              <a:defRPr/>
            </a:pPr>
            <a:fld id="{B4008EB6-D09E-4580-8CD6-DDB14511944F}" type="slidenum">
              <a:rPr lang="en-US" sz="2900" kern="0">
                <a:solidFill>
                  <a:sysClr val="windowText" lastClr="000000"/>
                </a:solidFill>
              </a:rPr>
              <a:pPr defTabSz="1490563">
                <a:defRPr/>
              </a:pPr>
              <a:t>92</a:t>
            </a:fld>
            <a:endParaRPr lang="en-US" sz="2900" kern="0" dirty="0">
              <a:solidFill>
                <a:sysClr val="windowText" lastClr="000000"/>
              </a:solidFill>
            </a:endParaRPr>
          </a:p>
        </p:txBody>
      </p:sp>
    </p:spTree>
    <p:extLst>
      <p:ext uri="{BB962C8B-B14F-4D97-AF65-F5344CB8AC3E}">
        <p14:creationId xmlns:p14="http://schemas.microsoft.com/office/powerpoint/2010/main" val="8143016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defTabSz="1490563">
              <a:defRPr/>
            </a:pPr>
            <a:r>
              <a:rPr lang="en-US" sz="2900" kern="0">
                <a:solidFill>
                  <a:sysClr val="windowText" lastClr="000000"/>
                </a:solidFill>
              </a:rPr>
              <a:t>Microsoft 2016</a:t>
            </a:r>
            <a:endParaRPr lang="en-US" sz="2900" kern="0" dirty="0">
              <a:solidFill>
                <a:sysClr val="windowText" lastClr="000000"/>
              </a:solidFill>
            </a:endParaRPr>
          </a:p>
        </p:txBody>
      </p:sp>
      <p:sp>
        <p:nvSpPr>
          <p:cNvPr id="5" name="Footer Placeholder 4"/>
          <p:cNvSpPr>
            <a:spLocks noGrp="1"/>
          </p:cNvSpPr>
          <p:nvPr>
            <p:ph type="ftr" sz="quarter" idx="11"/>
          </p:nvPr>
        </p:nvSpPr>
        <p:spPr/>
        <p:txBody>
          <a:bodyPr/>
          <a:lstStyle/>
          <a:p>
            <a:pPr defTabSz="1490073" eaLnBrk="0" hangingPunct="0">
              <a:defRPr/>
            </a:pPr>
            <a:r>
              <a:rPr lang="en-US" sz="700" kern="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endParaRPr lang="en-US" sz="700" kern="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defTabSz="1490563">
              <a:defRPr/>
            </a:pPr>
            <a:fld id="{38EEC551-8CDA-4EB6-89BB-2A86C9F091C8}" type="datetime8">
              <a:rPr lang="en-US" sz="2900" kern="0">
                <a:solidFill>
                  <a:sysClr val="windowText" lastClr="000000"/>
                </a:solidFill>
              </a:rPr>
              <a:pPr defTabSz="1490563">
                <a:defRPr/>
              </a:pPr>
              <a:t>4/12/2018 9:13 AM</a:t>
            </a:fld>
            <a:endParaRPr lang="en-US" sz="2900" kern="0" dirty="0">
              <a:solidFill>
                <a:sysClr val="windowText" lastClr="000000"/>
              </a:solidFill>
            </a:endParaRPr>
          </a:p>
        </p:txBody>
      </p:sp>
      <p:sp>
        <p:nvSpPr>
          <p:cNvPr id="7" name="Slide Number Placeholder 6"/>
          <p:cNvSpPr>
            <a:spLocks noGrp="1"/>
          </p:cNvSpPr>
          <p:nvPr>
            <p:ph type="sldNum" sz="quarter" idx="13"/>
          </p:nvPr>
        </p:nvSpPr>
        <p:spPr/>
        <p:txBody>
          <a:bodyPr/>
          <a:lstStyle/>
          <a:p>
            <a:pPr defTabSz="1490563">
              <a:defRPr/>
            </a:pPr>
            <a:fld id="{B4008EB6-D09E-4580-8CD6-DDB14511944F}" type="slidenum">
              <a:rPr lang="en-US" sz="2900" kern="0">
                <a:solidFill>
                  <a:sysClr val="windowText" lastClr="000000"/>
                </a:solidFill>
              </a:rPr>
              <a:pPr defTabSz="1490563">
                <a:defRPr/>
              </a:pPr>
              <a:t>93</a:t>
            </a:fld>
            <a:endParaRPr lang="en-US" sz="2900" kern="0" dirty="0">
              <a:solidFill>
                <a:sysClr val="windowText" lastClr="000000"/>
              </a:solidFill>
            </a:endParaRPr>
          </a:p>
        </p:txBody>
      </p:sp>
    </p:spTree>
    <p:extLst>
      <p:ext uri="{BB962C8B-B14F-4D97-AF65-F5344CB8AC3E}">
        <p14:creationId xmlns:p14="http://schemas.microsoft.com/office/powerpoint/2010/main" val="23564773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solidFill>
                  <a:prstClr val="black"/>
                </a:solidFill>
              </a:rPr>
              <a:pPr/>
              <a:t>96</a:t>
            </a:fld>
            <a:endParaRPr lang="en-US" dirty="0">
              <a:solidFill>
                <a:prstClr val="black"/>
              </a:solidFill>
            </a:endParaRPr>
          </a:p>
        </p:txBody>
      </p:sp>
    </p:spTree>
    <p:extLst>
      <p:ext uri="{BB962C8B-B14F-4D97-AF65-F5344CB8AC3E}">
        <p14:creationId xmlns:p14="http://schemas.microsoft.com/office/powerpoint/2010/main" val="27925274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E98FB9-DCF2-48F0-A918-023407CCD489}" type="slidenum">
              <a:rPr lang="zh-CN" altLang="en-US" smtClean="0"/>
              <a:pPr/>
              <a:t>119</a:t>
            </a:fld>
            <a:endParaRPr lang="zh-CN" altLang="en-US"/>
          </a:p>
        </p:txBody>
      </p:sp>
    </p:spTree>
    <p:extLst>
      <p:ext uri="{BB962C8B-B14F-4D97-AF65-F5344CB8AC3E}">
        <p14:creationId xmlns:p14="http://schemas.microsoft.com/office/powerpoint/2010/main" val="775776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1.vml"/><Relationship Id="rId5" Type="http://schemas.openxmlformats.org/officeDocument/2006/relationships/image" Target="../media/image1.emf"/><Relationship Id="rId4" Type="http://schemas.openxmlformats.org/officeDocument/2006/relationships/oleObject" Target="../embeddings/oleObject1.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2.v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3.v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4.v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vmlDrawing" Target="../drawings/vmlDrawing5.v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6.v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hyperlink" Target="http://www.rapidbbs.cn/" TargetMode="Externa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98" name="Rectangle 27"/>
          <p:cNvSpPr/>
          <p:nvPr userDrawn="1"/>
        </p:nvSpPr>
        <p:spPr>
          <a:xfrm>
            <a:off x="-9642" y="0"/>
            <a:ext cx="17289581" cy="6264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grpSp>
        <p:nvGrpSpPr>
          <p:cNvPr id="99" name="Group 29"/>
          <p:cNvGrpSpPr/>
          <p:nvPr userDrawn="1"/>
        </p:nvGrpSpPr>
        <p:grpSpPr>
          <a:xfrm rot="1800000">
            <a:off x="12176073" y="1238428"/>
            <a:ext cx="4418616" cy="4600873"/>
            <a:chOff x="8349573" y="-1673337"/>
            <a:chExt cx="6162676" cy="6416675"/>
          </a:xfrm>
          <a:solidFill>
            <a:schemeClr val="bg1">
              <a:alpha val="16000"/>
            </a:schemeClr>
          </a:solidFill>
        </p:grpSpPr>
        <p:sp>
          <p:nvSpPr>
            <p:cNvPr id="100" name="Freeform 319"/>
            <p:cNvSpPr>
              <a:spLocks noEditPoints="1"/>
            </p:cNvSpPr>
            <p:nvPr/>
          </p:nvSpPr>
          <p:spPr bwMode="auto">
            <a:xfrm>
              <a:off x="83495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1" name="Freeform 320"/>
            <p:cNvSpPr>
              <a:spLocks noEditPoints="1"/>
            </p:cNvSpPr>
            <p:nvPr/>
          </p:nvSpPr>
          <p:spPr bwMode="auto">
            <a:xfrm>
              <a:off x="9570361" y="-1655875"/>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2" name="Freeform 321"/>
            <p:cNvSpPr>
              <a:spLocks noEditPoints="1"/>
            </p:cNvSpPr>
            <p:nvPr/>
          </p:nvSpPr>
          <p:spPr bwMode="auto">
            <a:xfrm>
              <a:off x="107879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3" name="Freeform 322"/>
            <p:cNvSpPr>
              <a:spLocks noEditPoints="1"/>
            </p:cNvSpPr>
            <p:nvPr/>
          </p:nvSpPr>
          <p:spPr bwMode="auto">
            <a:xfrm>
              <a:off x="12008761" y="-1655875"/>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4" name="Freeform 323"/>
            <p:cNvSpPr>
              <a:spLocks noEditPoints="1"/>
            </p:cNvSpPr>
            <p:nvPr/>
          </p:nvSpPr>
          <p:spPr bwMode="auto">
            <a:xfrm>
              <a:off x="83495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5" name="Freeform 324"/>
            <p:cNvSpPr>
              <a:spLocks noEditPoints="1"/>
            </p:cNvSpPr>
            <p:nvPr/>
          </p:nvSpPr>
          <p:spPr bwMode="auto">
            <a:xfrm>
              <a:off x="9570361" y="441213"/>
              <a:ext cx="2503488" cy="2168525"/>
            </a:xfrm>
            <a:custGeom>
              <a:avLst/>
              <a:gdLst>
                <a:gd name="T0" fmla="*/ 1577 w 1577"/>
                <a:gd name="T1" fmla="*/ 1366 h 1366"/>
                <a:gd name="T2" fmla="*/ 0 w 1577"/>
                <a:gd name="T3" fmla="*/ 1366 h 1366"/>
                <a:gd name="T4" fmla="*/ 788 w 1577"/>
                <a:gd name="T5" fmla="*/ 0 h 1366"/>
                <a:gd name="T6" fmla="*/ 1577 w 1577"/>
                <a:gd name="T7" fmla="*/ 1366 h 1366"/>
                <a:gd name="T8" fmla="*/ 41 w 1577"/>
                <a:gd name="T9" fmla="*/ 1342 h 1366"/>
                <a:gd name="T10" fmla="*/ 1536 w 1577"/>
                <a:gd name="T11" fmla="*/ 1342 h 1366"/>
                <a:gd name="T12" fmla="*/ 788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8" y="0"/>
                  </a:lnTo>
                  <a:lnTo>
                    <a:pt x="1577" y="1366"/>
                  </a:lnTo>
                  <a:close/>
                  <a:moveTo>
                    <a:pt x="41" y="1342"/>
                  </a:moveTo>
                  <a:lnTo>
                    <a:pt x="1536" y="1342"/>
                  </a:lnTo>
                  <a:lnTo>
                    <a:pt x="788" y="47"/>
                  </a:lnTo>
                  <a:lnTo>
                    <a:pt x="41" y="1342"/>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6" name="Freeform 325"/>
            <p:cNvSpPr>
              <a:spLocks noEditPoints="1"/>
            </p:cNvSpPr>
            <p:nvPr/>
          </p:nvSpPr>
          <p:spPr bwMode="auto">
            <a:xfrm>
              <a:off x="107879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7" name="Freeform 326"/>
            <p:cNvSpPr>
              <a:spLocks noEditPoints="1"/>
            </p:cNvSpPr>
            <p:nvPr/>
          </p:nvSpPr>
          <p:spPr bwMode="auto">
            <a:xfrm>
              <a:off x="12008761" y="441213"/>
              <a:ext cx="2503488" cy="2168525"/>
            </a:xfrm>
            <a:custGeom>
              <a:avLst/>
              <a:gdLst>
                <a:gd name="T0" fmla="*/ 1577 w 1577"/>
                <a:gd name="T1" fmla="*/ 1366 h 1366"/>
                <a:gd name="T2" fmla="*/ 0 w 1577"/>
                <a:gd name="T3" fmla="*/ 1366 h 1366"/>
                <a:gd name="T4" fmla="*/ 789 w 1577"/>
                <a:gd name="T5" fmla="*/ 0 h 1366"/>
                <a:gd name="T6" fmla="*/ 1577 w 1577"/>
                <a:gd name="T7" fmla="*/ 1366 h 1366"/>
                <a:gd name="T8" fmla="*/ 41 w 1577"/>
                <a:gd name="T9" fmla="*/ 1342 h 1366"/>
                <a:gd name="T10" fmla="*/ 1536 w 1577"/>
                <a:gd name="T11" fmla="*/ 1342 h 1366"/>
                <a:gd name="T12" fmla="*/ 789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9" y="0"/>
                  </a:lnTo>
                  <a:lnTo>
                    <a:pt x="1577" y="1366"/>
                  </a:lnTo>
                  <a:close/>
                  <a:moveTo>
                    <a:pt x="41" y="1342"/>
                  </a:moveTo>
                  <a:lnTo>
                    <a:pt x="1536" y="1342"/>
                  </a:lnTo>
                  <a:lnTo>
                    <a:pt x="789" y="47"/>
                  </a:lnTo>
                  <a:lnTo>
                    <a:pt x="41" y="1342"/>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8" name="Freeform 327"/>
            <p:cNvSpPr>
              <a:spLocks noEditPoints="1"/>
            </p:cNvSpPr>
            <p:nvPr/>
          </p:nvSpPr>
          <p:spPr bwMode="auto">
            <a:xfrm>
              <a:off x="83495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9" name="Freeform 328"/>
            <p:cNvSpPr>
              <a:spLocks noEditPoints="1"/>
            </p:cNvSpPr>
            <p:nvPr/>
          </p:nvSpPr>
          <p:spPr bwMode="auto">
            <a:xfrm>
              <a:off x="9570361" y="2571638"/>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10" name="Freeform 329"/>
            <p:cNvSpPr>
              <a:spLocks noEditPoints="1"/>
            </p:cNvSpPr>
            <p:nvPr/>
          </p:nvSpPr>
          <p:spPr bwMode="auto">
            <a:xfrm>
              <a:off x="107879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11" name="Freeform 330"/>
            <p:cNvSpPr>
              <a:spLocks noEditPoints="1"/>
            </p:cNvSpPr>
            <p:nvPr/>
          </p:nvSpPr>
          <p:spPr bwMode="auto">
            <a:xfrm>
              <a:off x="12008761" y="2571638"/>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grpSp>
      <p:grpSp>
        <p:nvGrpSpPr>
          <p:cNvPr id="4" name="组合 3"/>
          <p:cNvGrpSpPr/>
          <p:nvPr userDrawn="1"/>
        </p:nvGrpSpPr>
        <p:grpSpPr>
          <a:xfrm>
            <a:off x="828581" y="349110"/>
            <a:ext cx="3696591" cy="3036227"/>
            <a:chOff x="2607344" y="-649181"/>
            <a:chExt cx="2608160" cy="2142169"/>
          </a:xfrm>
        </p:grpSpPr>
        <p:grpSp>
          <p:nvGrpSpPr>
            <p:cNvPr id="113" name="Group 74"/>
            <p:cNvGrpSpPr/>
            <p:nvPr userDrawn="1"/>
          </p:nvGrpSpPr>
          <p:grpSpPr>
            <a:xfrm rot="1800000">
              <a:off x="3246128" y="-649181"/>
              <a:ext cx="1314075" cy="1368235"/>
              <a:chOff x="8349573" y="-1673337"/>
              <a:chExt cx="6162676" cy="6416675"/>
            </a:xfrm>
            <a:solidFill>
              <a:schemeClr val="bg1">
                <a:alpha val="15000"/>
              </a:schemeClr>
            </a:solidFill>
          </p:grpSpPr>
          <p:sp>
            <p:nvSpPr>
              <p:cNvPr id="146" name="Freeform 319"/>
              <p:cNvSpPr>
                <a:spLocks noEditPoints="1"/>
              </p:cNvSpPr>
              <p:nvPr/>
            </p:nvSpPr>
            <p:spPr bwMode="auto">
              <a:xfrm>
                <a:off x="83495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47" name="Freeform 320"/>
              <p:cNvSpPr>
                <a:spLocks noEditPoints="1"/>
              </p:cNvSpPr>
              <p:nvPr/>
            </p:nvSpPr>
            <p:spPr bwMode="auto">
              <a:xfrm>
                <a:off x="9570361" y="-1655875"/>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48" name="Freeform 321"/>
              <p:cNvSpPr>
                <a:spLocks noEditPoints="1"/>
              </p:cNvSpPr>
              <p:nvPr/>
            </p:nvSpPr>
            <p:spPr bwMode="auto">
              <a:xfrm>
                <a:off x="107879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49" name="Freeform 322"/>
              <p:cNvSpPr>
                <a:spLocks noEditPoints="1"/>
              </p:cNvSpPr>
              <p:nvPr/>
            </p:nvSpPr>
            <p:spPr bwMode="auto">
              <a:xfrm>
                <a:off x="12008761" y="-1655875"/>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0" name="Freeform 323"/>
              <p:cNvSpPr>
                <a:spLocks noEditPoints="1"/>
              </p:cNvSpPr>
              <p:nvPr/>
            </p:nvSpPr>
            <p:spPr bwMode="auto">
              <a:xfrm>
                <a:off x="83495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1" name="Freeform 324"/>
              <p:cNvSpPr>
                <a:spLocks noEditPoints="1"/>
              </p:cNvSpPr>
              <p:nvPr/>
            </p:nvSpPr>
            <p:spPr bwMode="auto">
              <a:xfrm>
                <a:off x="9570361" y="441213"/>
                <a:ext cx="2503488" cy="2168525"/>
              </a:xfrm>
              <a:custGeom>
                <a:avLst/>
                <a:gdLst>
                  <a:gd name="T0" fmla="*/ 1577 w 1577"/>
                  <a:gd name="T1" fmla="*/ 1366 h 1366"/>
                  <a:gd name="T2" fmla="*/ 0 w 1577"/>
                  <a:gd name="T3" fmla="*/ 1366 h 1366"/>
                  <a:gd name="T4" fmla="*/ 788 w 1577"/>
                  <a:gd name="T5" fmla="*/ 0 h 1366"/>
                  <a:gd name="T6" fmla="*/ 1577 w 1577"/>
                  <a:gd name="T7" fmla="*/ 1366 h 1366"/>
                  <a:gd name="T8" fmla="*/ 41 w 1577"/>
                  <a:gd name="T9" fmla="*/ 1342 h 1366"/>
                  <a:gd name="T10" fmla="*/ 1536 w 1577"/>
                  <a:gd name="T11" fmla="*/ 1342 h 1366"/>
                  <a:gd name="T12" fmla="*/ 788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8" y="0"/>
                    </a:lnTo>
                    <a:lnTo>
                      <a:pt x="1577" y="1366"/>
                    </a:lnTo>
                    <a:close/>
                    <a:moveTo>
                      <a:pt x="41" y="1342"/>
                    </a:moveTo>
                    <a:lnTo>
                      <a:pt x="1536" y="1342"/>
                    </a:lnTo>
                    <a:lnTo>
                      <a:pt x="788" y="47"/>
                    </a:lnTo>
                    <a:lnTo>
                      <a:pt x="41" y="13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2" name="Freeform 325"/>
              <p:cNvSpPr>
                <a:spLocks noEditPoints="1"/>
              </p:cNvSpPr>
              <p:nvPr/>
            </p:nvSpPr>
            <p:spPr bwMode="auto">
              <a:xfrm>
                <a:off x="107879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3" name="Freeform 326"/>
              <p:cNvSpPr>
                <a:spLocks noEditPoints="1"/>
              </p:cNvSpPr>
              <p:nvPr/>
            </p:nvSpPr>
            <p:spPr bwMode="auto">
              <a:xfrm>
                <a:off x="12008761" y="441213"/>
                <a:ext cx="2503488" cy="2168525"/>
              </a:xfrm>
              <a:custGeom>
                <a:avLst/>
                <a:gdLst>
                  <a:gd name="T0" fmla="*/ 1577 w 1577"/>
                  <a:gd name="T1" fmla="*/ 1366 h 1366"/>
                  <a:gd name="T2" fmla="*/ 0 w 1577"/>
                  <a:gd name="T3" fmla="*/ 1366 h 1366"/>
                  <a:gd name="T4" fmla="*/ 789 w 1577"/>
                  <a:gd name="T5" fmla="*/ 0 h 1366"/>
                  <a:gd name="T6" fmla="*/ 1577 w 1577"/>
                  <a:gd name="T7" fmla="*/ 1366 h 1366"/>
                  <a:gd name="T8" fmla="*/ 41 w 1577"/>
                  <a:gd name="T9" fmla="*/ 1342 h 1366"/>
                  <a:gd name="T10" fmla="*/ 1536 w 1577"/>
                  <a:gd name="T11" fmla="*/ 1342 h 1366"/>
                  <a:gd name="T12" fmla="*/ 789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9" y="0"/>
                    </a:lnTo>
                    <a:lnTo>
                      <a:pt x="1577" y="1366"/>
                    </a:lnTo>
                    <a:close/>
                    <a:moveTo>
                      <a:pt x="41" y="1342"/>
                    </a:moveTo>
                    <a:lnTo>
                      <a:pt x="1536" y="1342"/>
                    </a:lnTo>
                    <a:lnTo>
                      <a:pt x="789" y="47"/>
                    </a:lnTo>
                    <a:lnTo>
                      <a:pt x="41" y="13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4" name="Freeform 327"/>
              <p:cNvSpPr>
                <a:spLocks noEditPoints="1"/>
              </p:cNvSpPr>
              <p:nvPr/>
            </p:nvSpPr>
            <p:spPr bwMode="auto">
              <a:xfrm>
                <a:off x="83495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5" name="Freeform 328"/>
              <p:cNvSpPr>
                <a:spLocks noEditPoints="1"/>
              </p:cNvSpPr>
              <p:nvPr/>
            </p:nvSpPr>
            <p:spPr bwMode="auto">
              <a:xfrm>
                <a:off x="9570361" y="2571638"/>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6" name="Freeform 329"/>
              <p:cNvSpPr>
                <a:spLocks noEditPoints="1"/>
              </p:cNvSpPr>
              <p:nvPr/>
            </p:nvSpPr>
            <p:spPr bwMode="auto">
              <a:xfrm>
                <a:off x="107879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7" name="Freeform 330"/>
              <p:cNvSpPr>
                <a:spLocks noEditPoints="1"/>
              </p:cNvSpPr>
              <p:nvPr/>
            </p:nvSpPr>
            <p:spPr bwMode="auto">
              <a:xfrm>
                <a:off x="12008761" y="2571638"/>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grpSp>
        <p:grpSp>
          <p:nvGrpSpPr>
            <p:cNvPr id="115" name="Group 58"/>
            <p:cNvGrpSpPr/>
            <p:nvPr userDrawn="1"/>
          </p:nvGrpSpPr>
          <p:grpSpPr>
            <a:xfrm>
              <a:off x="2607344" y="-468621"/>
              <a:ext cx="2608160" cy="1961609"/>
              <a:chOff x="1925461" y="-469483"/>
              <a:chExt cx="5437137" cy="4089296"/>
            </a:xfrm>
            <a:solidFill>
              <a:schemeClr val="accent2">
                <a:lumMod val="60000"/>
                <a:lumOff val="40000"/>
                <a:alpha val="25000"/>
              </a:schemeClr>
            </a:solidFill>
          </p:grpSpPr>
          <p:sp>
            <p:nvSpPr>
              <p:cNvPr id="132"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3"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4"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5"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6" name="Freeform 63"/>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7"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8"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grpSp>
        <p:nvGrpSpPr>
          <p:cNvPr id="116" name="Group 42"/>
          <p:cNvGrpSpPr/>
          <p:nvPr/>
        </p:nvGrpSpPr>
        <p:grpSpPr>
          <a:xfrm>
            <a:off x="1560131" y="2510550"/>
            <a:ext cx="3696591" cy="2780308"/>
            <a:chOff x="1925461" y="-469483"/>
            <a:chExt cx="5437137" cy="4089296"/>
          </a:xfrm>
          <a:solidFill>
            <a:schemeClr val="accent2">
              <a:lumMod val="60000"/>
              <a:lumOff val="40000"/>
              <a:alpha val="45000"/>
            </a:schemeClr>
          </a:solidFill>
        </p:grpSpPr>
        <p:sp>
          <p:nvSpPr>
            <p:cNvPr id="125"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6"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7"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8"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9" name="Freeform 47"/>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0"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1"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nvGrpSpPr>
          <p:cNvPr id="117" name="Group 50"/>
          <p:cNvGrpSpPr/>
          <p:nvPr/>
        </p:nvGrpSpPr>
        <p:grpSpPr>
          <a:xfrm>
            <a:off x="4065969" y="1481669"/>
            <a:ext cx="3696591" cy="2780308"/>
            <a:chOff x="1925461" y="-469483"/>
            <a:chExt cx="5437137" cy="4089296"/>
          </a:xfrm>
          <a:solidFill>
            <a:schemeClr val="accent2">
              <a:alpha val="25000"/>
            </a:schemeClr>
          </a:solidFill>
        </p:grpSpPr>
        <p:sp>
          <p:nvSpPr>
            <p:cNvPr id="118"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19"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0"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1"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2" name="Freeform 55"/>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3"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4"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nvGrpSpPr>
          <p:cNvPr id="271" name="组合 270"/>
          <p:cNvGrpSpPr/>
          <p:nvPr userDrawn="1"/>
        </p:nvGrpSpPr>
        <p:grpSpPr>
          <a:xfrm>
            <a:off x="11431575" y="5114395"/>
            <a:ext cx="3619288" cy="1064058"/>
            <a:chOff x="0" y="3026106"/>
            <a:chExt cx="1581119" cy="710409"/>
          </a:xfrm>
        </p:grpSpPr>
        <p:sp>
          <p:nvSpPr>
            <p:cNvPr id="272" name="文本框 271"/>
            <p:cNvSpPr txBox="1"/>
            <p:nvPr/>
          </p:nvSpPr>
          <p:spPr>
            <a:xfrm>
              <a:off x="3662" y="3303495"/>
              <a:ext cx="1577457" cy="433020"/>
            </a:xfrm>
            <a:prstGeom prst="rect">
              <a:avLst/>
            </a:prstGeom>
            <a:noFill/>
          </p:spPr>
          <p:txBody>
            <a:bodyPr wrap="none" rtlCol="0">
              <a:prstTxWarp prst="textPlain">
                <a:avLst/>
              </a:prstTxWarp>
              <a:spAutoFit/>
            </a:bodyPr>
            <a:lstStyle/>
            <a:p>
              <a:endParaRPr lang="zh-CN" altLang="en-US" sz="16601" b="1" dirty="0">
                <a:solidFill>
                  <a:schemeClr val="bg1"/>
                </a:solidFill>
                <a:latin typeface="+mn-lt"/>
              </a:endParaRPr>
            </a:p>
          </p:txBody>
        </p:sp>
        <p:sp>
          <p:nvSpPr>
            <p:cNvPr id="273" name="矩形 272"/>
            <p:cNvSpPr/>
            <p:nvPr/>
          </p:nvSpPr>
          <p:spPr>
            <a:xfrm>
              <a:off x="0" y="3026106"/>
              <a:ext cx="1251032" cy="218356"/>
            </a:xfrm>
            <a:prstGeom prst="rect">
              <a:avLst/>
            </a:prstGeom>
            <a:noFill/>
          </p:spPr>
          <p:txBody>
            <a:bodyPr wrap="none" numCol="1" rtlCol="0">
              <a:prstTxWarp prst="textPlain">
                <a:avLst/>
              </a:prstTxWarp>
              <a:spAutoFit/>
            </a:bodyPr>
            <a:lstStyle/>
            <a:p>
              <a:pPr lvl="0"/>
              <a:endParaRPr lang="en-US" altLang="zh-CN" sz="16601" b="1" noProof="0" dirty="0">
                <a:solidFill>
                  <a:schemeClr val="bg1"/>
                </a:solidFill>
                <a:latin typeface="+mn-lt"/>
              </a:endParaRPr>
            </a:p>
          </p:txBody>
        </p:sp>
      </p:grpSp>
      <p:sp>
        <p:nvSpPr>
          <p:cNvPr id="12" name="文本占位符 13"/>
          <p:cNvSpPr>
            <a:spLocks noGrp="1"/>
          </p:cNvSpPr>
          <p:nvPr>
            <p:ph type="body" sz="quarter" idx="10" hasCustomPrompt="1"/>
          </p:nvPr>
        </p:nvSpPr>
        <p:spPr>
          <a:xfrm>
            <a:off x="953085" y="6528318"/>
            <a:ext cx="4186808" cy="526514"/>
          </a:xfrm>
        </p:spPr>
        <p:txBody>
          <a:bodyPr anchor="ctr">
            <a:noAutofit/>
          </a:bodyPr>
          <a:lstStyle>
            <a:lvl1pPr marL="0" indent="0" algn="l">
              <a:buNone/>
              <a:defRPr sz="2400" b="0">
                <a:solidFill>
                  <a:schemeClr val="tx1">
                    <a:lumMod val="50000"/>
                    <a:lumOff val="50000"/>
                  </a:schemeClr>
                </a:solidFill>
              </a:defRPr>
            </a:lvl1pPr>
            <a:lvl2pPr marL="457198" indent="0">
              <a:buNone/>
              <a:defRPr/>
            </a:lvl2pPr>
            <a:lvl3pPr marL="914396" indent="0">
              <a:buNone/>
              <a:defRPr/>
            </a:lvl3pPr>
            <a:lvl4pPr marL="1371595" indent="0">
              <a:buNone/>
              <a:defRPr/>
            </a:lvl4pPr>
            <a:lvl5pPr marL="1828795" indent="0">
              <a:buNone/>
              <a:defRPr/>
            </a:lvl5pPr>
          </a:lstStyle>
          <a:p>
            <a:pPr lvl="0"/>
            <a:r>
              <a:rPr lang="zh-CN" altLang="en-US" dirty="0"/>
              <a:t>署名</a:t>
            </a:r>
          </a:p>
        </p:txBody>
      </p:sp>
      <p:sp>
        <p:nvSpPr>
          <p:cNvPr id="13" name="文本占位符 13"/>
          <p:cNvSpPr>
            <a:spLocks noGrp="1"/>
          </p:cNvSpPr>
          <p:nvPr>
            <p:ph type="body" sz="quarter" idx="11" hasCustomPrompt="1"/>
          </p:nvPr>
        </p:nvSpPr>
        <p:spPr>
          <a:xfrm>
            <a:off x="953085" y="7054834"/>
            <a:ext cx="4186808" cy="526514"/>
          </a:xfrm>
        </p:spPr>
        <p:txBody>
          <a:bodyPr anchor="ctr">
            <a:noAutofit/>
          </a:bodyPr>
          <a:lstStyle>
            <a:lvl1pPr marL="0" indent="0" algn="l">
              <a:buNone/>
              <a:defRPr sz="2400" b="0">
                <a:solidFill>
                  <a:schemeClr val="tx1">
                    <a:lumMod val="50000"/>
                    <a:lumOff val="50000"/>
                  </a:schemeClr>
                </a:solidFill>
              </a:defRPr>
            </a:lvl1pPr>
            <a:lvl2pPr marL="457198" indent="0">
              <a:buNone/>
              <a:defRPr/>
            </a:lvl2pPr>
            <a:lvl3pPr marL="914396" indent="0">
              <a:buNone/>
              <a:defRPr/>
            </a:lvl3pPr>
            <a:lvl4pPr marL="1371595" indent="0">
              <a:buNone/>
              <a:defRPr/>
            </a:lvl4pPr>
            <a:lvl5pPr marL="1828795" indent="0">
              <a:buNone/>
              <a:defRPr/>
            </a:lvl5pPr>
          </a:lstStyle>
          <a:p>
            <a:pPr lvl="0"/>
            <a:r>
              <a:rPr lang="zh-CN" altLang="en-US" dirty="0"/>
              <a:t>日期</a:t>
            </a:r>
          </a:p>
        </p:txBody>
      </p:sp>
      <p:sp>
        <p:nvSpPr>
          <p:cNvPr id="9801" name="副标题 2"/>
          <p:cNvSpPr>
            <a:spLocks noGrp="1"/>
          </p:cNvSpPr>
          <p:nvPr userDrawn="1">
            <p:ph type="subTitle" idx="1"/>
          </p:nvPr>
        </p:nvSpPr>
        <p:spPr>
          <a:xfrm>
            <a:off x="952345" y="4301505"/>
            <a:ext cx="15378696" cy="792020"/>
          </a:xfrm>
        </p:spPr>
        <p:txBody>
          <a:bodyPr anchor="ctr">
            <a:normAutofit/>
          </a:bodyPr>
          <a:lstStyle>
            <a:lvl1pPr marL="0" indent="0" algn="l">
              <a:buNone/>
              <a:defRPr sz="2400">
                <a:solidFill>
                  <a:schemeClr val="bg1"/>
                </a:solidFill>
              </a:defRPr>
            </a:lvl1pPr>
            <a:lvl2pPr marL="457199" indent="0" algn="ctr">
              <a:buNone/>
              <a:defRPr sz="2000"/>
            </a:lvl2pPr>
            <a:lvl3pPr marL="914397" indent="0" algn="ctr">
              <a:buNone/>
              <a:defRPr sz="1800"/>
            </a:lvl3pPr>
            <a:lvl4pPr marL="1371596" indent="0" algn="ctr">
              <a:buNone/>
              <a:defRPr sz="1600"/>
            </a:lvl4pPr>
            <a:lvl5pPr marL="1828795" indent="0" algn="ctr">
              <a:buNone/>
              <a:defRPr sz="1600"/>
            </a:lvl5pPr>
            <a:lvl6pPr marL="2285993" indent="0" algn="ctr">
              <a:buNone/>
              <a:defRPr sz="1600"/>
            </a:lvl6pPr>
            <a:lvl7pPr marL="2743191" indent="0" algn="ctr">
              <a:buNone/>
              <a:defRPr sz="1600"/>
            </a:lvl7pPr>
            <a:lvl8pPr marL="3200390" indent="0" algn="ctr">
              <a:buNone/>
              <a:defRPr sz="1600"/>
            </a:lvl8pPr>
            <a:lvl9pPr marL="3657590" indent="0" algn="ctr">
              <a:buNone/>
              <a:defRPr sz="1600"/>
            </a:lvl9pPr>
          </a:lstStyle>
          <a:p>
            <a:endParaRPr lang="zh-CN" altLang="en-US" dirty="0"/>
          </a:p>
        </p:txBody>
      </p:sp>
      <p:sp>
        <p:nvSpPr>
          <p:cNvPr id="9802" name="标题 1"/>
          <p:cNvSpPr>
            <a:spLocks noGrp="1"/>
          </p:cNvSpPr>
          <p:nvPr userDrawn="1">
            <p:ph type="ctrTitle"/>
          </p:nvPr>
        </p:nvSpPr>
        <p:spPr>
          <a:xfrm>
            <a:off x="949497" y="1915624"/>
            <a:ext cx="15378696" cy="2205878"/>
          </a:xfrm>
        </p:spPr>
        <p:txBody>
          <a:bodyPr anchor="b">
            <a:normAutofit/>
          </a:bodyPr>
          <a:lstStyle>
            <a:lvl1pPr algn="l">
              <a:defRPr sz="8800">
                <a:solidFill>
                  <a:schemeClr val="bg1"/>
                </a:solidFill>
              </a:defRPr>
            </a:lvl1pPr>
          </a:lstStyle>
          <a:p>
            <a:endParaRPr lang="zh-CN" altLang="en-US" dirty="0"/>
          </a:p>
        </p:txBody>
      </p:sp>
      <p:sp>
        <p:nvSpPr>
          <p:cNvPr id="274" name="文本框 273"/>
          <p:cNvSpPr txBox="1"/>
          <p:nvPr userDrawn="1"/>
        </p:nvSpPr>
        <p:spPr>
          <a:xfrm>
            <a:off x="11431577" y="6324292"/>
            <a:ext cx="5258287" cy="916521"/>
          </a:xfrm>
          <a:prstGeom prst="rect">
            <a:avLst/>
          </a:prstGeom>
          <a:noFill/>
        </p:spPr>
        <p:txBody>
          <a:bodyPr wrap="none" rtlCol="0">
            <a:prstTxWarp prst="textPlain">
              <a:avLst/>
            </a:prstTxWarp>
            <a:spAutoFit/>
          </a:bodyPr>
          <a:lstStyle/>
          <a:p>
            <a:r>
              <a:rPr lang="en-US" altLang="zh-CN" sz="9600" dirty="0">
                <a:solidFill>
                  <a:srgbClr val="EAECEF"/>
                </a:solidFill>
                <a:latin typeface="Impact" panose="020B0806030902050204" pitchFamily="34" charset="0"/>
              </a:rPr>
              <a:t>BOND MARKET</a:t>
            </a:r>
            <a:endParaRPr lang="zh-CN" altLang="en-US" sz="9600" dirty="0">
              <a:solidFill>
                <a:srgbClr val="EAECEF"/>
              </a:solidFill>
              <a:latin typeface="Impact" panose="020B0806030902050204" pitchFamily="34" charset="0"/>
            </a:endParaRPr>
          </a:p>
        </p:txBody>
      </p:sp>
    </p:spTree>
    <p:extLst>
      <p:ext uri="{BB962C8B-B14F-4D97-AF65-F5344CB8AC3E}">
        <p14:creationId xmlns:p14="http://schemas.microsoft.com/office/powerpoint/2010/main" val="28825868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tx1">
                    <a:lumMod val="85000"/>
                    <a:lumOff val="15000"/>
                  </a:schemeClr>
                </a:solidFill>
              </a:defRPr>
            </a:lvl1pPr>
          </a:lstStyle>
          <a:p>
            <a:r>
              <a:rPr lang="zh-CN" altLang="en-US" dirty="0"/>
              <a:t>单击此处编辑母版标题样式</a:t>
            </a:r>
          </a:p>
        </p:txBody>
      </p:sp>
      <p:sp>
        <p:nvSpPr>
          <p:cNvPr id="3" name="内容占位符 2"/>
          <p:cNvSpPr>
            <a:spLocks noGrp="1"/>
          </p:cNvSpPr>
          <p:nvPr>
            <p:ph idx="1"/>
          </p:nvPr>
        </p:nvSpPr>
        <p:spPr>
          <a:xfrm>
            <a:off x="949497" y="1593045"/>
            <a:ext cx="15378696" cy="7828747"/>
          </a:xfrm>
        </p:spPr>
        <p:txBody>
          <a:bodyPr>
            <a:normAutofit/>
          </a:bodyPr>
          <a:lstStyle>
            <a:lvl1pPr>
              <a:lnSpc>
                <a:spcPct val="150000"/>
              </a:lnSpc>
              <a:defRPr sz="2400">
                <a:solidFill>
                  <a:schemeClr val="tx1">
                    <a:lumMod val="65000"/>
                    <a:lumOff val="35000"/>
                  </a:schemeClr>
                </a:solidFill>
              </a:defRPr>
            </a:lvl1pPr>
            <a:lvl2pPr>
              <a:lnSpc>
                <a:spcPct val="150000"/>
              </a:lnSpc>
              <a:defRPr sz="2400">
                <a:solidFill>
                  <a:schemeClr val="tx1">
                    <a:lumMod val="65000"/>
                    <a:lumOff val="35000"/>
                  </a:schemeClr>
                </a:solidFill>
              </a:defRPr>
            </a:lvl2pPr>
            <a:lvl3pPr>
              <a:lnSpc>
                <a:spcPct val="150000"/>
              </a:lnSpc>
              <a:defRPr sz="2400">
                <a:solidFill>
                  <a:schemeClr val="tx1">
                    <a:lumMod val="65000"/>
                    <a:lumOff val="35000"/>
                  </a:schemeClr>
                </a:solidFill>
              </a:defRPr>
            </a:lvl3pPr>
            <a:lvl4pPr>
              <a:lnSpc>
                <a:spcPct val="150000"/>
              </a:lnSpc>
              <a:defRPr sz="2400">
                <a:solidFill>
                  <a:schemeClr val="tx1">
                    <a:lumMod val="65000"/>
                    <a:lumOff val="35000"/>
                  </a:schemeClr>
                </a:solidFill>
              </a:defRPr>
            </a:lvl4pPr>
            <a:lvl5pPr>
              <a:lnSpc>
                <a:spcPct val="150000"/>
              </a:lnSpc>
              <a:defRPr sz="24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568967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49497" y="2"/>
            <a:ext cx="15378696" cy="1458038"/>
          </a:xfrm>
        </p:spPr>
        <p:txBody>
          <a:bodyPr/>
          <a:lstStyle>
            <a:lvl1pPr>
              <a:defRPr>
                <a:solidFill>
                  <a:schemeClr val="tx1">
                    <a:lumMod val="85000"/>
                    <a:lumOff val="15000"/>
                  </a:schemeClr>
                </a:solidFill>
              </a:defRPr>
            </a:lvl1pPr>
          </a:lstStyle>
          <a:p>
            <a:r>
              <a:rPr lang="zh-CN" altLang="en-US" dirty="0"/>
              <a:t>单击此处编辑母版标题样式</a:t>
            </a:r>
          </a:p>
        </p:txBody>
      </p:sp>
      <p:sp>
        <p:nvSpPr>
          <p:cNvPr id="3" name="内容占位符 2"/>
          <p:cNvSpPr>
            <a:spLocks noGrp="1"/>
          </p:cNvSpPr>
          <p:nvPr>
            <p:ph idx="1"/>
          </p:nvPr>
        </p:nvSpPr>
        <p:spPr>
          <a:xfrm>
            <a:off x="949497" y="2581154"/>
            <a:ext cx="15466444" cy="6794339"/>
          </a:xfrm>
        </p:spPr>
        <p:txBody>
          <a:bodyPr>
            <a:normAutofit/>
          </a:bodyPr>
          <a:lstStyle>
            <a:lvl1pPr>
              <a:lnSpc>
                <a:spcPct val="150000"/>
              </a:lnSpc>
              <a:defRPr sz="2400">
                <a:solidFill>
                  <a:schemeClr val="tx1">
                    <a:lumMod val="65000"/>
                    <a:lumOff val="35000"/>
                  </a:schemeClr>
                </a:solidFill>
              </a:defRPr>
            </a:lvl1pPr>
            <a:lvl2pPr>
              <a:lnSpc>
                <a:spcPct val="150000"/>
              </a:lnSpc>
              <a:defRPr sz="2400">
                <a:solidFill>
                  <a:schemeClr val="tx1">
                    <a:lumMod val="65000"/>
                    <a:lumOff val="35000"/>
                  </a:schemeClr>
                </a:solidFill>
              </a:defRPr>
            </a:lvl2pPr>
            <a:lvl3pPr>
              <a:lnSpc>
                <a:spcPct val="150000"/>
              </a:lnSpc>
              <a:defRPr sz="2400">
                <a:solidFill>
                  <a:schemeClr val="tx1">
                    <a:lumMod val="65000"/>
                    <a:lumOff val="35000"/>
                  </a:schemeClr>
                </a:solidFill>
              </a:defRPr>
            </a:lvl3pPr>
            <a:lvl4pPr>
              <a:lnSpc>
                <a:spcPct val="150000"/>
              </a:lnSpc>
              <a:defRPr sz="2400">
                <a:solidFill>
                  <a:schemeClr val="tx1">
                    <a:lumMod val="65000"/>
                    <a:lumOff val="35000"/>
                  </a:schemeClr>
                </a:solidFill>
              </a:defRPr>
            </a:lvl4pPr>
            <a:lvl5pPr>
              <a:lnSpc>
                <a:spcPct val="150000"/>
              </a:lnSpc>
              <a:defRPr sz="24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2">
            <a:extLst>
              <a:ext uri="{FF2B5EF4-FFF2-40B4-BE49-F238E27FC236}">
                <a16:creationId xmlns:a16="http://schemas.microsoft.com/office/drawing/2014/main" id="{25B6E052-3943-4930-B023-9775FD793AC5}"/>
              </a:ext>
            </a:extLst>
          </p:cNvPr>
          <p:cNvSpPr>
            <a:spLocks noGrp="1"/>
          </p:cNvSpPr>
          <p:nvPr>
            <p:ph type="body" idx="10"/>
          </p:nvPr>
        </p:nvSpPr>
        <p:spPr>
          <a:xfrm>
            <a:off x="949497" y="1503885"/>
            <a:ext cx="15466444" cy="906774"/>
          </a:xfrm>
        </p:spPr>
        <p:txBody>
          <a:bodyPr anchor="b">
            <a:noAutofit/>
          </a:bodyPr>
          <a:lstStyle>
            <a:lvl1pPr marL="285763" indent="-285763">
              <a:buFont typeface="Arial" panose="020B0604020202020204" pitchFamily="34" charset="0"/>
              <a:buChar char="•"/>
              <a:defRPr sz="2800" b="0">
                <a:latin typeface="微软雅黑" panose="020B0503020204020204" pitchFamily="34" charset="-122"/>
                <a:ea typeface="微软雅黑" panose="020B0503020204020204" pitchFamily="34" charset="-122"/>
              </a:defRPr>
            </a:lvl1pPr>
            <a:lvl2pPr marL="742985" indent="-285763">
              <a:buFont typeface="Arial" panose="020B0604020202020204" pitchFamily="34" charset="0"/>
              <a:buChar char="•"/>
              <a:defRPr sz="1400" b="0"/>
            </a:lvl2pPr>
            <a:lvl3pPr marL="914443" indent="0">
              <a:buNone/>
              <a:defRPr sz="1800" b="1"/>
            </a:lvl3pPr>
            <a:lvl4pPr marL="1371665" indent="0">
              <a:buNone/>
              <a:defRPr sz="1600" b="1"/>
            </a:lvl4pPr>
            <a:lvl5pPr marL="1828886" indent="0">
              <a:buNone/>
              <a:defRPr sz="1600" b="1"/>
            </a:lvl5pPr>
            <a:lvl6pPr marL="2286107" indent="0">
              <a:buNone/>
              <a:defRPr sz="1600" b="1"/>
            </a:lvl6pPr>
            <a:lvl7pPr marL="2743328" indent="0">
              <a:buNone/>
              <a:defRPr sz="1600" b="1"/>
            </a:lvl7pPr>
            <a:lvl8pPr marL="3200550" indent="0">
              <a:buNone/>
              <a:defRPr sz="1600" b="1"/>
            </a:lvl8pPr>
            <a:lvl9pPr marL="3657771" indent="0">
              <a:buNone/>
              <a:defRPr sz="1600" b="1"/>
            </a:lvl9pPr>
          </a:lstStyle>
          <a:p>
            <a:pPr lvl="0"/>
            <a:r>
              <a:rPr lang="zh-CN" altLang="en-US" dirty="0"/>
              <a:t>编辑母版文本样式</a:t>
            </a:r>
          </a:p>
        </p:txBody>
      </p:sp>
    </p:spTree>
    <p:extLst>
      <p:ext uri="{BB962C8B-B14F-4D97-AF65-F5344CB8AC3E}">
        <p14:creationId xmlns:p14="http://schemas.microsoft.com/office/powerpoint/2010/main" val="2844401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49497" y="2"/>
            <a:ext cx="15466444" cy="1458038"/>
          </a:xfrm>
        </p:spPr>
        <p:txBody>
          <a:bodyPr/>
          <a:lstStyle>
            <a:lvl1pPr>
              <a:defRPr>
                <a:solidFill>
                  <a:schemeClr val="tx1">
                    <a:lumMod val="85000"/>
                    <a:lumOff val="15000"/>
                  </a:schemeClr>
                </a:solidFill>
              </a:defRPr>
            </a:lvl1pPr>
          </a:lstStyle>
          <a:p>
            <a:r>
              <a:rPr lang="zh-CN" altLang="en-US" dirty="0"/>
              <a:t>单击此处编辑母版标题样式</a:t>
            </a:r>
          </a:p>
        </p:txBody>
      </p:sp>
      <p:sp>
        <p:nvSpPr>
          <p:cNvPr id="3" name="内容占位符 2"/>
          <p:cNvSpPr>
            <a:spLocks noGrp="1"/>
          </p:cNvSpPr>
          <p:nvPr>
            <p:ph idx="1"/>
          </p:nvPr>
        </p:nvSpPr>
        <p:spPr>
          <a:xfrm>
            <a:off x="949497" y="2963119"/>
            <a:ext cx="15466444" cy="6412374"/>
          </a:xfrm>
        </p:spPr>
        <p:txBody>
          <a:bodyPr>
            <a:normAutofit/>
          </a:bodyPr>
          <a:lstStyle>
            <a:lvl1pPr>
              <a:lnSpc>
                <a:spcPct val="150000"/>
              </a:lnSpc>
              <a:defRPr sz="2400">
                <a:solidFill>
                  <a:schemeClr val="tx1">
                    <a:lumMod val="65000"/>
                    <a:lumOff val="35000"/>
                  </a:schemeClr>
                </a:solidFill>
              </a:defRPr>
            </a:lvl1pPr>
            <a:lvl2pPr>
              <a:lnSpc>
                <a:spcPct val="150000"/>
              </a:lnSpc>
              <a:defRPr sz="2400">
                <a:solidFill>
                  <a:schemeClr val="tx1">
                    <a:lumMod val="65000"/>
                    <a:lumOff val="35000"/>
                  </a:schemeClr>
                </a:solidFill>
              </a:defRPr>
            </a:lvl2pPr>
            <a:lvl3pPr>
              <a:lnSpc>
                <a:spcPct val="150000"/>
              </a:lnSpc>
              <a:defRPr sz="2400">
                <a:solidFill>
                  <a:schemeClr val="tx1">
                    <a:lumMod val="65000"/>
                    <a:lumOff val="35000"/>
                  </a:schemeClr>
                </a:solidFill>
              </a:defRPr>
            </a:lvl3pPr>
            <a:lvl4pPr>
              <a:lnSpc>
                <a:spcPct val="150000"/>
              </a:lnSpc>
              <a:defRPr sz="2400">
                <a:solidFill>
                  <a:schemeClr val="tx1">
                    <a:lumMod val="65000"/>
                    <a:lumOff val="35000"/>
                  </a:schemeClr>
                </a:solidFill>
              </a:defRPr>
            </a:lvl4pPr>
            <a:lvl5pPr>
              <a:lnSpc>
                <a:spcPct val="150000"/>
              </a:lnSpc>
              <a:defRPr sz="24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2">
            <a:extLst>
              <a:ext uri="{FF2B5EF4-FFF2-40B4-BE49-F238E27FC236}">
                <a16:creationId xmlns:a16="http://schemas.microsoft.com/office/drawing/2014/main" id="{25B6E052-3943-4930-B023-9775FD793AC5}"/>
              </a:ext>
            </a:extLst>
          </p:cNvPr>
          <p:cNvSpPr>
            <a:spLocks noGrp="1"/>
          </p:cNvSpPr>
          <p:nvPr>
            <p:ph type="body" idx="10"/>
          </p:nvPr>
        </p:nvSpPr>
        <p:spPr>
          <a:xfrm>
            <a:off x="949497" y="1608881"/>
            <a:ext cx="15466444" cy="1203766"/>
          </a:xfrm>
        </p:spPr>
        <p:txBody>
          <a:bodyPr anchor="b">
            <a:noAutofit/>
          </a:bodyPr>
          <a:lstStyle>
            <a:lvl1pPr marL="342900" marR="0" indent="-342900" algn="l" defTabSz="914397" rtl="0" eaLnBrk="1" fontAlgn="auto" latinLnBrk="0" hangingPunct="1">
              <a:lnSpc>
                <a:spcPct val="150000"/>
              </a:lnSpc>
              <a:spcBef>
                <a:spcPts val="1000"/>
              </a:spcBef>
              <a:spcAft>
                <a:spcPts val="0"/>
              </a:spcAft>
              <a:buClrTx/>
              <a:buSzTx/>
              <a:buFont typeface="Arial" panose="020B0604020202020204" pitchFamily="34" charset="0"/>
              <a:buChar char="•"/>
              <a:tabLst/>
              <a:defRPr sz="2400" b="0">
                <a:latin typeface="微软雅黑" panose="020B0503020204020204" pitchFamily="34" charset="-122"/>
                <a:ea typeface="微软雅黑" panose="020B0503020204020204" pitchFamily="34" charset="-122"/>
              </a:defRPr>
            </a:lvl1pPr>
            <a:lvl2pPr marL="742985" indent="-285763">
              <a:buFont typeface="Arial" panose="020B0604020202020204" pitchFamily="34" charset="0"/>
              <a:buChar char="•"/>
              <a:defRPr sz="1400" b="0"/>
            </a:lvl2pPr>
            <a:lvl3pPr marL="914443" indent="0">
              <a:buNone/>
              <a:defRPr sz="1800" b="1"/>
            </a:lvl3pPr>
            <a:lvl4pPr marL="1371665" indent="0">
              <a:buNone/>
              <a:defRPr sz="1600" b="1"/>
            </a:lvl4pPr>
            <a:lvl5pPr marL="1828886" indent="0">
              <a:buNone/>
              <a:defRPr sz="1600" b="1"/>
            </a:lvl5pPr>
            <a:lvl6pPr marL="2286107" indent="0">
              <a:buNone/>
              <a:defRPr sz="1600" b="1"/>
            </a:lvl6pPr>
            <a:lvl7pPr marL="2743328" indent="0">
              <a:buNone/>
              <a:defRPr sz="1600" b="1"/>
            </a:lvl7pPr>
            <a:lvl8pPr marL="3200550" indent="0">
              <a:buNone/>
              <a:defRPr sz="1600" b="1"/>
            </a:lvl8pPr>
            <a:lvl9pPr marL="3657771" indent="0">
              <a:buNone/>
              <a:defRPr sz="1600" b="1"/>
            </a:lvl9pPr>
          </a:lstStyle>
          <a:p>
            <a:pPr lvl="0"/>
            <a:r>
              <a:rPr lang="zh-CN" altLang="en-US" dirty="0"/>
              <a:t>编辑母版文本样式</a:t>
            </a:r>
            <a:endParaRPr lang="en-US" altLang="zh-CN" dirty="0"/>
          </a:p>
          <a:p>
            <a:pPr marL="285763" marR="0" lvl="0" indent="-285763" algn="l" defTabSz="914397" rtl="0" eaLnBrk="1" fontAlgn="auto" latinLnBrk="0" hangingPunct="1">
              <a:lnSpc>
                <a:spcPct val="150000"/>
              </a:lnSpc>
              <a:spcBef>
                <a:spcPts val="1000"/>
              </a:spcBef>
              <a:spcAft>
                <a:spcPts val="0"/>
              </a:spcAft>
              <a:buClrTx/>
              <a:buSzTx/>
              <a:buFont typeface="Arial" panose="020B0604020202020204" pitchFamily="34" charset="0"/>
              <a:buChar char="•"/>
              <a:tabLst/>
              <a:defRPr/>
            </a:pPr>
            <a:r>
              <a:rPr lang="zh-CN" altLang="en-US" dirty="0"/>
              <a:t>编辑母版文本样式</a:t>
            </a:r>
          </a:p>
        </p:txBody>
      </p:sp>
    </p:spTree>
    <p:extLst>
      <p:ext uri="{BB962C8B-B14F-4D97-AF65-F5344CB8AC3E}">
        <p14:creationId xmlns:p14="http://schemas.microsoft.com/office/powerpoint/2010/main" val="3942633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5" name="圆角矩形 5">
            <a:extLst>
              <a:ext uri="{FF2B5EF4-FFF2-40B4-BE49-F238E27FC236}">
                <a16:creationId xmlns:a16="http://schemas.microsoft.com/office/drawing/2014/main" id="{ED1F311C-D1FD-4E92-8BA5-CF12C8E3C835}"/>
              </a:ext>
            </a:extLst>
          </p:cNvPr>
          <p:cNvSpPr>
            <a:spLocks noChangeAspect="1" noChangeArrowheads="1"/>
          </p:cNvSpPr>
          <p:nvPr userDrawn="1"/>
        </p:nvSpPr>
        <p:spPr bwMode="auto">
          <a:xfrm>
            <a:off x="1" y="0"/>
            <a:ext cx="17279937" cy="1587642"/>
          </a:xfrm>
          <a:prstGeom prst="roundRect">
            <a:avLst>
              <a:gd name="adj" fmla="val 0"/>
            </a:avLst>
          </a:prstGeom>
          <a:solidFill>
            <a:schemeClr val="accent5"/>
          </a:solidFill>
          <a:ln>
            <a:noFill/>
          </a:ln>
        </p:spPr>
        <p:txBody>
          <a:bodyPr anchor="ctr"/>
          <a:lstStyle>
            <a:lvl1pPr>
              <a:lnSpc>
                <a:spcPct val="125000"/>
              </a:lnSpc>
              <a:spcBef>
                <a:spcPts val="1000"/>
              </a:spcBef>
              <a:buFont typeface="Arial" panose="020B0604020202020204" pitchFamily="34" charset="0"/>
              <a:buChar char="•"/>
              <a:defRPr sz="2000">
                <a:solidFill>
                  <a:schemeClr val="tx1"/>
                </a:solidFill>
                <a:latin typeface="Segoe UI" panose="020B0502040204020203" pitchFamily="34" charset="0"/>
                <a:ea typeface="微软雅黑" panose="020B0503020204020204" pitchFamily="34" charset="-122"/>
              </a:defRPr>
            </a:lvl1pPr>
            <a:lvl2pPr marL="742950" indent="-285750">
              <a:lnSpc>
                <a:spcPct val="125000"/>
              </a:lnSpc>
              <a:spcBef>
                <a:spcPts val="500"/>
              </a:spcBef>
              <a:buFont typeface="Arial" panose="020B0604020202020204" pitchFamily="34" charset="0"/>
              <a:buChar char="•"/>
              <a:defRPr>
                <a:solidFill>
                  <a:schemeClr val="tx1"/>
                </a:solidFill>
                <a:latin typeface="Segoe UI" panose="020B0502040204020203" pitchFamily="34" charset="0"/>
                <a:ea typeface="微软雅黑" panose="020B0503020204020204" pitchFamily="34" charset="-122"/>
              </a:defRPr>
            </a:lvl2pPr>
            <a:lvl3pPr marL="1143000" indent="-228600">
              <a:lnSpc>
                <a:spcPct val="125000"/>
              </a:lnSpc>
              <a:spcBef>
                <a:spcPts val="500"/>
              </a:spcBef>
              <a:buFont typeface="Arial" panose="020B0604020202020204" pitchFamily="34" charset="0"/>
              <a:buChar char="•"/>
              <a:defRPr sz="1600">
                <a:solidFill>
                  <a:schemeClr val="tx1"/>
                </a:solidFill>
                <a:latin typeface="Segoe UI" panose="020B0502040204020203" pitchFamily="34" charset="0"/>
                <a:ea typeface="微软雅黑" panose="020B0503020204020204" pitchFamily="34" charset="-122"/>
              </a:defRPr>
            </a:lvl3pPr>
            <a:lvl4pPr marL="16002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4pPr>
            <a:lvl5pPr marL="20574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5pPr>
            <a:lvl6pPr marL="25146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6pPr>
            <a:lvl7pPr marL="29718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7pPr>
            <a:lvl8pPr marL="34290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8pPr>
            <a:lvl9pPr marL="38862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9pPr>
          </a:lstStyle>
          <a:p>
            <a:pPr algn="ctr" eaLnBrk="1" hangingPunct="1">
              <a:lnSpc>
                <a:spcPct val="100000"/>
              </a:lnSpc>
              <a:spcBef>
                <a:spcPct val="0"/>
              </a:spcBef>
              <a:buFont typeface="Arial" panose="020B0604020202020204" pitchFamily="34" charset="0"/>
              <a:buNone/>
            </a:pPr>
            <a:endParaRPr lang="zh-CN" altLang="en-US" sz="1800" dirty="0">
              <a:solidFill>
                <a:srgbClr val="FFFFFF"/>
              </a:solidFill>
            </a:endParaRPr>
          </a:p>
        </p:txBody>
      </p:sp>
      <p:sp>
        <p:nvSpPr>
          <p:cNvPr id="2" name="标题 1"/>
          <p:cNvSpPr>
            <a:spLocks noGrp="1"/>
          </p:cNvSpPr>
          <p:nvPr>
            <p:ph type="title" hasCustomPrompt="1"/>
          </p:nvPr>
        </p:nvSpPr>
        <p:spPr>
          <a:xfrm>
            <a:off x="2563191" y="3"/>
            <a:ext cx="14716747" cy="1489646"/>
          </a:xfrm>
          <a:solidFill>
            <a:schemeClr val="bg1"/>
          </a:solidFill>
        </p:spPr>
        <p:txBody>
          <a:bodyPr/>
          <a:lstStyle>
            <a:lvl1pPr>
              <a:defRPr b="1">
                <a:solidFill>
                  <a:schemeClr val="accent5"/>
                </a:solidFill>
                <a:effectLst/>
              </a:defRPr>
            </a:lvl1pPr>
          </a:lstStyle>
          <a:p>
            <a:r>
              <a:rPr lang="zh-CN" altLang="en-US" dirty="0"/>
              <a:t>  单击此处编辑母版标题样式</a:t>
            </a:r>
          </a:p>
        </p:txBody>
      </p:sp>
      <p:sp>
        <p:nvSpPr>
          <p:cNvPr id="7" name="圆角矩形 5">
            <a:extLst>
              <a:ext uri="{FF2B5EF4-FFF2-40B4-BE49-F238E27FC236}">
                <a16:creationId xmlns:a16="http://schemas.microsoft.com/office/drawing/2014/main" id="{25B1474D-C9AF-4043-9615-F37494C3C669}"/>
              </a:ext>
            </a:extLst>
          </p:cNvPr>
          <p:cNvSpPr>
            <a:spLocks noChangeAspect="1" noChangeArrowheads="1"/>
          </p:cNvSpPr>
          <p:nvPr userDrawn="1"/>
        </p:nvSpPr>
        <p:spPr bwMode="auto">
          <a:xfrm>
            <a:off x="2" y="9674543"/>
            <a:ext cx="17279937" cy="45719"/>
          </a:xfrm>
          <a:prstGeom prst="roundRect">
            <a:avLst>
              <a:gd name="adj" fmla="val 0"/>
            </a:avLst>
          </a:prstGeom>
          <a:solidFill>
            <a:schemeClr val="accent5"/>
          </a:solidFill>
          <a:ln>
            <a:noFill/>
          </a:ln>
        </p:spPr>
        <p:txBody>
          <a:bodyPr anchor="ctr"/>
          <a:lstStyle>
            <a:lvl1pPr>
              <a:lnSpc>
                <a:spcPct val="125000"/>
              </a:lnSpc>
              <a:spcBef>
                <a:spcPts val="1000"/>
              </a:spcBef>
              <a:buFont typeface="Arial" panose="020B0604020202020204" pitchFamily="34" charset="0"/>
              <a:buChar char="•"/>
              <a:defRPr sz="2000">
                <a:solidFill>
                  <a:schemeClr val="tx1"/>
                </a:solidFill>
                <a:latin typeface="Segoe UI" panose="020B0502040204020203" pitchFamily="34" charset="0"/>
                <a:ea typeface="微软雅黑" panose="020B0503020204020204" pitchFamily="34" charset="-122"/>
              </a:defRPr>
            </a:lvl1pPr>
            <a:lvl2pPr marL="742950" indent="-285750">
              <a:lnSpc>
                <a:spcPct val="125000"/>
              </a:lnSpc>
              <a:spcBef>
                <a:spcPts val="500"/>
              </a:spcBef>
              <a:buFont typeface="Arial" panose="020B0604020202020204" pitchFamily="34" charset="0"/>
              <a:buChar char="•"/>
              <a:defRPr>
                <a:solidFill>
                  <a:schemeClr val="tx1"/>
                </a:solidFill>
                <a:latin typeface="Segoe UI" panose="020B0502040204020203" pitchFamily="34" charset="0"/>
                <a:ea typeface="微软雅黑" panose="020B0503020204020204" pitchFamily="34" charset="-122"/>
              </a:defRPr>
            </a:lvl2pPr>
            <a:lvl3pPr marL="1143000" indent="-228600">
              <a:lnSpc>
                <a:spcPct val="125000"/>
              </a:lnSpc>
              <a:spcBef>
                <a:spcPts val="500"/>
              </a:spcBef>
              <a:buFont typeface="Arial" panose="020B0604020202020204" pitchFamily="34" charset="0"/>
              <a:buChar char="•"/>
              <a:defRPr sz="1600">
                <a:solidFill>
                  <a:schemeClr val="tx1"/>
                </a:solidFill>
                <a:latin typeface="Segoe UI" panose="020B0502040204020203" pitchFamily="34" charset="0"/>
                <a:ea typeface="微软雅黑" panose="020B0503020204020204" pitchFamily="34" charset="-122"/>
              </a:defRPr>
            </a:lvl3pPr>
            <a:lvl4pPr marL="16002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4pPr>
            <a:lvl5pPr marL="20574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5pPr>
            <a:lvl6pPr marL="25146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6pPr>
            <a:lvl7pPr marL="29718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7pPr>
            <a:lvl8pPr marL="34290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8pPr>
            <a:lvl9pPr marL="38862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9pPr>
          </a:lstStyle>
          <a:p>
            <a:pPr algn="ctr" eaLnBrk="1" hangingPunct="1">
              <a:lnSpc>
                <a:spcPct val="100000"/>
              </a:lnSpc>
              <a:spcBef>
                <a:spcPct val="0"/>
              </a:spcBef>
              <a:buFont typeface="Arial" panose="020B0604020202020204" pitchFamily="34" charset="0"/>
              <a:buNone/>
            </a:pPr>
            <a:endParaRPr lang="zh-CN" altLang="en-US" sz="1800">
              <a:solidFill>
                <a:srgbClr val="FFFFFF"/>
              </a:solidFill>
            </a:endParaRPr>
          </a:p>
        </p:txBody>
      </p:sp>
      <p:sp>
        <p:nvSpPr>
          <p:cNvPr id="4" name="标题 1">
            <a:extLst>
              <a:ext uri="{FF2B5EF4-FFF2-40B4-BE49-F238E27FC236}">
                <a16:creationId xmlns:a16="http://schemas.microsoft.com/office/drawing/2014/main" id="{0DFF20E2-CFDC-4FDA-95D1-45C9C72B1174}"/>
              </a:ext>
            </a:extLst>
          </p:cNvPr>
          <p:cNvSpPr txBox="1">
            <a:spLocks/>
          </p:cNvSpPr>
          <p:nvPr userDrawn="1"/>
        </p:nvSpPr>
        <p:spPr>
          <a:xfrm>
            <a:off x="1220396" y="367252"/>
            <a:ext cx="1342795" cy="1035951"/>
          </a:xfrm>
          <a:prstGeom prst="rect">
            <a:avLst/>
          </a:prstGeom>
          <a:noFill/>
        </p:spPr>
        <p:txBody>
          <a:bodyPr vert="horz" lIns="91440" tIns="45720" rIns="91440" bIns="45720" rtlCol="0" anchor="b">
            <a:normAutofit/>
          </a:bodyPr>
          <a:lstStyle>
            <a:lvl1pPr algn="l" defTabSz="914397" rtl="0" eaLnBrk="1" latinLnBrk="0" hangingPunct="1">
              <a:lnSpc>
                <a:spcPct val="90000"/>
              </a:lnSpc>
              <a:spcBef>
                <a:spcPct val="0"/>
              </a:spcBef>
              <a:buNone/>
              <a:defRPr sz="2800" b="1" kern="1200">
                <a:solidFill>
                  <a:schemeClr val="tx1">
                    <a:lumMod val="85000"/>
                    <a:lumOff val="15000"/>
                  </a:schemeClr>
                </a:solidFill>
                <a:latin typeface="+mj-lt"/>
                <a:ea typeface="+mj-ea"/>
                <a:cs typeface="+mj-cs"/>
              </a:defRPr>
            </a:lvl1pPr>
          </a:lstStyle>
          <a:p>
            <a:r>
              <a:rPr lang="zh-CN" altLang="en-US" sz="2800" dirty="0">
                <a:solidFill>
                  <a:schemeClr val="bg1"/>
                </a:solidFill>
                <a:effectLst>
                  <a:outerShdw blurRad="38100" dist="38100" dir="2700000" algn="tl">
                    <a:srgbClr val="000000">
                      <a:alpha val="43137"/>
                    </a:srgbClr>
                  </a:outerShdw>
                </a:effectLst>
              </a:rPr>
              <a:t>案例</a:t>
            </a:r>
          </a:p>
        </p:txBody>
      </p:sp>
      <p:sp>
        <p:nvSpPr>
          <p:cNvPr id="6" name="KSO_Shape">
            <a:extLst>
              <a:ext uri="{FF2B5EF4-FFF2-40B4-BE49-F238E27FC236}">
                <a16:creationId xmlns:a16="http://schemas.microsoft.com/office/drawing/2014/main" id="{6AB9EAB4-4D31-40E6-BB6E-01D167ACF888}"/>
              </a:ext>
            </a:extLst>
          </p:cNvPr>
          <p:cNvSpPr>
            <a:spLocks noChangeAspect="1"/>
          </p:cNvSpPr>
          <p:nvPr userDrawn="1"/>
        </p:nvSpPr>
        <p:spPr bwMode="auto">
          <a:xfrm>
            <a:off x="80223" y="184437"/>
            <a:ext cx="1059950" cy="1218766"/>
          </a:xfrm>
          <a:custGeom>
            <a:avLst/>
            <a:gdLst>
              <a:gd name="T0" fmla="*/ 238092 w 4627563"/>
              <a:gd name="T1" fmla="*/ 409385 h 5299074"/>
              <a:gd name="T2" fmla="*/ 232614 w 4627563"/>
              <a:gd name="T3" fmla="*/ 414382 h 5299074"/>
              <a:gd name="T4" fmla="*/ 228238 w 4627563"/>
              <a:gd name="T5" fmla="*/ 408372 h 5299074"/>
              <a:gd name="T6" fmla="*/ 258792 w 4627563"/>
              <a:gd name="T7" fmla="*/ 361234 h 5299074"/>
              <a:gd name="T8" fmla="*/ 266340 w 4627563"/>
              <a:gd name="T9" fmla="*/ 369169 h 5299074"/>
              <a:gd name="T10" fmla="*/ 259601 w 4627563"/>
              <a:gd name="T11" fmla="*/ 377881 h 5299074"/>
              <a:gd name="T12" fmla="*/ 250503 w 4627563"/>
              <a:gd name="T13" fmla="*/ 373626 h 5299074"/>
              <a:gd name="T14" fmla="*/ 251986 w 4627563"/>
              <a:gd name="T15" fmla="*/ 363631 h 5299074"/>
              <a:gd name="T16" fmla="*/ 280733 w 4627563"/>
              <a:gd name="T17" fmla="*/ 321761 h 5299074"/>
              <a:gd name="T18" fmla="*/ 287257 w 4627563"/>
              <a:gd name="T19" fmla="*/ 326927 h 5299074"/>
              <a:gd name="T20" fmla="*/ 287896 w 4627563"/>
              <a:gd name="T21" fmla="*/ 335537 h 5299074"/>
              <a:gd name="T22" fmla="*/ 282146 w 4627563"/>
              <a:gd name="T23" fmla="*/ 341582 h 5299074"/>
              <a:gd name="T24" fmla="*/ 273570 w 4627563"/>
              <a:gd name="T25" fmla="*/ 341345 h 5299074"/>
              <a:gd name="T26" fmla="*/ 268156 w 4627563"/>
              <a:gd name="T27" fmla="*/ 335031 h 5299074"/>
              <a:gd name="T28" fmla="*/ 269199 w 4627563"/>
              <a:gd name="T29" fmla="*/ 326522 h 5299074"/>
              <a:gd name="T30" fmla="*/ 275992 w 4627563"/>
              <a:gd name="T31" fmla="*/ 321659 h 5299074"/>
              <a:gd name="T32" fmla="*/ 232954 w 4627563"/>
              <a:gd name="T33" fmla="*/ 311607 h 5299074"/>
              <a:gd name="T34" fmla="*/ 240412 w 4627563"/>
              <a:gd name="T35" fmla="*/ 324879 h 5299074"/>
              <a:gd name="T36" fmla="*/ 235608 w 4627563"/>
              <a:gd name="T37" fmla="*/ 339573 h 5299074"/>
              <a:gd name="T38" fmla="*/ 221664 w 4627563"/>
              <a:gd name="T39" fmla="*/ 345769 h 5299074"/>
              <a:gd name="T40" fmla="*/ 207721 w 4627563"/>
              <a:gd name="T41" fmla="*/ 339573 h 5299074"/>
              <a:gd name="T42" fmla="*/ 202950 w 4627563"/>
              <a:gd name="T43" fmla="*/ 324879 h 5299074"/>
              <a:gd name="T44" fmla="*/ 210409 w 4627563"/>
              <a:gd name="T45" fmla="*/ 311607 h 5299074"/>
              <a:gd name="T46" fmla="*/ 186827 w 4627563"/>
              <a:gd name="T47" fmla="*/ 290628 h 5299074"/>
              <a:gd name="T48" fmla="*/ 193396 w 4627563"/>
              <a:gd name="T49" fmla="*/ 294793 h 5299074"/>
              <a:gd name="T50" fmla="*/ 194744 w 4627563"/>
              <a:gd name="T51" fmla="*/ 302586 h 5299074"/>
              <a:gd name="T52" fmla="*/ 189960 w 4627563"/>
              <a:gd name="T53" fmla="*/ 308666 h 5299074"/>
              <a:gd name="T54" fmla="*/ 182044 w 4627563"/>
              <a:gd name="T55" fmla="*/ 309237 h 5299074"/>
              <a:gd name="T56" fmla="*/ 176452 w 4627563"/>
              <a:gd name="T57" fmla="*/ 303963 h 5299074"/>
              <a:gd name="T58" fmla="*/ 176654 w 4627563"/>
              <a:gd name="T59" fmla="*/ 296002 h 5299074"/>
              <a:gd name="T60" fmla="*/ 182482 w 4627563"/>
              <a:gd name="T61" fmla="*/ 290964 h 5299074"/>
              <a:gd name="T62" fmla="*/ 250510 w 4627563"/>
              <a:gd name="T63" fmla="*/ 275499 h 5299074"/>
              <a:gd name="T64" fmla="*/ 257429 w 4627563"/>
              <a:gd name="T65" fmla="*/ 284369 h 5299074"/>
              <a:gd name="T66" fmla="*/ 255481 w 4627563"/>
              <a:gd name="T67" fmla="*/ 295802 h 5299074"/>
              <a:gd name="T68" fmla="*/ 245942 w 4627563"/>
              <a:gd name="T69" fmla="*/ 301873 h 5299074"/>
              <a:gd name="T70" fmla="*/ 234858 w 4627563"/>
              <a:gd name="T71" fmla="*/ 298803 h 5299074"/>
              <a:gd name="T72" fmla="*/ 229752 w 4627563"/>
              <a:gd name="T73" fmla="*/ 288652 h 5299074"/>
              <a:gd name="T74" fmla="*/ 233883 w 4627563"/>
              <a:gd name="T75" fmla="*/ 277927 h 5299074"/>
              <a:gd name="T76" fmla="*/ 113649 w 4627563"/>
              <a:gd name="T77" fmla="*/ 255275 h 5299074"/>
              <a:gd name="T78" fmla="*/ 34200 w 4627563"/>
              <a:gd name="T79" fmla="*/ 398933 h 5299074"/>
              <a:gd name="T80" fmla="*/ 42270 w 4627563"/>
              <a:gd name="T81" fmla="*/ 417212 h 5299074"/>
              <a:gd name="T82" fmla="*/ 339386 w 4627563"/>
              <a:gd name="T83" fmla="*/ 426773 h 5299074"/>
              <a:gd name="T84" fmla="*/ 354583 w 4627563"/>
              <a:gd name="T85" fmla="*/ 409745 h 5299074"/>
              <a:gd name="T86" fmla="*/ 358853 w 4627563"/>
              <a:gd name="T87" fmla="*/ 387311 h 5299074"/>
              <a:gd name="T88" fmla="*/ 277236 w 4627563"/>
              <a:gd name="T89" fmla="*/ 256577 h 5299074"/>
              <a:gd name="T90" fmla="*/ 245127 w 4627563"/>
              <a:gd name="T91" fmla="*/ 261788 h 5299074"/>
              <a:gd name="T92" fmla="*/ 143623 w 4627563"/>
              <a:gd name="T93" fmla="*/ 261551 h 5299074"/>
              <a:gd name="T94" fmla="*/ 114338 w 4627563"/>
              <a:gd name="T95" fmla="*/ 256374 h 5299074"/>
              <a:gd name="T96" fmla="*/ 253852 w 4627563"/>
              <a:gd name="T97" fmla="*/ 3950 h 5299074"/>
              <a:gd name="T98" fmla="*/ 263773 w 4627563"/>
              <a:gd name="T99" fmla="*/ 17657 h 5299074"/>
              <a:gd name="T100" fmla="*/ 263134 w 4627563"/>
              <a:gd name="T101" fmla="*/ 32276 h 5299074"/>
              <a:gd name="T102" fmla="*/ 390161 w 4627563"/>
              <a:gd name="T103" fmla="*/ 382517 h 5299074"/>
              <a:gd name="T104" fmla="*/ 391574 w 4627563"/>
              <a:gd name="T105" fmla="*/ 407737 h 5299074"/>
              <a:gd name="T106" fmla="*/ 383435 w 4627563"/>
              <a:gd name="T107" fmla="*/ 431032 h 5299074"/>
              <a:gd name="T108" fmla="*/ 360599 w 4627563"/>
              <a:gd name="T109" fmla="*/ 450850 h 5299074"/>
              <a:gd name="T110" fmla="*/ 9585 w 4627563"/>
              <a:gd name="T111" fmla="*/ 432383 h 5299074"/>
              <a:gd name="T112" fmla="*/ 706 w 4627563"/>
              <a:gd name="T113" fmla="*/ 409053 h 5299074"/>
              <a:gd name="T114" fmla="*/ 1749 w 4627563"/>
              <a:gd name="T115" fmla="*/ 383260 h 5299074"/>
              <a:gd name="T116" fmla="*/ 129247 w 4627563"/>
              <a:gd name="T117" fmla="*/ 33221 h 5299074"/>
              <a:gd name="T118" fmla="*/ 128137 w 4627563"/>
              <a:gd name="T119" fmla="*/ 18467 h 5299074"/>
              <a:gd name="T120" fmla="*/ 137554 w 4627563"/>
              <a:gd name="T121" fmla="*/ 4490 h 52990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4627563" h="5299074">
                <a:moveTo>
                  <a:pt x="2751137" y="4752974"/>
                </a:moveTo>
                <a:lnTo>
                  <a:pt x="2757445" y="4753371"/>
                </a:lnTo>
                <a:lnTo>
                  <a:pt x="2762964" y="4754165"/>
                </a:lnTo>
                <a:lnTo>
                  <a:pt x="2768483" y="4755355"/>
                </a:lnTo>
                <a:lnTo>
                  <a:pt x="2774002" y="4757340"/>
                </a:lnTo>
                <a:lnTo>
                  <a:pt x="2779127" y="4760118"/>
                </a:lnTo>
                <a:lnTo>
                  <a:pt x="2783857" y="4762896"/>
                </a:lnTo>
                <a:lnTo>
                  <a:pt x="2788193" y="4766071"/>
                </a:lnTo>
                <a:lnTo>
                  <a:pt x="2792530" y="4770040"/>
                </a:lnTo>
                <a:lnTo>
                  <a:pt x="2796472" y="4774009"/>
                </a:lnTo>
                <a:lnTo>
                  <a:pt x="2800020" y="4778771"/>
                </a:lnTo>
                <a:lnTo>
                  <a:pt x="2802779" y="4783534"/>
                </a:lnTo>
                <a:lnTo>
                  <a:pt x="2805144" y="4788693"/>
                </a:lnTo>
                <a:lnTo>
                  <a:pt x="2807116" y="4793852"/>
                </a:lnTo>
                <a:lnTo>
                  <a:pt x="2808298" y="4799805"/>
                </a:lnTo>
                <a:lnTo>
                  <a:pt x="2809481" y="4805759"/>
                </a:lnTo>
                <a:lnTo>
                  <a:pt x="2809875" y="4811712"/>
                </a:lnTo>
                <a:lnTo>
                  <a:pt x="2809481" y="4817665"/>
                </a:lnTo>
                <a:lnTo>
                  <a:pt x="2808298" y="4823618"/>
                </a:lnTo>
                <a:lnTo>
                  <a:pt x="2807116" y="4829174"/>
                </a:lnTo>
                <a:lnTo>
                  <a:pt x="2805144" y="4834730"/>
                </a:lnTo>
                <a:lnTo>
                  <a:pt x="2802779" y="4839890"/>
                </a:lnTo>
                <a:lnTo>
                  <a:pt x="2800020" y="4844652"/>
                </a:lnTo>
                <a:lnTo>
                  <a:pt x="2796472" y="4849415"/>
                </a:lnTo>
                <a:lnTo>
                  <a:pt x="2792530" y="4853384"/>
                </a:lnTo>
                <a:lnTo>
                  <a:pt x="2788193" y="4857352"/>
                </a:lnTo>
                <a:lnTo>
                  <a:pt x="2783857" y="4860527"/>
                </a:lnTo>
                <a:lnTo>
                  <a:pt x="2779127" y="4863305"/>
                </a:lnTo>
                <a:lnTo>
                  <a:pt x="2774002" y="4866084"/>
                </a:lnTo>
                <a:lnTo>
                  <a:pt x="2768483" y="4868068"/>
                </a:lnTo>
                <a:lnTo>
                  <a:pt x="2762964" y="4869655"/>
                </a:lnTo>
                <a:lnTo>
                  <a:pt x="2757445" y="4870449"/>
                </a:lnTo>
                <a:lnTo>
                  <a:pt x="2751137" y="4870449"/>
                </a:lnTo>
                <a:lnTo>
                  <a:pt x="2745224" y="4870449"/>
                </a:lnTo>
                <a:lnTo>
                  <a:pt x="2739705" y="4869655"/>
                </a:lnTo>
                <a:lnTo>
                  <a:pt x="2733792" y="4868068"/>
                </a:lnTo>
                <a:lnTo>
                  <a:pt x="2728273" y="4866084"/>
                </a:lnTo>
                <a:lnTo>
                  <a:pt x="2723543" y="4863305"/>
                </a:lnTo>
                <a:lnTo>
                  <a:pt x="2718418" y="4860527"/>
                </a:lnTo>
                <a:lnTo>
                  <a:pt x="2714082" y="4857352"/>
                </a:lnTo>
                <a:lnTo>
                  <a:pt x="2709745" y="4853384"/>
                </a:lnTo>
                <a:lnTo>
                  <a:pt x="2706197" y="4849415"/>
                </a:lnTo>
                <a:lnTo>
                  <a:pt x="2702649" y="4844652"/>
                </a:lnTo>
                <a:lnTo>
                  <a:pt x="2699890" y="4839890"/>
                </a:lnTo>
                <a:lnTo>
                  <a:pt x="2697525" y="4834730"/>
                </a:lnTo>
                <a:lnTo>
                  <a:pt x="2695554" y="4829174"/>
                </a:lnTo>
                <a:lnTo>
                  <a:pt x="2693583" y="4823618"/>
                </a:lnTo>
                <a:lnTo>
                  <a:pt x="2692794" y="4817665"/>
                </a:lnTo>
                <a:lnTo>
                  <a:pt x="2692400" y="4811712"/>
                </a:lnTo>
                <a:lnTo>
                  <a:pt x="2692794" y="4805759"/>
                </a:lnTo>
                <a:lnTo>
                  <a:pt x="2693583" y="4799805"/>
                </a:lnTo>
                <a:lnTo>
                  <a:pt x="2695554" y="4793852"/>
                </a:lnTo>
                <a:lnTo>
                  <a:pt x="2697525" y="4788693"/>
                </a:lnTo>
                <a:lnTo>
                  <a:pt x="2699890" y="4783534"/>
                </a:lnTo>
                <a:lnTo>
                  <a:pt x="2702649" y="4778771"/>
                </a:lnTo>
                <a:lnTo>
                  <a:pt x="2706197" y="4774009"/>
                </a:lnTo>
                <a:lnTo>
                  <a:pt x="2709745" y="4770040"/>
                </a:lnTo>
                <a:lnTo>
                  <a:pt x="2714082" y="4766071"/>
                </a:lnTo>
                <a:lnTo>
                  <a:pt x="2718418" y="4762896"/>
                </a:lnTo>
                <a:lnTo>
                  <a:pt x="2723543" y="4760118"/>
                </a:lnTo>
                <a:lnTo>
                  <a:pt x="2728273" y="4757340"/>
                </a:lnTo>
                <a:lnTo>
                  <a:pt x="2733792" y="4755355"/>
                </a:lnTo>
                <a:lnTo>
                  <a:pt x="2739705" y="4754165"/>
                </a:lnTo>
                <a:lnTo>
                  <a:pt x="2745224" y="4753371"/>
                </a:lnTo>
                <a:lnTo>
                  <a:pt x="2751137" y="4752974"/>
                </a:lnTo>
                <a:close/>
                <a:moveTo>
                  <a:pt x="3043833" y="4244974"/>
                </a:moveTo>
                <a:lnTo>
                  <a:pt x="3049401" y="4245371"/>
                </a:lnTo>
                <a:lnTo>
                  <a:pt x="3054173" y="4245768"/>
                </a:lnTo>
                <a:lnTo>
                  <a:pt x="3059342" y="4246165"/>
                </a:lnTo>
                <a:lnTo>
                  <a:pt x="3063717" y="4246959"/>
                </a:lnTo>
                <a:lnTo>
                  <a:pt x="3073261" y="4249340"/>
                </a:lnTo>
                <a:lnTo>
                  <a:pt x="3082407" y="4252912"/>
                </a:lnTo>
                <a:lnTo>
                  <a:pt x="3091156" y="4256881"/>
                </a:lnTo>
                <a:lnTo>
                  <a:pt x="3099507" y="4262040"/>
                </a:lnTo>
                <a:lnTo>
                  <a:pt x="3107063" y="4267596"/>
                </a:lnTo>
                <a:lnTo>
                  <a:pt x="3114221" y="4273946"/>
                </a:lnTo>
                <a:lnTo>
                  <a:pt x="3120584" y="4281090"/>
                </a:lnTo>
                <a:lnTo>
                  <a:pt x="3126151" y="4289027"/>
                </a:lnTo>
                <a:lnTo>
                  <a:pt x="3131321" y="4296568"/>
                </a:lnTo>
                <a:lnTo>
                  <a:pt x="3135298" y="4305299"/>
                </a:lnTo>
                <a:lnTo>
                  <a:pt x="3138877" y="4314824"/>
                </a:lnTo>
                <a:lnTo>
                  <a:pt x="3141263" y="4324349"/>
                </a:lnTo>
                <a:lnTo>
                  <a:pt x="3142058" y="4329112"/>
                </a:lnTo>
                <a:lnTo>
                  <a:pt x="3142853" y="4334271"/>
                </a:lnTo>
                <a:lnTo>
                  <a:pt x="3143251" y="4339034"/>
                </a:lnTo>
                <a:lnTo>
                  <a:pt x="3143251" y="4344193"/>
                </a:lnTo>
                <a:lnTo>
                  <a:pt x="3143251" y="4348956"/>
                </a:lnTo>
                <a:lnTo>
                  <a:pt x="3142853" y="4354115"/>
                </a:lnTo>
                <a:lnTo>
                  <a:pt x="3142058" y="4359275"/>
                </a:lnTo>
                <a:lnTo>
                  <a:pt x="3141263" y="4364037"/>
                </a:lnTo>
                <a:lnTo>
                  <a:pt x="3138877" y="4373562"/>
                </a:lnTo>
                <a:lnTo>
                  <a:pt x="3135298" y="4382690"/>
                </a:lnTo>
                <a:lnTo>
                  <a:pt x="3131321" y="4391421"/>
                </a:lnTo>
                <a:lnTo>
                  <a:pt x="3126151" y="4399359"/>
                </a:lnTo>
                <a:lnTo>
                  <a:pt x="3120584" y="4407297"/>
                </a:lnTo>
                <a:lnTo>
                  <a:pt x="3114221" y="4414440"/>
                </a:lnTo>
                <a:lnTo>
                  <a:pt x="3107063" y="4420393"/>
                </a:lnTo>
                <a:lnTo>
                  <a:pt x="3099507" y="4426347"/>
                </a:lnTo>
                <a:lnTo>
                  <a:pt x="3091156" y="4431506"/>
                </a:lnTo>
                <a:lnTo>
                  <a:pt x="3082407" y="4435475"/>
                </a:lnTo>
                <a:lnTo>
                  <a:pt x="3073261" y="4438650"/>
                </a:lnTo>
                <a:lnTo>
                  <a:pt x="3063717" y="4441428"/>
                </a:lnTo>
                <a:lnTo>
                  <a:pt x="3059342" y="4442222"/>
                </a:lnTo>
                <a:lnTo>
                  <a:pt x="3054173" y="4442618"/>
                </a:lnTo>
                <a:lnTo>
                  <a:pt x="3049401" y="4443015"/>
                </a:lnTo>
                <a:lnTo>
                  <a:pt x="3043833" y="4443412"/>
                </a:lnTo>
                <a:lnTo>
                  <a:pt x="3038663" y="4443015"/>
                </a:lnTo>
                <a:lnTo>
                  <a:pt x="3033891" y="4442618"/>
                </a:lnTo>
                <a:lnTo>
                  <a:pt x="3028722" y="4442222"/>
                </a:lnTo>
                <a:lnTo>
                  <a:pt x="3023950" y="4441428"/>
                </a:lnTo>
                <a:lnTo>
                  <a:pt x="3014405" y="4438650"/>
                </a:lnTo>
                <a:lnTo>
                  <a:pt x="3005259" y="4435475"/>
                </a:lnTo>
                <a:lnTo>
                  <a:pt x="2996908" y="4431506"/>
                </a:lnTo>
                <a:lnTo>
                  <a:pt x="2988557" y="4426347"/>
                </a:lnTo>
                <a:lnTo>
                  <a:pt x="2981001" y="4420393"/>
                </a:lnTo>
                <a:lnTo>
                  <a:pt x="2973843" y="4414440"/>
                </a:lnTo>
                <a:lnTo>
                  <a:pt x="2967083" y="4407297"/>
                </a:lnTo>
                <a:lnTo>
                  <a:pt x="2961515" y="4399359"/>
                </a:lnTo>
                <a:lnTo>
                  <a:pt x="2956345" y="4391421"/>
                </a:lnTo>
                <a:lnTo>
                  <a:pt x="2952369" y="4382690"/>
                </a:lnTo>
                <a:lnTo>
                  <a:pt x="2948790" y="4373562"/>
                </a:lnTo>
                <a:lnTo>
                  <a:pt x="2946801" y="4364037"/>
                </a:lnTo>
                <a:lnTo>
                  <a:pt x="2945608" y="4359275"/>
                </a:lnTo>
                <a:lnTo>
                  <a:pt x="2945211" y="4354115"/>
                </a:lnTo>
                <a:lnTo>
                  <a:pt x="2944813" y="4348956"/>
                </a:lnTo>
                <a:lnTo>
                  <a:pt x="2944813" y="4344193"/>
                </a:lnTo>
                <a:lnTo>
                  <a:pt x="2944813" y="4339034"/>
                </a:lnTo>
                <a:lnTo>
                  <a:pt x="2945211" y="4334271"/>
                </a:lnTo>
                <a:lnTo>
                  <a:pt x="2945608" y="4329112"/>
                </a:lnTo>
                <a:lnTo>
                  <a:pt x="2946801" y="4324349"/>
                </a:lnTo>
                <a:lnTo>
                  <a:pt x="2948790" y="4314824"/>
                </a:lnTo>
                <a:lnTo>
                  <a:pt x="2952369" y="4305299"/>
                </a:lnTo>
                <a:lnTo>
                  <a:pt x="2956345" y="4296568"/>
                </a:lnTo>
                <a:lnTo>
                  <a:pt x="2961515" y="4289027"/>
                </a:lnTo>
                <a:lnTo>
                  <a:pt x="2967083" y="4281090"/>
                </a:lnTo>
                <a:lnTo>
                  <a:pt x="2973843" y="4273946"/>
                </a:lnTo>
                <a:lnTo>
                  <a:pt x="2981001" y="4267596"/>
                </a:lnTo>
                <a:lnTo>
                  <a:pt x="2988557" y="4262040"/>
                </a:lnTo>
                <a:lnTo>
                  <a:pt x="2996908" y="4256881"/>
                </a:lnTo>
                <a:lnTo>
                  <a:pt x="3005259" y="4252912"/>
                </a:lnTo>
                <a:lnTo>
                  <a:pt x="3014405" y="4249340"/>
                </a:lnTo>
                <a:lnTo>
                  <a:pt x="3023950" y="4246959"/>
                </a:lnTo>
                <a:lnTo>
                  <a:pt x="3028722" y="4246165"/>
                </a:lnTo>
                <a:lnTo>
                  <a:pt x="3033891" y="4245768"/>
                </a:lnTo>
                <a:lnTo>
                  <a:pt x="3038663" y="4245371"/>
                </a:lnTo>
                <a:lnTo>
                  <a:pt x="3043833" y="4244974"/>
                </a:lnTo>
                <a:close/>
                <a:moveTo>
                  <a:pt x="3275806" y="3778249"/>
                </a:moveTo>
                <a:lnTo>
                  <a:pt x="3282157" y="3778249"/>
                </a:lnTo>
                <a:lnTo>
                  <a:pt x="3288507" y="3778249"/>
                </a:lnTo>
                <a:lnTo>
                  <a:pt x="3294460" y="3779043"/>
                </a:lnTo>
                <a:lnTo>
                  <a:pt x="3300810" y="3779440"/>
                </a:lnTo>
                <a:lnTo>
                  <a:pt x="3306763" y="3780631"/>
                </a:lnTo>
                <a:lnTo>
                  <a:pt x="3313113" y="3781821"/>
                </a:lnTo>
                <a:lnTo>
                  <a:pt x="3318669" y="3783806"/>
                </a:lnTo>
                <a:lnTo>
                  <a:pt x="3324622" y="3785790"/>
                </a:lnTo>
                <a:lnTo>
                  <a:pt x="3329782" y="3787774"/>
                </a:lnTo>
                <a:lnTo>
                  <a:pt x="3335338" y="3790156"/>
                </a:lnTo>
                <a:lnTo>
                  <a:pt x="3340894" y="3793331"/>
                </a:lnTo>
                <a:lnTo>
                  <a:pt x="3345657" y="3796109"/>
                </a:lnTo>
                <a:lnTo>
                  <a:pt x="3350816" y="3799284"/>
                </a:lnTo>
                <a:lnTo>
                  <a:pt x="3355579" y="3802856"/>
                </a:lnTo>
                <a:lnTo>
                  <a:pt x="3360341" y="3806427"/>
                </a:lnTo>
                <a:lnTo>
                  <a:pt x="3364707" y="3810396"/>
                </a:lnTo>
                <a:lnTo>
                  <a:pt x="3369072" y="3814365"/>
                </a:lnTo>
                <a:lnTo>
                  <a:pt x="3373041" y="3818731"/>
                </a:lnTo>
                <a:lnTo>
                  <a:pt x="3377010" y="3823096"/>
                </a:lnTo>
                <a:lnTo>
                  <a:pt x="3380582" y="3827859"/>
                </a:lnTo>
                <a:lnTo>
                  <a:pt x="3384154" y="3832621"/>
                </a:lnTo>
                <a:lnTo>
                  <a:pt x="3387329" y="3837781"/>
                </a:lnTo>
                <a:lnTo>
                  <a:pt x="3390107" y="3842543"/>
                </a:lnTo>
                <a:lnTo>
                  <a:pt x="3393282" y="3848099"/>
                </a:lnTo>
                <a:lnTo>
                  <a:pt x="3395663" y="3853656"/>
                </a:lnTo>
                <a:lnTo>
                  <a:pt x="3397647" y="3858815"/>
                </a:lnTo>
                <a:lnTo>
                  <a:pt x="3399235" y="3864768"/>
                </a:lnTo>
                <a:lnTo>
                  <a:pt x="3401219" y="3870324"/>
                </a:lnTo>
                <a:lnTo>
                  <a:pt x="3402807" y="3876278"/>
                </a:lnTo>
                <a:lnTo>
                  <a:pt x="3403601" y="3882628"/>
                </a:lnTo>
                <a:lnTo>
                  <a:pt x="3404394" y="3888978"/>
                </a:lnTo>
                <a:lnTo>
                  <a:pt x="3404791" y="3894931"/>
                </a:lnTo>
                <a:lnTo>
                  <a:pt x="3405188" y="3901281"/>
                </a:lnTo>
                <a:lnTo>
                  <a:pt x="3404791" y="3907631"/>
                </a:lnTo>
                <a:lnTo>
                  <a:pt x="3404394" y="3913584"/>
                </a:lnTo>
                <a:lnTo>
                  <a:pt x="3403601" y="3919934"/>
                </a:lnTo>
                <a:lnTo>
                  <a:pt x="3402807" y="3926284"/>
                </a:lnTo>
                <a:lnTo>
                  <a:pt x="3401219" y="3931840"/>
                </a:lnTo>
                <a:lnTo>
                  <a:pt x="3399235" y="3937793"/>
                </a:lnTo>
                <a:lnTo>
                  <a:pt x="3397647" y="3943746"/>
                </a:lnTo>
                <a:lnTo>
                  <a:pt x="3395663" y="3948906"/>
                </a:lnTo>
                <a:lnTo>
                  <a:pt x="3393282" y="3954462"/>
                </a:lnTo>
                <a:lnTo>
                  <a:pt x="3390107" y="3960018"/>
                </a:lnTo>
                <a:lnTo>
                  <a:pt x="3387329" y="3964781"/>
                </a:lnTo>
                <a:lnTo>
                  <a:pt x="3384154" y="3969940"/>
                </a:lnTo>
                <a:lnTo>
                  <a:pt x="3380582" y="3974703"/>
                </a:lnTo>
                <a:lnTo>
                  <a:pt x="3377010" y="3979465"/>
                </a:lnTo>
                <a:lnTo>
                  <a:pt x="3373041" y="3983831"/>
                </a:lnTo>
                <a:lnTo>
                  <a:pt x="3369072" y="3988197"/>
                </a:lnTo>
                <a:lnTo>
                  <a:pt x="3364707" y="3992165"/>
                </a:lnTo>
                <a:lnTo>
                  <a:pt x="3360341" y="3996134"/>
                </a:lnTo>
                <a:lnTo>
                  <a:pt x="3355579" y="3999706"/>
                </a:lnTo>
                <a:lnTo>
                  <a:pt x="3350816" y="4002881"/>
                </a:lnTo>
                <a:lnTo>
                  <a:pt x="3345657" y="4006453"/>
                </a:lnTo>
                <a:lnTo>
                  <a:pt x="3340894" y="4009231"/>
                </a:lnTo>
                <a:lnTo>
                  <a:pt x="3335338" y="4012009"/>
                </a:lnTo>
                <a:lnTo>
                  <a:pt x="3329782" y="4014787"/>
                </a:lnTo>
                <a:lnTo>
                  <a:pt x="3324622" y="4016772"/>
                </a:lnTo>
                <a:lnTo>
                  <a:pt x="3318669" y="4018756"/>
                </a:lnTo>
                <a:lnTo>
                  <a:pt x="3313113" y="4020343"/>
                </a:lnTo>
                <a:lnTo>
                  <a:pt x="3306763" y="4021534"/>
                </a:lnTo>
                <a:lnTo>
                  <a:pt x="3300810" y="4023122"/>
                </a:lnTo>
                <a:lnTo>
                  <a:pt x="3294460" y="4023518"/>
                </a:lnTo>
                <a:lnTo>
                  <a:pt x="3288507" y="4024312"/>
                </a:lnTo>
                <a:lnTo>
                  <a:pt x="3282157" y="4024312"/>
                </a:lnTo>
                <a:lnTo>
                  <a:pt x="3275806" y="4024312"/>
                </a:lnTo>
                <a:lnTo>
                  <a:pt x="3269853" y="4023518"/>
                </a:lnTo>
                <a:lnTo>
                  <a:pt x="3263503" y="4023122"/>
                </a:lnTo>
                <a:lnTo>
                  <a:pt x="3257153" y="4021534"/>
                </a:lnTo>
                <a:lnTo>
                  <a:pt x="3251597" y="4020343"/>
                </a:lnTo>
                <a:lnTo>
                  <a:pt x="3245644" y="4018756"/>
                </a:lnTo>
                <a:lnTo>
                  <a:pt x="3239691" y="4016772"/>
                </a:lnTo>
                <a:lnTo>
                  <a:pt x="3234531" y="4014787"/>
                </a:lnTo>
                <a:lnTo>
                  <a:pt x="3228578" y="4012009"/>
                </a:lnTo>
                <a:lnTo>
                  <a:pt x="3223419" y="4009231"/>
                </a:lnTo>
                <a:lnTo>
                  <a:pt x="3218259" y="4006453"/>
                </a:lnTo>
                <a:lnTo>
                  <a:pt x="3213100" y="4002881"/>
                </a:lnTo>
                <a:lnTo>
                  <a:pt x="3208734" y="3999706"/>
                </a:lnTo>
                <a:lnTo>
                  <a:pt x="3203972" y="3996134"/>
                </a:lnTo>
                <a:lnTo>
                  <a:pt x="3199606" y="3992165"/>
                </a:lnTo>
                <a:lnTo>
                  <a:pt x="3195241" y="3988197"/>
                </a:lnTo>
                <a:lnTo>
                  <a:pt x="3191272" y="3983831"/>
                </a:lnTo>
                <a:lnTo>
                  <a:pt x="3186906" y="3979465"/>
                </a:lnTo>
                <a:lnTo>
                  <a:pt x="3183731" y="3974703"/>
                </a:lnTo>
                <a:lnTo>
                  <a:pt x="3180159" y="3969940"/>
                </a:lnTo>
                <a:lnTo>
                  <a:pt x="3176984" y="3964781"/>
                </a:lnTo>
                <a:lnTo>
                  <a:pt x="3174206" y="3960018"/>
                </a:lnTo>
                <a:lnTo>
                  <a:pt x="3171428" y="3954462"/>
                </a:lnTo>
                <a:lnTo>
                  <a:pt x="3168650" y="3948906"/>
                </a:lnTo>
                <a:lnTo>
                  <a:pt x="3166666" y="3943746"/>
                </a:lnTo>
                <a:lnTo>
                  <a:pt x="3164681" y="3937793"/>
                </a:lnTo>
                <a:lnTo>
                  <a:pt x="3163094" y="3931840"/>
                </a:lnTo>
                <a:lnTo>
                  <a:pt x="3161506" y="3926284"/>
                </a:lnTo>
                <a:lnTo>
                  <a:pt x="3160316" y="3919934"/>
                </a:lnTo>
                <a:lnTo>
                  <a:pt x="3159522" y="3913584"/>
                </a:lnTo>
                <a:lnTo>
                  <a:pt x="3159125" y="3907631"/>
                </a:lnTo>
                <a:lnTo>
                  <a:pt x="3159125" y="3901281"/>
                </a:lnTo>
                <a:lnTo>
                  <a:pt x="3159125" y="3894931"/>
                </a:lnTo>
                <a:lnTo>
                  <a:pt x="3159522" y="3888978"/>
                </a:lnTo>
                <a:lnTo>
                  <a:pt x="3160316" y="3882628"/>
                </a:lnTo>
                <a:lnTo>
                  <a:pt x="3161506" y="3876278"/>
                </a:lnTo>
                <a:lnTo>
                  <a:pt x="3163094" y="3870324"/>
                </a:lnTo>
                <a:lnTo>
                  <a:pt x="3164681" y="3864768"/>
                </a:lnTo>
                <a:lnTo>
                  <a:pt x="3166666" y="3858815"/>
                </a:lnTo>
                <a:lnTo>
                  <a:pt x="3168650" y="3853656"/>
                </a:lnTo>
                <a:lnTo>
                  <a:pt x="3171428" y="3848099"/>
                </a:lnTo>
                <a:lnTo>
                  <a:pt x="3174206" y="3842543"/>
                </a:lnTo>
                <a:lnTo>
                  <a:pt x="3176984" y="3837781"/>
                </a:lnTo>
                <a:lnTo>
                  <a:pt x="3180159" y="3832621"/>
                </a:lnTo>
                <a:lnTo>
                  <a:pt x="3183731" y="3827859"/>
                </a:lnTo>
                <a:lnTo>
                  <a:pt x="3186906" y="3823096"/>
                </a:lnTo>
                <a:lnTo>
                  <a:pt x="3191272" y="3818731"/>
                </a:lnTo>
                <a:lnTo>
                  <a:pt x="3195241" y="3814365"/>
                </a:lnTo>
                <a:lnTo>
                  <a:pt x="3199606" y="3810396"/>
                </a:lnTo>
                <a:lnTo>
                  <a:pt x="3203972" y="3806427"/>
                </a:lnTo>
                <a:lnTo>
                  <a:pt x="3208734" y="3802856"/>
                </a:lnTo>
                <a:lnTo>
                  <a:pt x="3213100" y="3799284"/>
                </a:lnTo>
                <a:lnTo>
                  <a:pt x="3218259" y="3796109"/>
                </a:lnTo>
                <a:lnTo>
                  <a:pt x="3223419" y="3793331"/>
                </a:lnTo>
                <a:lnTo>
                  <a:pt x="3228578" y="3790156"/>
                </a:lnTo>
                <a:lnTo>
                  <a:pt x="3234531" y="3787774"/>
                </a:lnTo>
                <a:lnTo>
                  <a:pt x="3239691" y="3785790"/>
                </a:lnTo>
                <a:lnTo>
                  <a:pt x="3245644" y="3783806"/>
                </a:lnTo>
                <a:lnTo>
                  <a:pt x="3251597" y="3781821"/>
                </a:lnTo>
                <a:lnTo>
                  <a:pt x="3257153" y="3780631"/>
                </a:lnTo>
                <a:lnTo>
                  <a:pt x="3263503" y="3779440"/>
                </a:lnTo>
                <a:lnTo>
                  <a:pt x="3269853" y="3779043"/>
                </a:lnTo>
                <a:lnTo>
                  <a:pt x="3275806" y="3778249"/>
                </a:lnTo>
                <a:close/>
                <a:moveTo>
                  <a:pt x="2616002" y="3617912"/>
                </a:moveTo>
                <a:lnTo>
                  <a:pt x="2627501" y="3618310"/>
                </a:lnTo>
                <a:lnTo>
                  <a:pt x="2638603" y="3619106"/>
                </a:lnTo>
                <a:lnTo>
                  <a:pt x="2650103" y="3620300"/>
                </a:lnTo>
                <a:lnTo>
                  <a:pt x="2660809" y="3622688"/>
                </a:lnTo>
                <a:lnTo>
                  <a:pt x="2671515" y="3625075"/>
                </a:lnTo>
                <a:lnTo>
                  <a:pt x="2682221" y="3627861"/>
                </a:lnTo>
                <a:lnTo>
                  <a:pt x="2692134" y="3631840"/>
                </a:lnTo>
                <a:lnTo>
                  <a:pt x="2702840" y="3635422"/>
                </a:lnTo>
                <a:lnTo>
                  <a:pt x="2712356" y="3640197"/>
                </a:lnTo>
                <a:lnTo>
                  <a:pt x="2722269" y="3644972"/>
                </a:lnTo>
                <a:lnTo>
                  <a:pt x="2731389" y="3650543"/>
                </a:lnTo>
                <a:lnTo>
                  <a:pt x="2740509" y="3656114"/>
                </a:lnTo>
                <a:lnTo>
                  <a:pt x="2749233" y="3662481"/>
                </a:lnTo>
                <a:lnTo>
                  <a:pt x="2757560" y="3669246"/>
                </a:lnTo>
                <a:lnTo>
                  <a:pt x="2765490" y="3676011"/>
                </a:lnTo>
                <a:lnTo>
                  <a:pt x="2773421" y="3683174"/>
                </a:lnTo>
                <a:lnTo>
                  <a:pt x="2780558" y="3691133"/>
                </a:lnTo>
                <a:lnTo>
                  <a:pt x="2787299" y="3699092"/>
                </a:lnTo>
                <a:lnTo>
                  <a:pt x="2794040" y="3707448"/>
                </a:lnTo>
                <a:lnTo>
                  <a:pt x="2800384" y="3716203"/>
                </a:lnTo>
                <a:lnTo>
                  <a:pt x="2805935" y="3725355"/>
                </a:lnTo>
                <a:lnTo>
                  <a:pt x="2811487" y="3734906"/>
                </a:lnTo>
                <a:lnTo>
                  <a:pt x="2816245" y="3744456"/>
                </a:lnTo>
                <a:lnTo>
                  <a:pt x="2821003" y="3754007"/>
                </a:lnTo>
                <a:lnTo>
                  <a:pt x="2824572" y="3764751"/>
                </a:lnTo>
                <a:lnTo>
                  <a:pt x="2828537" y="3775098"/>
                </a:lnTo>
                <a:lnTo>
                  <a:pt x="2831313" y="3785444"/>
                </a:lnTo>
                <a:lnTo>
                  <a:pt x="2833692" y="3796188"/>
                </a:lnTo>
                <a:lnTo>
                  <a:pt x="2835674" y="3806933"/>
                </a:lnTo>
                <a:lnTo>
                  <a:pt x="2837260" y="3818473"/>
                </a:lnTo>
                <a:lnTo>
                  <a:pt x="2838053" y="3829615"/>
                </a:lnTo>
                <a:lnTo>
                  <a:pt x="2838450" y="3841155"/>
                </a:lnTo>
                <a:lnTo>
                  <a:pt x="2838053" y="3852297"/>
                </a:lnTo>
                <a:lnTo>
                  <a:pt x="2837260" y="3864236"/>
                </a:lnTo>
                <a:lnTo>
                  <a:pt x="2835674" y="3874980"/>
                </a:lnTo>
                <a:lnTo>
                  <a:pt x="2833692" y="3886122"/>
                </a:lnTo>
                <a:lnTo>
                  <a:pt x="2831313" y="3896866"/>
                </a:lnTo>
                <a:lnTo>
                  <a:pt x="2828537" y="3907611"/>
                </a:lnTo>
                <a:lnTo>
                  <a:pt x="2824572" y="3917957"/>
                </a:lnTo>
                <a:lnTo>
                  <a:pt x="2821003" y="3927906"/>
                </a:lnTo>
                <a:lnTo>
                  <a:pt x="2816245" y="3937854"/>
                </a:lnTo>
                <a:lnTo>
                  <a:pt x="2811487" y="3947405"/>
                </a:lnTo>
                <a:lnTo>
                  <a:pt x="2805935" y="3956557"/>
                </a:lnTo>
                <a:lnTo>
                  <a:pt x="2800384" y="3965710"/>
                </a:lnTo>
                <a:lnTo>
                  <a:pt x="2794040" y="3974464"/>
                </a:lnTo>
                <a:lnTo>
                  <a:pt x="2787299" y="3982821"/>
                </a:lnTo>
                <a:lnTo>
                  <a:pt x="2780558" y="3991178"/>
                </a:lnTo>
                <a:lnTo>
                  <a:pt x="2773421" y="3998738"/>
                </a:lnTo>
                <a:lnTo>
                  <a:pt x="2765490" y="4006299"/>
                </a:lnTo>
                <a:lnTo>
                  <a:pt x="2757560" y="4013064"/>
                </a:lnTo>
                <a:lnTo>
                  <a:pt x="2749233" y="4019829"/>
                </a:lnTo>
                <a:lnTo>
                  <a:pt x="2740509" y="4026196"/>
                </a:lnTo>
                <a:lnTo>
                  <a:pt x="2731389" y="4032165"/>
                </a:lnTo>
                <a:lnTo>
                  <a:pt x="2722269" y="4037338"/>
                </a:lnTo>
                <a:lnTo>
                  <a:pt x="2712356" y="4042114"/>
                </a:lnTo>
                <a:lnTo>
                  <a:pt x="2702840" y="4046491"/>
                </a:lnTo>
                <a:lnTo>
                  <a:pt x="2692134" y="4050868"/>
                </a:lnTo>
                <a:lnTo>
                  <a:pt x="2682221" y="4054052"/>
                </a:lnTo>
                <a:lnTo>
                  <a:pt x="2671515" y="4056837"/>
                </a:lnTo>
                <a:lnTo>
                  <a:pt x="2660809" y="4059623"/>
                </a:lnTo>
                <a:lnTo>
                  <a:pt x="2650103" y="4061613"/>
                </a:lnTo>
                <a:lnTo>
                  <a:pt x="2638603" y="4062806"/>
                </a:lnTo>
                <a:lnTo>
                  <a:pt x="2627501" y="4063602"/>
                </a:lnTo>
                <a:lnTo>
                  <a:pt x="2616002" y="4064000"/>
                </a:lnTo>
                <a:lnTo>
                  <a:pt x="2604503" y="4063602"/>
                </a:lnTo>
                <a:lnTo>
                  <a:pt x="2593400" y="4062806"/>
                </a:lnTo>
                <a:lnTo>
                  <a:pt x="2582297" y="4061613"/>
                </a:lnTo>
                <a:lnTo>
                  <a:pt x="2571195" y="4059623"/>
                </a:lnTo>
                <a:lnTo>
                  <a:pt x="2560489" y="4056837"/>
                </a:lnTo>
                <a:lnTo>
                  <a:pt x="2549783" y="4054052"/>
                </a:lnTo>
                <a:lnTo>
                  <a:pt x="2539473" y="4050868"/>
                </a:lnTo>
                <a:lnTo>
                  <a:pt x="2529560" y="4046491"/>
                </a:lnTo>
                <a:lnTo>
                  <a:pt x="2519647" y="4042114"/>
                </a:lnTo>
                <a:lnTo>
                  <a:pt x="2510131" y="4037338"/>
                </a:lnTo>
                <a:lnTo>
                  <a:pt x="2501011" y="4032165"/>
                </a:lnTo>
                <a:lnTo>
                  <a:pt x="2491891" y="4026196"/>
                </a:lnTo>
                <a:lnTo>
                  <a:pt x="2483167" y="4019829"/>
                </a:lnTo>
                <a:lnTo>
                  <a:pt x="2474841" y="4013064"/>
                </a:lnTo>
                <a:lnTo>
                  <a:pt x="2466514" y="4006299"/>
                </a:lnTo>
                <a:lnTo>
                  <a:pt x="2458980" y="3998738"/>
                </a:lnTo>
                <a:lnTo>
                  <a:pt x="2451446" y="3991178"/>
                </a:lnTo>
                <a:lnTo>
                  <a:pt x="2444308" y="3982821"/>
                </a:lnTo>
                <a:lnTo>
                  <a:pt x="2437964" y="3974464"/>
                </a:lnTo>
                <a:lnTo>
                  <a:pt x="2431620" y="3965710"/>
                </a:lnTo>
                <a:lnTo>
                  <a:pt x="2425672" y="3956557"/>
                </a:lnTo>
                <a:lnTo>
                  <a:pt x="2420914" y="3947405"/>
                </a:lnTo>
                <a:lnTo>
                  <a:pt x="2415759" y="3937854"/>
                </a:lnTo>
                <a:lnTo>
                  <a:pt x="2411397" y="3927906"/>
                </a:lnTo>
                <a:lnTo>
                  <a:pt x="2407035" y="3917957"/>
                </a:lnTo>
                <a:lnTo>
                  <a:pt x="2403863" y="3907611"/>
                </a:lnTo>
                <a:lnTo>
                  <a:pt x="2400691" y="3896866"/>
                </a:lnTo>
                <a:lnTo>
                  <a:pt x="2398312" y="3886122"/>
                </a:lnTo>
                <a:lnTo>
                  <a:pt x="2396329" y="3874980"/>
                </a:lnTo>
                <a:lnTo>
                  <a:pt x="2395140" y="3864236"/>
                </a:lnTo>
                <a:lnTo>
                  <a:pt x="2394347" y="3852297"/>
                </a:lnTo>
                <a:lnTo>
                  <a:pt x="2393950" y="3841155"/>
                </a:lnTo>
                <a:lnTo>
                  <a:pt x="2394347" y="3829615"/>
                </a:lnTo>
                <a:lnTo>
                  <a:pt x="2395140" y="3818473"/>
                </a:lnTo>
                <a:lnTo>
                  <a:pt x="2396329" y="3806933"/>
                </a:lnTo>
                <a:lnTo>
                  <a:pt x="2398312" y="3796188"/>
                </a:lnTo>
                <a:lnTo>
                  <a:pt x="2400691" y="3785444"/>
                </a:lnTo>
                <a:lnTo>
                  <a:pt x="2403863" y="3775098"/>
                </a:lnTo>
                <a:lnTo>
                  <a:pt x="2407035" y="3764751"/>
                </a:lnTo>
                <a:lnTo>
                  <a:pt x="2411397" y="3754007"/>
                </a:lnTo>
                <a:lnTo>
                  <a:pt x="2415759" y="3744456"/>
                </a:lnTo>
                <a:lnTo>
                  <a:pt x="2420914" y="3734906"/>
                </a:lnTo>
                <a:lnTo>
                  <a:pt x="2425672" y="3725355"/>
                </a:lnTo>
                <a:lnTo>
                  <a:pt x="2431620" y="3716203"/>
                </a:lnTo>
                <a:lnTo>
                  <a:pt x="2437964" y="3707448"/>
                </a:lnTo>
                <a:lnTo>
                  <a:pt x="2444308" y="3699092"/>
                </a:lnTo>
                <a:lnTo>
                  <a:pt x="2451446" y="3691133"/>
                </a:lnTo>
                <a:lnTo>
                  <a:pt x="2458980" y="3683174"/>
                </a:lnTo>
                <a:lnTo>
                  <a:pt x="2466514" y="3676011"/>
                </a:lnTo>
                <a:lnTo>
                  <a:pt x="2474841" y="3669246"/>
                </a:lnTo>
                <a:lnTo>
                  <a:pt x="2483167" y="3662481"/>
                </a:lnTo>
                <a:lnTo>
                  <a:pt x="2491891" y="3656114"/>
                </a:lnTo>
                <a:lnTo>
                  <a:pt x="2501011" y="3650543"/>
                </a:lnTo>
                <a:lnTo>
                  <a:pt x="2510131" y="3644972"/>
                </a:lnTo>
                <a:lnTo>
                  <a:pt x="2519647" y="3640197"/>
                </a:lnTo>
                <a:lnTo>
                  <a:pt x="2529560" y="3635422"/>
                </a:lnTo>
                <a:lnTo>
                  <a:pt x="2539473" y="3631840"/>
                </a:lnTo>
                <a:lnTo>
                  <a:pt x="2549783" y="3627861"/>
                </a:lnTo>
                <a:lnTo>
                  <a:pt x="2560489" y="3625075"/>
                </a:lnTo>
                <a:lnTo>
                  <a:pt x="2571195" y="3622688"/>
                </a:lnTo>
                <a:lnTo>
                  <a:pt x="2582297" y="3620300"/>
                </a:lnTo>
                <a:lnTo>
                  <a:pt x="2593400" y="3619106"/>
                </a:lnTo>
                <a:lnTo>
                  <a:pt x="2604503" y="3618310"/>
                </a:lnTo>
                <a:lnTo>
                  <a:pt x="2616002" y="3617912"/>
                </a:lnTo>
                <a:close/>
                <a:moveTo>
                  <a:pt x="2187774" y="3414712"/>
                </a:moveTo>
                <a:lnTo>
                  <a:pt x="2193738" y="3415107"/>
                </a:lnTo>
                <a:lnTo>
                  <a:pt x="2199303" y="3415502"/>
                </a:lnTo>
                <a:lnTo>
                  <a:pt x="2204869" y="3415897"/>
                </a:lnTo>
                <a:lnTo>
                  <a:pt x="2210833" y="3417081"/>
                </a:lnTo>
                <a:lnTo>
                  <a:pt x="2216001" y="3418265"/>
                </a:lnTo>
                <a:lnTo>
                  <a:pt x="2221567" y="3419845"/>
                </a:lnTo>
                <a:lnTo>
                  <a:pt x="2227133" y="3421819"/>
                </a:lnTo>
                <a:lnTo>
                  <a:pt x="2231904" y="3423793"/>
                </a:lnTo>
                <a:lnTo>
                  <a:pt x="2237470" y="3425767"/>
                </a:lnTo>
                <a:lnTo>
                  <a:pt x="2241843" y="3428530"/>
                </a:lnTo>
                <a:lnTo>
                  <a:pt x="2247011" y="3431294"/>
                </a:lnTo>
                <a:lnTo>
                  <a:pt x="2251384" y="3434058"/>
                </a:lnTo>
                <a:lnTo>
                  <a:pt x="2256155" y="3437611"/>
                </a:lnTo>
                <a:lnTo>
                  <a:pt x="2260131" y="3440769"/>
                </a:lnTo>
                <a:lnTo>
                  <a:pt x="2264504" y="3443928"/>
                </a:lnTo>
                <a:lnTo>
                  <a:pt x="2268480" y="3448271"/>
                </a:lnTo>
                <a:lnTo>
                  <a:pt x="2272455" y="3451824"/>
                </a:lnTo>
                <a:lnTo>
                  <a:pt x="2275636" y="3456167"/>
                </a:lnTo>
                <a:lnTo>
                  <a:pt x="2278816" y="3460115"/>
                </a:lnTo>
                <a:lnTo>
                  <a:pt x="2282395" y="3464853"/>
                </a:lnTo>
                <a:lnTo>
                  <a:pt x="2285178" y="3469195"/>
                </a:lnTo>
                <a:lnTo>
                  <a:pt x="2288358" y="3474328"/>
                </a:lnTo>
                <a:lnTo>
                  <a:pt x="2290743" y="3479065"/>
                </a:lnTo>
                <a:lnTo>
                  <a:pt x="2292731" y="3484198"/>
                </a:lnTo>
                <a:lnTo>
                  <a:pt x="2294719" y="3488936"/>
                </a:lnTo>
                <a:lnTo>
                  <a:pt x="2296707" y="3494463"/>
                </a:lnTo>
                <a:lnTo>
                  <a:pt x="2298297" y="3499990"/>
                </a:lnTo>
                <a:lnTo>
                  <a:pt x="2299490" y="3505123"/>
                </a:lnTo>
                <a:lnTo>
                  <a:pt x="2300683" y="3511045"/>
                </a:lnTo>
                <a:lnTo>
                  <a:pt x="2301478" y="3516967"/>
                </a:lnTo>
                <a:lnTo>
                  <a:pt x="2301875" y="3522494"/>
                </a:lnTo>
                <a:lnTo>
                  <a:pt x="2301875" y="3528416"/>
                </a:lnTo>
                <a:lnTo>
                  <a:pt x="2301875" y="3534338"/>
                </a:lnTo>
                <a:lnTo>
                  <a:pt x="2301478" y="3539866"/>
                </a:lnTo>
                <a:lnTo>
                  <a:pt x="2300683" y="3545393"/>
                </a:lnTo>
                <a:lnTo>
                  <a:pt x="2299490" y="3550920"/>
                </a:lnTo>
                <a:lnTo>
                  <a:pt x="2298297" y="3556447"/>
                </a:lnTo>
                <a:lnTo>
                  <a:pt x="2296707" y="3561975"/>
                </a:lnTo>
                <a:lnTo>
                  <a:pt x="2294719" y="3567107"/>
                </a:lnTo>
                <a:lnTo>
                  <a:pt x="2292731" y="3572634"/>
                </a:lnTo>
                <a:lnTo>
                  <a:pt x="2290743" y="3577372"/>
                </a:lnTo>
                <a:lnTo>
                  <a:pt x="2288358" y="3582504"/>
                </a:lnTo>
                <a:lnTo>
                  <a:pt x="2285178" y="3587242"/>
                </a:lnTo>
                <a:lnTo>
                  <a:pt x="2282395" y="3591585"/>
                </a:lnTo>
                <a:lnTo>
                  <a:pt x="2278816" y="3596323"/>
                </a:lnTo>
                <a:lnTo>
                  <a:pt x="2275636" y="3600271"/>
                </a:lnTo>
                <a:lnTo>
                  <a:pt x="2272455" y="3604614"/>
                </a:lnTo>
                <a:lnTo>
                  <a:pt x="2268480" y="3608562"/>
                </a:lnTo>
                <a:lnTo>
                  <a:pt x="2264504" y="3612115"/>
                </a:lnTo>
                <a:lnTo>
                  <a:pt x="2260131" y="3615668"/>
                </a:lnTo>
                <a:lnTo>
                  <a:pt x="2256155" y="3619221"/>
                </a:lnTo>
                <a:lnTo>
                  <a:pt x="2251384" y="3622380"/>
                </a:lnTo>
                <a:lnTo>
                  <a:pt x="2247011" y="3625143"/>
                </a:lnTo>
                <a:lnTo>
                  <a:pt x="2241843" y="3627907"/>
                </a:lnTo>
                <a:lnTo>
                  <a:pt x="2237470" y="3630276"/>
                </a:lnTo>
                <a:lnTo>
                  <a:pt x="2231904" y="3633040"/>
                </a:lnTo>
                <a:lnTo>
                  <a:pt x="2227133" y="3634619"/>
                </a:lnTo>
                <a:lnTo>
                  <a:pt x="2221567" y="3636593"/>
                </a:lnTo>
                <a:lnTo>
                  <a:pt x="2216001" y="3637777"/>
                </a:lnTo>
                <a:lnTo>
                  <a:pt x="2210833" y="3639751"/>
                </a:lnTo>
                <a:lnTo>
                  <a:pt x="2204869" y="3640541"/>
                </a:lnTo>
                <a:lnTo>
                  <a:pt x="2199303" y="3641330"/>
                </a:lnTo>
                <a:lnTo>
                  <a:pt x="2193738" y="3641725"/>
                </a:lnTo>
                <a:lnTo>
                  <a:pt x="2187774" y="3641725"/>
                </a:lnTo>
                <a:lnTo>
                  <a:pt x="2181413" y="3641725"/>
                </a:lnTo>
                <a:lnTo>
                  <a:pt x="2175847" y="3641330"/>
                </a:lnTo>
                <a:lnTo>
                  <a:pt x="2170281" y="3640541"/>
                </a:lnTo>
                <a:lnTo>
                  <a:pt x="2164715" y="3639751"/>
                </a:lnTo>
                <a:lnTo>
                  <a:pt x="2159149" y="3637777"/>
                </a:lnTo>
                <a:lnTo>
                  <a:pt x="2153583" y="3636593"/>
                </a:lnTo>
                <a:lnTo>
                  <a:pt x="2148415" y="3634619"/>
                </a:lnTo>
                <a:lnTo>
                  <a:pt x="2143247" y="3633040"/>
                </a:lnTo>
                <a:lnTo>
                  <a:pt x="2138476" y="3630276"/>
                </a:lnTo>
                <a:lnTo>
                  <a:pt x="2133308" y="3627907"/>
                </a:lnTo>
                <a:lnTo>
                  <a:pt x="2128139" y="3625143"/>
                </a:lnTo>
                <a:lnTo>
                  <a:pt x="2123766" y="3622380"/>
                </a:lnTo>
                <a:lnTo>
                  <a:pt x="2118995" y="3619221"/>
                </a:lnTo>
                <a:lnTo>
                  <a:pt x="2115020" y="3615668"/>
                </a:lnTo>
                <a:lnTo>
                  <a:pt x="2110646" y="3612115"/>
                </a:lnTo>
                <a:lnTo>
                  <a:pt x="2106671" y="3608562"/>
                </a:lnTo>
                <a:lnTo>
                  <a:pt x="2103093" y="3604614"/>
                </a:lnTo>
                <a:lnTo>
                  <a:pt x="2099515" y="3600271"/>
                </a:lnTo>
                <a:lnTo>
                  <a:pt x="2096334" y="3596323"/>
                </a:lnTo>
                <a:lnTo>
                  <a:pt x="2092756" y="3591585"/>
                </a:lnTo>
                <a:lnTo>
                  <a:pt x="2089973" y="3587242"/>
                </a:lnTo>
                <a:lnTo>
                  <a:pt x="2087190" y="3582504"/>
                </a:lnTo>
                <a:lnTo>
                  <a:pt x="2084805" y="3577372"/>
                </a:lnTo>
                <a:lnTo>
                  <a:pt x="2082419" y="3572634"/>
                </a:lnTo>
                <a:lnTo>
                  <a:pt x="2080431" y="3567107"/>
                </a:lnTo>
                <a:lnTo>
                  <a:pt x="2078444" y="3561975"/>
                </a:lnTo>
                <a:lnTo>
                  <a:pt x="2077251" y="3556447"/>
                </a:lnTo>
                <a:lnTo>
                  <a:pt x="2076058" y="3550920"/>
                </a:lnTo>
                <a:lnTo>
                  <a:pt x="2074468" y="3545393"/>
                </a:lnTo>
                <a:lnTo>
                  <a:pt x="2073673" y="3539866"/>
                </a:lnTo>
                <a:lnTo>
                  <a:pt x="2073275" y="3534338"/>
                </a:lnTo>
                <a:lnTo>
                  <a:pt x="2073275" y="3528416"/>
                </a:lnTo>
                <a:lnTo>
                  <a:pt x="2073275" y="3522494"/>
                </a:lnTo>
                <a:lnTo>
                  <a:pt x="2073673" y="3516967"/>
                </a:lnTo>
                <a:lnTo>
                  <a:pt x="2074468" y="3511045"/>
                </a:lnTo>
                <a:lnTo>
                  <a:pt x="2076058" y="3505123"/>
                </a:lnTo>
                <a:lnTo>
                  <a:pt x="2077251" y="3499990"/>
                </a:lnTo>
                <a:lnTo>
                  <a:pt x="2078444" y="3494463"/>
                </a:lnTo>
                <a:lnTo>
                  <a:pt x="2080431" y="3488936"/>
                </a:lnTo>
                <a:lnTo>
                  <a:pt x="2082419" y="3484198"/>
                </a:lnTo>
                <a:lnTo>
                  <a:pt x="2084805" y="3479065"/>
                </a:lnTo>
                <a:lnTo>
                  <a:pt x="2087190" y="3474328"/>
                </a:lnTo>
                <a:lnTo>
                  <a:pt x="2089973" y="3469195"/>
                </a:lnTo>
                <a:lnTo>
                  <a:pt x="2092756" y="3464853"/>
                </a:lnTo>
                <a:lnTo>
                  <a:pt x="2096334" y="3460115"/>
                </a:lnTo>
                <a:lnTo>
                  <a:pt x="2099515" y="3456167"/>
                </a:lnTo>
                <a:lnTo>
                  <a:pt x="2103093" y="3451824"/>
                </a:lnTo>
                <a:lnTo>
                  <a:pt x="2106671" y="3448271"/>
                </a:lnTo>
                <a:lnTo>
                  <a:pt x="2110646" y="3443928"/>
                </a:lnTo>
                <a:lnTo>
                  <a:pt x="2115020" y="3440769"/>
                </a:lnTo>
                <a:lnTo>
                  <a:pt x="2118995" y="3437611"/>
                </a:lnTo>
                <a:lnTo>
                  <a:pt x="2123766" y="3434058"/>
                </a:lnTo>
                <a:lnTo>
                  <a:pt x="2128139" y="3431294"/>
                </a:lnTo>
                <a:lnTo>
                  <a:pt x="2133308" y="3428530"/>
                </a:lnTo>
                <a:lnTo>
                  <a:pt x="2138476" y="3425767"/>
                </a:lnTo>
                <a:lnTo>
                  <a:pt x="2143247" y="3423793"/>
                </a:lnTo>
                <a:lnTo>
                  <a:pt x="2148415" y="3421819"/>
                </a:lnTo>
                <a:lnTo>
                  <a:pt x="2153583" y="3419845"/>
                </a:lnTo>
                <a:lnTo>
                  <a:pt x="2159149" y="3418265"/>
                </a:lnTo>
                <a:lnTo>
                  <a:pt x="2164715" y="3417081"/>
                </a:lnTo>
                <a:lnTo>
                  <a:pt x="2170281" y="3415897"/>
                </a:lnTo>
                <a:lnTo>
                  <a:pt x="2175847" y="3415502"/>
                </a:lnTo>
                <a:lnTo>
                  <a:pt x="2181413" y="3415107"/>
                </a:lnTo>
                <a:lnTo>
                  <a:pt x="2187774" y="3414712"/>
                </a:lnTo>
                <a:close/>
                <a:moveTo>
                  <a:pt x="2877146" y="3217862"/>
                </a:moveTo>
                <a:lnTo>
                  <a:pt x="2885867" y="3218259"/>
                </a:lnTo>
                <a:lnTo>
                  <a:pt x="2894191" y="3219051"/>
                </a:lnTo>
                <a:lnTo>
                  <a:pt x="2902515" y="3219844"/>
                </a:lnTo>
                <a:lnTo>
                  <a:pt x="2910840" y="3221430"/>
                </a:lnTo>
                <a:lnTo>
                  <a:pt x="2918768" y="3223412"/>
                </a:lnTo>
                <a:lnTo>
                  <a:pt x="2926696" y="3225394"/>
                </a:lnTo>
                <a:lnTo>
                  <a:pt x="2934624" y="3228169"/>
                </a:lnTo>
                <a:lnTo>
                  <a:pt x="2942156" y="3230943"/>
                </a:lnTo>
                <a:lnTo>
                  <a:pt x="2949291" y="3234511"/>
                </a:lnTo>
                <a:lnTo>
                  <a:pt x="2956426" y="3238079"/>
                </a:lnTo>
                <a:lnTo>
                  <a:pt x="2963561" y="3242043"/>
                </a:lnTo>
                <a:lnTo>
                  <a:pt x="2970300" y="3246403"/>
                </a:lnTo>
                <a:lnTo>
                  <a:pt x="2976643" y="3251160"/>
                </a:lnTo>
                <a:lnTo>
                  <a:pt x="2982985" y="3255917"/>
                </a:lnTo>
                <a:lnTo>
                  <a:pt x="2988931" y="3261070"/>
                </a:lnTo>
                <a:lnTo>
                  <a:pt x="2994481" y="3266620"/>
                </a:lnTo>
                <a:lnTo>
                  <a:pt x="3000030" y="3272169"/>
                </a:lnTo>
                <a:lnTo>
                  <a:pt x="3005580" y="3278512"/>
                </a:lnTo>
                <a:lnTo>
                  <a:pt x="3010337" y="3284458"/>
                </a:lnTo>
                <a:lnTo>
                  <a:pt x="3015093" y="3291196"/>
                </a:lnTo>
                <a:lnTo>
                  <a:pt x="3019057" y="3297935"/>
                </a:lnTo>
                <a:lnTo>
                  <a:pt x="3023418" y="3305070"/>
                </a:lnTo>
                <a:lnTo>
                  <a:pt x="3026986" y="3312206"/>
                </a:lnTo>
                <a:lnTo>
                  <a:pt x="3030553" y="3319341"/>
                </a:lnTo>
                <a:lnTo>
                  <a:pt x="3033328" y="3326873"/>
                </a:lnTo>
                <a:lnTo>
                  <a:pt x="3035706" y="3334404"/>
                </a:lnTo>
                <a:lnTo>
                  <a:pt x="3038085" y="3342332"/>
                </a:lnTo>
                <a:lnTo>
                  <a:pt x="3040067" y="3350657"/>
                </a:lnTo>
                <a:lnTo>
                  <a:pt x="3041652" y="3358585"/>
                </a:lnTo>
                <a:lnTo>
                  <a:pt x="3042445" y="3366909"/>
                </a:lnTo>
                <a:lnTo>
                  <a:pt x="3043238" y="3375630"/>
                </a:lnTo>
                <a:lnTo>
                  <a:pt x="3043238" y="3383954"/>
                </a:lnTo>
                <a:lnTo>
                  <a:pt x="3043238" y="3392675"/>
                </a:lnTo>
                <a:lnTo>
                  <a:pt x="3042445" y="3401000"/>
                </a:lnTo>
                <a:lnTo>
                  <a:pt x="3041652" y="3408928"/>
                </a:lnTo>
                <a:lnTo>
                  <a:pt x="3040067" y="3417252"/>
                </a:lnTo>
                <a:lnTo>
                  <a:pt x="3038085" y="3425180"/>
                </a:lnTo>
                <a:lnTo>
                  <a:pt x="3035706" y="3433108"/>
                </a:lnTo>
                <a:lnTo>
                  <a:pt x="3033328" y="3441036"/>
                </a:lnTo>
                <a:lnTo>
                  <a:pt x="3030553" y="3448568"/>
                </a:lnTo>
                <a:lnTo>
                  <a:pt x="3026986" y="3456100"/>
                </a:lnTo>
                <a:lnTo>
                  <a:pt x="3023418" y="3463235"/>
                </a:lnTo>
                <a:lnTo>
                  <a:pt x="3019057" y="3469974"/>
                </a:lnTo>
                <a:lnTo>
                  <a:pt x="3015093" y="3476712"/>
                </a:lnTo>
                <a:lnTo>
                  <a:pt x="3010337" y="3483451"/>
                </a:lnTo>
                <a:lnTo>
                  <a:pt x="3005580" y="3489794"/>
                </a:lnTo>
                <a:lnTo>
                  <a:pt x="3000030" y="3495343"/>
                </a:lnTo>
                <a:lnTo>
                  <a:pt x="2994481" y="3501289"/>
                </a:lnTo>
                <a:lnTo>
                  <a:pt x="2988931" y="3506442"/>
                </a:lnTo>
                <a:lnTo>
                  <a:pt x="2982985" y="3511992"/>
                </a:lnTo>
                <a:lnTo>
                  <a:pt x="2976643" y="3517145"/>
                </a:lnTo>
                <a:lnTo>
                  <a:pt x="2970300" y="3521506"/>
                </a:lnTo>
                <a:lnTo>
                  <a:pt x="2963561" y="3525866"/>
                </a:lnTo>
                <a:lnTo>
                  <a:pt x="2956426" y="3529830"/>
                </a:lnTo>
                <a:lnTo>
                  <a:pt x="2949291" y="3533794"/>
                </a:lnTo>
                <a:lnTo>
                  <a:pt x="2942156" y="3536965"/>
                </a:lnTo>
                <a:lnTo>
                  <a:pt x="2934624" y="3539740"/>
                </a:lnTo>
                <a:lnTo>
                  <a:pt x="2926696" y="3542515"/>
                </a:lnTo>
                <a:lnTo>
                  <a:pt x="2918768" y="3544893"/>
                </a:lnTo>
                <a:lnTo>
                  <a:pt x="2910840" y="3546479"/>
                </a:lnTo>
                <a:lnTo>
                  <a:pt x="2902515" y="3548065"/>
                </a:lnTo>
                <a:lnTo>
                  <a:pt x="2894191" y="3548857"/>
                </a:lnTo>
                <a:lnTo>
                  <a:pt x="2885867" y="3549650"/>
                </a:lnTo>
                <a:lnTo>
                  <a:pt x="2877146" y="3549650"/>
                </a:lnTo>
                <a:lnTo>
                  <a:pt x="2868821" y="3549650"/>
                </a:lnTo>
                <a:lnTo>
                  <a:pt x="2860101" y="3548857"/>
                </a:lnTo>
                <a:lnTo>
                  <a:pt x="2851776" y="3548065"/>
                </a:lnTo>
                <a:lnTo>
                  <a:pt x="2843848" y="3546479"/>
                </a:lnTo>
                <a:lnTo>
                  <a:pt x="2835524" y="3544893"/>
                </a:lnTo>
                <a:lnTo>
                  <a:pt x="2827992" y="3542515"/>
                </a:lnTo>
                <a:lnTo>
                  <a:pt x="2820460" y="3539740"/>
                </a:lnTo>
                <a:lnTo>
                  <a:pt x="2812929" y="3536965"/>
                </a:lnTo>
                <a:lnTo>
                  <a:pt x="2805397" y="3533794"/>
                </a:lnTo>
                <a:lnTo>
                  <a:pt x="2798262" y="3529830"/>
                </a:lnTo>
                <a:lnTo>
                  <a:pt x="2791127" y="3525866"/>
                </a:lnTo>
                <a:lnTo>
                  <a:pt x="2784784" y="3521506"/>
                </a:lnTo>
                <a:lnTo>
                  <a:pt x="2778045" y="3517145"/>
                </a:lnTo>
                <a:lnTo>
                  <a:pt x="2771703" y="3511992"/>
                </a:lnTo>
                <a:lnTo>
                  <a:pt x="2766153" y="3506442"/>
                </a:lnTo>
                <a:lnTo>
                  <a:pt x="2760207" y="3501289"/>
                </a:lnTo>
                <a:lnTo>
                  <a:pt x="2754261" y="3495343"/>
                </a:lnTo>
                <a:lnTo>
                  <a:pt x="2749505" y="3489794"/>
                </a:lnTo>
                <a:lnTo>
                  <a:pt x="2744351" y="3483451"/>
                </a:lnTo>
                <a:lnTo>
                  <a:pt x="2739991" y="3476712"/>
                </a:lnTo>
                <a:lnTo>
                  <a:pt x="2735234" y="3469974"/>
                </a:lnTo>
                <a:lnTo>
                  <a:pt x="2731666" y="3463235"/>
                </a:lnTo>
                <a:lnTo>
                  <a:pt x="2727702" y="3456100"/>
                </a:lnTo>
                <a:lnTo>
                  <a:pt x="2724531" y="3448568"/>
                </a:lnTo>
                <a:lnTo>
                  <a:pt x="2721756" y="3441036"/>
                </a:lnTo>
                <a:lnTo>
                  <a:pt x="2718982" y="3433108"/>
                </a:lnTo>
                <a:lnTo>
                  <a:pt x="2716603" y="3425180"/>
                </a:lnTo>
                <a:lnTo>
                  <a:pt x="2715018" y="3417252"/>
                </a:lnTo>
                <a:lnTo>
                  <a:pt x="2713432" y="3408928"/>
                </a:lnTo>
                <a:lnTo>
                  <a:pt x="2712639" y="3401000"/>
                </a:lnTo>
                <a:lnTo>
                  <a:pt x="2711450" y="3392675"/>
                </a:lnTo>
                <a:lnTo>
                  <a:pt x="2711450" y="3383954"/>
                </a:lnTo>
                <a:lnTo>
                  <a:pt x="2711450" y="3375630"/>
                </a:lnTo>
                <a:lnTo>
                  <a:pt x="2712639" y="3366909"/>
                </a:lnTo>
                <a:lnTo>
                  <a:pt x="2713432" y="3358585"/>
                </a:lnTo>
                <a:lnTo>
                  <a:pt x="2715018" y="3350657"/>
                </a:lnTo>
                <a:lnTo>
                  <a:pt x="2716603" y="3342332"/>
                </a:lnTo>
                <a:lnTo>
                  <a:pt x="2718982" y="3334404"/>
                </a:lnTo>
                <a:lnTo>
                  <a:pt x="2721756" y="3326873"/>
                </a:lnTo>
                <a:lnTo>
                  <a:pt x="2724531" y="3319341"/>
                </a:lnTo>
                <a:lnTo>
                  <a:pt x="2727702" y="3312206"/>
                </a:lnTo>
                <a:lnTo>
                  <a:pt x="2731666" y="3305070"/>
                </a:lnTo>
                <a:lnTo>
                  <a:pt x="2735234" y="3297935"/>
                </a:lnTo>
                <a:lnTo>
                  <a:pt x="2739991" y="3291196"/>
                </a:lnTo>
                <a:lnTo>
                  <a:pt x="2744351" y="3284458"/>
                </a:lnTo>
                <a:lnTo>
                  <a:pt x="2749505" y="3278512"/>
                </a:lnTo>
                <a:lnTo>
                  <a:pt x="2754261" y="3272169"/>
                </a:lnTo>
                <a:lnTo>
                  <a:pt x="2760207" y="3266620"/>
                </a:lnTo>
                <a:lnTo>
                  <a:pt x="2766153" y="3261070"/>
                </a:lnTo>
                <a:lnTo>
                  <a:pt x="2771703" y="3255917"/>
                </a:lnTo>
                <a:lnTo>
                  <a:pt x="2778045" y="3251160"/>
                </a:lnTo>
                <a:lnTo>
                  <a:pt x="2784784" y="3246403"/>
                </a:lnTo>
                <a:lnTo>
                  <a:pt x="2791127" y="3242043"/>
                </a:lnTo>
                <a:lnTo>
                  <a:pt x="2798262" y="3238079"/>
                </a:lnTo>
                <a:lnTo>
                  <a:pt x="2805397" y="3234511"/>
                </a:lnTo>
                <a:lnTo>
                  <a:pt x="2812929" y="3230943"/>
                </a:lnTo>
                <a:lnTo>
                  <a:pt x="2820460" y="3228169"/>
                </a:lnTo>
                <a:lnTo>
                  <a:pt x="2827992" y="3225394"/>
                </a:lnTo>
                <a:lnTo>
                  <a:pt x="2835524" y="3223412"/>
                </a:lnTo>
                <a:lnTo>
                  <a:pt x="2843848" y="3221430"/>
                </a:lnTo>
                <a:lnTo>
                  <a:pt x="2851776" y="3219844"/>
                </a:lnTo>
                <a:lnTo>
                  <a:pt x="2860101" y="3219051"/>
                </a:lnTo>
                <a:lnTo>
                  <a:pt x="2868821" y="3218259"/>
                </a:lnTo>
                <a:lnTo>
                  <a:pt x="2877146" y="3217862"/>
                </a:lnTo>
                <a:close/>
                <a:moveTo>
                  <a:pt x="1341242" y="3000374"/>
                </a:moveTo>
                <a:lnTo>
                  <a:pt x="410762" y="4429560"/>
                </a:lnTo>
                <a:lnTo>
                  <a:pt x="409572" y="4434325"/>
                </a:lnTo>
                <a:lnTo>
                  <a:pt x="406794" y="4447826"/>
                </a:lnTo>
                <a:lnTo>
                  <a:pt x="404414" y="4458151"/>
                </a:lnTo>
                <a:lnTo>
                  <a:pt x="402430" y="4469667"/>
                </a:lnTo>
                <a:lnTo>
                  <a:pt x="400446" y="4483169"/>
                </a:lnTo>
                <a:lnTo>
                  <a:pt x="398859" y="4498259"/>
                </a:lnTo>
                <a:lnTo>
                  <a:pt x="396875" y="4514937"/>
                </a:lnTo>
                <a:lnTo>
                  <a:pt x="395287" y="4533204"/>
                </a:lnTo>
                <a:lnTo>
                  <a:pt x="394097" y="4552265"/>
                </a:lnTo>
                <a:lnTo>
                  <a:pt x="393700" y="4572915"/>
                </a:lnTo>
                <a:lnTo>
                  <a:pt x="394097" y="4594359"/>
                </a:lnTo>
                <a:lnTo>
                  <a:pt x="394891" y="4616597"/>
                </a:lnTo>
                <a:lnTo>
                  <a:pt x="397271" y="4640026"/>
                </a:lnTo>
                <a:lnTo>
                  <a:pt x="400049" y="4664249"/>
                </a:lnTo>
                <a:lnTo>
                  <a:pt x="401636" y="4676162"/>
                </a:lnTo>
                <a:lnTo>
                  <a:pt x="403620" y="4688870"/>
                </a:lnTo>
                <a:lnTo>
                  <a:pt x="406398" y="4701180"/>
                </a:lnTo>
                <a:lnTo>
                  <a:pt x="409175" y="4713490"/>
                </a:lnTo>
                <a:lnTo>
                  <a:pt x="412350" y="4726198"/>
                </a:lnTo>
                <a:lnTo>
                  <a:pt x="415921" y="4738905"/>
                </a:lnTo>
                <a:lnTo>
                  <a:pt x="419492" y="4752010"/>
                </a:lnTo>
                <a:lnTo>
                  <a:pt x="423857" y="4764320"/>
                </a:lnTo>
                <a:lnTo>
                  <a:pt x="428221" y="4777425"/>
                </a:lnTo>
                <a:lnTo>
                  <a:pt x="433380" y="4790132"/>
                </a:lnTo>
                <a:lnTo>
                  <a:pt x="438538" y="4802839"/>
                </a:lnTo>
                <a:lnTo>
                  <a:pt x="444887" y="4815944"/>
                </a:lnTo>
                <a:lnTo>
                  <a:pt x="451235" y="4828254"/>
                </a:lnTo>
                <a:lnTo>
                  <a:pt x="457584" y="4841359"/>
                </a:lnTo>
                <a:lnTo>
                  <a:pt x="464726" y="4853669"/>
                </a:lnTo>
                <a:lnTo>
                  <a:pt x="472662" y="4866773"/>
                </a:lnTo>
                <a:lnTo>
                  <a:pt x="480995" y="4879084"/>
                </a:lnTo>
                <a:lnTo>
                  <a:pt x="489724" y="4891394"/>
                </a:lnTo>
                <a:lnTo>
                  <a:pt x="498850" y="4903704"/>
                </a:lnTo>
                <a:lnTo>
                  <a:pt x="508770" y="4915618"/>
                </a:lnTo>
                <a:lnTo>
                  <a:pt x="519087" y="4927531"/>
                </a:lnTo>
                <a:lnTo>
                  <a:pt x="530197" y="4939444"/>
                </a:lnTo>
                <a:lnTo>
                  <a:pt x="541704" y="4950960"/>
                </a:lnTo>
                <a:lnTo>
                  <a:pt x="553608" y="4962476"/>
                </a:lnTo>
                <a:lnTo>
                  <a:pt x="566702" y="4973992"/>
                </a:lnTo>
                <a:lnTo>
                  <a:pt x="579796" y="4984714"/>
                </a:lnTo>
                <a:lnTo>
                  <a:pt x="594081" y="4995436"/>
                </a:lnTo>
                <a:lnTo>
                  <a:pt x="609159" y="5005761"/>
                </a:lnTo>
                <a:lnTo>
                  <a:pt x="624237" y="5016085"/>
                </a:lnTo>
                <a:lnTo>
                  <a:pt x="640109" y="5026410"/>
                </a:lnTo>
                <a:lnTo>
                  <a:pt x="657171" y="5035941"/>
                </a:lnTo>
                <a:lnTo>
                  <a:pt x="674630" y="5045074"/>
                </a:lnTo>
                <a:lnTo>
                  <a:pt x="3954917" y="5045074"/>
                </a:lnTo>
                <a:lnTo>
                  <a:pt x="3972376" y="5035941"/>
                </a:lnTo>
                <a:lnTo>
                  <a:pt x="3989041" y="5026410"/>
                </a:lnTo>
                <a:lnTo>
                  <a:pt x="4005310" y="5016085"/>
                </a:lnTo>
                <a:lnTo>
                  <a:pt x="4020785" y="5005761"/>
                </a:lnTo>
                <a:lnTo>
                  <a:pt x="4035069" y="4995436"/>
                </a:lnTo>
                <a:lnTo>
                  <a:pt x="4049354" y="4984714"/>
                </a:lnTo>
                <a:lnTo>
                  <a:pt x="4062448" y="4973992"/>
                </a:lnTo>
                <a:lnTo>
                  <a:pt x="4075543" y="4962476"/>
                </a:lnTo>
                <a:lnTo>
                  <a:pt x="4087446" y="4950960"/>
                </a:lnTo>
                <a:lnTo>
                  <a:pt x="4098953" y="4939444"/>
                </a:lnTo>
                <a:lnTo>
                  <a:pt x="4110063" y="4927531"/>
                </a:lnTo>
                <a:lnTo>
                  <a:pt x="4120777" y="4915618"/>
                </a:lnTo>
                <a:lnTo>
                  <a:pt x="4130300" y="4903704"/>
                </a:lnTo>
                <a:lnTo>
                  <a:pt x="4139823" y="4891394"/>
                </a:lnTo>
                <a:lnTo>
                  <a:pt x="4148552" y="4879084"/>
                </a:lnTo>
                <a:lnTo>
                  <a:pt x="4156488" y="4866773"/>
                </a:lnTo>
                <a:lnTo>
                  <a:pt x="4164424" y="4853669"/>
                </a:lnTo>
                <a:lnTo>
                  <a:pt x="4171566" y="4841359"/>
                </a:lnTo>
                <a:lnTo>
                  <a:pt x="4178312" y="4828254"/>
                </a:lnTo>
                <a:lnTo>
                  <a:pt x="4184661" y="4815944"/>
                </a:lnTo>
                <a:lnTo>
                  <a:pt x="4190613" y="4802839"/>
                </a:lnTo>
                <a:lnTo>
                  <a:pt x="4195771" y="4790132"/>
                </a:lnTo>
                <a:lnTo>
                  <a:pt x="4200929" y="4777425"/>
                </a:lnTo>
                <a:lnTo>
                  <a:pt x="4205294" y="4764320"/>
                </a:lnTo>
                <a:lnTo>
                  <a:pt x="4209659" y="4752010"/>
                </a:lnTo>
                <a:lnTo>
                  <a:pt x="4213627" y="4738905"/>
                </a:lnTo>
                <a:lnTo>
                  <a:pt x="4217197" y="4726198"/>
                </a:lnTo>
                <a:lnTo>
                  <a:pt x="4219975" y="4713490"/>
                </a:lnTo>
                <a:lnTo>
                  <a:pt x="4222753" y="4701180"/>
                </a:lnTo>
                <a:lnTo>
                  <a:pt x="4225530" y="4688870"/>
                </a:lnTo>
                <a:lnTo>
                  <a:pt x="4227514" y="4676162"/>
                </a:lnTo>
                <a:lnTo>
                  <a:pt x="4229498" y="4664249"/>
                </a:lnTo>
                <a:lnTo>
                  <a:pt x="4232673" y="4640026"/>
                </a:lnTo>
                <a:lnTo>
                  <a:pt x="4234259" y="4616597"/>
                </a:lnTo>
                <a:lnTo>
                  <a:pt x="4235450" y="4594359"/>
                </a:lnTo>
                <a:lnTo>
                  <a:pt x="4235450" y="4572915"/>
                </a:lnTo>
                <a:lnTo>
                  <a:pt x="4235053" y="4552265"/>
                </a:lnTo>
                <a:lnTo>
                  <a:pt x="4234259" y="4533204"/>
                </a:lnTo>
                <a:lnTo>
                  <a:pt x="4232673" y="4514937"/>
                </a:lnTo>
                <a:lnTo>
                  <a:pt x="4230689" y="4498259"/>
                </a:lnTo>
                <a:lnTo>
                  <a:pt x="4228705" y="4483169"/>
                </a:lnTo>
                <a:lnTo>
                  <a:pt x="4226721" y="4469667"/>
                </a:lnTo>
                <a:lnTo>
                  <a:pt x="4224737" y="4458151"/>
                </a:lnTo>
                <a:lnTo>
                  <a:pt x="4222356" y="4447826"/>
                </a:lnTo>
                <a:lnTo>
                  <a:pt x="4219578" y="4434325"/>
                </a:lnTo>
                <a:lnTo>
                  <a:pt x="4218388" y="4429560"/>
                </a:lnTo>
                <a:lnTo>
                  <a:pt x="3282826" y="3000490"/>
                </a:lnTo>
                <a:lnTo>
                  <a:pt x="3282951" y="3001367"/>
                </a:lnTo>
                <a:lnTo>
                  <a:pt x="3282554" y="3003754"/>
                </a:lnTo>
                <a:lnTo>
                  <a:pt x="3281761" y="3006140"/>
                </a:lnTo>
                <a:lnTo>
                  <a:pt x="3280173" y="3008526"/>
                </a:lnTo>
                <a:lnTo>
                  <a:pt x="3278189" y="3010913"/>
                </a:lnTo>
                <a:lnTo>
                  <a:pt x="3275015" y="3013299"/>
                </a:lnTo>
                <a:lnTo>
                  <a:pt x="3271841" y="3015685"/>
                </a:lnTo>
                <a:lnTo>
                  <a:pt x="3267476" y="3017674"/>
                </a:lnTo>
                <a:lnTo>
                  <a:pt x="3263111" y="3020458"/>
                </a:lnTo>
                <a:lnTo>
                  <a:pt x="3252398" y="3024832"/>
                </a:lnTo>
                <a:lnTo>
                  <a:pt x="3239304" y="3029605"/>
                </a:lnTo>
                <a:lnTo>
                  <a:pt x="3223829" y="3033582"/>
                </a:lnTo>
                <a:lnTo>
                  <a:pt x="3206370" y="3037957"/>
                </a:lnTo>
                <a:lnTo>
                  <a:pt x="3186927" y="3041934"/>
                </a:lnTo>
                <a:lnTo>
                  <a:pt x="3165897" y="3046309"/>
                </a:lnTo>
                <a:lnTo>
                  <a:pt x="3142486" y="3050286"/>
                </a:lnTo>
                <a:lnTo>
                  <a:pt x="3117091" y="3054263"/>
                </a:lnTo>
                <a:lnTo>
                  <a:pt x="3090109" y="3057843"/>
                </a:lnTo>
                <a:lnTo>
                  <a:pt x="3061143" y="3061024"/>
                </a:lnTo>
                <a:lnTo>
                  <a:pt x="3030987" y="3065001"/>
                </a:lnTo>
                <a:lnTo>
                  <a:pt x="2998847" y="3068183"/>
                </a:lnTo>
                <a:lnTo>
                  <a:pt x="2964722" y="3070967"/>
                </a:lnTo>
                <a:lnTo>
                  <a:pt x="2929804" y="3074149"/>
                </a:lnTo>
                <a:lnTo>
                  <a:pt x="2892903" y="3076933"/>
                </a:lnTo>
                <a:lnTo>
                  <a:pt x="2855207" y="3079319"/>
                </a:lnTo>
                <a:lnTo>
                  <a:pt x="2815528" y="3082103"/>
                </a:lnTo>
                <a:lnTo>
                  <a:pt x="2775055" y="3084489"/>
                </a:lnTo>
                <a:lnTo>
                  <a:pt x="2690141" y="3088069"/>
                </a:lnTo>
                <a:lnTo>
                  <a:pt x="2600862" y="3091648"/>
                </a:lnTo>
                <a:lnTo>
                  <a:pt x="2507615" y="3093637"/>
                </a:lnTo>
                <a:lnTo>
                  <a:pt x="2411195" y="3095227"/>
                </a:lnTo>
                <a:lnTo>
                  <a:pt x="2312393" y="3095625"/>
                </a:lnTo>
                <a:lnTo>
                  <a:pt x="2213195" y="3095227"/>
                </a:lnTo>
                <a:lnTo>
                  <a:pt x="2116774" y="3093637"/>
                </a:lnTo>
                <a:lnTo>
                  <a:pt x="2023924" y="3091648"/>
                </a:lnTo>
                <a:lnTo>
                  <a:pt x="1934645" y="3088069"/>
                </a:lnTo>
                <a:lnTo>
                  <a:pt x="1849731" y="3084489"/>
                </a:lnTo>
                <a:lnTo>
                  <a:pt x="1808862" y="3082103"/>
                </a:lnTo>
                <a:lnTo>
                  <a:pt x="1769579" y="3079319"/>
                </a:lnTo>
                <a:lnTo>
                  <a:pt x="1731884" y="3076933"/>
                </a:lnTo>
                <a:lnTo>
                  <a:pt x="1694982" y="3074149"/>
                </a:lnTo>
                <a:lnTo>
                  <a:pt x="1659667" y="3070967"/>
                </a:lnTo>
                <a:lnTo>
                  <a:pt x="1626336" y="3068183"/>
                </a:lnTo>
                <a:lnTo>
                  <a:pt x="1593799" y="3065001"/>
                </a:lnTo>
                <a:lnTo>
                  <a:pt x="1563643" y="3061024"/>
                </a:lnTo>
                <a:lnTo>
                  <a:pt x="1534677" y="3057843"/>
                </a:lnTo>
                <a:lnTo>
                  <a:pt x="1507298" y="3054263"/>
                </a:lnTo>
                <a:lnTo>
                  <a:pt x="1482300" y="3050286"/>
                </a:lnTo>
                <a:lnTo>
                  <a:pt x="1458889" y="3046309"/>
                </a:lnTo>
                <a:lnTo>
                  <a:pt x="1437462" y="3041934"/>
                </a:lnTo>
                <a:lnTo>
                  <a:pt x="1418019" y="3037957"/>
                </a:lnTo>
                <a:lnTo>
                  <a:pt x="1400561" y="3033582"/>
                </a:lnTo>
                <a:lnTo>
                  <a:pt x="1385086" y="3029605"/>
                </a:lnTo>
                <a:lnTo>
                  <a:pt x="1372388" y="3024832"/>
                </a:lnTo>
                <a:lnTo>
                  <a:pt x="1361675" y="3020458"/>
                </a:lnTo>
                <a:lnTo>
                  <a:pt x="1356913" y="3017674"/>
                </a:lnTo>
                <a:lnTo>
                  <a:pt x="1352945" y="3015685"/>
                </a:lnTo>
                <a:lnTo>
                  <a:pt x="1349374" y="3013299"/>
                </a:lnTo>
                <a:lnTo>
                  <a:pt x="1346597" y="3010913"/>
                </a:lnTo>
                <a:lnTo>
                  <a:pt x="1344613" y="3008526"/>
                </a:lnTo>
                <a:lnTo>
                  <a:pt x="1343025" y="3006140"/>
                </a:lnTo>
                <a:lnTo>
                  <a:pt x="1341835" y="3003754"/>
                </a:lnTo>
                <a:lnTo>
                  <a:pt x="1341438" y="3001367"/>
                </a:lnTo>
                <a:lnTo>
                  <a:pt x="1341580" y="3000374"/>
                </a:lnTo>
                <a:lnTo>
                  <a:pt x="1341242" y="3000374"/>
                </a:lnTo>
                <a:close/>
                <a:moveTo>
                  <a:pt x="1717823" y="0"/>
                </a:moveTo>
                <a:lnTo>
                  <a:pt x="2909343" y="0"/>
                </a:lnTo>
                <a:lnTo>
                  <a:pt x="2919266" y="3571"/>
                </a:lnTo>
                <a:lnTo>
                  <a:pt x="2927601" y="6745"/>
                </a:lnTo>
                <a:lnTo>
                  <a:pt x="2935937" y="11110"/>
                </a:lnTo>
                <a:lnTo>
                  <a:pt x="2946653" y="15872"/>
                </a:lnTo>
                <a:lnTo>
                  <a:pt x="2959354" y="22618"/>
                </a:lnTo>
                <a:lnTo>
                  <a:pt x="2972849" y="30951"/>
                </a:lnTo>
                <a:lnTo>
                  <a:pt x="2987931" y="40871"/>
                </a:lnTo>
                <a:lnTo>
                  <a:pt x="2995870" y="46427"/>
                </a:lnTo>
                <a:lnTo>
                  <a:pt x="3003808" y="52776"/>
                </a:lnTo>
                <a:lnTo>
                  <a:pt x="3011349" y="58728"/>
                </a:lnTo>
                <a:lnTo>
                  <a:pt x="3019684" y="65474"/>
                </a:lnTo>
                <a:lnTo>
                  <a:pt x="3027623" y="72616"/>
                </a:lnTo>
                <a:lnTo>
                  <a:pt x="3035957" y="80553"/>
                </a:lnTo>
                <a:lnTo>
                  <a:pt x="3043896" y="88489"/>
                </a:lnTo>
                <a:lnTo>
                  <a:pt x="3051834" y="97219"/>
                </a:lnTo>
                <a:lnTo>
                  <a:pt x="3059375" y="105949"/>
                </a:lnTo>
                <a:lnTo>
                  <a:pt x="3066917" y="115472"/>
                </a:lnTo>
                <a:lnTo>
                  <a:pt x="3074458" y="125393"/>
                </a:lnTo>
                <a:lnTo>
                  <a:pt x="3080808" y="135313"/>
                </a:lnTo>
                <a:lnTo>
                  <a:pt x="3087556" y="146027"/>
                </a:lnTo>
                <a:lnTo>
                  <a:pt x="3093509" y="157536"/>
                </a:lnTo>
                <a:lnTo>
                  <a:pt x="3099066" y="169439"/>
                </a:lnTo>
                <a:lnTo>
                  <a:pt x="3104226" y="181344"/>
                </a:lnTo>
                <a:lnTo>
                  <a:pt x="3108592" y="194439"/>
                </a:lnTo>
                <a:lnTo>
                  <a:pt x="3112958" y="207534"/>
                </a:lnTo>
                <a:lnTo>
                  <a:pt x="3115339" y="217058"/>
                </a:lnTo>
                <a:lnTo>
                  <a:pt x="3117324" y="226581"/>
                </a:lnTo>
                <a:lnTo>
                  <a:pt x="3119309" y="236502"/>
                </a:lnTo>
                <a:lnTo>
                  <a:pt x="3120499" y="246025"/>
                </a:lnTo>
                <a:lnTo>
                  <a:pt x="3121690" y="256342"/>
                </a:lnTo>
                <a:lnTo>
                  <a:pt x="3122087" y="266263"/>
                </a:lnTo>
                <a:lnTo>
                  <a:pt x="3122484" y="276184"/>
                </a:lnTo>
                <a:lnTo>
                  <a:pt x="3122484" y="286103"/>
                </a:lnTo>
                <a:lnTo>
                  <a:pt x="3121690" y="296024"/>
                </a:lnTo>
                <a:lnTo>
                  <a:pt x="3121293" y="306341"/>
                </a:lnTo>
                <a:lnTo>
                  <a:pt x="3120102" y="316659"/>
                </a:lnTo>
                <a:lnTo>
                  <a:pt x="3118515" y="326976"/>
                </a:lnTo>
                <a:lnTo>
                  <a:pt x="3116530" y="337690"/>
                </a:lnTo>
                <a:lnTo>
                  <a:pt x="3114149" y="348007"/>
                </a:lnTo>
                <a:lnTo>
                  <a:pt x="3111767" y="358325"/>
                </a:lnTo>
                <a:lnTo>
                  <a:pt x="3108592" y="369039"/>
                </a:lnTo>
                <a:lnTo>
                  <a:pt x="3105417" y="379356"/>
                </a:lnTo>
                <a:lnTo>
                  <a:pt x="3101845" y="390466"/>
                </a:lnTo>
                <a:lnTo>
                  <a:pt x="3097479" y="401180"/>
                </a:lnTo>
                <a:lnTo>
                  <a:pt x="3093509" y="411894"/>
                </a:lnTo>
                <a:lnTo>
                  <a:pt x="3088747" y="422609"/>
                </a:lnTo>
                <a:lnTo>
                  <a:pt x="3083587" y="434116"/>
                </a:lnTo>
                <a:lnTo>
                  <a:pt x="3078030" y="444830"/>
                </a:lnTo>
                <a:lnTo>
                  <a:pt x="3072076" y="455940"/>
                </a:lnTo>
                <a:lnTo>
                  <a:pt x="3066123" y="466655"/>
                </a:lnTo>
                <a:lnTo>
                  <a:pt x="3059772" y="477766"/>
                </a:lnTo>
                <a:lnTo>
                  <a:pt x="3052628" y="489274"/>
                </a:lnTo>
                <a:lnTo>
                  <a:pt x="3045483" y="500781"/>
                </a:lnTo>
                <a:lnTo>
                  <a:pt x="3037942" y="511891"/>
                </a:lnTo>
                <a:lnTo>
                  <a:pt x="3030401" y="523400"/>
                </a:lnTo>
                <a:lnTo>
                  <a:pt x="3022066" y="534908"/>
                </a:lnTo>
                <a:lnTo>
                  <a:pt x="3013334" y="546415"/>
                </a:lnTo>
                <a:lnTo>
                  <a:pt x="3013334" y="2104709"/>
                </a:lnTo>
                <a:lnTo>
                  <a:pt x="4604543" y="4495920"/>
                </a:lnTo>
                <a:lnTo>
                  <a:pt x="4606527" y="4504649"/>
                </a:lnTo>
                <a:lnTo>
                  <a:pt x="4608511" y="4511792"/>
                </a:lnTo>
                <a:lnTo>
                  <a:pt x="4612481" y="4530046"/>
                </a:lnTo>
                <a:lnTo>
                  <a:pt x="4614862" y="4542744"/>
                </a:lnTo>
                <a:lnTo>
                  <a:pt x="4617243" y="4558220"/>
                </a:lnTo>
                <a:lnTo>
                  <a:pt x="4619625" y="4575679"/>
                </a:lnTo>
                <a:lnTo>
                  <a:pt x="4622403" y="4595123"/>
                </a:lnTo>
                <a:lnTo>
                  <a:pt x="4624387" y="4616948"/>
                </a:lnTo>
                <a:lnTo>
                  <a:pt x="4625975" y="4639964"/>
                </a:lnTo>
                <a:lnTo>
                  <a:pt x="4627166" y="4664963"/>
                </a:lnTo>
                <a:lnTo>
                  <a:pt x="4627563" y="4691153"/>
                </a:lnTo>
                <a:lnTo>
                  <a:pt x="4627166" y="4718533"/>
                </a:lnTo>
                <a:lnTo>
                  <a:pt x="4626373" y="4733215"/>
                </a:lnTo>
                <a:lnTo>
                  <a:pt x="4625579" y="4747501"/>
                </a:lnTo>
                <a:lnTo>
                  <a:pt x="4624387" y="4762183"/>
                </a:lnTo>
                <a:lnTo>
                  <a:pt x="4623197" y="4777262"/>
                </a:lnTo>
                <a:lnTo>
                  <a:pt x="4621213" y="4792341"/>
                </a:lnTo>
                <a:lnTo>
                  <a:pt x="4618831" y="4807817"/>
                </a:lnTo>
                <a:lnTo>
                  <a:pt x="4616449" y="4823689"/>
                </a:lnTo>
                <a:lnTo>
                  <a:pt x="4614068" y="4839562"/>
                </a:lnTo>
                <a:lnTo>
                  <a:pt x="4610496" y="4855038"/>
                </a:lnTo>
                <a:lnTo>
                  <a:pt x="4606923" y="4870910"/>
                </a:lnTo>
                <a:lnTo>
                  <a:pt x="4602557" y="4887180"/>
                </a:lnTo>
                <a:lnTo>
                  <a:pt x="4598191" y="4903449"/>
                </a:lnTo>
                <a:lnTo>
                  <a:pt x="4593032" y="4919719"/>
                </a:lnTo>
                <a:lnTo>
                  <a:pt x="4587872" y="4935988"/>
                </a:lnTo>
                <a:lnTo>
                  <a:pt x="4581919" y="4952257"/>
                </a:lnTo>
                <a:lnTo>
                  <a:pt x="4575171" y="4968527"/>
                </a:lnTo>
                <a:lnTo>
                  <a:pt x="4568821" y="4985193"/>
                </a:lnTo>
                <a:lnTo>
                  <a:pt x="4560883" y="5001463"/>
                </a:lnTo>
                <a:lnTo>
                  <a:pt x="4552944" y="5017732"/>
                </a:lnTo>
                <a:lnTo>
                  <a:pt x="4544212" y="5033605"/>
                </a:lnTo>
                <a:lnTo>
                  <a:pt x="4535083" y="5049874"/>
                </a:lnTo>
                <a:lnTo>
                  <a:pt x="4525161" y="5066144"/>
                </a:lnTo>
                <a:lnTo>
                  <a:pt x="4514047" y="5082016"/>
                </a:lnTo>
                <a:lnTo>
                  <a:pt x="4503331" y="5097889"/>
                </a:lnTo>
                <a:lnTo>
                  <a:pt x="4491423" y="5112968"/>
                </a:lnTo>
                <a:lnTo>
                  <a:pt x="4478722" y="5128444"/>
                </a:lnTo>
                <a:lnTo>
                  <a:pt x="4465624" y="5143919"/>
                </a:lnTo>
                <a:lnTo>
                  <a:pt x="4451335" y="5158998"/>
                </a:lnTo>
                <a:lnTo>
                  <a:pt x="4437047" y="5173681"/>
                </a:lnTo>
                <a:lnTo>
                  <a:pt x="4421171" y="5188363"/>
                </a:lnTo>
                <a:lnTo>
                  <a:pt x="4404897" y="5202251"/>
                </a:lnTo>
                <a:lnTo>
                  <a:pt x="4387830" y="5216537"/>
                </a:lnTo>
                <a:lnTo>
                  <a:pt x="4369969" y="5230028"/>
                </a:lnTo>
                <a:lnTo>
                  <a:pt x="4351315" y="5243520"/>
                </a:lnTo>
                <a:lnTo>
                  <a:pt x="4331865" y="5256615"/>
                </a:lnTo>
                <a:lnTo>
                  <a:pt x="4311227" y="5268916"/>
                </a:lnTo>
                <a:lnTo>
                  <a:pt x="4290191" y="5281218"/>
                </a:lnTo>
                <a:lnTo>
                  <a:pt x="4267963" y="5293122"/>
                </a:lnTo>
                <a:lnTo>
                  <a:pt x="4255659" y="5299074"/>
                </a:lnTo>
                <a:lnTo>
                  <a:pt x="371507" y="5299074"/>
                </a:lnTo>
                <a:lnTo>
                  <a:pt x="359600" y="5293122"/>
                </a:lnTo>
                <a:lnTo>
                  <a:pt x="337373" y="5281218"/>
                </a:lnTo>
                <a:lnTo>
                  <a:pt x="315940" y="5268916"/>
                </a:lnTo>
                <a:lnTo>
                  <a:pt x="295301" y="5256615"/>
                </a:lnTo>
                <a:lnTo>
                  <a:pt x="275852" y="5243520"/>
                </a:lnTo>
                <a:lnTo>
                  <a:pt x="257197" y="5230028"/>
                </a:lnTo>
                <a:lnTo>
                  <a:pt x="239336" y="5216537"/>
                </a:lnTo>
                <a:lnTo>
                  <a:pt x="222269" y="5202251"/>
                </a:lnTo>
                <a:lnTo>
                  <a:pt x="205996" y="5188363"/>
                </a:lnTo>
                <a:lnTo>
                  <a:pt x="190517" y="5173681"/>
                </a:lnTo>
                <a:lnTo>
                  <a:pt x="175831" y="5158998"/>
                </a:lnTo>
                <a:lnTo>
                  <a:pt x="161939" y="5143919"/>
                </a:lnTo>
                <a:lnTo>
                  <a:pt x="148841" y="5128444"/>
                </a:lnTo>
                <a:lnTo>
                  <a:pt x="135743" y="5112968"/>
                </a:lnTo>
                <a:lnTo>
                  <a:pt x="124233" y="5097889"/>
                </a:lnTo>
                <a:lnTo>
                  <a:pt x="113119" y="5082016"/>
                </a:lnTo>
                <a:lnTo>
                  <a:pt x="102403" y="5066144"/>
                </a:lnTo>
                <a:lnTo>
                  <a:pt x="92480" y="5049874"/>
                </a:lnTo>
                <a:lnTo>
                  <a:pt x="82954" y="5033605"/>
                </a:lnTo>
                <a:lnTo>
                  <a:pt x="74222" y="5017732"/>
                </a:lnTo>
                <a:lnTo>
                  <a:pt x="66284" y="5001463"/>
                </a:lnTo>
                <a:lnTo>
                  <a:pt x="59140" y="4985193"/>
                </a:lnTo>
                <a:lnTo>
                  <a:pt x="51995" y="4968527"/>
                </a:lnTo>
                <a:lnTo>
                  <a:pt x="45248" y="4952257"/>
                </a:lnTo>
                <a:lnTo>
                  <a:pt x="39294" y="4935988"/>
                </a:lnTo>
                <a:lnTo>
                  <a:pt x="34134" y="4919719"/>
                </a:lnTo>
                <a:lnTo>
                  <a:pt x="28975" y="4903449"/>
                </a:lnTo>
                <a:lnTo>
                  <a:pt x="24609" y="4887180"/>
                </a:lnTo>
                <a:lnTo>
                  <a:pt x="20243" y="4870910"/>
                </a:lnTo>
                <a:lnTo>
                  <a:pt x="17067" y="4855038"/>
                </a:lnTo>
                <a:lnTo>
                  <a:pt x="13495" y="4839562"/>
                </a:lnTo>
                <a:lnTo>
                  <a:pt x="10717" y="4823689"/>
                </a:lnTo>
                <a:lnTo>
                  <a:pt x="8335" y="4807817"/>
                </a:lnTo>
                <a:lnTo>
                  <a:pt x="6351" y="4792341"/>
                </a:lnTo>
                <a:lnTo>
                  <a:pt x="4366" y="4777262"/>
                </a:lnTo>
                <a:lnTo>
                  <a:pt x="2779" y="4762183"/>
                </a:lnTo>
                <a:lnTo>
                  <a:pt x="1588" y="4747501"/>
                </a:lnTo>
                <a:lnTo>
                  <a:pt x="794" y="4733215"/>
                </a:lnTo>
                <a:lnTo>
                  <a:pt x="397" y="4718533"/>
                </a:lnTo>
                <a:lnTo>
                  <a:pt x="0" y="4691153"/>
                </a:lnTo>
                <a:lnTo>
                  <a:pt x="397" y="4664963"/>
                </a:lnTo>
                <a:lnTo>
                  <a:pt x="1191" y="4639964"/>
                </a:lnTo>
                <a:lnTo>
                  <a:pt x="2779" y="4616948"/>
                </a:lnTo>
                <a:lnTo>
                  <a:pt x="4763" y="4595123"/>
                </a:lnTo>
                <a:lnTo>
                  <a:pt x="7542" y="4575679"/>
                </a:lnTo>
                <a:lnTo>
                  <a:pt x="9923" y="4558220"/>
                </a:lnTo>
                <a:lnTo>
                  <a:pt x="12304" y="4542744"/>
                </a:lnTo>
                <a:lnTo>
                  <a:pt x="15083" y="4530046"/>
                </a:lnTo>
                <a:lnTo>
                  <a:pt x="19052" y="4511792"/>
                </a:lnTo>
                <a:lnTo>
                  <a:pt x="20640" y="4504649"/>
                </a:lnTo>
                <a:lnTo>
                  <a:pt x="23418" y="4495920"/>
                </a:lnTo>
                <a:lnTo>
                  <a:pt x="1614229" y="2104709"/>
                </a:lnTo>
                <a:lnTo>
                  <a:pt x="1614229" y="546415"/>
                </a:lnTo>
                <a:lnTo>
                  <a:pt x="1605497" y="534908"/>
                </a:lnTo>
                <a:lnTo>
                  <a:pt x="1597559" y="523400"/>
                </a:lnTo>
                <a:lnTo>
                  <a:pt x="1589621" y="511891"/>
                </a:lnTo>
                <a:lnTo>
                  <a:pt x="1582080" y="500781"/>
                </a:lnTo>
                <a:lnTo>
                  <a:pt x="1574539" y="489274"/>
                </a:lnTo>
                <a:lnTo>
                  <a:pt x="1567791" y="477766"/>
                </a:lnTo>
                <a:lnTo>
                  <a:pt x="1561044" y="466655"/>
                </a:lnTo>
                <a:lnTo>
                  <a:pt x="1555090" y="455940"/>
                </a:lnTo>
                <a:lnTo>
                  <a:pt x="1549136" y="444830"/>
                </a:lnTo>
                <a:lnTo>
                  <a:pt x="1543580" y="434116"/>
                </a:lnTo>
                <a:lnTo>
                  <a:pt x="1538817" y="422609"/>
                </a:lnTo>
                <a:lnTo>
                  <a:pt x="1534054" y="411894"/>
                </a:lnTo>
                <a:lnTo>
                  <a:pt x="1529688" y="401180"/>
                </a:lnTo>
                <a:lnTo>
                  <a:pt x="1525322" y="390466"/>
                </a:lnTo>
                <a:lnTo>
                  <a:pt x="1522147" y="379356"/>
                </a:lnTo>
                <a:lnTo>
                  <a:pt x="1518971" y="369039"/>
                </a:lnTo>
                <a:lnTo>
                  <a:pt x="1515796" y="358325"/>
                </a:lnTo>
                <a:lnTo>
                  <a:pt x="1513018" y="348007"/>
                </a:lnTo>
                <a:lnTo>
                  <a:pt x="1511033" y="337690"/>
                </a:lnTo>
                <a:lnTo>
                  <a:pt x="1509049" y="326976"/>
                </a:lnTo>
                <a:lnTo>
                  <a:pt x="1507461" y="316659"/>
                </a:lnTo>
                <a:lnTo>
                  <a:pt x="1506270" y="306341"/>
                </a:lnTo>
                <a:lnTo>
                  <a:pt x="1505476" y="296024"/>
                </a:lnTo>
                <a:lnTo>
                  <a:pt x="1505079" y="286103"/>
                </a:lnTo>
                <a:lnTo>
                  <a:pt x="1505079" y="276184"/>
                </a:lnTo>
                <a:lnTo>
                  <a:pt x="1505079" y="266263"/>
                </a:lnTo>
                <a:lnTo>
                  <a:pt x="1505873" y="256342"/>
                </a:lnTo>
                <a:lnTo>
                  <a:pt x="1506667" y="246025"/>
                </a:lnTo>
                <a:lnTo>
                  <a:pt x="1508255" y="236502"/>
                </a:lnTo>
                <a:lnTo>
                  <a:pt x="1510239" y="226581"/>
                </a:lnTo>
                <a:lnTo>
                  <a:pt x="1512224" y="217058"/>
                </a:lnTo>
                <a:lnTo>
                  <a:pt x="1514208" y="207534"/>
                </a:lnTo>
                <a:lnTo>
                  <a:pt x="1518574" y="194439"/>
                </a:lnTo>
                <a:lnTo>
                  <a:pt x="1522940" y="181344"/>
                </a:lnTo>
                <a:lnTo>
                  <a:pt x="1528497" y="169439"/>
                </a:lnTo>
                <a:lnTo>
                  <a:pt x="1533657" y="157536"/>
                </a:lnTo>
                <a:lnTo>
                  <a:pt x="1540007" y="146027"/>
                </a:lnTo>
                <a:lnTo>
                  <a:pt x="1546358" y="135313"/>
                </a:lnTo>
                <a:lnTo>
                  <a:pt x="1553502" y="125393"/>
                </a:lnTo>
                <a:lnTo>
                  <a:pt x="1560250" y="115472"/>
                </a:lnTo>
                <a:lnTo>
                  <a:pt x="1567791" y="105949"/>
                </a:lnTo>
                <a:lnTo>
                  <a:pt x="1575729" y="97219"/>
                </a:lnTo>
                <a:lnTo>
                  <a:pt x="1583271" y="88489"/>
                </a:lnTo>
                <a:lnTo>
                  <a:pt x="1591606" y="80553"/>
                </a:lnTo>
                <a:lnTo>
                  <a:pt x="1599544" y="72616"/>
                </a:lnTo>
                <a:lnTo>
                  <a:pt x="1607879" y="65474"/>
                </a:lnTo>
                <a:lnTo>
                  <a:pt x="1615817" y="58728"/>
                </a:lnTo>
                <a:lnTo>
                  <a:pt x="1623358" y="52776"/>
                </a:lnTo>
                <a:lnTo>
                  <a:pt x="1631693" y="46427"/>
                </a:lnTo>
                <a:lnTo>
                  <a:pt x="1639235" y="40871"/>
                </a:lnTo>
                <a:lnTo>
                  <a:pt x="1654317" y="30951"/>
                </a:lnTo>
                <a:lnTo>
                  <a:pt x="1668606" y="22618"/>
                </a:lnTo>
                <a:lnTo>
                  <a:pt x="1680910" y="15872"/>
                </a:lnTo>
                <a:lnTo>
                  <a:pt x="1691230" y="11110"/>
                </a:lnTo>
                <a:lnTo>
                  <a:pt x="1699565" y="6745"/>
                </a:lnTo>
                <a:lnTo>
                  <a:pt x="1708297" y="3571"/>
                </a:lnTo>
                <a:lnTo>
                  <a:pt x="1717823" y="0"/>
                </a:lnTo>
                <a:close/>
              </a:path>
            </a:pathLst>
          </a:custGeom>
          <a:solidFill>
            <a:schemeClr val="bg1"/>
          </a:solidFill>
          <a:ln>
            <a:noFill/>
          </a:ln>
        </p:spPr>
        <p:txBody>
          <a:bodyPr anchor="ctr"/>
          <a:lstStyle/>
          <a:p>
            <a:endParaRPr lang="zh-CN" altLang="en-US" sz="2551"/>
          </a:p>
        </p:txBody>
      </p:sp>
      <p:sp>
        <p:nvSpPr>
          <p:cNvPr id="9" name="内容占位符 2">
            <a:extLst>
              <a:ext uri="{FF2B5EF4-FFF2-40B4-BE49-F238E27FC236}">
                <a16:creationId xmlns:a16="http://schemas.microsoft.com/office/drawing/2014/main" id="{8E4CF785-82D4-4C40-A2F5-244068527AA8}"/>
              </a:ext>
            </a:extLst>
          </p:cNvPr>
          <p:cNvSpPr>
            <a:spLocks noGrp="1"/>
          </p:cNvSpPr>
          <p:nvPr>
            <p:ph idx="1"/>
          </p:nvPr>
        </p:nvSpPr>
        <p:spPr>
          <a:xfrm>
            <a:off x="273599" y="1674088"/>
            <a:ext cx="16790340" cy="7701430"/>
          </a:xfrm>
        </p:spPr>
        <p:txBody>
          <a:bodyPr>
            <a:normAutofit/>
          </a:bodyPr>
          <a:lstStyle>
            <a:lvl1pPr>
              <a:lnSpc>
                <a:spcPct val="150000"/>
              </a:lnSpc>
              <a:defRPr sz="2400">
                <a:solidFill>
                  <a:schemeClr val="tx1">
                    <a:lumMod val="65000"/>
                    <a:lumOff val="35000"/>
                  </a:schemeClr>
                </a:solidFill>
              </a:defRPr>
            </a:lvl1pPr>
            <a:lvl2pPr>
              <a:lnSpc>
                <a:spcPct val="150000"/>
              </a:lnSpc>
              <a:defRPr sz="2400">
                <a:solidFill>
                  <a:schemeClr val="tx1">
                    <a:lumMod val="65000"/>
                    <a:lumOff val="35000"/>
                  </a:schemeClr>
                </a:solidFill>
              </a:defRPr>
            </a:lvl2pPr>
            <a:lvl3pPr>
              <a:lnSpc>
                <a:spcPct val="150000"/>
              </a:lnSpc>
              <a:defRPr sz="2400">
                <a:solidFill>
                  <a:schemeClr val="tx1">
                    <a:lumMod val="65000"/>
                    <a:lumOff val="35000"/>
                  </a:schemeClr>
                </a:solidFill>
              </a:defRPr>
            </a:lvl3pPr>
            <a:lvl4pPr>
              <a:lnSpc>
                <a:spcPct val="150000"/>
              </a:lnSpc>
              <a:defRPr sz="2400">
                <a:solidFill>
                  <a:schemeClr val="tx1">
                    <a:lumMod val="65000"/>
                    <a:lumOff val="35000"/>
                  </a:schemeClr>
                </a:solidFill>
              </a:defRPr>
            </a:lvl4pPr>
            <a:lvl5pPr>
              <a:lnSpc>
                <a:spcPct val="150000"/>
              </a:lnSpc>
              <a:defRPr sz="24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940711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20" name="标题 1"/>
          <p:cNvSpPr>
            <a:spLocks noGrp="1"/>
          </p:cNvSpPr>
          <p:nvPr>
            <p:ph type="title" hasCustomPrompt="1"/>
          </p:nvPr>
        </p:nvSpPr>
        <p:spPr>
          <a:xfrm>
            <a:off x="7112512" y="2873990"/>
            <a:ext cx="9890698" cy="1623349"/>
          </a:xfrm>
        </p:spPr>
        <p:txBody>
          <a:bodyPr anchor="b">
            <a:normAutofit/>
          </a:bodyPr>
          <a:lstStyle>
            <a:lvl1pPr>
              <a:defRPr sz="4800" b="1">
                <a:solidFill>
                  <a:schemeClr val="tx1">
                    <a:lumMod val="85000"/>
                    <a:lumOff val="15000"/>
                  </a:schemeClr>
                </a:solidFill>
              </a:defRPr>
            </a:lvl1pPr>
          </a:lstStyle>
          <a:p>
            <a:r>
              <a:rPr lang="zh-CN" altLang="en-US" dirty="0"/>
              <a:t>单击此处添加幻灯片章节标题</a:t>
            </a:r>
          </a:p>
        </p:txBody>
      </p:sp>
      <p:sp>
        <p:nvSpPr>
          <p:cNvPr id="21" name="文本占位符 2"/>
          <p:cNvSpPr>
            <a:spLocks noGrp="1"/>
          </p:cNvSpPr>
          <p:nvPr>
            <p:ph type="body" idx="1"/>
          </p:nvPr>
        </p:nvSpPr>
        <p:spPr>
          <a:xfrm>
            <a:off x="7112512" y="4592660"/>
            <a:ext cx="9890698" cy="1439505"/>
          </a:xfrm>
        </p:spPr>
        <p:txBody>
          <a:bodyPr anchor="t">
            <a:normAutofit/>
          </a:bodyPr>
          <a:lstStyle>
            <a:lvl1pPr marL="0" indent="0">
              <a:buNone/>
              <a:defRPr sz="2400" b="0">
                <a:solidFill>
                  <a:schemeClr val="tx1">
                    <a:lumMod val="50000"/>
                    <a:lumOff val="50000"/>
                  </a:schemeClr>
                </a:solidFill>
              </a:defRPr>
            </a:lvl1pPr>
            <a:lvl2pPr marL="457199" indent="0">
              <a:buNone/>
              <a:defRPr sz="2000">
                <a:solidFill>
                  <a:schemeClr val="tx1">
                    <a:tint val="75000"/>
                  </a:schemeClr>
                </a:solidFill>
              </a:defRPr>
            </a:lvl2pPr>
            <a:lvl3pPr marL="914397" indent="0">
              <a:buNone/>
              <a:defRPr sz="1800">
                <a:solidFill>
                  <a:schemeClr val="tx1">
                    <a:tint val="75000"/>
                  </a:schemeClr>
                </a:solidFill>
              </a:defRPr>
            </a:lvl3pPr>
            <a:lvl4pPr marL="1371596" indent="0">
              <a:buNone/>
              <a:defRPr sz="1600">
                <a:solidFill>
                  <a:schemeClr val="tx1">
                    <a:tint val="75000"/>
                  </a:schemeClr>
                </a:solidFill>
              </a:defRPr>
            </a:lvl4pPr>
            <a:lvl5pPr marL="1828795" indent="0">
              <a:buNone/>
              <a:defRPr sz="1600">
                <a:solidFill>
                  <a:schemeClr val="tx1">
                    <a:tint val="75000"/>
                  </a:schemeClr>
                </a:solidFill>
              </a:defRPr>
            </a:lvl5pPr>
            <a:lvl6pPr marL="2285993" indent="0">
              <a:buNone/>
              <a:defRPr sz="1600">
                <a:solidFill>
                  <a:schemeClr val="tx1">
                    <a:tint val="75000"/>
                  </a:schemeClr>
                </a:solidFill>
              </a:defRPr>
            </a:lvl6pPr>
            <a:lvl7pPr marL="2743191" indent="0">
              <a:buNone/>
              <a:defRPr sz="1600">
                <a:solidFill>
                  <a:schemeClr val="tx1">
                    <a:tint val="75000"/>
                  </a:schemeClr>
                </a:solidFill>
              </a:defRPr>
            </a:lvl7pPr>
            <a:lvl8pPr marL="3200390" indent="0">
              <a:buNone/>
              <a:defRPr sz="1600">
                <a:solidFill>
                  <a:schemeClr val="tx1">
                    <a:tint val="75000"/>
                  </a:schemeClr>
                </a:solidFill>
              </a:defRPr>
            </a:lvl8pPr>
            <a:lvl9pPr marL="3657590" indent="0">
              <a:buNone/>
              <a:defRPr sz="1600">
                <a:solidFill>
                  <a:schemeClr val="tx1">
                    <a:tint val="75000"/>
                  </a:schemeClr>
                </a:solidFill>
              </a:defRPr>
            </a:lvl9pPr>
          </a:lstStyle>
          <a:p>
            <a:pPr lvl="0"/>
            <a:r>
              <a:rPr lang="zh-CN" altLang="en-US" dirty="0"/>
              <a:t>单击此处编辑母版文本样式</a:t>
            </a:r>
          </a:p>
        </p:txBody>
      </p:sp>
      <p:grpSp>
        <p:nvGrpSpPr>
          <p:cNvPr id="9" name="Group 103"/>
          <p:cNvGrpSpPr/>
          <p:nvPr userDrawn="1"/>
        </p:nvGrpSpPr>
        <p:grpSpPr>
          <a:xfrm>
            <a:off x="-154544" y="0"/>
            <a:ext cx="8076058" cy="9798978"/>
            <a:chOff x="4843448" y="0"/>
            <a:chExt cx="5652356" cy="6858000"/>
          </a:xfrm>
        </p:grpSpPr>
        <p:sp>
          <p:nvSpPr>
            <p:cNvPr id="10" name="Freeform 27"/>
            <p:cNvSpPr>
              <a:spLocks/>
            </p:cNvSpPr>
            <p:nvPr/>
          </p:nvSpPr>
          <p:spPr bwMode="auto">
            <a:xfrm>
              <a:off x="5407219" y="0"/>
              <a:ext cx="1132424" cy="978669"/>
            </a:xfrm>
            <a:custGeom>
              <a:avLst/>
              <a:gdLst>
                <a:gd name="T0" fmla="*/ 464 w 464"/>
                <a:gd name="T1" fmla="*/ 0 h 401"/>
                <a:gd name="T2" fmla="*/ 232 w 464"/>
                <a:gd name="T3" fmla="*/ 401 h 401"/>
                <a:gd name="T4" fmla="*/ 0 w 464"/>
                <a:gd name="T5" fmla="*/ 0 h 401"/>
                <a:gd name="T6" fmla="*/ 464 w 464"/>
                <a:gd name="T7" fmla="*/ 0 h 401"/>
              </a:gdLst>
              <a:ahLst/>
              <a:cxnLst>
                <a:cxn ang="0">
                  <a:pos x="T0" y="T1"/>
                </a:cxn>
                <a:cxn ang="0">
                  <a:pos x="T2" y="T3"/>
                </a:cxn>
                <a:cxn ang="0">
                  <a:pos x="T4" y="T5"/>
                </a:cxn>
                <a:cxn ang="0">
                  <a:pos x="T6" y="T7"/>
                </a:cxn>
              </a:cxnLst>
              <a:rect l="0" t="0" r="r" b="b"/>
              <a:pathLst>
                <a:path w="464" h="401">
                  <a:moveTo>
                    <a:pt x="464" y="0"/>
                  </a:moveTo>
                  <a:lnTo>
                    <a:pt x="232" y="401"/>
                  </a:lnTo>
                  <a:lnTo>
                    <a:pt x="0" y="0"/>
                  </a:lnTo>
                  <a:lnTo>
                    <a:pt x="464"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1" name="Freeform 28"/>
            <p:cNvSpPr>
              <a:spLocks/>
            </p:cNvSpPr>
            <p:nvPr/>
          </p:nvSpPr>
          <p:spPr bwMode="auto">
            <a:xfrm>
              <a:off x="5973431" y="0"/>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2" name="Freeform 29"/>
            <p:cNvSpPr>
              <a:spLocks/>
            </p:cNvSpPr>
            <p:nvPr/>
          </p:nvSpPr>
          <p:spPr bwMode="auto">
            <a:xfrm>
              <a:off x="6539643" y="0"/>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6" name="Freeform 30"/>
            <p:cNvSpPr>
              <a:spLocks/>
            </p:cNvSpPr>
            <p:nvPr/>
          </p:nvSpPr>
          <p:spPr bwMode="auto">
            <a:xfrm>
              <a:off x="7103415" y="0"/>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7" name="Freeform 31"/>
            <p:cNvSpPr>
              <a:spLocks/>
            </p:cNvSpPr>
            <p:nvPr/>
          </p:nvSpPr>
          <p:spPr bwMode="auto">
            <a:xfrm>
              <a:off x="7669627" y="0"/>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8" name="Freeform 32"/>
            <p:cNvSpPr>
              <a:spLocks/>
            </p:cNvSpPr>
            <p:nvPr/>
          </p:nvSpPr>
          <p:spPr bwMode="auto">
            <a:xfrm>
              <a:off x="8799609" y="0"/>
              <a:ext cx="1132424" cy="978669"/>
            </a:xfrm>
            <a:custGeom>
              <a:avLst/>
              <a:gdLst>
                <a:gd name="T0" fmla="*/ 464 w 464"/>
                <a:gd name="T1" fmla="*/ 0 h 401"/>
                <a:gd name="T2" fmla="*/ 232 w 464"/>
                <a:gd name="T3" fmla="*/ 401 h 401"/>
                <a:gd name="T4" fmla="*/ 0 w 464"/>
                <a:gd name="T5" fmla="*/ 0 h 401"/>
                <a:gd name="T6" fmla="*/ 464 w 464"/>
                <a:gd name="T7" fmla="*/ 0 h 401"/>
              </a:gdLst>
              <a:ahLst/>
              <a:cxnLst>
                <a:cxn ang="0">
                  <a:pos x="T0" y="T1"/>
                </a:cxn>
                <a:cxn ang="0">
                  <a:pos x="T2" y="T3"/>
                </a:cxn>
                <a:cxn ang="0">
                  <a:pos x="T4" y="T5"/>
                </a:cxn>
                <a:cxn ang="0">
                  <a:pos x="T6" y="T7"/>
                </a:cxn>
              </a:cxnLst>
              <a:rect l="0" t="0" r="r" b="b"/>
              <a:pathLst>
                <a:path w="464" h="401">
                  <a:moveTo>
                    <a:pt x="464" y="0"/>
                  </a:moveTo>
                  <a:lnTo>
                    <a:pt x="232" y="401"/>
                  </a:lnTo>
                  <a:lnTo>
                    <a:pt x="0" y="0"/>
                  </a:lnTo>
                  <a:lnTo>
                    <a:pt x="464"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9" name="Freeform 33"/>
            <p:cNvSpPr>
              <a:spLocks/>
            </p:cNvSpPr>
            <p:nvPr/>
          </p:nvSpPr>
          <p:spPr bwMode="auto">
            <a:xfrm>
              <a:off x="9365821" y="0"/>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2" name="Freeform 36"/>
            <p:cNvSpPr>
              <a:spLocks/>
            </p:cNvSpPr>
            <p:nvPr/>
          </p:nvSpPr>
          <p:spPr bwMode="auto">
            <a:xfrm>
              <a:off x="4843448" y="978669"/>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3" name="Freeform 37"/>
            <p:cNvSpPr>
              <a:spLocks/>
            </p:cNvSpPr>
            <p:nvPr/>
          </p:nvSpPr>
          <p:spPr bwMode="auto">
            <a:xfrm>
              <a:off x="5407219" y="981109"/>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4" name="Freeform 38"/>
            <p:cNvSpPr>
              <a:spLocks/>
            </p:cNvSpPr>
            <p:nvPr/>
          </p:nvSpPr>
          <p:spPr bwMode="auto">
            <a:xfrm>
              <a:off x="5973431" y="978669"/>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5" name="Freeform 39"/>
            <p:cNvSpPr>
              <a:spLocks/>
            </p:cNvSpPr>
            <p:nvPr/>
          </p:nvSpPr>
          <p:spPr bwMode="auto">
            <a:xfrm>
              <a:off x="7103415" y="981109"/>
              <a:ext cx="1132424" cy="978669"/>
            </a:xfrm>
            <a:custGeom>
              <a:avLst/>
              <a:gdLst>
                <a:gd name="T0" fmla="*/ 464 w 464"/>
                <a:gd name="T1" fmla="*/ 0 h 401"/>
                <a:gd name="T2" fmla="*/ 232 w 464"/>
                <a:gd name="T3" fmla="*/ 401 h 401"/>
                <a:gd name="T4" fmla="*/ 0 w 464"/>
                <a:gd name="T5" fmla="*/ 0 h 401"/>
                <a:gd name="T6" fmla="*/ 464 w 464"/>
                <a:gd name="T7" fmla="*/ 0 h 401"/>
              </a:gdLst>
              <a:ahLst/>
              <a:cxnLst>
                <a:cxn ang="0">
                  <a:pos x="T0" y="T1"/>
                </a:cxn>
                <a:cxn ang="0">
                  <a:pos x="T2" y="T3"/>
                </a:cxn>
                <a:cxn ang="0">
                  <a:pos x="T4" y="T5"/>
                </a:cxn>
                <a:cxn ang="0">
                  <a:pos x="T6" y="T7"/>
                </a:cxn>
              </a:cxnLst>
              <a:rect l="0" t="0" r="r" b="b"/>
              <a:pathLst>
                <a:path w="464" h="401">
                  <a:moveTo>
                    <a:pt x="464" y="0"/>
                  </a:moveTo>
                  <a:lnTo>
                    <a:pt x="232" y="401"/>
                  </a:lnTo>
                  <a:lnTo>
                    <a:pt x="0" y="0"/>
                  </a:lnTo>
                  <a:lnTo>
                    <a:pt x="464"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6" name="Freeform 40"/>
            <p:cNvSpPr>
              <a:spLocks/>
            </p:cNvSpPr>
            <p:nvPr/>
          </p:nvSpPr>
          <p:spPr bwMode="auto">
            <a:xfrm>
              <a:off x="7669627" y="978669"/>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7" name="Freeform 41"/>
            <p:cNvSpPr>
              <a:spLocks/>
            </p:cNvSpPr>
            <p:nvPr/>
          </p:nvSpPr>
          <p:spPr bwMode="auto">
            <a:xfrm>
              <a:off x="8235839" y="981109"/>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8" name="Freeform 42"/>
            <p:cNvSpPr>
              <a:spLocks/>
            </p:cNvSpPr>
            <p:nvPr/>
          </p:nvSpPr>
          <p:spPr bwMode="auto">
            <a:xfrm>
              <a:off x="8799609" y="978669"/>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9" name="Freeform 43"/>
            <p:cNvSpPr>
              <a:spLocks/>
            </p:cNvSpPr>
            <p:nvPr/>
          </p:nvSpPr>
          <p:spPr bwMode="auto">
            <a:xfrm>
              <a:off x="9365821" y="981109"/>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0" name="Freeform 46"/>
            <p:cNvSpPr>
              <a:spLocks/>
            </p:cNvSpPr>
            <p:nvPr/>
          </p:nvSpPr>
          <p:spPr bwMode="auto">
            <a:xfrm>
              <a:off x="4843448" y="1957336"/>
              <a:ext cx="1129983" cy="978669"/>
            </a:xfrm>
            <a:custGeom>
              <a:avLst/>
              <a:gdLst>
                <a:gd name="T0" fmla="*/ 0 w 463"/>
                <a:gd name="T1" fmla="*/ 401 h 401"/>
                <a:gd name="T2" fmla="*/ 231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1"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1" name="Freeform 47"/>
            <p:cNvSpPr>
              <a:spLocks/>
            </p:cNvSpPr>
            <p:nvPr/>
          </p:nvSpPr>
          <p:spPr bwMode="auto">
            <a:xfrm>
              <a:off x="5973431" y="1957336"/>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2" name="Freeform 48"/>
            <p:cNvSpPr>
              <a:spLocks/>
            </p:cNvSpPr>
            <p:nvPr/>
          </p:nvSpPr>
          <p:spPr bwMode="auto">
            <a:xfrm>
              <a:off x="6539643" y="1957336"/>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3" name="Freeform 49"/>
            <p:cNvSpPr>
              <a:spLocks/>
            </p:cNvSpPr>
            <p:nvPr/>
          </p:nvSpPr>
          <p:spPr bwMode="auto">
            <a:xfrm>
              <a:off x="7103415" y="1957336"/>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4" name="Freeform 50"/>
            <p:cNvSpPr>
              <a:spLocks/>
            </p:cNvSpPr>
            <p:nvPr/>
          </p:nvSpPr>
          <p:spPr bwMode="auto">
            <a:xfrm>
              <a:off x="7669627" y="1957336"/>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5" name="Freeform 51"/>
            <p:cNvSpPr>
              <a:spLocks/>
            </p:cNvSpPr>
            <p:nvPr/>
          </p:nvSpPr>
          <p:spPr bwMode="auto">
            <a:xfrm>
              <a:off x="8235839" y="1957336"/>
              <a:ext cx="1129983" cy="978669"/>
            </a:xfrm>
            <a:custGeom>
              <a:avLst/>
              <a:gdLst>
                <a:gd name="T0" fmla="*/ 0 w 463"/>
                <a:gd name="T1" fmla="*/ 401 h 401"/>
                <a:gd name="T2" fmla="*/ 231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1" y="0"/>
                  </a:lnTo>
                  <a:lnTo>
                    <a:pt x="463"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6" name="Freeform 52"/>
            <p:cNvSpPr>
              <a:spLocks/>
            </p:cNvSpPr>
            <p:nvPr/>
          </p:nvSpPr>
          <p:spPr bwMode="auto">
            <a:xfrm>
              <a:off x="9365821" y="1957336"/>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7" name="Freeform 56"/>
            <p:cNvSpPr>
              <a:spLocks/>
            </p:cNvSpPr>
            <p:nvPr/>
          </p:nvSpPr>
          <p:spPr bwMode="auto">
            <a:xfrm>
              <a:off x="4843448" y="2936005"/>
              <a:ext cx="1129983" cy="981109"/>
            </a:xfrm>
            <a:custGeom>
              <a:avLst/>
              <a:gdLst>
                <a:gd name="T0" fmla="*/ 463 w 463"/>
                <a:gd name="T1" fmla="*/ 0 h 402"/>
                <a:gd name="T2" fmla="*/ 231 w 463"/>
                <a:gd name="T3" fmla="*/ 402 h 402"/>
                <a:gd name="T4" fmla="*/ 0 w 463"/>
                <a:gd name="T5" fmla="*/ 0 h 402"/>
                <a:gd name="T6" fmla="*/ 463 w 463"/>
                <a:gd name="T7" fmla="*/ 0 h 402"/>
              </a:gdLst>
              <a:ahLst/>
              <a:cxnLst>
                <a:cxn ang="0">
                  <a:pos x="T0" y="T1"/>
                </a:cxn>
                <a:cxn ang="0">
                  <a:pos x="T2" y="T3"/>
                </a:cxn>
                <a:cxn ang="0">
                  <a:pos x="T4" y="T5"/>
                </a:cxn>
                <a:cxn ang="0">
                  <a:pos x="T6" y="T7"/>
                </a:cxn>
              </a:cxnLst>
              <a:rect l="0" t="0" r="r" b="b"/>
              <a:pathLst>
                <a:path w="463" h="402">
                  <a:moveTo>
                    <a:pt x="463" y="0"/>
                  </a:moveTo>
                  <a:lnTo>
                    <a:pt x="231" y="402"/>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8" name="Freeform 57"/>
            <p:cNvSpPr>
              <a:spLocks/>
            </p:cNvSpPr>
            <p:nvPr/>
          </p:nvSpPr>
          <p:spPr bwMode="auto">
            <a:xfrm>
              <a:off x="5407219" y="2936005"/>
              <a:ext cx="1132424" cy="981109"/>
            </a:xfrm>
            <a:custGeom>
              <a:avLst/>
              <a:gdLst>
                <a:gd name="T0" fmla="*/ 0 w 464"/>
                <a:gd name="T1" fmla="*/ 402 h 402"/>
                <a:gd name="T2" fmla="*/ 232 w 464"/>
                <a:gd name="T3" fmla="*/ 0 h 402"/>
                <a:gd name="T4" fmla="*/ 464 w 464"/>
                <a:gd name="T5" fmla="*/ 402 h 402"/>
                <a:gd name="T6" fmla="*/ 0 w 464"/>
                <a:gd name="T7" fmla="*/ 402 h 402"/>
              </a:gdLst>
              <a:ahLst/>
              <a:cxnLst>
                <a:cxn ang="0">
                  <a:pos x="T0" y="T1"/>
                </a:cxn>
                <a:cxn ang="0">
                  <a:pos x="T2" y="T3"/>
                </a:cxn>
                <a:cxn ang="0">
                  <a:pos x="T4" y="T5"/>
                </a:cxn>
                <a:cxn ang="0">
                  <a:pos x="T6" y="T7"/>
                </a:cxn>
              </a:cxnLst>
              <a:rect l="0" t="0" r="r" b="b"/>
              <a:pathLst>
                <a:path w="464" h="402">
                  <a:moveTo>
                    <a:pt x="0" y="402"/>
                  </a:moveTo>
                  <a:lnTo>
                    <a:pt x="232" y="0"/>
                  </a:lnTo>
                  <a:lnTo>
                    <a:pt x="464" y="402"/>
                  </a:lnTo>
                  <a:lnTo>
                    <a:pt x="0" y="402"/>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9" name="Freeform 58"/>
            <p:cNvSpPr>
              <a:spLocks/>
            </p:cNvSpPr>
            <p:nvPr/>
          </p:nvSpPr>
          <p:spPr bwMode="auto">
            <a:xfrm>
              <a:off x="5973431" y="2936005"/>
              <a:ext cx="1129983" cy="981109"/>
            </a:xfrm>
            <a:custGeom>
              <a:avLst/>
              <a:gdLst>
                <a:gd name="T0" fmla="*/ 463 w 463"/>
                <a:gd name="T1" fmla="*/ 0 h 402"/>
                <a:gd name="T2" fmla="*/ 232 w 463"/>
                <a:gd name="T3" fmla="*/ 402 h 402"/>
                <a:gd name="T4" fmla="*/ 0 w 463"/>
                <a:gd name="T5" fmla="*/ 0 h 402"/>
                <a:gd name="T6" fmla="*/ 463 w 463"/>
                <a:gd name="T7" fmla="*/ 0 h 402"/>
              </a:gdLst>
              <a:ahLst/>
              <a:cxnLst>
                <a:cxn ang="0">
                  <a:pos x="T0" y="T1"/>
                </a:cxn>
                <a:cxn ang="0">
                  <a:pos x="T2" y="T3"/>
                </a:cxn>
                <a:cxn ang="0">
                  <a:pos x="T4" y="T5"/>
                </a:cxn>
                <a:cxn ang="0">
                  <a:pos x="T6" y="T7"/>
                </a:cxn>
              </a:cxnLst>
              <a:rect l="0" t="0" r="r" b="b"/>
              <a:pathLst>
                <a:path w="463" h="402">
                  <a:moveTo>
                    <a:pt x="463" y="0"/>
                  </a:moveTo>
                  <a:lnTo>
                    <a:pt x="232" y="402"/>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0" name="Freeform 59"/>
            <p:cNvSpPr>
              <a:spLocks/>
            </p:cNvSpPr>
            <p:nvPr/>
          </p:nvSpPr>
          <p:spPr bwMode="auto">
            <a:xfrm>
              <a:off x="6539643" y="2936005"/>
              <a:ext cx="1129983" cy="981109"/>
            </a:xfrm>
            <a:custGeom>
              <a:avLst/>
              <a:gdLst>
                <a:gd name="T0" fmla="*/ 0 w 463"/>
                <a:gd name="T1" fmla="*/ 402 h 402"/>
                <a:gd name="T2" fmla="*/ 231 w 463"/>
                <a:gd name="T3" fmla="*/ 0 h 402"/>
                <a:gd name="T4" fmla="*/ 463 w 463"/>
                <a:gd name="T5" fmla="*/ 402 h 402"/>
                <a:gd name="T6" fmla="*/ 0 w 463"/>
                <a:gd name="T7" fmla="*/ 402 h 402"/>
              </a:gdLst>
              <a:ahLst/>
              <a:cxnLst>
                <a:cxn ang="0">
                  <a:pos x="T0" y="T1"/>
                </a:cxn>
                <a:cxn ang="0">
                  <a:pos x="T2" y="T3"/>
                </a:cxn>
                <a:cxn ang="0">
                  <a:pos x="T4" y="T5"/>
                </a:cxn>
                <a:cxn ang="0">
                  <a:pos x="T6" y="T7"/>
                </a:cxn>
              </a:cxnLst>
              <a:rect l="0" t="0" r="r" b="b"/>
              <a:pathLst>
                <a:path w="463" h="402">
                  <a:moveTo>
                    <a:pt x="0" y="402"/>
                  </a:moveTo>
                  <a:lnTo>
                    <a:pt x="231" y="0"/>
                  </a:lnTo>
                  <a:lnTo>
                    <a:pt x="463" y="402"/>
                  </a:lnTo>
                  <a:lnTo>
                    <a:pt x="0" y="402"/>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1" name="Freeform 60"/>
            <p:cNvSpPr>
              <a:spLocks/>
            </p:cNvSpPr>
            <p:nvPr/>
          </p:nvSpPr>
          <p:spPr bwMode="auto">
            <a:xfrm>
              <a:off x="7103415" y="2936005"/>
              <a:ext cx="1132424" cy="981109"/>
            </a:xfrm>
            <a:custGeom>
              <a:avLst/>
              <a:gdLst>
                <a:gd name="T0" fmla="*/ 464 w 464"/>
                <a:gd name="T1" fmla="*/ 0 h 402"/>
                <a:gd name="T2" fmla="*/ 232 w 464"/>
                <a:gd name="T3" fmla="*/ 402 h 402"/>
                <a:gd name="T4" fmla="*/ 0 w 464"/>
                <a:gd name="T5" fmla="*/ 0 h 402"/>
                <a:gd name="T6" fmla="*/ 464 w 464"/>
                <a:gd name="T7" fmla="*/ 0 h 402"/>
              </a:gdLst>
              <a:ahLst/>
              <a:cxnLst>
                <a:cxn ang="0">
                  <a:pos x="T0" y="T1"/>
                </a:cxn>
                <a:cxn ang="0">
                  <a:pos x="T2" y="T3"/>
                </a:cxn>
                <a:cxn ang="0">
                  <a:pos x="T4" y="T5"/>
                </a:cxn>
                <a:cxn ang="0">
                  <a:pos x="T6" y="T7"/>
                </a:cxn>
              </a:cxnLst>
              <a:rect l="0" t="0" r="r" b="b"/>
              <a:pathLst>
                <a:path w="464" h="402">
                  <a:moveTo>
                    <a:pt x="464" y="0"/>
                  </a:moveTo>
                  <a:lnTo>
                    <a:pt x="232" y="402"/>
                  </a:lnTo>
                  <a:lnTo>
                    <a:pt x="0" y="0"/>
                  </a:lnTo>
                  <a:lnTo>
                    <a:pt x="464"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2" name="Freeform 61"/>
            <p:cNvSpPr>
              <a:spLocks/>
            </p:cNvSpPr>
            <p:nvPr/>
          </p:nvSpPr>
          <p:spPr bwMode="auto">
            <a:xfrm>
              <a:off x="8235839" y="2936005"/>
              <a:ext cx="1129983" cy="981109"/>
            </a:xfrm>
            <a:custGeom>
              <a:avLst/>
              <a:gdLst>
                <a:gd name="T0" fmla="*/ 463 w 463"/>
                <a:gd name="T1" fmla="*/ 0 h 402"/>
                <a:gd name="T2" fmla="*/ 231 w 463"/>
                <a:gd name="T3" fmla="*/ 402 h 402"/>
                <a:gd name="T4" fmla="*/ 0 w 463"/>
                <a:gd name="T5" fmla="*/ 0 h 402"/>
                <a:gd name="T6" fmla="*/ 463 w 463"/>
                <a:gd name="T7" fmla="*/ 0 h 402"/>
              </a:gdLst>
              <a:ahLst/>
              <a:cxnLst>
                <a:cxn ang="0">
                  <a:pos x="T0" y="T1"/>
                </a:cxn>
                <a:cxn ang="0">
                  <a:pos x="T2" y="T3"/>
                </a:cxn>
                <a:cxn ang="0">
                  <a:pos x="T4" y="T5"/>
                </a:cxn>
                <a:cxn ang="0">
                  <a:pos x="T6" y="T7"/>
                </a:cxn>
              </a:cxnLst>
              <a:rect l="0" t="0" r="r" b="b"/>
              <a:pathLst>
                <a:path w="463" h="402">
                  <a:moveTo>
                    <a:pt x="463" y="0"/>
                  </a:moveTo>
                  <a:lnTo>
                    <a:pt x="231" y="402"/>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3" name="Freeform 62"/>
            <p:cNvSpPr>
              <a:spLocks/>
            </p:cNvSpPr>
            <p:nvPr/>
          </p:nvSpPr>
          <p:spPr bwMode="auto">
            <a:xfrm>
              <a:off x="8799609" y="2936005"/>
              <a:ext cx="1132424" cy="981109"/>
            </a:xfrm>
            <a:custGeom>
              <a:avLst/>
              <a:gdLst>
                <a:gd name="T0" fmla="*/ 0 w 464"/>
                <a:gd name="T1" fmla="*/ 402 h 402"/>
                <a:gd name="T2" fmla="*/ 232 w 464"/>
                <a:gd name="T3" fmla="*/ 0 h 402"/>
                <a:gd name="T4" fmla="*/ 464 w 464"/>
                <a:gd name="T5" fmla="*/ 402 h 402"/>
                <a:gd name="T6" fmla="*/ 0 w 464"/>
                <a:gd name="T7" fmla="*/ 402 h 402"/>
              </a:gdLst>
              <a:ahLst/>
              <a:cxnLst>
                <a:cxn ang="0">
                  <a:pos x="T0" y="T1"/>
                </a:cxn>
                <a:cxn ang="0">
                  <a:pos x="T2" y="T3"/>
                </a:cxn>
                <a:cxn ang="0">
                  <a:pos x="T4" y="T5"/>
                </a:cxn>
                <a:cxn ang="0">
                  <a:pos x="T6" y="T7"/>
                </a:cxn>
              </a:cxnLst>
              <a:rect l="0" t="0" r="r" b="b"/>
              <a:pathLst>
                <a:path w="464" h="402">
                  <a:moveTo>
                    <a:pt x="0" y="402"/>
                  </a:moveTo>
                  <a:lnTo>
                    <a:pt x="232" y="0"/>
                  </a:lnTo>
                  <a:lnTo>
                    <a:pt x="464" y="402"/>
                  </a:lnTo>
                  <a:lnTo>
                    <a:pt x="0" y="402"/>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4" name="Freeform 65"/>
            <p:cNvSpPr>
              <a:spLocks/>
            </p:cNvSpPr>
            <p:nvPr/>
          </p:nvSpPr>
          <p:spPr bwMode="auto">
            <a:xfrm>
              <a:off x="5407219" y="3917114"/>
              <a:ext cx="1132424" cy="983550"/>
            </a:xfrm>
            <a:custGeom>
              <a:avLst/>
              <a:gdLst>
                <a:gd name="T0" fmla="*/ 464 w 464"/>
                <a:gd name="T1" fmla="*/ 0 h 403"/>
                <a:gd name="T2" fmla="*/ 232 w 464"/>
                <a:gd name="T3" fmla="*/ 403 h 403"/>
                <a:gd name="T4" fmla="*/ 0 w 464"/>
                <a:gd name="T5" fmla="*/ 0 h 403"/>
                <a:gd name="T6" fmla="*/ 464 w 464"/>
                <a:gd name="T7" fmla="*/ 0 h 403"/>
              </a:gdLst>
              <a:ahLst/>
              <a:cxnLst>
                <a:cxn ang="0">
                  <a:pos x="T0" y="T1"/>
                </a:cxn>
                <a:cxn ang="0">
                  <a:pos x="T2" y="T3"/>
                </a:cxn>
                <a:cxn ang="0">
                  <a:pos x="T4" y="T5"/>
                </a:cxn>
                <a:cxn ang="0">
                  <a:pos x="T6" y="T7"/>
                </a:cxn>
              </a:cxnLst>
              <a:rect l="0" t="0" r="r" b="b"/>
              <a:pathLst>
                <a:path w="464" h="403">
                  <a:moveTo>
                    <a:pt x="464" y="0"/>
                  </a:moveTo>
                  <a:lnTo>
                    <a:pt x="232" y="403"/>
                  </a:lnTo>
                  <a:lnTo>
                    <a:pt x="0" y="0"/>
                  </a:lnTo>
                  <a:lnTo>
                    <a:pt x="464"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5" name="Freeform 66"/>
            <p:cNvSpPr>
              <a:spLocks/>
            </p:cNvSpPr>
            <p:nvPr/>
          </p:nvSpPr>
          <p:spPr bwMode="auto">
            <a:xfrm>
              <a:off x="6539643" y="3917114"/>
              <a:ext cx="1129983" cy="983550"/>
            </a:xfrm>
            <a:custGeom>
              <a:avLst/>
              <a:gdLst>
                <a:gd name="T0" fmla="*/ 463 w 463"/>
                <a:gd name="T1" fmla="*/ 0 h 403"/>
                <a:gd name="T2" fmla="*/ 231 w 463"/>
                <a:gd name="T3" fmla="*/ 403 h 403"/>
                <a:gd name="T4" fmla="*/ 0 w 463"/>
                <a:gd name="T5" fmla="*/ 0 h 403"/>
                <a:gd name="T6" fmla="*/ 463 w 463"/>
                <a:gd name="T7" fmla="*/ 0 h 403"/>
              </a:gdLst>
              <a:ahLst/>
              <a:cxnLst>
                <a:cxn ang="0">
                  <a:pos x="T0" y="T1"/>
                </a:cxn>
                <a:cxn ang="0">
                  <a:pos x="T2" y="T3"/>
                </a:cxn>
                <a:cxn ang="0">
                  <a:pos x="T4" y="T5"/>
                </a:cxn>
                <a:cxn ang="0">
                  <a:pos x="T6" y="T7"/>
                </a:cxn>
              </a:cxnLst>
              <a:rect l="0" t="0" r="r" b="b"/>
              <a:pathLst>
                <a:path w="463" h="403">
                  <a:moveTo>
                    <a:pt x="463" y="0"/>
                  </a:moveTo>
                  <a:lnTo>
                    <a:pt x="231" y="403"/>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6" name="Freeform 67"/>
            <p:cNvSpPr>
              <a:spLocks/>
            </p:cNvSpPr>
            <p:nvPr/>
          </p:nvSpPr>
          <p:spPr bwMode="auto">
            <a:xfrm>
              <a:off x="7103415" y="3917114"/>
              <a:ext cx="1132424" cy="983550"/>
            </a:xfrm>
            <a:custGeom>
              <a:avLst/>
              <a:gdLst>
                <a:gd name="T0" fmla="*/ 0 w 464"/>
                <a:gd name="T1" fmla="*/ 403 h 403"/>
                <a:gd name="T2" fmla="*/ 232 w 464"/>
                <a:gd name="T3" fmla="*/ 0 h 403"/>
                <a:gd name="T4" fmla="*/ 464 w 464"/>
                <a:gd name="T5" fmla="*/ 403 h 403"/>
                <a:gd name="T6" fmla="*/ 0 w 464"/>
                <a:gd name="T7" fmla="*/ 403 h 403"/>
              </a:gdLst>
              <a:ahLst/>
              <a:cxnLst>
                <a:cxn ang="0">
                  <a:pos x="T0" y="T1"/>
                </a:cxn>
                <a:cxn ang="0">
                  <a:pos x="T2" y="T3"/>
                </a:cxn>
                <a:cxn ang="0">
                  <a:pos x="T4" y="T5"/>
                </a:cxn>
                <a:cxn ang="0">
                  <a:pos x="T6" y="T7"/>
                </a:cxn>
              </a:cxnLst>
              <a:rect l="0" t="0" r="r" b="b"/>
              <a:pathLst>
                <a:path w="464" h="403">
                  <a:moveTo>
                    <a:pt x="0" y="403"/>
                  </a:moveTo>
                  <a:lnTo>
                    <a:pt x="232" y="0"/>
                  </a:lnTo>
                  <a:lnTo>
                    <a:pt x="464" y="403"/>
                  </a:lnTo>
                  <a:lnTo>
                    <a:pt x="0" y="403"/>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7" name="Freeform 68"/>
            <p:cNvSpPr>
              <a:spLocks/>
            </p:cNvSpPr>
            <p:nvPr/>
          </p:nvSpPr>
          <p:spPr bwMode="auto">
            <a:xfrm>
              <a:off x="7669627" y="3917114"/>
              <a:ext cx="1129983" cy="983550"/>
            </a:xfrm>
            <a:custGeom>
              <a:avLst/>
              <a:gdLst>
                <a:gd name="T0" fmla="*/ 463 w 463"/>
                <a:gd name="T1" fmla="*/ 0 h 403"/>
                <a:gd name="T2" fmla="*/ 232 w 463"/>
                <a:gd name="T3" fmla="*/ 403 h 403"/>
                <a:gd name="T4" fmla="*/ 0 w 463"/>
                <a:gd name="T5" fmla="*/ 0 h 403"/>
                <a:gd name="T6" fmla="*/ 463 w 463"/>
                <a:gd name="T7" fmla="*/ 0 h 403"/>
              </a:gdLst>
              <a:ahLst/>
              <a:cxnLst>
                <a:cxn ang="0">
                  <a:pos x="T0" y="T1"/>
                </a:cxn>
                <a:cxn ang="0">
                  <a:pos x="T2" y="T3"/>
                </a:cxn>
                <a:cxn ang="0">
                  <a:pos x="T4" y="T5"/>
                </a:cxn>
                <a:cxn ang="0">
                  <a:pos x="T6" y="T7"/>
                </a:cxn>
              </a:cxnLst>
              <a:rect l="0" t="0" r="r" b="b"/>
              <a:pathLst>
                <a:path w="463" h="403">
                  <a:moveTo>
                    <a:pt x="463" y="0"/>
                  </a:moveTo>
                  <a:lnTo>
                    <a:pt x="232" y="403"/>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8" name="Freeform 69"/>
            <p:cNvSpPr>
              <a:spLocks/>
            </p:cNvSpPr>
            <p:nvPr/>
          </p:nvSpPr>
          <p:spPr bwMode="auto">
            <a:xfrm>
              <a:off x="8235839" y="3917114"/>
              <a:ext cx="1129983" cy="983550"/>
            </a:xfrm>
            <a:custGeom>
              <a:avLst/>
              <a:gdLst>
                <a:gd name="T0" fmla="*/ 0 w 463"/>
                <a:gd name="T1" fmla="*/ 403 h 403"/>
                <a:gd name="T2" fmla="*/ 231 w 463"/>
                <a:gd name="T3" fmla="*/ 0 h 403"/>
                <a:gd name="T4" fmla="*/ 463 w 463"/>
                <a:gd name="T5" fmla="*/ 403 h 403"/>
                <a:gd name="T6" fmla="*/ 0 w 463"/>
                <a:gd name="T7" fmla="*/ 403 h 403"/>
              </a:gdLst>
              <a:ahLst/>
              <a:cxnLst>
                <a:cxn ang="0">
                  <a:pos x="T0" y="T1"/>
                </a:cxn>
                <a:cxn ang="0">
                  <a:pos x="T2" y="T3"/>
                </a:cxn>
                <a:cxn ang="0">
                  <a:pos x="T4" y="T5"/>
                </a:cxn>
                <a:cxn ang="0">
                  <a:pos x="T6" y="T7"/>
                </a:cxn>
              </a:cxnLst>
              <a:rect l="0" t="0" r="r" b="b"/>
              <a:pathLst>
                <a:path w="463" h="403">
                  <a:moveTo>
                    <a:pt x="0" y="403"/>
                  </a:moveTo>
                  <a:lnTo>
                    <a:pt x="231" y="0"/>
                  </a:lnTo>
                  <a:lnTo>
                    <a:pt x="463" y="403"/>
                  </a:lnTo>
                  <a:lnTo>
                    <a:pt x="0" y="403"/>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9" name="Freeform 70"/>
            <p:cNvSpPr>
              <a:spLocks/>
            </p:cNvSpPr>
            <p:nvPr/>
          </p:nvSpPr>
          <p:spPr bwMode="auto">
            <a:xfrm>
              <a:off x="8799609" y="3917114"/>
              <a:ext cx="1132424" cy="983550"/>
            </a:xfrm>
            <a:custGeom>
              <a:avLst/>
              <a:gdLst>
                <a:gd name="T0" fmla="*/ 464 w 464"/>
                <a:gd name="T1" fmla="*/ 0 h 403"/>
                <a:gd name="T2" fmla="*/ 232 w 464"/>
                <a:gd name="T3" fmla="*/ 403 h 403"/>
                <a:gd name="T4" fmla="*/ 0 w 464"/>
                <a:gd name="T5" fmla="*/ 0 h 403"/>
                <a:gd name="T6" fmla="*/ 464 w 464"/>
                <a:gd name="T7" fmla="*/ 0 h 403"/>
              </a:gdLst>
              <a:ahLst/>
              <a:cxnLst>
                <a:cxn ang="0">
                  <a:pos x="T0" y="T1"/>
                </a:cxn>
                <a:cxn ang="0">
                  <a:pos x="T2" y="T3"/>
                </a:cxn>
                <a:cxn ang="0">
                  <a:pos x="T4" y="T5"/>
                </a:cxn>
                <a:cxn ang="0">
                  <a:pos x="T6" y="T7"/>
                </a:cxn>
              </a:cxnLst>
              <a:rect l="0" t="0" r="r" b="b"/>
              <a:pathLst>
                <a:path w="464" h="403">
                  <a:moveTo>
                    <a:pt x="464" y="0"/>
                  </a:moveTo>
                  <a:lnTo>
                    <a:pt x="232" y="403"/>
                  </a:lnTo>
                  <a:lnTo>
                    <a:pt x="0" y="0"/>
                  </a:lnTo>
                  <a:lnTo>
                    <a:pt x="464"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0" name="Freeform 71"/>
            <p:cNvSpPr>
              <a:spLocks/>
            </p:cNvSpPr>
            <p:nvPr/>
          </p:nvSpPr>
          <p:spPr bwMode="auto">
            <a:xfrm>
              <a:off x="9365821" y="3917114"/>
              <a:ext cx="1129983" cy="983550"/>
            </a:xfrm>
            <a:custGeom>
              <a:avLst/>
              <a:gdLst>
                <a:gd name="T0" fmla="*/ 0 w 463"/>
                <a:gd name="T1" fmla="*/ 403 h 403"/>
                <a:gd name="T2" fmla="*/ 232 w 463"/>
                <a:gd name="T3" fmla="*/ 0 h 403"/>
                <a:gd name="T4" fmla="*/ 463 w 463"/>
                <a:gd name="T5" fmla="*/ 403 h 403"/>
                <a:gd name="T6" fmla="*/ 0 w 463"/>
                <a:gd name="T7" fmla="*/ 403 h 403"/>
              </a:gdLst>
              <a:ahLst/>
              <a:cxnLst>
                <a:cxn ang="0">
                  <a:pos x="T0" y="T1"/>
                </a:cxn>
                <a:cxn ang="0">
                  <a:pos x="T2" y="T3"/>
                </a:cxn>
                <a:cxn ang="0">
                  <a:pos x="T4" y="T5"/>
                </a:cxn>
                <a:cxn ang="0">
                  <a:pos x="T6" y="T7"/>
                </a:cxn>
              </a:cxnLst>
              <a:rect l="0" t="0" r="r" b="b"/>
              <a:pathLst>
                <a:path w="463" h="403">
                  <a:moveTo>
                    <a:pt x="0" y="403"/>
                  </a:moveTo>
                  <a:lnTo>
                    <a:pt x="232" y="0"/>
                  </a:lnTo>
                  <a:lnTo>
                    <a:pt x="463" y="403"/>
                  </a:lnTo>
                  <a:lnTo>
                    <a:pt x="0" y="403"/>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3" name="Freeform 74"/>
            <p:cNvSpPr>
              <a:spLocks/>
            </p:cNvSpPr>
            <p:nvPr/>
          </p:nvSpPr>
          <p:spPr bwMode="auto">
            <a:xfrm>
              <a:off x="4843448" y="4900662"/>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4" name="Freeform 75"/>
            <p:cNvSpPr>
              <a:spLocks/>
            </p:cNvSpPr>
            <p:nvPr/>
          </p:nvSpPr>
          <p:spPr bwMode="auto">
            <a:xfrm>
              <a:off x="5407219" y="4900662"/>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5" name="Freeform 76"/>
            <p:cNvSpPr>
              <a:spLocks/>
            </p:cNvSpPr>
            <p:nvPr/>
          </p:nvSpPr>
          <p:spPr bwMode="auto">
            <a:xfrm>
              <a:off x="5973431" y="4900662"/>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6" name="Freeform 77"/>
            <p:cNvSpPr>
              <a:spLocks/>
            </p:cNvSpPr>
            <p:nvPr/>
          </p:nvSpPr>
          <p:spPr bwMode="auto">
            <a:xfrm>
              <a:off x="6539643" y="4900662"/>
              <a:ext cx="1129983" cy="978669"/>
            </a:xfrm>
            <a:custGeom>
              <a:avLst/>
              <a:gdLst>
                <a:gd name="T0" fmla="*/ 0 w 463"/>
                <a:gd name="T1" fmla="*/ 401 h 401"/>
                <a:gd name="T2" fmla="*/ 231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1"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7" name="Freeform 78"/>
            <p:cNvSpPr>
              <a:spLocks/>
            </p:cNvSpPr>
            <p:nvPr/>
          </p:nvSpPr>
          <p:spPr bwMode="auto">
            <a:xfrm>
              <a:off x="7669627" y="4900662"/>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8" name="Freeform 79"/>
            <p:cNvSpPr>
              <a:spLocks/>
            </p:cNvSpPr>
            <p:nvPr/>
          </p:nvSpPr>
          <p:spPr bwMode="auto">
            <a:xfrm>
              <a:off x="8235839" y="4900662"/>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9" name="Freeform 80"/>
            <p:cNvSpPr>
              <a:spLocks/>
            </p:cNvSpPr>
            <p:nvPr/>
          </p:nvSpPr>
          <p:spPr bwMode="auto">
            <a:xfrm>
              <a:off x="9365821" y="4900662"/>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0" name="Freeform 84"/>
            <p:cNvSpPr>
              <a:spLocks/>
            </p:cNvSpPr>
            <p:nvPr/>
          </p:nvSpPr>
          <p:spPr bwMode="auto">
            <a:xfrm>
              <a:off x="4843448" y="5879331"/>
              <a:ext cx="1129983" cy="978669"/>
            </a:xfrm>
            <a:custGeom>
              <a:avLst/>
              <a:gdLst>
                <a:gd name="T0" fmla="*/ 0 w 463"/>
                <a:gd name="T1" fmla="*/ 401 h 401"/>
                <a:gd name="T2" fmla="*/ 231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1" y="0"/>
                  </a:lnTo>
                  <a:lnTo>
                    <a:pt x="463"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1" name="Freeform 85"/>
            <p:cNvSpPr>
              <a:spLocks/>
            </p:cNvSpPr>
            <p:nvPr/>
          </p:nvSpPr>
          <p:spPr bwMode="auto">
            <a:xfrm>
              <a:off x="5407219" y="5879331"/>
              <a:ext cx="1132424" cy="978669"/>
            </a:xfrm>
            <a:custGeom>
              <a:avLst/>
              <a:gdLst>
                <a:gd name="T0" fmla="*/ 464 w 464"/>
                <a:gd name="T1" fmla="*/ 0 h 401"/>
                <a:gd name="T2" fmla="*/ 232 w 464"/>
                <a:gd name="T3" fmla="*/ 401 h 401"/>
                <a:gd name="T4" fmla="*/ 0 w 464"/>
                <a:gd name="T5" fmla="*/ 0 h 401"/>
                <a:gd name="T6" fmla="*/ 464 w 464"/>
                <a:gd name="T7" fmla="*/ 0 h 401"/>
              </a:gdLst>
              <a:ahLst/>
              <a:cxnLst>
                <a:cxn ang="0">
                  <a:pos x="T0" y="T1"/>
                </a:cxn>
                <a:cxn ang="0">
                  <a:pos x="T2" y="T3"/>
                </a:cxn>
                <a:cxn ang="0">
                  <a:pos x="T4" y="T5"/>
                </a:cxn>
                <a:cxn ang="0">
                  <a:pos x="T6" y="T7"/>
                </a:cxn>
              </a:cxnLst>
              <a:rect l="0" t="0" r="r" b="b"/>
              <a:pathLst>
                <a:path w="464" h="401">
                  <a:moveTo>
                    <a:pt x="464" y="0"/>
                  </a:moveTo>
                  <a:lnTo>
                    <a:pt x="232" y="401"/>
                  </a:lnTo>
                  <a:lnTo>
                    <a:pt x="0" y="0"/>
                  </a:lnTo>
                  <a:lnTo>
                    <a:pt x="464"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2" name="Freeform 86"/>
            <p:cNvSpPr>
              <a:spLocks/>
            </p:cNvSpPr>
            <p:nvPr/>
          </p:nvSpPr>
          <p:spPr bwMode="auto">
            <a:xfrm>
              <a:off x="6539643" y="5879331"/>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3" name="Freeform 87"/>
            <p:cNvSpPr>
              <a:spLocks/>
            </p:cNvSpPr>
            <p:nvPr/>
          </p:nvSpPr>
          <p:spPr bwMode="auto">
            <a:xfrm>
              <a:off x="7103415" y="5879331"/>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4" name="Freeform 88"/>
            <p:cNvSpPr>
              <a:spLocks/>
            </p:cNvSpPr>
            <p:nvPr/>
          </p:nvSpPr>
          <p:spPr bwMode="auto">
            <a:xfrm>
              <a:off x="7669627" y="5879331"/>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5" name="Freeform 89"/>
            <p:cNvSpPr>
              <a:spLocks/>
            </p:cNvSpPr>
            <p:nvPr/>
          </p:nvSpPr>
          <p:spPr bwMode="auto">
            <a:xfrm>
              <a:off x="8235839" y="5879331"/>
              <a:ext cx="1129983" cy="978669"/>
            </a:xfrm>
            <a:custGeom>
              <a:avLst/>
              <a:gdLst>
                <a:gd name="T0" fmla="*/ 0 w 463"/>
                <a:gd name="T1" fmla="*/ 401 h 401"/>
                <a:gd name="T2" fmla="*/ 231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1"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6" name="Freeform 90"/>
            <p:cNvSpPr>
              <a:spLocks/>
            </p:cNvSpPr>
            <p:nvPr/>
          </p:nvSpPr>
          <p:spPr bwMode="auto">
            <a:xfrm>
              <a:off x="8799609" y="5879331"/>
              <a:ext cx="1132424" cy="978669"/>
            </a:xfrm>
            <a:custGeom>
              <a:avLst/>
              <a:gdLst>
                <a:gd name="T0" fmla="*/ 464 w 464"/>
                <a:gd name="T1" fmla="*/ 0 h 401"/>
                <a:gd name="T2" fmla="*/ 232 w 464"/>
                <a:gd name="T3" fmla="*/ 401 h 401"/>
                <a:gd name="T4" fmla="*/ 0 w 464"/>
                <a:gd name="T5" fmla="*/ 0 h 401"/>
                <a:gd name="T6" fmla="*/ 464 w 464"/>
                <a:gd name="T7" fmla="*/ 0 h 401"/>
              </a:gdLst>
              <a:ahLst/>
              <a:cxnLst>
                <a:cxn ang="0">
                  <a:pos x="T0" y="T1"/>
                </a:cxn>
                <a:cxn ang="0">
                  <a:pos x="T2" y="T3"/>
                </a:cxn>
                <a:cxn ang="0">
                  <a:pos x="T4" y="T5"/>
                </a:cxn>
                <a:cxn ang="0">
                  <a:pos x="T6" y="T7"/>
                </a:cxn>
              </a:cxnLst>
              <a:rect l="0" t="0" r="r" b="b"/>
              <a:pathLst>
                <a:path w="464" h="401">
                  <a:moveTo>
                    <a:pt x="464" y="0"/>
                  </a:moveTo>
                  <a:lnTo>
                    <a:pt x="232" y="401"/>
                  </a:lnTo>
                  <a:lnTo>
                    <a:pt x="0" y="0"/>
                  </a:lnTo>
                  <a:lnTo>
                    <a:pt x="464"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7" name="Freeform 91"/>
            <p:cNvSpPr>
              <a:spLocks/>
            </p:cNvSpPr>
            <p:nvPr/>
          </p:nvSpPr>
          <p:spPr bwMode="auto">
            <a:xfrm>
              <a:off x="9365821" y="5879331"/>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grpSp>
      <p:cxnSp>
        <p:nvCxnSpPr>
          <p:cNvPr id="3" name="直接连接符 2"/>
          <p:cNvCxnSpPr>
            <a:cxnSpLocks/>
          </p:cNvCxnSpPr>
          <p:nvPr userDrawn="1"/>
        </p:nvCxnSpPr>
        <p:spPr>
          <a:xfrm>
            <a:off x="7112513" y="4497339"/>
            <a:ext cx="989069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333427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2755"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949497" y="1594172"/>
            <a:ext cx="7690472" cy="7873919"/>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8783968" y="1594172"/>
            <a:ext cx="7631973" cy="7873919"/>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902789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949497" y="2"/>
            <a:ext cx="15466444"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949497" y="1503885"/>
            <a:ext cx="15466444" cy="906774"/>
          </a:xfrm>
        </p:spPr>
        <p:txBody>
          <a:bodyPr anchor="b">
            <a:noAutofit/>
          </a:bodyPr>
          <a:lstStyle>
            <a:lvl1pPr marL="285763" indent="-285763">
              <a:buFont typeface="Arial" panose="020B0604020202020204" pitchFamily="34" charset="0"/>
              <a:buChar char="•"/>
              <a:defRPr sz="2800" b="0">
                <a:latin typeface="微软雅黑" panose="020B0503020204020204" pitchFamily="34" charset="-122"/>
                <a:ea typeface="微软雅黑" panose="020B0503020204020204" pitchFamily="34" charset="-122"/>
              </a:defRPr>
            </a:lvl1pPr>
            <a:lvl2pPr marL="742985" indent="-285763">
              <a:buFont typeface="Arial" panose="020B0604020202020204" pitchFamily="34" charset="0"/>
              <a:buChar char="•"/>
              <a:defRPr sz="1400" b="0"/>
            </a:lvl2pPr>
            <a:lvl3pPr marL="914443" indent="0">
              <a:buNone/>
              <a:defRPr sz="1800" b="1"/>
            </a:lvl3pPr>
            <a:lvl4pPr marL="1371665" indent="0">
              <a:buNone/>
              <a:defRPr sz="1600" b="1"/>
            </a:lvl4pPr>
            <a:lvl5pPr marL="1828886" indent="0">
              <a:buNone/>
              <a:defRPr sz="1600" b="1"/>
            </a:lvl5pPr>
            <a:lvl6pPr marL="2286107" indent="0">
              <a:buNone/>
              <a:defRPr sz="1600" b="1"/>
            </a:lvl6pPr>
            <a:lvl7pPr marL="2743328" indent="0">
              <a:buNone/>
              <a:defRPr sz="1600" b="1"/>
            </a:lvl7pPr>
            <a:lvl8pPr marL="3200550" indent="0">
              <a:buNone/>
              <a:defRPr sz="1600" b="1"/>
            </a:lvl8pPr>
            <a:lvl9pPr marL="3657771" indent="0">
              <a:buNone/>
              <a:defRPr sz="1600" b="1"/>
            </a:lvl9pPr>
          </a:lstStyle>
          <a:p>
            <a:pPr lvl="0"/>
            <a:r>
              <a:rPr lang="zh-CN" altLang="en-US" dirty="0"/>
              <a:t>编辑母版文本样式</a:t>
            </a:r>
          </a:p>
        </p:txBody>
      </p:sp>
      <p:sp>
        <p:nvSpPr>
          <p:cNvPr id="4" name="内容占位符 3"/>
          <p:cNvSpPr>
            <a:spLocks noGrp="1"/>
          </p:cNvSpPr>
          <p:nvPr>
            <p:ph sz="half" idx="2"/>
          </p:nvPr>
        </p:nvSpPr>
        <p:spPr>
          <a:xfrm>
            <a:off x="949497" y="2524497"/>
            <a:ext cx="7690472" cy="6908869"/>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内容占位符 5"/>
          <p:cNvSpPr>
            <a:spLocks noGrp="1"/>
          </p:cNvSpPr>
          <p:nvPr>
            <p:ph sz="quarter" idx="4"/>
          </p:nvPr>
        </p:nvSpPr>
        <p:spPr>
          <a:xfrm>
            <a:off x="8777971" y="2524497"/>
            <a:ext cx="7637972" cy="6908869"/>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622296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9497" y="2"/>
            <a:ext cx="15466446"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949497" y="1597305"/>
            <a:ext cx="7690472" cy="813353"/>
          </a:xfrm>
        </p:spPr>
        <p:txBody>
          <a:bodyPr anchor="b">
            <a:normAutofit/>
          </a:bodyPr>
          <a:lstStyle>
            <a:lvl1pPr marL="0" indent="0">
              <a:buNone/>
              <a:defRPr sz="2800" b="0">
                <a:latin typeface="微软雅黑" panose="020B0503020204020204" pitchFamily="34" charset="-122"/>
                <a:ea typeface="微软雅黑" panose="020B0503020204020204" pitchFamily="34" charset="-122"/>
              </a:defRPr>
            </a:lvl1pPr>
            <a:lvl2pPr marL="457222" indent="0">
              <a:buNone/>
              <a:defRPr sz="2000" b="1"/>
            </a:lvl2pPr>
            <a:lvl3pPr marL="914443" indent="0">
              <a:buNone/>
              <a:defRPr sz="1800" b="1"/>
            </a:lvl3pPr>
            <a:lvl4pPr marL="1371665" indent="0">
              <a:buNone/>
              <a:defRPr sz="1600" b="1"/>
            </a:lvl4pPr>
            <a:lvl5pPr marL="1828886" indent="0">
              <a:buNone/>
              <a:defRPr sz="1600" b="1"/>
            </a:lvl5pPr>
            <a:lvl6pPr marL="2286107" indent="0">
              <a:buNone/>
              <a:defRPr sz="1600" b="1"/>
            </a:lvl6pPr>
            <a:lvl7pPr marL="2743328" indent="0">
              <a:buNone/>
              <a:defRPr sz="1600" b="1"/>
            </a:lvl7pPr>
            <a:lvl8pPr marL="3200550" indent="0">
              <a:buNone/>
              <a:defRPr sz="1600" b="1"/>
            </a:lvl8pPr>
            <a:lvl9pPr marL="3657771" indent="0">
              <a:buNone/>
              <a:defRPr sz="1600" b="1"/>
            </a:lvl9pPr>
          </a:lstStyle>
          <a:p>
            <a:pPr lvl="0"/>
            <a:r>
              <a:rPr lang="zh-CN" altLang="en-US" dirty="0"/>
              <a:t>编辑母版文本样式</a:t>
            </a:r>
          </a:p>
        </p:txBody>
      </p:sp>
      <p:sp>
        <p:nvSpPr>
          <p:cNvPr id="4" name="内容占位符 3"/>
          <p:cNvSpPr>
            <a:spLocks noGrp="1"/>
          </p:cNvSpPr>
          <p:nvPr>
            <p:ph sz="half" idx="2"/>
          </p:nvPr>
        </p:nvSpPr>
        <p:spPr>
          <a:xfrm>
            <a:off x="949497" y="2524498"/>
            <a:ext cx="7690472" cy="6955168"/>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8777971" y="1597305"/>
            <a:ext cx="7637972" cy="813353"/>
          </a:xfrm>
        </p:spPr>
        <p:txBody>
          <a:bodyPr anchor="b">
            <a:normAutofit/>
          </a:bodyPr>
          <a:lstStyle>
            <a:lvl1pPr marL="0" indent="0">
              <a:buNone/>
              <a:defRPr sz="2800" b="0">
                <a:latin typeface="微软雅黑" panose="020B0503020204020204" pitchFamily="34" charset="-122"/>
                <a:ea typeface="微软雅黑" panose="020B0503020204020204" pitchFamily="34" charset="-122"/>
              </a:defRPr>
            </a:lvl1pPr>
            <a:lvl2pPr marL="457222" indent="0">
              <a:buNone/>
              <a:defRPr sz="2000" b="1"/>
            </a:lvl2pPr>
            <a:lvl3pPr marL="914443" indent="0">
              <a:buNone/>
              <a:defRPr sz="1800" b="1"/>
            </a:lvl3pPr>
            <a:lvl4pPr marL="1371665" indent="0">
              <a:buNone/>
              <a:defRPr sz="1600" b="1"/>
            </a:lvl4pPr>
            <a:lvl5pPr marL="1828886" indent="0">
              <a:buNone/>
              <a:defRPr sz="1600" b="1"/>
            </a:lvl5pPr>
            <a:lvl6pPr marL="2286107" indent="0">
              <a:buNone/>
              <a:defRPr sz="1600" b="1"/>
            </a:lvl6pPr>
            <a:lvl7pPr marL="2743328" indent="0">
              <a:buNone/>
              <a:defRPr sz="1600" b="1"/>
            </a:lvl7pPr>
            <a:lvl8pPr marL="3200550" indent="0">
              <a:buNone/>
              <a:defRPr sz="1600" b="1"/>
            </a:lvl8pPr>
            <a:lvl9pPr marL="3657771" indent="0">
              <a:buNone/>
              <a:defRPr sz="1600" b="1"/>
            </a:lvl9pPr>
          </a:lstStyle>
          <a:p>
            <a:pPr lvl="0"/>
            <a:r>
              <a:rPr lang="zh-CN" altLang="en-US" dirty="0"/>
              <a:t>编辑母版文本样式</a:t>
            </a:r>
          </a:p>
        </p:txBody>
      </p:sp>
      <p:sp>
        <p:nvSpPr>
          <p:cNvPr id="6" name="内容占位符 5"/>
          <p:cNvSpPr>
            <a:spLocks noGrp="1"/>
          </p:cNvSpPr>
          <p:nvPr>
            <p:ph sz="quarter" idx="4"/>
          </p:nvPr>
        </p:nvSpPr>
        <p:spPr>
          <a:xfrm>
            <a:off x="8777971" y="2524498"/>
            <a:ext cx="7637972" cy="6955168"/>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16082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3780"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a:xfrm>
            <a:off x="949496" y="2"/>
            <a:ext cx="15466443"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949497" y="2398426"/>
            <a:ext cx="15466444" cy="3450592"/>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949497" y="5923082"/>
            <a:ext cx="15466444" cy="3602880"/>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内容占位符 2"/>
          <p:cNvSpPr>
            <a:spLocks noGrp="1"/>
          </p:cNvSpPr>
          <p:nvPr>
            <p:ph sz="half" idx="13"/>
          </p:nvPr>
        </p:nvSpPr>
        <p:spPr>
          <a:xfrm>
            <a:off x="949497" y="1594168"/>
            <a:ext cx="15466444" cy="714430"/>
          </a:xfrm>
        </p:spPr>
        <p:txBody>
          <a:bodyPr>
            <a:noAutofit/>
          </a:bodyPr>
          <a:lstStyle>
            <a:lvl1pPr>
              <a:defRPr sz="2800">
                <a:latin typeface="微软雅黑" panose="020B0503020204020204" pitchFamily="34" charset="-122"/>
                <a:ea typeface="微软雅黑" panose="020B0503020204020204" pitchFamily="34" charset="-122"/>
              </a:defRPr>
            </a:lvl1pPr>
            <a:lvl2pPr>
              <a:defRPr sz="1800">
                <a:latin typeface="等线" panose="02010600030101010101" pitchFamily="2" charset="-122"/>
                <a:ea typeface="等线" panose="02010600030101010101" pitchFamily="2" charset="-122"/>
              </a:defRPr>
            </a:lvl2pPr>
            <a:lvl3pPr>
              <a:defRPr sz="1800">
                <a:latin typeface="等线" panose="02010600030101010101" pitchFamily="2" charset="-122"/>
                <a:ea typeface="等线" panose="02010600030101010101" pitchFamily="2" charset="-122"/>
              </a:defRPr>
            </a:lvl3pPr>
            <a:lvl4pPr>
              <a:defRPr sz="1800">
                <a:latin typeface="等线" panose="02010600030101010101" pitchFamily="2" charset="-122"/>
                <a:ea typeface="等线" panose="02010600030101010101" pitchFamily="2" charset="-122"/>
              </a:defRPr>
            </a:lvl4pPr>
            <a:lvl5pPr>
              <a:defRPr sz="1800">
                <a:latin typeface="等线" panose="02010600030101010101" pitchFamily="2" charset="-122"/>
                <a:ea typeface="等线" panose="02010600030101010101" pitchFamily="2" charset="-122"/>
              </a:defRPr>
            </a:lvl5pPr>
            <a:lvl6pPr>
              <a:defRPr sz="1800"/>
            </a:lvl6pPr>
            <a:lvl7pPr>
              <a:defRPr sz="1800"/>
            </a:lvl7pPr>
            <a:lvl8pPr>
              <a:defRPr sz="1800"/>
            </a:lvl8pPr>
            <a:lvl9pPr>
              <a:defRPr sz="1800"/>
            </a:lvl9pPr>
          </a:lstStyle>
          <a:p>
            <a:pPr lvl="0"/>
            <a:r>
              <a:rPr lang="zh-CN" altLang="en-US" dirty="0"/>
              <a:t>编辑母版文本样式</a:t>
            </a:r>
          </a:p>
        </p:txBody>
      </p:sp>
    </p:spTree>
    <p:extLst>
      <p:ext uri="{BB962C8B-B14F-4D97-AF65-F5344CB8AC3E}">
        <p14:creationId xmlns:p14="http://schemas.microsoft.com/office/powerpoint/2010/main" val="596006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4804"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a:xfrm>
            <a:off x="949497" y="2"/>
            <a:ext cx="15466444"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sz="half" idx="1"/>
          </p:nvPr>
        </p:nvSpPr>
        <p:spPr>
          <a:xfrm>
            <a:off x="949497" y="2278402"/>
            <a:ext cx="15466444" cy="3069894"/>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p:txBody>
      </p:sp>
      <p:sp>
        <p:nvSpPr>
          <p:cNvPr id="4" name="内容占位符 3"/>
          <p:cNvSpPr>
            <a:spLocks noGrp="1"/>
          </p:cNvSpPr>
          <p:nvPr>
            <p:ph sz="half" idx="2"/>
          </p:nvPr>
        </p:nvSpPr>
        <p:spPr>
          <a:xfrm>
            <a:off x="949497" y="6297434"/>
            <a:ext cx="15466444" cy="3205380"/>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p:txBody>
      </p:sp>
      <p:sp>
        <p:nvSpPr>
          <p:cNvPr id="10" name="内容占位符 2"/>
          <p:cNvSpPr>
            <a:spLocks noGrp="1"/>
          </p:cNvSpPr>
          <p:nvPr>
            <p:ph sz="half" idx="12"/>
          </p:nvPr>
        </p:nvSpPr>
        <p:spPr>
          <a:xfrm>
            <a:off x="949497" y="1575853"/>
            <a:ext cx="15466444" cy="702549"/>
          </a:xfrm>
        </p:spPr>
        <p:txBody>
          <a:bodyPr>
            <a:noAutofit/>
          </a:bodyPr>
          <a:lstStyle>
            <a:lvl1pPr>
              <a:defRPr sz="2800">
                <a:latin typeface="微软雅黑" panose="020B0503020204020204" pitchFamily="34" charset="-122"/>
                <a:ea typeface="微软雅黑" panose="020B0503020204020204" pitchFamily="34" charset="-122"/>
              </a:defRPr>
            </a:lvl1pPr>
            <a:lvl2pPr>
              <a:defRPr sz="1800">
                <a:latin typeface="等线" panose="02010600030101010101" pitchFamily="2" charset="-122"/>
                <a:ea typeface="等线" panose="02010600030101010101" pitchFamily="2" charset="-122"/>
              </a:defRPr>
            </a:lvl2pPr>
            <a:lvl3pPr>
              <a:defRPr sz="1800">
                <a:latin typeface="等线" panose="02010600030101010101" pitchFamily="2" charset="-122"/>
                <a:ea typeface="等线" panose="02010600030101010101" pitchFamily="2" charset="-122"/>
              </a:defRPr>
            </a:lvl3pPr>
            <a:lvl4pPr>
              <a:defRPr sz="1800">
                <a:latin typeface="等线" panose="02010600030101010101" pitchFamily="2" charset="-122"/>
                <a:ea typeface="等线" panose="02010600030101010101" pitchFamily="2" charset="-122"/>
              </a:defRPr>
            </a:lvl4pPr>
            <a:lvl5pPr>
              <a:defRPr sz="1800">
                <a:latin typeface="等线" panose="02010600030101010101" pitchFamily="2" charset="-122"/>
                <a:ea typeface="等线" panose="02010600030101010101" pitchFamily="2" charset="-122"/>
              </a:defRPr>
            </a:lvl5pPr>
            <a:lvl6pPr>
              <a:defRPr sz="1800"/>
            </a:lvl6pPr>
            <a:lvl7pPr>
              <a:defRPr sz="1800"/>
            </a:lvl7pPr>
            <a:lvl8pPr>
              <a:defRPr sz="1800"/>
            </a:lvl8pPr>
            <a:lvl9pPr>
              <a:defRPr sz="1800"/>
            </a:lvl9pPr>
          </a:lstStyle>
          <a:p>
            <a:pPr lvl="0"/>
            <a:r>
              <a:rPr lang="zh-CN" altLang="en-US" dirty="0"/>
              <a:t>编辑母版文本样式</a:t>
            </a:r>
          </a:p>
        </p:txBody>
      </p:sp>
      <p:sp>
        <p:nvSpPr>
          <p:cNvPr id="11" name="内容占位符 2"/>
          <p:cNvSpPr>
            <a:spLocks noGrp="1"/>
          </p:cNvSpPr>
          <p:nvPr>
            <p:ph sz="half" idx="13"/>
          </p:nvPr>
        </p:nvSpPr>
        <p:spPr>
          <a:xfrm>
            <a:off x="949497" y="5570951"/>
            <a:ext cx="15466444" cy="691758"/>
          </a:xfrm>
        </p:spPr>
        <p:txBody>
          <a:bodyPr>
            <a:noAutofit/>
          </a:bodyPr>
          <a:lstStyle>
            <a:lvl1pPr>
              <a:defRPr sz="2800">
                <a:latin typeface="微软雅黑" panose="020B0503020204020204" pitchFamily="34" charset="-122"/>
                <a:ea typeface="微软雅黑" panose="020B0503020204020204" pitchFamily="34" charset="-122"/>
              </a:defRPr>
            </a:lvl1pPr>
            <a:lvl2pPr>
              <a:defRPr sz="1800">
                <a:latin typeface="等线" panose="02010600030101010101" pitchFamily="2" charset="-122"/>
                <a:ea typeface="等线" panose="02010600030101010101" pitchFamily="2" charset="-122"/>
              </a:defRPr>
            </a:lvl2pPr>
            <a:lvl3pPr>
              <a:defRPr sz="1800">
                <a:latin typeface="等线" panose="02010600030101010101" pitchFamily="2" charset="-122"/>
                <a:ea typeface="等线" panose="02010600030101010101" pitchFamily="2" charset="-122"/>
              </a:defRPr>
            </a:lvl3pPr>
            <a:lvl4pPr>
              <a:defRPr sz="1800">
                <a:latin typeface="等线" panose="02010600030101010101" pitchFamily="2" charset="-122"/>
                <a:ea typeface="等线" panose="02010600030101010101" pitchFamily="2" charset="-122"/>
              </a:defRPr>
            </a:lvl4pPr>
            <a:lvl5pPr>
              <a:defRPr sz="1800">
                <a:latin typeface="等线" panose="02010600030101010101" pitchFamily="2" charset="-122"/>
                <a:ea typeface="等线" panose="02010600030101010101" pitchFamily="2" charset="-122"/>
              </a:defRPr>
            </a:lvl5pPr>
            <a:lvl6pPr>
              <a:defRPr sz="1800"/>
            </a:lvl6pPr>
            <a:lvl7pPr>
              <a:defRPr sz="1800"/>
            </a:lvl7pPr>
            <a:lvl8pPr>
              <a:defRPr sz="1800"/>
            </a:lvl8pPr>
            <a:lvl9pPr>
              <a:defRPr sz="1800"/>
            </a:lvl9pPr>
          </a:lstStyle>
          <a:p>
            <a:pPr lvl="0"/>
            <a:r>
              <a:rPr lang="zh-CN" altLang="en-US" dirty="0"/>
              <a:t>编辑母版文本样式</a:t>
            </a:r>
          </a:p>
        </p:txBody>
      </p:sp>
    </p:spTree>
    <p:extLst>
      <p:ext uri="{BB962C8B-B14F-4D97-AF65-F5344CB8AC3E}">
        <p14:creationId xmlns:p14="http://schemas.microsoft.com/office/powerpoint/2010/main" val="3257523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比较">
    <p:spTree>
      <p:nvGrpSpPr>
        <p:cNvPr id="1" name=""/>
        <p:cNvGrpSpPr/>
        <p:nvPr/>
      </p:nvGrpSpPr>
      <p:grpSpPr>
        <a:xfrm>
          <a:off x="0" y="0"/>
          <a:ext cx="0" cy="0"/>
          <a:chOff x="0" y="0"/>
          <a:chExt cx="0" cy="0"/>
        </a:xfrm>
      </p:grpSpPr>
      <p:sp>
        <p:nvSpPr>
          <p:cNvPr id="2" name="标题 1"/>
          <p:cNvSpPr>
            <a:spLocks noGrp="1"/>
          </p:cNvSpPr>
          <p:nvPr>
            <p:ph type="title"/>
          </p:nvPr>
        </p:nvSpPr>
        <p:spPr>
          <a:xfrm>
            <a:off x="949497" y="2"/>
            <a:ext cx="15466444"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内容占位符 3"/>
          <p:cNvSpPr>
            <a:spLocks noGrp="1"/>
          </p:cNvSpPr>
          <p:nvPr>
            <p:ph sz="half" idx="2"/>
          </p:nvPr>
        </p:nvSpPr>
        <p:spPr>
          <a:xfrm>
            <a:off x="949496" y="1620456"/>
            <a:ext cx="8626303" cy="7812911"/>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a:p>
            <a:pPr lvl="2"/>
            <a:r>
              <a:rPr lang="zh-CN" altLang="en-US" dirty="0"/>
              <a:t>第三级</a:t>
            </a:r>
          </a:p>
        </p:txBody>
      </p:sp>
      <p:sp>
        <p:nvSpPr>
          <p:cNvPr id="6" name="内容占位符 5"/>
          <p:cNvSpPr>
            <a:spLocks noGrp="1"/>
          </p:cNvSpPr>
          <p:nvPr>
            <p:ph sz="quarter" idx="4"/>
          </p:nvPr>
        </p:nvSpPr>
        <p:spPr>
          <a:xfrm>
            <a:off x="9715497" y="1620456"/>
            <a:ext cx="6700443" cy="3842795"/>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p:txBody>
      </p:sp>
      <p:sp>
        <p:nvSpPr>
          <p:cNvPr id="7" name="内容占位符 5">
            <a:extLst>
              <a:ext uri="{FF2B5EF4-FFF2-40B4-BE49-F238E27FC236}">
                <a16:creationId xmlns:a16="http://schemas.microsoft.com/office/drawing/2014/main" id="{A40475CB-32A8-449D-B508-CAF3FA851943}"/>
              </a:ext>
            </a:extLst>
          </p:cNvPr>
          <p:cNvSpPr>
            <a:spLocks noGrp="1"/>
          </p:cNvSpPr>
          <p:nvPr>
            <p:ph sz="quarter" idx="10"/>
          </p:nvPr>
        </p:nvSpPr>
        <p:spPr>
          <a:xfrm>
            <a:off x="9715499" y="5567423"/>
            <a:ext cx="6700443" cy="3865943"/>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p:txBody>
      </p:sp>
    </p:spTree>
    <p:extLst>
      <p:ext uri="{BB962C8B-B14F-4D97-AF65-F5344CB8AC3E}">
        <p14:creationId xmlns:p14="http://schemas.microsoft.com/office/powerpoint/2010/main" val="14922979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2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5828"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a:xfrm>
            <a:off x="949497" y="2"/>
            <a:ext cx="15631640"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sz="half" idx="1"/>
          </p:nvPr>
        </p:nvSpPr>
        <p:spPr>
          <a:xfrm>
            <a:off x="949497" y="1621996"/>
            <a:ext cx="4954482" cy="7915543"/>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086047" y="1621996"/>
            <a:ext cx="5156512" cy="7915543"/>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0" name="内容占位符 3"/>
          <p:cNvSpPr>
            <a:spLocks noGrp="1"/>
          </p:cNvSpPr>
          <p:nvPr>
            <p:ph sz="half" idx="12"/>
          </p:nvPr>
        </p:nvSpPr>
        <p:spPr>
          <a:xfrm>
            <a:off x="11424625" y="1621996"/>
            <a:ext cx="5156512" cy="7915543"/>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3679981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6852"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a:xfrm>
            <a:off x="949496" y="2"/>
            <a:ext cx="15631639"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949497" y="2434620"/>
            <a:ext cx="4954482" cy="6987172"/>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086047" y="2434620"/>
            <a:ext cx="5156512" cy="6987172"/>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0" name="内容占位符 3"/>
          <p:cNvSpPr>
            <a:spLocks noGrp="1"/>
          </p:cNvSpPr>
          <p:nvPr>
            <p:ph sz="half" idx="12"/>
          </p:nvPr>
        </p:nvSpPr>
        <p:spPr>
          <a:xfrm>
            <a:off x="11424625" y="2434620"/>
            <a:ext cx="5156512" cy="6987172"/>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1" name="内容占位符 2"/>
          <p:cNvSpPr>
            <a:spLocks noGrp="1"/>
          </p:cNvSpPr>
          <p:nvPr>
            <p:ph sz="half" idx="13"/>
          </p:nvPr>
        </p:nvSpPr>
        <p:spPr>
          <a:xfrm>
            <a:off x="949497" y="1566149"/>
            <a:ext cx="15631640" cy="760362"/>
          </a:xfrm>
        </p:spPr>
        <p:txBody>
          <a:bodyPr>
            <a:normAutofit/>
          </a:bodyPr>
          <a:lstStyle>
            <a:lvl1pPr>
              <a:defRPr sz="2800">
                <a:latin typeface="微软雅黑" panose="020B0503020204020204" pitchFamily="34" charset="-122"/>
                <a:ea typeface="微软雅黑" panose="020B0503020204020204" pitchFamily="34" charset="-122"/>
              </a:defRPr>
            </a:lvl1pPr>
            <a:lvl2pPr>
              <a:defRPr sz="1800">
                <a:latin typeface="等线" panose="02010600030101010101" pitchFamily="2" charset="-122"/>
                <a:ea typeface="等线" panose="02010600030101010101" pitchFamily="2" charset="-122"/>
              </a:defRPr>
            </a:lvl2pPr>
            <a:lvl3pPr>
              <a:defRPr sz="1800">
                <a:latin typeface="等线" panose="02010600030101010101" pitchFamily="2" charset="-122"/>
                <a:ea typeface="等线" panose="02010600030101010101" pitchFamily="2" charset="-122"/>
              </a:defRPr>
            </a:lvl3pPr>
            <a:lvl4pPr>
              <a:defRPr sz="1800">
                <a:latin typeface="等线" panose="02010600030101010101" pitchFamily="2" charset="-122"/>
                <a:ea typeface="等线" panose="02010600030101010101" pitchFamily="2" charset="-122"/>
              </a:defRPr>
            </a:lvl4pPr>
            <a:lvl5pPr>
              <a:defRPr sz="1800">
                <a:latin typeface="等线" panose="02010600030101010101" pitchFamily="2" charset="-122"/>
                <a:ea typeface="等线" panose="02010600030101010101" pitchFamily="2" charset="-122"/>
              </a:defRPr>
            </a:lvl5pPr>
            <a:lvl6pPr>
              <a:defRPr sz="1800"/>
            </a:lvl6pPr>
            <a:lvl7pPr>
              <a:defRPr sz="1800"/>
            </a:lvl7pPr>
            <a:lvl8pPr>
              <a:defRPr sz="1800"/>
            </a:lvl8pPr>
            <a:lvl9pPr>
              <a:defRPr sz="1800"/>
            </a:lvl9pPr>
          </a:lstStyle>
          <a:p>
            <a:pPr lvl="0"/>
            <a:r>
              <a:rPr lang="zh-CN" altLang="en-US" dirty="0"/>
              <a:t>编辑母版文本样式</a:t>
            </a:r>
          </a:p>
        </p:txBody>
      </p:sp>
    </p:spTree>
    <p:extLst>
      <p:ext uri="{BB962C8B-B14F-4D97-AF65-F5344CB8AC3E}">
        <p14:creationId xmlns:p14="http://schemas.microsoft.com/office/powerpoint/2010/main" val="20228300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7875"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949497" y="1594172"/>
            <a:ext cx="7546474" cy="3737731"/>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8783968" y="1594172"/>
            <a:ext cx="7631973" cy="3737731"/>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0" name="内容占位符 2"/>
          <p:cNvSpPr>
            <a:spLocks noGrp="1"/>
          </p:cNvSpPr>
          <p:nvPr>
            <p:ph sz="half" idx="12"/>
          </p:nvPr>
        </p:nvSpPr>
        <p:spPr>
          <a:xfrm>
            <a:off x="949497" y="5464134"/>
            <a:ext cx="7546474" cy="3957658"/>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内容占位符 3"/>
          <p:cNvSpPr>
            <a:spLocks noGrp="1"/>
          </p:cNvSpPr>
          <p:nvPr>
            <p:ph sz="half" idx="13"/>
          </p:nvPr>
        </p:nvSpPr>
        <p:spPr>
          <a:xfrm>
            <a:off x="8783968" y="5464134"/>
            <a:ext cx="7631973" cy="3957658"/>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1356821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8899"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sz="half" idx="1"/>
          </p:nvPr>
        </p:nvSpPr>
        <p:spPr>
          <a:xfrm>
            <a:off x="949497" y="2402207"/>
            <a:ext cx="7546474" cy="3502097"/>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8783968" y="2402207"/>
            <a:ext cx="7631973" cy="3502097"/>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0" name="内容占位符 2"/>
          <p:cNvSpPr>
            <a:spLocks noGrp="1"/>
          </p:cNvSpPr>
          <p:nvPr>
            <p:ph sz="half" idx="12"/>
          </p:nvPr>
        </p:nvSpPr>
        <p:spPr>
          <a:xfrm>
            <a:off x="949497" y="6035440"/>
            <a:ext cx="7546474" cy="3502097"/>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内容占位符 3"/>
          <p:cNvSpPr>
            <a:spLocks noGrp="1"/>
          </p:cNvSpPr>
          <p:nvPr>
            <p:ph sz="half" idx="13"/>
          </p:nvPr>
        </p:nvSpPr>
        <p:spPr>
          <a:xfrm>
            <a:off x="8783968" y="6035440"/>
            <a:ext cx="7631973" cy="3502097"/>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2" name="内容占位符 2"/>
          <p:cNvSpPr>
            <a:spLocks noGrp="1"/>
          </p:cNvSpPr>
          <p:nvPr>
            <p:ph sz="half" idx="14"/>
          </p:nvPr>
        </p:nvSpPr>
        <p:spPr>
          <a:xfrm>
            <a:off x="949497" y="1602625"/>
            <a:ext cx="15466444" cy="603912"/>
          </a:xfrm>
        </p:spPr>
        <p:txBody>
          <a:bodyPr>
            <a:normAutofit/>
          </a:bodyPr>
          <a:lstStyle>
            <a:lvl1pPr>
              <a:defRPr sz="2800">
                <a:latin typeface="微软雅黑" panose="020B0503020204020204" pitchFamily="34" charset="-122"/>
                <a:ea typeface="微软雅黑" panose="020B0503020204020204" pitchFamily="34" charset="-122"/>
              </a:defRPr>
            </a:lvl1pPr>
            <a:lvl2pPr>
              <a:defRPr sz="1800">
                <a:latin typeface="等线" panose="02010600030101010101" pitchFamily="2" charset="-122"/>
                <a:ea typeface="等线" panose="02010600030101010101" pitchFamily="2" charset="-122"/>
              </a:defRPr>
            </a:lvl2pPr>
            <a:lvl3pPr>
              <a:defRPr sz="1800">
                <a:latin typeface="等线" panose="02010600030101010101" pitchFamily="2" charset="-122"/>
                <a:ea typeface="等线" panose="02010600030101010101" pitchFamily="2" charset="-122"/>
              </a:defRPr>
            </a:lvl3pPr>
            <a:lvl4pPr>
              <a:defRPr sz="1800">
                <a:latin typeface="等线" panose="02010600030101010101" pitchFamily="2" charset="-122"/>
                <a:ea typeface="等线" panose="02010600030101010101" pitchFamily="2" charset="-122"/>
              </a:defRPr>
            </a:lvl4pPr>
            <a:lvl5pPr>
              <a:defRPr sz="1800">
                <a:latin typeface="等线" panose="02010600030101010101" pitchFamily="2" charset="-122"/>
                <a:ea typeface="等线" panose="02010600030101010101" pitchFamily="2" charset="-122"/>
              </a:defRPr>
            </a:lvl5pPr>
            <a:lvl6pPr>
              <a:defRPr sz="1800"/>
            </a:lvl6pPr>
            <a:lvl7pPr>
              <a:defRPr sz="1800"/>
            </a:lvl7pPr>
            <a:lvl8pPr>
              <a:defRPr sz="1800"/>
            </a:lvl8pPr>
            <a:lvl9pPr>
              <a:defRPr sz="1800"/>
            </a:lvl9pPr>
          </a:lstStyle>
          <a:p>
            <a:pPr lvl="0"/>
            <a:r>
              <a:rPr lang="zh-CN" altLang="en-US" dirty="0"/>
              <a:t>编辑母版文本样式</a:t>
            </a:r>
          </a:p>
        </p:txBody>
      </p:sp>
    </p:spTree>
    <p:extLst>
      <p:ext uri="{BB962C8B-B14F-4D97-AF65-F5344CB8AC3E}">
        <p14:creationId xmlns:p14="http://schemas.microsoft.com/office/powerpoint/2010/main" val="34983410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758174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77286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grpSp>
        <p:nvGrpSpPr>
          <p:cNvPr id="8" name="组合 7"/>
          <p:cNvGrpSpPr/>
          <p:nvPr userDrawn="1"/>
        </p:nvGrpSpPr>
        <p:grpSpPr>
          <a:xfrm>
            <a:off x="-9642" y="3832527"/>
            <a:ext cx="17289581" cy="5915533"/>
            <a:chOff x="-6804" y="246308"/>
            <a:chExt cx="12198804" cy="4173624"/>
          </a:xfrm>
        </p:grpSpPr>
        <p:sp>
          <p:nvSpPr>
            <p:cNvPr id="9" name="Rectangle 27"/>
            <p:cNvSpPr/>
            <p:nvPr userDrawn="1"/>
          </p:nvSpPr>
          <p:spPr>
            <a:xfrm>
              <a:off x="-6804" y="655784"/>
              <a:ext cx="12198804" cy="37641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grpSp>
          <p:nvGrpSpPr>
            <p:cNvPr id="10" name="Group 29"/>
            <p:cNvGrpSpPr/>
            <p:nvPr userDrawn="1"/>
          </p:nvGrpSpPr>
          <p:grpSpPr>
            <a:xfrm rot="1800000">
              <a:off x="8590927" y="873755"/>
              <a:ext cx="3117590" cy="3246084"/>
              <a:chOff x="8349573" y="-1673337"/>
              <a:chExt cx="6162676" cy="6416675"/>
            </a:xfrm>
            <a:solidFill>
              <a:schemeClr val="bg1">
                <a:alpha val="16000"/>
              </a:schemeClr>
            </a:solidFill>
          </p:grpSpPr>
          <p:sp>
            <p:nvSpPr>
              <p:cNvPr id="58" name="Freeform 319"/>
              <p:cNvSpPr>
                <a:spLocks noEditPoints="1"/>
              </p:cNvSpPr>
              <p:nvPr/>
            </p:nvSpPr>
            <p:spPr bwMode="auto">
              <a:xfrm>
                <a:off x="83495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59" name="Freeform 320"/>
              <p:cNvSpPr>
                <a:spLocks noEditPoints="1"/>
              </p:cNvSpPr>
              <p:nvPr/>
            </p:nvSpPr>
            <p:spPr bwMode="auto">
              <a:xfrm>
                <a:off x="9570361" y="-1655875"/>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0" name="Freeform 321"/>
              <p:cNvSpPr>
                <a:spLocks noEditPoints="1"/>
              </p:cNvSpPr>
              <p:nvPr/>
            </p:nvSpPr>
            <p:spPr bwMode="auto">
              <a:xfrm>
                <a:off x="107879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1" name="Freeform 322"/>
              <p:cNvSpPr>
                <a:spLocks noEditPoints="1"/>
              </p:cNvSpPr>
              <p:nvPr/>
            </p:nvSpPr>
            <p:spPr bwMode="auto">
              <a:xfrm>
                <a:off x="12008761" y="-1655875"/>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2" name="Freeform 323"/>
              <p:cNvSpPr>
                <a:spLocks noEditPoints="1"/>
              </p:cNvSpPr>
              <p:nvPr/>
            </p:nvSpPr>
            <p:spPr bwMode="auto">
              <a:xfrm>
                <a:off x="83495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3" name="Freeform 324"/>
              <p:cNvSpPr>
                <a:spLocks noEditPoints="1"/>
              </p:cNvSpPr>
              <p:nvPr/>
            </p:nvSpPr>
            <p:spPr bwMode="auto">
              <a:xfrm>
                <a:off x="9570361" y="441213"/>
                <a:ext cx="2503488" cy="2168525"/>
              </a:xfrm>
              <a:custGeom>
                <a:avLst/>
                <a:gdLst>
                  <a:gd name="T0" fmla="*/ 1577 w 1577"/>
                  <a:gd name="T1" fmla="*/ 1366 h 1366"/>
                  <a:gd name="T2" fmla="*/ 0 w 1577"/>
                  <a:gd name="T3" fmla="*/ 1366 h 1366"/>
                  <a:gd name="T4" fmla="*/ 788 w 1577"/>
                  <a:gd name="T5" fmla="*/ 0 h 1366"/>
                  <a:gd name="T6" fmla="*/ 1577 w 1577"/>
                  <a:gd name="T7" fmla="*/ 1366 h 1366"/>
                  <a:gd name="T8" fmla="*/ 41 w 1577"/>
                  <a:gd name="T9" fmla="*/ 1342 h 1366"/>
                  <a:gd name="T10" fmla="*/ 1536 w 1577"/>
                  <a:gd name="T11" fmla="*/ 1342 h 1366"/>
                  <a:gd name="T12" fmla="*/ 788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8" y="0"/>
                    </a:lnTo>
                    <a:lnTo>
                      <a:pt x="1577" y="1366"/>
                    </a:lnTo>
                    <a:close/>
                    <a:moveTo>
                      <a:pt x="41" y="1342"/>
                    </a:moveTo>
                    <a:lnTo>
                      <a:pt x="1536" y="1342"/>
                    </a:lnTo>
                    <a:lnTo>
                      <a:pt x="788" y="47"/>
                    </a:lnTo>
                    <a:lnTo>
                      <a:pt x="41" y="1342"/>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4" name="Freeform 325"/>
              <p:cNvSpPr>
                <a:spLocks noEditPoints="1"/>
              </p:cNvSpPr>
              <p:nvPr/>
            </p:nvSpPr>
            <p:spPr bwMode="auto">
              <a:xfrm>
                <a:off x="107879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5" name="Freeform 326"/>
              <p:cNvSpPr>
                <a:spLocks noEditPoints="1"/>
              </p:cNvSpPr>
              <p:nvPr/>
            </p:nvSpPr>
            <p:spPr bwMode="auto">
              <a:xfrm>
                <a:off x="12008761" y="441213"/>
                <a:ext cx="2503488" cy="2168525"/>
              </a:xfrm>
              <a:custGeom>
                <a:avLst/>
                <a:gdLst>
                  <a:gd name="T0" fmla="*/ 1577 w 1577"/>
                  <a:gd name="T1" fmla="*/ 1366 h 1366"/>
                  <a:gd name="T2" fmla="*/ 0 w 1577"/>
                  <a:gd name="T3" fmla="*/ 1366 h 1366"/>
                  <a:gd name="T4" fmla="*/ 789 w 1577"/>
                  <a:gd name="T5" fmla="*/ 0 h 1366"/>
                  <a:gd name="T6" fmla="*/ 1577 w 1577"/>
                  <a:gd name="T7" fmla="*/ 1366 h 1366"/>
                  <a:gd name="T8" fmla="*/ 41 w 1577"/>
                  <a:gd name="T9" fmla="*/ 1342 h 1366"/>
                  <a:gd name="T10" fmla="*/ 1536 w 1577"/>
                  <a:gd name="T11" fmla="*/ 1342 h 1366"/>
                  <a:gd name="T12" fmla="*/ 789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9" y="0"/>
                    </a:lnTo>
                    <a:lnTo>
                      <a:pt x="1577" y="1366"/>
                    </a:lnTo>
                    <a:close/>
                    <a:moveTo>
                      <a:pt x="41" y="1342"/>
                    </a:moveTo>
                    <a:lnTo>
                      <a:pt x="1536" y="1342"/>
                    </a:lnTo>
                    <a:lnTo>
                      <a:pt x="789" y="47"/>
                    </a:lnTo>
                    <a:lnTo>
                      <a:pt x="41" y="1342"/>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6" name="Freeform 327"/>
              <p:cNvSpPr>
                <a:spLocks noEditPoints="1"/>
              </p:cNvSpPr>
              <p:nvPr/>
            </p:nvSpPr>
            <p:spPr bwMode="auto">
              <a:xfrm>
                <a:off x="83495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7" name="Freeform 328"/>
              <p:cNvSpPr>
                <a:spLocks noEditPoints="1"/>
              </p:cNvSpPr>
              <p:nvPr/>
            </p:nvSpPr>
            <p:spPr bwMode="auto">
              <a:xfrm>
                <a:off x="9570361" y="2571638"/>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8" name="Freeform 329"/>
              <p:cNvSpPr>
                <a:spLocks noEditPoints="1"/>
              </p:cNvSpPr>
              <p:nvPr/>
            </p:nvSpPr>
            <p:spPr bwMode="auto">
              <a:xfrm>
                <a:off x="107879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9" name="Freeform 330"/>
              <p:cNvSpPr>
                <a:spLocks noEditPoints="1"/>
              </p:cNvSpPr>
              <p:nvPr/>
            </p:nvSpPr>
            <p:spPr bwMode="auto">
              <a:xfrm>
                <a:off x="12008761" y="2571638"/>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grpSp>
        <p:grpSp>
          <p:nvGrpSpPr>
            <p:cNvPr id="11" name="组合 10"/>
            <p:cNvGrpSpPr/>
            <p:nvPr userDrawn="1"/>
          </p:nvGrpSpPr>
          <p:grpSpPr>
            <a:xfrm>
              <a:off x="584611" y="246308"/>
              <a:ext cx="2608160" cy="2142169"/>
              <a:chOff x="2607344" y="-649181"/>
              <a:chExt cx="2608160" cy="2142169"/>
            </a:xfrm>
          </p:grpSpPr>
          <p:grpSp>
            <p:nvGrpSpPr>
              <p:cNvPr id="34" name="Group 74"/>
              <p:cNvGrpSpPr/>
              <p:nvPr userDrawn="1"/>
            </p:nvGrpSpPr>
            <p:grpSpPr>
              <a:xfrm rot="1800000">
                <a:off x="3246128" y="-649181"/>
                <a:ext cx="1314075" cy="1368235"/>
                <a:chOff x="8349573" y="-1673337"/>
                <a:chExt cx="6162676" cy="6416675"/>
              </a:xfrm>
              <a:solidFill>
                <a:schemeClr val="bg1">
                  <a:alpha val="15000"/>
                </a:schemeClr>
              </a:solidFill>
            </p:grpSpPr>
            <p:sp>
              <p:nvSpPr>
                <p:cNvPr id="43" name="Freeform 319"/>
                <p:cNvSpPr>
                  <a:spLocks noEditPoints="1"/>
                </p:cNvSpPr>
                <p:nvPr/>
              </p:nvSpPr>
              <p:spPr bwMode="auto">
                <a:xfrm>
                  <a:off x="83495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4" name="Freeform 320"/>
                <p:cNvSpPr>
                  <a:spLocks noEditPoints="1"/>
                </p:cNvSpPr>
                <p:nvPr/>
              </p:nvSpPr>
              <p:spPr bwMode="auto">
                <a:xfrm>
                  <a:off x="9570361" y="-1655875"/>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5" name="Freeform 321"/>
                <p:cNvSpPr>
                  <a:spLocks noEditPoints="1"/>
                </p:cNvSpPr>
                <p:nvPr/>
              </p:nvSpPr>
              <p:spPr bwMode="auto">
                <a:xfrm>
                  <a:off x="107879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9" name="Freeform 322"/>
                <p:cNvSpPr>
                  <a:spLocks noEditPoints="1"/>
                </p:cNvSpPr>
                <p:nvPr/>
              </p:nvSpPr>
              <p:spPr bwMode="auto">
                <a:xfrm>
                  <a:off x="12008761" y="-1655875"/>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0" name="Freeform 323"/>
                <p:cNvSpPr>
                  <a:spLocks noEditPoints="1"/>
                </p:cNvSpPr>
                <p:nvPr/>
              </p:nvSpPr>
              <p:spPr bwMode="auto">
                <a:xfrm>
                  <a:off x="83495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1" name="Freeform 324"/>
                <p:cNvSpPr>
                  <a:spLocks noEditPoints="1"/>
                </p:cNvSpPr>
                <p:nvPr/>
              </p:nvSpPr>
              <p:spPr bwMode="auto">
                <a:xfrm>
                  <a:off x="9570361" y="441213"/>
                  <a:ext cx="2503488" cy="2168525"/>
                </a:xfrm>
                <a:custGeom>
                  <a:avLst/>
                  <a:gdLst>
                    <a:gd name="T0" fmla="*/ 1577 w 1577"/>
                    <a:gd name="T1" fmla="*/ 1366 h 1366"/>
                    <a:gd name="T2" fmla="*/ 0 w 1577"/>
                    <a:gd name="T3" fmla="*/ 1366 h 1366"/>
                    <a:gd name="T4" fmla="*/ 788 w 1577"/>
                    <a:gd name="T5" fmla="*/ 0 h 1366"/>
                    <a:gd name="T6" fmla="*/ 1577 w 1577"/>
                    <a:gd name="T7" fmla="*/ 1366 h 1366"/>
                    <a:gd name="T8" fmla="*/ 41 w 1577"/>
                    <a:gd name="T9" fmla="*/ 1342 h 1366"/>
                    <a:gd name="T10" fmla="*/ 1536 w 1577"/>
                    <a:gd name="T11" fmla="*/ 1342 h 1366"/>
                    <a:gd name="T12" fmla="*/ 788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8" y="0"/>
                      </a:lnTo>
                      <a:lnTo>
                        <a:pt x="1577" y="1366"/>
                      </a:lnTo>
                      <a:close/>
                      <a:moveTo>
                        <a:pt x="41" y="1342"/>
                      </a:moveTo>
                      <a:lnTo>
                        <a:pt x="1536" y="1342"/>
                      </a:lnTo>
                      <a:lnTo>
                        <a:pt x="788" y="47"/>
                      </a:lnTo>
                      <a:lnTo>
                        <a:pt x="41" y="13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2" name="Freeform 325"/>
                <p:cNvSpPr>
                  <a:spLocks noEditPoints="1"/>
                </p:cNvSpPr>
                <p:nvPr/>
              </p:nvSpPr>
              <p:spPr bwMode="auto">
                <a:xfrm>
                  <a:off x="107879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3" name="Freeform 326"/>
                <p:cNvSpPr>
                  <a:spLocks noEditPoints="1"/>
                </p:cNvSpPr>
                <p:nvPr/>
              </p:nvSpPr>
              <p:spPr bwMode="auto">
                <a:xfrm>
                  <a:off x="12008761" y="441213"/>
                  <a:ext cx="2503488" cy="2168525"/>
                </a:xfrm>
                <a:custGeom>
                  <a:avLst/>
                  <a:gdLst>
                    <a:gd name="T0" fmla="*/ 1577 w 1577"/>
                    <a:gd name="T1" fmla="*/ 1366 h 1366"/>
                    <a:gd name="T2" fmla="*/ 0 w 1577"/>
                    <a:gd name="T3" fmla="*/ 1366 h 1366"/>
                    <a:gd name="T4" fmla="*/ 789 w 1577"/>
                    <a:gd name="T5" fmla="*/ 0 h 1366"/>
                    <a:gd name="T6" fmla="*/ 1577 w 1577"/>
                    <a:gd name="T7" fmla="*/ 1366 h 1366"/>
                    <a:gd name="T8" fmla="*/ 41 w 1577"/>
                    <a:gd name="T9" fmla="*/ 1342 h 1366"/>
                    <a:gd name="T10" fmla="*/ 1536 w 1577"/>
                    <a:gd name="T11" fmla="*/ 1342 h 1366"/>
                    <a:gd name="T12" fmla="*/ 789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9" y="0"/>
                      </a:lnTo>
                      <a:lnTo>
                        <a:pt x="1577" y="1366"/>
                      </a:lnTo>
                      <a:close/>
                      <a:moveTo>
                        <a:pt x="41" y="1342"/>
                      </a:moveTo>
                      <a:lnTo>
                        <a:pt x="1536" y="1342"/>
                      </a:lnTo>
                      <a:lnTo>
                        <a:pt x="789" y="47"/>
                      </a:lnTo>
                      <a:lnTo>
                        <a:pt x="41" y="13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4" name="Freeform 327"/>
                <p:cNvSpPr>
                  <a:spLocks noEditPoints="1"/>
                </p:cNvSpPr>
                <p:nvPr/>
              </p:nvSpPr>
              <p:spPr bwMode="auto">
                <a:xfrm>
                  <a:off x="83495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5" name="Freeform 328"/>
                <p:cNvSpPr>
                  <a:spLocks noEditPoints="1"/>
                </p:cNvSpPr>
                <p:nvPr/>
              </p:nvSpPr>
              <p:spPr bwMode="auto">
                <a:xfrm>
                  <a:off x="9570361" y="2571638"/>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6" name="Freeform 329"/>
                <p:cNvSpPr>
                  <a:spLocks noEditPoints="1"/>
                </p:cNvSpPr>
                <p:nvPr/>
              </p:nvSpPr>
              <p:spPr bwMode="auto">
                <a:xfrm>
                  <a:off x="107879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7" name="Freeform 330"/>
                <p:cNvSpPr>
                  <a:spLocks noEditPoints="1"/>
                </p:cNvSpPr>
                <p:nvPr/>
              </p:nvSpPr>
              <p:spPr bwMode="auto">
                <a:xfrm>
                  <a:off x="12008761" y="2571638"/>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grpSp>
          <p:grpSp>
            <p:nvGrpSpPr>
              <p:cNvPr id="35" name="Group 58"/>
              <p:cNvGrpSpPr/>
              <p:nvPr userDrawn="1"/>
            </p:nvGrpSpPr>
            <p:grpSpPr>
              <a:xfrm>
                <a:off x="2607344" y="-468621"/>
                <a:ext cx="2608160" cy="1961609"/>
                <a:chOff x="1925461" y="-469483"/>
                <a:chExt cx="5437137" cy="4089296"/>
              </a:xfrm>
              <a:solidFill>
                <a:schemeClr val="accent2">
                  <a:lumMod val="60000"/>
                  <a:lumOff val="40000"/>
                  <a:alpha val="25000"/>
                </a:schemeClr>
              </a:solidFill>
            </p:grpSpPr>
            <p:sp>
              <p:nvSpPr>
                <p:cNvPr id="36"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7"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8"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9"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40" name="Freeform 63"/>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41"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42"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grpSp>
          <p:nvGrpSpPr>
            <p:cNvPr id="12" name="Group 42"/>
            <p:cNvGrpSpPr/>
            <p:nvPr/>
          </p:nvGrpSpPr>
          <p:grpSpPr>
            <a:xfrm>
              <a:off x="1100762" y="1771283"/>
              <a:ext cx="2608160" cy="1961609"/>
              <a:chOff x="1925461" y="-469483"/>
              <a:chExt cx="5437137" cy="4089296"/>
            </a:xfrm>
            <a:solidFill>
              <a:schemeClr val="accent2">
                <a:lumMod val="60000"/>
                <a:lumOff val="40000"/>
                <a:alpha val="45000"/>
              </a:schemeClr>
            </a:solidFill>
          </p:grpSpPr>
          <p:sp>
            <p:nvSpPr>
              <p:cNvPr id="27"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8"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9"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0"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1" name="Freeform 47"/>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2"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3"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nvGrpSpPr>
            <p:cNvPr id="16" name="Group 50"/>
            <p:cNvGrpSpPr/>
            <p:nvPr/>
          </p:nvGrpSpPr>
          <p:grpSpPr>
            <a:xfrm>
              <a:off x="2868777" y="1045370"/>
              <a:ext cx="2608160" cy="1961609"/>
              <a:chOff x="1925461" y="-469483"/>
              <a:chExt cx="5437137" cy="4089296"/>
            </a:xfrm>
            <a:solidFill>
              <a:schemeClr val="accent2">
                <a:alpha val="25000"/>
              </a:schemeClr>
            </a:solidFill>
          </p:grpSpPr>
          <p:sp>
            <p:nvSpPr>
              <p:cNvPr id="20"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1"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2"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3"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4" name="Freeform 55"/>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5"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6"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sp>
        <p:nvSpPr>
          <p:cNvPr id="13" name="标题 1"/>
          <p:cNvSpPr>
            <a:spLocks noGrp="1"/>
          </p:cNvSpPr>
          <p:nvPr>
            <p:ph type="ctrTitle" hasCustomPrompt="1"/>
          </p:nvPr>
        </p:nvSpPr>
        <p:spPr>
          <a:xfrm>
            <a:off x="2485223" y="1971868"/>
            <a:ext cx="12426532" cy="1664384"/>
          </a:xfrm>
        </p:spPr>
        <p:txBody>
          <a:bodyPr anchor="ctr">
            <a:noAutofit/>
          </a:bodyPr>
          <a:lstStyle>
            <a:lvl1pPr marL="0" indent="0" algn="l">
              <a:buFont typeface="Arial" panose="020B0604020202020204" pitchFamily="34" charset="0"/>
              <a:buNone/>
              <a:defRPr sz="8800">
                <a:solidFill>
                  <a:schemeClr val="tx1">
                    <a:lumMod val="85000"/>
                    <a:lumOff val="15000"/>
                  </a:schemeClr>
                </a:solidFill>
              </a:defRPr>
            </a:lvl1pPr>
          </a:lstStyle>
          <a:p>
            <a:r>
              <a:rPr lang="zh-CN" altLang="en-US" dirty="0"/>
              <a:t>结束语</a:t>
            </a:r>
          </a:p>
        </p:txBody>
      </p:sp>
    </p:spTree>
    <p:extLst>
      <p:ext uri="{BB962C8B-B14F-4D97-AF65-F5344CB8AC3E}">
        <p14:creationId xmlns:p14="http://schemas.microsoft.com/office/powerpoint/2010/main" val="237865840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63997" y="3019584"/>
            <a:ext cx="15551944" cy="2083556"/>
          </a:xfrm>
          <a:noFill/>
        </p:spPr>
        <p:txBody>
          <a:bodyPr>
            <a:normAutofit/>
          </a:bodyPr>
          <a:lstStyle>
            <a:lvl1pPr algn="ctr">
              <a:defRPr sz="8800" b="1">
                <a:solidFill>
                  <a:schemeClr val="tx2"/>
                </a:solidFill>
                <a:latin typeface="等线" panose="02010600030101010101" pitchFamily="2" charset="-122"/>
                <a:ea typeface="等线" panose="02010600030101010101" pitchFamily="2" charset="-122"/>
              </a:defRPr>
            </a:lvl1pPr>
          </a:lstStyle>
          <a:p>
            <a:r>
              <a:rPr lang="zh-CN" altLang="en-US" dirty="0"/>
              <a:t>单击此处编辑母版标题样式</a:t>
            </a:r>
          </a:p>
        </p:txBody>
      </p:sp>
      <p:sp>
        <p:nvSpPr>
          <p:cNvPr id="3" name="副标题 2"/>
          <p:cNvSpPr>
            <a:spLocks noGrp="1"/>
          </p:cNvSpPr>
          <p:nvPr>
            <p:ph type="subTitle" idx="1"/>
          </p:nvPr>
        </p:nvSpPr>
        <p:spPr>
          <a:xfrm>
            <a:off x="2591992" y="5508149"/>
            <a:ext cx="12095957" cy="2484067"/>
          </a:xfrm>
        </p:spPr>
        <p:txBody>
          <a:bodyPr>
            <a:normAutofit/>
          </a:bodyPr>
          <a:lstStyle>
            <a:lvl1pPr marL="0" indent="0" algn="ctr">
              <a:buNone/>
              <a:defRPr sz="2400">
                <a:solidFill>
                  <a:schemeClr val="tx1">
                    <a:tint val="75000"/>
                  </a:schemeClr>
                </a:solidFill>
              </a:defRPr>
            </a:lvl1pPr>
            <a:lvl2pPr marL="457222" indent="0" algn="ctr">
              <a:buNone/>
              <a:defRPr>
                <a:solidFill>
                  <a:schemeClr val="tx1">
                    <a:tint val="75000"/>
                  </a:schemeClr>
                </a:solidFill>
              </a:defRPr>
            </a:lvl2pPr>
            <a:lvl3pPr marL="914443" indent="0" algn="ctr">
              <a:buNone/>
              <a:defRPr>
                <a:solidFill>
                  <a:schemeClr val="tx1">
                    <a:tint val="75000"/>
                  </a:schemeClr>
                </a:solidFill>
              </a:defRPr>
            </a:lvl3pPr>
            <a:lvl4pPr marL="1371665" indent="0" algn="ctr">
              <a:buNone/>
              <a:defRPr>
                <a:solidFill>
                  <a:schemeClr val="tx1">
                    <a:tint val="75000"/>
                  </a:schemeClr>
                </a:solidFill>
              </a:defRPr>
            </a:lvl4pPr>
            <a:lvl5pPr marL="1828886" indent="0" algn="ctr">
              <a:buNone/>
              <a:defRPr>
                <a:solidFill>
                  <a:schemeClr val="tx1">
                    <a:tint val="75000"/>
                  </a:schemeClr>
                </a:solidFill>
              </a:defRPr>
            </a:lvl5pPr>
            <a:lvl6pPr marL="2286107" indent="0" algn="ctr">
              <a:buNone/>
              <a:defRPr>
                <a:solidFill>
                  <a:schemeClr val="tx1">
                    <a:tint val="75000"/>
                  </a:schemeClr>
                </a:solidFill>
              </a:defRPr>
            </a:lvl6pPr>
            <a:lvl7pPr marL="2743328" indent="0" algn="ctr">
              <a:buNone/>
              <a:defRPr>
                <a:solidFill>
                  <a:schemeClr val="tx1">
                    <a:tint val="75000"/>
                  </a:schemeClr>
                </a:solidFill>
              </a:defRPr>
            </a:lvl7pPr>
            <a:lvl8pPr marL="3200550" indent="0" algn="ctr">
              <a:buNone/>
              <a:defRPr>
                <a:solidFill>
                  <a:schemeClr val="tx1">
                    <a:tint val="75000"/>
                  </a:schemeClr>
                </a:solidFill>
              </a:defRPr>
            </a:lvl8pPr>
            <a:lvl9pPr marL="3657771" indent="0" algn="ctr">
              <a:buNone/>
              <a:defRPr>
                <a:solidFill>
                  <a:schemeClr val="tx1">
                    <a:tint val="75000"/>
                  </a:schemeClr>
                </a:solidFill>
              </a:defRPr>
            </a:lvl9pPr>
          </a:lstStyle>
          <a:p>
            <a:r>
              <a:rPr lang="zh-CN" altLang="en-US" dirty="0"/>
              <a:t>单击以编辑母版副标题样式</a:t>
            </a:r>
          </a:p>
        </p:txBody>
      </p:sp>
      <p:cxnSp>
        <p:nvCxnSpPr>
          <p:cNvPr id="8" name="直接连接符 7"/>
          <p:cNvCxnSpPr/>
          <p:nvPr userDrawn="1"/>
        </p:nvCxnSpPr>
        <p:spPr>
          <a:xfrm>
            <a:off x="863997" y="5166316"/>
            <a:ext cx="15551944"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8964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mp; 2-color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381598" y="1685492"/>
            <a:ext cx="16516744" cy="2814371"/>
          </a:xfrm>
        </p:spPr>
        <p:txBody>
          <a:bodyPr/>
          <a:lstStyle>
            <a:lvl1pPr marL="0" indent="0">
              <a:buNone/>
              <a:defRPr>
                <a:gradFill>
                  <a:gsLst>
                    <a:gs pos="1250">
                      <a:schemeClr val="tx2"/>
                    </a:gs>
                    <a:gs pos="99000">
                      <a:schemeClr val="tx2"/>
                    </a:gs>
                  </a:gsLst>
                  <a:lin ang="5400000" scaled="0"/>
                </a:gradFill>
              </a:defRPr>
            </a:lvl1pPr>
            <a:lvl2pPr marL="0" indent="0">
              <a:buFontTx/>
              <a:buNone/>
              <a:defRPr sz="2779"/>
            </a:lvl2pPr>
            <a:lvl3pPr marL="317640" indent="0">
              <a:buNone/>
              <a:defRPr/>
            </a:lvl3pPr>
            <a:lvl4pPr marL="635279" indent="0">
              <a:buNone/>
              <a:defRPr/>
            </a:lvl4pPr>
            <a:lvl5pPr marL="952919"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9722448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mp;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381598" y="1685492"/>
            <a:ext cx="16516744" cy="2814371"/>
          </a:xfrm>
        </p:spPr>
        <p:txBody>
          <a:bodyPr/>
          <a:lstStyle>
            <a:lvl1pPr marL="0" indent="0">
              <a:buNone/>
              <a:defRPr>
                <a:gradFill>
                  <a:gsLst>
                    <a:gs pos="1250">
                      <a:schemeClr val="tx1"/>
                    </a:gs>
                    <a:gs pos="99000">
                      <a:schemeClr val="tx1"/>
                    </a:gs>
                  </a:gsLst>
                  <a:lin ang="5400000" scaled="0"/>
                </a:gradFill>
              </a:defRPr>
            </a:lvl1pPr>
            <a:lvl2pPr marL="0" indent="0">
              <a:buFontTx/>
              <a:buNone/>
              <a:defRPr sz="2779"/>
            </a:lvl2pPr>
            <a:lvl3pPr marL="317640" indent="0">
              <a:buNone/>
              <a:defRPr/>
            </a:lvl3pPr>
            <a:lvl4pPr marL="635279" indent="0">
              <a:buNone/>
              <a:defRPr/>
            </a:lvl4pPr>
            <a:lvl5pPr marL="952919"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198113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box">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002"/>
            </a:lvl1pPr>
          </a:lstStyle>
          <a:p>
            <a:r>
              <a:rPr lang="en-US"/>
              <a:t>Click to edit Master title style</a:t>
            </a:r>
            <a:endParaRPr lang="en-US" dirty="0"/>
          </a:p>
        </p:txBody>
      </p:sp>
      <p:sp>
        <p:nvSpPr>
          <p:cNvPr id="4" name="Content Placeholder 3"/>
          <p:cNvSpPr>
            <a:spLocks noGrp="1"/>
          </p:cNvSpPr>
          <p:nvPr>
            <p:ph sz="quarter" idx="10"/>
          </p:nvPr>
        </p:nvSpPr>
        <p:spPr>
          <a:xfrm>
            <a:off x="381598" y="2358401"/>
            <a:ext cx="5082075" cy="603079"/>
          </a:xfrm>
        </p:spPr>
        <p:txBody>
          <a:bodyPr/>
          <a:lstStyle>
            <a:lvl1pPr marL="0" indent="0">
              <a:buNone/>
              <a:defRPr sz="2501">
                <a:latin typeface="+mn-lt"/>
              </a:defRPr>
            </a:lvl1pPr>
            <a:lvl2pPr>
              <a:defRPr sz="2501"/>
            </a:lvl2pPr>
            <a:lvl3pPr>
              <a:defRPr sz="2501"/>
            </a:lvl3pPr>
            <a:lvl4pPr>
              <a:defRPr sz="2501"/>
            </a:lvl4pPr>
            <a:lvl5pPr>
              <a:defRPr sz="2501"/>
            </a:lvl5pPr>
          </a:lstStyle>
          <a:p>
            <a:pPr lvl="0"/>
            <a:r>
              <a:rPr lang="en-US"/>
              <a:t>Click to edit Master text styles</a:t>
            </a:r>
          </a:p>
        </p:txBody>
      </p:sp>
    </p:spTree>
    <p:extLst>
      <p:ext uri="{BB962C8B-B14F-4D97-AF65-F5344CB8AC3E}">
        <p14:creationId xmlns:p14="http://schemas.microsoft.com/office/powerpoint/2010/main" val="2907057215"/>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矩形 2">
            <a:hlinkClick r:id="rId2"/>
          </p:cNvPr>
          <p:cNvSpPr/>
          <p:nvPr userDrawn="1"/>
        </p:nvSpPr>
        <p:spPr bwMode="auto">
          <a:xfrm>
            <a:off x="1" y="1"/>
            <a:ext cx="17279938" cy="9720263"/>
          </a:xfrm>
          <a:prstGeom prst="rect">
            <a:avLst/>
          </a:prstGeom>
          <a:noFill/>
          <a:ln>
            <a:solidFill>
              <a:schemeClr val="tx1">
                <a:alpha val="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4104" tIns="203283" rIns="254104" bIns="203283" numCol="1" spcCol="0" rtlCol="0" fromWordArt="0" anchor="t" anchorCtr="0" forceAA="0" compatLnSpc="1">
            <a:prstTxWarp prst="textNoShape">
              <a:avLst/>
            </a:prstTxWarp>
            <a:noAutofit/>
          </a:bodyPr>
          <a:lstStyle/>
          <a:p>
            <a:pPr algn="ctr" defTabSz="1295670" fontAlgn="base">
              <a:lnSpc>
                <a:spcPct val="90000"/>
              </a:lnSpc>
              <a:spcBef>
                <a:spcPct val="0"/>
              </a:spcBef>
              <a:spcAft>
                <a:spcPct val="0"/>
              </a:spcAft>
            </a:pPr>
            <a:endParaRPr lang="zh-CN" altLang="en-US" sz="3335"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72162366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DB0644-21AD-415E-A0EA-CCAE1DD82FC8}"/>
              </a:ext>
            </a:extLst>
          </p:cNvPr>
          <p:cNvSpPr>
            <a:spLocks noGrp="1"/>
          </p:cNvSpPr>
          <p:nvPr>
            <p:ph type="title"/>
          </p:nvPr>
        </p:nvSpPr>
        <p:spPr>
          <a:xfrm>
            <a:off x="339001" y="164255"/>
            <a:ext cx="16193942" cy="594016"/>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7F22313-EE65-4438-BD20-5F7619457872}"/>
              </a:ext>
            </a:extLst>
          </p:cNvPr>
          <p:cNvSpPr>
            <a:spLocks noGrp="1"/>
          </p:cNvSpPr>
          <p:nvPr>
            <p:ph type="body" sz="half" idx="1"/>
          </p:nvPr>
        </p:nvSpPr>
        <p:spPr>
          <a:xfrm>
            <a:off x="473999" y="1185784"/>
            <a:ext cx="7952972" cy="765470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B9BC8EB0-6060-42A3-80C4-2BEC75500DAE}"/>
              </a:ext>
            </a:extLst>
          </p:cNvPr>
          <p:cNvSpPr>
            <a:spLocks noGrp="1"/>
          </p:cNvSpPr>
          <p:nvPr>
            <p:ph sz="half" idx="2"/>
          </p:nvPr>
        </p:nvSpPr>
        <p:spPr>
          <a:xfrm>
            <a:off x="8714969" y="1185784"/>
            <a:ext cx="7952971" cy="765470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75035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949497" y="2"/>
            <a:ext cx="15378696" cy="1458038"/>
          </a:xfrm>
          <a:prstGeom prst="rect">
            <a:avLst/>
          </a:prstGeom>
        </p:spPr>
        <p:txBody>
          <a:bodyPr vert="horz" lIns="91440" tIns="45720" rIns="91440" bIns="45720" rtlCol="0" anchor="b">
            <a:normAutofit/>
          </a:bodyPr>
          <a:lstStyle/>
          <a:p>
            <a:r>
              <a:rPr lang="zh-CN" altLang="en-US" dirty="0"/>
              <a:t>单击此处编辑母版标题样式</a:t>
            </a:r>
          </a:p>
        </p:txBody>
      </p:sp>
      <p:sp>
        <p:nvSpPr>
          <p:cNvPr id="3" name="文本占位符 2"/>
          <p:cNvSpPr>
            <a:spLocks noGrp="1"/>
          </p:cNvSpPr>
          <p:nvPr>
            <p:ph type="body" idx="1"/>
          </p:nvPr>
        </p:nvSpPr>
        <p:spPr>
          <a:xfrm>
            <a:off x="949497" y="1593045"/>
            <a:ext cx="15378696" cy="711469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grpSp>
        <p:nvGrpSpPr>
          <p:cNvPr id="13" name="组合 12"/>
          <p:cNvGrpSpPr/>
          <p:nvPr userDrawn="1"/>
        </p:nvGrpSpPr>
        <p:grpSpPr>
          <a:xfrm>
            <a:off x="949495" y="1468215"/>
            <a:ext cx="15378697" cy="95481"/>
            <a:chOff x="-1122704" y="0"/>
            <a:chExt cx="30704616" cy="6858000"/>
          </a:xfrm>
        </p:grpSpPr>
        <p:sp>
          <p:nvSpPr>
            <p:cNvPr id="14" name="平行四边形 13"/>
            <p:cNvSpPr/>
            <p:nvPr/>
          </p:nvSpPr>
          <p:spPr>
            <a:xfrm flipH="1">
              <a:off x="2352002" y="0"/>
              <a:ext cx="27229910" cy="685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p>
          </p:txBody>
        </p:sp>
        <p:sp>
          <p:nvSpPr>
            <p:cNvPr id="15" name="平行四边形 14"/>
            <p:cNvSpPr/>
            <p:nvPr/>
          </p:nvSpPr>
          <p:spPr>
            <a:xfrm flipH="1">
              <a:off x="-1122704" y="0"/>
              <a:ext cx="718396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p>
          </p:txBody>
        </p:sp>
      </p:grpSp>
    </p:spTree>
    <p:extLst>
      <p:ext uri="{BB962C8B-B14F-4D97-AF65-F5344CB8AC3E}">
        <p14:creationId xmlns:p14="http://schemas.microsoft.com/office/powerpoint/2010/main" val="3784027784"/>
      </p:ext>
    </p:extLst>
  </p:cSld>
  <p:clrMap bg1="lt1" tx1="dk1" bg2="lt2" tx2="dk2" accent1="accent1" accent2="accent2" accent3="accent3" accent4="accent4" accent5="accent5" accent6="accent6" hlink="hlink" folHlink="folHlink"/>
  <p:sldLayoutIdLst>
    <p:sldLayoutId id="2147483660" r:id="rId1"/>
    <p:sldLayoutId id="2147483650" r:id="rId2"/>
    <p:sldLayoutId id="2147483678" r:id="rId3"/>
    <p:sldLayoutId id="2147483680" r:id="rId4"/>
    <p:sldLayoutId id="2147483677" r:id="rId5"/>
    <p:sldLayoutId id="2147483651" r:id="rId6"/>
    <p:sldLayoutId id="2147483668" r:id="rId7"/>
    <p:sldLayoutId id="2147483669" r:id="rId8"/>
    <p:sldLayoutId id="2147483670" r:id="rId9"/>
    <p:sldLayoutId id="2147483671" r:id="rId10"/>
    <p:sldLayoutId id="2147483672" r:id="rId11"/>
    <p:sldLayoutId id="2147483679" r:id="rId12"/>
    <p:sldLayoutId id="2147483673" r:id="rId13"/>
    <p:sldLayoutId id="2147483674" r:id="rId14"/>
    <p:sldLayoutId id="2147483675" r:id="rId15"/>
    <p:sldLayoutId id="2147483676" r:id="rId16"/>
    <p:sldLayoutId id="2147483654" r:id="rId17"/>
    <p:sldLayoutId id="2147483655" r:id="rId18"/>
    <p:sldLayoutId id="2147483661" r:id="rId19"/>
    <p:sldLayoutId id="2147483667" r:id="rId20"/>
    <p:sldLayoutId id="2147483681" r:id="rId21"/>
    <p:sldLayoutId id="2147483682" r:id="rId22"/>
    <p:sldLayoutId id="2147483683" r:id="rId23"/>
    <p:sldLayoutId id="2147483684" r:id="rId24"/>
    <p:sldLayoutId id="2147483685" r:id="rId25"/>
  </p:sldLayoutIdLst>
  <p:hf hdr="0" dt="0"/>
  <p:txStyles>
    <p:titleStyle>
      <a:lvl1pPr algn="l" defTabSz="914397" rtl="0" eaLnBrk="1" latinLnBrk="0" hangingPunct="1">
        <a:lnSpc>
          <a:spcPct val="90000"/>
        </a:lnSpc>
        <a:spcBef>
          <a:spcPct val="0"/>
        </a:spcBef>
        <a:buNone/>
        <a:defRPr sz="5400" b="1" kern="1200">
          <a:solidFill>
            <a:schemeClr val="tx1">
              <a:lumMod val="85000"/>
              <a:lumOff val="15000"/>
            </a:schemeClr>
          </a:solidFill>
          <a:latin typeface="+mj-lt"/>
          <a:ea typeface="+mj-ea"/>
          <a:cs typeface="+mj-cs"/>
        </a:defRPr>
      </a:lvl1pPr>
    </p:titleStyle>
    <p:bodyStyle>
      <a:lvl1pPr marL="228600" indent="-228600" algn="l" defTabSz="914397" rtl="0" eaLnBrk="1" latinLnBrk="0" hangingPunct="1">
        <a:lnSpc>
          <a:spcPct val="150000"/>
        </a:lnSpc>
        <a:spcBef>
          <a:spcPts val="1000"/>
        </a:spcBef>
        <a:buFont typeface="Arial" panose="020B0604020202020204" pitchFamily="34" charset="0"/>
        <a:buChar char="•"/>
        <a:defRPr sz="2400" kern="1200">
          <a:solidFill>
            <a:schemeClr val="tx1">
              <a:lumMod val="65000"/>
              <a:lumOff val="35000"/>
            </a:schemeClr>
          </a:solidFill>
          <a:latin typeface="+mn-lt"/>
          <a:ea typeface="+mn-ea"/>
          <a:cs typeface="+mn-cs"/>
        </a:defRPr>
      </a:lvl1pPr>
      <a:lvl2pPr marL="685798" indent="-228600" algn="l" defTabSz="914397" rtl="0" eaLnBrk="1" latinLnBrk="0" hangingPunct="1">
        <a:lnSpc>
          <a:spcPct val="15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2996" indent="-228600" algn="l" defTabSz="914397" rtl="0" eaLnBrk="1" latinLnBrk="0" hangingPunct="1">
        <a:lnSpc>
          <a:spcPct val="15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3pPr>
      <a:lvl4pPr marL="1600195" indent="-228600" algn="l" defTabSz="914397" rtl="0" eaLnBrk="1" latinLnBrk="0" hangingPunct="1">
        <a:lnSpc>
          <a:spcPct val="15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4pPr>
      <a:lvl5pPr marL="2057394" indent="-228600" algn="l" defTabSz="914397" rtl="0" eaLnBrk="1" latinLnBrk="0" hangingPunct="1">
        <a:lnSpc>
          <a:spcPct val="15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5pPr>
      <a:lvl6pPr marL="2514592" indent="-228600" algn="l" defTabSz="91439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91" indent="-228600" algn="l" defTabSz="91439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90" indent="-228600" algn="l" defTabSz="91439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88" indent="-228600" algn="l" defTabSz="91439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97" rtl="0" eaLnBrk="1" latinLnBrk="0" hangingPunct="1">
        <a:defRPr sz="1800" kern="1200">
          <a:solidFill>
            <a:schemeClr val="tx1"/>
          </a:solidFill>
          <a:latin typeface="+mn-lt"/>
          <a:ea typeface="+mn-ea"/>
          <a:cs typeface="+mn-cs"/>
        </a:defRPr>
      </a:lvl1pPr>
      <a:lvl2pPr marL="457199" algn="l" defTabSz="914397" rtl="0" eaLnBrk="1" latinLnBrk="0" hangingPunct="1">
        <a:defRPr sz="1800" kern="1200">
          <a:solidFill>
            <a:schemeClr val="tx1"/>
          </a:solidFill>
          <a:latin typeface="+mn-lt"/>
          <a:ea typeface="+mn-ea"/>
          <a:cs typeface="+mn-cs"/>
        </a:defRPr>
      </a:lvl2pPr>
      <a:lvl3pPr marL="914397" algn="l" defTabSz="914397" rtl="0" eaLnBrk="1" latinLnBrk="0" hangingPunct="1">
        <a:defRPr sz="1800" kern="1200">
          <a:solidFill>
            <a:schemeClr val="tx1"/>
          </a:solidFill>
          <a:latin typeface="+mn-lt"/>
          <a:ea typeface="+mn-ea"/>
          <a:cs typeface="+mn-cs"/>
        </a:defRPr>
      </a:lvl3pPr>
      <a:lvl4pPr marL="1371596" algn="l" defTabSz="914397" rtl="0" eaLnBrk="1" latinLnBrk="0" hangingPunct="1">
        <a:defRPr sz="1800" kern="1200">
          <a:solidFill>
            <a:schemeClr val="tx1"/>
          </a:solidFill>
          <a:latin typeface="+mn-lt"/>
          <a:ea typeface="+mn-ea"/>
          <a:cs typeface="+mn-cs"/>
        </a:defRPr>
      </a:lvl4pPr>
      <a:lvl5pPr marL="1828795" algn="l" defTabSz="914397" rtl="0" eaLnBrk="1" latinLnBrk="0" hangingPunct="1">
        <a:defRPr sz="1800" kern="1200">
          <a:solidFill>
            <a:schemeClr val="tx1"/>
          </a:solidFill>
          <a:latin typeface="+mn-lt"/>
          <a:ea typeface="+mn-ea"/>
          <a:cs typeface="+mn-cs"/>
        </a:defRPr>
      </a:lvl5pPr>
      <a:lvl6pPr marL="2285993" algn="l" defTabSz="914397" rtl="0" eaLnBrk="1" latinLnBrk="0" hangingPunct="1">
        <a:defRPr sz="1800" kern="1200">
          <a:solidFill>
            <a:schemeClr val="tx1"/>
          </a:solidFill>
          <a:latin typeface="+mn-lt"/>
          <a:ea typeface="+mn-ea"/>
          <a:cs typeface="+mn-cs"/>
        </a:defRPr>
      </a:lvl6pPr>
      <a:lvl7pPr marL="2743191" algn="l" defTabSz="914397" rtl="0" eaLnBrk="1" latinLnBrk="0" hangingPunct="1">
        <a:defRPr sz="1800" kern="1200">
          <a:solidFill>
            <a:schemeClr val="tx1"/>
          </a:solidFill>
          <a:latin typeface="+mn-lt"/>
          <a:ea typeface="+mn-ea"/>
          <a:cs typeface="+mn-cs"/>
        </a:defRPr>
      </a:lvl7pPr>
      <a:lvl8pPr marL="3200390" algn="l" defTabSz="914397" rtl="0" eaLnBrk="1" latinLnBrk="0" hangingPunct="1">
        <a:defRPr sz="1800" kern="1200">
          <a:solidFill>
            <a:schemeClr val="tx1"/>
          </a:solidFill>
          <a:latin typeface="+mn-lt"/>
          <a:ea typeface="+mn-ea"/>
          <a:cs typeface="+mn-cs"/>
        </a:defRPr>
      </a:lvl8pPr>
      <a:lvl9pPr marL="3657590" algn="l" defTabSz="91439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diagramLayout" Target="../diagrams/layout1.xml"/><Relationship Id="rId7" Type="http://schemas.openxmlformats.org/officeDocument/2006/relationships/image" Target="../media/image2.emf"/><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2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2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5.xml"/><Relationship Id="rId1" Type="http://schemas.openxmlformats.org/officeDocument/2006/relationships/slideLayout" Target="../slideLayouts/slideLayout2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endParaRPr lang="zh-CN" altLang="en-US" dirty="0"/>
          </a:p>
        </p:txBody>
      </p:sp>
      <p:sp>
        <p:nvSpPr>
          <p:cNvPr id="5" name="文本占位符 4"/>
          <p:cNvSpPr>
            <a:spLocks noGrp="1"/>
          </p:cNvSpPr>
          <p:nvPr>
            <p:ph type="body" sz="quarter" idx="11"/>
          </p:nvPr>
        </p:nvSpPr>
        <p:spPr/>
        <p:txBody>
          <a:bodyPr/>
          <a:lstStyle/>
          <a:p>
            <a:fld id="{BB7D4281-54E0-4055-A44C-957DC0AAFE6E}" type="datetime1">
              <a:rPr lang="zh-CN" altLang="en-US" smtClean="0"/>
              <a:t>2018/04/12</a:t>
            </a:fld>
            <a:endParaRPr lang="zh-CN" altLang="en-US" dirty="0"/>
          </a:p>
        </p:txBody>
      </p:sp>
      <p:sp>
        <p:nvSpPr>
          <p:cNvPr id="9" name="副标题 8">
            <a:extLst>
              <a:ext uri="{FF2B5EF4-FFF2-40B4-BE49-F238E27FC236}">
                <a16:creationId xmlns:a16="http://schemas.microsoft.com/office/drawing/2014/main" id="{B372E28F-0FE0-4D05-9B4D-6572155F36A5}"/>
              </a:ext>
            </a:extLst>
          </p:cNvPr>
          <p:cNvSpPr>
            <a:spLocks noGrp="1"/>
          </p:cNvSpPr>
          <p:nvPr>
            <p:ph type="subTitle" idx="1"/>
          </p:nvPr>
        </p:nvSpPr>
        <p:spPr/>
        <p:txBody>
          <a:bodyPr/>
          <a:lstStyle/>
          <a:p>
            <a:endParaRPr lang="zh-CN" altLang="en-US" dirty="0"/>
          </a:p>
        </p:txBody>
      </p:sp>
      <p:sp>
        <p:nvSpPr>
          <p:cNvPr id="2" name="标题 1"/>
          <p:cNvSpPr>
            <a:spLocks noGrp="1"/>
          </p:cNvSpPr>
          <p:nvPr>
            <p:ph type="ctrTitle"/>
          </p:nvPr>
        </p:nvSpPr>
        <p:spPr/>
        <p:txBody>
          <a:bodyPr/>
          <a:lstStyle/>
          <a:p>
            <a:r>
              <a:rPr lang="zh-CN" altLang="en-US" dirty="0"/>
              <a:t>信用风险分析</a:t>
            </a:r>
          </a:p>
        </p:txBody>
      </p:sp>
    </p:spTree>
    <p:extLst>
      <p:ext uri="{BB962C8B-B14F-4D97-AF65-F5344CB8AC3E}">
        <p14:creationId xmlns:p14="http://schemas.microsoft.com/office/powerpoint/2010/main" val="1361726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9064AB-FA0F-4F66-B8CD-6C6CD04016A4}"/>
              </a:ext>
            </a:extLst>
          </p:cNvPr>
          <p:cNvSpPr>
            <a:spLocks noGrp="1"/>
          </p:cNvSpPr>
          <p:nvPr>
            <p:ph type="title"/>
          </p:nvPr>
        </p:nvSpPr>
        <p:spPr/>
        <p:txBody>
          <a:bodyPr/>
          <a:lstStyle/>
          <a:p>
            <a:r>
              <a:rPr lang="zh-CN" altLang="en-US" dirty="0"/>
              <a:t>信用风险是什么</a:t>
            </a:r>
          </a:p>
        </p:txBody>
      </p:sp>
      <p:sp>
        <p:nvSpPr>
          <p:cNvPr id="3" name="内容占位符 2">
            <a:extLst>
              <a:ext uri="{FF2B5EF4-FFF2-40B4-BE49-F238E27FC236}">
                <a16:creationId xmlns:a16="http://schemas.microsoft.com/office/drawing/2014/main" id="{46DA7DF2-EAA5-4A25-9831-5C506E94A366}"/>
              </a:ext>
            </a:extLst>
          </p:cNvPr>
          <p:cNvSpPr>
            <a:spLocks noGrp="1"/>
          </p:cNvSpPr>
          <p:nvPr>
            <p:ph idx="1"/>
          </p:nvPr>
        </p:nvSpPr>
        <p:spPr/>
        <p:txBody>
          <a:bodyPr>
            <a:normAutofit/>
          </a:bodyPr>
          <a:lstStyle/>
          <a:p>
            <a:r>
              <a:rPr lang="zh-CN" altLang="zh-CN" dirty="0"/>
              <a:t>信用</a:t>
            </a:r>
            <a:r>
              <a:rPr lang="zh-CN" altLang="en-US" dirty="0"/>
              <a:t>风险，是一系列影响信用主体的按时足额偿付本金和</a:t>
            </a:r>
            <a:r>
              <a:rPr lang="zh-CN" altLang="zh-CN" dirty="0"/>
              <a:t>利息的</a:t>
            </a:r>
            <a:r>
              <a:rPr lang="zh-CN" altLang="zh-CN" b="1" dirty="0"/>
              <a:t>能力</a:t>
            </a:r>
            <a:r>
              <a:rPr lang="zh-CN" altLang="zh-CN" dirty="0"/>
              <a:t>和</a:t>
            </a:r>
            <a:r>
              <a:rPr lang="zh-CN" altLang="en-US" dirty="0"/>
              <a:t>偿还</a:t>
            </a:r>
            <a:r>
              <a:rPr lang="zh-CN" altLang="zh-CN" b="1" dirty="0"/>
              <a:t>意愿</a:t>
            </a:r>
            <a:r>
              <a:rPr lang="zh-CN" altLang="en-US" dirty="0"/>
              <a:t>等因素的共同结果。这些因素包括经营环境、行业周期、行业政策，以及个体层面的公司管理战略、市场地位、行业竞争、产品研发、盈利和财务等。</a:t>
            </a:r>
            <a:endParaRPr lang="en-US" altLang="zh-CN" dirty="0"/>
          </a:p>
          <a:p>
            <a:endParaRPr lang="en-US" altLang="zh-CN" dirty="0"/>
          </a:p>
          <a:p>
            <a:r>
              <a:rPr lang="zh-CN" altLang="en-US" dirty="0"/>
              <a:t>信用评级、信用投研（事前评估、事中控制、事后处置）等都是对信用风险进行评估，但视角各有差异：</a:t>
            </a:r>
            <a:endParaRPr lang="en-US" altLang="zh-CN" dirty="0"/>
          </a:p>
          <a:p>
            <a:pPr lvl="1"/>
            <a:r>
              <a:rPr lang="zh-CN" altLang="en-US" b="1" dirty="0"/>
              <a:t>主体职能</a:t>
            </a:r>
            <a:endParaRPr lang="en-US" altLang="zh-CN" b="1" dirty="0"/>
          </a:p>
          <a:p>
            <a:pPr lvl="2"/>
            <a:r>
              <a:rPr lang="zh-CN" altLang="en-US" dirty="0"/>
              <a:t>信用评级，评级公司以独立身份开展信用风险的评估业务，并公布主体和债项的评级结果；</a:t>
            </a:r>
            <a:endParaRPr lang="en-US" altLang="zh-CN" dirty="0"/>
          </a:p>
          <a:p>
            <a:pPr lvl="2"/>
            <a:r>
              <a:rPr lang="zh-CN" altLang="en-US" dirty="0"/>
              <a:t>信用投研，仅对所关注的主体或债项所包含的信用风险进行分析评估，控制和约束投资活动，评估结果不对外公布</a:t>
            </a:r>
            <a:endParaRPr lang="en-US" altLang="zh-CN" dirty="0"/>
          </a:p>
          <a:p>
            <a:pPr lvl="1"/>
            <a:r>
              <a:rPr lang="zh-CN" altLang="en-US" b="1" dirty="0"/>
              <a:t>基本方法</a:t>
            </a:r>
            <a:r>
              <a:rPr lang="zh-CN" altLang="en-US" dirty="0"/>
              <a:t>：对象都是信用主体和债项，信息渠道基本一致，所采取的分析方法和流程基本一致</a:t>
            </a:r>
            <a:endParaRPr lang="en-US" altLang="zh-CN" dirty="0"/>
          </a:p>
          <a:p>
            <a:pPr lvl="1"/>
            <a:r>
              <a:rPr lang="zh-CN" altLang="en-US" b="1" dirty="0"/>
              <a:t>风险偏好</a:t>
            </a:r>
            <a:r>
              <a:rPr lang="zh-CN" altLang="en-US" dirty="0"/>
              <a:t>：评级公司易受付费方影响而产生偏差；而信用投研对投资结果负责，更谨慎</a:t>
            </a:r>
            <a:endParaRPr lang="en-US" altLang="zh-CN" dirty="0"/>
          </a:p>
          <a:p>
            <a:endParaRPr lang="zh-CN" altLang="en-US" dirty="0"/>
          </a:p>
        </p:txBody>
      </p:sp>
    </p:spTree>
    <p:extLst>
      <p:ext uri="{BB962C8B-B14F-4D97-AF65-F5344CB8AC3E}">
        <p14:creationId xmlns:p14="http://schemas.microsoft.com/office/powerpoint/2010/main" val="2774383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13DCC81-0CCF-404F-B18A-B0BA29BE7C98}"/>
              </a:ext>
            </a:extLst>
          </p:cNvPr>
          <p:cNvSpPr>
            <a:spLocks noGrp="1"/>
          </p:cNvSpPr>
          <p:nvPr>
            <p:ph type="title"/>
          </p:nvPr>
        </p:nvSpPr>
        <p:spPr/>
        <p:txBody>
          <a:bodyPr/>
          <a:lstStyle/>
          <a:p>
            <a:r>
              <a:rPr lang="zh-CN" altLang="en-US" dirty="0"/>
              <a:t>信用风险的类型</a:t>
            </a:r>
          </a:p>
        </p:txBody>
      </p:sp>
      <p:sp>
        <p:nvSpPr>
          <p:cNvPr id="7" name="内容占位符 6">
            <a:extLst>
              <a:ext uri="{FF2B5EF4-FFF2-40B4-BE49-F238E27FC236}">
                <a16:creationId xmlns:a16="http://schemas.microsoft.com/office/drawing/2014/main" id="{E33DA0AE-394B-41BE-B7A0-EFB139B6B5E1}"/>
              </a:ext>
            </a:extLst>
          </p:cNvPr>
          <p:cNvSpPr>
            <a:spLocks noGrp="1"/>
          </p:cNvSpPr>
          <p:nvPr>
            <p:ph sz="half" idx="1"/>
          </p:nvPr>
        </p:nvSpPr>
        <p:spPr>
          <a:xfrm>
            <a:off x="4013433" y="1746572"/>
            <a:ext cx="7690472" cy="7873919"/>
          </a:xfrm>
        </p:spPr>
        <p:txBody>
          <a:bodyPr/>
          <a:lstStyle/>
          <a:p>
            <a:r>
              <a:rPr lang="zh-CN" altLang="en-US" b="1" dirty="0"/>
              <a:t>违约风险</a:t>
            </a:r>
            <a:endParaRPr lang="en-US" altLang="zh-CN" b="1" dirty="0"/>
          </a:p>
          <a:p>
            <a:pPr lvl="1"/>
            <a:r>
              <a:rPr lang="zh-CN" altLang="en-US" dirty="0"/>
              <a:t>包括票息违约、本金违约或同时违约</a:t>
            </a:r>
            <a:endParaRPr lang="en-US" altLang="zh-CN" dirty="0"/>
          </a:p>
          <a:p>
            <a:pPr lvl="1"/>
            <a:r>
              <a:rPr lang="zh-CN" altLang="en-US" dirty="0"/>
              <a:t>偿债能力和偿债意愿</a:t>
            </a:r>
            <a:endParaRPr lang="en-US" altLang="zh-CN" dirty="0"/>
          </a:p>
          <a:p>
            <a:pPr lvl="1"/>
            <a:endParaRPr lang="en-US" altLang="zh-CN" dirty="0"/>
          </a:p>
          <a:p>
            <a:r>
              <a:rPr lang="zh-CN" altLang="en-US" b="1" dirty="0"/>
              <a:t>评级调降风险</a:t>
            </a:r>
            <a:endParaRPr lang="en-US" altLang="zh-CN" b="1" dirty="0"/>
          </a:p>
          <a:p>
            <a:pPr lvl="1"/>
            <a:r>
              <a:rPr lang="zh-CN" altLang="en-US" dirty="0"/>
              <a:t>评级机构下调信用评级</a:t>
            </a:r>
            <a:endParaRPr lang="en-US" altLang="zh-CN" dirty="0"/>
          </a:p>
          <a:p>
            <a:pPr lvl="1"/>
            <a:r>
              <a:rPr lang="zh-CN" altLang="en-US" dirty="0"/>
              <a:t>信用的基本面和宏观经济是直接因素</a:t>
            </a:r>
            <a:endParaRPr lang="en-US" altLang="zh-CN" dirty="0"/>
          </a:p>
          <a:p>
            <a:pPr lvl="1"/>
            <a:endParaRPr lang="en-US" altLang="zh-CN" dirty="0"/>
          </a:p>
          <a:p>
            <a:r>
              <a:rPr lang="zh-CN" altLang="en-US" b="1" dirty="0"/>
              <a:t>信用价差风险</a:t>
            </a:r>
            <a:endParaRPr lang="en-US" altLang="zh-CN" b="1" dirty="0"/>
          </a:p>
          <a:p>
            <a:pPr lvl="1"/>
            <a:r>
              <a:rPr lang="zh-CN" altLang="en-US" dirty="0"/>
              <a:t>信用债收益率与无风险收益率的差额变宽</a:t>
            </a:r>
            <a:endParaRPr lang="en-US" altLang="zh-CN" dirty="0"/>
          </a:p>
          <a:p>
            <a:pPr lvl="1"/>
            <a:r>
              <a:rPr lang="zh-CN" altLang="en-US" dirty="0"/>
              <a:t>与利率风险相对独立，但存在密切的相关性</a:t>
            </a:r>
          </a:p>
        </p:txBody>
      </p:sp>
      <p:grpSp>
        <p:nvGrpSpPr>
          <p:cNvPr id="12" name="组合 11">
            <a:extLst>
              <a:ext uri="{FF2B5EF4-FFF2-40B4-BE49-F238E27FC236}">
                <a16:creationId xmlns:a16="http://schemas.microsoft.com/office/drawing/2014/main" id="{6DCC5A7C-9154-4335-96C2-59C95E7BE64A}"/>
              </a:ext>
            </a:extLst>
          </p:cNvPr>
          <p:cNvGrpSpPr/>
          <p:nvPr/>
        </p:nvGrpSpPr>
        <p:grpSpPr>
          <a:xfrm>
            <a:off x="1883018" y="1949008"/>
            <a:ext cx="1117075" cy="6838221"/>
            <a:chOff x="1313691" y="2155778"/>
            <a:chExt cx="1117075" cy="6838221"/>
          </a:xfrm>
        </p:grpSpPr>
        <p:sp>
          <p:nvSpPr>
            <p:cNvPr id="13" name="箭头: 上下 12">
              <a:extLst>
                <a:ext uri="{FF2B5EF4-FFF2-40B4-BE49-F238E27FC236}">
                  <a16:creationId xmlns:a16="http://schemas.microsoft.com/office/drawing/2014/main" id="{4ABF8968-1D93-48E0-BC7F-B93C5EE48B3F}"/>
                </a:ext>
              </a:extLst>
            </p:cNvPr>
            <p:cNvSpPr/>
            <p:nvPr/>
          </p:nvSpPr>
          <p:spPr>
            <a:xfrm>
              <a:off x="1853725" y="2690257"/>
              <a:ext cx="531203" cy="5865786"/>
            </a:xfrm>
            <a:prstGeom prst="upDownArrow">
              <a:avLst/>
            </a:prstGeom>
            <a:gradFill>
              <a:gsLst>
                <a:gs pos="0">
                  <a:srgbClr val="C00000"/>
                </a:gs>
                <a:gs pos="100000">
                  <a:srgbClr val="00B0F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íSḷíḓè">
              <a:extLst>
                <a:ext uri="{FF2B5EF4-FFF2-40B4-BE49-F238E27FC236}">
                  <a16:creationId xmlns:a16="http://schemas.microsoft.com/office/drawing/2014/main" id="{91AC03B2-0BEC-45FC-A1E5-1811BC8C2405}"/>
                </a:ext>
              </a:extLst>
            </p:cNvPr>
            <p:cNvSpPr txBox="1"/>
            <p:nvPr/>
          </p:nvSpPr>
          <p:spPr>
            <a:xfrm>
              <a:off x="1607506" y="2155778"/>
              <a:ext cx="823260" cy="496776"/>
            </a:xfrm>
            <a:prstGeom prst="rect">
              <a:avLst/>
            </a:prstGeom>
            <a:noFill/>
          </p:spPr>
          <p:txBody>
            <a:bodyPr wrap="none" lIns="360000" tIns="0" rIns="0" bIns="0" anchor="b" anchorCtr="0">
              <a:noAutofit/>
            </a:bodyPr>
            <a:lstStyle/>
            <a:p>
              <a:r>
                <a:rPr lang="zh-CN" altLang="en-US" sz="2400" b="1" dirty="0">
                  <a:solidFill>
                    <a:srgbClr val="C00000"/>
                  </a:solidFill>
                </a:rPr>
                <a:t>高</a:t>
              </a:r>
            </a:p>
          </p:txBody>
        </p:sp>
        <p:sp>
          <p:nvSpPr>
            <p:cNvPr id="15" name="íSḷíḓè">
              <a:extLst>
                <a:ext uri="{FF2B5EF4-FFF2-40B4-BE49-F238E27FC236}">
                  <a16:creationId xmlns:a16="http://schemas.microsoft.com/office/drawing/2014/main" id="{A6745267-8073-42C2-9931-F29111EB5729}"/>
                </a:ext>
              </a:extLst>
            </p:cNvPr>
            <p:cNvSpPr txBox="1"/>
            <p:nvPr/>
          </p:nvSpPr>
          <p:spPr>
            <a:xfrm>
              <a:off x="1637987" y="8667976"/>
              <a:ext cx="746941" cy="326023"/>
            </a:xfrm>
            <a:prstGeom prst="rect">
              <a:avLst/>
            </a:prstGeom>
            <a:noFill/>
          </p:spPr>
          <p:txBody>
            <a:bodyPr wrap="none" lIns="360000" tIns="0" rIns="0" bIns="0" anchor="b" anchorCtr="0">
              <a:noAutofit/>
            </a:bodyPr>
            <a:lstStyle/>
            <a:p>
              <a:r>
                <a:rPr lang="zh-CN" altLang="en-US" sz="2400" b="1" dirty="0">
                  <a:solidFill>
                    <a:srgbClr val="00B0F0"/>
                  </a:solidFill>
                </a:rPr>
                <a:t>低</a:t>
              </a:r>
            </a:p>
          </p:txBody>
        </p:sp>
        <p:sp>
          <p:nvSpPr>
            <p:cNvPr id="16" name="矩形 15">
              <a:extLst>
                <a:ext uri="{FF2B5EF4-FFF2-40B4-BE49-F238E27FC236}">
                  <a16:creationId xmlns:a16="http://schemas.microsoft.com/office/drawing/2014/main" id="{1C2A1080-CE47-4E6F-9D85-1EEBFD2D3F1E}"/>
                </a:ext>
              </a:extLst>
            </p:cNvPr>
            <p:cNvSpPr/>
            <p:nvPr/>
          </p:nvSpPr>
          <p:spPr>
            <a:xfrm>
              <a:off x="1313691" y="3688659"/>
              <a:ext cx="442089" cy="4017767"/>
            </a:xfrm>
            <a:prstGeom prst="rect">
              <a:avLst/>
            </a:prstGeom>
          </p:spPr>
          <p:txBody>
            <a:bodyPr wrap="square">
              <a:spAutoFit/>
            </a:bodyPr>
            <a:lstStyle/>
            <a:p>
              <a:r>
                <a:rPr lang="zh-CN" altLang="en-US" dirty="0"/>
                <a:t>与主体信用的相关程度</a:t>
              </a:r>
            </a:p>
          </p:txBody>
        </p:sp>
      </p:grpSp>
      <p:grpSp>
        <p:nvGrpSpPr>
          <p:cNvPr id="19" name="组合 18">
            <a:extLst>
              <a:ext uri="{FF2B5EF4-FFF2-40B4-BE49-F238E27FC236}">
                <a16:creationId xmlns:a16="http://schemas.microsoft.com/office/drawing/2014/main" id="{FC3EB314-3914-4D55-93A4-56919AFF9DC7}"/>
              </a:ext>
            </a:extLst>
          </p:cNvPr>
          <p:cNvGrpSpPr/>
          <p:nvPr/>
        </p:nvGrpSpPr>
        <p:grpSpPr>
          <a:xfrm>
            <a:off x="12613511" y="1949008"/>
            <a:ext cx="1117075" cy="6838221"/>
            <a:chOff x="1313691" y="2155778"/>
            <a:chExt cx="1117075" cy="6838221"/>
          </a:xfrm>
        </p:grpSpPr>
        <p:sp>
          <p:nvSpPr>
            <p:cNvPr id="20" name="箭头: 上下 19">
              <a:extLst>
                <a:ext uri="{FF2B5EF4-FFF2-40B4-BE49-F238E27FC236}">
                  <a16:creationId xmlns:a16="http://schemas.microsoft.com/office/drawing/2014/main" id="{CCEA64D6-0E7B-489E-81EA-460DA6FE5F4D}"/>
                </a:ext>
              </a:extLst>
            </p:cNvPr>
            <p:cNvSpPr/>
            <p:nvPr/>
          </p:nvSpPr>
          <p:spPr>
            <a:xfrm>
              <a:off x="1853725" y="2690257"/>
              <a:ext cx="531203" cy="5865786"/>
            </a:xfrm>
            <a:prstGeom prst="upDownArrow">
              <a:avLst/>
            </a:prstGeom>
            <a:gradFill>
              <a:gsLst>
                <a:gs pos="100000">
                  <a:srgbClr val="C00000"/>
                </a:gs>
                <a:gs pos="0">
                  <a:srgbClr val="00B0F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íSḷíḓè">
              <a:extLst>
                <a:ext uri="{FF2B5EF4-FFF2-40B4-BE49-F238E27FC236}">
                  <a16:creationId xmlns:a16="http://schemas.microsoft.com/office/drawing/2014/main" id="{780CD4B1-E3CB-45E4-8A97-3DB5C1173C52}"/>
                </a:ext>
              </a:extLst>
            </p:cNvPr>
            <p:cNvSpPr txBox="1"/>
            <p:nvPr/>
          </p:nvSpPr>
          <p:spPr>
            <a:xfrm>
              <a:off x="1607506" y="2155778"/>
              <a:ext cx="823260" cy="496776"/>
            </a:xfrm>
            <a:prstGeom prst="rect">
              <a:avLst/>
            </a:prstGeom>
            <a:noFill/>
          </p:spPr>
          <p:txBody>
            <a:bodyPr wrap="none" lIns="360000" tIns="0" rIns="0" bIns="0" anchor="b" anchorCtr="0">
              <a:noAutofit/>
            </a:bodyPr>
            <a:lstStyle/>
            <a:p>
              <a:r>
                <a:rPr lang="zh-CN" altLang="en-US" sz="2400" b="1" dirty="0">
                  <a:solidFill>
                    <a:srgbClr val="00B0F0"/>
                  </a:solidFill>
                </a:rPr>
                <a:t>低</a:t>
              </a:r>
            </a:p>
          </p:txBody>
        </p:sp>
        <p:sp>
          <p:nvSpPr>
            <p:cNvPr id="22" name="íSḷíḓè">
              <a:extLst>
                <a:ext uri="{FF2B5EF4-FFF2-40B4-BE49-F238E27FC236}">
                  <a16:creationId xmlns:a16="http://schemas.microsoft.com/office/drawing/2014/main" id="{0F100EBE-601F-4FD1-A447-8163C5085AA8}"/>
                </a:ext>
              </a:extLst>
            </p:cNvPr>
            <p:cNvSpPr txBox="1"/>
            <p:nvPr/>
          </p:nvSpPr>
          <p:spPr>
            <a:xfrm>
              <a:off x="1637987" y="8667976"/>
              <a:ext cx="746941" cy="326023"/>
            </a:xfrm>
            <a:prstGeom prst="rect">
              <a:avLst/>
            </a:prstGeom>
            <a:noFill/>
          </p:spPr>
          <p:txBody>
            <a:bodyPr wrap="none" lIns="360000" tIns="0" rIns="0" bIns="0" anchor="b" anchorCtr="0">
              <a:noAutofit/>
            </a:bodyPr>
            <a:lstStyle/>
            <a:p>
              <a:r>
                <a:rPr lang="zh-CN" altLang="en-US" sz="2400" b="1" dirty="0">
                  <a:solidFill>
                    <a:srgbClr val="C00000"/>
                  </a:solidFill>
                </a:rPr>
                <a:t>高</a:t>
              </a:r>
            </a:p>
          </p:txBody>
        </p:sp>
        <p:sp>
          <p:nvSpPr>
            <p:cNvPr id="23" name="矩形 22">
              <a:extLst>
                <a:ext uri="{FF2B5EF4-FFF2-40B4-BE49-F238E27FC236}">
                  <a16:creationId xmlns:a16="http://schemas.microsoft.com/office/drawing/2014/main" id="{07A1DFAA-8BDA-48D4-9580-D3F5DEBD9B4A}"/>
                </a:ext>
              </a:extLst>
            </p:cNvPr>
            <p:cNvSpPr/>
            <p:nvPr/>
          </p:nvSpPr>
          <p:spPr>
            <a:xfrm>
              <a:off x="1313691" y="3143522"/>
              <a:ext cx="480189" cy="5195397"/>
            </a:xfrm>
            <a:prstGeom prst="rect">
              <a:avLst/>
            </a:prstGeom>
          </p:spPr>
          <p:txBody>
            <a:bodyPr wrap="square">
              <a:spAutoFit/>
            </a:bodyPr>
            <a:lstStyle/>
            <a:p>
              <a:r>
                <a:rPr lang="zh-CN" altLang="en-US" dirty="0"/>
                <a:t>与市场、行业周期的相关程度</a:t>
              </a:r>
            </a:p>
          </p:txBody>
        </p:sp>
      </p:grpSp>
    </p:spTree>
    <p:extLst>
      <p:ext uri="{BB962C8B-B14F-4D97-AF65-F5344CB8AC3E}">
        <p14:creationId xmlns:p14="http://schemas.microsoft.com/office/powerpoint/2010/main" val="1217075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4C54D3-1B86-447F-8ED6-C7797220D905}"/>
              </a:ext>
            </a:extLst>
          </p:cNvPr>
          <p:cNvSpPr>
            <a:spLocks noGrp="1"/>
          </p:cNvSpPr>
          <p:nvPr>
            <p:ph type="title"/>
          </p:nvPr>
        </p:nvSpPr>
        <p:spPr/>
        <p:txBody>
          <a:bodyPr/>
          <a:lstStyle/>
          <a:p>
            <a:r>
              <a:rPr lang="zh-CN" altLang="en-US" dirty="0"/>
              <a:t>信用分析的对象</a:t>
            </a:r>
          </a:p>
        </p:txBody>
      </p:sp>
      <p:sp>
        <p:nvSpPr>
          <p:cNvPr id="3" name="内容占位符 2">
            <a:extLst>
              <a:ext uri="{FF2B5EF4-FFF2-40B4-BE49-F238E27FC236}">
                <a16:creationId xmlns:a16="http://schemas.microsoft.com/office/drawing/2014/main" id="{B7EBB67B-8A3A-48C2-8857-267F7EE48D6C}"/>
              </a:ext>
            </a:extLst>
          </p:cNvPr>
          <p:cNvSpPr>
            <a:spLocks noGrp="1"/>
          </p:cNvSpPr>
          <p:nvPr>
            <p:ph idx="1"/>
          </p:nvPr>
        </p:nvSpPr>
        <p:spPr/>
        <p:txBody>
          <a:bodyPr/>
          <a:lstStyle/>
          <a:p>
            <a:r>
              <a:rPr lang="zh-CN" altLang="en-US" dirty="0"/>
              <a:t>信用分析根据分析对象的不同，分为：</a:t>
            </a:r>
            <a:endParaRPr lang="en-US" altLang="zh-CN" dirty="0"/>
          </a:p>
          <a:p>
            <a:endParaRPr lang="en-US" altLang="zh-CN" dirty="0"/>
          </a:p>
          <a:p>
            <a:pPr lvl="1"/>
            <a:r>
              <a:rPr lang="zh-CN" altLang="zh-CN" b="1" dirty="0"/>
              <a:t>主体</a:t>
            </a:r>
            <a:r>
              <a:rPr lang="zh-CN" altLang="en-US" b="1" dirty="0"/>
              <a:t>信用</a:t>
            </a:r>
            <a:r>
              <a:rPr lang="zh-CN" altLang="en-US" dirty="0"/>
              <a:t>，分析对象为信用主体</a:t>
            </a:r>
            <a:r>
              <a:rPr lang="en-US" altLang="zh-CN" dirty="0"/>
              <a:t>/</a:t>
            </a:r>
            <a:r>
              <a:rPr lang="zh-CN" altLang="en-US" dirty="0"/>
              <a:t>债务人，综合评估信用主体按时足额偿付本金和</a:t>
            </a:r>
            <a:r>
              <a:rPr lang="zh-CN" altLang="zh-CN" dirty="0"/>
              <a:t>利息的能力和</a:t>
            </a:r>
            <a:r>
              <a:rPr lang="zh-CN" altLang="en-US" dirty="0"/>
              <a:t>偿还</a:t>
            </a:r>
            <a:r>
              <a:rPr lang="zh-CN" altLang="zh-CN" dirty="0"/>
              <a:t>意愿</a:t>
            </a:r>
            <a:r>
              <a:rPr lang="zh-CN" altLang="en-US" dirty="0"/>
              <a:t>，考察期限</a:t>
            </a:r>
            <a:r>
              <a:rPr lang="en-US" altLang="zh-CN" dirty="0"/>
              <a:t>5-10</a:t>
            </a:r>
            <a:r>
              <a:rPr lang="zh-CN" altLang="en-US" dirty="0"/>
              <a:t>年，关注长期存续经营的稳健性和增长性，结果反映的是</a:t>
            </a:r>
            <a:r>
              <a:rPr lang="zh-CN" altLang="zh-CN" dirty="0"/>
              <a:t>主体违约概率</a:t>
            </a:r>
            <a:r>
              <a:rPr lang="zh-CN" altLang="en-US" dirty="0"/>
              <a:t>的等级</a:t>
            </a:r>
            <a:endParaRPr lang="en-US" altLang="zh-CN" dirty="0"/>
          </a:p>
          <a:p>
            <a:pPr lvl="1"/>
            <a:endParaRPr lang="en-US" altLang="zh-CN" dirty="0"/>
          </a:p>
          <a:p>
            <a:pPr lvl="1"/>
            <a:r>
              <a:rPr lang="zh-CN" altLang="en-US" b="1" dirty="0"/>
              <a:t>债项信用</a:t>
            </a:r>
            <a:r>
              <a:rPr lang="zh-CN" altLang="en-US" dirty="0"/>
              <a:t>，分析对象为某一期的信用债券，除了考虑发行人的主体信用状况，还要考虑所发行债券的市场、条款和期限等债项相关的因素，考察期限为债券存续期，关注该只债券的偿付能力，结果反映的是该只债券预期损失率的等级</a:t>
            </a:r>
            <a:endParaRPr lang="zh-CN" altLang="zh-CN" dirty="0"/>
          </a:p>
          <a:p>
            <a:endParaRPr lang="zh-CN" altLang="en-US" dirty="0"/>
          </a:p>
        </p:txBody>
      </p:sp>
    </p:spTree>
    <p:extLst>
      <p:ext uri="{BB962C8B-B14F-4D97-AF65-F5344CB8AC3E}">
        <p14:creationId xmlns:p14="http://schemas.microsoft.com/office/powerpoint/2010/main" val="1900908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86CF5B-37A7-4F7F-8B05-ADE323FE394C}"/>
              </a:ext>
            </a:extLst>
          </p:cNvPr>
          <p:cNvSpPr>
            <a:spLocks noGrp="1"/>
          </p:cNvSpPr>
          <p:nvPr>
            <p:ph type="title"/>
          </p:nvPr>
        </p:nvSpPr>
        <p:spPr/>
        <p:txBody>
          <a:bodyPr/>
          <a:lstStyle/>
          <a:p>
            <a:r>
              <a:rPr lang="zh-CN" altLang="en-US" dirty="0"/>
              <a:t>分析的逻辑</a:t>
            </a:r>
          </a:p>
        </p:txBody>
      </p:sp>
      <p:sp>
        <p:nvSpPr>
          <p:cNvPr id="3" name="内容占位符 2">
            <a:extLst>
              <a:ext uri="{FF2B5EF4-FFF2-40B4-BE49-F238E27FC236}">
                <a16:creationId xmlns:a16="http://schemas.microsoft.com/office/drawing/2014/main" id="{A889B194-D710-4614-A01E-9744884A37EE}"/>
              </a:ext>
            </a:extLst>
          </p:cNvPr>
          <p:cNvSpPr>
            <a:spLocks noGrp="1"/>
          </p:cNvSpPr>
          <p:nvPr>
            <p:ph idx="1"/>
          </p:nvPr>
        </p:nvSpPr>
        <p:spPr/>
        <p:txBody>
          <a:bodyPr>
            <a:normAutofit/>
          </a:bodyPr>
          <a:lstStyle/>
          <a:p>
            <a:r>
              <a:rPr lang="zh-CN" altLang="en-US" dirty="0"/>
              <a:t>确定</a:t>
            </a:r>
            <a:r>
              <a:rPr lang="zh-CN" altLang="zh-CN" dirty="0"/>
              <a:t>行业</a:t>
            </a:r>
            <a:r>
              <a:rPr lang="zh-CN" altLang="en-US" dirty="0"/>
              <a:t>整体</a:t>
            </a:r>
            <a:r>
              <a:rPr lang="zh-CN" altLang="zh-CN" b="1" dirty="0"/>
              <a:t>经营风险</a:t>
            </a:r>
            <a:r>
              <a:rPr lang="zh-CN" altLang="zh-CN" dirty="0"/>
              <a:t>的指标体系</a:t>
            </a:r>
            <a:endParaRPr lang="en-US" altLang="zh-CN" dirty="0"/>
          </a:p>
          <a:p>
            <a:pPr lvl="1"/>
            <a:r>
              <a:rPr lang="zh-CN" altLang="zh-CN" dirty="0"/>
              <a:t>宏观和区域外部环境的相关因素对所</a:t>
            </a:r>
            <a:r>
              <a:rPr lang="zh-CN" altLang="en-US" dirty="0"/>
              <a:t>在</a:t>
            </a:r>
            <a:r>
              <a:rPr lang="zh-CN" altLang="zh-CN" dirty="0"/>
              <a:t>行业、上下游行业发展以及盈利能力等方面的影响</a:t>
            </a:r>
            <a:endParaRPr lang="en-US" altLang="zh-CN" dirty="0"/>
          </a:p>
          <a:p>
            <a:pPr lvl="1"/>
            <a:r>
              <a:rPr lang="zh-CN" altLang="en-US" dirty="0"/>
              <a:t>评价</a:t>
            </a:r>
            <a:r>
              <a:rPr lang="zh-CN" altLang="zh-CN" dirty="0"/>
              <a:t>行业共同因素对企业经营风险的影响及其程度</a:t>
            </a:r>
            <a:endParaRPr lang="en-US" altLang="zh-CN" dirty="0"/>
          </a:p>
          <a:p>
            <a:pPr lvl="1"/>
            <a:r>
              <a:rPr lang="zh-CN" altLang="en-US" dirty="0"/>
              <a:t>评价</a:t>
            </a:r>
            <a:r>
              <a:rPr lang="zh-CN" altLang="zh-CN" dirty="0"/>
              <a:t>企业</a:t>
            </a:r>
            <a:r>
              <a:rPr lang="zh-CN" altLang="en-US" dirty="0"/>
              <a:t>个性</a:t>
            </a:r>
            <a:r>
              <a:rPr lang="zh-CN" altLang="zh-CN" dirty="0"/>
              <a:t>因素</a:t>
            </a:r>
            <a:r>
              <a:rPr lang="zh-CN" altLang="en-US" dirty="0"/>
              <a:t>的</a:t>
            </a:r>
            <a:r>
              <a:rPr lang="zh-CN" altLang="zh-CN" dirty="0"/>
              <a:t>行业</a:t>
            </a:r>
            <a:r>
              <a:rPr lang="zh-CN" altLang="en-US" dirty="0"/>
              <a:t>优劣势</a:t>
            </a:r>
            <a:endParaRPr lang="en-US" altLang="zh-CN" dirty="0"/>
          </a:p>
          <a:p>
            <a:endParaRPr lang="en-US" altLang="zh-CN" dirty="0"/>
          </a:p>
          <a:p>
            <a:r>
              <a:rPr lang="zh-CN" altLang="en-US" dirty="0"/>
              <a:t>确定</a:t>
            </a:r>
            <a:r>
              <a:rPr lang="zh-CN" altLang="zh-CN" dirty="0"/>
              <a:t>行业</a:t>
            </a:r>
            <a:r>
              <a:rPr lang="zh-CN" altLang="en-US" dirty="0"/>
              <a:t>整体</a:t>
            </a:r>
            <a:r>
              <a:rPr lang="zh-CN" altLang="zh-CN" b="1" dirty="0"/>
              <a:t>财务</a:t>
            </a:r>
            <a:r>
              <a:rPr lang="zh-CN" altLang="en-US" b="1" dirty="0"/>
              <a:t>状况</a:t>
            </a:r>
            <a:r>
              <a:rPr lang="zh-CN" altLang="en-US" dirty="0"/>
              <a:t>的</a:t>
            </a:r>
            <a:r>
              <a:rPr lang="zh-CN" altLang="zh-CN" dirty="0"/>
              <a:t>指标体系</a:t>
            </a:r>
            <a:endParaRPr lang="en-US" altLang="zh-CN" dirty="0"/>
          </a:p>
          <a:p>
            <a:pPr lvl="1"/>
            <a:r>
              <a:rPr lang="zh-CN" altLang="zh-CN" dirty="0"/>
              <a:t>财务信息质量、资产质量、资本结构、盈利能力、现金流量、偿债指标</a:t>
            </a:r>
            <a:endParaRPr lang="en-US" altLang="zh-CN" dirty="0"/>
          </a:p>
          <a:p>
            <a:pPr lvl="1"/>
            <a:r>
              <a:rPr lang="zh-CN" altLang="zh-CN" dirty="0"/>
              <a:t>外部支持体系，重点考虑股东和政府支持及影响</a:t>
            </a:r>
            <a:endParaRPr lang="en-US" altLang="zh-CN" dirty="0"/>
          </a:p>
          <a:p>
            <a:endParaRPr lang="en-US" altLang="zh-CN" dirty="0"/>
          </a:p>
          <a:p>
            <a:r>
              <a:rPr lang="zh-CN" altLang="en-US" dirty="0"/>
              <a:t>建立</a:t>
            </a:r>
            <a:r>
              <a:rPr lang="zh-CN" altLang="en-US" b="1" dirty="0"/>
              <a:t>映射关系</a:t>
            </a:r>
            <a:r>
              <a:rPr lang="zh-CN" altLang="en-US" dirty="0"/>
              <a:t>，确立样本企业与</a:t>
            </a:r>
            <a:r>
              <a:rPr lang="zh-CN" altLang="zh-CN" dirty="0"/>
              <a:t>经营风险、财务风险和违约率</a:t>
            </a:r>
            <a:r>
              <a:rPr lang="zh-CN" altLang="en-US" dirty="0"/>
              <a:t>之间的对应规则</a:t>
            </a:r>
            <a:endParaRPr lang="en-US" altLang="zh-CN" dirty="0"/>
          </a:p>
          <a:p>
            <a:pPr lvl="1"/>
            <a:r>
              <a:rPr lang="zh-CN" altLang="en-US" dirty="0"/>
              <a:t>评分模型</a:t>
            </a:r>
            <a:endParaRPr lang="en-US" altLang="zh-CN" dirty="0"/>
          </a:p>
          <a:p>
            <a:pPr lvl="1"/>
            <a:r>
              <a:rPr lang="zh-CN" altLang="en-US" dirty="0"/>
              <a:t>逻辑回归模型</a:t>
            </a:r>
            <a:endParaRPr lang="en-US" altLang="zh-CN" dirty="0"/>
          </a:p>
          <a:p>
            <a:endParaRPr lang="zh-CN" altLang="en-US" dirty="0"/>
          </a:p>
        </p:txBody>
      </p:sp>
    </p:spTree>
    <p:extLst>
      <p:ext uri="{BB962C8B-B14F-4D97-AF65-F5344CB8AC3E}">
        <p14:creationId xmlns:p14="http://schemas.microsoft.com/office/powerpoint/2010/main" val="1176731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91BAF8-D41C-4D41-90ED-1BFBBD683E6C}"/>
              </a:ext>
            </a:extLst>
          </p:cNvPr>
          <p:cNvSpPr>
            <a:spLocks noGrp="1"/>
          </p:cNvSpPr>
          <p:nvPr>
            <p:ph type="title"/>
          </p:nvPr>
        </p:nvSpPr>
        <p:spPr/>
        <p:txBody>
          <a:bodyPr/>
          <a:lstStyle/>
          <a:p>
            <a:r>
              <a:rPr lang="zh-CN" altLang="en-US"/>
              <a:t>目 录</a:t>
            </a:r>
            <a:endParaRPr lang="zh-CN" altLang="en-US" dirty="0"/>
          </a:p>
        </p:txBody>
      </p:sp>
      <p:sp>
        <p:nvSpPr>
          <p:cNvPr id="3" name="内容占位符 2">
            <a:extLst>
              <a:ext uri="{FF2B5EF4-FFF2-40B4-BE49-F238E27FC236}">
                <a16:creationId xmlns:a16="http://schemas.microsoft.com/office/drawing/2014/main" id="{3B1E6C4F-9B14-4231-BDBA-F02CB47AC22A}"/>
              </a:ext>
            </a:extLst>
          </p:cNvPr>
          <p:cNvSpPr>
            <a:spLocks noGrp="1"/>
          </p:cNvSpPr>
          <p:nvPr>
            <p:ph idx="1"/>
          </p:nvPr>
        </p:nvSpPr>
        <p:spPr/>
        <p:txBody>
          <a:bodyPr>
            <a:normAutofit/>
          </a:bodyPr>
          <a:lstStyle/>
          <a:p>
            <a:pPr marL="457198" lvl="1" indent="0">
              <a:buNone/>
            </a:pPr>
            <a:r>
              <a:rPr lang="zh-CN" altLang="en-US" b="1" dirty="0"/>
              <a:t>一、外部环境因素</a:t>
            </a:r>
            <a:endParaRPr lang="en-US" altLang="zh-CN" b="1" dirty="0"/>
          </a:p>
          <a:p>
            <a:pPr lvl="2"/>
            <a:r>
              <a:rPr lang="zh-CN" altLang="en-US" dirty="0"/>
              <a:t>经营环境、行业风险</a:t>
            </a:r>
            <a:endParaRPr lang="en-US" altLang="zh-CN" dirty="0"/>
          </a:p>
          <a:p>
            <a:pPr lvl="2"/>
            <a:endParaRPr lang="en-US" altLang="zh-CN" dirty="0"/>
          </a:p>
          <a:p>
            <a:pPr marL="457198" lvl="1" indent="0">
              <a:buNone/>
            </a:pPr>
            <a:r>
              <a:rPr lang="zh-CN" altLang="en-US" b="1" dirty="0"/>
              <a:t>二、主体内部因素</a:t>
            </a:r>
            <a:endParaRPr lang="en-US" altLang="zh-CN" b="1" dirty="0"/>
          </a:p>
          <a:p>
            <a:pPr lvl="2"/>
            <a:r>
              <a:rPr lang="zh-CN" altLang="en-US" dirty="0"/>
              <a:t>生产经营、公司治理、财务状况</a:t>
            </a:r>
            <a:endParaRPr lang="en-US" altLang="zh-CN" dirty="0"/>
          </a:p>
          <a:p>
            <a:pPr lvl="2"/>
            <a:endParaRPr lang="en-US" altLang="zh-CN" dirty="0"/>
          </a:p>
          <a:p>
            <a:pPr marL="457198" lvl="1" indent="0">
              <a:buNone/>
            </a:pPr>
            <a:r>
              <a:rPr lang="zh-CN" altLang="en-US" b="1" dirty="0"/>
              <a:t>三、债项个别因素</a:t>
            </a:r>
            <a:endParaRPr lang="en-US" altLang="zh-CN" b="1" dirty="0"/>
          </a:p>
          <a:p>
            <a:pPr lvl="2"/>
            <a:r>
              <a:rPr lang="zh-CN" altLang="en-US" dirty="0"/>
              <a:t>债项资质、条款分析</a:t>
            </a:r>
            <a:endParaRPr lang="en-US" altLang="zh-CN" dirty="0"/>
          </a:p>
          <a:p>
            <a:pPr lvl="2"/>
            <a:endParaRPr lang="en-US" altLang="zh-CN" dirty="0"/>
          </a:p>
          <a:p>
            <a:pPr marL="457198" lvl="1" indent="0">
              <a:buNone/>
            </a:pPr>
            <a:r>
              <a:rPr lang="zh-CN" altLang="en-US" b="1" dirty="0"/>
              <a:t>四、信用评级方法</a:t>
            </a:r>
            <a:endParaRPr lang="en-US" altLang="zh-CN" b="1" dirty="0"/>
          </a:p>
          <a:p>
            <a:pPr lvl="2"/>
            <a:r>
              <a:rPr lang="zh-CN" altLang="en-US" dirty="0"/>
              <a:t>第三方信评、内部评级</a:t>
            </a:r>
            <a:endParaRPr lang="en-US" altLang="zh-CN" dirty="0"/>
          </a:p>
        </p:txBody>
      </p:sp>
    </p:spTree>
    <p:extLst>
      <p:ext uri="{BB962C8B-B14F-4D97-AF65-F5344CB8AC3E}">
        <p14:creationId xmlns:p14="http://schemas.microsoft.com/office/powerpoint/2010/main" val="1225945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31F25E-FF28-4E55-8ACE-9D719ED98AC5}"/>
              </a:ext>
            </a:extLst>
          </p:cNvPr>
          <p:cNvSpPr>
            <a:spLocks noGrp="1"/>
          </p:cNvSpPr>
          <p:nvPr>
            <p:ph type="title"/>
          </p:nvPr>
        </p:nvSpPr>
        <p:spPr/>
        <p:txBody>
          <a:bodyPr/>
          <a:lstStyle/>
          <a:p>
            <a:r>
              <a:rPr lang="zh-CN" altLang="en-US" dirty="0"/>
              <a:t>（一）经营环境</a:t>
            </a:r>
          </a:p>
        </p:txBody>
      </p:sp>
      <p:sp>
        <p:nvSpPr>
          <p:cNvPr id="7" name="文本占位符 6">
            <a:extLst>
              <a:ext uri="{FF2B5EF4-FFF2-40B4-BE49-F238E27FC236}">
                <a16:creationId xmlns:a16="http://schemas.microsoft.com/office/drawing/2014/main" id="{D29D5F24-CCB6-47B0-A05D-CCA22F905837}"/>
              </a:ext>
            </a:extLst>
          </p:cNvPr>
          <p:cNvSpPr>
            <a:spLocks noGrp="1"/>
          </p:cNvSpPr>
          <p:nvPr>
            <p:ph type="body" idx="1"/>
          </p:nvPr>
        </p:nvSpPr>
        <p:spPr/>
        <p:txBody>
          <a:bodyPr>
            <a:normAutofit/>
          </a:bodyPr>
          <a:lstStyle/>
          <a:p>
            <a:r>
              <a:rPr lang="zh-CN" altLang="en-US" dirty="0"/>
              <a:t>经济主体开展生产经营活动的外部大环境，既包括经济体内部和对外的商业环境，也包括政府管理、行业发展、上下游产业链等</a:t>
            </a:r>
          </a:p>
        </p:txBody>
      </p:sp>
    </p:spTree>
    <p:extLst>
      <p:ext uri="{BB962C8B-B14F-4D97-AF65-F5344CB8AC3E}">
        <p14:creationId xmlns:p14="http://schemas.microsoft.com/office/powerpoint/2010/main" val="1245653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0551B8A8-1AFB-47A4-BA96-1AD3FB34108F}"/>
              </a:ext>
            </a:extLst>
          </p:cNvPr>
          <p:cNvSpPr>
            <a:spLocks noGrp="1"/>
          </p:cNvSpPr>
          <p:nvPr>
            <p:ph type="title"/>
          </p:nvPr>
        </p:nvSpPr>
        <p:spPr/>
        <p:txBody>
          <a:bodyPr/>
          <a:lstStyle/>
          <a:p>
            <a:r>
              <a:rPr lang="zh-CN" altLang="en-US" dirty="0"/>
              <a:t>宏观经济因素</a:t>
            </a:r>
          </a:p>
        </p:txBody>
      </p:sp>
      <p:sp>
        <p:nvSpPr>
          <p:cNvPr id="8" name="内容占位符 7">
            <a:extLst>
              <a:ext uri="{FF2B5EF4-FFF2-40B4-BE49-F238E27FC236}">
                <a16:creationId xmlns:a16="http://schemas.microsoft.com/office/drawing/2014/main" id="{6D11956E-F6FE-4778-B121-EF73159A5946}"/>
              </a:ext>
            </a:extLst>
          </p:cNvPr>
          <p:cNvSpPr>
            <a:spLocks noGrp="1"/>
          </p:cNvSpPr>
          <p:nvPr>
            <p:ph idx="1"/>
          </p:nvPr>
        </p:nvSpPr>
        <p:spPr>
          <a:xfrm>
            <a:off x="949497" y="1593045"/>
            <a:ext cx="15378696" cy="7828747"/>
          </a:xfrm>
        </p:spPr>
        <p:txBody>
          <a:bodyPr>
            <a:normAutofit/>
          </a:bodyPr>
          <a:lstStyle/>
          <a:p>
            <a:r>
              <a:rPr lang="zh-CN" altLang="en-US" dirty="0"/>
              <a:t>经济体或一个主权辖区的政府，可以使用权力制定特定的财务环境和运营环境，确定公民合法权利、调控框架和交易行为的基准规则，并决定经济体内的各项软件和硬件方面的基础设施。此外，</a:t>
            </a:r>
            <a:r>
              <a:rPr lang="zh-CN" altLang="zh-CN" dirty="0"/>
              <a:t>整体经济发展快慢及其稳定性对区域内的行业和企业造成一定影响</a:t>
            </a:r>
            <a:r>
              <a:rPr lang="zh-CN" altLang="en-US" dirty="0"/>
              <a:t>。</a:t>
            </a:r>
            <a:endParaRPr lang="en-US" altLang="zh-CN" dirty="0"/>
          </a:p>
          <a:p>
            <a:endParaRPr lang="en-US" altLang="zh-CN" dirty="0"/>
          </a:p>
          <a:p>
            <a:r>
              <a:rPr lang="zh-CN" altLang="en-US" b="1" dirty="0"/>
              <a:t>政治和政策</a:t>
            </a:r>
            <a:endParaRPr lang="en-US" altLang="zh-CN" b="1" dirty="0"/>
          </a:p>
          <a:p>
            <a:pPr lvl="1"/>
            <a:r>
              <a:rPr lang="zh-CN" altLang="en-US" dirty="0"/>
              <a:t>政治：政治环境的稳定性、政策制定的规范透明程度、市场经济的导向</a:t>
            </a:r>
            <a:endParaRPr lang="en-US" altLang="zh-CN" dirty="0"/>
          </a:p>
          <a:p>
            <a:pPr lvl="1"/>
            <a:r>
              <a:rPr lang="zh-CN" altLang="en-US" dirty="0"/>
              <a:t>法律：法律环境的稳定性、独立公正、执行可靠等</a:t>
            </a:r>
            <a:endParaRPr lang="en-US" altLang="zh-CN" dirty="0"/>
          </a:p>
          <a:p>
            <a:pPr lvl="1"/>
            <a:r>
              <a:rPr lang="zh-CN" altLang="en-US" dirty="0"/>
              <a:t>税负：关税政策影响境外商品经济性，调节竞争；税收制度可能会对公司收入产生不同的影响</a:t>
            </a:r>
            <a:endParaRPr lang="en-US" altLang="zh-CN" dirty="0"/>
          </a:p>
          <a:p>
            <a:pPr lvl="1"/>
            <a:r>
              <a:rPr lang="zh-CN" altLang="en-US" dirty="0"/>
              <a:t>汇兑：影响资本跨境流动，禁止</a:t>
            </a:r>
            <a:r>
              <a:rPr lang="en-US" altLang="zh-CN" dirty="0"/>
              <a:t>-</a:t>
            </a:r>
            <a:r>
              <a:rPr lang="zh-CN" altLang="en-US" dirty="0"/>
              <a:t>管控</a:t>
            </a:r>
            <a:r>
              <a:rPr lang="en-US" altLang="zh-CN" dirty="0"/>
              <a:t>-</a:t>
            </a:r>
            <a:r>
              <a:rPr lang="zh-CN" altLang="en-US" dirty="0"/>
              <a:t>限制</a:t>
            </a:r>
            <a:r>
              <a:rPr lang="en-US" altLang="zh-CN" dirty="0"/>
              <a:t>-</a:t>
            </a:r>
            <a:r>
              <a:rPr lang="zh-CN" altLang="en-US" dirty="0"/>
              <a:t>灵活</a:t>
            </a:r>
            <a:r>
              <a:rPr lang="en-US" altLang="zh-CN" dirty="0"/>
              <a:t>-</a:t>
            </a:r>
            <a:r>
              <a:rPr lang="zh-CN" altLang="en-US" dirty="0"/>
              <a:t>自由，严格程度依次增加</a:t>
            </a:r>
            <a:endParaRPr lang="en-US" altLang="zh-CN" dirty="0"/>
          </a:p>
          <a:p>
            <a:pPr lvl="1"/>
            <a:r>
              <a:rPr lang="zh-CN" altLang="en-US" dirty="0"/>
              <a:t>政策：对进出口限制、合理竞争、服务质量标准、反垄断法规、行业补贴、境外投资限制和合资股权限制等</a:t>
            </a:r>
            <a:endParaRPr lang="en-US" altLang="zh-CN" dirty="0"/>
          </a:p>
        </p:txBody>
      </p:sp>
    </p:spTree>
    <p:extLst>
      <p:ext uri="{BB962C8B-B14F-4D97-AF65-F5344CB8AC3E}">
        <p14:creationId xmlns:p14="http://schemas.microsoft.com/office/powerpoint/2010/main" val="2308066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3A014-ABA3-4358-A805-8B3605D67900}"/>
              </a:ext>
            </a:extLst>
          </p:cNvPr>
          <p:cNvSpPr>
            <a:spLocks noGrp="1"/>
          </p:cNvSpPr>
          <p:nvPr>
            <p:ph type="title"/>
          </p:nvPr>
        </p:nvSpPr>
        <p:spPr/>
        <p:txBody>
          <a:bodyPr/>
          <a:lstStyle/>
          <a:p>
            <a:r>
              <a:rPr lang="zh-CN" altLang="en-US" dirty="0"/>
              <a:t>宏观经济因素</a:t>
            </a:r>
          </a:p>
        </p:txBody>
      </p:sp>
      <p:sp>
        <p:nvSpPr>
          <p:cNvPr id="3" name="内容占位符 2">
            <a:extLst>
              <a:ext uri="{FF2B5EF4-FFF2-40B4-BE49-F238E27FC236}">
                <a16:creationId xmlns:a16="http://schemas.microsoft.com/office/drawing/2014/main" id="{C9777660-4F92-430E-B979-5DB50EFB4831}"/>
              </a:ext>
            </a:extLst>
          </p:cNvPr>
          <p:cNvSpPr>
            <a:spLocks noGrp="1"/>
          </p:cNvSpPr>
          <p:nvPr>
            <p:ph idx="1"/>
          </p:nvPr>
        </p:nvSpPr>
        <p:spPr/>
        <p:txBody>
          <a:bodyPr>
            <a:normAutofit/>
          </a:bodyPr>
          <a:lstStyle/>
          <a:p>
            <a:r>
              <a:rPr lang="zh-CN" altLang="en-US" b="1" dirty="0"/>
              <a:t>基础设施</a:t>
            </a:r>
            <a:endParaRPr lang="en-US" altLang="zh-CN" b="1" dirty="0"/>
          </a:p>
          <a:p>
            <a:pPr lvl="1"/>
            <a:r>
              <a:rPr lang="zh-CN" altLang="en-US" dirty="0"/>
              <a:t>天然资源：自然资源的品质、规模和经济价值会吸引公司，政府如何平衡商业发展和维护生态健康</a:t>
            </a:r>
            <a:endParaRPr lang="en-US" altLang="zh-CN" dirty="0"/>
          </a:p>
          <a:p>
            <a:pPr lvl="1"/>
            <a:r>
              <a:rPr lang="zh-CN" altLang="en-US" dirty="0"/>
              <a:t>基础建设：商务活动所必须的水电、公路、港口、铁路、航运设施以及相关使用成本</a:t>
            </a:r>
            <a:endParaRPr lang="en-US" altLang="zh-CN" dirty="0"/>
          </a:p>
          <a:p>
            <a:pPr lvl="1"/>
            <a:r>
              <a:rPr lang="zh-CN" altLang="en-US" dirty="0"/>
              <a:t>劳力市场：劳力供给、劳动力质量（教育、培训、技能和商业知识和价值理念），成本和相关组织和仲裁法律等</a:t>
            </a:r>
            <a:endParaRPr lang="en-US" altLang="zh-CN" dirty="0"/>
          </a:p>
          <a:p>
            <a:pPr lvl="1"/>
            <a:endParaRPr lang="en-US" altLang="zh-CN" dirty="0"/>
          </a:p>
          <a:p>
            <a:r>
              <a:rPr lang="zh-CN" altLang="en-US" b="1" dirty="0"/>
              <a:t>金融市场</a:t>
            </a:r>
            <a:endParaRPr lang="en-US" altLang="zh-CN" b="1" dirty="0"/>
          </a:p>
          <a:p>
            <a:pPr lvl="1"/>
            <a:r>
              <a:rPr lang="zh-CN" altLang="en-US" dirty="0"/>
              <a:t>金融系统的发达程度，是否存在较充分的金融中介和服务机构，可以满足多元化金融需求</a:t>
            </a:r>
            <a:endParaRPr lang="en-US" altLang="zh-CN" dirty="0"/>
          </a:p>
          <a:p>
            <a:pPr lvl="1"/>
            <a:r>
              <a:rPr lang="zh-CN" altLang="en-US" dirty="0"/>
              <a:t>银行体系：当地信贷资源的多元化、成本和规模；新兴市场的公司跨境融资普遍困难；银行授信的顺周期性；以及融资渠道单一性</a:t>
            </a:r>
            <a:endParaRPr lang="en-US" altLang="zh-CN" dirty="0"/>
          </a:p>
          <a:p>
            <a:pPr lvl="1"/>
            <a:r>
              <a:rPr lang="zh-CN" altLang="en-US" dirty="0"/>
              <a:t>会计准则：会计和财报定期披露的差异性</a:t>
            </a:r>
          </a:p>
        </p:txBody>
      </p:sp>
    </p:spTree>
    <p:extLst>
      <p:ext uri="{BB962C8B-B14F-4D97-AF65-F5344CB8AC3E}">
        <p14:creationId xmlns:p14="http://schemas.microsoft.com/office/powerpoint/2010/main" val="1952325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EA56E7-A342-463F-A59D-2908B5B9AE4A}"/>
              </a:ext>
            </a:extLst>
          </p:cNvPr>
          <p:cNvSpPr>
            <a:spLocks noGrp="1"/>
          </p:cNvSpPr>
          <p:nvPr>
            <p:ph type="title"/>
          </p:nvPr>
        </p:nvSpPr>
        <p:spPr/>
        <p:txBody>
          <a:bodyPr/>
          <a:lstStyle/>
          <a:p>
            <a:r>
              <a:rPr lang="zh-CN" altLang="en-US" dirty="0"/>
              <a:t>宏观经济因素</a:t>
            </a:r>
          </a:p>
        </p:txBody>
      </p:sp>
      <p:sp>
        <p:nvSpPr>
          <p:cNvPr id="3" name="内容占位符 2">
            <a:extLst>
              <a:ext uri="{FF2B5EF4-FFF2-40B4-BE49-F238E27FC236}">
                <a16:creationId xmlns:a16="http://schemas.microsoft.com/office/drawing/2014/main" id="{6AC4ADE0-D701-4A2A-A990-CBC4BA3F14E8}"/>
              </a:ext>
            </a:extLst>
          </p:cNvPr>
          <p:cNvSpPr>
            <a:spLocks noGrp="1"/>
          </p:cNvSpPr>
          <p:nvPr>
            <p:ph idx="1"/>
          </p:nvPr>
        </p:nvSpPr>
        <p:spPr/>
        <p:txBody>
          <a:bodyPr/>
          <a:lstStyle/>
          <a:p>
            <a:r>
              <a:rPr lang="zh-CN" altLang="zh-CN" b="1" dirty="0"/>
              <a:t>区域经济</a:t>
            </a:r>
            <a:r>
              <a:rPr lang="zh-CN" altLang="en-US" dirty="0"/>
              <a:t>：特定行业的主体的经营发展，会显著地受限于区域经济情况</a:t>
            </a:r>
          </a:p>
          <a:p>
            <a:pPr lvl="1"/>
            <a:r>
              <a:rPr lang="zh-CN" altLang="en-US" dirty="0"/>
              <a:t>劳动力供给、</a:t>
            </a:r>
            <a:r>
              <a:rPr lang="zh-CN" altLang="zh-CN" dirty="0"/>
              <a:t>生产原料辅料</a:t>
            </a:r>
            <a:endParaRPr lang="en-US" altLang="zh-CN" dirty="0"/>
          </a:p>
          <a:p>
            <a:pPr lvl="1"/>
            <a:r>
              <a:rPr lang="zh-CN" altLang="en-US" dirty="0"/>
              <a:t>产业配套、销售半径，及运输和传输</a:t>
            </a:r>
            <a:r>
              <a:rPr lang="zh-CN" altLang="zh-CN" dirty="0"/>
              <a:t>成本</a:t>
            </a:r>
            <a:r>
              <a:rPr lang="zh-CN" altLang="en-US" dirty="0"/>
              <a:t>等</a:t>
            </a:r>
            <a:endParaRPr lang="en-US" altLang="zh-CN" dirty="0"/>
          </a:p>
          <a:p>
            <a:pPr lvl="1"/>
            <a:r>
              <a:rPr lang="zh-CN" altLang="zh-CN" dirty="0"/>
              <a:t>依据</a:t>
            </a:r>
            <a:r>
              <a:rPr lang="zh-CN" altLang="en-US" dirty="0"/>
              <a:t>不同</a:t>
            </a:r>
            <a:r>
              <a:rPr lang="zh-CN" altLang="zh-CN" dirty="0"/>
              <a:t>主体</a:t>
            </a:r>
            <a:r>
              <a:rPr lang="zh-CN" altLang="en-US" dirty="0"/>
              <a:t>对区域的依赖性，</a:t>
            </a:r>
            <a:r>
              <a:rPr lang="zh-CN" altLang="zh-CN" dirty="0"/>
              <a:t>分析区域经济环境的影响</a:t>
            </a:r>
            <a:endParaRPr lang="en-US" altLang="zh-CN" dirty="0"/>
          </a:p>
          <a:p>
            <a:pPr lvl="2"/>
            <a:r>
              <a:rPr lang="zh-CN" altLang="en-US" dirty="0"/>
              <a:t>资本密集型行业、人力密集型行业的主体，如车船制造、水泥生产、纺织加工等行业</a:t>
            </a:r>
            <a:endParaRPr lang="en-US" altLang="zh-CN" dirty="0"/>
          </a:p>
          <a:p>
            <a:pPr lvl="2"/>
            <a:r>
              <a:rPr lang="zh-CN" altLang="en-US" dirty="0"/>
              <a:t>依赖自然资源的行业，如风电水电、作物种植等行业</a:t>
            </a:r>
          </a:p>
        </p:txBody>
      </p:sp>
    </p:spTree>
    <p:extLst>
      <p:ext uri="{BB962C8B-B14F-4D97-AF65-F5344CB8AC3E}">
        <p14:creationId xmlns:p14="http://schemas.microsoft.com/office/powerpoint/2010/main" val="2177256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52DC27-D4E4-427E-8DC7-93FC822FB7A1}"/>
              </a:ext>
            </a:extLst>
          </p:cNvPr>
          <p:cNvSpPr>
            <a:spLocks noGrp="1"/>
          </p:cNvSpPr>
          <p:nvPr>
            <p:ph type="title"/>
          </p:nvPr>
        </p:nvSpPr>
        <p:spPr/>
        <p:txBody>
          <a:bodyPr/>
          <a:lstStyle/>
          <a:p>
            <a:r>
              <a:rPr lang="zh-CN" altLang="en-US" dirty="0"/>
              <a:t>宏观经济因素</a:t>
            </a:r>
          </a:p>
        </p:txBody>
      </p:sp>
      <p:sp>
        <p:nvSpPr>
          <p:cNvPr id="4" name="文本占位符 3">
            <a:extLst>
              <a:ext uri="{FF2B5EF4-FFF2-40B4-BE49-F238E27FC236}">
                <a16:creationId xmlns:a16="http://schemas.microsoft.com/office/drawing/2014/main" id="{ACF71889-77FE-4DF5-966C-7257784C5A32}"/>
              </a:ext>
            </a:extLst>
          </p:cNvPr>
          <p:cNvSpPr>
            <a:spLocks noGrp="1"/>
          </p:cNvSpPr>
          <p:nvPr>
            <p:ph idx="1"/>
          </p:nvPr>
        </p:nvSpPr>
        <p:spPr/>
        <p:txBody>
          <a:bodyPr>
            <a:normAutofit/>
          </a:bodyPr>
          <a:lstStyle/>
          <a:p>
            <a:r>
              <a:rPr lang="zh-CN" altLang="en-US" b="1" dirty="0"/>
              <a:t>消费支出</a:t>
            </a:r>
            <a:r>
              <a:rPr lang="zh-CN" altLang="en-US" dirty="0"/>
              <a:t>：决定本期市场的需求力量；其他原材料、劳动力和产能因素，更多是配合因素</a:t>
            </a:r>
            <a:endParaRPr lang="en-US" altLang="zh-CN" dirty="0"/>
          </a:p>
          <a:p>
            <a:r>
              <a:rPr lang="zh-CN" altLang="en-US" b="1" dirty="0"/>
              <a:t>通胀水平</a:t>
            </a:r>
            <a:r>
              <a:rPr lang="zh-CN" altLang="en-US" dirty="0"/>
              <a:t>：通胀过高会影响经济稳定性，从而限制主体的境外融资能力，被迫接受境内过高的信贷利率</a:t>
            </a:r>
            <a:endParaRPr lang="en-US" altLang="zh-CN" dirty="0"/>
          </a:p>
          <a:p>
            <a:r>
              <a:rPr lang="zh-CN" altLang="en-US" b="1" dirty="0"/>
              <a:t>外汇风险</a:t>
            </a:r>
            <a:r>
              <a:rPr lang="zh-CN" altLang="en-US" dirty="0"/>
              <a:t>：币值波动，会显著影响企业的财务盈利和境外市场的竞争优势</a:t>
            </a:r>
            <a:endParaRPr lang="en-US" altLang="zh-CN" dirty="0"/>
          </a:p>
        </p:txBody>
      </p:sp>
      <p:grpSp>
        <p:nvGrpSpPr>
          <p:cNvPr id="6" name="îşlidê">
            <a:extLst>
              <a:ext uri="{FF2B5EF4-FFF2-40B4-BE49-F238E27FC236}">
                <a16:creationId xmlns:a16="http://schemas.microsoft.com/office/drawing/2014/main" id="{8EAA716A-985F-4260-80C5-03ECEF0EB51C}"/>
              </a:ext>
            </a:extLst>
          </p:cNvPr>
          <p:cNvGrpSpPr/>
          <p:nvPr/>
        </p:nvGrpSpPr>
        <p:grpSpPr>
          <a:xfrm>
            <a:off x="949497" y="4064001"/>
            <a:ext cx="4519707" cy="4922216"/>
            <a:chOff x="676650" y="3386332"/>
            <a:chExt cx="3484350" cy="2652667"/>
          </a:xfrm>
        </p:grpSpPr>
        <p:sp>
          <p:nvSpPr>
            <p:cNvPr id="7" name="ïṣlíḑe">
              <a:extLst>
                <a:ext uri="{FF2B5EF4-FFF2-40B4-BE49-F238E27FC236}">
                  <a16:creationId xmlns:a16="http://schemas.microsoft.com/office/drawing/2014/main" id="{DD8B518D-5999-4A70-83F9-B23E25E2F8F1}"/>
                </a:ext>
              </a:extLst>
            </p:cNvPr>
            <p:cNvSpPr/>
            <p:nvPr/>
          </p:nvSpPr>
          <p:spPr>
            <a:xfrm>
              <a:off x="676652" y="3608092"/>
              <a:ext cx="3484348" cy="2430907"/>
            </a:xfrm>
            <a:prstGeom prst="roundRect">
              <a:avLst>
                <a:gd name="adj" fmla="val 2415"/>
              </a:avLst>
            </a:prstGeom>
            <a:gradFill flip="none" rotWithShape="1">
              <a:gsLst>
                <a:gs pos="0">
                  <a:schemeClr val="accent1">
                    <a:alpha val="23000"/>
                  </a:schemeClr>
                </a:gs>
                <a:gs pos="100000">
                  <a:schemeClr val="accent1">
                    <a:alpha val="0"/>
                  </a:schemeClr>
                </a:gs>
              </a:gsLst>
              <a:lin ang="5400000" scaled="1"/>
              <a:tileRect/>
            </a:gradFill>
            <a:ln w="317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chorCtr="1">
              <a:normAutofit/>
            </a:bodyPr>
            <a:lstStyle/>
            <a:p>
              <a:pPr algn="ctr">
                <a:lnSpc>
                  <a:spcPct val="130000"/>
                </a:lnSpc>
                <a:defRPr/>
              </a:pPr>
              <a:endParaRPr lang="zh-CN" altLang="en-US" sz="2400" dirty="0">
                <a:solidFill>
                  <a:schemeClr val="tx1">
                    <a:lumMod val="75000"/>
                    <a:lumOff val="25000"/>
                  </a:schemeClr>
                </a:solidFill>
              </a:endParaRPr>
            </a:p>
          </p:txBody>
        </p:sp>
        <p:sp>
          <p:nvSpPr>
            <p:cNvPr id="10" name="ísḻïḍe">
              <a:extLst>
                <a:ext uri="{FF2B5EF4-FFF2-40B4-BE49-F238E27FC236}">
                  <a16:creationId xmlns:a16="http://schemas.microsoft.com/office/drawing/2014/main" id="{8128AAD9-B175-405C-9695-D42C058EC2CD}"/>
                </a:ext>
              </a:extLst>
            </p:cNvPr>
            <p:cNvSpPr/>
            <p:nvPr/>
          </p:nvSpPr>
          <p:spPr>
            <a:xfrm>
              <a:off x="676650" y="3386332"/>
              <a:ext cx="3484350" cy="443520"/>
            </a:xfrm>
            <a:prstGeom prst="roundRect">
              <a:avLst>
                <a:gd name="adj" fmla="val 50000"/>
              </a:avLst>
            </a:prstGeom>
            <a:solidFill>
              <a:schemeClr val="accent1"/>
            </a:solid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r>
                <a:rPr lang="zh-CN" altLang="en-US" sz="2400" b="1" dirty="0">
                  <a:solidFill>
                    <a:schemeClr val="bg1"/>
                  </a:solidFill>
                </a:rPr>
                <a:t>领先指标</a:t>
              </a:r>
            </a:p>
          </p:txBody>
        </p:sp>
        <p:sp>
          <p:nvSpPr>
            <p:cNvPr id="11" name="iśḷïḑè">
              <a:extLst>
                <a:ext uri="{FF2B5EF4-FFF2-40B4-BE49-F238E27FC236}">
                  <a16:creationId xmlns:a16="http://schemas.microsoft.com/office/drawing/2014/main" id="{7F2AA6D3-5B1C-4224-9F93-44C6CB611AC4}"/>
                </a:ext>
              </a:extLst>
            </p:cNvPr>
            <p:cNvSpPr/>
            <p:nvPr/>
          </p:nvSpPr>
          <p:spPr>
            <a:xfrm>
              <a:off x="676650" y="3888619"/>
              <a:ext cx="3484348" cy="2150380"/>
            </a:xfrm>
            <a:prstGeom prst="rect">
              <a:avLst/>
            </a:prstGeom>
          </p:spPr>
          <p:txBody>
            <a:bodyPr wrap="square">
              <a:noAutofit/>
            </a:bodyPr>
            <a:lstStyle/>
            <a:p>
              <a:pPr algn="ctr">
                <a:lnSpc>
                  <a:spcPct val="130000"/>
                </a:lnSpc>
                <a:defRPr/>
              </a:pPr>
              <a:r>
                <a:rPr lang="en-US" altLang="zh-CN" sz="2400" dirty="0">
                  <a:solidFill>
                    <a:schemeClr val="tx1">
                      <a:lumMod val="75000"/>
                      <a:lumOff val="25000"/>
                    </a:schemeClr>
                  </a:solidFill>
                </a:rPr>
                <a:t>GDP</a:t>
              </a:r>
              <a:r>
                <a:rPr lang="zh-CN" altLang="en-US" sz="2400" dirty="0">
                  <a:solidFill>
                    <a:schemeClr val="tx1">
                      <a:lumMod val="75000"/>
                      <a:lumOff val="25000"/>
                    </a:schemeClr>
                  </a:solidFill>
                </a:rPr>
                <a:t>增速</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固定资产投资等资本支出</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新增订单</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失业率</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消费者预期指数</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股票市场表现</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资金利率和货币供应量</a:t>
              </a:r>
              <a:endParaRPr lang="en-US" altLang="zh-CN" sz="2400" dirty="0">
                <a:solidFill>
                  <a:schemeClr val="tx1">
                    <a:lumMod val="75000"/>
                    <a:lumOff val="25000"/>
                  </a:schemeClr>
                </a:solidFill>
              </a:endParaRPr>
            </a:p>
          </p:txBody>
        </p:sp>
      </p:grpSp>
      <p:grpSp>
        <p:nvGrpSpPr>
          <p:cNvPr id="12" name="ï$ľïḍè">
            <a:extLst>
              <a:ext uri="{FF2B5EF4-FFF2-40B4-BE49-F238E27FC236}">
                <a16:creationId xmlns:a16="http://schemas.microsoft.com/office/drawing/2014/main" id="{330E6C3C-0165-4433-8E6B-36D8070AA682}"/>
              </a:ext>
            </a:extLst>
          </p:cNvPr>
          <p:cNvGrpSpPr/>
          <p:nvPr/>
        </p:nvGrpSpPr>
        <p:grpSpPr>
          <a:xfrm>
            <a:off x="6164863" y="4064001"/>
            <a:ext cx="4519707" cy="4922216"/>
            <a:chOff x="676650" y="3386332"/>
            <a:chExt cx="3484350" cy="2652667"/>
          </a:xfrm>
        </p:grpSpPr>
        <p:sp>
          <p:nvSpPr>
            <p:cNvPr id="13" name="iṧḷïḍè">
              <a:extLst>
                <a:ext uri="{FF2B5EF4-FFF2-40B4-BE49-F238E27FC236}">
                  <a16:creationId xmlns:a16="http://schemas.microsoft.com/office/drawing/2014/main" id="{3B90B80C-4F88-4873-9AF2-B3264D66C141}"/>
                </a:ext>
              </a:extLst>
            </p:cNvPr>
            <p:cNvSpPr/>
            <p:nvPr/>
          </p:nvSpPr>
          <p:spPr>
            <a:xfrm>
              <a:off x="676652" y="3608092"/>
              <a:ext cx="3484348" cy="2430907"/>
            </a:xfrm>
            <a:prstGeom prst="roundRect">
              <a:avLst>
                <a:gd name="adj" fmla="val 2415"/>
              </a:avLst>
            </a:prstGeom>
            <a:gradFill flip="none" rotWithShape="1">
              <a:gsLst>
                <a:gs pos="0">
                  <a:schemeClr val="accent3">
                    <a:alpha val="23000"/>
                  </a:schemeClr>
                </a:gs>
                <a:gs pos="100000">
                  <a:schemeClr val="accent3">
                    <a:alpha val="0"/>
                  </a:schemeClr>
                </a:gs>
              </a:gsLst>
              <a:lin ang="5400000" scaled="1"/>
              <a:tileRect/>
            </a:gradFill>
            <a:ln w="317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chorCtr="1">
              <a:normAutofit/>
            </a:bodyPr>
            <a:lstStyle/>
            <a:p>
              <a:pPr marL="171450" indent="-171450" algn="ctr" defTabSz="914400">
                <a:lnSpc>
                  <a:spcPct val="130000"/>
                </a:lnSpc>
                <a:buFont typeface="Arial" panose="020B0604020202020204" pitchFamily="34" charset="0"/>
                <a:buChar char="•"/>
              </a:pPr>
              <a:endParaRPr lang="zh-CN" altLang="en-US" sz="2400" dirty="0">
                <a:solidFill>
                  <a:schemeClr val="dk1">
                    <a:lumMod val="100000"/>
                  </a:schemeClr>
                </a:solidFill>
              </a:endParaRPr>
            </a:p>
          </p:txBody>
        </p:sp>
        <p:sp>
          <p:nvSpPr>
            <p:cNvPr id="14" name="íṣliḓe">
              <a:extLst>
                <a:ext uri="{FF2B5EF4-FFF2-40B4-BE49-F238E27FC236}">
                  <a16:creationId xmlns:a16="http://schemas.microsoft.com/office/drawing/2014/main" id="{2D22C5E4-2BF5-43B4-92E1-D8F31FD72847}"/>
                </a:ext>
              </a:extLst>
            </p:cNvPr>
            <p:cNvSpPr/>
            <p:nvPr/>
          </p:nvSpPr>
          <p:spPr>
            <a:xfrm>
              <a:off x="676650" y="3386332"/>
              <a:ext cx="3484350" cy="443520"/>
            </a:xfrm>
            <a:prstGeom prst="roundRect">
              <a:avLst>
                <a:gd name="adj" fmla="val 50000"/>
              </a:avLst>
            </a:prstGeom>
            <a:solidFill>
              <a:schemeClr val="accent3"/>
            </a:solid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r>
                <a:rPr lang="zh-CN" altLang="en-US" sz="2400" b="1" dirty="0">
                  <a:solidFill>
                    <a:schemeClr val="bg1"/>
                  </a:solidFill>
                </a:rPr>
                <a:t>同步指标</a:t>
              </a:r>
            </a:p>
          </p:txBody>
        </p:sp>
        <p:sp>
          <p:nvSpPr>
            <p:cNvPr id="15" name="íSḷïdè">
              <a:extLst>
                <a:ext uri="{FF2B5EF4-FFF2-40B4-BE49-F238E27FC236}">
                  <a16:creationId xmlns:a16="http://schemas.microsoft.com/office/drawing/2014/main" id="{05C342CC-E6CF-4A29-8CCC-A31B81109D45}"/>
                </a:ext>
              </a:extLst>
            </p:cNvPr>
            <p:cNvSpPr/>
            <p:nvPr/>
          </p:nvSpPr>
          <p:spPr>
            <a:xfrm>
              <a:off x="676650" y="3888618"/>
              <a:ext cx="3484348" cy="2150380"/>
            </a:xfrm>
            <a:prstGeom prst="rect">
              <a:avLst/>
            </a:prstGeom>
          </p:spPr>
          <p:txBody>
            <a:bodyPr wrap="square">
              <a:noAutofit/>
            </a:bodyPr>
            <a:lstStyle/>
            <a:p>
              <a:pPr algn="ctr">
                <a:lnSpc>
                  <a:spcPct val="130000"/>
                </a:lnSpc>
                <a:defRPr/>
              </a:pPr>
              <a:r>
                <a:rPr lang="zh-CN" altLang="en-US" sz="2400" dirty="0">
                  <a:solidFill>
                    <a:schemeClr val="tx1">
                      <a:lumMod val="75000"/>
                      <a:lumOff val="25000"/>
                    </a:schemeClr>
                  </a:solidFill>
                </a:rPr>
                <a:t>工业利润增长</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个人可支配收入</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消费支出</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销售收入</a:t>
              </a:r>
              <a:endParaRPr lang="en-US" altLang="zh-CN" sz="2400" dirty="0">
                <a:solidFill>
                  <a:schemeClr val="tx1">
                    <a:lumMod val="75000"/>
                    <a:lumOff val="25000"/>
                  </a:schemeClr>
                </a:solidFill>
              </a:endParaRPr>
            </a:p>
          </p:txBody>
        </p:sp>
      </p:grpSp>
      <p:grpSp>
        <p:nvGrpSpPr>
          <p:cNvPr id="16" name="íślíḍê">
            <a:extLst>
              <a:ext uri="{FF2B5EF4-FFF2-40B4-BE49-F238E27FC236}">
                <a16:creationId xmlns:a16="http://schemas.microsoft.com/office/drawing/2014/main" id="{A9B883ED-3ECF-4286-BD49-DF7C0A8637C9}"/>
              </a:ext>
            </a:extLst>
          </p:cNvPr>
          <p:cNvGrpSpPr/>
          <p:nvPr/>
        </p:nvGrpSpPr>
        <p:grpSpPr>
          <a:xfrm>
            <a:off x="11380230" y="4064001"/>
            <a:ext cx="4519707" cy="4922216"/>
            <a:chOff x="676650" y="3386332"/>
            <a:chExt cx="3484350" cy="2652667"/>
          </a:xfrm>
        </p:grpSpPr>
        <p:sp>
          <p:nvSpPr>
            <p:cNvPr id="17" name="íṣḻíḋé">
              <a:extLst>
                <a:ext uri="{FF2B5EF4-FFF2-40B4-BE49-F238E27FC236}">
                  <a16:creationId xmlns:a16="http://schemas.microsoft.com/office/drawing/2014/main" id="{4D18793F-1E0C-4753-B689-32DFAA74E516}"/>
                </a:ext>
              </a:extLst>
            </p:cNvPr>
            <p:cNvSpPr/>
            <p:nvPr/>
          </p:nvSpPr>
          <p:spPr>
            <a:xfrm>
              <a:off x="676652" y="3608092"/>
              <a:ext cx="3484348" cy="2430907"/>
            </a:xfrm>
            <a:prstGeom prst="roundRect">
              <a:avLst>
                <a:gd name="adj" fmla="val 2415"/>
              </a:avLst>
            </a:prstGeom>
            <a:gradFill flip="none" rotWithShape="1">
              <a:gsLst>
                <a:gs pos="0">
                  <a:schemeClr val="accent1">
                    <a:alpha val="23000"/>
                  </a:schemeClr>
                </a:gs>
                <a:gs pos="100000">
                  <a:schemeClr val="accent1">
                    <a:alpha val="0"/>
                  </a:schemeClr>
                </a:gs>
              </a:gsLst>
              <a:lin ang="5400000" scaled="1"/>
              <a:tileRect/>
            </a:gradFill>
            <a:ln w="317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chorCtr="1">
              <a:normAutofit/>
            </a:bodyPr>
            <a:lstStyle/>
            <a:p>
              <a:pPr algn="ctr">
                <a:lnSpc>
                  <a:spcPct val="130000"/>
                </a:lnSpc>
                <a:defRPr/>
              </a:pPr>
              <a:endParaRPr lang="zh-CN" altLang="en-US" sz="2400" dirty="0">
                <a:solidFill>
                  <a:schemeClr val="tx1">
                    <a:lumMod val="75000"/>
                    <a:lumOff val="25000"/>
                  </a:schemeClr>
                </a:solidFill>
              </a:endParaRPr>
            </a:p>
          </p:txBody>
        </p:sp>
        <p:sp>
          <p:nvSpPr>
            <p:cNvPr id="18" name="îśḻidè">
              <a:extLst>
                <a:ext uri="{FF2B5EF4-FFF2-40B4-BE49-F238E27FC236}">
                  <a16:creationId xmlns:a16="http://schemas.microsoft.com/office/drawing/2014/main" id="{DCF3D312-5138-4FFF-B77C-B04EF2E88281}"/>
                </a:ext>
              </a:extLst>
            </p:cNvPr>
            <p:cNvSpPr/>
            <p:nvPr/>
          </p:nvSpPr>
          <p:spPr>
            <a:xfrm>
              <a:off x="676650" y="3386332"/>
              <a:ext cx="3484350" cy="443520"/>
            </a:xfrm>
            <a:prstGeom prst="roundRect">
              <a:avLst>
                <a:gd name="adj" fmla="val 50000"/>
              </a:avLst>
            </a:prstGeom>
            <a:solidFill>
              <a:schemeClr val="accent1"/>
            </a:solid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r>
                <a:rPr lang="zh-CN" altLang="en-US" sz="2400" b="1" dirty="0">
                  <a:solidFill>
                    <a:schemeClr val="bg1"/>
                  </a:solidFill>
                </a:rPr>
                <a:t>滞后指标</a:t>
              </a:r>
            </a:p>
          </p:txBody>
        </p:sp>
        <p:sp>
          <p:nvSpPr>
            <p:cNvPr id="19" name="í$ļîḋe">
              <a:extLst>
                <a:ext uri="{FF2B5EF4-FFF2-40B4-BE49-F238E27FC236}">
                  <a16:creationId xmlns:a16="http://schemas.microsoft.com/office/drawing/2014/main" id="{418DA17B-1408-4EF2-8F81-7E2A1507E56E}"/>
                </a:ext>
              </a:extLst>
            </p:cNvPr>
            <p:cNvSpPr/>
            <p:nvPr/>
          </p:nvSpPr>
          <p:spPr>
            <a:xfrm>
              <a:off x="676650" y="3888618"/>
              <a:ext cx="3484348" cy="2150380"/>
            </a:xfrm>
            <a:prstGeom prst="rect">
              <a:avLst/>
            </a:prstGeom>
          </p:spPr>
          <p:txBody>
            <a:bodyPr wrap="square">
              <a:noAutofit/>
            </a:bodyPr>
            <a:lstStyle/>
            <a:p>
              <a:pPr algn="ctr">
                <a:lnSpc>
                  <a:spcPct val="130000"/>
                </a:lnSpc>
                <a:defRPr/>
              </a:pPr>
              <a:r>
                <a:rPr lang="zh-CN" altLang="en-US" sz="2400" dirty="0">
                  <a:solidFill>
                    <a:schemeClr val="tx1">
                      <a:lumMod val="75000"/>
                      <a:lumOff val="25000"/>
                    </a:schemeClr>
                  </a:solidFill>
                </a:rPr>
                <a:t>消费者物价</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商业信贷</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消费贷款</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存货周期</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银行贷款利率</a:t>
              </a:r>
              <a:endParaRPr lang="en-US" altLang="zh-CN" sz="2400" dirty="0">
                <a:solidFill>
                  <a:schemeClr val="tx1">
                    <a:lumMod val="75000"/>
                    <a:lumOff val="25000"/>
                  </a:schemeClr>
                </a:solidFill>
              </a:endParaRPr>
            </a:p>
          </p:txBody>
        </p:sp>
      </p:grpSp>
    </p:spTree>
    <p:extLst>
      <p:ext uri="{BB962C8B-B14F-4D97-AF65-F5344CB8AC3E}">
        <p14:creationId xmlns:p14="http://schemas.microsoft.com/office/powerpoint/2010/main" val="1961327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A8411D95-1C4A-4778-959C-27CB678AA470}"/>
              </a:ext>
            </a:extLst>
          </p:cNvPr>
          <p:cNvSpPr/>
          <p:nvPr/>
        </p:nvSpPr>
        <p:spPr>
          <a:xfrm>
            <a:off x="1282443" y="2086141"/>
            <a:ext cx="7262530" cy="7262530"/>
          </a:xfrm>
          <a:prstGeom prst="ellipse">
            <a:avLst/>
          </a:prstGeom>
          <a:solidFill>
            <a:srgbClr val="EAEC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EECD6128-4237-4776-ACF1-8A68CB4DADD1}"/>
              </a:ext>
            </a:extLst>
          </p:cNvPr>
          <p:cNvSpPr>
            <a:spLocks noGrp="1"/>
          </p:cNvSpPr>
          <p:nvPr>
            <p:ph type="title"/>
          </p:nvPr>
        </p:nvSpPr>
        <p:spPr/>
        <p:txBody>
          <a:bodyPr/>
          <a:lstStyle/>
          <a:p>
            <a:r>
              <a:rPr lang="zh-CN" altLang="en-US" dirty="0"/>
              <a:t>宏观经济因素</a:t>
            </a:r>
          </a:p>
        </p:txBody>
      </p:sp>
      <p:graphicFrame>
        <p:nvGraphicFramePr>
          <p:cNvPr id="4" name="内容占位符 3">
            <a:extLst>
              <a:ext uri="{FF2B5EF4-FFF2-40B4-BE49-F238E27FC236}">
                <a16:creationId xmlns:a16="http://schemas.microsoft.com/office/drawing/2014/main" id="{C64DE1D4-70C6-488E-B968-57A810E1463B}"/>
              </a:ext>
            </a:extLst>
          </p:cNvPr>
          <p:cNvGraphicFramePr>
            <a:graphicFrameLocks noGrp="1"/>
          </p:cNvGraphicFramePr>
          <p:nvPr>
            <p:ph sz="half" idx="1"/>
            <p:extLst>
              <p:ext uri="{D42A27DB-BD31-4B8C-83A1-F6EECF244321}">
                <p14:modId xmlns:p14="http://schemas.microsoft.com/office/powerpoint/2010/main" val="1313174642"/>
              </p:ext>
            </p:extLst>
          </p:nvPr>
        </p:nvGraphicFramePr>
        <p:xfrm>
          <a:off x="1187449" y="2173366"/>
          <a:ext cx="7452519" cy="66467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内容占位符 5">
            <a:extLst>
              <a:ext uri="{FF2B5EF4-FFF2-40B4-BE49-F238E27FC236}">
                <a16:creationId xmlns:a16="http://schemas.microsoft.com/office/drawing/2014/main" id="{84774781-A8A0-41E3-908A-E31716518DED}"/>
              </a:ext>
            </a:extLst>
          </p:cNvPr>
          <p:cNvPicPr>
            <a:picLocks noGrp="1" noChangeAspect="1"/>
          </p:cNvPicPr>
          <p:nvPr>
            <p:ph sz="half" idx="2"/>
          </p:nvPr>
        </p:nvPicPr>
        <p:blipFill>
          <a:blip r:embed="rId7">
            <a:duotone>
              <a:schemeClr val="accent4">
                <a:shade val="45000"/>
                <a:satMod val="135000"/>
              </a:schemeClr>
              <a:prstClr val="white"/>
            </a:duotone>
          </a:blip>
          <a:stretch>
            <a:fillRect/>
          </a:stretch>
        </p:blipFill>
        <p:spPr>
          <a:xfrm>
            <a:off x="9065662" y="2173366"/>
            <a:ext cx="7262531" cy="3544040"/>
          </a:xfrm>
          <a:prstGeom prst="rect">
            <a:avLst/>
          </a:prstGeom>
        </p:spPr>
      </p:pic>
      <p:pic>
        <p:nvPicPr>
          <p:cNvPr id="7" name="图片 6">
            <a:extLst>
              <a:ext uri="{FF2B5EF4-FFF2-40B4-BE49-F238E27FC236}">
                <a16:creationId xmlns:a16="http://schemas.microsoft.com/office/drawing/2014/main" id="{BBE54009-6A30-4877-BAE4-866038AF47C4}"/>
              </a:ext>
            </a:extLst>
          </p:cNvPr>
          <p:cNvPicPr>
            <a:picLocks noChangeAspect="1"/>
          </p:cNvPicPr>
          <p:nvPr/>
        </p:nvPicPr>
        <p:blipFill rotWithShape="1">
          <a:blip r:embed="rId8">
            <a:duotone>
              <a:schemeClr val="accent1">
                <a:shade val="45000"/>
                <a:satMod val="135000"/>
              </a:schemeClr>
              <a:prstClr val="white"/>
            </a:duotone>
          </a:blip>
          <a:srcRect r="833"/>
          <a:stretch/>
        </p:blipFill>
        <p:spPr>
          <a:xfrm>
            <a:off x="9065662" y="5717406"/>
            <a:ext cx="7278332" cy="3166378"/>
          </a:xfrm>
          <a:prstGeom prst="rect">
            <a:avLst/>
          </a:prstGeom>
        </p:spPr>
      </p:pic>
    </p:spTree>
    <p:extLst>
      <p:ext uri="{BB962C8B-B14F-4D97-AF65-F5344CB8AC3E}">
        <p14:creationId xmlns:p14="http://schemas.microsoft.com/office/powerpoint/2010/main" val="3445280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DF7131E-06F5-42D4-872D-B7F1F182B73F}"/>
              </a:ext>
            </a:extLst>
          </p:cNvPr>
          <p:cNvSpPr>
            <a:spLocks noGrp="1"/>
          </p:cNvSpPr>
          <p:nvPr>
            <p:ph type="title"/>
          </p:nvPr>
        </p:nvSpPr>
        <p:spPr/>
        <p:txBody>
          <a:bodyPr/>
          <a:lstStyle/>
          <a:p>
            <a:r>
              <a:rPr lang="zh-CN" altLang="en-US" dirty="0"/>
              <a:t>经济周期</a:t>
            </a:r>
          </a:p>
        </p:txBody>
      </p:sp>
      <p:sp>
        <p:nvSpPr>
          <p:cNvPr id="5" name="内容占位符 4">
            <a:extLst>
              <a:ext uri="{FF2B5EF4-FFF2-40B4-BE49-F238E27FC236}">
                <a16:creationId xmlns:a16="http://schemas.microsoft.com/office/drawing/2014/main" id="{49DC25A8-C7E3-4622-945D-B0D4BA3F7AB3}"/>
              </a:ext>
            </a:extLst>
          </p:cNvPr>
          <p:cNvSpPr>
            <a:spLocks noGrp="1"/>
          </p:cNvSpPr>
          <p:nvPr>
            <p:ph idx="1"/>
          </p:nvPr>
        </p:nvSpPr>
        <p:spPr/>
        <p:txBody>
          <a:bodyPr/>
          <a:lstStyle/>
          <a:p>
            <a:r>
              <a:rPr lang="zh-CN" altLang="en-US" dirty="0"/>
              <a:t>超级债务周期（明斯基周期）的三个层次</a:t>
            </a:r>
            <a:endParaRPr lang="en-US" altLang="zh-CN" dirty="0"/>
          </a:p>
        </p:txBody>
      </p:sp>
      <p:grpSp>
        <p:nvGrpSpPr>
          <p:cNvPr id="6" name="组合 5">
            <a:extLst>
              <a:ext uri="{FF2B5EF4-FFF2-40B4-BE49-F238E27FC236}">
                <a16:creationId xmlns:a16="http://schemas.microsoft.com/office/drawing/2014/main" id="{CBE48C12-2445-4A4B-A4E5-BD7A2E740F3D}"/>
              </a:ext>
            </a:extLst>
          </p:cNvPr>
          <p:cNvGrpSpPr/>
          <p:nvPr/>
        </p:nvGrpSpPr>
        <p:grpSpPr>
          <a:xfrm>
            <a:off x="949497" y="1841501"/>
            <a:ext cx="15378696" cy="7245350"/>
            <a:chOff x="3239824" y="2756325"/>
            <a:chExt cx="10915044" cy="5890660"/>
          </a:xfrm>
        </p:grpSpPr>
        <p:sp>
          <p:nvSpPr>
            <p:cNvPr id="7" name="Freeform 3">
              <a:extLst>
                <a:ext uri="{FF2B5EF4-FFF2-40B4-BE49-F238E27FC236}">
                  <a16:creationId xmlns:a16="http://schemas.microsoft.com/office/drawing/2014/main" id="{4E34C435-4529-44BA-84F3-610FD359F594}"/>
                </a:ext>
              </a:extLst>
            </p:cNvPr>
            <p:cNvSpPr>
              <a:spLocks/>
            </p:cNvSpPr>
            <p:nvPr/>
          </p:nvSpPr>
          <p:spPr bwMode="gray">
            <a:xfrm>
              <a:off x="9904504" y="3595597"/>
              <a:ext cx="3228838" cy="4909633"/>
            </a:xfrm>
            <a:custGeom>
              <a:avLst/>
              <a:gdLst/>
              <a:ahLst/>
              <a:cxnLst>
                <a:cxn ang="0">
                  <a:pos x="0" y="392"/>
                </a:cxn>
                <a:cxn ang="0">
                  <a:pos x="1223" y="0"/>
                </a:cxn>
                <a:cxn ang="0">
                  <a:pos x="1247" y="288"/>
                </a:cxn>
                <a:cxn ang="0">
                  <a:pos x="1247" y="1798"/>
                </a:cxn>
                <a:cxn ang="0">
                  <a:pos x="8" y="1812"/>
                </a:cxn>
                <a:cxn ang="0">
                  <a:pos x="0" y="392"/>
                </a:cxn>
              </a:cxnLst>
              <a:rect l="0" t="0" r="r" b="b"/>
              <a:pathLst>
                <a:path w="1247" h="1812">
                  <a:moveTo>
                    <a:pt x="0" y="392"/>
                  </a:moveTo>
                  <a:lnTo>
                    <a:pt x="1223" y="0"/>
                  </a:lnTo>
                  <a:lnTo>
                    <a:pt x="1247" y="288"/>
                  </a:lnTo>
                  <a:lnTo>
                    <a:pt x="1247" y="1798"/>
                  </a:lnTo>
                  <a:lnTo>
                    <a:pt x="8" y="1812"/>
                  </a:lnTo>
                  <a:lnTo>
                    <a:pt x="0" y="392"/>
                  </a:lnTo>
                  <a:close/>
                </a:path>
              </a:pathLst>
            </a:custGeom>
            <a:solidFill>
              <a:schemeClr val="accent5">
                <a:lumMod val="20000"/>
                <a:lumOff val="80000"/>
              </a:schemeClr>
            </a:solidFill>
            <a:ln w="9525" cap="flat" cmpd="sng">
              <a:noFill/>
              <a:prstDash val="solid"/>
              <a:round/>
              <a:headEnd type="none" w="med" len="med"/>
              <a:tailEnd type="none" w="med" len="med"/>
            </a:ln>
            <a:effectLst/>
          </p:spPr>
          <p:txBody>
            <a:bodyPr wrap="none" anchor="ctr"/>
            <a:lstStyle/>
            <a:p>
              <a:pPr>
                <a:defRPr/>
              </a:pPr>
              <a:endParaRPr lang="zh-CN" altLang="en-US" sz="3616">
                <a:solidFill>
                  <a:srgbClr val="000000"/>
                </a:solidFill>
              </a:endParaRPr>
            </a:p>
          </p:txBody>
        </p:sp>
        <p:sp>
          <p:nvSpPr>
            <p:cNvPr id="8" name="Freeform 4">
              <a:extLst>
                <a:ext uri="{FF2B5EF4-FFF2-40B4-BE49-F238E27FC236}">
                  <a16:creationId xmlns:a16="http://schemas.microsoft.com/office/drawing/2014/main" id="{95C4678C-455E-4746-BE41-B661BE325610}"/>
                </a:ext>
              </a:extLst>
            </p:cNvPr>
            <p:cNvSpPr>
              <a:spLocks/>
            </p:cNvSpPr>
            <p:nvPr/>
          </p:nvSpPr>
          <p:spPr bwMode="gray">
            <a:xfrm>
              <a:off x="6585664" y="3946606"/>
              <a:ext cx="3330090" cy="4277366"/>
            </a:xfrm>
            <a:custGeom>
              <a:avLst/>
              <a:gdLst/>
              <a:ahLst/>
              <a:cxnLst>
                <a:cxn ang="0">
                  <a:pos x="0" y="321"/>
                </a:cxn>
                <a:cxn ang="0">
                  <a:pos x="1199" y="0"/>
                </a:cxn>
                <a:cxn ang="0">
                  <a:pos x="1211" y="250"/>
                </a:cxn>
                <a:cxn ang="0">
                  <a:pos x="1211" y="1651"/>
                </a:cxn>
                <a:cxn ang="0">
                  <a:pos x="8" y="1664"/>
                </a:cxn>
                <a:cxn ang="0">
                  <a:pos x="0" y="321"/>
                </a:cxn>
              </a:cxnLst>
              <a:rect l="0" t="0" r="r" b="b"/>
              <a:pathLst>
                <a:path w="1211" h="1664">
                  <a:moveTo>
                    <a:pt x="0" y="321"/>
                  </a:moveTo>
                  <a:lnTo>
                    <a:pt x="1199" y="0"/>
                  </a:lnTo>
                  <a:lnTo>
                    <a:pt x="1211" y="250"/>
                  </a:lnTo>
                  <a:lnTo>
                    <a:pt x="1211" y="1651"/>
                  </a:lnTo>
                  <a:lnTo>
                    <a:pt x="8" y="1664"/>
                  </a:lnTo>
                  <a:lnTo>
                    <a:pt x="0" y="321"/>
                  </a:lnTo>
                  <a:close/>
                </a:path>
              </a:pathLst>
            </a:custGeom>
            <a:solidFill>
              <a:srgbClr val="CCECFF"/>
            </a:solidFill>
            <a:ln w="9525" cap="flat" cmpd="sng">
              <a:noFill/>
              <a:prstDash val="solid"/>
              <a:round/>
              <a:headEnd type="none" w="med" len="med"/>
              <a:tailEnd type="none" w="med" len="med"/>
            </a:ln>
            <a:effectLst/>
          </p:spPr>
          <p:txBody>
            <a:bodyPr wrap="none" anchor="ctr"/>
            <a:lstStyle/>
            <a:p>
              <a:pPr>
                <a:defRPr/>
              </a:pPr>
              <a:endParaRPr lang="zh-CN" altLang="en-US" sz="3616">
                <a:solidFill>
                  <a:srgbClr val="000000"/>
                </a:solidFill>
              </a:endParaRPr>
            </a:p>
          </p:txBody>
        </p:sp>
        <p:sp>
          <p:nvSpPr>
            <p:cNvPr id="9" name="Freeform 5">
              <a:extLst>
                <a:ext uri="{FF2B5EF4-FFF2-40B4-BE49-F238E27FC236}">
                  <a16:creationId xmlns:a16="http://schemas.microsoft.com/office/drawing/2014/main" id="{AA88BB11-8375-4A80-9BFE-37D0C6C2503E}"/>
                </a:ext>
              </a:extLst>
            </p:cNvPr>
            <p:cNvSpPr>
              <a:spLocks/>
            </p:cNvSpPr>
            <p:nvPr/>
          </p:nvSpPr>
          <p:spPr bwMode="gray">
            <a:xfrm>
              <a:off x="3239824" y="4270615"/>
              <a:ext cx="3397592" cy="4268366"/>
            </a:xfrm>
            <a:custGeom>
              <a:avLst/>
              <a:gdLst/>
              <a:ahLst/>
              <a:cxnLst>
                <a:cxn ang="0">
                  <a:pos x="0" y="351"/>
                </a:cxn>
                <a:cxn ang="0">
                  <a:pos x="1211" y="0"/>
                </a:cxn>
                <a:cxn ang="0">
                  <a:pos x="1223" y="244"/>
                </a:cxn>
                <a:cxn ang="0">
                  <a:pos x="1223" y="1568"/>
                </a:cxn>
                <a:cxn ang="0">
                  <a:pos x="8" y="1575"/>
                </a:cxn>
                <a:cxn ang="0">
                  <a:pos x="0" y="351"/>
                </a:cxn>
              </a:cxnLst>
              <a:rect l="0" t="0" r="r" b="b"/>
              <a:pathLst>
                <a:path w="1223" h="1575">
                  <a:moveTo>
                    <a:pt x="0" y="351"/>
                  </a:moveTo>
                  <a:lnTo>
                    <a:pt x="1211" y="0"/>
                  </a:lnTo>
                  <a:lnTo>
                    <a:pt x="1223" y="244"/>
                  </a:lnTo>
                  <a:lnTo>
                    <a:pt x="1223" y="1568"/>
                  </a:lnTo>
                  <a:lnTo>
                    <a:pt x="8" y="1575"/>
                  </a:lnTo>
                  <a:lnTo>
                    <a:pt x="0" y="351"/>
                  </a:lnTo>
                  <a:close/>
                </a:path>
              </a:pathLst>
            </a:custGeom>
            <a:solidFill>
              <a:srgbClr val="92D050"/>
            </a:solidFill>
            <a:ln w="9525" cap="flat" cmpd="sng">
              <a:noFill/>
              <a:prstDash val="solid"/>
              <a:round/>
              <a:headEnd type="none" w="med" len="med"/>
              <a:tailEnd type="none" w="med" len="med"/>
            </a:ln>
            <a:effectLst/>
          </p:spPr>
          <p:txBody>
            <a:bodyPr wrap="none" anchor="ctr"/>
            <a:lstStyle/>
            <a:p>
              <a:pPr>
                <a:defRPr/>
              </a:pPr>
              <a:endParaRPr lang="zh-CN" altLang="en-US" sz="3616">
                <a:solidFill>
                  <a:srgbClr val="000000"/>
                </a:solidFill>
              </a:endParaRPr>
            </a:p>
          </p:txBody>
        </p:sp>
        <p:sp>
          <p:nvSpPr>
            <p:cNvPr id="10" name="Line 6">
              <a:extLst>
                <a:ext uri="{FF2B5EF4-FFF2-40B4-BE49-F238E27FC236}">
                  <a16:creationId xmlns:a16="http://schemas.microsoft.com/office/drawing/2014/main" id="{7E2872CC-30E2-4BD8-A9B6-BA10BEECE758}"/>
                </a:ext>
              </a:extLst>
            </p:cNvPr>
            <p:cNvSpPr>
              <a:spLocks noChangeShapeType="1"/>
            </p:cNvSpPr>
            <p:nvPr/>
          </p:nvSpPr>
          <p:spPr bwMode="auto">
            <a:xfrm>
              <a:off x="6614914" y="4513622"/>
              <a:ext cx="2251" cy="3982608"/>
            </a:xfrm>
            <a:prstGeom prst="line">
              <a:avLst/>
            </a:prstGeom>
            <a:noFill/>
            <a:ln w="9525">
              <a:solidFill>
                <a:schemeClr val="tx1"/>
              </a:solidFill>
              <a:prstDash val="dash"/>
              <a:round/>
              <a:headEnd/>
              <a:tailEnd/>
            </a:ln>
            <a:effectLst>
              <a:outerShdw dist="28398" dir="3806097" algn="ctr" rotWithShape="0">
                <a:srgbClr val="000000">
                  <a:alpha val="50000"/>
                </a:srgbClr>
              </a:outerShdw>
            </a:effectLst>
          </p:spPr>
          <p:txBody>
            <a:bodyPr wrap="none" anchor="ctr"/>
            <a:lstStyle/>
            <a:p>
              <a:pPr>
                <a:defRPr/>
              </a:pPr>
              <a:endParaRPr lang="zh-CN" altLang="en-US" sz="3616">
                <a:solidFill>
                  <a:srgbClr val="000000"/>
                </a:solidFill>
              </a:endParaRPr>
            </a:p>
          </p:txBody>
        </p:sp>
        <p:sp>
          <p:nvSpPr>
            <p:cNvPr id="11" name="Line 7">
              <a:extLst>
                <a:ext uri="{FF2B5EF4-FFF2-40B4-BE49-F238E27FC236}">
                  <a16:creationId xmlns:a16="http://schemas.microsoft.com/office/drawing/2014/main" id="{5968A1DC-E3B3-47EB-8EDC-16A24792394E}"/>
                </a:ext>
              </a:extLst>
            </p:cNvPr>
            <p:cNvSpPr>
              <a:spLocks noChangeShapeType="1"/>
            </p:cNvSpPr>
            <p:nvPr/>
          </p:nvSpPr>
          <p:spPr bwMode="auto">
            <a:xfrm>
              <a:off x="9915754" y="3577597"/>
              <a:ext cx="9000" cy="4905132"/>
            </a:xfrm>
            <a:prstGeom prst="line">
              <a:avLst/>
            </a:prstGeom>
            <a:noFill/>
            <a:ln w="9525">
              <a:solidFill>
                <a:schemeClr val="tx1"/>
              </a:solidFill>
              <a:prstDash val="dash"/>
              <a:round/>
              <a:headEnd/>
              <a:tailEnd/>
            </a:ln>
            <a:effectLst>
              <a:outerShdw dist="28398" dir="3806097" algn="ctr" rotWithShape="0">
                <a:srgbClr val="000000">
                  <a:alpha val="50000"/>
                </a:srgbClr>
              </a:outerShdw>
            </a:effectLst>
          </p:spPr>
          <p:txBody>
            <a:bodyPr wrap="none" anchor="ctr"/>
            <a:lstStyle/>
            <a:p>
              <a:pPr>
                <a:defRPr/>
              </a:pPr>
              <a:endParaRPr lang="zh-CN" altLang="en-US" sz="3616">
                <a:solidFill>
                  <a:srgbClr val="000000"/>
                </a:solidFill>
              </a:endParaRPr>
            </a:p>
          </p:txBody>
        </p:sp>
        <p:sp>
          <p:nvSpPr>
            <p:cNvPr id="12" name="Line 8">
              <a:extLst>
                <a:ext uri="{FF2B5EF4-FFF2-40B4-BE49-F238E27FC236}">
                  <a16:creationId xmlns:a16="http://schemas.microsoft.com/office/drawing/2014/main" id="{BB9851B5-2EA8-4B1B-995C-C87FEC71D70A}"/>
                </a:ext>
              </a:extLst>
            </p:cNvPr>
            <p:cNvSpPr>
              <a:spLocks noChangeShapeType="1"/>
            </p:cNvSpPr>
            <p:nvPr/>
          </p:nvSpPr>
          <p:spPr bwMode="auto">
            <a:xfrm flipH="1">
              <a:off x="13117590" y="3757602"/>
              <a:ext cx="11251" cy="4720627"/>
            </a:xfrm>
            <a:prstGeom prst="line">
              <a:avLst/>
            </a:prstGeom>
            <a:noFill/>
            <a:ln w="9525">
              <a:solidFill>
                <a:schemeClr val="tx1"/>
              </a:solidFill>
              <a:prstDash val="dash"/>
              <a:round/>
              <a:headEnd/>
              <a:tailEnd/>
            </a:ln>
            <a:effectLst>
              <a:outerShdw dist="28398" dir="3806097" algn="ctr" rotWithShape="0">
                <a:srgbClr val="000000">
                  <a:alpha val="50000"/>
                </a:srgbClr>
              </a:outerShdw>
            </a:effectLst>
          </p:spPr>
          <p:txBody>
            <a:bodyPr wrap="none" anchor="ctr"/>
            <a:lstStyle/>
            <a:p>
              <a:pPr>
                <a:defRPr/>
              </a:pPr>
              <a:endParaRPr lang="zh-CN" altLang="en-US" sz="3616">
                <a:solidFill>
                  <a:srgbClr val="000000"/>
                </a:solidFill>
              </a:endParaRPr>
            </a:p>
          </p:txBody>
        </p:sp>
        <p:sp>
          <p:nvSpPr>
            <p:cNvPr id="13" name="Freeform 9">
              <a:extLst>
                <a:ext uri="{FF2B5EF4-FFF2-40B4-BE49-F238E27FC236}">
                  <a16:creationId xmlns:a16="http://schemas.microsoft.com/office/drawing/2014/main" id="{C332A5E8-8DA9-4EC8-A55A-774C8F9E8422}"/>
                </a:ext>
              </a:extLst>
            </p:cNvPr>
            <p:cNvSpPr>
              <a:spLocks/>
            </p:cNvSpPr>
            <p:nvPr/>
          </p:nvSpPr>
          <p:spPr bwMode="gray">
            <a:xfrm>
              <a:off x="3244323" y="2756325"/>
              <a:ext cx="10910545" cy="2877827"/>
            </a:xfrm>
            <a:custGeom>
              <a:avLst/>
              <a:gdLst/>
              <a:ahLst/>
              <a:cxnLst>
                <a:cxn ang="0">
                  <a:pos x="0" y="761"/>
                </a:cxn>
                <a:cxn ang="0">
                  <a:pos x="1543" y="312"/>
                </a:cxn>
                <a:cxn ang="0">
                  <a:pos x="1543" y="579"/>
                </a:cxn>
                <a:cxn ang="0">
                  <a:pos x="2777" y="242"/>
                </a:cxn>
                <a:cxn ang="0">
                  <a:pos x="2771" y="492"/>
                </a:cxn>
                <a:cxn ang="0">
                  <a:pos x="3815" y="228"/>
                </a:cxn>
                <a:cxn ang="0">
                  <a:pos x="3815" y="0"/>
                </a:cxn>
                <a:cxn ang="0">
                  <a:pos x="4247" y="306"/>
                </a:cxn>
                <a:cxn ang="0">
                  <a:pos x="3822" y="735"/>
                </a:cxn>
                <a:cxn ang="0">
                  <a:pos x="3816" y="492"/>
                </a:cxn>
                <a:cxn ang="0">
                  <a:pos x="2519" y="884"/>
                </a:cxn>
                <a:cxn ang="0">
                  <a:pos x="2528" y="581"/>
                </a:cxn>
                <a:cxn ang="0">
                  <a:pos x="1277" y="930"/>
                </a:cxn>
                <a:cxn ang="0">
                  <a:pos x="1277" y="654"/>
                </a:cxn>
                <a:cxn ang="0">
                  <a:pos x="0" y="1028"/>
                </a:cxn>
                <a:cxn ang="0">
                  <a:pos x="0" y="761"/>
                </a:cxn>
              </a:cxnLst>
              <a:rect l="0" t="0" r="r" b="b"/>
              <a:pathLst>
                <a:path w="4247" h="1028">
                  <a:moveTo>
                    <a:pt x="0" y="761"/>
                  </a:moveTo>
                  <a:lnTo>
                    <a:pt x="1543" y="312"/>
                  </a:lnTo>
                  <a:lnTo>
                    <a:pt x="1543" y="579"/>
                  </a:lnTo>
                  <a:lnTo>
                    <a:pt x="2777" y="242"/>
                  </a:lnTo>
                  <a:lnTo>
                    <a:pt x="2771" y="492"/>
                  </a:lnTo>
                  <a:lnTo>
                    <a:pt x="3815" y="228"/>
                  </a:lnTo>
                  <a:lnTo>
                    <a:pt x="3815" y="0"/>
                  </a:lnTo>
                  <a:lnTo>
                    <a:pt x="4247" y="306"/>
                  </a:lnTo>
                  <a:lnTo>
                    <a:pt x="3822" y="735"/>
                  </a:lnTo>
                  <a:lnTo>
                    <a:pt x="3816" y="492"/>
                  </a:lnTo>
                  <a:lnTo>
                    <a:pt x="2519" y="884"/>
                  </a:lnTo>
                  <a:lnTo>
                    <a:pt x="2528" y="581"/>
                  </a:lnTo>
                  <a:lnTo>
                    <a:pt x="1277" y="930"/>
                  </a:lnTo>
                  <a:lnTo>
                    <a:pt x="1277" y="654"/>
                  </a:lnTo>
                  <a:lnTo>
                    <a:pt x="0" y="1028"/>
                  </a:lnTo>
                  <a:lnTo>
                    <a:pt x="0" y="761"/>
                  </a:lnTo>
                  <a:close/>
                </a:path>
              </a:pathLst>
            </a:custGeom>
            <a:gradFill rotWithShape="1">
              <a:gsLst>
                <a:gs pos="0">
                  <a:srgbClr val="49C349"/>
                </a:gs>
                <a:gs pos="100000">
                  <a:srgbClr val="3399FF"/>
                </a:gs>
              </a:gsLst>
              <a:lin ang="0" scaled="1"/>
            </a:gradFill>
            <a:ln w="9525" cap="flat" cmpd="sng">
              <a:noFill/>
              <a:prstDash val="solid"/>
              <a:round/>
              <a:headEnd/>
              <a:tailEnd/>
            </a:ln>
            <a:effectLst>
              <a:outerShdw dist="35921" dir="2700000" algn="ctr" rotWithShape="0">
                <a:srgbClr val="000000"/>
              </a:outerShdw>
            </a:effectLst>
          </p:spPr>
          <p:txBody>
            <a:bodyPr wrap="none" anchor="ctr"/>
            <a:lstStyle/>
            <a:p>
              <a:pPr>
                <a:defRPr/>
              </a:pPr>
              <a:endParaRPr lang="zh-CN" altLang="en-US" sz="3616">
                <a:solidFill>
                  <a:srgbClr val="000000"/>
                </a:solidFill>
              </a:endParaRPr>
            </a:p>
          </p:txBody>
        </p:sp>
        <p:sp>
          <p:nvSpPr>
            <p:cNvPr id="14" name="AutoShape 10">
              <a:extLst>
                <a:ext uri="{FF2B5EF4-FFF2-40B4-BE49-F238E27FC236}">
                  <a16:creationId xmlns:a16="http://schemas.microsoft.com/office/drawing/2014/main" id="{998725EE-1BFC-4D9C-9004-B77C7A446F18}"/>
                </a:ext>
              </a:extLst>
            </p:cNvPr>
            <p:cNvSpPr>
              <a:spLocks noChangeArrowheads="1"/>
            </p:cNvSpPr>
            <p:nvPr/>
          </p:nvSpPr>
          <p:spPr bwMode="ltGray">
            <a:xfrm>
              <a:off x="3257845" y="7958466"/>
              <a:ext cx="3372842" cy="688519"/>
            </a:xfrm>
            <a:prstGeom prst="bevel">
              <a:avLst>
                <a:gd name="adj" fmla="val 5949"/>
              </a:avLst>
            </a:prstGeom>
            <a:solidFill>
              <a:srgbClr val="009900"/>
            </a:solidFill>
            <a:ln w="9525">
              <a:noFill/>
              <a:miter lim="800000"/>
              <a:headEnd/>
              <a:tailEnd/>
            </a:ln>
            <a:effectLst/>
          </p:spPr>
          <p:txBody>
            <a:bodyPr wrap="none" anchor="ctr"/>
            <a:lstStyle/>
            <a:p>
              <a:pPr>
                <a:defRPr/>
              </a:pPr>
              <a:endParaRPr lang="zh-CN" altLang="en-US" sz="3616">
                <a:solidFill>
                  <a:schemeClr val="bg1"/>
                </a:solidFill>
              </a:endParaRPr>
            </a:p>
          </p:txBody>
        </p:sp>
        <p:sp>
          <p:nvSpPr>
            <p:cNvPr id="15" name="AutoShape 11">
              <a:extLst>
                <a:ext uri="{FF2B5EF4-FFF2-40B4-BE49-F238E27FC236}">
                  <a16:creationId xmlns:a16="http://schemas.microsoft.com/office/drawing/2014/main" id="{376FBCC7-74DE-45A8-81F3-9E9E4FA332C9}"/>
                </a:ext>
              </a:extLst>
            </p:cNvPr>
            <p:cNvSpPr>
              <a:spLocks noChangeArrowheads="1"/>
            </p:cNvSpPr>
            <p:nvPr/>
          </p:nvSpPr>
          <p:spPr bwMode="ltGray">
            <a:xfrm>
              <a:off x="6621665" y="7958466"/>
              <a:ext cx="3312089" cy="688519"/>
            </a:xfrm>
            <a:prstGeom prst="bevel">
              <a:avLst>
                <a:gd name="adj" fmla="val 5949"/>
              </a:avLst>
            </a:prstGeom>
            <a:solidFill>
              <a:srgbClr val="00B0F0"/>
            </a:solidFill>
            <a:ln w="9525">
              <a:noFill/>
              <a:miter lim="800000"/>
              <a:headEnd/>
              <a:tailEnd/>
            </a:ln>
            <a:effectLst/>
          </p:spPr>
          <p:txBody>
            <a:bodyPr wrap="none" anchor="ctr"/>
            <a:lstStyle/>
            <a:p>
              <a:pPr>
                <a:defRPr/>
              </a:pPr>
              <a:endParaRPr lang="zh-CN" altLang="en-US" sz="3616">
                <a:solidFill>
                  <a:schemeClr val="bg1"/>
                </a:solidFill>
              </a:endParaRPr>
            </a:p>
          </p:txBody>
        </p:sp>
        <p:sp>
          <p:nvSpPr>
            <p:cNvPr id="16" name="AutoShape 12">
              <a:extLst>
                <a:ext uri="{FF2B5EF4-FFF2-40B4-BE49-F238E27FC236}">
                  <a16:creationId xmlns:a16="http://schemas.microsoft.com/office/drawing/2014/main" id="{C9A84033-9F7F-4AC8-AEE0-5FD1CB1C2E14}"/>
                </a:ext>
              </a:extLst>
            </p:cNvPr>
            <p:cNvSpPr>
              <a:spLocks noChangeArrowheads="1"/>
            </p:cNvSpPr>
            <p:nvPr/>
          </p:nvSpPr>
          <p:spPr bwMode="ltGray">
            <a:xfrm>
              <a:off x="9933754" y="7958466"/>
              <a:ext cx="3204087" cy="688519"/>
            </a:xfrm>
            <a:prstGeom prst="bevel">
              <a:avLst>
                <a:gd name="adj" fmla="val 5949"/>
              </a:avLst>
            </a:prstGeom>
            <a:solidFill>
              <a:srgbClr val="C00000"/>
            </a:solidFill>
            <a:ln w="9525">
              <a:noFill/>
              <a:miter lim="800000"/>
              <a:headEnd/>
              <a:tailEnd/>
            </a:ln>
            <a:effectLst/>
          </p:spPr>
          <p:txBody>
            <a:bodyPr wrap="none" anchor="ctr"/>
            <a:lstStyle/>
            <a:p>
              <a:pPr>
                <a:defRPr/>
              </a:pPr>
              <a:endParaRPr lang="zh-CN" altLang="en-US" sz="3616">
                <a:solidFill>
                  <a:schemeClr val="bg1"/>
                </a:solidFill>
              </a:endParaRPr>
            </a:p>
          </p:txBody>
        </p:sp>
        <p:sp>
          <p:nvSpPr>
            <p:cNvPr id="17" name="Text Box 18">
              <a:extLst>
                <a:ext uri="{FF2B5EF4-FFF2-40B4-BE49-F238E27FC236}">
                  <a16:creationId xmlns:a16="http://schemas.microsoft.com/office/drawing/2014/main" id="{9453B136-46CE-4110-87FE-6D86558FFF1D}"/>
                </a:ext>
              </a:extLst>
            </p:cNvPr>
            <p:cNvSpPr txBox="1">
              <a:spLocks noChangeArrowheads="1"/>
            </p:cNvSpPr>
            <p:nvPr/>
          </p:nvSpPr>
          <p:spPr bwMode="gray">
            <a:xfrm>
              <a:off x="3361307" y="5804362"/>
              <a:ext cx="3204087" cy="2086599"/>
            </a:xfrm>
            <a:prstGeom prst="rect">
              <a:avLst/>
            </a:prstGeom>
            <a:noFill/>
            <a:ln w="9525" algn="ctr">
              <a:noFill/>
              <a:miter lim="800000"/>
              <a:headEnd/>
              <a:tailEnd/>
            </a:ln>
          </p:spPr>
          <p:txBody>
            <a:bodyPr>
              <a:spAutoFit/>
            </a:bodyPr>
            <a:lstStyle/>
            <a:p>
              <a:pPr eaLnBrk="0" hangingPunct="0">
                <a:lnSpc>
                  <a:spcPct val="150000"/>
                </a:lnSpc>
              </a:pPr>
              <a:r>
                <a:rPr lang="zh-CN" altLang="en-US" sz="2400" b="1" dirty="0">
                  <a:solidFill>
                    <a:schemeClr val="tx1">
                      <a:lumMod val="75000"/>
                      <a:lumOff val="25000"/>
                    </a:schemeClr>
                  </a:solidFill>
                </a:rPr>
                <a:t>财务状况稳定可持续</a:t>
              </a:r>
              <a:endParaRPr lang="en-US" altLang="zh-CN" sz="2400" b="1" dirty="0">
                <a:solidFill>
                  <a:schemeClr val="tx1">
                    <a:lumMod val="75000"/>
                    <a:lumOff val="25000"/>
                  </a:schemeClr>
                </a:solidFill>
              </a:endParaRPr>
            </a:p>
            <a:p>
              <a:pPr eaLnBrk="0" hangingPunct="0">
                <a:lnSpc>
                  <a:spcPct val="150000"/>
                </a:lnSpc>
              </a:pPr>
              <a:endParaRPr lang="en-US" altLang="zh-CN" sz="2400" dirty="0">
                <a:solidFill>
                  <a:schemeClr val="tx1">
                    <a:lumMod val="75000"/>
                    <a:lumOff val="25000"/>
                  </a:schemeClr>
                </a:solidFill>
              </a:endParaRPr>
            </a:p>
            <a:p>
              <a:pPr eaLnBrk="0" hangingPunct="0">
                <a:lnSpc>
                  <a:spcPct val="150000"/>
                </a:lnSpc>
              </a:pPr>
              <a:r>
                <a:rPr lang="zh-CN" altLang="en-US" sz="2400" dirty="0">
                  <a:solidFill>
                    <a:schemeClr val="tx1">
                      <a:lumMod val="75000"/>
                      <a:lumOff val="25000"/>
                    </a:schemeClr>
                  </a:solidFill>
                </a:rPr>
                <a:t>收现金流足以偿付本金和利息的分期支付。</a:t>
              </a:r>
            </a:p>
          </p:txBody>
        </p:sp>
        <p:sp>
          <p:nvSpPr>
            <p:cNvPr id="18" name="Text Box 19">
              <a:extLst>
                <a:ext uri="{FF2B5EF4-FFF2-40B4-BE49-F238E27FC236}">
                  <a16:creationId xmlns:a16="http://schemas.microsoft.com/office/drawing/2014/main" id="{79CF0704-1570-434E-B120-37DAFBF6F052}"/>
                </a:ext>
              </a:extLst>
            </p:cNvPr>
            <p:cNvSpPr txBox="1">
              <a:spLocks noChangeArrowheads="1"/>
            </p:cNvSpPr>
            <p:nvPr/>
          </p:nvSpPr>
          <p:spPr bwMode="auto">
            <a:xfrm>
              <a:off x="3480503" y="7998966"/>
              <a:ext cx="2863926" cy="646331"/>
            </a:xfrm>
            <a:prstGeom prst="rect">
              <a:avLst/>
            </a:prstGeom>
            <a:noFill/>
            <a:ln w="9525" algn="ctr">
              <a:noFill/>
              <a:miter lim="800000"/>
              <a:headEnd/>
              <a:tailEnd/>
            </a:ln>
          </p:spPr>
          <p:txBody>
            <a:bodyPr wrap="square">
              <a:spAutoFit/>
            </a:bodyPr>
            <a:lstStyle/>
            <a:p>
              <a:pPr algn="ctr" eaLnBrk="0" hangingPunct="0"/>
              <a:r>
                <a:rPr lang="zh-CN" altLang="en-US" sz="3600" b="1" dirty="0">
                  <a:solidFill>
                    <a:schemeClr val="bg1"/>
                  </a:solidFill>
                </a:rPr>
                <a:t>套利周期</a:t>
              </a:r>
              <a:endParaRPr lang="en-US" altLang="zh-CN" sz="3402" b="1" dirty="0">
                <a:solidFill>
                  <a:schemeClr val="bg1"/>
                </a:solidFill>
              </a:endParaRPr>
            </a:p>
          </p:txBody>
        </p:sp>
        <p:sp>
          <p:nvSpPr>
            <p:cNvPr id="19" name="Text Box 20">
              <a:extLst>
                <a:ext uri="{FF2B5EF4-FFF2-40B4-BE49-F238E27FC236}">
                  <a16:creationId xmlns:a16="http://schemas.microsoft.com/office/drawing/2014/main" id="{F0CBE5AE-C7B3-4191-91AC-8BF1C86D9741}"/>
                </a:ext>
              </a:extLst>
            </p:cNvPr>
            <p:cNvSpPr txBox="1">
              <a:spLocks noChangeArrowheads="1"/>
            </p:cNvSpPr>
            <p:nvPr/>
          </p:nvSpPr>
          <p:spPr bwMode="auto">
            <a:xfrm>
              <a:off x="6951542" y="7994466"/>
              <a:ext cx="2648723" cy="646331"/>
            </a:xfrm>
            <a:prstGeom prst="rect">
              <a:avLst/>
            </a:prstGeom>
            <a:noFill/>
            <a:ln w="9525" algn="ctr">
              <a:noFill/>
              <a:miter lim="800000"/>
              <a:headEnd/>
              <a:tailEnd/>
            </a:ln>
          </p:spPr>
          <p:txBody>
            <a:bodyPr wrap="square">
              <a:spAutoFit/>
            </a:bodyPr>
            <a:lstStyle/>
            <a:p>
              <a:pPr algn="ctr" eaLnBrk="0" hangingPunct="0"/>
              <a:r>
                <a:rPr lang="zh-CN" altLang="en-US" sz="3600" b="1" dirty="0">
                  <a:solidFill>
                    <a:schemeClr val="bg1"/>
                  </a:solidFill>
                </a:rPr>
                <a:t>投资周期</a:t>
              </a:r>
              <a:endParaRPr lang="en-US" altLang="zh-CN" sz="3402" b="1" dirty="0">
                <a:solidFill>
                  <a:schemeClr val="bg1"/>
                </a:solidFill>
              </a:endParaRPr>
            </a:p>
          </p:txBody>
        </p:sp>
        <p:sp>
          <p:nvSpPr>
            <p:cNvPr id="20" name="Text Box 21">
              <a:extLst>
                <a:ext uri="{FF2B5EF4-FFF2-40B4-BE49-F238E27FC236}">
                  <a16:creationId xmlns:a16="http://schemas.microsoft.com/office/drawing/2014/main" id="{B9A1655D-5D79-430D-8F4B-F7A26AD79789}"/>
                </a:ext>
              </a:extLst>
            </p:cNvPr>
            <p:cNvSpPr txBox="1">
              <a:spLocks noChangeArrowheads="1"/>
            </p:cNvSpPr>
            <p:nvPr/>
          </p:nvSpPr>
          <p:spPr bwMode="auto">
            <a:xfrm>
              <a:off x="10200667" y="7994466"/>
              <a:ext cx="2666685" cy="646331"/>
            </a:xfrm>
            <a:prstGeom prst="rect">
              <a:avLst/>
            </a:prstGeom>
            <a:noFill/>
            <a:ln w="9525" algn="ctr">
              <a:noFill/>
              <a:miter lim="800000"/>
              <a:headEnd/>
              <a:tailEnd/>
            </a:ln>
          </p:spPr>
          <p:txBody>
            <a:bodyPr wrap="square">
              <a:spAutoFit/>
            </a:bodyPr>
            <a:lstStyle/>
            <a:p>
              <a:pPr algn="ctr" eaLnBrk="0" hangingPunct="0"/>
              <a:r>
                <a:rPr lang="zh-CN" altLang="en-US" sz="3600" b="1" dirty="0">
                  <a:solidFill>
                    <a:schemeClr val="bg1"/>
                  </a:solidFill>
                </a:rPr>
                <a:t>旁氏周期</a:t>
              </a:r>
              <a:endParaRPr lang="en-US" altLang="zh-CN" sz="3402" b="1" dirty="0">
                <a:solidFill>
                  <a:schemeClr val="bg1"/>
                </a:solidFill>
              </a:endParaRPr>
            </a:p>
          </p:txBody>
        </p:sp>
        <p:sp>
          <p:nvSpPr>
            <p:cNvPr id="21" name="Text Box 23">
              <a:extLst>
                <a:ext uri="{FF2B5EF4-FFF2-40B4-BE49-F238E27FC236}">
                  <a16:creationId xmlns:a16="http://schemas.microsoft.com/office/drawing/2014/main" id="{73757CA9-12B7-4FA9-855A-751EE9A79304}"/>
                </a:ext>
              </a:extLst>
            </p:cNvPr>
            <p:cNvSpPr txBox="1">
              <a:spLocks noChangeArrowheads="1"/>
            </p:cNvSpPr>
            <p:nvPr/>
          </p:nvSpPr>
          <p:spPr bwMode="gray">
            <a:xfrm>
              <a:off x="6686936" y="5634152"/>
              <a:ext cx="3150085" cy="2086599"/>
            </a:xfrm>
            <a:prstGeom prst="rect">
              <a:avLst/>
            </a:prstGeom>
            <a:noFill/>
            <a:ln w="9525" algn="ctr">
              <a:noFill/>
              <a:miter lim="800000"/>
              <a:headEnd/>
              <a:tailEnd/>
            </a:ln>
          </p:spPr>
          <p:txBody>
            <a:bodyPr>
              <a:spAutoFit/>
            </a:bodyPr>
            <a:lstStyle/>
            <a:p>
              <a:pPr eaLnBrk="0" hangingPunct="0">
                <a:lnSpc>
                  <a:spcPct val="150000"/>
                </a:lnSpc>
              </a:pPr>
              <a:r>
                <a:rPr lang="zh-CN" altLang="en-US" sz="2400" b="1" dirty="0">
                  <a:solidFill>
                    <a:schemeClr val="tx1">
                      <a:lumMod val="75000"/>
                      <a:lumOff val="25000"/>
                    </a:schemeClr>
                  </a:solidFill>
                </a:rPr>
                <a:t>财务状况具有较高风险</a:t>
              </a:r>
              <a:endParaRPr lang="en-US" altLang="zh-CN" sz="2400" b="1" dirty="0">
                <a:solidFill>
                  <a:schemeClr val="tx1">
                    <a:lumMod val="75000"/>
                    <a:lumOff val="25000"/>
                  </a:schemeClr>
                </a:solidFill>
              </a:endParaRPr>
            </a:p>
            <a:p>
              <a:pPr eaLnBrk="0" hangingPunct="0">
                <a:lnSpc>
                  <a:spcPct val="150000"/>
                </a:lnSpc>
              </a:pPr>
              <a:endParaRPr lang="en-US" altLang="zh-CN" sz="2400" dirty="0">
                <a:solidFill>
                  <a:schemeClr val="tx1">
                    <a:lumMod val="75000"/>
                    <a:lumOff val="25000"/>
                  </a:schemeClr>
                </a:solidFill>
              </a:endParaRPr>
            </a:p>
            <a:p>
              <a:pPr eaLnBrk="0" hangingPunct="0">
                <a:lnSpc>
                  <a:spcPct val="150000"/>
                </a:lnSpc>
              </a:pPr>
              <a:r>
                <a:rPr lang="zh-CN" altLang="en-US" sz="2400" dirty="0">
                  <a:solidFill>
                    <a:schemeClr val="tx1">
                      <a:lumMod val="75000"/>
                      <a:lumOff val="25000"/>
                    </a:schemeClr>
                  </a:solidFill>
                </a:rPr>
                <a:t>收入现金流可以偿付利息，但不足以偿付本金分期偿还。</a:t>
              </a:r>
            </a:p>
          </p:txBody>
        </p:sp>
        <p:sp>
          <p:nvSpPr>
            <p:cNvPr id="22" name="Text Box 25">
              <a:extLst>
                <a:ext uri="{FF2B5EF4-FFF2-40B4-BE49-F238E27FC236}">
                  <a16:creationId xmlns:a16="http://schemas.microsoft.com/office/drawing/2014/main" id="{82D5DCE4-47AC-4DA3-88EE-17A07F0EEA30}"/>
                </a:ext>
              </a:extLst>
            </p:cNvPr>
            <p:cNvSpPr txBox="1">
              <a:spLocks noChangeArrowheads="1"/>
            </p:cNvSpPr>
            <p:nvPr/>
          </p:nvSpPr>
          <p:spPr bwMode="gray">
            <a:xfrm>
              <a:off x="9972028" y="5032040"/>
              <a:ext cx="3150085" cy="2945772"/>
            </a:xfrm>
            <a:prstGeom prst="rect">
              <a:avLst/>
            </a:prstGeom>
            <a:noFill/>
            <a:ln w="9525" algn="ctr">
              <a:noFill/>
              <a:miter lim="800000"/>
              <a:headEnd/>
              <a:tailEnd/>
            </a:ln>
          </p:spPr>
          <p:txBody>
            <a:bodyPr>
              <a:spAutoFit/>
            </a:bodyPr>
            <a:lstStyle/>
            <a:p>
              <a:pPr eaLnBrk="0" hangingPunct="0">
                <a:lnSpc>
                  <a:spcPct val="150000"/>
                </a:lnSpc>
              </a:pPr>
              <a:r>
                <a:rPr lang="zh-CN" altLang="en-US" sz="2400" b="1" dirty="0">
                  <a:solidFill>
                    <a:schemeClr val="tx1">
                      <a:lumMod val="75000"/>
                      <a:lumOff val="25000"/>
                    </a:schemeClr>
                  </a:solidFill>
                </a:rPr>
                <a:t>财务状况极度风险</a:t>
              </a:r>
              <a:endParaRPr lang="en-US" altLang="zh-CN" sz="2400" b="1" dirty="0">
                <a:solidFill>
                  <a:schemeClr val="tx1">
                    <a:lumMod val="75000"/>
                    <a:lumOff val="25000"/>
                  </a:schemeClr>
                </a:solidFill>
              </a:endParaRPr>
            </a:p>
            <a:p>
              <a:pPr eaLnBrk="0" hangingPunct="0"/>
              <a:endParaRPr lang="en-US" altLang="zh-CN" sz="2400" dirty="0">
                <a:solidFill>
                  <a:schemeClr val="tx1">
                    <a:lumMod val="75000"/>
                    <a:lumOff val="25000"/>
                  </a:schemeClr>
                </a:solidFill>
              </a:endParaRPr>
            </a:p>
            <a:p>
              <a:pPr eaLnBrk="0" hangingPunct="0">
                <a:lnSpc>
                  <a:spcPct val="150000"/>
                </a:lnSpc>
              </a:pPr>
              <a:r>
                <a:rPr lang="zh-CN" altLang="en-US" sz="2400" dirty="0">
                  <a:solidFill>
                    <a:schemeClr val="tx1">
                      <a:lumMod val="75000"/>
                      <a:lumOff val="25000"/>
                    </a:schemeClr>
                  </a:solidFill>
                </a:rPr>
                <a:t>收入现金流低于利息支付，也不足以偿付本金分期偿还；若资产贬值，则不可持续，陷入危机。</a:t>
              </a:r>
              <a:endParaRPr lang="en-US" altLang="zh-CN" sz="2400" dirty="0">
                <a:solidFill>
                  <a:schemeClr val="tx1">
                    <a:lumMod val="75000"/>
                    <a:lumOff val="25000"/>
                  </a:schemeClr>
                </a:solidFill>
              </a:endParaRPr>
            </a:p>
          </p:txBody>
        </p:sp>
      </p:grpSp>
    </p:spTree>
    <p:extLst>
      <p:ext uri="{BB962C8B-B14F-4D97-AF65-F5344CB8AC3E}">
        <p14:creationId xmlns:p14="http://schemas.microsoft.com/office/powerpoint/2010/main" val="2534949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69E8BABE-1BB6-451C-A72F-F5EC3A3A6915}"/>
              </a:ext>
            </a:extLst>
          </p:cNvPr>
          <p:cNvSpPr>
            <a:spLocks noGrp="1"/>
          </p:cNvSpPr>
          <p:nvPr>
            <p:ph type="title"/>
          </p:nvPr>
        </p:nvSpPr>
        <p:spPr/>
        <p:txBody>
          <a:bodyPr/>
          <a:lstStyle/>
          <a:p>
            <a:r>
              <a:rPr lang="zh-CN" altLang="en-US" dirty="0"/>
              <a:t>（二）行业风险</a:t>
            </a:r>
          </a:p>
        </p:txBody>
      </p:sp>
      <p:sp>
        <p:nvSpPr>
          <p:cNvPr id="13" name="内容占位符 12">
            <a:extLst>
              <a:ext uri="{FF2B5EF4-FFF2-40B4-BE49-F238E27FC236}">
                <a16:creationId xmlns:a16="http://schemas.microsoft.com/office/drawing/2014/main" id="{06EC9B8A-93E3-4C76-B827-C892DCB598FB}"/>
              </a:ext>
            </a:extLst>
          </p:cNvPr>
          <p:cNvSpPr>
            <a:spLocks noGrp="1"/>
          </p:cNvSpPr>
          <p:nvPr>
            <p:ph type="body" idx="1"/>
          </p:nvPr>
        </p:nvSpPr>
        <p:spPr/>
        <p:txBody>
          <a:bodyPr>
            <a:normAutofit/>
          </a:bodyPr>
          <a:lstStyle/>
          <a:p>
            <a:r>
              <a:rPr lang="zh-CN" altLang="en-US" dirty="0"/>
              <a:t>评估行业风险是信用分析的第一步，需要考虑的因素至少包括行业销售收入前景、商业周期、竞争壁垒和行业的整体信用状况。</a:t>
            </a:r>
          </a:p>
        </p:txBody>
      </p:sp>
    </p:spTree>
    <p:extLst>
      <p:ext uri="{BB962C8B-B14F-4D97-AF65-F5344CB8AC3E}">
        <p14:creationId xmlns:p14="http://schemas.microsoft.com/office/powerpoint/2010/main" val="3408069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FDE2168-E441-4077-844C-BEE158626A7E}"/>
              </a:ext>
            </a:extLst>
          </p:cNvPr>
          <p:cNvSpPr>
            <a:spLocks noGrp="1"/>
          </p:cNvSpPr>
          <p:nvPr>
            <p:ph type="title"/>
          </p:nvPr>
        </p:nvSpPr>
        <p:spPr/>
        <p:txBody>
          <a:bodyPr/>
          <a:lstStyle/>
          <a:p>
            <a:r>
              <a:rPr lang="zh-CN" altLang="en-US" dirty="0"/>
              <a:t>行业的分类</a:t>
            </a:r>
            <a:endParaRPr lang="en-US" altLang="zh-CN" dirty="0"/>
          </a:p>
        </p:txBody>
      </p:sp>
      <p:sp>
        <p:nvSpPr>
          <p:cNvPr id="4" name="内容占位符 3">
            <a:extLst>
              <a:ext uri="{FF2B5EF4-FFF2-40B4-BE49-F238E27FC236}">
                <a16:creationId xmlns:a16="http://schemas.microsoft.com/office/drawing/2014/main" id="{45FA2477-39CC-4411-BFB3-9AC0ADB9F65C}"/>
              </a:ext>
            </a:extLst>
          </p:cNvPr>
          <p:cNvSpPr>
            <a:spLocks noGrp="1"/>
          </p:cNvSpPr>
          <p:nvPr>
            <p:ph idx="1"/>
          </p:nvPr>
        </p:nvSpPr>
        <p:spPr/>
        <p:txBody>
          <a:bodyPr>
            <a:normAutofit/>
          </a:bodyPr>
          <a:lstStyle/>
          <a:p>
            <a:r>
              <a:rPr lang="zh-CN" altLang="en-US" dirty="0"/>
              <a:t>行业作为整体的收入状况，是衡量行业成长性、规模和可持续发展的基本标准，可以将行业分为成长型、成熟型、补缺型、全球型和高速循环型等五种类型。</a:t>
            </a:r>
            <a:endParaRPr lang="en-US" altLang="zh-CN" dirty="0"/>
          </a:p>
          <a:p>
            <a:endParaRPr lang="en-US" altLang="zh-CN" b="1" dirty="0"/>
          </a:p>
          <a:p>
            <a:r>
              <a:rPr lang="zh-CN" altLang="en-US" b="1" dirty="0"/>
              <a:t>成长行业</a:t>
            </a:r>
            <a:endParaRPr lang="en-US" altLang="zh-CN" b="1" dirty="0"/>
          </a:p>
          <a:p>
            <a:pPr lvl="1"/>
            <a:r>
              <a:rPr lang="zh-CN" altLang="en-US" dirty="0"/>
              <a:t>在新市场、新产品、新客群上还有很大的增长潜力</a:t>
            </a:r>
            <a:endParaRPr lang="en-US" altLang="zh-CN" dirty="0"/>
          </a:p>
          <a:p>
            <a:pPr lvl="1"/>
            <a:r>
              <a:rPr lang="zh-CN" altLang="en-US" dirty="0"/>
              <a:t>兼顾产品销售的单价和规模：销售数量的增长反映了价值；趋势良好的行业，市场规模规模应当持续稳定增长、新产品不断出现</a:t>
            </a:r>
            <a:endParaRPr lang="en-US" altLang="zh-CN" dirty="0"/>
          </a:p>
          <a:p>
            <a:pPr lvl="1"/>
            <a:r>
              <a:rPr lang="zh-CN" altLang="en-US" dirty="0"/>
              <a:t>定价能力，反映了行业和产品的价值。如药物研发、医疗器械和技术的涨价</a:t>
            </a:r>
            <a:endParaRPr lang="en-US" altLang="zh-CN" dirty="0"/>
          </a:p>
          <a:p>
            <a:pPr lvl="1"/>
            <a:endParaRPr lang="en-US" altLang="zh-CN" dirty="0"/>
          </a:p>
          <a:p>
            <a:pPr lvl="1"/>
            <a:r>
              <a:rPr lang="zh-CN" altLang="en-US" b="1" dirty="0"/>
              <a:t>风险</a:t>
            </a:r>
            <a:r>
              <a:rPr lang="zh-CN" altLang="en-US" dirty="0"/>
              <a:t>：过度扩张，新竞争者、新产品进入</a:t>
            </a:r>
            <a:endParaRPr lang="en-US" altLang="zh-CN" dirty="0"/>
          </a:p>
          <a:p>
            <a:pPr lvl="1"/>
            <a:endParaRPr lang="en-US" altLang="zh-CN" dirty="0"/>
          </a:p>
          <a:p>
            <a:endParaRPr lang="zh-CN" altLang="en-US" dirty="0"/>
          </a:p>
        </p:txBody>
      </p:sp>
    </p:spTree>
    <p:extLst>
      <p:ext uri="{BB962C8B-B14F-4D97-AF65-F5344CB8AC3E}">
        <p14:creationId xmlns:p14="http://schemas.microsoft.com/office/powerpoint/2010/main" val="2773189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D4D3B5-E6F0-4DEB-ACB3-B6715695833A}"/>
              </a:ext>
            </a:extLst>
          </p:cNvPr>
          <p:cNvSpPr>
            <a:spLocks noGrp="1"/>
          </p:cNvSpPr>
          <p:nvPr>
            <p:ph type="title"/>
          </p:nvPr>
        </p:nvSpPr>
        <p:spPr/>
        <p:txBody>
          <a:bodyPr/>
          <a:lstStyle/>
          <a:p>
            <a:r>
              <a:rPr lang="zh-CN" altLang="en-US" dirty="0"/>
              <a:t>行业的分类</a:t>
            </a:r>
          </a:p>
        </p:txBody>
      </p:sp>
      <p:sp>
        <p:nvSpPr>
          <p:cNvPr id="3" name="内容占位符 2">
            <a:extLst>
              <a:ext uri="{FF2B5EF4-FFF2-40B4-BE49-F238E27FC236}">
                <a16:creationId xmlns:a16="http://schemas.microsoft.com/office/drawing/2014/main" id="{E80E564E-9F6C-4D61-B791-B1295A81BFC1}"/>
              </a:ext>
            </a:extLst>
          </p:cNvPr>
          <p:cNvSpPr>
            <a:spLocks noGrp="1"/>
          </p:cNvSpPr>
          <p:nvPr>
            <p:ph idx="1"/>
          </p:nvPr>
        </p:nvSpPr>
        <p:spPr/>
        <p:txBody>
          <a:bodyPr/>
          <a:lstStyle/>
          <a:p>
            <a:r>
              <a:rPr lang="zh-CN" altLang="en-US" b="1" dirty="0"/>
              <a:t>成熟行业</a:t>
            </a:r>
            <a:endParaRPr lang="en-US" altLang="zh-CN" b="1" dirty="0"/>
          </a:p>
          <a:p>
            <a:pPr lvl="1"/>
            <a:r>
              <a:rPr lang="zh-CN" altLang="en-US" dirty="0"/>
              <a:t>大部分市场都已实现稳定的销售份额（波动</a:t>
            </a:r>
            <a:r>
              <a:rPr lang="en-US" altLang="zh-CN" dirty="0"/>
              <a:t>5%</a:t>
            </a:r>
            <a:r>
              <a:rPr lang="zh-CN" altLang="en-US" dirty="0"/>
              <a:t>以内）</a:t>
            </a:r>
            <a:endParaRPr lang="en-US" altLang="zh-CN" dirty="0"/>
          </a:p>
          <a:p>
            <a:pPr lvl="1"/>
            <a:r>
              <a:rPr lang="zh-CN" altLang="en-US" dirty="0"/>
              <a:t>供应与需求较稳定，但存在熟悉的周期波动</a:t>
            </a:r>
            <a:r>
              <a:rPr lang="en-US" altLang="zh-CN" dirty="0"/>
              <a:t>-</a:t>
            </a:r>
            <a:r>
              <a:rPr lang="zh-CN" altLang="en-US" dirty="0"/>
              <a:t>缓和应对方式</a:t>
            </a:r>
            <a:endParaRPr lang="en-US" altLang="zh-CN" dirty="0"/>
          </a:p>
          <a:p>
            <a:pPr lvl="1"/>
            <a:r>
              <a:rPr lang="zh-CN" altLang="en-US" dirty="0"/>
              <a:t>大多数制造行业都属于此类</a:t>
            </a:r>
            <a:endParaRPr lang="en-US" altLang="zh-CN" dirty="0"/>
          </a:p>
          <a:p>
            <a:pPr lvl="2"/>
            <a:r>
              <a:rPr lang="zh-CN" altLang="en-US" dirty="0"/>
              <a:t>工厂利用率是定价能力的重要指标</a:t>
            </a:r>
            <a:endParaRPr lang="en-US" altLang="zh-CN" dirty="0"/>
          </a:p>
          <a:p>
            <a:pPr lvl="2"/>
            <a:r>
              <a:rPr lang="zh-CN" altLang="en-US" dirty="0"/>
              <a:t>评估周期性供需不平衡的影响，如相继关闭</a:t>
            </a:r>
            <a:r>
              <a:rPr lang="en-US" altLang="zh-CN" dirty="0"/>
              <a:t>/</a:t>
            </a:r>
            <a:r>
              <a:rPr lang="zh-CN" altLang="en-US" dirty="0"/>
              <a:t>新增工厂，或者延长</a:t>
            </a:r>
            <a:r>
              <a:rPr lang="en-US" altLang="zh-CN" dirty="0"/>
              <a:t>/</a:t>
            </a:r>
            <a:r>
              <a:rPr lang="zh-CN" altLang="en-US" dirty="0"/>
              <a:t>缩短工时</a:t>
            </a:r>
            <a:endParaRPr lang="en-US" altLang="zh-CN" dirty="0"/>
          </a:p>
          <a:p>
            <a:pPr lvl="1"/>
            <a:endParaRPr lang="en-US" altLang="zh-CN" dirty="0"/>
          </a:p>
          <a:p>
            <a:pPr lvl="1"/>
            <a:r>
              <a:rPr lang="zh-CN" altLang="en-US" b="1" dirty="0"/>
              <a:t>风险</a:t>
            </a:r>
            <a:r>
              <a:rPr lang="zh-CN" altLang="en-US" dirty="0"/>
              <a:t>：新产品竞争</a:t>
            </a:r>
            <a:endParaRPr lang="en-US" altLang="zh-CN" dirty="0"/>
          </a:p>
          <a:p>
            <a:pPr lvl="2"/>
            <a:r>
              <a:rPr lang="zh-CN" altLang="en-US" dirty="0"/>
              <a:t>替代现有产品，比现有产品更优质、或者更便宜</a:t>
            </a:r>
            <a:endParaRPr lang="en-US" altLang="zh-CN" dirty="0"/>
          </a:p>
          <a:p>
            <a:pPr lvl="2"/>
            <a:r>
              <a:rPr lang="zh-CN" altLang="en-US" dirty="0"/>
              <a:t>改变行业需求前景。例如智能手机对照相机市场的冲击</a:t>
            </a:r>
            <a:endParaRPr lang="en-US" altLang="zh-CN" dirty="0"/>
          </a:p>
          <a:p>
            <a:pPr lvl="2"/>
            <a:r>
              <a:rPr lang="zh-CN" altLang="en-US" dirty="0"/>
              <a:t>对新产品影响力的判断很困难，需要了解最新产品趋势和创新点，能够全面评估未来影响和冲击</a:t>
            </a:r>
            <a:endParaRPr lang="en-US" altLang="zh-CN" dirty="0"/>
          </a:p>
          <a:p>
            <a:pPr lvl="2"/>
            <a:endParaRPr lang="en-US" altLang="zh-CN" dirty="0"/>
          </a:p>
          <a:p>
            <a:endParaRPr lang="zh-CN" altLang="en-US" dirty="0"/>
          </a:p>
        </p:txBody>
      </p:sp>
    </p:spTree>
    <p:extLst>
      <p:ext uri="{BB962C8B-B14F-4D97-AF65-F5344CB8AC3E}">
        <p14:creationId xmlns:p14="http://schemas.microsoft.com/office/powerpoint/2010/main" val="490178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DF8634-33CE-41E8-A3A6-FF183B56BECF}"/>
              </a:ext>
            </a:extLst>
          </p:cNvPr>
          <p:cNvSpPr>
            <a:spLocks noGrp="1"/>
          </p:cNvSpPr>
          <p:nvPr>
            <p:ph type="title"/>
          </p:nvPr>
        </p:nvSpPr>
        <p:spPr/>
        <p:txBody>
          <a:bodyPr/>
          <a:lstStyle/>
          <a:p>
            <a:r>
              <a:rPr lang="zh-CN" altLang="en-US" dirty="0"/>
              <a:t>行业的分类</a:t>
            </a:r>
          </a:p>
        </p:txBody>
      </p:sp>
      <p:sp>
        <p:nvSpPr>
          <p:cNvPr id="3" name="内容占位符 2">
            <a:extLst>
              <a:ext uri="{FF2B5EF4-FFF2-40B4-BE49-F238E27FC236}">
                <a16:creationId xmlns:a16="http://schemas.microsoft.com/office/drawing/2014/main" id="{C38A331C-F648-40A2-A64D-054DE14F0E78}"/>
              </a:ext>
            </a:extLst>
          </p:cNvPr>
          <p:cNvSpPr>
            <a:spLocks noGrp="1"/>
          </p:cNvSpPr>
          <p:nvPr>
            <p:ph idx="1"/>
          </p:nvPr>
        </p:nvSpPr>
        <p:spPr/>
        <p:txBody>
          <a:bodyPr/>
          <a:lstStyle/>
          <a:p>
            <a:r>
              <a:rPr lang="zh-CN" altLang="en-US" b="1" dirty="0"/>
              <a:t>垂直行业</a:t>
            </a:r>
            <a:endParaRPr lang="en-US" altLang="zh-CN" b="1" dirty="0"/>
          </a:p>
          <a:p>
            <a:pPr lvl="1"/>
            <a:r>
              <a:rPr lang="zh-CN" altLang="en-US" dirty="0"/>
              <a:t>行业细分领域的小型公司。</a:t>
            </a:r>
            <a:endParaRPr lang="en-US" altLang="zh-CN" dirty="0"/>
          </a:p>
          <a:p>
            <a:pPr lvl="1"/>
            <a:r>
              <a:rPr lang="zh-CN" altLang="en-US" dirty="0"/>
              <a:t>产品单一：资源聚焦在狭小和垂直的产品线上，最大化生产效率，提高产品竞争力</a:t>
            </a:r>
            <a:endParaRPr lang="en-US" altLang="zh-CN" dirty="0"/>
          </a:p>
          <a:p>
            <a:pPr lvl="1"/>
            <a:r>
              <a:rPr lang="zh-CN" altLang="en-US" dirty="0"/>
              <a:t>生存依赖：任何行业都存在大量小供应商支持大公司的生态，其成功的前提条件就是大公司的成功</a:t>
            </a:r>
            <a:endParaRPr lang="en-US" altLang="zh-CN" dirty="0"/>
          </a:p>
          <a:p>
            <a:pPr lvl="1"/>
            <a:r>
              <a:rPr lang="zh-CN" altLang="en-US" dirty="0"/>
              <a:t>竞争激烈：行业壁垒较低，竞争积累，生产和财务条件较差，难以抵御长期危机逆境</a:t>
            </a:r>
            <a:endParaRPr lang="en-US" altLang="zh-CN" dirty="0"/>
          </a:p>
          <a:p>
            <a:pPr lvl="1"/>
            <a:endParaRPr lang="en-US" altLang="zh-CN" dirty="0"/>
          </a:p>
          <a:p>
            <a:pPr lvl="1"/>
            <a:r>
              <a:rPr lang="zh-CN" altLang="en-US" b="1" dirty="0"/>
              <a:t>风险</a:t>
            </a:r>
            <a:r>
              <a:rPr lang="zh-CN" altLang="en-US" dirty="0"/>
              <a:t>：销售增长可持续性</a:t>
            </a:r>
            <a:endParaRPr lang="en-US" altLang="zh-CN" dirty="0"/>
          </a:p>
          <a:p>
            <a:pPr lvl="2"/>
            <a:r>
              <a:rPr lang="zh-CN" altLang="en-US" dirty="0"/>
              <a:t>关注竞争：同类产品、可替代产品</a:t>
            </a:r>
            <a:endParaRPr lang="en-US" altLang="zh-CN" dirty="0"/>
          </a:p>
          <a:p>
            <a:pPr lvl="2"/>
            <a:r>
              <a:rPr lang="zh-CN" altLang="en-US" dirty="0"/>
              <a:t>关注生销：市场容量、销售渠道、以及与大公司的供货合同等</a:t>
            </a:r>
            <a:endParaRPr lang="en-US" altLang="zh-CN" dirty="0"/>
          </a:p>
          <a:p>
            <a:endParaRPr lang="zh-CN" altLang="en-US" dirty="0"/>
          </a:p>
        </p:txBody>
      </p:sp>
    </p:spTree>
    <p:extLst>
      <p:ext uri="{BB962C8B-B14F-4D97-AF65-F5344CB8AC3E}">
        <p14:creationId xmlns:p14="http://schemas.microsoft.com/office/powerpoint/2010/main" val="2088564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A7E30E-283E-4EA8-AE5C-ABD807D5EE13}"/>
              </a:ext>
            </a:extLst>
          </p:cNvPr>
          <p:cNvSpPr>
            <a:spLocks noGrp="1"/>
          </p:cNvSpPr>
          <p:nvPr>
            <p:ph type="title"/>
          </p:nvPr>
        </p:nvSpPr>
        <p:spPr/>
        <p:txBody>
          <a:bodyPr/>
          <a:lstStyle/>
          <a:p>
            <a:r>
              <a:rPr lang="zh-CN" altLang="en-US" dirty="0"/>
              <a:t>行业的分类</a:t>
            </a:r>
          </a:p>
        </p:txBody>
      </p:sp>
      <p:sp>
        <p:nvSpPr>
          <p:cNvPr id="3" name="内容占位符 2">
            <a:extLst>
              <a:ext uri="{FF2B5EF4-FFF2-40B4-BE49-F238E27FC236}">
                <a16:creationId xmlns:a16="http://schemas.microsoft.com/office/drawing/2014/main" id="{2470B4AB-7C08-4CD3-ADD3-AD07C6A9DDB5}"/>
              </a:ext>
            </a:extLst>
          </p:cNvPr>
          <p:cNvSpPr>
            <a:spLocks noGrp="1"/>
          </p:cNvSpPr>
          <p:nvPr>
            <p:ph idx="1"/>
          </p:nvPr>
        </p:nvSpPr>
        <p:spPr/>
        <p:txBody>
          <a:bodyPr/>
          <a:lstStyle/>
          <a:p>
            <a:r>
              <a:rPr lang="zh-CN" altLang="en-US" b="1" dirty="0"/>
              <a:t>全球行业</a:t>
            </a:r>
            <a:endParaRPr lang="en-US" altLang="zh-CN" b="1" dirty="0"/>
          </a:p>
          <a:p>
            <a:pPr lvl="1"/>
            <a:r>
              <a:rPr lang="zh-CN" altLang="en-US" dirty="0"/>
              <a:t>全球化业务是一种体系，包括全球分布的竞争者、供应商、生产商、分销商和采购商。但这类公司在任何地区的任何业务，不仅面临当地竞争者，还会面临其他全球竞争者。</a:t>
            </a:r>
            <a:endParaRPr lang="en-US" altLang="zh-CN" dirty="0"/>
          </a:p>
          <a:p>
            <a:pPr lvl="1"/>
            <a:r>
              <a:rPr lang="zh-CN" altLang="en-US" dirty="0"/>
              <a:t>高度成熟的行业，市场需求遍布全球，能够通过规模效应，实现更低的成本、更丰富的产品线和供应链措施。</a:t>
            </a:r>
            <a:endParaRPr lang="en-US" altLang="zh-CN" dirty="0"/>
          </a:p>
          <a:p>
            <a:pPr lvl="1"/>
            <a:endParaRPr lang="en-US" altLang="zh-CN" dirty="0"/>
          </a:p>
          <a:p>
            <a:pPr lvl="1"/>
            <a:r>
              <a:rPr lang="zh-CN" altLang="en-US" b="1" dirty="0"/>
              <a:t>风险</a:t>
            </a:r>
            <a:r>
              <a:rPr lang="zh-CN" altLang="en-US" dirty="0"/>
              <a:t>：市场供需变动</a:t>
            </a:r>
            <a:endParaRPr lang="en-US" altLang="zh-CN" dirty="0"/>
          </a:p>
          <a:p>
            <a:pPr lvl="2"/>
            <a:r>
              <a:rPr lang="zh-CN" altLang="en-US" dirty="0"/>
              <a:t>全球供求关系决定全球价格，但当地供求绝对的影响当地价格</a:t>
            </a:r>
            <a:endParaRPr lang="en-US" altLang="zh-CN" dirty="0"/>
          </a:p>
          <a:p>
            <a:pPr lvl="2"/>
            <a:r>
              <a:rPr lang="zh-CN" altLang="en-US" dirty="0"/>
              <a:t>当地的关税政策会影响产品的定价，以及当地市场的产品需求</a:t>
            </a:r>
            <a:endParaRPr lang="en-US" altLang="zh-CN" dirty="0"/>
          </a:p>
          <a:p>
            <a:pPr lvl="2"/>
            <a:r>
              <a:rPr lang="zh-CN" altLang="en-US" dirty="0"/>
              <a:t>当地的商业政策会影响产品和市场</a:t>
            </a:r>
            <a:endParaRPr lang="en-US" altLang="zh-CN" dirty="0"/>
          </a:p>
          <a:p>
            <a:pPr lvl="2"/>
            <a:r>
              <a:rPr lang="zh-CN" altLang="en-US" dirty="0"/>
              <a:t>当地分公司的本地雇员和纳税，有助于获取当地同等待遇并显著改善上述不利因素</a:t>
            </a:r>
            <a:endParaRPr lang="en-US" altLang="zh-CN" dirty="0"/>
          </a:p>
          <a:p>
            <a:pPr lvl="2"/>
            <a:endParaRPr lang="en-US" altLang="zh-CN" dirty="0"/>
          </a:p>
          <a:p>
            <a:pPr lvl="2"/>
            <a:endParaRPr lang="en-US" altLang="zh-CN" dirty="0"/>
          </a:p>
          <a:p>
            <a:pPr lvl="1"/>
            <a:endParaRPr lang="en-US" altLang="zh-CN" dirty="0"/>
          </a:p>
          <a:p>
            <a:endParaRPr lang="zh-CN" altLang="en-US" dirty="0"/>
          </a:p>
        </p:txBody>
      </p:sp>
    </p:spTree>
    <p:extLst>
      <p:ext uri="{BB962C8B-B14F-4D97-AF65-F5344CB8AC3E}">
        <p14:creationId xmlns:p14="http://schemas.microsoft.com/office/powerpoint/2010/main" val="3822702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9FA8AF-1D58-4159-B887-9C9BDAA883E1}"/>
              </a:ext>
            </a:extLst>
          </p:cNvPr>
          <p:cNvSpPr>
            <a:spLocks noGrp="1"/>
          </p:cNvSpPr>
          <p:nvPr>
            <p:ph type="title"/>
          </p:nvPr>
        </p:nvSpPr>
        <p:spPr/>
        <p:txBody>
          <a:bodyPr/>
          <a:lstStyle/>
          <a:p>
            <a:r>
              <a:rPr lang="zh-CN" altLang="en-US" dirty="0"/>
              <a:t>行业的分类</a:t>
            </a:r>
          </a:p>
        </p:txBody>
      </p:sp>
      <p:sp>
        <p:nvSpPr>
          <p:cNvPr id="3" name="内容占位符 2">
            <a:extLst>
              <a:ext uri="{FF2B5EF4-FFF2-40B4-BE49-F238E27FC236}">
                <a16:creationId xmlns:a16="http://schemas.microsoft.com/office/drawing/2014/main" id="{20360724-681D-4072-948D-6FAA7544C8DB}"/>
              </a:ext>
            </a:extLst>
          </p:cNvPr>
          <p:cNvSpPr>
            <a:spLocks noGrp="1"/>
          </p:cNvSpPr>
          <p:nvPr>
            <p:ph idx="1"/>
          </p:nvPr>
        </p:nvSpPr>
        <p:spPr/>
        <p:txBody>
          <a:bodyPr/>
          <a:lstStyle/>
          <a:p>
            <a:r>
              <a:rPr lang="zh-CN" altLang="en-US" b="1" dirty="0"/>
              <a:t>周期行业</a:t>
            </a:r>
            <a:endParaRPr lang="en-US" altLang="zh-CN" b="1" dirty="0"/>
          </a:p>
          <a:p>
            <a:pPr lvl="1"/>
            <a:r>
              <a:rPr lang="zh-CN" altLang="en-US" dirty="0"/>
              <a:t>行业供需波动和季节性强，难以准确把握，</a:t>
            </a:r>
            <a:endParaRPr lang="en-US" altLang="zh-CN" dirty="0"/>
          </a:p>
          <a:p>
            <a:pPr lvl="1"/>
            <a:r>
              <a:rPr lang="zh-CN" altLang="en-US" dirty="0"/>
              <a:t>容易受到经济波动和供需波动等影响，极易引起财务危机而破产</a:t>
            </a:r>
            <a:endParaRPr lang="en-US" altLang="zh-CN" dirty="0"/>
          </a:p>
          <a:p>
            <a:pPr lvl="1"/>
            <a:r>
              <a:rPr lang="zh-CN" altLang="en-US" dirty="0"/>
              <a:t>本行业主要关注能否保持持续的销售业务</a:t>
            </a:r>
            <a:endParaRPr lang="en-US" altLang="zh-CN" dirty="0"/>
          </a:p>
          <a:p>
            <a:pPr lvl="2"/>
            <a:r>
              <a:rPr lang="zh-CN" altLang="en-US" dirty="0"/>
              <a:t>多样化经营：为环节周期波动，会采取多元化经营</a:t>
            </a:r>
            <a:endParaRPr lang="en-US" altLang="zh-CN" dirty="0"/>
          </a:p>
          <a:p>
            <a:pPr lvl="2"/>
            <a:r>
              <a:rPr lang="zh-CN" altLang="en-US" dirty="0"/>
              <a:t>行业竞争激烈：通常为服务和消费行业</a:t>
            </a:r>
            <a:endParaRPr lang="en-US" altLang="zh-CN" dirty="0"/>
          </a:p>
          <a:p>
            <a:pPr lvl="2"/>
            <a:endParaRPr lang="en-US" altLang="zh-CN" dirty="0"/>
          </a:p>
          <a:p>
            <a:pPr lvl="1"/>
            <a:r>
              <a:rPr lang="zh-CN" altLang="en-US" b="1" dirty="0"/>
              <a:t>风险</a:t>
            </a:r>
            <a:r>
              <a:rPr lang="zh-CN" altLang="en-US" dirty="0"/>
              <a:t>：个体耐受力</a:t>
            </a:r>
            <a:endParaRPr lang="en-US" altLang="zh-CN" dirty="0"/>
          </a:p>
          <a:p>
            <a:pPr lvl="2"/>
            <a:r>
              <a:rPr lang="zh-CN" altLang="en-US" dirty="0"/>
              <a:t>行业整体销售的波动情况</a:t>
            </a:r>
            <a:endParaRPr lang="en-US" altLang="zh-CN" dirty="0"/>
          </a:p>
          <a:p>
            <a:pPr lvl="2"/>
            <a:r>
              <a:rPr lang="zh-CN" altLang="en-US" dirty="0"/>
              <a:t>竞争者和公司的波动和可承受力</a:t>
            </a:r>
            <a:endParaRPr lang="en-US" altLang="zh-CN" dirty="0"/>
          </a:p>
        </p:txBody>
      </p:sp>
    </p:spTree>
    <p:extLst>
      <p:ext uri="{BB962C8B-B14F-4D97-AF65-F5344CB8AC3E}">
        <p14:creationId xmlns:p14="http://schemas.microsoft.com/office/powerpoint/2010/main" val="1633843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D2EEC2F-D838-406E-A268-FE5CD00193C0}"/>
              </a:ext>
            </a:extLst>
          </p:cNvPr>
          <p:cNvSpPr>
            <a:spLocks noGrp="1"/>
          </p:cNvSpPr>
          <p:nvPr>
            <p:ph type="title"/>
          </p:nvPr>
        </p:nvSpPr>
        <p:spPr/>
        <p:txBody>
          <a:bodyPr/>
          <a:lstStyle/>
          <a:p>
            <a:r>
              <a:rPr lang="zh-CN" altLang="en-US" dirty="0"/>
              <a:t>行业的环境</a:t>
            </a:r>
          </a:p>
        </p:txBody>
      </p:sp>
      <p:sp>
        <p:nvSpPr>
          <p:cNvPr id="6" name="文本占位符 5">
            <a:extLst>
              <a:ext uri="{FF2B5EF4-FFF2-40B4-BE49-F238E27FC236}">
                <a16:creationId xmlns:a16="http://schemas.microsoft.com/office/drawing/2014/main" id="{7E4E565E-3A0A-4B9E-ABED-5E93EB6E8E86}"/>
              </a:ext>
            </a:extLst>
          </p:cNvPr>
          <p:cNvSpPr>
            <a:spLocks noGrp="1"/>
          </p:cNvSpPr>
          <p:nvPr>
            <p:ph idx="1"/>
          </p:nvPr>
        </p:nvSpPr>
        <p:spPr/>
        <p:txBody>
          <a:bodyPr>
            <a:normAutofit fontScale="92500" lnSpcReduction="20000"/>
          </a:bodyPr>
          <a:lstStyle/>
          <a:p>
            <a:r>
              <a:rPr lang="zh-CN" altLang="zh-CN" b="1" dirty="0"/>
              <a:t>区域经济</a:t>
            </a:r>
            <a:r>
              <a:rPr lang="zh-CN" altLang="en-US" dirty="0"/>
              <a:t>：特定行业的主体的经营发展，会显著地受限于区域经济情况</a:t>
            </a:r>
          </a:p>
          <a:p>
            <a:pPr lvl="1"/>
            <a:r>
              <a:rPr lang="zh-CN" altLang="en-US" dirty="0"/>
              <a:t>劳动力供给、</a:t>
            </a:r>
            <a:r>
              <a:rPr lang="zh-CN" altLang="zh-CN" dirty="0"/>
              <a:t>生产原料辅料</a:t>
            </a:r>
            <a:endParaRPr lang="en-US" altLang="zh-CN" dirty="0"/>
          </a:p>
          <a:p>
            <a:pPr lvl="1"/>
            <a:r>
              <a:rPr lang="zh-CN" altLang="en-US" dirty="0"/>
              <a:t>产业配套、销售半径，及运输和传输</a:t>
            </a:r>
            <a:r>
              <a:rPr lang="zh-CN" altLang="zh-CN" dirty="0"/>
              <a:t>成本</a:t>
            </a:r>
            <a:r>
              <a:rPr lang="zh-CN" altLang="en-US" dirty="0"/>
              <a:t>等</a:t>
            </a:r>
            <a:endParaRPr lang="en-US" altLang="zh-CN" dirty="0"/>
          </a:p>
          <a:p>
            <a:pPr lvl="1"/>
            <a:r>
              <a:rPr lang="zh-CN" altLang="en-US" dirty="0"/>
              <a:t>特定行业对区域的依赖性</a:t>
            </a:r>
            <a:endParaRPr lang="en-US" altLang="zh-CN" dirty="0"/>
          </a:p>
          <a:p>
            <a:pPr lvl="2"/>
            <a:r>
              <a:rPr lang="zh-CN" altLang="en-US" dirty="0"/>
              <a:t>资本密集、人力密集型行业，如车船制造、水泥生产、纺织加工等；依赖自然资源的行业，如风水电、种植业等</a:t>
            </a:r>
          </a:p>
          <a:p>
            <a:r>
              <a:rPr lang="zh-CN" altLang="zh-CN" b="1" dirty="0"/>
              <a:t>产业政策</a:t>
            </a:r>
            <a:r>
              <a:rPr lang="zh-CN" altLang="en-US" dirty="0"/>
              <a:t>：对行业</a:t>
            </a:r>
            <a:r>
              <a:rPr lang="zh-CN" altLang="zh-CN" dirty="0"/>
              <a:t>的经营和发展有重大影响</a:t>
            </a:r>
            <a:endParaRPr lang="en-US" altLang="zh-CN" dirty="0"/>
          </a:p>
          <a:p>
            <a:pPr lvl="1"/>
            <a:r>
              <a:rPr lang="zh-CN" altLang="zh-CN" dirty="0"/>
              <a:t>所处行业是否能获得相关国家政策支持</a:t>
            </a:r>
            <a:endParaRPr lang="en-US" altLang="zh-CN" dirty="0"/>
          </a:p>
          <a:p>
            <a:pPr lvl="1"/>
            <a:r>
              <a:rPr lang="zh-CN" altLang="zh-CN" dirty="0"/>
              <a:t>政策和政策变化趋势，对行业内企业的影响</a:t>
            </a:r>
            <a:endParaRPr lang="en-US" altLang="zh-CN" dirty="0"/>
          </a:p>
          <a:p>
            <a:pPr lvl="1"/>
            <a:r>
              <a:rPr lang="zh-CN" altLang="zh-CN" dirty="0"/>
              <a:t>产业政策对所处行业和企业的经营、盈利、发展的影响及其程度</a:t>
            </a:r>
            <a:endParaRPr lang="en-US" altLang="zh-CN" dirty="0"/>
          </a:p>
          <a:p>
            <a:r>
              <a:rPr lang="zh-CN" altLang="zh-CN" b="1" dirty="0"/>
              <a:t>行业供求</a:t>
            </a:r>
            <a:r>
              <a:rPr lang="zh-CN" altLang="en-US" dirty="0"/>
              <a:t>：决定了市场整体规模和盈利状况</a:t>
            </a:r>
            <a:endParaRPr lang="en-US" altLang="zh-CN" dirty="0"/>
          </a:p>
          <a:p>
            <a:pPr lvl="1"/>
            <a:r>
              <a:rPr lang="zh-CN" altLang="zh-CN" dirty="0"/>
              <a:t>价格是决定盈利能力的核心因素，而行业供求状况是决定产品价格的基础</a:t>
            </a:r>
            <a:endParaRPr lang="en-US" altLang="zh-CN" dirty="0"/>
          </a:p>
          <a:p>
            <a:pPr lvl="1"/>
            <a:r>
              <a:rPr lang="zh-CN" altLang="en-US" dirty="0"/>
              <a:t>客户</a:t>
            </a:r>
            <a:r>
              <a:rPr lang="zh-CN" altLang="zh-CN" dirty="0"/>
              <a:t>习惯</a:t>
            </a:r>
            <a:r>
              <a:rPr lang="zh-CN" altLang="en-US" dirty="0"/>
              <a:t>、</a:t>
            </a:r>
            <a:r>
              <a:rPr lang="zh-CN" altLang="zh-CN" dirty="0"/>
              <a:t>行业周期会影响未来需求量</a:t>
            </a:r>
            <a:r>
              <a:rPr lang="zh-CN" altLang="en-US" dirty="0"/>
              <a:t>；</a:t>
            </a:r>
            <a:r>
              <a:rPr lang="zh-CN" altLang="zh-CN" dirty="0"/>
              <a:t>行业项目投产情况会影响未来产品供给量</a:t>
            </a:r>
            <a:endParaRPr lang="en-US" altLang="zh-CN" dirty="0"/>
          </a:p>
          <a:p>
            <a:r>
              <a:rPr lang="zh-CN" altLang="zh-CN" b="1" dirty="0"/>
              <a:t>产业链地位</a:t>
            </a:r>
            <a:r>
              <a:rPr lang="zh-CN" altLang="en-US" dirty="0"/>
              <a:t>：</a:t>
            </a:r>
            <a:r>
              <a:rPr lang="zh-CN" altLang="zh-CN" dirty="0"/>
              <a:t>决定</a:t>
            </a:r>
            <a:r>
              <a:rPr lang="zh-CN" altLang="en-US" dirty="0"/>
              <a:t>了</a:t>
            </a:r>
            <a:r>
              <a:rPr lang="zh-CN" altLang="zh-CN" dirty="0"/>
              <a:t>行业盈利能力和现金获取能力</a:t>
            </a:r>
            <a:endParaRPr lang="en-US" altLang="zh-CN" dirty="0"/>
          </a:p>
          <a:p>
            <a:pPr lvl="1"/>
            <a:r>
              <a:rPr lang="zh-CN" altLang="en-US" dirty="0"/>
              <a:t>竞争依赖：</a:t>
            </a:r>
            <a:r>
              <a:rPr lang="zh-CN" altLang="zh-CN" dirty="0"/>
              <a:t>上下游行业竞争</a:t>
            </a:r>
            <a:r>
              <a:rPr lang="zh-CN" altLang="en-US" dirty="0"/>
              <a:t>，对</a:t>
            </a:r>
            <a:r>
              <a:rPr lang="zh-CN" altLang="zh-CN" dirty="0"/>
              <a:t>上游资源技术、下游渠道的依赖度</a:t>
            </a:r>
            <a:r>
              <a:rPr lang="zh-CN" altLang="en-US" dirty="0"/>
              <a:t>，</a:t>
            </a:r>
            <a:r>
              <a:rPr lang="zh-CN" altLang="zh-CN" dirty="0"/>
              <a:t>上下游行业拓展的难度</a:t>
            </a:r>
            <a:endParaRPr lang="en-US" altLang="zh-CN" dirty="0"/>
          </a:p>
          <a:p>
            <a:pPr lvl="1"/>
            <a:r>
              <a:rPr lang="zh-CN" altLang="en-US" dirty="0"/>
              <a:t>议价能力：</a:t>
            </a:r>
            <a:r>
              <a:rPr lang="zh-CN" altLang="zh-CN" dirty="0"/>
              <a:t>核心地位的行业议价能力</a:t>
            </a:r>
            <a:r>
              <a:rPr lang="zh-CN" altLang="en-US" dirty="0"/>
              <a:t>强</a:t>
            </a:r>
            <a:r>
              <a:rPr lang="zh-CN" altLang="zh-CN" dirty="0"/>
              <a:t>，</a:t>
            </a:r>
            <a:r>
              <a:rPr lang="zh-CN" altLang="en-US" dirty="0"/>
              <a:t>并</a:t>
            </a:r>
            <a:r>
              <a:rPr lang="zh-CN" altLang="zh-CN" dirty="0"/>
              <a:t>占用上下游资金</a:t>
            </a:r>
            <a:endParaRPr lang="en-US" altLang="zh-CN" dirty="0"/>
          </a:p>
        </p:txBody>
      </p:sp>
    </p:spTree>
    <p:extLst>
      <p:ext uri="{BB962C8B-B14F-4D97-AF65-F5344CB8AC3E}">
        <p14:creationId xmlns:p14="http://schemas.microsoft.com/office/powerpoint/2010/main" val="3032604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9FA8AF-1D58-4159-B887-9C9BDAA883E1}"/>
              </a:ext>
            </a:extLst>
          </p:cNvPr>
          <p:cNvSpPr>
            <a:spLocks noGrp="1"/>
          </p:cNvSpPr>
          <p:nvPr>
            <p:ph type="title"/>
          </p:nvPr>
        </p:nvSpPr>
        <p:spPr/>
        <p:txBody>
          <a:bodyPr/>
          <a:lstStyle/>
          <a:p>
            <a:r>
              <a:rPr lang="zh-CN" altLang="en-US" dirty="0"/>
              <a:t>行业的周期</a:t>
            </a:r>
          </a:p>
        </p:txBody>
      </p:sp>
      <p:sp>
        <p:nvSpPr>
          <p:cNvPr id="3" name="内容占位符 2">
            <a:extLst>
              <a:ext uri="{FF2B5EF4-FFF2-40B4-BE49-F238E27FC236}">
                <a16:creationId xmlns:a16="http://schemas.microsoft.com/office/drawing/2014/main" id="{20360724-681D-4072-948D-6FAA7544C8DB}"/>
              </a:ext>
            </a:extLst>
          </p:cNvPr>
          <p:cNvSpPr>
            <a:spLocks noGrp="1"/>
          </p:cNvSpPr>
          <p:nvPr>
            <p:ph idx="1"/>
          </p:nvPr>
        </p:nvSpPr>
        <p:spPr/>
        <p:txBody>
          <a:bodyPr/>
          <a:lstStyle/>
          <a:p>
            <a:r>
              <a:rPr lang="zh-CN" altLang="en-US" dirty="0"/>
              <a:t>不同行业在经济周期中呈现不同的演变规律，在行业前景、经营业绩等方面，都表现出较强的规律性。需预测周期阶段、行业供需所受的影响、以及个体公司的应对。</a:t>
            </a:r>
            <a:endParaRPr lang="en-US" altLang="zh-CN" dirty="0"/>
          </a:p>
          <a:p>
            <a:r>
              <a:rPr lang="zh-CN" altLang="en-US" dirty="0"/>
              <a:t>根据经验，可按相行业周期与经济周期的相关性，分为：</a:t>
            </a:r>
          </a:p>
        </p:txBody>
      </p:sp>
      <p:grpSp>
        <p:nvGrpSpPr>
          <p:cNvPr id="4" name="îşlidê">
            <a:extLst>
              <a:ext uri="{FF2B5EF4-FFF2-40B4-BE49-F238E27FC236}">
                <a16:creationId xmlns:a16="http://schemas.microsoft.com/office/drawing/2014/main" id="{1E36E7BC-179A-463C-9EC2-2FD111D7DFD8}"/>
              </a:ext>
            </a:extLst>
          </p:cNvPr>
          <p:cNvGrpSpPr/>
          <p:nvPr/>
        </p:nvGrpSpPr>
        <p:grpSpPr>
          <a:xfrm>
            <a:off x="1173480" y="3773714"/>
            <a:ext cx="4519707" cy="5399315"/>
            <a:chOff x="676650" y="3386332"/>
            <a:chExt cx="3484350" cy="2652667"/>
          </a:xfrm>
        </p:grpSpPr>
        <p:sp>
          <p:nvSpPr>
            <p:cNvPr id="5" name="ïṣlíḑe">
              <a:extLst>
                <a:ext uri="{FF2B5EF4-FFF2-40B4-BE49-F238E27FC236}">
                  <a16:creationId xmlns:a16="http://schemas.microsoft.com/office/drawing/2014/main" id="{0404B3D0-A809-4CDA-96B1-653239E84EB3}"/>
                </a:ext>
              </a:extLst>
            </p:cNvPr>
            <p:cNvSpPr/>
            <p:nvPr/>
          </p:nvSpPr>
          <p:spPr>
            <a:xfrm>
              <a:off x="676652" y="3608092"/>
              <a:ext cx="3484348" cy="2430907"/>
            </a:xfrm>
            <a:prstGeom prst="roundRect">
              <a:avLst>
                <a:gd name="adj" fmla="val 2415"/>
              </a:avLst>
            </a:prstGeom>
            <a:gradFill flip="none" rotWithShape="1">
              <a:gsLst>
                <a:gs pos="0">
                  <a:schemeClr val="accent1">
                    <a:alpha val="23000"/>
                  </a:schemeClr>
                </a:gs>
                <a:gs pos="100000">
                  <a:schemeClr val="accent1">
                    <a:alpha val="0"/>
                  </a:schemeClr>
                </a:gs>
              </a:gsLst>
              <a:lin ang="5400000" scaled="1"/>
              <a:tileRect/>
            </a:gra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chorCtr="1">
              <a:normAutofit/>
            </a:bodyPr>
            <a:lstStyle/>
            <a:p>
              <a:pPr algn="ctr">
                <a:lnSpc>
                  <a:spcPct val="130000"/>
                </a:lnSpc>
                <a:defRPr/>
              </a:pPr>
              <a:endParaRPr lang="zh-CN" altLang="en-US" sz="2400" dirty="0">
                <a:solidFill>
                  <a:schemeClr val="tx1">
                    <a:lumMod val="75000"/>
                    <a:lumOff val="25000"/>
                  </a:schemeClr>
                </a:solidFill>
              </a:endParaRPr>
            </a:p>
          </p:txBody>
        </p:sp>
        <p:sp>
          <p:nvSpPr>
            <p:cNvPr id="6" name="ísḻïḍe">
              <a:extLst>
                <a:ext uri="{FF2B5EF4-FFF2-40B4-BE49-F238E27FC236}">
                  <a16:creationId xmlns:a16="http://schemas.microsoft.com/office/drawing/2014/main" id="{9F2E1488-9DA1-4514-AF19-92ADE839BCCF}"/>
                </a:ext>
              </a:extLst>
            </p:cNvPr>
            <p:cNvSpPr/>
            <p:nvPr/>
          </p:nvSpPr>
          <p:spPr>
            <a:xfrm>
              <a:off x="676650" y="3386332"/>
              <a:ext cx="3484350" cy="443520"/>
            </a:xfrm>
            <a:prstGeom prst="roundRect">
              <a:avLst>
                <a:gd name="adj" fmla="val 50000"/>
              </a:avLst>
            </a:prstGeom>
            <a:solidFill>
              <a:schemeClr val="accent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r>
                <a:rPr lang="zh-CN" altLang="en-US" sz="2400" b="1" dirty="0">
                  <a:solidFill>
                    <a:schemeClr val="bg1"/>
                  </a:solidFill>
                </a:rPr>
                <a:t>与经济周期同步的行业</a:t>
              </a:r>
            </a:p>
          </p:txBody>
        </p:sp>
        <p:sp>
          <p:nvSpPr>
            <p:cNvPr id="7" name="iśḷïḑè">
              <a:extLst>
                <a:ext uri="{FF2B5EF4-FFF2-40B4-BE49-F238E27FC236}">
                  <a16:creationId xmlns:a16="http://schemas.microsoft.com/office/drawing/2014/main" id="{AFD0B5F1-9F13-4DC3-A8F8-020B3B51F837}"/>
                </a:ext>
              </a:extLst>
            </p:cNvPr>
            <p:cNvSpPr/>
            <p:nvPr/>
          </p:nvSpPr>
          <p:spPr>
            <a:xfrm>
              <a:off x="676650" y="3888618"/>
              <a:ext cx="3484348" cy="2150380"/>
            </a:xfrm>
            <a:prstGeom prst="rect">
              <a:avLst/>
            </a:prstGeom>
            <a:ln>
              <a:noFill/>
            </a:ln>
          </p:spPr>
          <p:txBody>
            <a:bodyPr wrap="square">
              <a:noAutofit/>
            </a:bodyPr>
            <a:lstStyle/>
            <a:p>
              <a:pPr algn="ctr">
                <a:lnSpc>
                  <a:spcPct val="130000"/>
                </a:lnSpc>
                <a:defRPr/>
              </a:pPr>
              <a:r>
                <a:rPr lang="zh-CN" altLang="en-US" sz="2400" dirty="0">
                  <a:solidFill>
                    <a:schemeClr val="tx1">
                      <a:lumMod val="75000"/>
                      <a:lumOff val="25000"/>
                    </a:schemeClr>
                  </a:solidFill>
                </a:rPr>
                <a:t>汽车制造</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休闲旅游</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酒店公寓</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建筑材料</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房地产</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零售餐饮</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纺织服装</a:t>
              </a:r>
              <a:endParaRPr lang="en-US" altLang="zh-CN" sz="2400" dirty="0">
                <a:solidFill>
                  <a:schemeClr val="tx1">
                    <a:lumMod val="75000"/>
                    <a:lumOff val="25000"/>
                  </a:schemeClr>
                </a:solidFill>
              </a:endParaRPr>
            </a:p>
          </p:txBody>
        </p:sp>
      </p:grpSp>
      <p:grpSp>
        <p:nvGrpSpPr>
          <p:cNvPr id="8" name="ï$ľïḍè">
            <a:extLst>
              <a:ext uri="{FF2B5EF4-FFF2-40B4-BE49-F238E27FC236}">
                <a16:creationId xmlns:a16="http://schemas.microsoft.com/office/drawing/2014/main" id="{208484D3-8F19-4C7A-B074-0CC001598785}"/>
              </a:ext>
            </a:extLst>
          </p:cNvPr>
          <p:cNvGrpSpPr/>
          <p:nvPr/>
        </p:nvGrpSpPr>
        <p:grpSpPr>
          <a:xfrm>
            <a:off x="6388846" y="3773714"/>
            <a:ext cx="4519707" cy="5399315"/>
            <a:chOff x="676650" y="3386332"/>
            <a:chExt cx="3484350" cy="2652667"/>
          </a:xfrm>
        </p:grpSpPr>
        <p:sp>
          <p:nvSpPr>
            <p:cNvPr id="9" name="iṧḷïḍè">
              <a:extLst>
                <a:ext uri="{FF2B5EF4-FFF2-40B4-BE49-F238E27FC236}">
                  <a16:creationId xmlns:a16="http://schemas.microsoft.com/office/drawing/2014/main" id="{68BE90D6-8E1F-44CD-B082-C4896DBA8196}"/>
                </a:ext>
              </a:extLst>
            </p:cNvPr>
            <p:cNvSpPr/>
            <p:nvPr/>
          </p:nvSpPr>
          <p:spPr>
            <a:xfrm>
              <a:off x="676652" y="3608092"/>
              <a:ext cx="3484348" cy="2430907"/>
            </a:xfrm>
            <a:prstGeom prst="roundRect">
              <a:avLst>
                <a:gd name="adj" fmla="val 2415"/>
              </a:avLst>
            </a:prstGeom>
            <a:gradFill flip="none" rotWithShape="1">
              <a:gsLst>
                <a:gs pos="0">
                  <a:schemeClr val="accent3">
                    <a:alpha val="23000"/>
                  </a:schemeClr>
                </a:gs>
                <a:gs pos="100000">
                  <a:schemeClr val="accent3">
                    <a:alpha val="0"/>
                  </a:schemeClr>
                </a:gs>
              </a:gsLst>
              <a:lin ang="5400000" scaled="1"/>
              <a:tileRect/>
            </a:gra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chorCtr="1">
              <a:normAutofit/>
            </a:bodyPr>
            <a:lstStyle/>
            <a:p>
              <a:pPr marL="171450" indent="-171450" algn="ctr" defTabSz="914400">
                <a:lnSpc>
                  <a:spcPct val="130000"/>
                </a:lnSpc>
                <a:buFont typeface="Arial" panose="020B0604020202020204" pitchFamily="34" charset="0"/>
                <a:buChar char="•"/>
              </a:pPr>
              <a:endParaRPr lang="zh-CN" altLang="en-US" sz="2400" dirty="0">
                <a:solidFill>
                  <a:schemeClr val="dk1">
                    <a:lumMod val="100000"/>
                  </a:schemeClr>
                </a:solidFill>
              </a:endParaRPr>
            </a:p>
          </p:txBody>
        </p:sp>
        <p:sp>
          <p:nvSpPr>
            <p:cNvPr id="10" name="íṣliḓe">
              <a:extLst>
                <a:ext uri="{FF2B5EF4-FFF2-40B4-BE49-F238E27FC236}">
                  <a16:creationId xmlns:a16="http://schemas.microsoft.com/office/drawing/2014/main" id="{5B3C0C47-50A6-4FA2-A050-1181F6C82037}"/>
                </a:ext>
              </a:extLst>
            </p:cNvPr>
            <p:cNvSpPr/>
            <p:nvPr/>
          </p:nvSpPr>
          <p:spPr>
            <a:xfrm>
              <a:off x="676650" y="3386332"/>
              <a:ext cx="3484350" cy="443520"/>
            </a:xfrm>
            <a:prstGeom prst="roundRect">
              <a:avLst>
                <a:gd name="adj" fmla="val 50000"/>
              </a:avLst>
            </a:prstGeom>
            <a:solidFill>
              <a:schemeClr val="accent3"/>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r>
                <a:rPr lang="zh-CN" altLang="en-US" sz="2400" b="1" dirty="0">
                  <a:solidFill>
                    <a:schemeClr val="bg1"/>
                  </a:solidFill>
                </a:rPr>
                <a:t>与经济周期弱相关的行业</a:t>
              </a:r>
            </a:p>
          </p:txBody>
        </p:sp>
        <p:sp>
          <p:nvSpPr>
            <p:cNvPr id="11" name="íSḷïdè">
              <a:extLst>
                <a:ext uri="{FF2B5EF4-FFF2-40B4-BE49-F238E27FC236}">
                  <a16:creationId xmlns:a16="http://schemas.microsoft.com/office/drawing/2014/main" id="{68F48B7C-1370-4EBB-8E34-D26300D86B63}"/>
                </a:ext>
              </a:extLst>
            </p:cNvPr>
            <p:cNvSpPr/>
            <p:nvPr/>
          </p:nvSpPr>
          <p:spPr>
            <a:xfrm>
              <a:off x="676650" y="3888618"/>
              <a:ext cx="3484348" cy="2150380"/>
            </a:xfrm>
            <a:prstGeom prst="rect">
              <a:avLst/>
            </a:prstGeom>
            <a:ln>
              <a:noFill/>
            </a:ln>
          </p:spPr>
          <p:txBody>
            <a:bodyPr wrap="square">
              <a:noAutofit/>
            </a:bodyPr>
            <a:lstStyle/>
            <a:p>
              <a:pPr algn="ctr">
                <a:lnSpc>
                  <a:spcPct val="130000"/>
                </a:lnSpc>
                <a:defRPr/>
              </a:pPr>
              <a:r>
                <a:rPr lang="zh-CN" altLang="en-US" sz="2400" dirty="0">
                  <a:solidFill>
                    <a:schemeClr val="tx1">
                      <a:lumMod val="75000"/>
                      <a:lumOff val="25000"/>
                    </a:schemeClr>
                  </a:solidFill>
                </a:rPr>
                <a:t>医药保健</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食品、饮料和烟草</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烟酒零售</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快速消费品</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公用事业</a:t>
              </a:r>
              <a:endParaRPr lang="en-US" altLang="zh-CN" sz="2400" dirty="0">
                <a:solidFill>
                  <a:schemeClr val="tx1">
                    <a:lumMod val="75000"/>
                    <a:lumOff val="25000"/>
                  </a:schemeClr>
                </a:solidFill>
              </a:endParaRPr>
            </a:p>
          </p:txBody>
        </p:sp>
      </p:grpSp>
      <p:grpSp>
        <p:nvGrpSpPr>
          <p:cNvPr id="12" name="íślíḍê">
            <a:extLst>
              <a:ext uri="{FF2B5EF4-FFF2-40B4-BE49-F238E27FC236}">
                <a16:creationId xmlns:a16="http://schemas.microsoft.com/office/drawing/2014/main" id="{62403D9A-CA60-4A95-B1A6-820528981BF3}"/>
              </a:ext>
            </a:extLst>
          </p:cNvPr>
          <p:cNvGrpSpPr/>
          <p:nvPr/>
        </p:nvGrpSpPr>
        <p:grpSpPr>
          <a:xfrm>
            <a:off x="11604213" y="3773714"/>
            <a:ext cx="4519707" cy="5399315"/>
            <a:chOff x="676650" y="3386332"/>
            <a:chExt cx="3484350" cy="2652667"/>
          </a:xfrm>
        </p:grpSpPr>
        <p:sp>
          <p:nvSpPr>
            <p:cNvPr id="13" name="íṣḻíḋé">
              <a:extLst>
                <a:ext uri="{FF2B5EF4-FFF2-40B4-BE49-F238E27FC236}">
                  <a16:creationId xmlns:a16="http://schemas.microsoft.com/office/drawing/2014/main" id="{32432352-B419-4159-A4A1-71210534B402}"/>
                </a:ext>
              </a:extLst>
            </p:cNvPr>
            <p:cNvSpPr/>
            <p:nvPr/>
          </p:nvSpPr>
          <p:spPr>
            <a:xfrm>
              <a:off x="676652" y="3608092"/>
              <a:ext cx="3484348" cy="2430907"/>
            </a:xfrm>
            <a:prstGeom prst="roundRect">
              <a:avLst>
                <a:gd name="adj" fmla="val 2415"/>
              </a:avLst>
            </a:prstGeom>
            <a:gradFill flip="none" rotWithShape="1">
              <a:gsLst>
                <a:gs pos="0">
                  <a:schemeClr val="accent1">
                    <a:alpha val="23000"/>
                  </a:schemeClr>
                </a:gs>
                <a:gs pos="100000">
                  <a:schemeClr val="accent1">
                    <a:alpha val="0"/>
                  </a:schemeClr>
                </a:gs>
              </a:gsLst>
              <a:lin ang="5400000" scaled="1"/>
              <a:tileRect/>
            </a:gra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chorCtr="1">
              <a:normAutofit/>
            </a:bodyPr>
            <a:lstStyle/>
            <a:p>
              <a:pPr algn="ctr">
                <a:lnSpc>
                  <a:spcPct val="130000"/>
                </a:lnSpc>
                <a:defRPr/>
              </a:pPr>
              <a:endParaRPr lang="zh-CN" altLang="en-US" sz="2400" dirty="0">
                <a:solidFill>
                  <a:schemeClr val="tx1">
                    <a:lumMod val="75000"/>
                    <a:lumOff val="25000"/>
                  </a:schemeClr>
                </a:solidFill>
              </a:endParaRPr>
            </a:p>
          </p:txBody>
        </p:sp>
        <p:sp>
          <p:nvSpPr>
            <p:cNvPr id="14" name="îśḻidè">
              <a:extLst>
                <a:ext uri="{FF2B5EF4-FFF2-40B4-BE49-F238E27FC236}">
                  <a16:creationId xmlns:a16="http://schemas.microsoft.com/office/drawing/2014/main" id="{A1B93CD5-E099-40E0-A74D-C406332DEE62}"/>
                </a:ext>
              </a:extLst>
            </p:cNvPr>
            <p:cNvSpPr/>
            <p:nvPr/>
          </p:nvSpPr>
          <p:spPr>
            <a:xfrm>
              <a:off x="676650" y="3386332"/>
              <a:ext cx="3484350" cy="443520"/>
            </a:xfrm>
            <a:prstGeom prst="roundRect">
              <a:avLst>
                <a:gd name="adj" fmla="val 50000"/>
              </a:avLst>
            </a:prstGeom>
            <a:solidFill>
              <a:schemeClr val="accent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r>
                <a:rPr lang="zh-CN" altLang="en-US" sz="2400" b="1" dirty="0">
                  <a:solidFill>
                    <a:schemeClr val="bg1"/>
                  </a:solidFill>
                </a:rPr>
                <a:t>落后于经济周期的行业</a:t>
              </a:r>
            </a:p>
          </p:txBody>
        </p:sp>
        <p:sp>
          <p:nvSpPr>
            <p:cNvPr id="15" name="í$ļîḋe">
              <a:extLst>
                <a:ext uri="{FF2B5EF4-FFF2-40B4-BE49-F238E27FC236}">
                  <a16:creationId xmlns:a16="http://schemas.microsoft.com/office/drawing/2014/main" id="{C30D5713-5936-410F-90C5-0C9CFE76DD53}"/>
                </a:ext>
              </a:extLst>
            </p:cNvPr>
            <p:cNvSpPr/>
            <p:nvPr/>
          </p:nvSpPr>
          <p:spPr>
            <a:xfrm>
              <a:off x="676650" y="3888618"/>
              <a:ext cx="3484348" cy="2150380"/>
            </a:xfrm>
            <a:prstGeom prst="rect">
              <a:avLst/>
            </a:prstGeom>
            <a:ln>
              <a:noFill/>
            </a:ln>
          </p:spPr>
          <p:txBody>
            <a:bodyPr wrap="square">
              <a:noAutofit/>
            </a:bodyPr>
            <a:lstStyle/>
            <a:p>
              <a:pPr algn="ctr">
                <a:lnSpc>
                  <a:spcPct val="130000"/>
                </a:lnSpc>
                <a:defRPr/>
              </a:pPr>
              <a:r>
                <a:rPr lang="zh-CN" altLang="en-US" sz="2400" dirty="0">
                  <a:solidFill>
                    <a:schemeClr val="tx1">
                      <a:lumMod val="75000"/>
                      <a:lumOff val="25000"/>
                    </a:schemeClr>
                  </a:solidFill>
                </a:rPr>
                <a:t>金属采矿</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能源化工</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电信</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资本货物</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航空航运</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广告传媒、出版印刷</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科技</a:t>
              </a:r>
              <a:endParaRPr lang="en-US" altLang="zh-CN" sz="2400" dirty="0">
                <a:solidFill>
                  <a:schemeClr val="tx1">
                    <a:lumMod val="75000"/>
                    <a:lumOff val="25000"/>
                  </a:schemeClr>
                </a:solidFill>
              </a:endParaRPr>
            </a:p>
            <a:p>
              <a:pPr algn="ctr">
                <a:lnSpc>
                  <a:spcPct val="130000"/>
                </a:lnSpc>
                <a:defRPr/>
              </a:pPr>
              <a:endParaRPr lang="en-US" altLang="zh-CN" sz="2400" dirty="0">
                <a:solidFill>
                  <a:schemeClr val="tx1">
                    <a:lumMod val="75000"/>
                    <a:lumOff val="25000"/>
                  </a:schemeClr>
                </a:solidFill>
              </a:endParaRPr>
            </a:p>
          </p:txBody>
        </p:sp>
      </p:grpSp>
    </p:spTree>
    <p:extLst>
      <p:ext uri="{BB962C8B-B14F-4D97-AF65-F5344CB8AC3E}">
        <p14:creationId xmlns:p14="http://schemas.microsoft.com/office/powerpoint/2010/main" val="2796073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DD100D-D7EE-4337-BBB4-D0F4795BAC77}"/>
              </a:ext>
            </a:extLst>
          </p:cNvPr>
          <p:cNvSpPr>
            <a:spLocks noGrp="1"/>
          </p:cNvSpPr>
          <p:nvPr>
            <p:ph type="title"/>
          </p:nvPr>
        </p:nvSpPr>
        <p:spPr/>
        <p:txBody>
          <a:bodyPr/>
          <a:lstStyle/>
          <a:p>
            <a:r>
              <a:rPr lang="zh-CN" altLang="en-US" dirty="0"/>
              <a:t>行业的周期</a:t>
            </a:r>
          </a:p>
        </p:txBody>
      </p:sp>
      <p:sp>
        <p:nvSpPr>
          <p:cNvPr id="3" name="内容占位符 2">
            <a:extLst>
              <a:ext uri="{FF2B5EF4-FFF2-40B4-BE49-F238E27FC236}">
                <a16:creationId xmlns:a16="http://schemas.microsoft.com/office/drawing/2014/main" id="{0FA3EAAB-1839-4B75-9695-165644737988}"/>
              </a:ext>
            </a:extLst>
          </p:cNvPr>
          <p:cNvSpPr>
            <a:spLocks noGrp="1"/>
          </p:cNvSpPr>
          <p:nvPr>
            <p:ph idx="1"/>
          </p:nvPr>
        </p:nvSpPr>
        <p:spPr/>
        <p:txBody>
          <a:bodyPr/>
          <a:lstStyle/>
          <a:p>
            <a:r>
              <a:rPr lang="zh-CN" altLang="en-US" b="1" dirty="0"/>
              <a:t>经营周期</a:t>
            </a:r>
            <a:endParaRPr lang="en-US" altLang="zh-CN" b="1" dirty="0"/>
          </a:p>
          <a:p>
            <a:pPr lvl="1"/>
            <a:r>
              <a:rPr lang="zh-CN" altLang="en-US" dirty="0"/>
              <a:t>随着科技进步，周期的循环更加频繁和不稳定，使用历史经验存在风险</a:t>
            </a:r>
            <a:endParaRPr lang="en-US" altLang="zh-CN" dirty="0"/>
          </a:p>
          <a:p>
            <a:pPr lvl="1"/>
            <a:r>
              <a:rPr lang="zh-CN" altLang="en-US" dirty="0"/>
              <a:t>公司越成长，所需面临的周期越多样，管理能力的应变极度重要</a:t>
            </a:r>
            <a:endParaRPr lang="en-US" altLang="zh-CN" dirty="0"/>
          </a:p>
          <a:p>
            <a:pPr lvl="1"/>
            <a:r>
              <a:rPr lang="zh-CN" altLang="en-US" dirty="0"/>
              <a:t>经营不善的公司业绩波动要远远大于行业平均</a:t>
            </a:r>
            <a:endParaRPr lang="en-US" altLang="zh-CN" dirty="0"/>
          </a:p>
          <a:p>
            <a:pPr lvl="1"/>
            <a:r>
              <a:rPr lang="zh-CN" altLang="en-US" dirty="0"/>
              <a:t>影响程度各异</a:t>
            </a:r>
            <a:endParaRPr lang="en-US" altLang="zh-CN" dirty="0"/>
          </a:p>
          <a:p>
            <a:pPr lvl="2"/>
            <a:r>
              <a:rPr lang="zh-CN" altLang="en-US" dirty="0"/>
              <a:t>需求驱动的商业周期主要影响单一行业，如个人电脑行业的产品更新周期</a:t>
            </a:r>
            <a:endParaRPr lang="en-US" altLang="zh-CN" dirty="0"/>
          </a:p>
          <a:p>
            <a:pPr lvl="2"/>
            <a:r>
              <a:rPr lang="zh-CN" altLang="en-US" dirty="0"/>
              <a:t>供给驱动的周期则出现在制造部门，表现为产能扩张或工厂倒闭。</a:t>
            </a:r>
            <a:endParaRPr lang="en-US" altLang="zh-CN" dirty="0"/>
          </a:p>
          <a:p>
            <a:endParaRPr lang="en-US" altLang="zh-CN" dirty="0"/>
          </a:p>
          <a:p>
            <a:r>
              <a:rPr lang="zh-CN" altLang="en-US" b="1" dirty="0"/>
              <a:t>季节周期</a:t>
            </a:r>
            <a:endParaRPr lang="en-US" altLang="zh-CN" b="1" dirty="0"/>
          </a:p>
          <a:p>
            <a:pPr lvl="1"/>
            <a:r>
              <a:rPr lang="zh-CN" altLang="en-US" dirty="0"/>
              <a:t>对特定行业的影响，如零售、礼品玩具、农业、电力、公用事业等</a:t>
            </a:r>
            <a:endParaRPr lang="en-US" altLang="zh-CN" dirty="0"/>
          </a:p>
          <a:p>
            <a:pPr lvl="1"/>
            <a:r>
              <a:rPr lang="zh-CN" altLang="en-US" dirty="0"/>
              <a:t>此类公司天然存在业绩波动，应当观察完整的周期</a:t>
            </a:r>
            <a:endParaRPr lang="en-US" altLang="zh-CN" dirty="0"/>
          </a:p>
          <a:p>
            <a:pPr lvl="1"/>
            <a:r>
              <a:rPr lang="zh-CN" altLang="en-US" dirty="0"/>
              <a:t>理解经营活动和财务安排的节奏，与季节周期的配合度，以此评估公司的财务绩效</a:t>
            </a:r>
          </a:p>
        </p:txBody>
      </p:sp>
    </p:spTree>
    <p:extLst>
      <p:ext uri="{BB962C8B-B14F-4D97-AF65-F5344CB8AC3E}">
        <p14:creationId xmlns:p14="http://schemas.microsoft.com/office/powerpoint/2010/main" val="1566405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F43B4F-3D78-46D6-BD50-92B72F0C5E2D}"/>
              </a:ext>
            </a:extLst>
          </p:cNvPr>
          <p:cNvSpPr>
            <a:spLocks noGrp="1"/>
          </p:cNvSpPr>
          <p:nvPr>
            <p:ph type="title"/>
          </p:nvPr>
        </p:nvSpPr>
        <p:spPr/>
        <p:txBody>
          <a:bodyPr/>
          <a:lstStyle/>
          <a:p>
            <a:r>
              <a:rPr lang="zh-CN" altLang="en-US" dirty="0"/>
              <a:t>行业的周期</a:t>
            </a:r>
          </a:p>
        </p:txBody>
      </p:sp>
      <p:sp>
        <p:nvSpPr>
          <p:cNvPr id="3" name="内容占位符 2">
            <a:extLst>
              <a:ext uri="{FF2B5EF4-FFF2-40B4-BE49-F238E27FC236}">
                <a16:creationId xmlns:a16="http://schemas.microsoft.com/office/drawing/2014/main" id="{2D2B37FE-7945-4A93-AD82-64C434727E5E}"/>
              </a:ext>
            </a:extLst>
          </p:cNvPr>
          <p:cNvSpPr>
            <a:spLocks noGrp="1"/>
          </p:cNvSpPr>
          <p:nvPr>
            <p:ph idx="1"/>
          </p:nvPr>
        </p:nvSpPr>
        <p:spPr/>
        <p:txBody>
          <a:bodyPr>
            <a:normAutofit/>
          </a:bodyPr>
          <a:lstStyle/>
          <a:p>
            <a:r>
              <a:rPr lang="zh-CN" altLang="en-US" b="1" dirty="0"/>
              <a:t>周期内波幅</a:t>
            </a:r>
            <a:endParaRPr lang="en-US" altLang="zh-CN" b="1" dirty="0"/>
          </a:p>
          <a:p>
            <a:pPr lvl="1"/>
            <a:r>
              <a:rPr lang="zh-CN" altLang="en-US" dirty="0"/>
              <a:t>行业周期的供求波动频繁且波幅较大，意味着更高风险</a:t>
            </a:r>
            <a:endParaRPr lang="en-US" altLang="zh-CN" dirty="0"/>
          </a:p>
          <a:p>
            <a:pPr lvl="1"/>
            <a:endParaRPr lang="en-US" altLang="zh-CN" dirty="0"/>
          </a:p>
          <a:p>
            <a:r>
              <a:rPr lang="zh-CN" altLang="en-US" b="1" dirty="0"/>
              <a:t>长期成长空间</a:t>
            </a:r>
            <a:endParaRPr lang="en-US" altLang="zh-CN" dirty="0"/>
          </a:p>
          <a:p>
            <a:pPr lvl="1"/>
            <a:r>
              <a:rPr lang="zh-CN" altLang="en-US" dirty="0"/>
              <a:t>合理评估不同行业的周期规律（高低和时长），为预测行业内公司的业绩提供基准</a:t>
            </a:r>
            <a:endParaRPr lang="en-US" altLang="zh-CN" dirty="0"/>
          </a:p>
          <a:p>
            <a:pPr lvl="1"/>
            <a:r>
              <a:rPr lang="zh-CN" altLang="en-US" dirty="0"/>
              <a:t>业绩波幅：对公司的销售和财务状况进行波动预测</a:t>
            </a:r>
            <a:endParaRPr lang="en-US" altLang="zh-CN" dirty="0"/>
          </a:p>
          <a:p>
            <a:pPr lvl="1"/>
            <a:r>
              <a:rPr lang="zh-CN" altLang="en-US" dirty="0"/>
              <a:t>审慎评估：公司在有利时期是否积累了足够的储备，以应付不利周期</a:t>
            </a:r>
            <a:endParaRPr lang="en-US" altLang="zh-CN" dirty="0"/>
          </a:p>
          <a:p>
            <a:pPr lvl="1"/>
            <a:r>
              <a:rPr lang="zh-CN" altLang="en-US" dirty="0"/>
              <a:t>经营周期的匹配度</a:t>
            </a:r>
            <a:endParaRPr lang="en-US" altLang="zh-CN" dirty="0"/>
          </a:p>
          <a:p>
            <a:pPr lvl="2"/>
            <a:r>
              <a:rPr lang="zh-CN" altLang="en-US" dirty="0"/>
              <a:t>技术开发周期与行业周期的错位，会直接导致新产品失败</a:t>
            </a:r>
            <a:endParaRPr lang="en-US" altLang="zh-CN" dirty="0"/>
          </a:p>
          <a:p>
            <a:pPr lvl="2"/>
            <a:r>
              <a:rPr lang="zh-CN" altLang="en-US" dirty="0"/>
              <a:t>化工行业：需求端主要承受零售和工业的影响，供给端则受生产能力和原料市场的供求影响</a:t>
            </a:r>
          </a:p>
        </p:txBody>
      </p:sp>
    </p:spTree>
    <p:extLst>
      <p:ext uri="{BB962C8B-B14F-4D97-AF65-F5344CB8AC3E}">
        <p14:creationId xmlns:p14="http://schemas.microsoft.com/office/powerpoint/2010/main" val="2529755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44210F-48ED-4928-852B-D7DDFF573CF8}"/>
              </a:ext>
            </a:extLst>
          </p:cNvPr>
          <p:cNvSpPr>
            <a:spLocks noGrp="1"/>
          </p:cNvSpPr>
          <p:nvPr>
            <p:ph type="title"/>
          </p:nvPr>
        </p:nvSpPr>
        <p:spPr/>
        <p:txBody>
          <a:bodyPr/>
          <a:lstStyle/>
          <a:p>
            <a:r>
              <a:rPr lang="zh-CN" altLang="en-US" dirty="0"/>
              <a:t>行业的竞争</a:t>
            </a:r>
          </a:p>
        </p:txBody>
      </p:sp>
      <p:sp>
        <p:nvSpPr>
          <p:cNvPr id="3" name="内容占位符 2">
            <a:extLst>
              <a:ext uri="{FF2B5EF4-FFF2-40B4-BE49-F238E27FC236}">
                <a16:creationId xmlns:a16="http://schemas.microsoft.com/office/drawing/2014/main" id="{7398DDD7-14CA-42D1-A8E2-7A66AAAB082F}"/>
              </a:ext>
            </a:extLst>
          </p:cNvPr>
          <p:cNvSpPr>
            <a:spLocks noGrp="1"/>
          </p:cNvSpPr>
          <p:nvPr>
            <p:ph idx="1"/>
          </p:nvPr>
        </p:nvSpPr>
        <p:spPr/>
        <p:txBody>
          <a:bodyPr>
            <a:normAutofit fontScale="92500" lnSpcReduction="20000"/>
          </a:bodyPr>
          <a:lstStyle/>
          <a:p>
            <a:r>
              <a:rPr lang="zh-CN" altLang="en-US" dirty="0"/>
              <a:t>不同行业的竞争程度各有不同，依次区分为，可以从如下角度评估</a:t>
            </a:r>
            <a:endParaRPr lang="en-US" altLang="zh-CN" dirty="0"/>
          </a:p>
          <a:p>
            <a:pPr lvl="1"/>
            <a:r>
              <a:rPr lang="zh-CN" altLang="zh-CN" b="1" dirty="0"/>
              <a:t>集中</a:t>
            </a:r>
            <a:r>
              <a:rPr lang="zh-CN" altLang="en-US" b="1" dirty="0"/>
              <a:t>程</a:t>
            </a:r>
            <a:r>
              <a:rPr lang="zh-CN" altLang="zh-CN" b="1" dirty="0"/>
              <a:t>度</a:t>
            </a:r>
            <a:endParaRPr lang="en-US" altLang="zh-CN" b="1" dirty="0"/>
          </a:p>
          <a:p>
            <a:pPr lvl="2"/>
            <a:r>
              <a:rPr lang="zh-CN" altLang="zh-CN" dirty="0"/>
              <a:t>企业数量</a:t>
            </a:r>
            <a:r>
              <a:rPr lang="zh-CN" altLang="en-US" dirty="0"/>
              <a:t>：</a:t>
            </a:r>
            <a:r>
              <a:rPr lang="zh-CN" altLang="zh-CN" dirty="0"/>
              <a:t>完全垄断、垄断竞争、寡头垄断、完全竞争</a:t>
            </a:r>
            <a:endParaRPr lang="en-US" altLang="zh-CN" dirty="0"/>
          </a:p>
          <a:p>
            <a:pPr lvl="2"/>
            <a:r>
              <a:rPr lang="zh-CN" altLang="en-US" dirty="0"/>
              <a:t>进入障碍：行业的资本密集度和基建成本、边际利润水平、资本可得性和资本成本</a:t>
            </a:r>
            <a:endParaRPr lang="en-US" altLang="zh-CN" dirty="0"/>
          </a:p>
          <a:p>
            <a:pPr lvl="1"/>
            <a:r>
              <a:rPr lang="zh-CN" altLang="en-US" b="1" dirty="0"/>
              <a:t>技术成本</a:t>
            </a:r>
            <a:endParaRPr lang="en-US" altLang="zh-CN" b="1" dirty="0"/>
          </a:p>
          <a:p>
            <a:pPr lvl="2"/>
            <a:r>
              <a:rPr lang="zh-CN" altLang="en-US" dirty="0"/>
              <a:t>行业创新比率和产品淘汰周期</a:t>
            </a:r>
            <a:endParaRPr lang="en-US" altLang="zh-CN" dirty="0"/>
          </a:p>
          <a:p>
            <a:pPr lvl="2"/>
            <a:r>
              <a:rPr lang="zh-CN" altLang="en-US" dirty="0"/>
              <a:t>技术复杂性、研发周期、生产应用周期</a:t>
            </a:r>
            <a:endParaRPr lang="en-US" altLang="zh-CN" dirty="0"/>
          </a:p>
          <a:p>
            <a:pPr lvl="1"/>
            <a:r>
              <a:rPr lang="zh-CN" altLang="en-US" b="1" dirty="0"/>
              <a:t>获客成本</a:t>
            </a:r>
            <a:endParaRPr lang="en-US" altLang="zh-CN" b="1" dirty="0"/>
          </a:p>
          <a:p>
            <a:pPr lvl="2"/>
            <a:r>
              <a:rPr lang="zh-CN" altLang="en-US" dirty="0"/>
              <a:t>公司地理位置、分销渠道，公司声誉等因素，获取的时间和成本</a:t>
            </a:r>
            <a:endParaRPr lang="en-US" altLang="zh-CN" dirty="0"/>
          </a:p>
          <a:p>
            <a:pPr lvl="2"/>
            <a:r>
              <a:rPr lang="zh-CN" altLang="en-US" dirty="0"/>
              <a:t>品牌知名度，特别是对于高度依赖客户品牌认知的行业，个人客户高度善变</a:t>
            </a:r>
            <a:endParaRPr lang="en-US" altLang="zh-CN" dirty="0"/>
          </a:p>
          <a:p>
            <a:pPr lvl="2"/>
            <a:r>
              <a:rPr lang="zh-CN" altLang="en-US" dirty="0"/>
              <a:t>客户关系维护，通过分销客户稳固客户群体</a:t>
            </a:r>
            <a:endParaRPr lang="en-US" altLang="zh-CN" dirty="0"/>
          </a:p>
          <a:p>
            <a:pPr lvl="2"/>
            <a:r>
              <a:rPr lang="zh-CN" altLang="en-US" dirty="0"/>
              <a:t>销售成本：销售半径，市场覆盖、客群分层</a:t>
            </a:r>
            <a:endParaRPr lang="en-US" altLang="zh-CN" dirty="0"/>
          </a:p>
          <a:p>
            <a:pPr lvl="1"/>
            <a:r>
              <a:rPr lang="zh-CN" altLang="en-US" b="1" dirty="0"/>
              <a:t>配套成本</a:t>
            </a:r>
            <a:endParaRPr lang="en-US" altLang="zh-CN" b="1" dirty="0"/>
          </a:p>
          <a:p>
            <a:pPr lvl="2"/>
            <a:r>
              <a:rPr lang="zh-CN" altLang="en-US" dirty="0"/>
              <a:t>区位优势：自然、地理、交通的位置优势</a:t>
            </a:r>
            <a:endParaRPr lang="en-US" altLang="zh-CN" dirty="0"/>
          </a:p>
          <a:p>
            <a:pPr lvl="2"/>
            <a:r>
              <a:rPr lang="zh-CN" altLang="en-US" dirty="0"/>
              <a:t>供应链：整合调配供应商的成本节约</a:t>
            </a:r>
          </a:p>
        </p:txBody>
      </p:sp>
    </p:spTree>
    <p:extLst>
      <p:ext uri="{BB962C8B-B14F-4D97-AF65-F5344CB8AC3E}">
        <p14:creationId xmlns:p14="http://schemas.microsoft.com/office/powerpoint/2010/main" val="18377553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0CBF56-D069-4BB2-B0F8-C0821F9A6C14}"/>
              </a:ext>
            </a:extLst>
          </p:cNvPr>
          <p:cNvSpPr>
            <a:spLocks noGrp="1"/>
          </p:cNvSpPr>
          <p:nvPr>
            <p:ph type="title"/>
          </p:nvPr>
        </p:nvSpPr>
        <p:spPr/>
        <p:txBody>
          <a:bodyPr/>
          <a:lstStyle/>
          <a:p>
            <a:r>
              <a:rPr lang="zh-CN" altLang="en-US" dirty="0"/>
              <a:t>行业的信用</a:t>
            </a:r>
          </a:p>
        </p:txBody>
      </p:sp>
      <p:sp>
        <p:nvSpPr>
          <p:cNvPr id="3" name="内容占位符 2">
            <a:extLst>
              <a:ext uri="{FF2B5EF4-FFF2-40B4-BE49-F238E27FC236}">
                <a16:creationId xmlns:a16="http://schemas.microsoft.com/office/drawing/2014/main" id="{B17EDD9E-5069-40EF-8374-F6F1272D810D}"/>
              </a:ext>
            </a:extLst>
          </p:cNvPr>
          <p:cNvSpPr>
            <a:spLocks noGrp="1"/>
          </p:cNvSpPr>
          <p:nvPr>
            <p:ph idx="1"/>
          </p:nvPr>
        </p:nvSpPr>
        <p:spPr/>
        <p:txBody>
          <a:bodyPr>
            <a:normAutofit/>
          </a:bodyPr>
          <a:lstStyle/>
          <a:p>
            <a:r>
              <a:rPr lang="zh-CN" altLang="en-US" b="1" dirty="0"/>
              <a:t>行业利润</a:t>
            </a:r>
            <a:endParaRPr lang="en-US" altLang="zh-CN" b="1" dirty="0"/>
          </a:p>
          <a:p>
            <a:pPr lvl="1"/>
            <a:r>
              <a:rPr lang="zh-CN" altLang="en-US" dirty="0"/>
              <a:t>行业盈利：收入、费用的调整难度大，竞争水平、收入增长和资本实力等因素，形成行业利润的的最高水平；管理能力和资本效率只能改善</a:t>
            </a:r>
            <a:endParaRPr lang="en-US" altLang="zh-CN" dirty="0"/>
          </a:p>
          <a:p>
            <a:pPr lvl="1"/>
            <a:r>
              <a:rPr lang="zh-CN" altLang="en-US" dirty="0"/>
              <a:t>高度竞争行业中，客户和市场份额也会通过限制销售收入而限制获利能力</a:t>
            </a:r>
            <a:endParaRPr lang="en-US" altLang="zh-CN" dirty="0"/>
          </a:p>
          <a:p>
            <a:pPr lvl="1"/>
            <a:r>
              <a:rPr lang="zh-CN" altLang="en-US" dirty="0"/>
              <a:t>行业参与者、潜在竞争者、政府管制等都会稀释行业的利润率</a:t>
            </a:r>
            <a:endParaRPr lang="en-US" altLang="zh-CN" dirty="0"/>
          </a:p>
          <a:p>
            <a:pPr lvl="2"/>
            <a:endParaRPr lang="en-US" altLang="zh-CN" dirty="0"/>
          </a:p>
          <a:p>
            <a:r>
              <a:rPr lang="zh-CN" altLang="en-US" b="1" dirty="0"/>
              <a:t>资本投入</a:t>
            </a:r>
            <a:endParaRPr lang="en-US" altLang="zh-CN" b="1" dirty="0"/>
          </a:p>
          <a:p>
            <a:pPr lvl="1"/>
            <a:r>
              <a:rPr lang="zh-CN" altLang="en-US" dirty="0"/>
              <a:t>行业进入的资本要求和持续投资水平，推动新业务增长、保证必要的费用开支</a:t>
            </a:r>
            <a:endParaRPr lang="en-US" altLang="zh-CN" dirty="0"/>
          </a:p>
          <a:p>
            <a:pPr lvl="1"/>
            <a:r>
              <a:rPr lang="zh-CN" altLang="en-US" dirty="0"/>
              <a:t>周期性行业，则应平衡持续性开采费用和周期性市场需求之间所形成的债务缺口</a:t>
            </a:r>
            <a:endParaRPr lang="en-US" altLang="zh-CN" dirty="0"/>
          </a:p>
          <a:p>
            <a:pPr lvl="1"/>
            <a:r>
              <a:rPr lang="zh-CN" altLang="en-US" dirty="0"/>
              <a:t>钢铁行业的资本密集，竞争激烈，因而毛利率较低，发展前景也就看淡</a:t>
            </a:r>
            <a:endParaRPr lang="en-US" altLang="zh-CN" dirty="0"/>
          </a:p>
          <a:p>
            <a:pPr lvl="1"/>
            <a:r>
              <a:rPr lang="zh-CN" altLang="en-US" dirty="0"/>
              <a:t>消费、广告行业，虽受商业周期和季节的波动影响，但单位资本投入的收益较高</a:t>
            </a:r>
            <a:endParaRPr lang="en-US" altLang="zh-CN" dirty="0"/>
          </a:p>
        </p:txBody>
      </p:sp>
    </p:spTree>
    <p:extLst>
      <p:ext uri="{BB962C8B-B14F-4D97-AF65-F5344CB8AC3E}">
        <p14:creationId xmlns:p14="http://schemas.microsoft.com/office/powerpoint/2010/main" val="23661301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CFD5A3-133A-46A6-9912-22B426D9462F}"/>
              </a:ext>
            </a:extLst>
          </p:cNvPr>
          <p:cNvSpPr>
            <a:spLocks noGrp="1"/>
          </p:cNvSpPr>
          <p:nvPr>
            <p:ph type="title"/>
          </p:nvPr>
        </p:nvSpPr>
        <p:spPr/>
        <p:txBody>
          <a:bodyPr>
            <a:normAutofit/>
          </a:bodyPr>
          <a:lstStyle/>
          <a:p>
            <a:r>
              <a:rPr lang="zh-CN" altLang="en-US" dirty="0"/>
              <a:t>行业的信用</a:t>
            </a:r>
          </a:p>
        </p:txBody>
      </p:sp>
      <p:sp>
        <p:nvSpPr>
          <p:cNvPr id="3" name="内容占位符 2">
            <a:extLst>
              <a:ext uri="{FF2B5EF4-FFF2-40B4-BE49-F238E27FC236}">
                <a16:creationId xmlns:a16="http://schemas.microsoft.com/office/drawing/2014/main" id="{4486440F-C044-411D-AE65-FAE26EE74752}"/>
              </a:ext>
            </a:extLst>
          </p:cNvPr>
          <p:cNvSpPr>
            <a:spLocks noGrp="1"/>
          </p:cNvSpPr>
          <p:nvPr>
            <p:ph idx="1"/>
          </p:nvPr>
        </p:nvSpPr>
        <p:spPr/>
        <p:txBody>
          <a:bodyPr>
            <a:normAutofit/>
          </a:bodyPr>
          <a:lstStyle/>
          <a:p>
            <a:r>
              <a:rPr lang="zh-CN" altLang="en-US" b="1" dirty="0"/>
              <a:t>行业管制</a:t>
            </a:r>
            <a:endParaRPr lang="en-US" altLang="zh-CN" b="1" dirty="0"/>
          </a:p>
          <a:p>
            <a:pPr lvl="1"/>
            <a:r>
              <a:rPr lang="zh-CN" altLang="en-US" dirty="0"/>
              <a:t>行业管制会直接影响行业的经营战略和潜在业绩空间。</a:t>
            </a:r>
            <a:endParaRPr lang="en-US" altLang="zh-CN" dirty="0"/>
          </a:p>
          <a:p>
            <a:pPr lvl="1"/>
            <a:r>
              <a:rPr lang="zh-CN" altLang="en-US" dirty="0"/>
              <a:t>有些行业由于管制而受益，对公用事业部的回报率限制，强化了公用事业的垄断性，提高财务稳定程度</a:t>
            </a:r>
            <a:endParaRPr lang="en-US" altLang="zh-CN" dirty="0"/>
          </a:p>
          <a:p>
            <a:pPr lvl="1"/>
            <a:r>
              <a:rPr lang="zh-CN" altLang="en-US" dirty="0"/>
              <a:t>有些行业由于管制放松，激烈的竞争削弱了行业整体利润率，也降低了财务稳健性</a:t>
            </a:r>
            <a:endParaRPr lang="en-US" altLang="zh-CN" dirty="0"/>
          </a:p>
          <a:p>
            <a:pPr lvl="1"/>
            <a:endParaRPr lang="en-US" altLang="zh-CN" dirty="0"/>
          </a:p>
          <a:p>
            <a:r>
              <a:rPr lang="zh-CN" altLang="en-US" b="1" dirty="0"/>
              <a:t>行业领袖</a:t>
            </a:r>
            <a:endParaRPr lang="en-US" altLang="zh-CN" b="1" dirty="0"/>
          </a:p>
          <a:p>
            <a:pPr lvl="1"/>
            <a:r>
              <a:rPr lang="zh-CN" altLang="en-US" dirty="0"/>
              <a:t>行业整体的销售情况、成本控制和盈利能力等因素，确定了行业内所有个体的信用资质的参照点。</a:t>
            </a:r>
            <a:endParaRPr lang="en-US" altLang="zh-CN" dirty="0"/>
          </a:p>
          <a:p>
            <a:pPr lvl="1"/>
            <a:r>
              <a:rPr lang="zh-CN" altLang="en-US" dirty="0"/>
              <a:t>行业领导者往往代表了行业发展的趋势，在行业分析中，首先要深刻理解行业领导者的经营战略和业绩，有助于判断可能的最高资质水平。并对行业发展、商业周期、经营管理和财务安排等都形成分析的基准。</a:t>
            </a:r>
          </a:p>
          <a:p>
            <a:endParaRPr lang="en-US" altLang="zh-CN" dirty="0"/>
          </a:p>
          <a:p>
            <a:r>
              <a:rPr lang="zh-CN" altLang="en-US" b="1" dirty="0"/>
              <a:t>永远不要低估竞争者</a:t>
            </a:r>
            <a:r>
              <a:rPr lang="zh-CN" altLang="en-US" dirty="0"/>
              <a:t>；</a:t>
            </a:r>
            <a:r>
              <a:rPr lang="zh-CN" altLang="en-US" b="1" dirty="0"/>
              <a:t>不合常理的繁荣不会长期持续</a:t>
            </a:r>
            <a:r>
              <a:rPr lang="zh-CN" altLang="en-US" dirty="0"/>
              <a:t>；</a:t>
            </a:r>
            <a:r>
              <a:rPr lang="zh-CN" altLang="en-US" b="1" dirty="0"/>
              <a:t>预防性的财务储备是非常必要的</a:t>
            </a:r>
          </a:p>
          <a:p>
            <a:endParaRPr lang="zh-CN" altLang="en-US" dirty="0"/>
          </a:p>
        </p:txBody>
      </p:sp>
    </p:spTree>
    <p:extLst>
      <p:ext uri="{BB962C8B-B14F-4D97-AF65-F5344CB8AC3E}">
        <p14:creationId xmlns:p14="http://schemas.microsoft.com/office/powerpoint/2010/main" val="19219182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B145ED-E200-4E9D-81F5-E6CB7C0DC81A}"/>
              </a:ext>
            </a:extLst>
          </p:cNvPr>
          <p:cNvSpPr>
            <a:spLocks noGrp="1"/>
          </p:cNvSpPr>
          <p:nvPr>
            <p:ph type="title"/>
          </p:nvPr>
        </p:nvSpPr>
        <p:spPr/>
        <p:txBody>
          <a:bodyPr/>
          <a:lstStyle/>
          <a:p>
            <a:r>
              <a:rPr lang="zh-CN" altLang="en-US" dirty="0"/>
              <a:t>行业的信用</a:t>
            </a:r>
          </a:p>
        </p:txBody>
      </p:sp>
      <p:sp>
        <p:nvSpPr>
          <p:cNvPr id="3" name="内容占位符 2">
            <a:extLst>
              <a:ext uri="{FF2B5EF4-FFF2-40B4-BE49-F238E27FC236}">
                <a16:creationId xmlns:a16="http://schemas.microsoft.com/office/drawing/2014/main" id="{D16B2420-EADA-43E1-9A65-0726D7AE95F0}"/>
              </a:ext>
            </a:extLst>
          </p:cNvPr>
          <p:cNvSpPr>
            <a:spLocks noGrp="1"/>
          </p:cNvSpPr>
          <p:nvPr>
            <p:ph idx="1"/>
          </p:nvPr>
        </p:nvSpPr>
        <p:spPr/>
        <p:txBody>
          <a:bodyPr/>
          <a:lstStyle/>
          <a:p>
            <a:r>
              <a:rPr lang="zh-CN" altLang="en-US" dirty="0"/>
              <a:t>行业由于自身固有的风险，而产生了一定程度的波动，或产生了无法逾越的业绩瓶颈，就对全行业所有个体都形成了限制，高管制的行业仍然高资质的个体，高度竞争的行业的优秀企业也很难持续保证高等级的信用资质。</a:t>
            </a:r>
            <a:endParaRPr lang="en-US" altLang="zh-CN" dirty="0"/>
          </a:p>
        </p:txBody>
      </p:sp>
      <p:grpSp>
        <p:nvGrpSpPr>
          <p:cNvPr id="4" name="îşlidê">
            <a:extLst>
              <a:ext uri="{FF2B5EF4-FFF2-40B4-BE49-F238E27FC236}">
                <a16:creationId xmlns:a16="http://schemas.microsoft.com/office/drawing/2014/main" id="{E7264FB9-6C8D-460C-98A9-78D06A685834}"/>
              </a:ext>
            </a:extLst>
          </p:cNvPr>
          <p:cNvGrpSpPr/>
          <p:nvPr/>
        </p:nvGrpSpPr>
        <p:grpSpPr>
          <a:xfrm>
            <a:off x="1173480" y="3425371"/>
            <a:ext cx="4519707" cy="5227017"/>
            <a:chOff x="676650" y="3386332"/>
            <a:chExt cx="3484350" cy="2652667"/>
          </a:xfrm>
        </p:grpSpPr>
        <p:sp>
          <p:nvSpPr>
            <p:cNvPr id="5" name="ïṣlíḑe">
              <a:extLst>
                <a:ext uri="{FF2B5EF4-FFF2-40B4-BE49-F238E27FC236}">
                  <a16:creationId xmlns:a16="http://schemas.microsoft.com/office/drawing/2014/main" id="{41F65B4D-9AAE-4557-BAFB-526434936EA6}"/>
                </a:ext>
              </a:extLst>
            </p:cNvPr>
            <p:cNvSpPr/>
            <p:nvPr/>
          </p:nvSpPr>
          <p:spPr>
            <a:xfrm>
              <a:off x="676652" y="3608092"/>
              <a:ext cx="3484348" cy="2430907"/>
            </a:xfrm>
            <a:prstGeom prst="roundRect">
              <a:avLst>
                <a:gd name="adj" fmla="val 2415"/>
              </a:avLst>
            </a:prstGeom>
            <a:gradFill flip="none" rotWithShape="1">
              <a:gsLst>
                <a:gs pos="0">
                  <a:schemeClr val="accent1">
                    <a:alpha val="23000"/>
                  </a:schemeClr>
                </a:gs>
                <a:gs pos="100000">
                  <a:schemeClr val="accent1">
                    <a:alpha val="0"/>
                  </a:schemeClr>
                </a:gs>
              </a:gsLst>
              <a:lin ang="5400000" scaled="1"/>
              <a:tileRect/>
            </a:gra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chorCtr="1">
              <a:normAutofit/>
            </a:bodyPr>
            <a:lstStyle/>
            <a:p>
              <a:pPr algn="ctr">
                <a:lnSpc>
                  <a:spcPct val="130000"/>
                </a:lnSpc>
                <a:defRPr/>
              </a:pPr>
              <a:r>
                <a:rPr lang="zh-CN" altLang="en-US" sz="2400" dirty="0">
                  <a:solidFill>
                    <a:schemeClr val="tx1">
                      <a:lumMod val="75000"/>
                      <a:lumOff val="25000"/>
                    </a:schemeClr>
                  </a:solidFill>
                </a:rPr>
                <a:t>金属采矿</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资本货物</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航空航运</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房地产</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电力</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木材造纸</a:t>
              </a:r>
            </a:p>
          </p:txBody>
        </p:sp>
        <p:sp>
          <p:nvSpPr>
            <p:cNvPr id="6" name="ísḻïḍe">
              <a:extLst>
                <a:ext uri="{FF2B5EF4-FFF2-40B4-BE49-F238E27FC236}">
                  <a16:creationId xmlns:a16="http://schemas.microsoft.com/office/drawing/2014/main" id="{985EBA71-90BC-4C07-93A7-7A1AE2F6CE66}"/>
                </a:ext>
              </a:extLst>
            </p:cNvPr>
            <p:cNvSpPr/>
            <p:nvPr/>
          </p:nvSpPr>
          <p:spPr>
            <a:xfrm>
              <a:off x="676650" y="3386332"/>
              <a:ext cx="3484350" cy="443520"/>
            </a:xfrm>
            <a:prstGeom prst="roundRect">
              <a:avLst>
                <a:gd name="adj" fmla="val 50000"/>
              </a:avLst>
            </a:prstGeom>
            <a:solidFill>
              <a:schemeClr val="accent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r>
                <a:rPr lang="zh-CN" altLang="en-US" sz="2400" b="1" dirty="0">
                  <a:solidFill>
                    <a:schemeClr val="bg1"/>
                  </a:solidFill>
                </a:rPr>
                <a:t>高风险行业</a:t>
              </a:r>
            </a:p>
          </p:txBody>
        </p:sp>
        <p:sp>
          <p:nvSpPr>
            <p:cNvPr id="7" name="iśḷïḑè">
              <a:extLst>
                <a:ext uri="{FF2B5EF4-FFF2-40B4-BE49-F238E27FC236}">
                  <a16:creationId xmlns:a16="http://schemas.microsoft.com/office/drawing/2014/main" id="{5D0B0989-9B6A-4177-A07C-5D8802E8CAE5}"/>
                </a:ext>
              </a:extLst>
            </p:cNvPr>
            <p:cNvSpPr/>
            <p:nvPr/>
          </p:nvSpPr>
          <p:spPr>
            <a:xfrm>
              <a:off x="676650" y="3888618"/>
              <a:ext cx="3484348" cy="2150380"/>
            </a:xfrm>
            <a:prstGeom prst="rect">
              <a:avLst/>
            </a:prstGeom>
            <a:ln>
              <a:noFill/>
            </a:ln>
          </p:spPr>
          <p:txBody>
            <a:bodyPr wrap="square">
              <a:noAutofit/>
            </a:bodyPr>
            <a:lstStyle/>
            <a:p>
              <a:pPr algn="ctr">
                <a:lnSpc>
                  <a:spcPct val="130000"/>
                </a:lnSpc>
                <a:defRPr/>
              </a:pPr>
              <a:endParaRPr lang="en-US" altLang="zh-CN" sz="2400" dirty="0">
                <a:solidFill>
                  <a:schemeClr val="tx1">
                    <a:lumMod val="75000"/>
                    <a:lumOff val="25000"/>
                  </a:schemeClr>
                </a:solidFill>
              </a:endParaRPr>
            </a:p>
          </p:txBody>
        </p:sp>
      </p:grpSp>
      <p:grpSp>
        <p:nvGrpSpPr>
          <p:cNvPr id="8" name="ï$ľïḍè">
            <a:extLst>
              <a:ext uri="{FF2B5EF4-FFF2-40B4-BE49-F238E27FC236}">
                <a16:creationId xmlns:a16="http://schemas.microsoft.com/office/drawing/2014/main" id="{90E35D3A-D51A-4725-AEF3-3C55A5C77F60}"/>
              </a:ext>
            </a:extLst>
          </p:cNvPr>
          <p:cNvGrpSpPr/>
          <p:nvPr/>
        </p:nvGrpSpPr>
        <p:grpSpPr>
          <a:xfrm>
            <a:off x="6388846" y="3425371"/>
            <a:ext cx="4519707" cy="5227017"/>
            <a:chOff x="676650" y="3386332"/>
            <a:chExt cx="3484350" cy="2652667"/>
          </a:xfrm>
        </p:grpSpPr>
        <p:sp>
          <p:nvSpPr>
            <p:cNvPr id="9" name="iṧḷïḍè">
              <a:extLst>
                <a:ext uri="{FF2B5EF4-FFF2-40B4-BE49-F238E27FC236}">
                  <a16:creationId xmlns:a16="http://schemas.microsoft.com/office/drawing/2014/main" id="{347228B7-0AEC-4D79-B4F2-FED2F421F947}"/>
                </a:ext>
              </a:extLst>
            </p:cNvPr>
            <p:cNvSpPr/>
            <p:nvPr/>
          </p:nvSpPr>
          <p:spPr>
            <a:xfrm>
              <a:off x="676652" y="3608092"/>
              <a:ext cx="3484348" cy="2430907"/>
            </a:xfrm>
            <a:prstGeom prst="roundRect">
              <a:avLst>
                <a:gd name="adj" fmla="val 2415"/>
              </a:avLst>
            </a:prstGeom>
            <a:gradFill flip="none" rotWithShape="1">
              <a:gsLst>
                <a:gs pos="0">
                  <a:schemeClr val="accent3">
                    <a:alpha val="23000"/>
                  </a:schemeClr>
                </a:gs>
                <a:gs pos="100000">
                  <a:schemeClr val="accent3">
                    <a:alpha val="0"/>
                  </a:schemeClr>
                </a:gs>
              </a:gsLst>
              <a:lin ang="5400000" scaled="1"/>
              <a:tileRect/>
            </a:gra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chorCtr="1">
              <a:normAutofit/>
            </a:bodyPr>
            <a:lstStyle/>
            <a:p>
              <a:pPr algn="ctr" defTabSz="914400">
                <a:lnSpc>
                  <a:spcPct val="130000"/>
                </a:lnSpc>
              </a:pPr>
              <a:r>
                <a:rPr lang="zh-CN" altLang="en-US" sz="2400" dirty="0">
                  <a:solidFill>
                    <a:schemeClr val="tx1">
                      <a:lumMod val="75000"/>
                      <a:lumOff val="25000"/>
                    </a:schemeClr>
                  </a:solidFill>
                </a:rPr>
                <a:t>石油天然气</a:t>
              </a:r>
              <a:endParaRPr lang="en-US" altLang="zh-CN" sz="2400" dirty="0">
                <a:solidFill>
                  <a:schemeClr val="tx1">
                    <a:lumMod val="75000"/>
                    <a:lumOff val="25000"/>
                  </a:schemeClr>
                </a:solidFill>
              </a:endParaRPr>
            </a:p>
            <a:p>
              <a:pPr algn="ctr" defTabSz="914400">
                <a:lnSpc>
                  <a:spcPct val="130000"/>
                </a:lnSpc>
              </a:pPr>
              <a:r>
                <a:rPr lang="zh-CN" altLang="en-US" sz="2400" dirty="0">
                  <a:solidFill>
                    <a:schemeClr val="tx1">
                      <a:lumMod val="75000"/>
                      <a:lumOff val="25000"/>
                    </a:schemeClr>
                  </a:solidFill>
                </a:rPr>
                <a:t>电信设备</a:t>
              </a:r>
              <a:endParaRPr lang="en-US" altLang="zh-CN" sz="2400" dirty="0">
                <a:solidFill>
                  <a:schemeClr val="tx1">
                    <a:lumMod val="75000"/>
                    <a:lumOff val="25000"/>
                  </a:schemeClr>
                </a:solidFill>
              </a:endParaRPr>
            </a:p>
            <a:p>
              <a:pPr algn="ctr" defTabSz="914400">
                <a:lnSpc>
                  <a:spcPct val="130000"/>
                </a:lnSpc>
              </a:pPr>
              <a:r>
                <a:rPr lang="zh-CN" altLang="en-US" sz="2400" dirty="0">
                  <a:solidFill>
                    <a:schemeClr val="tx1">
                      <a:lumMod val="75000"/>
                      <a:lumOff val="25000"/>
                    </a:schemeClr>
                  </a:solidFill>
                </a:rPr>
                <a:t>餐饮零售</a:t>
              </a:r>
              <a:endParaRPr lang="en-US" altLang="zh-CN" sz="2400" dirty="0">
                <a:solidFill>
                  <a:schemeClr val="tx1">
                    <a:lumMod val="75000"/>
                    <a:lumOff val="25000"/>
                  </a:schemeClr>
                </a:solidFill>
              </a:endParaRPr>
            </a:p>
            <a:p>
              <a:pPr algn="ctr" defTabSz="914400">
                <a:lnSpc>
                  <a:spcPct val="130000"/>
                </a:lnSpc>
              </a:pPr>
              <a:r>
                <a:rPr lang="zh-CN" altLang="en-US" sz="2400" dirty="0">
                  <a:solidFill>
                    <a:schemeClr val="tx1">
                      <a:lumMod val="75000"/>
                      <a:lumOff val="25000"/>
                    </a:schemeClr>
                  </a:solidFill>
                </a:rPr>
                <a:t>保健</a:t>
              </a:r>
              <a:endParaRPr lang="en-US" altLang="zh-CN" sz="2400" dirty="0">
                <a:solidFill>
                  <a:schemeClr val="tx1">
                    <a:lumMod val="75000"/>
                    <a:lumOff val="25000"/>
                  </a:schemeClr>
                </a:solidFill>
              </a:endParaRPr>
            </a:p>
            <a:p>
              <a:pPr algn="ctr" defTabSz="914400">
                <a:lnSpc>
                  <a:spcPct val="130000"/>
                </a:lnSpc>
              </a:pPr>
              <a:r>
                <a:rPr lang="zh-CN" altLang="en-US" sz="2400" dirty="0">
                  <a:solidFill>
                    <a:schemeClr val="tx1">
                      <a:lumMod val="75000"/>
                      <a:lumOff val="25000"/>
                    </a:schemeClr>
                  </a:solidFill>
                </a:rPr>
                <a:t>酒店</a:t>
              </a:r>
              <a:endParaRPr lang="en-US" altLang="zh-CN" sz="2400" dirty="0">
                <a:solidFill>
                  <a:schemeClr val="tx1">
                    <a:lumMod val="75000"/>
                    <a:lumOff val="25000"/>
                  </a:schemeClr>
                </a:solidFill>
              </a:endParaRPr>
            </a:p>
            <a:p>
              <a:pPr algn="ctr" defTabSz="914400">
                <a:lnSpc>
                  <a:spcPct val="130000"/>
                </a:lnSpc>
              </a:pPr>
              <a:r>
                <a:rPr lang="zh-CN" altLang="en-US" sz="2400" dirty="0">
                  <a:solidFill>
                    <a:schemeClr val="tx1">
                      <a:lumMod val="75000"/>
                      <a:lumOff val="25000"/>
                    </a:schemeClr>
                  </a:solidFill>
                </a:rPr>
                <a:t>货运和铁路运输</a:t>
              </a:r>
            </a:p>
          </p:txBody>
        </p:sp>
        <p:sp>
          <p:nvSpPr>
            <p:cNvPr id="10" name="íṣliḓe">
              <a:extLst>
                <a:ext uri="{FF2B5EF4-FFF2-40B4-BE49-F238E27FC236}">
                  <a16:creationId xmlns:a16="http://schemas.microsoft.com/office/drawing/2014/main" id="{E512B9C7-E3AE-4EFB-B618-8AC33A4290CF}"/>
                </a:ext>
              </a:extLst>
            </p:cNvPr>
            <p:cNvSpPr/>
            <p:nvPr/>
          </p:nvSpPr>
          <p:spPr>
            <a:xfrm>
              <a:off x="676650" y="3386332"/>
              <a:ext cx="3484350" cy="443520"/>
            </a:xfrm>
            <a:prstGeom prst="roundRect">
              <a:avLst>
                <a:gd name="adj" fmla="val 50000"/>
              </a:avLst>
            </a:prstGeom>
            <a:solidFill>
              <a:schemeClr val="accent3"/>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r>
                <a:rPr lang="zh-CN" altLang="en-US" sz="2400" b="1" dirty="0">
                  <a:solidFill>
                    <a:schemeClr val="bg1"/>
                  </a:solidFill>
                </a:rPr>
                <a:t>中等风险行业</a:t>
              </a:r>
            </a:p>
          </p:txBody>
        </p:sp>
        <p:sp>
          <p:nvSpPr>
            <p:cNvPr id="11" name="íSḷïdè">
              <a:extLst>
                <a:ext uri="{FF2B5EF4-FFF2-40B4-BE49-F238E27FC236}">
                  <a16:creationId xmlns:a16="http://schemas.microsoft.com/office/drawing/2014/main" id="{75A14DD6-0CA3-457B-89F3-5CA354E4AF4E}"/>
                </a:ext>
              </a:extLst>
            </p:cNvPr>
            <p:cNvSpPr/>
            <p:nvPr/>
          </p:nvSpPr>
          <p:spPr>
            <a:xfrm>
              <a:off x="676650" y="3888618"/>
              <a:ext cx="3484348" cy="2150380"/>
            </a:xfrm>
            <a:prstGeom prst="rect">
              <a:avLst/>
            </a:prstGeom>
            <a:ln>
              <a:noFill/>
            </a:ln>
          </p:spPr>
          <p:txBody>
            <a:bodyPr wrap="square">
              <a:noAutofit/>
            </a:bodyPr>
            <a:lstStyle/>
            <a:p>
              <a:pPr algn="ctr">
                <a:lnSpc>
                  <a:spcPct val="130000"/>
                </a:lnSpc>
                <a:defRPr/>
              </a:pPr>
              <a:endParaRPr lang="en-US" altLang="zh-CN" sz="2400" dirty="0">
                <a:solidFill>
                  <a:schemeClr val="tx1">
                    <a:lumMod val="75000"/>
                    <a:lumOff val="25000"/>
                  </a:schemeClr>
                </a:solidFill>
              </a:endParaRPr>
            </a:p>
          </p:txBody>
        </p:sp>
      </p:grpSp>
      <p:grpSp>
        <p:nvGrpSpPr>
          <p:cNvPr id="12" name="íślíḍê">
            <a:extLst>
              <a:ext uri="{FF2B5EF4-FFF2-40B4-BE49-F238E27FC236}">
                <a16:creationId xmlns:a16="http://schemas.microsoft.com/office/drawing/2014/main" id="{369E1D52-FFFA-447E-8C17-496DD1DE3F01}"/>
              </a:ext>
            </a:extLst>
          </p:cNvPr>
          <p:cNvGrpSpPr/>
          <p:nvPr/>
        </p:nvGrpSpPr>
        <p:grpSpPr>
          <a:xfrm>
            <a:off x="11604213" y="3425371"/>
            <a:ext cx="4519707" cy="5227017"/>
            <a:chOff x="676650" y="3386332"/>
            <a:chExt cx="3484350" cy="2652667"/>
          </a:xfrm>
        </p:grpSpPr>
        <p:sp>
          <p:nvSpPr>
            <p:cNvPr id="13" name="íṣḻíḋé">
              <a:extLst>
                <a:ext uri="{FF2B5EF4-FFF2-40B4-BE49-F238E27FC236}">
                  <a16:creationId xmlns:a16="http://schemas.microsoft.com/office/drawing/2014/main" id="{A80575C4-E98A-4F12-90D1-57196B9EDDEC}"/>
                </a:ext>
              </a:extLst>
            </p:cNvPr>
            <p:cNvSpPr/>
            <p:nvPr/>
          </p:nvSpPr>
          <p:spPr>
            <a:xfrm>
              <a:off x="676652" y="3608092"/>
              <a:ext cx="3484348" cy="2430907"/>
            </a:xfrm>
            <a:prstGeom prst="roundRect">
              <a:avLst>
                <a:gd name="adj" fmla="val 2415"/>
              </a:avLst>
            </a:prstGeom>
            <a:gradFill flip="none" rotWithShape="1">
              <a:gsLst>
                <a:gs pos="0">
                  <a:schemeClr val="accent1">
                    <a:alpha val="23000"/>
                  </a:schemeClr>
                </a:gs>
                <a:gs pos="100000">
                  <a:schemeClr val="accent1">
                    <a:alpha val="0"/>
                  </a:schemeClr>
                </a:gs>
              </a:gsLst>
              <a:lin ang="5400000" scaled="1"/>
              <a:tileRect/>
            </a:gra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chorCtr="1">
              <a:normAutofit/>
            </a:bodyPr>
            <a:lstStyle/>
            <a:p>
              <a:pPr algn="ctr">
                <a:lnSpc>
                  <a:spcPct val="130000"/>
                </a:lnSpc>
                <a:defRPr/>
              </a:pPr>
              <a:r>
                <a:rPr lang="zh-CN" altLang="en-US" sz="2400" dirty="0">
                  <a:solidFill>
                    <a:schemeClr val="tx1">
                      <a:lumMod val="75000"/>
                      <a:lumOff val="25000"/>
                    </a:schemeClr>
                  </a:solidFill>
                </a:rPr>
                <a:t>高端消费</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药品和医疗设备</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公共事业</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出版广告</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农业</a:t>
              </a:r>
              <a:endParaRPr lang="en-US" altLang="zh-CN" sz="2400" dirty="0">
                <a:solidFill>
                  <a:schemeClr val="tx1">
                    <a:lumMod val="75000"/>
                    <a:lumOff val="25000"/>
                  </a:schemeClr>
                </a:solidFill>
              </a:endParaRPr>
            </a:p>
            <a:p>
              <a:pPr algn="ctr">
                <a:lnSpc>
                  <a:spcPct val="130000"/>
                </a:lnSpc>
                <a:defRPr/>
              </a:pPr>
              <a:r>
                <a:rPr lang="zh-CN" altLang="en-US" sz="2400" dirty="0">
                  <a:solidFill>
                    <a:schemeClr val="tx1">
                      <a:lumMod val="75000"/>
                      <a:lumOff val="25000"/>
                    </a:schemeClr>
                  </a:solidFill>
                </a:rPr>
                <a:t>军工</a:t>
              </a:r>
            </a:p>
          </p:txBody>
        </p:sp>
        <p:sp>
          <p:nvSpPr>
            <p:cNvPr id="14" name="îśḻidè">
              <a:extLst>
                <a:ext uri="{FF2B5EF4-FFF2-40B4-BE49-F238E27FC236}">
                  <a16:creationId xmlns:a16="http://schemas.microsoft.com/office/drawing/2014/main" id="{1CF91063-7119-40B7-8A45-0157C76591B4}"/>
                </a:ext>
              </a:extLst>
            </p:cNvPr>
            <p:cNvSpPr/>
            <p:nvPr/>
          </p:nvSpPr>
          <p:spPr>
            <a:xfrm>
              <a:off x="676650" y="3386332"/>
              <a:ext cx="3484350" cy="443520"/>
            </a:xfrm>
            <a:prstGeom prst="roundRect">
              <a:avLst>
                <a:gd name="adj" fmla="val 50000"/>
              </a:avLst>
            </a:prstGeom>
            <a:solidFill>
              <a:schemeClr val="accent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r>
                <a:rPr lang="zh-CN" altLang="en-US" sz="2400" b="1" dirty="0">
                  <a:solidFill>
                    <a:schemeClr val="bg1"/>
                  </a:solidFill>
                </a:rPr>
                <a:t>低风险行业</a:t>
              </a:r>
            </a:p>
          </p:txBody>
        </p:sp>
        <p:sp>
          <p:nvSpPr>
            <p:cNvPr id="15" name="í$ļîḋe">
              <a:extLst>
                <a:ext uri="{FF2B5EF4-FFF2-40B4-BE49-F238E27FC236}">
                  <a16:creationId xmlns:a16="http://schemas.microsoft.com/office/drawing/2014/main" id="{87769992-3FBA-43CF-A84F-C2A47B287ACB}"/>
                </a:ext>
              </a:extLst>
            </p:cNvPr>
            <p:cNvSpPr/>
            <p:nvPr/>
          </p:nvSpPr>
          <p:spPr>
            <a:xfrm>
              <a:off x="676650" y="3888618"/>
              <a:ext cx="3484348" cy="2150380"/>
            </a:xfrm>
            <a:prstGeom prst="rect">
              <a:avLst/>
            </a:prstGeom>
            <a:ln>
              <a:noFill/>
            </a:ln>
          </p:spPr>
          <p:txBody>
            <a:bodyPr wrap="square">
              <a:noAutofit/>
            </a:bodyPr>
            <a:lstStyle/>
            <a:p>
              <a:pPr algn="ctr">
                <a:lnSpc>
                  <a:spcPct val="130000"/>
                </a:lnSpc>
                <a:defRPr/>
              </a:pPr>
              <a:endParaRPr lang="en-US" altLang="zh-CN" sz="2400" dirty="0">
                <a:solidFill>
                  <a:schemeClr val="tx1">
                    <a:lumMod val="75000"/>
                    <a:lumOff val="25000"/>
                  </a:schemeClr>
                </a:solidFill>
              </a:endParaRPr>
            </a:p>
          </p:txBody>
        </p:sp>
      </p:grpSp>
    </p:spTree>
    <p:extLst>
      <p:ext uri="{BB962C8B-B14F-4D97-AF65-F5344CB8AC3E}">
        <p14:creationId xmlns:p14="http://schemas.microsoft.com/office/powerpoint/2010/main" val="17326455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7A70AA4-F8A4-4E3F-B209-D0F5CD05839D}"/>
              </a:ext>
            </a:extLst>
          </p:cNvPr>
          <p:cNvSpPr>
            <a:spLocks noGrp="1"/>
          </p:cNvSpPr>
          <p:nvPr>
            <p:ph type="title"/>
          </p:nvPr>
        </p:nvSpPr>
        <p:spPr/>
        <p:txBody>
          <a:bodyPr/>
          <a:lstStyle/>
          <a:p>
            <a:r>
              <a:rPr lang="zh-CN" altLang="en-US" dirty="0"/>
              <a:t>（三）生产经营</a:t>
            </a:r>
          </a:p>
        </p:txBody>
      </p:sp>
      <p:sp>
        <p:nvSpPr>
          <p:cNvPr id="5" name="文本占位符 4">
            <a:extLst>
              <a:ext uri="{FF2B5EF4-FFF2-40B4-BE49-F238E27FC236}">
                <a16:creationId xmlns:a16="http://schemas.microsoft.com/office/drawing/2014/main" id="{B8EE4351-AB24-4B48-BE4E-B33E7D251B19}"/>
              </a:ext>
            </a:extLst>
          </p:cNvPr>
          <p:cNvSpPr>
            <a:spLocks noGrp="1"/>
          </p:cNvSpPr>
          <p:nvPr>
            <p:ph type="body" idx="1"/>
          </p:nvPr>
        </p:nvSpPr>
        <p:spPr/>
        <p:txBody>
          <a:bodyPr/>
          <a:lstStyle/>
          <a:p>
            <a:r>
              <a:rPr lang="zh-CN" altLang="en-US" dirty="0"/>
              <a:t>关注主体内部的经营活动所涉及的主要方面，包括外部的销售、市场竞争和份额，也包括内部的财务支持状况</a:t>
            </a:r>
          </a:p>
        </p:txBody>
      </p:sp>
    </p:spTree>
    <p:extLst>
      <p:ext uri="{BB962C8B-B14F-4D97-AF65-F5344CB8AC3E}">
        <p14:creationId xmlns:p14="http://schemas.microsoft.com/office/powerpoint/2010/main" val="2531082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椭圆 16">
            <a:extLst>
              <a:ext uri="{FF2B5EF4-FFF2-40B4-BE49-F238E27FC236}">
                <a16:creationId xmlns:a16="http://schemas.microsoft.com/office/drawing/2014/main" id="{3110D995-5556-48B3-A276-0B46DB2B3A08}"/>
              </a:ext>
            </a:extLst>
          </p:cNvPr>
          <p:cNvSpPr/>
          <p:nvPr/>
        </p:nvSpPr>
        <p:spPr>
          <a:xfrm>
            <a:off x="10801992" y="3464900"/>
            <a:ext cx="3771900" cy="3771900"/>
          </a:xfrm>
          <a:prstGeom prst="ellipse">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a:extLst>
              <a:ext uri="{FF2B5EF4-FFF2-40B4-BE49-F238E27FC236}">
                <a16:creationId xmlns:a16="http://schemas.microsoft.com/office/drawing/2014/main" id="{9CBE831A-5C71-456A-89CF-365865FDC2BA}"/>
              </a:ext>
            </a:extLst>
          </p:cNvPr>
          <p:cNvSpPr>
            <a:spLocks noGrp="1"/>
          </p:cNvSpPr>
          <p:nvPr>
            <p:ph type="title"/>
          </p:nvPr>
        </p:nvSpPr>
        <p:spPr/>
        <p:txBody>
          <a:bodyPr/>
          <a:lstStyle/>
          <a:p>
            <a:r>
              <a:rPr lang="zh-CN" altLang="en-US" dirty="0"/>
              <a:t>经营风险</a:t>
            </a:r>
          </a:p>
        </p:txBody>
      </p:sp>
      <p:sp>
        <p:nvSpPr>
          <p:cNvPr id="7" name="内容占位符 6">
            <a:extLst>
              <a:ext uri="{FF2B5EF4-FFF2-40B4-BE49-F238E27FC236}">
                <a16:creationId xmlns:a16="http://schemas.microsoft.com/office/drawing/2014/main" id="{3B9E1769-BE53-4DA7-855A-4C52AFD2A365}"/>
              </a:ext>
            </a:extLst>
          </p:cNvPr>
          <p:cNvSpPr>
            <a:spLocks noGrp="1"/>
          </p:cNvSpPr>
          <p:nvPr>
            <p:ph sz="half" idx="1"/>
          </p:nvPr>
        </p:nvSpPr>
        <p:spPr/>
        <p:txBody>
          <a:bodyPr/>
          <a:lstStyle/>
          <a:p>
            <a:r>
              <a:rPr lang="zh-CN" altLang="en-US" dirty="0"/>
              <a:t>经营风险主要体现为个体的市场地位、经营稳健性和管理运作三个方面，采取分角度定性分析的方法进行比较评估。</a:t>
            </a:r>
            <a:endParaRPr lang="en-US" altLang="zh-CN" dirty="0"/>
          </a:p>
          <a:p>
            <a:endParaRPr lang="en-US" altLang="zh-CN" dirty="0"/>
          </a:p>
          <a:p>
            <a:r>
              <a:rPr lang="zh-CN" altLang="en-US" dirty="0"/>
              <a:t>标普评级公司主要参照</a:t>
            </a:r>
            <a:r>
              <a:rPr lang="en-US" altLang="zh-CN" dirty="0"/>
              <a:t>porter</a:t>
            </a:r>
            <a:r>
              <a:rPr lang="zh-CN" altLang="en-US" dirty="0"/>
              <a:t>五力模型（右图），任何行业中的企业都面临五种威胁：</a:t>
            </a:r>
            <a:endParaRPr lang="en-US" altLang="zh-CN" dirty="0"/>
          </a:p>
          <a:p>
            <a:pPr lvl="1"/>
            <a:r>
              <a:rPr lang="zh-CN" altLang="en-US" dirty="0"/>
              <a:t>行业内公司之间的竞争</a:t>
            </a:r>
            <a:endParaRPr lang="en-US" altLang="zh-CN" dirty="0"/>
          </a:p>
          <a:p>
            <a:pPr lvl="1"/>
            <a:r>
              <a:rPr lang="zh-CN" altLang="en-US" dirty="0"/>
              <a:t>上游供应商议价能力</a:t>
            </a:r>
            <a:endParaRPr lang="en-US" altLang="zh-CN" dirty="0"/>
          </a:p>
          <a:p>
            <a:pPr lvl="1"/>
            <a:r>
              <a:rPr lang="zh-CN" altLang="en-US" dirty="0"/>
              <a:t>下游销售的议价能力</a:t>
            </a:r>
            <a:endParaRPr lang="en-US" altLang="zh-CN" dirty="0"/>
          </a:p>
          <a:p>
            <a:pPr lvl="1"/>
            <a:r>
              <a:rPr lang="zh-CN" altLang="en-US" dirty="0"/>
              <a:t>潜在新进入者的威胁</a:t>
            </a:r>
            <a:endParaRPr lang="en-US" altLang="zh-CN" dirty="0"/>
          </a:p>
          <a:p>
            <a:pPr lvl="1"/>
            <a:r>
              <a:rPr lang="zh-CN" altLang="en-US" dirty="0"/>
              <a:t>替代产品和服务的威胁</a:t>
            </a:r>
            <a:endParaRPr lang="en-US" altLang="zh-CN" dirty="0"/>
          </a:p>
          <a:p>
            <a:endParaRPr lang="en-US" altLang="zh-CN" dirty="0"/>
          </a:p>
        </p:txBody>
      </p:sp>
      <p:graphicFrame>
        <p:nvGraphicFramePr>
          <p:cNvPr id="16" name="内容占位符 15">
            <a:extLst>
              <a:ext uri="{FF2B5EF4-FFF2-40B4-BE49-F238E27FC236}">
                <a16:creationId xmlns:a16="http://schemas.microsoft.com/office/drawing/2014/main" id="{11AE5047-89A9-4134-BA5D-A1A5126F8371}"/>
              </a:ext>
            </a:extLst>
          </p:cNvPr>
          <p:cNvGraphicFramePr>
            <a:graphicFrameLocks noGrp="1"/>
          </p:cNvGraphicFramePr>
          <p:nvPr>
            <p:ph sz="half" idx="2"/>
            <p:extLst>
              <p:ext uri="{D42A27DB-BD31-4B8C-83A1-F6EECF244321}">
                <p14:modId xmlns:p14="http://schemas.microsoft.com/office/powerpoint/2010/main" val="3214834194"/>
              </p:ext>
            </p:extLst>
          </p:nvPr>
        </p:nvGraphicFramePr>
        <p:xfrm>
          <a:off x="9182501" y="1674796"/>
          <a:ext cx="6990949" cy="72799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63139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4">
            <a:extLst>
              <a:ext uri="{FF2B5EF4-FFF2-40B4-BE49-F238E27FC236}">
                <a16:creationId xmlns:a16="http://schemas.microsoft.com/office/drawing/2014/main" id="{69C466E5-CF6F-4212-BA6D-53FC0D5C9D89}"/>
              </a:ext>
            </a:extLst>
          </p:cNvPr>
          <p:cNvSpPr>
            <a:spLocks noGrp="1" noChangeArrowheads="1"/>
          </p:cNvSpPr>
          <p:nvPr>
            <p:ph type="title"/>
          </p:nvPr>
        </p:nvSpPr>
        <p:spPr/>
        <p:txBody>
          <a:bodyPr/>
          <a:lstStyle/>
          <a:p>
            <a:r>
              <a:rPr lang="zh-CN" altLang="en-US" dirty="0"/>
              <a:t>经营风险</a:t>
            </a:r>
          </a:p>
        </p:txBody>
      </p:sp>
      <p:sp>
        <p:nvSpPr>
          <p:cNvPr id="50181" name="Rectangle 5">
            <a:extLst>
              <a:ext uri="{FF2B5EF4-FFF2-40B4-BE49-F238E27FC236}">
                <a16:creationId xmlns:a16="http://schemas.microsoft.com/office/drawing/2014/main" id="{DCB2DADB-2B21-4C60-A3BD-DCA09A7CF269}"/>
              </a:ext>
            </a:extLst>
          </p:cNvPr>
          <p:cNvSpPr>
            <a:spLocks noGrp="1" noChangeArrowheads="1"/>
          </p:cNvSpPr>
          <p:nvPr>
            <p:ph sz="half" idx="1"/>
          </p:nvPr>
        </p:nvSpPr>
        <p:spPr/>
        <p:txBody>
          <a:bodyPr>
            <a:normAutofit/>
          </a:bodyPr>
          <a:lstStyle/>
          <a:p>
            <a:r>
              <a:rPr lang="zh-CN" altLang="en-US" sz="2000" b="1" dirty="0"/>
              <a:t>供应商讨价还价能力</a:t>
            </a:r>
          </a:p>
          <a:p>
            <a:pPr lvl="1"/>
            <a:r>
              <a:rPr lang="zh-CN" altLang="en-US" sz="2000" dirty="0"/>
              <a:t> 供应商所提供的产品在企业整体产品成本中所占的比重</a:t>
            </a:r>
          </a:p>
          <a:p>
            <a:pPr lvl="1"/>
            <a:r>
              <a:rPr lang="zh-CN" altLang="en-US" sz="2000" dirty="0"/>
              <a:t> 供应商前向一体化的战略意图</a:t>
            </a:r>
          </a:p>
          <a:p>
            <a:pPr lvl="1"/>
            <a:r>
              <a:rPr lang="zh-CN" altLang="en-US" sz="2000" dirty="0"/>
              <a:t> 供应商所在行业的集中度</a:t>
            </a:r>
          </a:p>
          <a:p>
            <a:pPr lvl="1"/>
            <a:r>
              <a:rPr lang="zh-CN" altLang="en-US" sz="2000" dirty="0"/>
              <a:t> 供应商所提供的产品对企业生产流程的重要性</a:t>
            </a:r>
          </a:p>
          <a:p>
            <a:pPr lvl="1"/>
            <a:r>
              <a:rPr lang="zh-CN" altLang="en-US" sz="2000" dirty="0"/>
              <a:t> 供应商所提供的产品的成本与企业自己生产的成本比较</a:t>
            </a:r>
          </a:p>
          <a:p>
            <a:pPr lvl="1"/>
            <a:r>
              <a:rPr lang="zh-CN" altLang="en-US" sz="2000" dirty="0"/>
              <a:t> 供应商所提供的产品对企业产品质量的影响</a:t>
            </a:r>
          </a:p>
          <a:p>
            <a:pPr lvl="1"/>
            <a:r>
              <a:rPr lang="zh-CN" altLang="en-US" sz="2000" dirty="0"/>
              <a:t> 企业原材料采购的转换成本</a:t>
            </a:r>
          </a:p>
          <a:p>
            <a:pPr lvl="1"/>
            <a:r>
              <a:rPr lang="zh-CN" altLang="en-US" sz="2000" dirty="0"/>
              <a:t> 供应商产品的标准化程度</a:t>
            </a:r>
          </a:p>
          <a:p>
            <a:r>
              <a:rPr lang="zh-CN" altLang="en-US" sz="2000" b="1" dirty="0"/>
              <a:t>新进入者的威胁</a:t>
            </a:r>
          </a:p>
          <a:p>
            <a:pPr lvl="1"/>
            <a:r>
              <a:rPr lang="zh-CN" altLang="en-US" sz="2000" dirty="0"/>
              <a:t> 行业的新进入者通常带来大量的资源和额外的生产能力，并且要求获得市场份额</a:t>
            </a:r>
          </a:p>
          <a:p>
            <a:pPr lvl="1"/>
            <a:r>
              <a:rPr lang="zh-CN" altLang="en-US" sz="2000" dirty="0"/>
              <a:t> 行业的新进入者可能使整个市场发生动摇，特别是当他们有计划、有组织地进入某个行业时，这一特征表现得尤为突出</a:t>
            </a:r>
          </a:p>
          <a:p>
            <a:endParaRPr lang="en-US" altLang="zh-CN" sz="2000" dirty="0"/>
          </a:p>
        </p:txBody>
      </p:sp>
      <p:sp>
        <p:nvSpPr>
          <p:cNvPr id="50182" name="Rectangle 6">
            <a:extLst>
              <a:ext uri="{FF2B5EF4-FFF2-40B4-BE49-F238E27FC236}">
                <a16:creationId xmlns:a16="http://schemas.microsoft.com/office/drawing/2014/main" id="{2872ACEC-1A8D-48BE-96BE-1CE5C0A98263}"/>
              </a:ext>
            </a:extLst>
          </p:cNvPr>
          <p:cNvSpPr>
            <a:spLocks noGrp="1" noChangeArrowheads="1"/>
          </p:cNvSpPr>
          <p:nvPr>
            <p:ph sz="half" idx="2"/>
          </p:nvPr>
        </p:nvSpPr>
        <p:spPr/>
        <p:txBody>
          <a:bodyPr>
            <a:noAutofit/>
          </a:bodyPr>
          <a:lstStyle/>
          <a:p>
            <a:r>
              <a:rPr lang="zh-CN" altLang="en-US" sz="2000" b="1" dirty="0"/>
              <a:t>购买方讨价还价能力</a:t>
            </a:r>
          </a:p>
          <a:p>
            <a:pPr lvl="1"/>
            <a:r>
              <a:rPr lang="zh-CN" altLang="en-US" sz="2000" dirty="0"/>
              <a:t> 产品在购买者成本中占的比重</a:t>
            </a:r>
          </a:p>
          <a:p>
            <a:pPr lvl="1"/>
            <a:r>
              <a:rPr lang="zh-CN" altLang="en-US" sz="2000" dirty="0"/>
              <a:t> 购买者后向一体化的战略意图</a:t>
            </a:r>
          </a:p>
          <a:p>
            <a:pPr lvl="1"/>
            <a:r>
              <a:rPr lang="zh-CN" altLang="en-US" sz="2000" dirty="0"/>
              <a:t> 大批量购买的普遍性</a:t>
            </a:r>
          </a:p>
          <a:p>
            <a:pPr lvl="1"/>
            <a:r>
              <a:rPr lang="zh-CN" altLang="en-US" sz="2000" dirty="0"/>
              <a:t> 购买者对产品质量的关注程度</a:t>
            </a:r>
          </a:p>
          <a:p>
            <a:pPr lvl="1"/>
            <a:r>
              <a:rPr lang="zh-CN" altLang="en-US" sz="2000" dirty="0"/>
              <a:t> 替代品的替代程度</a:t>
            </a:r>
          </a:p>
          <a:p>
            <a:pPr lvl="1"/>
            <a:r>
              <a:rPr lang="zh-CN" altLang="en-US" sz="2000" dirty="0"/>
              <a:t> 产品的标准化程度</a:t>
            </a:r>
          </a:p>
          <a:p>
            <a:r>
              <a:rPr lang="zh-CN" altLang="en-US" sz="2000" b="1" dirty="0"/>
              <a:t>替代品的威胁</a:t>
            </a:r>
          </a:p>
          <a:p>
            <a:pPr lvl="1"/>
            <a:r>
              <a:rPr lang="zh-CN" altLang="en-US" sz="2000" dirty="0"/>
              <a:t> 替代品是指与客户产品功能相似或相同的产品</a:t>
            </a:r>
          </a:p>
          <a:p>
            <a:pPr lvl="1"/>
            <a:r>
              <a:rPr lang="zh-CN" altLang="en-US" sz="2000" dirty="0"/>
              <a:t> 生产替代品的企业可能给客户甚至行业带来威胁，替代竞争的压力越大，对客户的威胁越大。决定替代品竞争压力大小的因素有：</a:t>
            </a:r>
          </a:p>
          <a:p>
            <a:pPr lvl="1"/>
            <a:r>
              <a:rPr lang="zh-CN" altLang="en-US" sz="2000" dirty="0"/>
              <a:t>替代品的盈利能力</a:t>
            </a:r>
          </a:p>
          <a:p>
            <a:pPr lvl="1"/>
            <a:r>
              <a:rPr lang="zh-CN" altLang="en-US" sz="2000" dirty="0"/>
              <a:t>替代品生产企业的经营战略</a:t>
            </a:r>
          </a:p>
          <a:p>
            <a:pPr lvl="1"/>
            <a:r>
              <a:rPr lang="zh-CN" altLang="en-US" sz="2000" dirty="0"/>
              <a:t>购买者的转换成本</a:t>
            </a:r>
          </a:p>
          <a:p>
            <a:endParaRPr lang="en-US" altLang="zh-CN" sz="2000" dirty="0"/>
          </a:p>
        </p:txBody>
      </p:sp>
      <p:sp>
        <p:nvSpPr>
          <p:cNvPr id="50183" name="Rectangle 7">
            <a:extLst>
              <a:ext uri="{FF2B5EF4-FFF2-40B4-BE49-F238E27FC236}">
                <a16:creationId xmlns:a16="http://schemas.microsoft.com/office/drawing/2014/main" id="{3BA0EF67-E47E-4F4D-897D-078B6A0C13F7}"/>
              </a:ext>
            </a:extLst>
          </p:cNvPr>
          <p:cNvSpPr>
            <a:spLocks noChangeArrowheads="1"/>
          </p:cNvSpPr>
          <p:nvPr/>
        </p:nvSpPr>
        <p:spPr bwMode="auto">
          <a:xfrm>
            <a:off x="3099852" y="7005228"/>
            <a:ext cx="5964910" cy="2551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1400">
                <a:solidFill>
                  <a:schemeClr val="tx1"/>
                </a:solidFill>
                <a:latin typeface="Arial" panose="020B0604020202020204" pitchFamily="34" charset="0"/>
                <a:ea typeface="楷体_GB2312" panose="02010609030101010101" pitchFamily="49"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9pPr>
          </a:lstStyle>
          <a:p>
            <a:endParaRPr lang="zh-CN" altLang="en-US" sz="2268" dirty="0"/>
          </a:p>
        </p:txBody>
      </p:sp>
      <p:sp>
        <p:nvSpPr>
          <p:cNvPr id="50184" name="Rectangle 8">
            <a:extLst>
              <a:ext uri="{FF2B5EF4-FFF2-40B4-BE49-F238E27FC236}">
                <a16:creationId xmlns:a16="http://schemas.microsoft.com/office/drawing/2014/main" id="{1625E140-AB5D-4DF6-8105-2B7B404D95AA}"/>
              </a:ext>
            </a:extLst>
          </p:cNvPr>
          <p:cNvSpPr>
            <a:spLocks noChangeArrowheads="1"/>
          </p:cNvSpPr>
          <p:nvPr/>
        </p:nvSpPr>
        <p:spPr bwMode="auto">
          <a:xfrm>
            <a:off x="10363283" y="5929311"/>
            <a:ext cx="5964910" cy="3674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1400">
                <a:solidFill>
                  <a:schemeClr val="tx1"/>
                </a:solidFill>
                <a:latin typeface="Arial" panose="020B0604020202020204" pitchFamily="34" charset="0"/>
                <a:ea typeface="楷体_GB2312" panose="02010609030101010101" pitchFamily="49"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9pPr>
          </a:lstStyle>
          <a:p>
            <a:endParaRPr lang="zh-CN" altLang="en-US" sz="2268" dirty="0">
              <a:ea typeface="楷体_GB2312" panose="02010609030101010101" pitchFamily="49" charset="-122"/>
            </a:endParaRPr>
          </a:p>
        </p:txBody>
      </p:sp>
    </p:spTree>
    <p:extLst>
      <p:ext uri="{BB962C8B-B14F-4D97-AF65-F5344CB8AC3E}">
        <p14:creationId xmlns:p14="http://schemas.microsoft.com/office/powerpoint/2010/main" val="40551948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 </a:t>
            </a:r>
            <a:r>
              <a:rPr lang="zh-CN" altLang="en-US" dirty="0"/>
              <a:t>以装备制造行业为例</a:t>
            </a:r>
            <a:endParaRPr lang="en-US" dirty="0"/>
          </a:p>
        </p:txBody>
      </p:sp>
      <p:grpSp>
        <p:nvGrpSpPr>
          <p:cNvPr id="6" name="组合 5">
            <a:extLst>
              <a:ext uri="{FF2B5EF4-FFF2-40B4-BE49-F238E27FC236}">
                <a16:creationId xmlns:a16="http://schemas.microsoft.com/office/drawing/2014/main" id="{916AE924-FFF6-4201-8CBA-627815B8B76E}"/>
              </a:ext>
            </a:extLst>
          </p:cNvPr>
          <p:cNvGrpSpPr/>
          <p:nvPr/>
        </p:nvGrpSpPr>
        <p:grpSpPr>
          <a:xfrm>
            <a:off x="657225" y="2300591"/>
            <a:ext cx="15801976" cy="7214883"/>
            <a:chOff x="881681" y="2000267"/>
            <a:chExt cx="15844216" cy="7581358"/>
          </a:xfrm>
        </p:grpSpPr>
        <p:sp>
          <p:nvSpPr>
            <p:cNvPr id="43" name="Platform"/>
            <p:cNvSpPr>
              <a:spLocks/>
            </p:cNvSpPr>
            <p:nvPr/>
          </p:nvSpPr>
          <p:spPr bwMode="auto">
            <a:xfrm>
              <a:off x="5937257" y="4049158"/>
              <a:ext cx="5293101" cy="992086"/>
            </a:xfrm>
            <a:custGeom>
              <a:avLst/>
              <a:gdLst>
                <a:gd name="T0" fmla="*/ 1088 w 1506"/>
                <a:gd name="T1" fmla="*/ 0 h 282"/>
                <a:gd name="T2" fmla="*/ 1077 w 1506"/>
                <a:gd name="T3" fmla="*/ 14 h 282"/>
                <a:gd name="T4" fmla="*/ 1437 w 1506"/>
                <a:gd name="T5" fmla="*/ 98 h 282"/>
                <a:gd name="T6" fmla="*/ 738 w 1506"/>
                <a:gd name="T7" fmla="*/ 266 h 282"/>
                <a:gd name="T8" fmla="*/ 70 w 1506"/>
                <a:gd name="T9" fmla="*/ 108 h 282"/>
                <a:gd name="T10" fmla="*/ 437 w 1506"/>
                <a:gd name="T11" fmla="*/ 21 h 282"/>
                <a:gd name="T12" fmla="*/ 424 w 1506"/>
                <a:gd name="T13" fmla="*/ 7 h 282"/>
                <a:gd name="T14" fmla="*/ 0 w 1506"/>
                <a:gd name="T15" fmla="*/ 109 h 282"/>
                <a:gd name="T16" fmla="*/ 736 w 1506"/>
                <a:gd name="T17" fmla="*/ 282 h 282"/>
                <a:gd name="T18" fmla="*/ 738 w 1506"/>
                <a:gd name="T19" fmla="*/ 282 h 282"/>
                <a:gd name="T20" fmla="*/ 1506 w 1506"/>
                <a:gd name="T21" fmla="*/ 98 h 282"/>
                <a:gd name="T22" fmla="*/ 1088 w 1506"/>
                <a:gd name="T23"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06" h="282">
                  <a:moveTo>
                    <a:pt x="1088" y="0"/>
                  </a:moveTo>
                  <a:cubicBezTo>
                    <a:pt x="1085" y="5"/>
                    <a:pt x="1081" y="9"/>
                    <a:pt x="1077" y="14"/>
                  </a:cubicBezTo>
                  <a:cubicBezTo>
                    <a:pt x="1437" y="98"/>
                    <a:pt x="1437" y="98"/>
                    <a:pt x="1437" y="98"/>
                  </a:cubicBezTo>
                  <a:cubicBezTo>
                    <a:pt x="738" y="266"/>
                    <a:pt x="738" y="266"/>
                    <a:pt x="738" y="266"/>
                  </a:cubicBezTo>
                  <a:cubicBezTo>
                    <a:pt x="70" y="108"/>
                    <a:pt x="70" y="108"/>
                    <a:pt x="70" y="108"/>
                  </a:cubicBezTo>
                  <a:cubicBezTo>
                    <a:pt x="437" y="21"/>
                    <a:pt x="437" y="21"/>
                    <a:pt x="437" y="21"/>
                  </a:cubicBezTo>
                  <a:cubicBezTo>
                    <a:pt x="432" y="16"/>
                    <a:pt x="428" y="12"/>
                    <a:pt x="424" y="7"/>
                  </a:cubicBezTo>
                  <a:cubicBezTo>
                    <a:pt x="0" y="109"/>
                    <a:pt x="0" y="109"/>
                    <a:pt x="0" y="109"/>
                  </a:cubicBezTo>
                  <a:cubicBezTo>
                    <a:pt x="736" y="282"/>
                    <a:pt x="736" y="282"/>
                    <a:pt x="736" y="282"/>
                  </a:cubicBezTo>
                  <a:cubicBezTo>
                    <a:pt x="738" y="282"/>
                    <a:pt x="738" y="282"/>
                    <a:pt x="738" y="282"/>
                  </a:cubicBezTo>
                  <a:cubicBezTo>
                    <a:pt x="1506" y="98"/>
                    <a:pt x="1506" y="98"/>
                    <a:pt x="1506" y="98"/>
                  </a:cubicBezTo>
                  <a:lnTo>
                    <a:pt x="1088" y="0"/>
                  </a:lnTo>
                  <a:close/>
                </a:path>
              </a:pathLst>
            </a:custGeom>
            <a:solidFill>
              <a:schemeClr val="accent1"/>
            </a:solidFill>
            <a:ln w="20320">
              <a:noFill/>
            </a:ln>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grpSp>
          <p:nvGrpSpPr>
            <p:cNvPr id="122" name="WIndows Phone"/>
            <p:cNvGrpSpPr/>
            <p:nvPr/>
          </p:nvGrpSpPr>
          <p:grpSpPr>
            <a:xfrm>
              <a:off x="881681" y="4302613"/>
              <a:ext cx="2377978" cy="1072321"/>
              <a:chOff x="902582" y="2049678"/>
              <a:chExt cx="1258530" cy="567519"/>
            </a:xfrm>
          </p:grpSpPr>
          <p:sp>
            <p:nvSpPr>
              <p:cNvPr id="109" name="Freeform 67"/>
              <p:cNvSpPr>
                <a:spLocks noChangeAspect="1"/>
              </p:cNvSpPr>
              <p:nvPr/>
            </p:nvSpPr>
            <p:spPr bwMode="auto">
              <a:xfrm>
                <a:off x="902582" y="2049678"/>
                <a:ext cx="1258530" cy="233363"/>
              </a:xfrm>
              <a:custGeom>
                <a:avLst/>
                <a:gdLst>
                  <a:gd name="T0" fmla="*/ 343 w 456"/>
                  <a:gd name="T1" fmla="*/ 0 h 82"/>
                  <a:gd name="T2" fmla="*/ 337 w 456"/>
                  <a:gd name="T3" fmla="*/ 6 h 82"/>
                  <a:gd name="T4" fmla="*/ 421 w 456"/>
                  <a:gd name="T5" fmla="*/ 26 h 82"/>
                  <a:gd name="T6" fmla="*/ 224 w 456"/>
                  <a:gd name="T7" fmla="*/ 74 h 82"/>
                  <a:gd name="T8" fmla="*/ 35 w 456"/>
                  <a:gd name="T9" fmla="*/ 29 h 82"/>
                  <a:gd name="T10" fmla="*/ 121 w 456"/>
                  <a:gd name="T11" fmla="*/ 8 h 82"/>
                  <a:gd name="T12" fmla="*/ 115 w 456"/>
                  <a:gd name="T13" fmla="*/ 2 h 82"/>
                  <a:gd name="T14" fmla="*/ 0 w 456"/>
                  <a:gd name="T15" fmla="*/ 29 h 82"/>
                  <a:gd name="T16" fmla="*/ 223 w 456"/>
                  <a:gd name="T17" fmla="*/ 82 h 82"/>
                  <a:gd name="T18" fmla="*/ 224 w 456"/>
                  <a:gd name="T19" fmla="*/ 82 h 82"/>
                  <a:gd name="T20" fmla="*/ 456 w 456"/>
                  <a:gd name="T21" fmla="*/ 26 h 82"/>
                  <a:gd name="T22" fmla="*/ 343 w 456"/>
                  <a:gd name="T23"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6" h="82">
                    <a:moveTo>
                      <a:pt x="343" y="0"/>
                    </a:moveTo>
                    <a:cubicBezTo>
                      <a:pt x="341" y="2"/>
                      <a:pt x="339" y="4"/>
                      <a:pt x="337" y="6"/>
                    </a:cubicBezTo>
                    <a:cubicBezTo>
                      <a:pt x="421" y="26"/>
                      <a:pt x="421" y="26"/>
                      <a:pt x="421" y="26"/>
                    </a:cubicBezTo>
                    <a:cubicBezTo>
                      <a:pt x="224" y="74"/>
                      <a:pt x="224" y="74"/>
                      <a:pt x="224" y="74"/>
                    </a:cubicBezTo>
                    <a:cubicBezTo>
                      <a:pt x="35" y="29"/>
                      <a:pt x="35" y="29"/>
                      <a:pt x="35" y="29"/>
                    </a:cubicBezTo>
                    <a:cubicBezTo>
                      <a:pt x="121" y="8"/>
                      <a:pt x="121" y="8"/>
                      <a:pt x="121" y="8"/>
                    </a:cubicBezTo>
                    <a:cubicBezTo>
                      <a:pt x="119" y="6"/>
                      <a:pt x="117" y="4"/>
                      <a:pt x="115" y="2"/>
                    </a:cubicBezTo>
                    <a:cubicBezTo>
                      <a:pt x="0" y="29"/>
                      <a:pt x="0" y="29"/>
                      <a:pt x="0" y="29"/>
                    </a:cubicBezTo>
                    <a:cubicBezTo>
                      <a:pt x="223" y="82"/>
                      <a:pt x="223" y="82"/>
                      <a:pt x="223" y="82"/>
                    </a:cubicBezTo>
                    <a:cubicBezTo>
                      <a:pt x="224" y="82"/>
                      <a:pt x="224" y="82"/>
                      <a:pt x="224" y="82"/>
                    </a:cubicBezTo>
                    <a:cubicBezTo>
                      <a:pt x="456" y="26"/>
                      <a:pt x="456" y="26"/>
                      <a:pt x="456" y="26"/>
                    </a:cubicBezTo>
                    <a:lnTo>
                      <a:pt x="343" y="0"/>
                    </a:lnTo>
                    <a:close/>
                  </a:path>
                </a:pathLst>
              </a:custGeom>
              <a:solidFill>
                <a:schemeClr val="accent1"/>
              </a:solidFill>
              <a:ln w="3175">
                <a:noFill/>
                <a:round/>
                <a:headEnd/>
                <a:tailEnd/>
              </a:ln>
              <a:extLst/>
            </p:spPr>
            <p:txBody>
              <a:bodyPr vert="horz" wrap="square" lIns="172775" tIns="86388" rIns="172775" bIns="86388" numCol="1" anchor="t" anchorCtr="0" compatLnSpc="1">
                <a:prstTxWarp prst="textNoShape">
                  <a:avLst/>
                </a:prstTxWarp>
              </a:bodyPr>
              <a:lstStyle/>
              <a:p>
                <a:pPr defTabSz="1270559"/>
                <a:endParaRPr lang="en-US" sz="3401" kern="0">
                  <a:solidFill>
                    <a:sysClr val="windowText" lastClr="000000"/>
                  </a:solidFill>
                </a:endParaRPr>
              </a:p>
            </p:txBody>
          </p:sp>
          <p:sp>
            <p:nvSpPr>
              <p:cNvPr id="114" name="TextBox 113"/>
              <p:cNvSpPr txBox="1"/>
              <p:nvPr/>
            </p:nvSpPr>
            <p:spPr>
              <a:xfrm>
                <a:off x="1007906" y="2257074"/>
                <a:ext cx="1060620" cy="360123"/>
              </a:xfrm>
              <a:prstGeom prst="rect">
                <a:avLst/>
              </a:prstGeom>
              <a:noFill/>
            </p:spPr>
            <p:txBody>
              <a:bodyPr wrap="square" lIns="259163" tIns="207330" rIns="259163" bIns="207330" rtlCol="0">
                <a:spAutoFit/>
              </a:bodyPr>
              <a:lstStyle/>
              <a:p>
                <a:pPr algn="ctr" defTabSz="1270559">
                  <a:lnSpc>
                    <a:spcPct val="90000"/>
                  </a:lnSpc>
                  <a:spcBef>
                    <a:spcPts val="1134"/>
                  </a:spcBef>
                  <a:defRPr/>
                </a:pPr>
                <a:r>
                  <a:rPr lang="zh-CN" altLang="en-US" sz="1890" b="1" kern="0" dirty="0">
                    <a:solidFill>
                      <a:sysClr val="windowText" lastClr="000000"/>
                    </a:solidFill>
                  </a:rPr>
                  <a:t>进入障碍 </a:t>
                </a:r>
                <a:r>
                  <a:rPr lang="en-US" altLang="zh-CN" sz="1890" b="1" kern="0" dirty="0">
                    <a:solidFill>
                      <a:sysClr val="windowText" lastClr="000000"/>
                    </a:solidFill>
                  </a:rPr>
                  <a:t>:</a:t>
                </a:r>
                <a:r>
                  <a:rPr lang="zh-CN" altLang="en-US" sz="1890" b="1" kern="0" dirty="0">
                    <a:solidFill>
                      <a:sysClr val="windowText" lastClr="000000"/>
                    </a:solidFill>
                  </a:rPr>
                  <a:t>高</a:t>
                </a:r>
              </a:p>
            </p:txBody>
          </p:sp>
        </p:grpSp>
        <p:grpSp>
          <p:nvGrpSpPr>
            <p:cNvPr id="123" name="Desktop"/>
            <p:cNvGrpSpPr/>
            <p:nvPr/>
          </p:nvGrpSpPr>
          <p:grpSpPr>
            <a:xfrm>
              <a:off x="1892820" y="7194023"/>
              <a:ext cx="3233349" cy="1074599"/>
              <a:chOff x="1757367" y="2048473"/>
              <a:chExt cx="1711230" cy="568725"/>
            </a:xfrm>
          </p:grpSpPr>
          <p:sp>
            <p:nvSpPr>
              <p:cNvPr id="111" name="Freeform 67"/>
              <p:cNvSpPr>
                <a:spLocks noChangeAspect="1"/>
              </p:cNvSpPr>
              <p:nvPr/>
            </p:nvSpPr>
            <p:spPr bwMode="auto">
              <a:xfrm>
                <a:off x="2210067" y="2048473"/>
                <a:ext cx="1258530" cy="233363"/>
              </a:xfrm>
              <a:custGeom>
                <a:avLst/>
                <a:gdLst>
                  <a:gd name="T0" fmla="*/ 343 w 456"/>
                  <a:gd name="T1" fmla="*/ 0 h 82"/>
                  <a:gd name="T2" fmla="*/ 337 w 456"/>
                  <a:gd name="T3" fmla="*/ 6 h 82"/>
                  <a:gd name="T4" fmla="*/ 421 w 456"/>
                  <a:gd name="T5" fmla="*/ 26 h 82"/>
                  <a:gd name="T6" fmla="*/ 224 w 456"/>
                  <a:gd name="T7" fmla="*/ 74 h 82"/>
                  <a:gd name="T8" fmla="*/ 35 w 456"/>
                  <a:gd name="T9" fmla="*/ 29 h 82"/>
                  <a:gd name="T10" fmla="*/ 121 w 456"/>
                  <a:gd name="T11" fmla="*/ 8 h 82"/>
                  <a:gd name="T12" fmla="*/ 115 w 456"/>
                  <a:gd name="T13" fmla="*/ 2 h 82"/>
                  <a:gd name="T14" fmla="*/ 0 w 456"/>
                  <a:gd name="T15" fmla="*/ 29 h 82"/>
                  <a:gd name="T16" fmla="*/ 223 w 456"/>
                  <a:gd name="T17" fmla="*/ 82 h 82"/>
                  <a:gd name="T18" fmla="*/ 224 w 456"/>
                  <a:gd name="T19" fmla="*/ 82 h 82"/>
                  <a:gd name="T20" fmla="*/ 456 w 456"/>
                  <a:gd name="T21" fmla="*/ 26 h 82"/>
                  <a:gd name="T22" fmla="*/ 343 w 456"/>
                  <a:gd name="T23"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6" h="82">
                    <a:moveTo>
                      <a:pt x="343" y="0"/>
                    </a:moveTo>
                    <a:cubicBezTo>
                      <a:pt x="341" y="2"/>
                      <a:pt x="339" y="4"/>
                      <a:pt x="337" y="6"/>
                    </a:cubicBezTo>
                    <a:cubicBezTo>
                      <a:pt x="421" y="26"/>
                      <a:pt x="421" y="26"/>
                      <a:pt x="421" y="26"/>
                    </a:cubicBezTo>
                    <a:cubicBezTo>
                      <a:pt x="224" y="74"/>
                      <a:pt x="224" y="74"/>
                      <a:pt x="224" y="74"/>
                    </a:cubicBezTo>
                    <a:cubicBezTo>
                      <a:pt x="35" y="29"/>
                      <a:pt x="35" y="29"/>
                      <a:pt x="35" y="29"/>
                    </a:cubicBezTo>
                    <a:cubicBezTo>
                      <a:pt x="121" y="8"/>
                      <a:pt x="121" y="8"/>
                      <a:pt x="121" y="8"/>
                    </a:cubicBezTo>
                    <a:cubicBezTo>
                      <a:pt x="119" y="6"/>
                      <a:pt x="117" y="4"/>
                      <a:pt x="115" y="2"/>
                    </a:cubicBezTo>
                    <a:cubicBezTo>
                      <a:pt x="0" y="29"/>
                      <a:pt x="0" y="29"/>
                      <a:pt x="0" y="29"/>
                    </a:cubicBezTo>
                    <a:cubicBezTo>
                      <a:pt x="223" y="82"/>
                      <a:pt x="223" y="82"/>
                      <a:pt x="223" y="82"/>
                    </a:cubicBezTo>
                    <a:cubicBezTo>
                      <a:pt x="224" y="82"/>
                      <a:pt x="224" y="82"/>
                      <a:pt x="224" y="82"/>
                    </a:cubicBezTo>
                    <a:cubicBezTo>
                      <a:pt x="456" y="26"/>
                      <a:pt x="456" y="26"/>
                      <a:pt x="456" y="26"/>
                    </a:cubicBezTo>
                    <a:lnTo>
                      <a:pt x="343" y="0"/>
                    </a:lnTo>
                    <a:close/>
                  </a:path>
                </a:pathLst>
              </a:custGeom>
              <a:solidFill>
                <a:schemeClr val="accent1"/>
              </a:solidFill>
              <a:ln w="3175">
                <a:noFill/>
                <a:round/>
                <a:headEnd/>
                <a:tailEnd/>
              </a:ln>
              <a:extLst/>
            </p:spPr>
            <p:txBody>
              <a:bodyPr vert="horz" wrap="square" lIns="172775" tIns="86388" rIns="172775" bIns="86388" numCol="1" anchor="t" anchorCtr="0" compatLnSpc="1">
                <a:prstTxWarp prst="textNoShape">
                  <a:avLst/>
                </a:prstTxWarp>
              </a:bodyPr>
              <a:lstStyle/>
              <a:p>
                <a:pPr defTabSz="1270559"/>
                <a:endParaRPr lang="en-US" sz="3401" kern="0">
                  <a:solidFill>
                    <a:sysClr val="windowText" lastClr="000000"/>
                  </a:solidFill>
                </a:endParaRPr>
              </a:p>
            </p:txBody>
          </p:sp>
          <p:sp>
            <p:nvSpPr>
              <p:cNvPr id="115" name="TextBox 114"/>
              <p:cNvSpPr txBox="1"/>
              <p:nvPr/>
            </p:nvSpPr>
            <p:spPr>
              <a:xfrm>
                <a:off x="1757367" y="2257075"/>
                <a:ext cx="1528842" cy="360123"/>
              </a:xfrm>
              <a:prstGeom prst="rect">
                <a:avLst/>
              </a:prstGeom>
              <a:noFill/>
            </p:spPr>
            <p:txBody>
              <a:bodyPr wrap="square" lIns="259163" tIns="207330" rIns="259163" bIns="207330" rtlCol="0">
                <a:spAutoFit/>
              </a:bodyPr>
              <a:lstStyle/>
              <a:p>
                <a:pPr algn="ctr" defTabSz="1270559">
                  <a:lnSpc>
                    <a:spcPct val="90000"/>
                  </a:lnSpc>
                  <a:spcBef>
                    <a:spcPts val="1134"/>
                  </a:spcBef>
                  <a:defRPr/>
                </a:pPr>
                <a:r>
                  <a:rPr lang="zh-CN" altLang="en-US" sz="1890" b="1" kern="0" dirty="0">
                    <a:solidFill>
                      <a:sysClr val="windowText" lastClr="000000"/>
                    </a:solidFill>
                  </a:rPr>
                  <a:t>供应商议价能力：弱</a:t>
                </a:r>
                <a:endParaRPr lang="en-US" sz="1890" b="1" kern="0" dirty="0">
                  <a:solidFill>
                    <a:sysClr val="windowText" lastClr="000000"/>
                  </a:solidFill>
                </a:endParaRPr>
              </a:p>
            </p:txBody>
          </p:sp>
        </p:grpSp>
        <p:grpSp>
          <p:nvGrpSpPr>
            <p:cNvPr id="120" name="Web"/>
            <p:cNvGrpSpPr/>
            <p:nvPr/>
          </p:nvGrpSpPr>
          <p:grpSpPr>
            <a:xfrm>
              <a:off x="11706222" y="7152066"/>
              <a:ext cx="2962275" cy="1072325"/>
              <a:chOff x="4923138" y="2049678"/>
              <a:chExt cx="1567766" cy="567521"/>
            </a:xfrm>
          </p:grpSpPr>
          <p:sp>
            <p:nvSpPr>
              <p:cNvPr id="112" name="Freeform 67"/>
              <p:cNvSpPr>
                <a:spLocks noChangeAspect="1"/>
              </p:cNvSpPr>
              <p:nvPr/>
            </p:nvSpPr>
            <p:spPr bwMode="auto">
              <a:xfrm>
                <a:off x="5047124" y="2049678"/>
                <a:ext cx="1258530" cy="233363"/>
              </a:xfrm>
              <a:custGeom>
                <a:avLst/>
                <a:gdLst>
                  <a:gd name="T0" fmla="*/ 343 w 456"/>
                  <a:gd name="T1" fmla="*/ 0 h 82"/>
                  <a:gd name="T2" fmla="*/ 337 w 456"/>
                  <a:gd name="T3" fmla="*/ 6 h 82"/>
                  <a:gd name="T4" fmla="*/ 421 w 456"/>
                  <a:gd name="T5" fmla="*/ 26 h 82"/>
                  <a:gd name="T6" fmla="*/ 224 w 456"/>
                  <a:gd name="T7" fmla="*/ 74 h 82"/>
                  <a:gd name="T8" fmla="*/ 35 w 456"/>
                  <a:gd name="T9" fmla="*/ 29 h 82"/>
                  <a:gd name="T10" fmla="*/ 121 w 456"/>
                  <a:gd name="T11" fmla="*/ 8 h 82"/>
                  <a:gd name="T12" fmla="*/ 115 w 456"/>
                  <a:gd name="T13" fmla="*/ 2 h 82"/>
                  <a:gd name="T14" fmla="*/ 0 w 456"/>
                  <a:gd name="T15" fmla="*/ 29 h 82"/>
                  <a:gd name="T16" fmla="*/ 223 w 456"/>
                  <a:gd name="T17" fmla="*/ 82 h 82"/>
                  <a:gd name="T18" fmla="*/ 224 w 456"/>
                  <a:gd name="T19" fmla="*/ 82 h 82"/>
                  <a:gd name="T20" fmla="*/ 456 w 456"/>
                  <a:gd name="T21" fmla="*/ 26 h 82"/>
                  <a:gd name="T22" fmla="*/ 343 w 456"/>
                  <a:gd name="T23"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6" h="82">
                    <a:moveTo>
                      <a:pt x="343" y="0"/>
                    </a:moveTo>
                    <a:cubicBezTo>
                      <a:pt x="341" y="2"/>
                      <a:pt x="339" y="4"/>
                      <a:pt x="337" y="6"/>
                    </a:cubicBezTo>
                    <a:cubicBezTo>
                      <a:pt x="421" y="26"/>
                      <a:pt x="421" y="26"/>
                      <a:pt x="421" y="26"/>
                    </a:cubicBezTo>
                    <a:cubicBezTo>
                      <a:pt x="224" y="74"/>
                      <a:pt x="224" y="74"/>
                      <a:pt x="224" y="74"/>
                    </a:cubicBezTo>
                    <a:cubicBezTo>
                      <a:pt x="35" y="29"/>
                      <a:pt x="35" y="29"/>
                      <a:pt x="35" y="29"/>
                    </a:cubicBezTo>
                    <a:cubicBezTo>
                      <a:pt x="121" y="8"/>
                      <a:pt x="121" y="8"/>
                      <a:pt x="121" y="8"/>
                    </a:cubicBezTo>
                    <a:cubicBezTo>
                      <a:pt x="119" y="6"/>
                      <a:pt x="117" y="4"/>
                      <a:pt x="115" y="2"/>
                    </a:cubicBezTo>
                    <a:cubicBezTo>
                      <a:pt x="0" y="29"/>
                      <a:pt x="0" y="29"/>
                      <a:pt x="0" y="29"/>
                    </a:cubicBezTo>
                    <a:cubicBezTo>
                      <a:pt x="223" y="82"/>
                      <a:pt x="223" y="82"/>
                      <a:pt x="223" y="82"/>
                    </a:cubicBezTo>
                    <a:cubicBezTo>
                      <a:pt x="224" y="82"/>
                      <a:pt x="224" y="82"/>
                      <a:pt x="224" y="82"/>
                    </a:cubicBezTo>
                    <a:cubicBezTo>
                      <a:pt x="456" y="26"/>
                      <a:pt x="456" y="26"/>
                      <a:pt x="456" y="26"/>
                    </a:cubicBezTo>
                    <a:lnTo>
                      <a:pt x="343" y="0"/>
                    </a:lnTo>
                    <a:close/>
                  </a:path>
                </a:pathLst>
              </a:custGeom>
              <a:solidFill>
                <a:schemeClr val="accent1"/>
              </a:solidFill>
              <a:ln w="3175">
                <a:noFill/>
                <a:round/>
                <a:headEnd/>
                <a:tailEnd/>
              </a:ln>
              <a:extLst/>
            </p:spPr>
            <p:txBody>
              <a:bodyPr vert="horz" wrap="square" lIns="172775" tIns="86388" rIns="172775" bIns="86388" numCol="1" anchor="t" anchorCtr="0" compatLnSpc="1">
                <a:prstTxWarp prst="textNoShape">
                  <a:avLst/>
                </a:prstTxWarp>
              </a:bodyPr>
              <a:lstStyle/>
              <a:p>
                <a:pPr defTabSz="1270559"/>
                <a:endParaRPr lang="en-US" sz="3401" kern="0">
                  <a:solidFill>
                    <a:sysClr val="windowText" lastClr="000000"/>
                  </a:solidFill>
                </a:endParaRPr>
              </a:p>
            </p:txBody>
          </p:sp>
          <p:sp>
            <p:nvSpPr>
              <p:cNvPr id="117" name="TextBox 116"/>
              <p:cNvSpPr txBox="1"/>
              <p:nvPr/>
            </p:nvSpPr>
            <p:spPr>
              <a:xfrm>
                <a:off x="4923138" y="2257076"/>
                <a:ext cx="1567766" cy="360123"/>
              </a:xfrm>
              <a:prstGeom prst="rect">
                <a:avLst/>
              </a:prstGeom>
              <a:noFill/>
            </p:spPr>
            <p:txBody>
              <a:bodyPr wrap="square" lIns="259163" tIns="207330" rIns="259163" bIns="207330" rtlCol="0">
                <a:spAutoFit/>
              </a:bodyPr>
              <a:lstStyle/>
              <a:p>
                <a:pPr algn="ctr" defTabSz="1270559">
                  <a:lnSpc>
                    <a:spcPct val="90000"/>
                  </a:lnSpc>
                  <a:spcBef>
                    <a:spcPts val="1134"/>
                  </a:spcBef>
                  <a:defRPr/>
                </a:pPr>
                <a:r>
                  <a:rPr lang="zh-CN" altLang="en-US" sz="1890" b="1" kern="0" dirty="0">
                    <a:solidFill>
                      <a:sysClr val="windowText" lastClr="000000"/>
                    </a:solidFill>
                  </a:rPr>
                  <a:t>采购商议价能力：一般</a:t>
                </a:r>
              </a:p>
            </p:txBody>
          </p:sp>
        </p:grpSp>
        <p:grpSp>
          <p:nvGrpSpPr>
            <p:cNvPr id="119" name="Other platforms"/>
            <p:cNvGrpSpPr/>
            <p:nvPr/>
          </p:nvGrpSpPr>
          <p:grpSpPr>
            <a:xfrm>
              <a:off x="13821268" y="4285064"/>
              <a:ext cx="2904629" cy="1072321"/>
              <a:chOff x="6750977" y="2049678"/>
              <a:chExt cx="1537257" cy="567519"/>
            </a:xfrm>
          </p:grpSpPr>
          <p:sp>
            <p:nvSpPr>
              <p:cNvPr id="113" name="Freeform 67"/>
              <p:cNvSpPr>
                <a:spLocks noChangeAspect="1"/>
              </p:cNvSpPr>
              <p:nvPr/>
            </p:nvSpPr>
            <p:spPr bwMode="auto">
              <a:xfrm>
                <a:off x="6750977" y="2049678"/>
                <a:ext cx="1258530" cy="233363"/>
              </a:xfrm>
              <a:custGeom>
                <a:avLst/>
                <a:gdLst>
                  <a:gd name="T0" fmla="*/ 343 w 456"/>
                  <a:gd name="T1" fmla="*/ 0 h 82"/>
                  <a:gd name="T2" fmla="*/ 337 w 456"/>
                  <a:gd name="T3" fmla="*/ 6 h 82"/>
                  <a:gd name="T4" fmla="*/ 421 w 456"/>
                  <a:gd name="T5" fmla="*/ 26 h 82"/>
                  <a:gd name="T6" fmla="*/ 224 w 456"/>
                  <a:gd name="T7" fmla="*/ 74 h 82"/>
                  <a:gd name="T8" fmla="*/ 35 w 456"/>
                  <a:gd name="T9" fmla="*/ 29 h 82"/>
                  <a:gd name="T10" fmla="*/ 121 w 456"/>
                  <a:gd name="T11" fmla="*/ 8 h 82"/>
                  <a:gd name="T12" fmla="*/ 115 w 456"/>
                  <a:gd name="T13" fmla="*/ 2 h 82"/>
                  <a:gd name="T14" fmla="*/ 0 w 456"/>
                  <a:gd name="T15" fmla="*/ 29 h 82"/>
                  <a:gd name="T16" fmla="*/ 223 w 456"/>
                  <a:gd name="T17" fmla="*/ 82 h 82"/>
                  <a:gd name="T18" fmla="*/ 224 w 456"/>
                  <a:gd name="T19" fmla="*/ 82 h 82"/>
                  <a:gd name="T20" fmla="*/ 456 w 456"/>
                  <a:gd name="T21" fmla="*/ 26 h 82"/>
                  <a:gd name="T22" fmla="*/ 343 w 456"/>
                  <a:gd name="T23"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6" h="82">
                    <a:moveTo>
                      <a:pt x="343" y="0"/>
                    </a:moveTo>
                    <a:cubicBezTo>
                      <a:pt x="341" y="2"/>
                      <a:pt x="339" y="4"/>
                      <a:pt x="337" y="6"/>
                    </a:cubicBezTo>
                    <a:cubicBezTo>
                      <a:pt x="421" y="26"/>
                      <a:pt x="421" y="26"/>
                      <a:pt x="421" y="26"/>
                    </a:cubicBezTo>
                    <a:cubicBezTo>
                      <a:pt x="224" y="74"/>
                      <a:pt x="224" y="74"/>
                      <a:pt x="224" y="74"/>
                    </a:cubicBezTo>
                    <a:cubicBezTo>
                      <a:pt x="35" y="29"/>
                      <a:pt x="35" y="29"/>
                      <a:pt x="35" y="29"/>
                    </a:cubicBezTo>
                    <a:cubicBezTo>
                      <a:pt x="121" y="8"/>
                      <a:pt x="121" y="8"/>
                      <a:pt x="121" y="8"/>
                    </a:cubicBezTo>
                    <a:cubicBezTo>
                      <a:pt x="119" y="6"/>
                      <a:pt x="117" y="4"/>
                      <a:pt x="115" y="2"/>
                    </a:cubicBezTo>
                    <a:cubicBezTo>
                      <a:pt x="0" y="29"/>
                      <a:pt x="0" y="29"/>
                      <a:pt x="0" y="29"/>
                    </a:cubicBezTo>
                    <a:cubicBezTo>
                      <a:pt x="223" y="82"/>
                      <a:pt x="223" y="82"/>
                      <a:pt x="223" y="82"/>
                    </a:cubicBezTo>
                    <a:cubicBezTo>
                      <a:pt x="224" y="82"/>
                      <a:pt x="224" y="82"/>
                      <a:pt x="224" y="82"/>
                    </a:cubicBezTo>
                    <a:cubicBezTo>
                      <a:pt x="456" y="26"/>
                      <a:pt x="456" y="26"/>
                      <a:pt x="456" y="26"/>
                    </a:cubicBezTo>
                    <a:lnTo>
                      <a:pt x="343" y="0"/>
                    </a:lnTo>
                    <a:close/>
                  </a:path>
                </a:pathLst>
              </a:custGeom>
              <a:solidFill>
                <a:schemeClr val="accent1"/>
              </a:solidFill>
              <a:ln w="3175">
                <a:noFill/>
                <a:round/>
                <a:headEnd/>
                <a:tailEnd/>
              </a:ln>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118" name="TextBox 117"/>
              <p:cNvSpPr txBox="1"/>
              <p:nvPr/>
            </p:nvSpPr>
            <p:spPr>
              <a:xfrm>
                <a:off x="6889409" y="2257074"/>
                <a:ext cx="1398825" cy="360123"/>
              </a:xfrm>
              <a:prstGeom prst="rect">
                <a:avLst/>
              </a:prstGeom>
              <a:noFill/>
            </p:spPr>
            <p:txBody>
              <a:bodyPr wrap="square" lIns="259163" tIns="207330" rIns="259163" bIns="207330" rtlCol="0">
                <a:spAutoFit/>
              </a:bodyPr>
              <a:lstStyle/>
              <a:p>
                <a:pPr algn="ctr" defTabSz="1270559">
                  <a:lnSpc>
                    <a:spcPct val="90000"/>
                  </a:lnSpc>
                  <a:spcBef>
                    <a:spcPts val="1134"/>
                  </a:spcBef>
                  <a:defRPr/>
                </a:pPr>
                <a:r>
                  <a:rPr lang="zh-CN" altLang="en-US" sz="1890" b="1" kern="0" dirty="0">
                    <a:solidFill>
                      <a:sysClr val="windowText" lastClr="000000"/>
                    </a:solidFill>
                  </a:rPr>
                  <a:t>行业内竞争：一般</a:t>
                </a:r>
              </a:p>
            </p:txBody>
          </p:sp>
        </p:grpSp>
        <p:grpSp>
          <p:nvGrpSpPr>
            <p:cNvPr id="126" name="Group 70"/>
            <p:cNvGrpSpPr>
              <a:grpSpLocks noChangeAspect="1"/>
            </p:cNvGrpSpPr>
            <p:nvPr/>
          </p:nvGrpSpPr>
          <p:grpSpPr bwMode="auto">
            <a:xfrm>
              <a:off x="7400257" y="2732387"/>
              <a:ext cx="2237294" cy="2079179"/>
              <a:chOff x="1876" y="679"/>
              <a:chExt cx="1927" cy="1925"/>
            </a:xfrm>
          </p:grpSpPr>
          <p:sp>
            <p:nvSpPr>
              <p:cNvPr id="128" name="Freeform 71"/>
              <p:cNvSpPr>
                <a:spLocks noEditPoints="1"/>
              </p:cNvSpPr>
              <p:nvPr/>
            </p:nvSpPr>
            <p:spPr bwMode="auto">
              <a:xfrm>
                <a:off x="1876" y="679"/>
                <a:ext cx="1577" cy="1503"/>
              </a:xfrm>
              <a:custGeom>
                <a:avLst/>
                <a:gdLst>
                  <a:gd name="T0" fmla="*/ 147 w 665"/>
                  <a:gd name="T1" fmla="*/ 634 h 634"/>
                  <a:gd name="T2" fmla="*/ 143 w 665"/>
                  <a:gd name="T3" fmla="*/ 630 h 634"/>
                  <a:gd name="T4" fmla="*/ 143 w 665"/>
                  <a:gd name="T5" fmla="*/ 112 h 634"/>
                  <a:gd name="T6" fmla="*/ 376 w 665"/>
                  <a:gd name="T7" fmla="*/ 6 h 634"/>
                  <a:gd name="T8" fmla="*/ 610 w 665"/>
                  <a:gd name="T9" fmla="*/ 70 h 634"/>
                  <a:gd name="T10" fmla="*/ 610 w 665"/>
                  <a:gd name="T11" fmla="*/ 38 h 634"/>
                  <a:gd name="T12" fmla="*/ 665 w 665"/>
                  <a:gd name="T13" fmla="*/ 38 h 634"/>
                  <a:gd name="T14" fmla="*/ 665 w 665"/>
                  <a:gd name="T15" fmla="*/ 163 h 634"/>
                  <a:gd name="T16" fmla="*/ 541 w 665"/>
                  <a:gd name="T17" fmla="*/ 163 h 634"/>
                  <a:gd name="T18" fmla="*/ 541 w 665"/>
                  <a:gd name="T19" fmla="*/ 108 h 634"/>
                  <a:gd name="T20" fmla="*/ 568 w 665"/>
                  <a:gd name="T21" fmla="*/ 108 h 634"/>
                  <a:gd name="T22" fmla="*/ 182 w 665"/>
                  <a:gd name="T23" fmla="*/ 151 h 634"/>
                  <a:gd name="T24" fmla="*/ 90 w 665"/>
                  <a:gd name="T25" fmla="*/ 371 h 634"/>
                  <a:gd name="T26" fmla="*/ 182 w 665"/>
                  <a:gd name="T27" fmla="*/ 592 h 634"/>
                  <a:gd name="T28" fmla="*/ 186 w 665"/>
                  <a:gd name="T29" fmla="*/ 596 h 634"/>
                  <a:gd name="T30" fmla="*/ 147 w 665"/>
                  <a:gd name="T31" fmla="*/ 634 h 634"/>
                  <a:gd name="T32" fmla="*/ 402 w 665"/>
                  <a:gd name="T33" fmla="*/ 18 h 634"/>
                  <a:gd name="T34" fmla="*/ 151 w 665"/>
                  <a:gd name="T35" fmla="*/ 121 h 634"/>
                  <a:gd name="T36" fmla="*/ 147 w 665"/>
                  <a:gd name="T37" fmla="*/ 617 h 634"/>
                  <a:gd name="T38" fmla="*/ 169 w 665"/>
                  <a:gd name="T39" fmla="*/ 596 h 634"/>
                  <a:gd name="T40" fmla="*/ 78 w 665"/>
                  <a:gd name="T41" fmla="*/ 371 h 634"/>
                  <a:gd name="T42" fmla="*/ 173 w 665"/>
                  <a:gd name="T43" fmla="*/ 142 h 634"/>
                  <a:gd name="T44" fmla="*/ 377 w 665"/>
                  <a:gd name="T45" fmla="*/ 49 h 634"/>
                  <a:gd name="T46" fmla="*/ 591 w 665"/>
                  <a:gd name="T47" fmla="*/ 109 h 634"/>
                  <a:gd name="T48" fmla="*/ 606 w 665"/>
                  <a:gd name="T49" fmla="*/ 120 h 634"/>
                  <a:gd name="T50" fmla="*/ 553 w 665"/>
                  <a:gd name="T51" fmla="*/ 120 h 634"/>
                  <a:gd name="T52" fmla="*/ 553 w 665"/>
                  <a:gd name="T53" fmla="*/ 151 h 634"/>
                  <a:gd name="T54" fmla="*/ 653 w 665"/>
                  <a:gd name="T55" fmla="*/ 151 h 634"/>
                  <a:gd name="T56" fmla="*/ 653 w 665"/>
                  <a:gd name="T57" fmla="*/ 50 h 634"/>
                  <a:gd name="T58" fmla="*/ 622 w 665"/>
                  <a:gd name="T59" fmla="*/ 50 h 634"/>
                  <a:gd name="T60" fmla="*/ 622 w 665"/>
                  <a:gd name="T61" fmla="*/ 94 h 634"/>
                  <a:gd name="T62" fmla="*/ 613 w 665"/>
                  <a:gd name="T63" fmla="*/ 87 h 634"/>
                  <a:gd name="T64" fmla="*/ 402 w 665"/>
                  <a:gd name="T65" fmla="*/ 18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65" h="634">
                    <a:moveTo>
                      <a:pt x="147" y="634"/>
                    </a:moveTo>
                    <a:cubicBezTo>
                      <a:pt x="143" y="630"/>
                      <a:pt x="143" y="630"/>
                      <a:pt x="143" y="630"/>
                    </a:cubicBezTo>
                    <a:cubicBezTo>
                      <a:pt x="0" y="487"/>
                      <a:pt x="0" y="255"/>
                      <a:pt x="143" y="112"/>
                    </a:cubicBezTo>
                    <a:cubicBezTo>
                      <a:pt x="205" y="50"/>
                      <a:pt x="288" y="12"/>
                      <a:pt x="376" y="6"/>
                    </a:cubicBezTo>
                    <a:cubicBezTo>
                      <a:pt x="460" y="0"/>
                      <a:pt x="542" y="23"/>
                      <a:pt x="610" y="70"/>
                    </a:cubicBezTo>
                    <a:cubicBezTo>
                      <a:pt x="610" y="38"/>
                      <a:pt x="610" y="38"/>
                      <a:pt x="610" y="38"/>
                    </a:cubicBezTo>
                    <a:cubicBezTo>
                      <a:pt x="665" y="38"/>
                      <a:pt x="665" y="38"/>
                      <a:pt x="665" y="38"/>
                    </a:cubicBezTo>
                    <a:cubicBezTo>
                      <a:pt x="665" y="163"/>
                      <a:pt x="665" y="163"/>
                      <a:pt x="665" y="163"/>
                    </a:cubicBezTo>
                    <a:cubicBezTo>
                      <a:pt x="541" y="163"/>
                      <a:pt x="541" y="163"/>
                      <a:pt x="541" y="163"/>
                    </a:cubicBezTo>
                    <a:cubicBezTo>
                      <a:pt x="541" y="108"/>
                      <a:pt x="541" y="108"/>
                      <a:pt x="541" y="108"/>
                    </a:cubicBezTo>
                    <a:cubicBezTo>
                      <a:pt x="568" y="108"/>
                      <a:pt x="568" y="108"/>
                      <a:pt x="568" y="108"/>
                    </a:cubicBezTo>
                    <a:cubicBezTo>
                      <a:pt x="447" y="31"/>
                      <a:pt x="284" y="48"/>
                      <a:pt x="182" y="151"/>
                    </a:cubicBezTo>
                    <a:cubicBezTo>
                      <a:pt x="123" y="210"/>
                      <a:pt x="90" y="288"/>
                      <a:pt x="90" y="371"/>
                    </a:cubicBezTo>
                    <a:cubicBezTo>
                      <a:pt x="90" y="455"/>
                      <a:pt x="123" y="533"/>
                      <a:pt x="182" y="592"/>
                    </a:cubicBezTo>
                    <a:cubicBezTo>
                      <a:pt x="186" y="596"/>
                      <a:pt x="186" y="596"/>
                      <a:pt x="186" y="596"/>
                    </a:cubicBezTo>
                    <a:lnTo>
                      <a:pt x="147" y="634"/>
                    </a:lnTo>
                    <a:close/>
                    <a:moveTo>
                      <a:pt x="402" y="18"/>
                    </a:moveTo>
                    <a:cubicBezTo>
                      <a:pt x="311" y="18"/>
                      <a:pt x="220" y="52"/>
                      <a:pt x="151" y="121"/>
                    </a:cubicBezTo>
                    <a:cubicBezTo>
                      <a:pt x="15" y="257"/>
                      <a:pt x="13" y="479"/>
                      <a:pt x="147" y="617"/>
                    </a:cubicBezTo>
                    <a:cubicBezTo>
                      <a:pt x="169" y="596"/>
                      <a:pt x="169" y="596"/>
                      <a:pt x="169" y="596"/>
                    </a:cubicBezTo>
                    <a:cubicBezTo>
                      <a:pt x="111" y="535"/>
                      <a:pt x="78" y="456"/>
                      <a:pt x="78" y="371"/>
                    </a:cubicBezTo>
                    <a:cubicBezTo>
                      <a:pt x="78" y="285"/>
                      <a:pt x="112" y="203"/>
                      <a:pt x="173" y="142"/>
                    </a:cubicBezTo>
                    <a:cubicBezTo>
                      <a:pt x="228" y="88"/>
                      <a:pt x="300" y="55"/>
                      <a:pt x="377" y="49"/>
                    </a:cubicBezTo>
                    <a:cubicBezTo>
                      <a:pt x="454" y="43"/>
                      <a:pt x="530" y="64"/>
                      <a:pt x="591" y="109"/>
                    </a:cubicBezTo>
                    <a:cubicBezTo>
                      <a:pt x="606" y="120"/>
                      <a:pt x="606" y="120"/>
                      <a:pt x="606" y="120"/>
                    </a:cubicBezTo>
                    <a:cubicBezTo>
                      <a:pt x="553" y="120"/>
                      <a:pt x="553" y="120"/>
                      <a:pt x="553" y="120"/>
                    </a:cubicBezTo>
                    <a:cubicBezTo>
                      <a:pt x="553" y="151"/>
                      <a:pt x="553" y="151"/>
                      <a:pt x="553" y="151"/>
                    </a:cubicBezTo>
                    <a:cubicBezTo>
                      <a:pt x="653" y="151"/>
                      <a:pt x="653" y="151"/>
                      <a:pt x="653" y="151"/>
                    </a:cubicBezTo>
                    <a:cubicBezTo>
                      <a:pt x="653" y="50"/>
                      <a:pt x="653" y="50"/>
                      <a:pt x="653" y="50"/>
                    </a:cubicBezTo>
                    <a:cubicBezTo>
                      <a:pt x="622" y="50"/>
                      <a:pt x="622" y="50"/>
                      <a:pt x="622" y="50"/>
                    </a:cubicBezTo>
                    <a:cubicBezTo>
                      <a:pt x="622" y="94"/>
                      <a:pt x="622" y="94"/>
                      <a:pt x="622" y="94"/>
                    </a:cubicBezTo>
                    <a:cubicBezTo>
                      <a:pt x="613" y="87"/>
                      <a:pt x="613" y="87"/>
                      <a:pt x="613" y="87"/>
                    </a:cubicBezTo>
                    <a:cubicBezTo>
                      <a:pt x="550" y="40"/>
                      <a:pt x="476" y="18"/>
                      <a:pt x="402" y="18"/>
                    </a:cubicBez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129" name="Freeform 72"/>
              <p:cNvSpPr>
                <a:spLocks noEditPoints="1"/>
              </p:cNvSpPr>
              <p:nvPr/>
            </p:nvSpPr>
            <p:spPr bwMode="auto">
              <a:xfrm>
                <a:off x="2312" y="1060"/>
                <a:ext cx="1491" cy="1544"/>
              </a:xfrm>
              <a:custGeom>
                <a:avLst/>
                <a:gdLst>
                  <a:gd name="T0" fmla="*/ 263 w 629"/>
                  <a:gd name="T1" fmla="*/ 629 h 651"/>
                  <a:gd name="T2" fmla="*/ 54 w 629"/>
                  <a:gd name="T3" fmla="*/ 564 h 651"/>
                  <a:gd name="T4" fmla="*/ 54 w 629"/>
                  <a:gd name="T5" fmla="*/ 596 h 651"/>
                  <a:gd name="T6" fmla="*/ 0 w 629"/>
                  <a:gd name="T7" fmla="*/ 596 h 651"/>
                  <a:gd name="T8" fmla="*/ 0 w 629"/>
                  <a:gd name="T9" fmla="*/ 471 h 651"/>
                  <a:gd name="T10" fmla="*/ 124 w 629"/>
                  <a:gd name="T11" fmla="*/ 471 h 651"/>
                  <a:gd name="T12" fmla="*/ 124 w 629"/>
                  <a:gd name="T13" fmla="*/ 526 h 651"/>
                  <a:gd name="T14" fmla="*/ 97 w 629"/>
                  <a:gd name="T15" fmla="*/ 526 h 651"/>
                  <a:gd name="T16" fmla="*/ 483 w 629"/>
                  <a:gd name="T17" fmla="*/ 483 h 651"/>
                  <a:gd name="T18" fmla="*/ 574 w 629"/>
                  <a:gd name="T19" fmla="*/ 263 h 651"/>
                  <a:gd name="T20" fmla="*/ 483 w 629"/>
                  <a:gd name="T21" fmla="*/ 43 h 651"/>
                  <a:gd name="T22" fmla="*/ 479 w 629"/>
                  <a:gd name="T23" fmla="*/ 38 h 651"/>
                  <a:gd name="T24" fmla="*/ 518 w 629"/>
                  <a:gd name="T25" fmla="*/ 0 h 651"/>
                  <a:gd name="T26" fmla="*/ 522 w 629"/>
                  <a:gd name="T27" fmla="*/ 4 h 651"/>
                  <a:gd name="T28" fmla="*/ 629 w 629"/>
                  <a:gd name="T29" fmla="*/ 263 h 651"/>
                  <a:gd name="T30" fmla="*/ 522 w 629"/>
                  <a:gd name="T31" fmla="*/ 522 h 651"/>
                  <a:gd name="T32" fmla="*/ 522 w 629"/>
                  <a:gd name="T33" fmla="*/ 522 h 651"/>
                  <a:gd name="T34" fmla="*/ 289 w 629"/>
                  <a:gd name="T35" fmla="*/ 628 h 651"/>
                  <a:gd name="T36" fmla="*/ 263 w 629"/>
                  <a:gd name="T37" fmla="*/ 629 h 651"/>
                  <a:gd name="T38" fmla="*/ 42 w 629"/>
                  <a:gd name="T39" fmla="*/ 540 h 651"/>
                  <a:gd name="T40" fmla="*/ 52 w 629"/>
                  <a:gd name="T41" fmla="*/ 548 h 651"/>
                  <a:gd name="T42" fmla="*/ 514 w 629"/>
                  <a:gd name="T43" fmla="*/ 513 h 651"/>
                  <a:gd name="T44" fmla="*/ 514 w 629"/>
                  <a:gd name="T45" fmla="*/ 513 h 651"/>
                  <a:gd name="T46" fmla="*/ 617 w 629"/>
                  <a:gd name="T47" fmla="*/ 263 h 651"/>
                  <a:gd name="T48" fmla="*/ 518 w 629"/>
                  <a:gd name="T49" fmla="*/ 17 h 651"/>
                  <a:gd name="T50" fmla="*/ 496 w 629"/>
                  <a:gd name="T51" fmla="*/ 38 h 651"/>
                  <a:gd name="T52" fmla="*/ 586 w 629"/>
                  <a:gd name="T53" fmla="*/ 263 h 651"/>
                  <a:gd name="T54" fmla="*/ 492 w 629"/>
                  <a:gd name="T55" fmla="*/ 492 h 651"/>
                  <a:gd name="T56" fmla="*/ 287 w 629"/>
                  <a:gd name="T57" fmla="*/ 585 h 651"/>
                  <a:gd name="T58" fmla="*/ 73 w 629"/>
                  <a:gd name="T59" fmla="*/ 525 h 651"/>
                  <a:gd name="T60" fmla="*/ 58 w 629"/>
                  <a:gd name="T61" fmla="*/ 514 h 651"/>
                  <a:gd name="T62" fmla="*/ 112 w 629"/>
                  <a:gd name="T63" fmla="*/ 514 h 651"/>
                  <a:gd name="T64" fmla="*/ 112 w 629"/>
                  <a:gd name="T65" fmla="*/ 483 h 651"/>
                  <a:gd name="T66" fmla="*/ 12 w 629"/>
                  <a:gd name="T67" fmla="*/ 483 h 651"/>
                  <a:gd name="T68" fmla="*/ 12 w 629"/>
                  <a:gd name="T69" fmla="*/ 584 h 651"/>
                  <a:gd name="T70" fmla="*/ 42 w 629"/>
                  <a:gd name="T71" fmla="*/ 584 h 651"/>
                  <a:gd name="T72" fmla="*/ 42 w 629"/>
                  <a:gd name="T73" fmla="*/ 540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29" h="651">
                    <a:moveTo>
                      <a:pt x="263" y="629"/>
                    </a:moveTo>
                    <a:cubicBezTo>
                      <a:pt x="188" y="629"/>
                      <a:pt x="116" y="606"/>
                      <a:pt x="54" y="564"/>
                    </a:cubicBezTo>
                    <a:cubicBezTo>
                      <a:pt x="54" y="596"/>
                      <a:pt x="54" y="596"/>
                      <a:pt x="54" y="596"/>
                    </a:cubicBezTo>
                    <a:cubicBezTo>
                      <a:pt x="0" y="596"/>
                      <a:pt x="0" y="596"/>
                      <a:pt x="0" y="596"/>
                    </a:cubicBezTo>
                    <a:cubicBezTo>
                      <a:pt x="0" y="471"/>
                      <a:pt x="0" y="471"/>
                      <a:pt x="0" y="471"/>
                    </a:cubicBezTo>
                    <a:cubicBezTo>
                      <a:pt x="124" y="471"/>
                      <a:pt x="124" y="471"/>
                      <a:pt x="124" y="471"/>
                    </a:cubicBezTo>
                    <a:cubicBezTo>
                      <a:pt x="124" y="526"/>
                      <a:pt x="124" y="526"/>
                      <a:pt x="124" y="526"/>
                    </a:cubicBezTo>
                    <a:cubicBezTo>
                      <a:pt x="97" y="526"/>
                      <a:pt x="97" y="526"/>
                      <a:pt x="97" y="526"/>
                    </a:cubicBezTo>
                    <a:cubicBezTo>
                      <a:pt x="218" y="603"/>
                      <a:pt x="381" y="586"/>
                      <a:pt x="483" y="483"/>
                    </a:cubicBezTo>
                    <a:cubicBezTo>
                      <a:pt x="542" y="424"/>
                      <a:pt x="574" y="346"/>
                      <a:pt x="574" y="263"/>
                    </a:cubicBezTo>
                    <a:cubicBezTo>
                      <a:pt x="574" y="180"/>
                      <a:pt x="542" y="101"/>
                      <a:pt x="483" y="43"/>
                    </a:cubicBezTo>
                    <a:cubicBezTo>
                      <a:pt x="479" y="38"/>
                      <a:pt x="479" y="38"/>
                      <a:pt x="479" y="38"/>
                    </a:cubicBezTo>
                    <a:cubicBezTo>
                      <a:pt x="518" y="0"/>
                      <a:pt x="518" y="0"/>
                      <a:pt x="518" y="0"/>
                    </a:cubicBezTo>
                    <a:cubicBezTo>
                      <a:pt x="522" y="4"/>
                      <a:pt x="522" y="4"/>
                      <a:pt x="522" y="4"/>
                    </a:cubicBezTo>
                    <a:cubicBezTo>
                      <a:pt x="591" y="73"/>
                      <a:pt x="629" y="165"/>
                      <a:pt x="629" y="263"/>
                    </a:cubicBezTo>
                    <a:cubicBezTo>
                      <a:pt x="629" y="361"/>
                      <a:pt x="591" y="453"/>
                      <a:pt x="522" y="522"/>
                    </a:cubicBezTo>
                    <a:cubicBezTo>
                      <a:pt x="522" y="522"/>
                      <a:pt x="522" y="522"/>
                      <a:pt x="522" y="522"/>
                    </a:cubicBezTo>
                    <a:cubicBezTo>
                      <a:pt x="460" y="584"/>
                      <a:pt x="377" y="622"/>
                      <a:pt x="289" y="628"/>
                    </a:cubicBezTo>
                    <a:cubicBezTo>
                      <a:pt x="280" y="629"/>
                      <a:pt x="272" y="629"/>
                      <a:pt x="263" y="629"/>
                    </a:cubicBezTo>
                    <a:close/>
                    <a:moveTo>
                      <a:pt x="42" y="540"/>
                    </a:moveTo>
                    <a:cubicBezTo>
                      <a:pt x="52" y="548"/>
                      <a:pt x="52" y="548"/>
                      <a:pt x="52" y="548"/>
                    </a:cubicBezTo>
                    <a:cubicBezTo>
                      <a:pt x="192" y="651"/>
                      <a:pt x="390" y="637"/>
                      <a:pt x="514" y="513"/>
                    </a:cubicBezTo>
                    <a:cubicBezTo>
                      <a:pt x="514" y="513"/>
                      <a:pt x="514" y="513"/>
                      <a:pt x="514" y="513"/>
                    </a:cubicBezTo>
                    <a:cubicBezTo>
                      <a:pt x="580" y="447"/>
                      <a:pt x="617" y="358"/>
                      <a:pt x="617" y="263"/>
                    </a:cubicBezTo>
                    <a:cubicBezTo>
                      <a:pt x="617" y="170"/>
                      <a:pt x="582" y="83"/>
                      <a:pt x="518" y="17"/>
                    </a:cubicBezTo>
                    <a:cubicBezTo>
                      <a:pt x="496" y="38"/>
                      <a:pt x="496" y="38"/>
                      <a:pt x="496" y="38"/>
                    </a:cubicBezTo>
                    <a:cubicBezTo>
                      <a:pt x="554" y="99"/>
                      <a:pt x="586" y="178"/>
                      <a:pt x="586" y="263"/>
                    </a:cubicBezTo>
                    <a:cubicBezTo>
                      <a:pt x="586" y="349"/>
                      <a:pt x="553" y="431"/>
                      <a:pt x="492" y="492"/>
                    </a:cubicBezTo>
                    <a:cubicBezTo>
                      <a:pt x="437" y="546"/>
                      <a:pt x="365" y="580"/>
                      <a:pt x="287" y="585"/>
                    </a:cubicBezTo>
                    <a:cubicBezTo>
                      <a:pt x="211" y="591"/>
                      <a:pt x="135" y="570"/>
                      <a:pt x="73" y="525"/>
                    </a:cubicBezTo>
                    <a:cubicBezTo>
                      <a:pt x="58" y="514"/>
                      <a:pt x="58" y="514"/>
                      <a:pt x="58" y="514"/>
                    </a:cubicBezTo>
                    <a:cubicBezTo>
                      <a:pt x="112" y="514"/>
                      <a:pt x="112" y="514"/>
                      <a:pt x="112" y="514"/>
                    </a:cubicBezTo>
                    <a:cubicBezTo>
                      <a:pt x="112" y="483"/>
                      <a:pt x="112" y="483"/>
                      <a:pt x="112" y="483"/>
                    </a:cubicBezTo>
                    <a:cubicBezTo>
                      <a:pt x="12" y="483"/>
                      <a:pt x="12" y="483"/>
                      <a:pt x="12" y="483"/>
                    </a:cubicBezTo>
                    <a:cubicBezTo>
                      <a:pt x="12" y="584"/>
                      <a:pt x="12" y="584"/>
                      <a:pt x="12" y="584"/>
                    </a:cubicBezTo>
                    <a:cubicBezTo>
                      <a:pt x="42" y="584"/>
                      <a:pt x="42" y="584"/>
                      <a:pt x="42" y="584"/>
                    </a:cubicBezTo>
                    <a:lnTo>
                      <a:pt x="42" y="540"/>
                    </a:ln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130" name="Freeform 73"/>
              <p:cNvSpPr>
                <a:spLocks/>
              </p:cNvSpPr>
              <p:nvPr/>
            </p:nvSpPr>
            <p:spPr bwMode="auto">
              <a:xfrm>
                <a:off x="2865" y="1195"/>
                <a:ext cx="263" cy="230"/>
              </a:xfrm>
              <a:custGeom>
                <a:avLst/>
                <a:gdLst>
                  <a:gd name="T0" fmla="*/ 263 w 263"/>
                  <a:gd name="T1" fmla="*/ 0 h 230"/>
                  <a:gd name="T2" fmla="*/ 0 w 263"/>
                  <a:gd name="T3" fmla="*/ 36 h 230"/>
                  <a:gd name="T4" fmla="*/ 0 w 263"/>
                  <a:gd name="T5" fmla="*/ 230 h 230"/>
                  <a:gd name="T6" fmla="*/ 263 w 263"/>
                  <a:gd name="T7" fmla="*/ 230 h 230"/>
                  <a:gd name="T8" fmla="*/ 263 w 263"/>
                  <a:gd name="T9" fmla="*/ 0 h 230"/>
                  <a:gd name="T10" fmla="*/ 263 w 263"/>
                  <a:gd name="T11" fmla="*/ 0 h 230"/>
                  <a:gd name="T12" fmla="*/ 263 w 263"/>
                  <a:gd name="T13" fmla="*/ 0 h 230"/>
                </a:gdLst>
                <a:ahLst/>
                <a:cxnLst>
                  <a:cxn ang="0">
                    <a:pos x="T0" y="T1"/>
                  </a:cxn>
                  <a:cxn ang="0">
                    <a:pos x="T2" y="T3"/>
                  </a:cxn>
                  <a:cxn ang="0">
                    <a:pos x="T4" y="T5"/>
                  </a:cxn>
                  <a:cxn ang="0">
                    <a:pos x="T6" y="T7"/>
                  </a:cxn>
                  <a:cxn ang="0">
                    <a:pos x="T8" y="T9"/>
                  </a:cxn>
                  <a:cxn ang="0">
                    <a:pos x="T10" y="T11"/>
                  </a:cxn>
                  <a:cxn ang="0">
                    <a:pos x="T12" y="T13"/>
                  </a:cxn>
                </a:cxnLst>
                <a:rect l="0" t="0" r="r" b="b"/>
                <a:pathLst>
                  <a:path w="263" h="230">
                    <a:moveTo>
                      <a:pt x="263" y="0"/>
                    </a:moveTo>
                    <a:lnTo>
                      <a:pt x="0" y="36"/>
                    </a:lnTo>
                    <a:lnTo>
                      <a:pt x="0" y="230"/>
                    </a:lnTo>
                    <a:lnTo>
                      <a:pt x="263" y="230"/>
                    </a:lnTo>
                    <a:lnTo>
                      <a:pt x="263" y="0"/>
                    </a:lnTo>
                    <a:lnTo>
                      <a:pt x="263" y="0"/>
                    </a:lnTo>
                    <a:lnTo>
                      <a:pt x="263" y="0"/>
                    </a:ln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131" name="Freeform 74"/>
              <p:cNvSpPr>
                <a:spLocks/>
              </p:cNvSpPr>
              <p:nvPr/>
            </p:nvSpPr>
            <p:spPr bwMode="auto">
              <a:xfrm>
                <a:off x="2637" y="1236"/>
                <a:ext cx="197" cy="189"/>
              </a:xfrm>
              <a:custGeom>
                <a:avLst/>
                <a:gdLst>
                  <a:gd name="T0" fmla="*/ 197 w 197"/>
                  <a:gd name="T1" fmla="*/ 0 h 189"/>
                  <a:gd name="T2" fmla="*/ 0 w 197"/>
                  <a:gd name="T3" fmla="*/ 28 h 189"/>
                  <a:gd name="T4" fmla="*/ 0 w 197"/>
                  <a:gd name="T5" fmla="*/ 189 h 189"/>
                  <a:gd name="T6" fmla="*/ 197 w 197"/>
                  <a:gd name="T7" fmla="*/ 189 h 189"/>
                  <a:gd name="T8" fmla="*/ 197 w 197"/>
                  <a:gd name="T9" fmla="*/ 0 h 189"/>
                  <a:gd name="T10" fmla="*/ 197 w 197"/>
                  <a:gd name="T11" fmla="*/ 0 h 189"/>
                  <a:gd name="T12" fmla="*/ 197 w 197"/>
                  <a:gd name="T13" fmla="*/ 0 h 189"/>
                </a:gdLst>
                <a:ahLst/>
                <a:cxnLst>
                  <a:cxn ang="0">
                    <a:pos x="T0" y="T1"/>
                  </a:cxn>
                  <a:cxn ang="0">
                    <a:pos x="T2" y="T3"/>
                  </a:cxn>
                  <a:cxn ang="0">
                    <a:pos x="T4" y="T5"/>
                  </a:cxn>
                  <a:cxn ang="0">
                    <a:pos x="T6" y="T7"/>
                  </a:cxn>
                  <a:cxn ang="0">
                    <a:pos x="T8" y="T9"/>
                  </a:cxn>
                  <a:cxn ang="0">
                    <a:pos x="T10" y="T11"/>
                  </a:cxn>
                  <a:cxn ang="0">
                    <a:pos x="T12" y="T13"/>
                  </a:cxn>
                </a:cxnLst>
                <a:rect l="0" t="0" r="r" b="b"/>
                <a:pathLst>
                  <a:path w="197" h="189">
                    <a:moveTo>
                      <a:pt x="197" y="0"/>
                    </a:moveTo>
                    <a:lnTo>
                      <a:pt x="0" y="28"/>
                    </a:lnTo>
                    <a:lnTo>
                      <a:pt x="0" y="189"/>
                    </a:lnTo>
                    <a:lnTo>
                      <a:pt x="197" y="189"/>
                    </a:lnTo>
                    <a:lnTo>
                      <a:pt x="197" y="0"/>
                    </a:lnTo>
                    <a:lnTo>
                      <a:pt x="197" y="0"/>
                    </a:lnTo>
                    <a:lnTo>
                      <a:pt x="197" y="0"/>
                    </a:ln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132" name="Freeform 75"/>
              <p:cNvSpPr>
                <a:spLocks/>
              </p:cNvSpPr>
              <p:nvPr/>
            </p:nvSpPr>
            <p:spPr bwMode="auto">
              <a:xfrm>
                <a:off x="2637" y="1456"/>
                <a:ext cx="197" cy="190"/>
              </a:xfrm>
              <a:custGeom>
                <a:avLst/>
                <a:gdLst>
                  <a:gd name="T0" fmla="*/ 197 w 197"/>
                  <a:gd name="T1" fmla="*/ 0 h 190"/>
                  <a:gd name="T2" fmla="*/ 0 w 197"/>
                  <a:gd name="T3" fmla="*/ 0 h 190"/>
                  <a:gd name="T4" fmla="*/ 0 w 197"/>
                  <a:gd name="T5" fmla="*/ 162 h 190"/>
                  <a:gd name="T6" fmla="*/ 197 w 197"/>
                  <a:gd name="T7" fmla="*/ 190 h 190"/>
                  <a:gd name="T8" fmla="*/ 197 w 197"/>
                  <a:gd name="T9" fmla="*/ 0 h 190"/>
                  <a:gd name="T10" fmla="*/ 197 w 197"/>
                  <a:gd name="T11" fmla="*/ 0 h 190"/>
                  <a:gd name="T12" fmla="*/ 197 w 197"/>
                  <a:gd name="T13" fmla="*/ 0 h 190"/>
                </a:gdLst>
                <a:ahLst/>
                <a:cxnLst>
                  <a:cxn ang="0">
                    <a:pos x="T0" y="T1"/>
                  </a:cxn>
                  <a:cxn ang="0">
                    <a:pos x="T2" y="T3"/>
                  </a:cxn>
                  <a:cxn ang="0">
                    <a:pos x="T4" y="T5"/>
                  </a:cxn>
                  <a:cxn ang="0">
                    <a:pos x="T6" y="T7"/>
                  </a:cxn>
                  <a:cxn ang="0">
                    <a:pos x="T8" y="T9"/>
                  </a:cxn>
                  <a:cxn ang="0">
                    <a:pos x="T10" y="T11"/>
                  </a:cxn>
                  <a:cxn ang="0">
                    <a:pos x="T12" y="T13"/>
                  </a:cxn>
                </a:cxnLst>
                <a:rect l="0" t="0" r="r" b="b"/>
                <a:pathLst>
                  <a:path w="197" h="190">
                    <a:moveTo>
                      <a:pt x="197" y="0"/>
                    </a:moveTo>
                    <a:lnTo>
                      <a:pt x="0" y="0"/>
                    </a:lnTo>
                    <a:lnTo>
                      <a:pt x="0" y="162"/>
                    </a:lnTo>
                    <a:lnTo>
                      <a:pt x="197" y="190"/>
                    </a:lnTo>
                    <a:lnTo>
                      <a:pt x="197" y="0"/>
                    </a:lnTo>
                    <a:lnTo>
                      <a:pt x="197" y="0"/>
                    </a:lnTo>
                    <a:lnTo>
                      <a:pt x="197" y="0"/>
                    </a:ln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133" name="Freeform 76"/>
              <p:cNvSpPr>
                <a:spLocks/>
              </p:cNvSpPr>
              <p:nvPr/>
            </p:nvSpPr>
            <p:spPr bwMode="auto">
              <a:xfrm>
                <a:off x="2865" y="1456"/>
                <a:ext cx="263" cy="230"/>
              </a:xfrm>
              <a:custGeom>
                <a:avLst/>
                <a:gdLst>
                  <a:gd name="T0" fmla="*/ 263 w 263"/>
                  <a:gd name="T1" fmla="*/ 0 h 230"/>
                  <a:gd name="T2" fmla="*/ 0 w 263"/>
                  <a:gd name="T3" fmla="*/ 0 h 230"/>
                  <a:gd name="T4" fmla="*/ 0 w 263"/>
                  <a:gd name="T5" fmla="*/ 192 h 230"/>
                  <a:gd name="T6" fmla="*/ 263 w 263"/>
                  <a:gd name="T7" fmla="*/ 230 h 230"/>
                  <a:gd name="T8" fmla="*/ 263 w 263"/>
                  <a:gd name="T9" fmla="*/ 0 h 230"/>
                  <a:gd name="T10" fmla="*/ 263 w 263"/>
                  <a:gd name="T11" fmla="*/ 0 h 230"/>
                  <a:gd name="T12" fmla="*/ 263 w 263"/>
                  <a:gd name="T13" fmla="*/ 0 h 230"/>
                </a:gdLst>
                <a:ahLst/>
                <a:cxnLst>
                  <a:cxn ang="0">
                    <a:pos x="T0" y="T1"/>
                  </a:cxn>
                  <a:cxn ang="0">
                    <a:pos x="T2" y="T3"/>
                  </a:cxn>
                  <a:cxn ang="0">
                    <a:pos x="T4" y="T5"/>
                  </a:cxn>
                  <a:cxn ang="0">
                    <a:pos x="T6" y="T7"/>
                  </a:cxn>
                  <a:cxn ang="0">
                    <a:pos x="T8" y="T9"/>
                  </a:cxn>
                  <a:cxn ang="0">
                    <a:pos x="T10" y="T11"/>
                  </a:cxn>
                  <a:cxn ang="0">
                    <a:pos x="T12" y="T13"/>
                  </a:cxn>
                </a:cxnLst>
                <a:rect l="0" t="0" r="r" b="b"/>
                <a:pathLst>
                  <a:path w="263" h="230">
                    <a:moveTo>
                      <a:pt x="263" y="0"/>
                    </a:moveTo>
                    <a:lnTo>
                      <a:pt x="0" y="0"/>
                    </a:lnTo>
                    <a:lnTo>
                      <a:pt x="0" y="192"/>
                    </a:lnTo>
                    <a:lnTo>
                      <a:pt x="263" y="230"/>
                    </a:lnTo>
                    <a:lnTo>
                      <a:pt x="263" y="0"/>
                    </a:lnTo>
                    <a:lnTo>
                      <a:pt x="263" y="0"/>
                    </a:lnTo>
                    <a:lnTo>
                      <a:pt x="263" y="0"/>
                    </a:ln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137" name="Rectangle 80"/>
              <p:cNvSpPr>
                <a:spLocks noChangeArrowheads="1"/>
              </p:cNvSpPr>
              <p:nvPr/>
            </p:nvSpPr>
            <p:spPr bwMode="auto">
              <a:xfrm>
                <a:off x="2538" y="1772"/>
                <a:ext cx="689" cy="9"/>
              </a:xfrm>
              <a:prstGeom prst="rect">
                <a:avLst/>
              </a:prstGeom>
              <a:solidFill>
                <a:srgbClr val="0078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grpSp>
        <p:sp>
          <p:nvSpPr>
            <p:cNvPr id="249" name="bridge from phone"/>
            <p:cNvSpPr>
              <a:spLocks/>
            </p:cNvSpPr>
            <p:nvPr/>
          </p:nvSpPr>
          <p:spPr bwMode="auto">
            <a:xfrm>
              <a:off x="3084779" y="4074992"/>
              <a:ext cx="3128545" cy="395942"/>
            </a:xfrm>
            <a:custGeom>
              <a:avLst/>
              <a:gdLst>
                <a:gd name="T0" fmla="*/ 632 w 632"/>
                <a:gd name="T1" fmla="*/ 66 h 66"/>
                <a:gd name="T2" fmla="*/ 0 w 632"/>
                <a:gd name="T3" fmla="*/ 66 h 66"/>
                <a:gd name="T4" fmla="*/ 0 w 632"/>
                <a:gd name="T5" fmla="*/ 50 h 66"/>
                <a:gd name="T6" fmla="*/ 632 w 632"/>
                <a:gd name="T7" fmla="*/ 50 h 66"/>
                <a:gd name="T8" fmla="*/ 632 w 632"/>
                <a:gd name="T9" fmla="*/ 66 h 66"/>
              </a:gdLst>
              <a:ahLst/>
              <a:cxnLst>
                <a:cxn ang="0">
                  <a:pos x="T0" y="T1"/>
                </a:cxn>
                <a:cxn ang="0">
                  <a:pos x="T2" y="T3"/>
                </a:cxn>
                <a:cxn ang="0">
                  <a:pos x="T4" y="T5"/>
                </a:cxn>
                <a:cxn ang="0">
                  <a:pos x="T6" y="T7"/>
                </a:cxn>
                <a:cxn ang="0">
                  <a:pos x="T8" y="T9"/>
                </a:cxn>
              </a:cxnLst>
              <a:rect l="0" t="0" r="r" b="b"/>
              <a:pathLst>
                <a:path w="632" h="66">
                  <a:moveTo>
                    <a:pt x="632" y="66"/>
                  </a:moveTo>
                  <a:cubicBezTo>
                    <a:pt x="424" y="16"/>
                    <a:pt x="207" y="16"/>
                    <a:pt x="0" y="66"/>
                  </a:cubicBezTo>
                  <a:cubicBezTo>
                    <a:pt x="0" y="61"/>
                    <a:pt x="0" y="55"/>
                    <a:pt x="0" y="50"/>
                  </a:cubicBezTo>
                  <a:cubicBezTo>
                    <a:pt x="207" y="0"/>
                    <a:pt x="424" y="0"/>
                    <a:pt x="632" y="50"/>
                  </a:cubicBezTo>
                  <a:cubicBezTo>
                    <a:pt x="632" y="55"/>
                    <a:pt x="632" y="61"/>
                    <a:pt x="632" y="66"/>
                  </a:cubicBezTo>
                  <a:close/>
                </a:path>
              </a:pathLst>
            </a:custGeom>
            <a:solidFill>
              <a:schemeClr val="bg1"/>
            </a:solidFill>
            <a:ln w="28575" cap="rnd">
              <a:solidFill>
                <a:schemeClr val="accent1"/>
              </a:solidFill>
              <a:round/>
              <a:headEnd/>
              <a:tailEnd/>
            </a:ln>
          </p:spPr>
          <p:txBody>
            <a:bodyPr vert="horz" wrap="square" lIns="172775" tIns="86388" rIns="172775" bIns="86388" numCol="1" anchor="t" anchorCtr="0" compatLnSpc="1">
              <a:prstTxWarp prst="textNoShape">
                <a:avLst/>
              </a:prstTxWarp>
            </a:bodyPr>
            <a:lstStyle/>
            <a:p>
              <a:pPr defTabSz="1270559"/>
              <a:endParaRPr lang="en-US" sz="3401" kern="0" dirty="0">
                <a:solidFill>
                  <a:sysClr val="windowText" lastClr="000000"/>
                </a:solidFill>
              </a:endParaRPr>
            </a:p>
          </p:txBody>
        </p:sp>
        <p:sp>
          <p:nvSpPr>
            <p:cNvPr id="250" name="bridge from platforms"/>
            <p:cNvSpPr>
              <a:spLocks/>
            </p:cNvSpPr>
            <p:nvPr/>
          </p:nvSpPr>
          <p:spPr bwMode="auto">
            <a:xfrm>
              <a:off x="10860354" y="4069055"/>
              <a:ext cx="3128545" cy="395942"/>
            </a:xfrm>
            <a:custGeom>
              <a:avLst/>
              <a:gdLst>
                <a:gd name="T0" fmla="*/ 632 w 632"/>
                <a:gd name="T1" fmla="*/ 66 h 66"/>
                <a:gd name="T2" fmla="*/ 0 w 632"/>
                <a:gd name="T3" fmla="*/ 66 h 66"/>
                <a:gd name="T4" fmla="*/ 0 w 632"/>
                <a:gd name="T5" fmla="*/ 50 h 66"/>
                <a:gd name="T6" fmla="*/ 632 w 632"/>
                <a:gd name="T7" fmla="*/ 50 h 66"/>
                <a:gd name="T8" fmla="*/ 632 w 632"/>
                <a:gd name="T9" fmla="*/ 66 h 66"/>
              </a:gdLst>
              <a:ahLst/>
              <a:cxnLst>
                <a:cxn ang="0">
                  <a:pos x="T0" y="T1"/>
                </a:cxn>
                <a:cxn ang="0">
                  <a:pos x="T2" y="T3"/>
                </a:cxn>
                <a:cxn ang="0">
                  <a:pos x="T4" y="T5"/>
                </a:cxn>
                <a:cxn ang="0">
                  <a:pos x="T6" y="T7"/>
                </a:cxn>
                <a:cxn ang="0">
                  <a:pos x="T8" y="T9"/>
                </a:cxn>
              </a:cxnLst>
              <a:rect l="0" t="0" r="r" b="b"/>
              <a:pathLst>
                <a:path w="632" h="66">
                  <a:moveTo>
                    <a:pt x="632" y="66"/>
                  </a:moveTo>
                  <a:cubicBezTo>
                    <a:pt x="424" y="16"/>
                    <a:pt x="207" y="16"/>
                    <a:pt x="0" y="66"/>
                  </a:cubicBezTo>
                  <a:cubicBezTo>
                    <a:pt x="0" y="61"/>
                    <a:pt x="0" y="55"/>
                    <a:pt x="0" y="50"/>
                  </a:cubicBezTo>
                  <a:cubicBezTo>
                    <a:pt x="207" y="0"/>
                    <a:pt x="424" y="0"/>
                    <a:pt x="632" y="50"/>
                  </a:cubicBezTo>
                  <a:cubicBezTo>
                    <a:pt x="632" y="55"/>
                    <a:pt x="632" y="61"/>
                    <a:pt x="632" y="66"/>
                  </a:cubicBezTo>
                  <a:close/>
                </a:path>
              </a:pathLst>
            </a:custGeom>
            <a:solidFill>
              <a:schemeClr val="bg1"/>
            </a:solidFill>
            <a:ln w="28575" cap="rnd">
              <a:solidFill>
                <a:schemeClr val="accent1"/>
              </a:solidFill>
              <a:round/>
              <a:headEnd/>
              <a:tailEnd/>
            </a:ln>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grpSp>
          <p:nvGrpSpPr>
            <p:cNvPr id="262" name="bridge from iOS"/>
            <p:cNvGrpSpPr>
              <a:grpSpLocks noChangeAspect="1"/>
            </p:cNvGrpSpPr>
            <p:nvPr/>
          </p:nvGrpSpPr>
          <p:grpSpPr bwMode="auto">
            <a:xfrm>
              <a:off x="8005114" y="4846647"/>
              <a:ext cx="1082842" cy="3041557"/>
              <a:chOff x="2719" y="1489"/>
              <a:chExt cx="361" cy="1014"/>
            </a:xfrm>
          </p:grpSpPr>
          <p:sp>
            <p:nvSpPr>
              <p:cNvPr id="263" name="AutoShape 130"/>
              <p:cNvSpPr>
                <a:spLocks noChangeAspect="1" noChangeArrowheads="1" noTextEdit="1"/>
              </p:cNvSpPr>
              <p:nvPr/>
            </p:nvSpPr>
            <p:spPr bwMode="auto">
              <a:xfrm>
                <a:off x="2719" y="1489"/>
                <a:ext cx="361" cy="1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264" name="Freeform 132"/>
              <p:cNvSpPr>
                <a:spLocks/>
              </p:cNvSpPr>
              <p:nvPr/>
            </p:nvSpPr>
            <p:spPr bwMode="auto">
              <a:xfrm>
                <a:off x="2748" y="1489"/>
                <a:ext cx="301" cy="1004"/>
              </a:xfrm>
              <a:custGeom>
                <a:avLst/>
                <a:gdLst>
                  <a:gd name="T0" fmla="*/ 125 w 125"/>
                  <a:gd name="T1" fmla="*/ 422 h 422"/>
                  <a:gd name="T2" fmla="*/ 0 w 125"/>
                  <a:gd name="T3" fmla="*/ 422 h 422"/>
                  <a:gd name="T4" fmla="*/ 38 w 125"/>
                  <a:gd name="T5" fmla="*/ 0 h 422"/>
                  <a:gd name="T6" fmla="*/ 86 w 125"/>
                  <a:gd name="T7" fmla="*/ 0 h 422"/>
                  <a:gd name="T8" fmla="*/ 125 w 125"/>
                  <a:gd name="T9" fmla="*/ 422 h 422"/>
                </a:gdLst>
                <a:ahLst/>
                <a:cxnLst>
                  <a:cxn ang="0">
                    <a:pos x="T0" y="T1"/>
                  </a:cxn>
                  <a:cxn ang="0">
                    <a:pos x="T2" y="T3"/>
                  </a:cxn>
                  <a:cxn ang="0">
                    <a:pos x="T4" y="T5"/>
                  </a:cxn>
                  <a:cxn ang="0">
                    <a:pos x="T6" y="T7"/>
                  </a:cxn>
                  <a:cxn ang="0">
                    <a:pos x="T8" y="T9"/>
                  </a:cxn>
                </a:cxnLst>
                <a:rect l="0" t="0" r="r" b="b"/>
                <a:pathLst>
                  <a:path w="125" h="422">
                    <a:moveTo>
                      <a:pt x="125" y="422"/>
                    </a:moveTo>
                    <a:cubicBezTo>
                      <a:pt x="84" y="414"/>
                      <a:pt x="41" y="414"/>
                      <a:pt x="0" y="422"/>
                    </a:cubicBezTo>
                    <a:cubicBezTo>
                      <a:pt x="13" y="281"/>
                      <a:pt x="25" y="141"/>
                      <a:pt x="38" y="0"/>
                    </a:cubicBezTo>
                    <a:cubicBezTo>
                      <a:pt x="54" y="0"/>
                      <a:pt x="70" y="0"/>
                      <a:pt x="86" y="0"/>
                    </a:cubicBezTo>
                    <a:cubicBezTo>
                      <a:pt x="99" y="141"/>
                      <a:pt x="112" y="281"/>
                      <a:pt x="125" y="422"/>
                    </a:cubicBez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265" name="Freeform 133"/>
              <p:cNvSpPr>
                <a:spLocks/>
              </p:cNvSpPr>
              <p:nvPr/>
            </p:nvSpPr>
            <p:spPr bwMode="auto">
              <a:xfrm>
                <a:off x="2717" y="1489"/>
                <a:ext cx="125" cy="1012"/>
              </a:xfrm>
              <a:custGeom>
                <a:avLst/>
                <a:gdLst>
                  <a:gd name="T0" fmla="*/ 14 w 52"/>
                  <a:gd name="T1" fmla="*/ 422 h 425"/>
                  <a:gd name="T2" fmla="*/ 0 w 52"/>
                  <a:gd name="T3" fmla="*/ 425 h 425"/>
                  <a:gd name="T4" fmla="*/ 46 w 52"/>
                  <a:gd name="T5" fmla="*/ 0 h 425"/>
                  <a:gd name="T6" fmla="*/ 52 w 52"/>
                  <a:gd name="T7" fmla="*/ 0 h 425"/>
                  <a:gd name="T8" fmla="*/ 14 w 52"/>
                  <a:gd name="T9" fmla="*/ 422 h 425"/>
                </a:gdLst>
                <a:ahLst/>
                <a:cxnLst>
                  <a:cxn ang="0">
                    <a:pos x="T0" y="T1"/>
                  </a:cxn>
                  <a:cxn ang="0">
                    <a:pos x="T2" y="T3"/>
                  </a:cxn>
                  <a:cxn ang="0">
                    <a:pos x="T4" y="T5"/>
                  </a:cxn>
                  <a:cxn ang="0">
                    <a:pos x="T6" y="T7"/>
                  </a:cxn>
                  <a:cxn ang="0">
                    <a:pos x="T8" y="T9"/>
                  </a:cxn>
                </a:cxnLst>
                <a:rect l="0" t="0" r="r" b="b"/>
                <a:pathLst>
                  <a:path w="52" h="425">
                    <a:moveTo>
                      <a:pt x="14" y="422"/>
                    </a:moveTo>
                    <a:cubicBezTo>
                      <a:pt x="9" y="422"/>
                      <a:pt x="4" y="423"/>
                      <a:pt x="0" y="425"/>
                    </a:cubicBezTo>
                    <a:cubicBezTo>
                      <a:pt x="15" y="283"/>
                      <a:pt x="31" y="142"/>
                      <a:pt x="46" y="0"/>
                    </a:cubicBezTo>
                    <a:cubicBezTo>
                      <a:pt x="48" y="0"/>
                      <a:pt x="50" y="0"/>
                      <a:pt x="52" y="0"/>
                    </a:cubicBezTo>
                    <a:cubicBezTo>
                      <a:pt x="39" y="141"/>
                      <a:pt x="26" y="281"/>
                      <a:pt x="14" y="422"/>
                    </a:cubicBez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266" name="Freeform 134"/>
              <p:cNvSpPr>
                <a:spLocks/>
              </p:cNvSpPr>
              <p:nvPr/>
            </p:nvSpPr>
            <p:spPr bwMode="auto">
              <a:xfrm>
                <a:off x="2952" y="1489"/>
                <a:ext cx="125" cy="1012"/>
              </a:xfrm>
              <a:custGeom>
                <a:avLst/>
                <a:gdLst>
                  <a:gd name="T0" fmla="*/ 52 w 52"/>
                  <a:gd name="T1" fmla="*/ 425 h 425"/>
                  <a:gd name="T2" fmla="*/ 38 w 52"/>
                  <a:gd name="T3" fmla="*/ 422 h 425"/>
                  <a:gd name="T4" fmla="*/ 0 w 52"/>
                  <a:gd name="T5" fmla="*/ 0 h 425"/>
                  <a:gd name="T6" fmla="*/ 5 w 52"/>
                  <a:gd name="T7" fmla="*/ 0 h 425"/>
                  <a:gd name="T8" fmla="*/ 52 w 52"/>
                  <a:gd name="T9" fmla="*/ 425 h 425"/>
                </a:gdLst>
                <a:ahLst/>
                <a:cxnLst>
                  <a:cxn ang="0">
                    <a:pos x="T0" y="T1"/>
                  </a:cxn>
                  <a:cxn ang="0">
                    <a:pos x="T2" y="T3"/>
                  </a:cxn>
                  <a:cxn ang="0">
                    <a:pos x="T4" y="T5"/>
                  </a:cxn>
                  <a:cxn ang="0">
                    <a:pos x="T6" y="T7"/>
                  </a:cxn>
                  <a:cxn ang="0">
                    <a:pos x="T8" y="T9"/>
                  </a:cxn>
                </a:cxnLst>
                <a:rect l="0" t="0" r="r" b="b"/>
                <a:pathLst>
                  <a:path w="52" h="425">
                    <a:moveTo>
                      <a:pt x="52" y="425"/>
                    </a:moveTo>
                    <a:cubicBezTo>
                      <a:pt x="47" y="423"/>
                      <a:pt x="43" y="422"/>
                      <a:pt x="38" y="422"/>
                    </a:cubicBezTo>
                    <a:cubicBezTo>
                      <a:pt x="25" y="281"/>
                      <a:pt x="13" y="141"/>
                      <a:pt x="0" y="0"/>
                    </a:cubicBezTo>
                    <a:cubicBezTo>
                      <a:pt x="2" y="0"/>
                      <a:pt x="4" y="0"/>
                      <a:pt x="5" y="0"/>
                    </a:cubicBezTo>
                    <a:cubicBezTo>
                      <a:pt x="21" y="142"/>
                      <a:pt x="37" y="283"/>
                      <a:pt x="52" y="425"/>
                    </a:cubicBez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grpSp>
        <p:grpSp>
          <p:nvGrpSpPr>
            <p:cNvPr id="121" name="iOS"/>
            <p:cNvGrpSpPr/>
            <p:nvPr/>
          </p:nvGrpSpPr>
          <p:grpSpPr>
            <a:xfrm>
              <a:off x="6911914" y="8643384"/>
              <a:ext cx="3133724" cy="938241"/>
              <a:chOff x="3260069" y="2049678"/>
              <a:chExt cx="1576148" cy="496558"/>
            </a:xfrm>
          </p:grpSpPr>
          <p:sp>
            <p:nvSpPr>
              <p:cNvPr id="110" name="Freeform 67"/>
              <p:cNvSpPr>
                <a:spLocks noChangeAspect="1"/>
              </p:cNvSpPr>
              <p:nvPr/>
            </p:nvSpPr>
            <p:spPr bwMode="auto">
              <a:xfrm>
                <a:off x="3473100" y="2049678"/>
                <a:ext cx="1258530" cy="233363"/>
              </a:xfrm>
              <a:custGeom>
                <a:avLst/>
                <a:gdLst>
                  <a:gd name="T0" fmla="*/ 343 w 456"/>
                  <a:gd name="T1" fmla="*/ 0 h 82"/>
                  <a:gd name="T2" fmla="*/ 337 w 456"/>
                  <a:gd name="T3" fmla="*/ 6 h 82"/>
                  <a:gd name="T4" fmla="*/ 421 w 456"/>
                  <a:gd name="T5" fmla="*/ 26 h 82"/>
                  <a:gd name="T6" fmla="*/ 224 w 456"/>
                  <a:gd name="T7" fmla="*/ 74 h 82"/>
                  <a:gd name="T8" fmla="*/ 35 w 456"/>
                  <a:gd name="T9" fmla="*/ 29 h 82"/>
                  <a:gd name="T10" fmla="*/ 121 w 456"/>
                  <a:gd name="T11" fmla="*/ 8 h 82"/>
                  <a:gd name="T12" fmla="*/ 115 w 456"/>
                  <a:gd name="T13" fmla="*/ 2 h 82"/>
                  <a:gd name="T14" fmla="*/ 0 w 456"/>
                  <a:gd name="T15" fmla="*/ 29 h 82"/>
                  <a:gd name="T16" fmla="*/ 223 w 456"/>
                  <a:gd name="T17" fmla="*/ 82 h 82"/>
                  <a:gd name="T18" fmla="*/ 224 w 456"/>
                  <a:gd name="T19" fmla="*/ 82 h 82"/>
                  <a:gd name="T20" fmla="*/ 456 w 456"/>
                  <a:gd name="T21" fmla="*/ 26 h 82"/>
                  <a:gd name="T22" fmla="*/ 343 w 456"/>
                  <a:gd name="T23"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6" h="82">
                    <a:moveTo>
                      <a:pt x="343" y="0"/>
                    </a:moveTo>
                    <a:cubicBezTo>
                      <a:pt x="341" y="2"/>
                      <a:pt x="339" y="4"/>
                      <a:pt x="337" y="6"/>
                    </a:cubicBezTo>
                    <a:cubicBezTo>
                      <a:pt x="421" y="26"/>
                      <a:pt x="421" y="26"/>
                      <a:pt x="421" y="26"/>
                    </a:cubicBezTo>
                    <a:cubicBezTo>
                      <a:pt x="224" y="74"/>
                      <a:pt x="224" y="74"/>
                      <a:pt x="224" y="74"/>
                    </a:cubicBezTo>
                    <a:cubicBezTo>
                      <a:pt x="35" y="29"/>
                      <a:pt x="35" y="29"/>
                      <a:pt x="35" y="29"/>
                    </a:cubicBezTo>
                    <a:cubicBezTo>
                      <a:pt x="121" y="8"/>
                      <a:pt x="121" y="8"/>
                      <a:pt x="121" y="8"/>
                    </a:cubicBezTo>
                    <a:cubicBezTo>
                      <a:pt x="119" y="6"/>
                      <a:pt x="117" y="4"/>
                      <a:pt x="115" y="2"/>
                    </a:cubicBezTo>
                    <a:cubicBezTo>
                      <a:pt x="0" y="29"/>
                      <a:pt x="0" y="29"/>
                      <a:pt x="0" y="29"/>
                    </a:cubicBezTo>
                    <a:cubicBezTo>
                      <a:pt x="223" y="82"/>
                      <a:pt x="223" y="82"/>
                      <a:pt x="223" y="82"/>
                    </a:cubicBezTo>
                    <a:cubicBezTo>
                      <a:pt x="224" y="82"/>
                      <a:pt x="224" y="82"/>
                      <a:pt x="224" y="82"/>
                    </a:cubicBezTo>
                    <a:cubicBezTo>
                      <a:pt x="456" y="26"/>
                      <a:pt x="456" y="26"/>
                      <a:pt x="456" y="26"/>
                    </a:cubicBezTo>
                    <a:lnTo>
                      <a:pt x="343" y="0"/>
                    </a:lnTo>
                    <a:close/>
                  </a:path>
                </a:pathLst>
              </a:custGeom>
              <a:solidFill>
                <a:schemeClr val="accent1"/>
              </a:solidFill>
              <a:ln w="3175">
                <a:noFill/>
                <a:round/>
                <a:headEnd/>
                <a:tailEnd/>
              </a:ln>
              <a:extLst/>
            </p:spPr>
            <p:txBody>
              <a:bodyPr vert="horz" wrap="square" lIns="172775" tIns="86388" rIns="172775" bIns="86388" numCol="1" anchor="t" anchorCtr="0" compatLnSpc="1">
                <a:prstTxWarp prst="textNoShape">
                  <a:avLst/>
                </a:prstTxWarp>
              </a:bodyPr>
              <a:lstStyle/>
              <a:p>
                <a:pPr defTabSz="1270559"/>
                <a:endParaRPr lang="en-US" sz="3401" kern="0">
                  <a:solidFill>
                    <a:sysClr val="windowText" lastClr="000000"/>
                  </a:solidFill>
                </a:endParaRPr>
              </a:p>
            </p:txBody>
          </p:sp>
          <p:sp>
            <p:nvSpPr>
              <p:cNvPr id="116" name="TextBox 115"/>
              <p:cNvSpPr txBox="1"/>
              <p:nvPr/>
            </p:nvSpPr>
            <p:spPr>
              <a:xfrm>
                <a:off x="3260069" y="2186113"/>
                <a:ext cx="1576148" cy="360123"/>
              </a:xfrm>
              <a:prstGeom prst="rect">
                <a:avLst/>
              </a:prstGeom>
              <a:noFill/>
            </p:spPr>
            <p:txBody>
              <a:bodyPr wrap="square" lIns="259163" tIns="207330" rIns="259163" bIns="207330" rtlCol="0">
                <a:spAutoFit/>
              </a:bodyPr>
              <a:lstStyle/>
              <a:p>
                <a:pPr algn="ctr" defTabSz="1270559">
                  <a:lnSpc>
                    <a:spcPct val="90000"/>
                  </a:lnSpc>
                  <a:spcBef>
                    <a:spcPts val="1134"/>
                  </a:spcBef>
                  <a:defRPr/>
                </a:pPr>
                <a:r>
                  <a:rPr lang="zh-CN" altLang="en-US" sz="1890" b="1" kern="0" dirty="0">
                    <a:solidFill>
                      <a:sysClr val="windowText" lastClr="000000"/>
                    </a:solidFill>
                  </a:rPr>
                  <a:t>替代品的威胁 </a:t>
                </a:r>
                <a:r>
                  <a:rPr lang="en-US" altLang="zh-CN" sz="1890" b="1" kern="0" dirty="0">
                    <a:solidFill>
                      <a:sysClr val="windowText" lastClr="000000"/>
                    </a:solidFill>
                  </a:rPr>
                  <a:t>: </a:t>
                </a:r>
                <a:r>
                  <a:rPr lang="zh-CN" altLang="en-US" sz="1890" b="1" kern="0" dirty="0">
                    <a:solidFill>
                      <a:sysClr val="windowText" lastClr="000000"/>
                    </a:solidFill>
                  </a:rPr>
                  <a:t>低</a:t>
                </a:r>
              </a:p>
            </p:txBody>
          </p:sp>
        </p:grpSp>
        <p:grpSp>
          <p:nvGrpSpPr>
            <p:cNvPr id="276" name="bridge from web"/>
            <p:cNvGrpSpPr>
              <a:grpSpLocks noChangeAspect="1"/>
            </p:cNvGrpSpPr>
            <p:nvPr/>
          </p:nvGrpSpPr>
          <p:grpSpPr bwMode="auto">
            <a:xfrm>
              <a:off x="8741952" y="4712837"/>
              <a:ext cx="3856514" cy="2613776"/>
              <a:chOff x="2547" y="1428"/>
              <a:chExt cx="1533" cy="1039"/>
            </a:xfrm>
          </p:grpSpPr>
          <p:sp>
            <p:nvSpPr>
              <p:cNvPr id="278" name="Freeform 144"/>
              <p:cNvSpPr>
                <a:spLocks/>
              </p:cNvSpPr>
              <p:nvPr/>
            </p:nvSpPr>
            <p:spPr bwMode="auto">
              <a:xfrm>
                <a:off x="2549" y="1463"/>
                <a:ext cx="1526" cy="1004"/>
              </a:xfrm>
              <a:custGeom>
                <a:avLst/>
                <a:gdLst>
                  <a:gd name="T0" fmla="*/ 211 w 1526"/>
                  <a:gd name="T1" fmla="*/ 0 h 1004"/>
                  <a:gd name="T2" fmla="*/ 0 w 1526"/>
                  <a:gd name="T3" fmla="*/ 53 h 1004"/>
                  <a:gd name="T4" fmla="*/ 109 w 1526"/>
                  <a:gd name="T5" fmla="*/ 79 h 1004"/>
                  <a:gd name="T6" fmla="*/ 449 w 1526"/>
                  <a:gd name="T7" fmla="*/ 243 h 1004"/>
                  <a:gd name="T8" fmla="*/ 912 w 1526"/>
                  <a:gd name="T9" fmla="*/ 550 h 1004"/>
                  <a:gd name="T10" fmla="*/ 1073 w 1526"/>
                  <a:gd name="T11" fmla="*/ 690 h 1004"/>
                  <a:gd name="T12" fmla="*/ 1344 w 1526"/>
                  <a:gd name="T13" fmla="*/ 971 h 1004"/>
                  <a:gd name="T14" fmla="*/ 1363 w 1526"/>
                  <a:gd name="T15" fmla="*/ 1004 h 1004"/>
                  <a:gd name="T16" fmla="*/ 1526 w 1526"/>
                  <a:gd name="T17" fmla="*/ 964 h 1004"/>
                  <a:gd name="T18" fmla="*/ 1462 w 1526"/>
                  <a:gd name="T19" fmla="*/ 864 h 1004"/>
                  <a:gd name="T20" fmla="*/ 1246 w 1526"/>
                  <a:gd name="T21" fmla="*/ 638 h 1004"/>
                  <a:gd name="T22" fmla="*/ 1033 w 1526"/>
                  <a:gd name="T23" fmla="*/ 464 h 1004"/>
                  <a:gd name="T24" fmla="*/ 757 w 1526"/>
                  <a:gd name="T25" fmla="*/ 272 h 1004"/>
                  <a:gd name="T26" fmla="*/ 565 w 1526"/>
                  <a:gd name="T27" fmla="*/ 157 h 1004"/>
                  <a:gd name="T28" fmla="*/ 347 w 1526"/>
                  <a:gd name="T29" fmla="*/ 43 h 1004"/>
                  <a:gd name="T30" fmla="*/ 211 w 1526"/>
                  <a:gd name="T31" fmla="*/ 0 h 1004"/>
                  <a:gd name="T32" fmla="*/ 211 w 1526"/>
                  <a:gd name="T33" fmla="*/ 0 h 1004"/>
                  <a:gd name="T34" fmla="*/ 211 w 1526"/>
                  <a:gd name="T35" fmla="*/ 0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6" h="1004">
                    <a:moveTo>
                      <a:pt x="211" y="0"/>
                    </a:moveTo>
                    <a:lnTo>
                      <a:pt x="0" y="53"/>
                    </a:lnTo>
                    <a:lnTo>
                      <a:pt x="109" y="79"/>
                    </a:lnTo>
                    <a:lnTo>
                      <a:pt x="449" y="243"/>
                    </a:lnTo>
                    <a:lnTo>
                      <a:pt x="912" y="550"/>
                    </a:lnTo>
                    <a:lnTo>
                      <a:pt x="1073" y="690"/>
                    </a:lnTo>
                    <a:lnTo>
                      <a:pt x="1344" y="971"/>
                    </a:lnTo>
                    <a:lnTo>
                      <a:pt x="1363" y="1004"/>
                    </a:lnTo>
                    <a:lnTo>
                      <a:pt x="1526" y="964"/>
                    </a:lnTo>
                    <a:lnTo>
                      <a:pt x="1462" y="864"/>
                    </a:lnTo>
                    <a:lnTo>
                      <a:pt x="1246" y="638"/>
                    </a:lnTo>
                    <a:lnTo>
                      <a:pt x="1033" y="464"/>
                    </a:lnTo>
                    <a:lnTo>
                      <a:pt x="757" y="272"/>
                    </a:lnTo>
                    <a:lnTo>
                      <a:pt x="565" y="157"/>
                    </a:lnTo>
                    <a:lnTo>
                      <a:pt x="347" y="43"/>
                    </a:lnTo>
                    <a:lnTo>
                      <a:pt x="211" y="0"/>
                    </a:lnTo>
                    <a:lnTo>
                      <a:pt x="211" y="0"/>
                    </a:lnTo>
                    <a:lnTo>
                      <a:pt x="211" y="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279" name="Freeform 145"/>
              <p:cNvSpPr>
                <a:spLocks/>
              </p:cNvSpPr>
              <p:nvPr/>
            </p:nvSpPr>
            <p:spPr bwMode="auto">
              <a:xfrm>
                <a:off x="2547" y="1482"/>
                <a:ext cx="1363" cy="985"/>
              </a:xfrm>
              <a:custGeom>
                <a:avLst/>
                <a:gdLst>
                  <a:gd name="T0" fmla="*/ 0 w 574"/>
                  <a:gd name="T1" fmla="*/ 14 h 414"/>
                  <a:gd name="T2" fmla="*/ 574 w 574"/>
                  <a:gd name="T3" fmla="*/ 414 h 414"/>
                  <a:gd name="T4" fmla="*/ 574 w 574"/>
                  <a:gd name="T5" fmla="*/ 399 h 414"/>
                  <a:gd name="T6" fmla="*/ 0 w 574"/>
                  <a:gd name="T7" fmla="*/ 0 h 414"/>
                  <a:gd name="T8" fmla="*/ 0 w 574"/>
                  <a:gd name="T9" fmla="*/ 14 h 414"/>
                </a:gdLst>
                <a:ahLst/>
                <a:cxnLst>
                  <a:cxn ang="0">
                    <a:pos x="T0" y="T1"/>
                  </a:cxn>
                  <a:cxn ang="0">
                    <a:pos x="T2" y="T3"/>
                  </a:cxn>
                  <a:cxn ang="0">
                    <a:pos x="T4" y="T5"/>
                  </a:cxn>
                  <a:cxn ang="0">
                    <a:pos x="T6" y="T7"/>
                  </a:cxn>
                  <a:cxn ang="0">
                    <a:pos x="T8" y="T9"/>
                  </a:cxn>
                </a:cxnLst>
                <a:rect l="0" t="0" r="r" b="b"/>
                <a:pathLst>
                  <a:path w="574" h="414">
                    <a:moveTo>
                      <a:pt x="0" y="14"/>
                    </a:moveTo>
                    <a:cubicBezTo>
                      <a:pt x="219" y="101"/>
                      <a:pt x="418" y="238"/>
                      <a:pt x="574" y="414"/>
                    </a:cubicBezTo>
                    <a:cubicBezTo>
                      <a:pt x="574" y="409"/>
                      <a:pt x="574" y="406"/>
                      <a:pt x="574" y="399"/>
                    </a:cubicBezTo>
                    <a:cubicBezTo>
                      <a:pt x="418" y="223"/>
                      <a:pt x="219" y="86"/>
                      <a:pt x="0" y="0"/>
                    </a:cubicBezTo>
                    <a:cubicBezTo>
                      <a:pt x="0" y="4"/>
                      <a:pt x="0" y="9"/>
                      <a:pt x="0" y="14"/>
                    </a:cubicBez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280" name="Freeform 146"/>
              <p:cNvSpPr>
                <a:spLocks/>
              </p:cNvSpPr>
              <p:nvPr/>
            </p:nvSpPr>
            <p:spPr bwMode="auto">
              <a:xfrm>
                <a:off x="2760" y="1428"/>
                <a:ext cx="1320" cy="999"/>
              </a:xfrm>
              <a:custGeom>
                <a:avLst/>
                <a:gdLst>
                  <a:gd name="T0" fmla="*/ 0 w 556"/>
                  <a:gd name="T1" fmla="*/ 15 h 420"/>
                  <a:gd name="T2" fmla="*/ 555 w 556"/>
                  <a:gd name="T3" fmla="*/ 420 h 420"/>
                  <a:gd name="T4" fmla="*/ 556 w 556"/>
                  <a:gd name="T5" fmla="*/ 405 h 420"/>
                  <a:gd name="T6" fmla="*/ 0 w 556"/>
                  <a:gd name="T7" fmla="*/ 0 h 420"/>
                  <a:gd name="T8" fmla="*/ 0 w 556"/>
                  <a:gd name="T9" fmla="*/ 15 h 420"/>
                </a:gdLst>
                <a:ahLst/>
                <a:cxnLst>
                  <a:cxn ang="0">
                    <a:pos x="T0" y="T1"/>
                  </a:cxn>
                  <a:cxn ang="0">
                    <a:pos x="T2" y="T3"/>
                  </a:cxn>
                  <a:cxn ang="0">
                    <a:pos x="T4" y="T5"/>
                  </a:cxn>
                  <a:cxn ang="0">
                    <a:pos x="T6" y="T7"/>
                  </a:cxn>
                  <a:cxn ang="0">
                    <a:pos x="T8" y="T9"/>
                  </a:cxn>
                </a:cxnLst>
                <a:rect l="0" t="0" r="r" b="b"/>
                <a:pathLst>
                  <a:path w="556" h="420">
                    <a:moveTo>
                      <a:pt x="0" y="15"/>
                    </a:moveTo>
                    <a:cubicBezTo>
                      <a:pt x="215" y="112"/>
                      <a:pt x="408" y="235"/>
                      <a:pt x="555" y="420"/>
                    </a:cubicBezTo>
                    <a:cubicBezTo>
                      <a:pt x="555" y="414"/>
                      <a:pt x="556" y="412"/>
                      <a:pt x="556" y="405"/>
                    </a:cubicBezTo>
                    <a:cubicBezTo>
                      <a:pt x="408" y="221"/>
                      <a:pt x="216" y="97"/>
                      <a:pt x="0" y="0"/>
                    </a:cubicBezTo>
                    <a:cubicBezTo>
                      <a:pt x="0" y="5"/>
                      <a:pt x="0" y="9"/>
                      <a:pt x="0" y="15"/>
                    </a:cubicBez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grpSp>
        <p:grpSp>
          <p:nvGrpSpPr>
            <p:cNvPr id="281" name="bridge from desktop"/>
            <p:cNvGrpSpPr>
              <a:grpSpLocks noChangeAspect="1"/>
            </p:cNvGrpSpPr>
            <p:nvPr/>
          </p:nvGrpSpPr>
          <p:grpSpPr bwMode="auto">
            <a:xfrm flipH="1">
              <a:off x="4469144" y="4712840"/>
              <a:ext cx="3877711" cy="2628143"/>
              <a:chOff x="2547" y="1428"/>
              <a:chExt cx="1533" cy="1039"/>
            </a:xfrm>
          </p:grpSpPr>
          <p:sp>
            <p:nvSpPr>
              <p:cNvPr id="282" name="Freeform 144"/>
              <p:cNvSpPr>
                <a:spLocks/>
              </p:cNvSpPr>
              <p:nvPr/>
            </p:nvSpPr>
            <p:spPr bwMode="auto">
              <a:xfrm>
                <a:off x="2549" y="1463"/>
                <a:ext cx="1526" cy="1004"/>
              </a:xfrm>
              <a:custGeom>
                <a:avLst/>
                <a:gdLst>
                  <a:gd name="T0" fmla="*/ 211 w 1526"/>
                  <a:gd name="T1" fmla="*/ 0 h 1004"/>
                  <a:gd name="T2" fmla="*/ 0 w 1526"/>
                  <a:gd name="T3" fmla="*/ 53 h 1004"/>
                  <a:gd name="T4" fmla="*/ 109 w 1526"/>
                  <a:gd name="T5" fmla="*/ 79 h 1004"/>
                  <a:gd name="T6" fmla="*/ 449 w 1526"/>
                  <a:gd name="T7" fmla="*/ 243 h 1004"/>
                  <a:gd name="T8" fmla="*/ 912 w 1526"/>
                  <a:gd name="T9" fmla="*/ 550 h 1004"/>
                  <a:gd name="T10" fmla="*/ 1073 w 1526"/>
                  <a:gd name="T11" fmla="*/ 690 h 1004"/>
                  <a:gd name="T12" fmla="*/ 1344 w 1526"/>
                  <a:gd name="T13" fmla="*/ 971 h 1004"/>
                  <a:gd name="T14" fmla="*/ 1363 w 1526"/>
                  <a:gd name="T15" fmla="*/ 1004 h 1004"/>
                  <a:gd name="T16" fmla="*/ 1526 w 1526"/>
                  <a:gd name="T17" fmla="*/ 964 h 1004"/>
                  <a:gd name="T18" fmla="*/ 1462 w 1526"/>
                  <a:gd name="T19" fmla="*/ 864 h 1004"/>
                  <a:gd name="T20" fmla="*/ 1246 w 1526"/>
                  <a:gd name="T21" fmla="*/ 638 h 1004"/>
                  <a:gd name="T22" fmla="*/ 1033 w 1526"/>
                  <a:gd name="T23" fmla="*/ 464 h 1004"/>
                  <a:gd name="T24" fmla="*/ 757 w 1526"/>
                  <a:gd name="T25" fmla="*/ 272 h 1004"/>
                  <a:gd name="T26" fmla="*/ 565 w 1526"/>
                  <a:gd name="T27" fmla="*/ 157 h 1004"/>
                  <a:gd name="T28" fmla="*/ 347 w 1526"/>
                  <a:gd name="T29" fmla="*/ 43 h 1004"/>
                  <a:gd name="T30" fmla="*/ 211 w 1526"/>
                  <a:gd name="T31" fmla="*/ 0 h 1004"/>
                  <a:gd name="T32" fmla="*/ 211 w 1526"/>
                  <a:gd name="T33" fmla="*/ 0 h 1004"/>
                  <a:gd name="T34" fmla="*/ 211 w 1526"/>
                  <a:gd name="T35" fmla="*/ 0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6" h="1004">
                    <a:moveTo>
                      <a:pt x="211" y="0"/>
                    </a:moveTo>
                    <a:lnTo>
                      <a:pt x="0" y="53"/>
                    </a:lnTo>
                    <a:lnTo>
                      <a:pt x="109" y="79"/>
                    </a:lnTo>
                    <a:lnTo>
                      <a:pt x="449" y="243"/>
                    </a:lnTo>
                    <a:lnTo>
                      <a:pt x="912" y="550"/>
                    </a:lnTo>
                    <a:lnTo>
                      <a:pt x="1073" y="690"/>
                    </a:lnTo>
                    <a:lnTo>
                      <a:pt x="1344" y="971"/>
                    </a:lnTo>
                    <a:lnTo>
                      <a:pt x="1363" y="1004"/>
                    </a:lnTo>
                    <a:lnTo>
                      <a:pt x="1526" y="964"/>
                    </a:lnTo>
                    <a:lnTo>
                      <a:pt x="1462" y="864"/>
                    </a:lnTo>
                    <a:lnTo>
                      <a:pt x="1246" y="638"/>
                    </a:lnTo>
                    <a:lnTo>
                      <a:pt x="1033" y="464"/>
                    </a:lnTo>
                    <a:lnTo>
                      <a:pt x="757" y="272"/>
                    </a:lnTo>
                    <a:lnTo>
                      <a:pt x="565" y="157"/>
                    </a:lnTo>
                    <a:lnTo>
                      <a:pt x="347" y="43"/>
                    </a:lnTo>
                    <a:lnTo>
                      <a:pt x="211" y="0"/>
                    </a:lnTo>
                    <a:lnTo>
                      <a:pt x="211" y="0"/>
                    </a:lnTo>
                    <a:lnTo>
                      <a:pt x="211" y="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283" name="Freeform 145"/>
              <p:cNvSpPr>
                <a:spLocks/>
              </p:cNvSpPr>
              <p:nvPr/>
            </p:nvSpPr>
            <p:spPr bwMode="auto">
              <a:xfrm>
                <a:off x="2547" y="1482"/>
                <a:ext cx="1363" cy="985"/>
              </a:xfrm>
              <a:custGeom>
                <a:avLst/>
                <a:gdLst>
                  <a:gd name="T0" fmla="*/ 0 w 574"/>
                  <a:gd name="T1" fmla="*/ 14 h 414"/>
                  <a:gd name="T2" fmla="*/ 574 w 574"/>
                  <a:gd name="T3" fmla="*/ 414 h 414"/>
                  <a:gd name="T4" fmla="*/ 574 w 574"/>
                  <a:gd name="T5" fmla="*/ 399 h 414"/>
                  <a:gd name="T6" fmla="*/ 0 w 574"/>
                  <a:gd name="T7" fmla="*/ 0 h 414"/>
                  <a:gd name="T8" fmla="*/ 0 w 574"/>
                  <a:gd name="T9" fmla="*/ 14 h 414"/>
                </a:gdLst>
                <a:ahLst/>
                <a:cxnLst>
                  <a:cxn ang="0">
                    <a:pos x="T0" y="T1"/>
                  </a:cxn>
                  <a:cxn ang="0">
                    <a:pos x="T2" y="T3"/>
                  </a:cxn>
                  <a:cxn ang="0">
                    <a:pos x="T4" y="T5"/>
                  </a:cxn>
                  <a:cxn ang="0">
                    <a:pos x="T6" y="T7"/>
                  </a:cxn>
                  <a:cxn ang="0">
                    <a:pos x="T8" y="T9"/>
                  </a:cxn>
                </a:cxnLst>
                <a:rect l="0" t="0" r="r" b="b"/>
                <a:pathLst>
                  <a:path w="574" h="414">
                    <a:moveTo>
                      <a:pt x="0" y="14"/>
                    </a:moveTo>
                    <a:cubicBezTo>
                      <a:pt x="219" y="101"/>
                      <a:pt x="418" y="238"/>
                      <a:pt x="574" y="414"/>
                    </a:cubicBezTo>
                    <a:cubicBezTo>
                      <a:pt x="574" y="409"/>
                      <a:pt x="574" y="406"/>
                      <a:pt x="574" y="399"/>
                    </a:cubicBezTo>
                    <a:cubicBezTo>
                      <a:pt x="418" y="223"/>
                      <a:pt x="219" y="86"/>
                      <a:pt x="0" y="0"/>
                    </a:cubicBezTo>
                    <a:cubicBezTo>
                      <a:pt x="0" y="4"/>
                      <a:pt x="0" y="9"/>
                      <a:pt x="0" y="14"/>
                    </a:cubicBez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284" name="Freeform 146"/>
              <p:cNvSpPr>
                <a:spLocks/>
              </p:cNvSpPr>
              <p:nvPr/>
            </p:nvSpPr>
            <p:spPr bwMode="auto">
              <a:xfrm>
                <a:off x="2760" y="1428"/>
                <a:ext cx="1320" cy="999"/>
              </a:xfrm>
              <a:custGeom>
                <a:avLst/>
                <a:gdLst>
                  <a:gd name="T0" fmla="*/ 0 w 556"/>
                  <a:gd name="T1" fmla="*/ 15 h 420"/>
                  <a:gd name="T2" fmla="*/ 555 w 556"/>
                  <a:gd name="T3" fmla="*/ 420 h 420"/>
                  <a:gd name="T4" fmla="*/ 556 w 556"/>
                  <a:gd name="T5" fmla="*/ 405 h 420"/>
                  <a:gd name="T6" fmla="*/ 0 w 556"/>
                  <a:gd name="T7" fmla="*/ 0 h 420"/>
                  <a:gd name="T8" fmla="*/ 0 w 556"/>
                  <a:gd name="T9" fmla="*/ 15 h 420"/>
                </a:gdLst>
                <a:ahLst/>
                <a:cxnLst>
                  <a:cxn ang="0">
                    <a:pos x="T0" y="T1"/>
                  </a:cxn>
                  <a:cxn ang="0">
                    <a:pos x="T2" y="T3"/>
                  </a:cxn>
                  <a:cxn ang="0">
                    <a:pos x="T4" y="T5"/>
                  </a:cxn>
                  <a:cxn ang="0">
                    <a:pos x="T6" y="T7"/>
                  </a:cxn>
                  <a:cxn ang="0">
                    <a:pos x="T8" y="T9"/>
                  </a:cxn>
                </a:cxnLst>
                <a:rect l="0" t="0" r="r" b="b"/>
                <a:pathLst>
                  <a:path w="556" h="420">
                    <a:moveTo>
                      <a:pt x="0" y="15"/>
                    </a:moveTo>
                    <a:cubicBezTo>
                      <a:pt x="215" y="112"/>
                      <a:pt x="408" y="235"/>
                      <a:pt x="555" y="420"/>
                    </a:cubicBezTo>
                    <a:cubicBezTo>
                      <a:pt x="555" y="414"/>
                      <a:pt x="556" y="412"/>
                      <a:pt x="556" y="405"/>
                    </a:cubicBezTo>
                    <a:cubicBezTo>
                      <a:pt x="408" y="221"/>
                      <a:pt x="216" y="97"/>
                      <a:pt x="0" y="0"/>
                    </a:cubicBezTo>
                    <a:cubicBezTo>
                      <a:pt x="0" y="5"/>
                      <a:pt x="0" y="9"/>
                      <a:pt x="0" y="15"/>
                    </a:cubicBez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grpSp>
        <p:sp>
          <p:nvSpPr>
            <p:cNvPr id="286" name="TextBox 285"/>
            <p:cNvSpPr txBox="1"/>
            <p:nvPr/>
          </p:nvSpPr>
          <p:spPr>
            <a:xfrm>
              <a:off x="6424907" y="6643563"/>
              <a:ext cx="1926448" cy="1086798"/>
            </a:xfrm>
            <a:prstGeom prst="rect">
              <a:avLst/>
            </a:prstGeom>
            <a:noFill/>
          </p:spPr>
          <p:txBody>
            <a:bodyPr wrap="square" lIns="259163" tIns="207330" rIns="259163" bIns="207330" rtlCol="0">
              <a:spAutoFit/>
            </a:bodyPr>
            <a:lstStyle/>
            <a:p>
              <a:pPr defTabSz="1270559">
                <a:defRPr/>
              </a:pPr>
              <a:r>
                <a:rPr lang="zh-CN" altLang="en-US" sz="2000" kern="0" dirty="0">
                  <a:solidFill>
                    <a:schemeClr val="tx1">
                      <a:lumMod val="50000"/>
                      <a:lumOff val="50000"/>
                    </a:schemeClr>
                  </a:solidFill>
                </a:rPr>
                <a:t>没有明显威胁的代替品</a:t>
              </a:r>
              <a:endParaRPr lang="en-US" sz="2000" kern="0" dirty="0">
                <a:solidFill>
                  <a:schemeClr val="tx1">
                    <a:lumMod val="50000"/>
                    <a:lumOff val="50000"/>
                  </a:schemeClr>
                </a:solidFill>
              </a:endParaRPr>
            </a:p>
          </p:txBody>
        </p:sp>
        <p:sp>
          <p:nvSpPr>
            <p:cNvPr id="287" name="TextBox 286"/>
            <p:cNvSpPr txBox="1"/>
            <p:nvPr/>
          </p:nvSpPr>
          <p:spPr>
            <a:xfrm>
              <a:off x="4042293" y="4838052"/>
              <a:ext cx="2252590" cy="1410207"/>
            </a:xfrm>
            <a:prstGeom prst="rect">
              <a:avLst/>
            </a:prstGeom>
            <a:noFill/>
          </p:spPr>
          <p:txBody>
            <a:bodyPr wrap="square" lIns="259163" tIns="207330" rIns="259163" bIns="207330" rtlCol="0">
              <a:spAutoFit/>
            </a:bodyPr>
            <a:lstStyle/>
            <a:p>
              <a:pPr defTabSz="1270559">
                <a:defRPr/>
              </a:pPr>
              <a:r>
                <a:rPr lang="zh-CN" altLang="en-US" sz="2000" kern="0" dirty="0">
                  <a:solidFill>
                    <a:schemeClr val="tx1">
                      <a:lumMod val="50000"/>
                      <a:lumOff val="50000"/>
                    </a:schemeClr>
                  </a:solidFill>
                  <a:latin typeface="+mn-ea"/>
                </a:rPr>
                <a:t>存在多种的供应商、长期合同形式多</a:t>
              </a:r>
            </a:p>
          </p:txBody>
        </p:sp>
        <p:sp>
          <p:nvSpPr>
            <p:cNvPr id="288" name="TextBox 287"/>
            <p:cNvSpPr txBox="1"/>
            <p:nvPr/>
          </p:nvSpPr>
          <p:spPr>
            <a:xfrm>
              <a:off x="2553048" y="2731469"/>
              <a:ext cx="3297521" cy="1604253"/>
            </a:xfrm>
            <a:prstGeom prst="rect">
              <a:avLst/>
            </a:prstGeom>
            <a:noFill/>
          </p:spPr>
          <p:txBody>
            <a:bodyPr wrap="square" lIns="259163" tIns="207330" rIns="259163" bIns="207330" rtlCol="0">
              <a:spAutoFit/>
            </a:bodyPr>
            <a:lstStyle/>
            <a:p>
              <a:pPr defTabSz="1270559">
                <a:lnSpc>
                  <a:spcPct val="90000"/>
                </a:lnSpc>
                <a:spcBef>
                  <a:spcPts val="1134"/>
                </a:spcBef>
                <a:defRPr/>
              </a:pPr>
              <a:r>
                <a:rPr lang="zh-CN" altLang="en-US" sz="2000" kern="0" dirty="0">
                  <a:solidFill>
                    <a:schemeClr val="tx1">
                      <a:lumMod val="50000"/>
                      <a:lumOff val="50000"/>
                    </a:schemeClr>
                  </a:solidFill>
                </a:rPr>
                <a:t>资本投入、研究开发费用、全球供应链和服务网络，产品规模经济和范围经济明显</a:t>
              </a:r>
            </a:p>
          </p:txBody>
        </p:sp>
        <p:sp>
          <p:nvSpPr>
            <p:cNvPr id="289" name="TextBox 288"/>
            <p:cNvSpPr txBox="1"/>
            <p:nvPr/>
          </p:nvSpPr>
          <p:spPr>
            <a:xfrm>
              <a:off x="11403194" y="4889585"/>
              <a:ext cx="1957624" cy="1410207"/>
            </a:xfrm>
            <a:prstGeom prst="rect">
              <a:avLst/>
            </a:prstGeom>
            <a:noFill/>
          </p:spPr>
          <p:txBody>
            <a:bodyPr wrap="square" lIns="259163" tIns="207330" rIns="259163" bIns="207330" rtlCol="0">
              <a:spAutoFit/>
            </a:bodyPr>
            <a:lstStyle/>
            <a:p>
              <a:pPr defTabSz="1270559">
                <a:defRPr/>
              </a:pPr>
              <a:r>
                <a:rPr lang="zh-CN" altLang="en-US" sz="2000" kern="0" dirty="0">
                  <a:solidFill>
                    <a:schemeClr val="tx1">
                      <a:lumMod val="50000"/>
                      <a:lumOff val="50000"/>
                    </a:schemeClr>
                  </a:solidFill>
                  <a:latin typeface="+mn-ea"/>
                </a:rPr>
                <a:t>服务质量的即时性比价格更重要</a:t>
              </a:r>
            </a:p>
          </p:txBody>
        </p:sp>
        <p:sp>
          <p:nvSpPr>
            <p:cNvPr id="290" name="TextBox 289"/>
            <p:cNvSpPr txBox="1"/>
            <p:nvPr/>
          </p:nvSpPr>
          <p:spPr>
            <a:xfrm>
              <a:off x="11040082" y="2296989"/>
              <a:ext cx="3692250" cy="1733617"/>
            </a:xfrm>
            <a:prstGeom prst="rect">
              <a:avLst/>
            </a:prstGeom>
            <a:noFill/>
          </p:spPr>
          <p:txBody>
            <a:bodyPr wrap="square" lIns="259163" tIns="207330" rIns="259163" bIns="207330" rtlCol="0">
              <a:spAutoFit/>
            </a:bodyPr>
            <a:lstStyle/>
            <a:p>
              <a:pPr defTabSz="1270559">
                <a:defRPr/>
              </a:pPr>
              <a:r>
                <a:rPr lang="zh-CN" altLang="en-US" sz="2000" kern="0" dirty="0">
                  <a:solidFill>
                    <a:schemeClr val="tx1">
                      <a:lumMod val="50000"/>
                      <a:lumOff val="50000"/>
                    </a:schemeClr>
                  </a:solidFill>
                </a:rPr>
                <a:t>少数主导企业；产业成长漫长，行业周期性强；产品质量和服务、品牌知名度是重要因素</a:t>
              </a:r>
              <a:endParaRPr lang="en-US" altLang="zh-CN" sz="2000" kern="0" dirty="0">
                <a:solidFill>
                  <a:schemeClr val="tx1">
                    <a:lumMod val="50000"/>
                    <a:lumOff val="50000"/>
                  </a:schemeClr>
                </a:solidFill>
              </a:endParaRPr>
            </a:p>
          </p:txBody>
        </p:sp>
        <p:grpSp>
          <p:nvGrpSpPr>
            <p:cNvPr id="12" name="Group 11"/>
            <p:cNvGrpSpPr/>
            <p:nvPr/>
          </p:nvGrpSpPr>
          <p:grpSpPr>
            <a:xfrm>
              <a:off x="1400450" y="3112222"/>
              <a:ext cx="1352776" cy="1352776"/>
              <a:chOff x="740530" y="1646680"/>
              <a:chExt cx="715948" cy="715948"/>
            </a:xfrm>
          </p:grpSpPr>
          <p:sp>
            <p:nvSpPr>
              <p:cNvPr id="11" name="Oval 10"/>
              <p:cNvSpPr/>
              <p:nvPr/>
            </p:nvSpPr>
            <p:spPr>
              <a:xfrm>
                <a:off x="740530" y="1646680"/>
                <a:ext cx="715948" cy="715948"/>
              </a:xfrm>
              <a:prstGeom prst="ellipse">
                <a:avLst/>
              </a:prstGeom>
              <a:solidFill>
                <a:schemeClr val="accent2"/>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9163" tIns="207330" rIns="259163" bIns="207330" numCol="1" spcCol="0" rtlCol="0" fromWordArt="0" anchor="t" anchorCtr="0" forceAA="0" compatLnSpc="1">
                <a:prstTxWarp prst="textNoShape">
                  <a:avLst/>
                </a:prstTxWarp>
                <a:noAutofit/>
              </a:bodyPr>
              <a:lstStyle/>
              <a:p>
                <a:pPr algn="ctr" defTabSz="1270559">
                  <a:lnSpc>
                    <a:spcPct val="90000"/>
                  </a:lnSpc>
                  <a:spcBef>
                    <a:spcPts val="1134"/>
                  </a:spcBef>
                  <a:defRPr/>
                </a:pPr>
                <a:endParaRPr lang="en-US" sz="3779" kern="0" dirty="0" err="1">
                  <a:solidFill>
                    <a:sysClr val="windowText" lastClr="000000"/>
                  </a:solidFill>
                </a:endParaRPr>
              </a:p>
            </p:txBody>
          </p:sp>
          <p:grpSp>
            <p:nvGrpSpPr>
              <p:cNvPr id="7" name="Group 4"/>
              <p:cNvGrpSpPr>
                <a:grpSpLocks noChangeAspect="1"/>
              </p:cNvGrpSpPr>
              <p:nvPr/>
            </p:nvGrpSpPr>
            <p:grpSpPr bwMode="auto">
              <a:xfrm>
                <a:off x="1001114" y="1844884"/>
                <a:ext cx="194780" cy="319541"/>
                <a:chOff x="2805" y="1493"/>
                <a:chExt cx="153" cy="251"/>
              </a:xfrm>
            </p:grpSpPr>
            <p:sp>
              <p:nvSpPr>
                <p:cNvPr id="9" name="Freeform 5"/>
                <p:cNvSpPr>
                  <a:spLocks/>
                </p:cNvSpPr>
                <p:nvPr/>
              </p:nvSpPr>
              <p:spPr bwMode="auto">
                <a:xfrm>
                  <a:off x="2805" y="1493"/>
                  <a:ext cx="153" cy="251"/>
                </a:xfrm>
                <a:custGeom>
                  <a:avLst/>
                  <a:gdLst>
                    <a:gd name="T0" fmla="*/ 68 w 72"/>
                    <a:gd name="T1" fmla="*/ 120 h 120"/>
                    <a:gd name="T2" fmla="*/ 4 w 72"/>
                    <a:gd name="T3" fmla="*/ 120 h 120"/>
                    <a:gd name="T4" fmla="*/ 0 w 72"/>
                    <a:gd name="T5" fmla="*/ 116 h 120"/>
                    <a:gd name="T6" fmla="*/ 0 w 72"/>
                    <a:gd name="T7" fmla="*/ 4 h 120"/>
                    <a:gd name="T8" fmla="*/ 4 w 72"/>
                    <a:gd name="T9" fmla="*/ 0 h 120"/>
                    <a:gd name="T10" fmla="*/ 68 w 72"/>
                    <a:gd name="T11" fmla="*/ 0 h 120"/>
                    <a:gd name="T12" fmla="*/ 72 w 72"/>
                    <a:gd name="T13" fmla="*/ 4 h 120"/>
                    <a:gd name="T14" fmla="*/ 72 w 72"/>
                    <a:gd name="T15" fmla="*/ 116 h 120"/>
                    <a:gd name="T16" fmla="*/ 68 w 72"/>
                    <a:gd name="T17"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120">
                      <a:moveTo>
                        <a:pt x="68" y="120"/>
                      </a:moveTo>
                      <a:cubicBezTo>
                        <a:pt x="4" y="120"/>
                        <a:pt x="4" y="120"/>
                        <a:pt x="4" y="120"/>
                      </a:cubicBezTo>
                      <a:cubicBezTo>
                        <a:pt x="2" y="120"/>
                        <a:pt x="0" y="118"/>
                        <a:pt x="0" y="116"/>
                      </a:cubicBezTo>
                      <a:cubicBezTo>
                        <a:pt x="0" y="4"/>
                        <a:pt x="0" y="4"/>
                        <a:pt x="0" y="4"/>
                      </a:cubicBezTo>
                      <a:cubicBezTo>
                        <a:pt x="0" y="2"/>
                        <a:pt x="2" y="0"/>
                        <a:pt x="4" y="0"/>
                      </a:cubicBezTo>
                      <a:cubicBezTo>
                        <a:pt x="68" y="0"/>
                        <a:pt x="68" y="0"/>
                        <a:pt x="68" y="0"/>
                      </a:cubicBezTo>
                      <a:cubicBezTo>
                        <a:pt x="71" y="0"/>
                        <a:pt x="72" y="2"/>
                        <a:pt x="72" y="4"/>
                      </a:cubicBezTo>
                      <a:cubicBezTo>
                        <a:pt x="72" y="116"/>
                        <a:pt x="72" y="116"/>
                        <a:pt x="72" y="116"/>
                      </a:cubicBezTo>
                      <a:cubicBezTo>
                        <a:pt x="72" y="118"/>
                        <a:pt x="71" y="120"/>
                        <a:pt x="68" y="120"/>
                      </a:cubicBezTo>
                      <a:close/>
                    </a:path>
                  </a:pathLst>
                </a:custGeom>
                <a:noFill/>
                <a:ln w="26988"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10" name="Rectangle 6"/>
                <p:cNvSpPr>
                  <a:spLocks noChangeArrowheads="1"/>
                </p:cNvSpPr>
                <p:nvPr/>
              </p:nvSpPr>
              <p:spPr bwMode="auto">
                <a:xfrm>
                  <a:off x="2864" y="1703"/>
                  <a:ext cx="34" cy="16"/>
                </a:xfrm>
                <a:prstGeom prst="rect">
                  <a:avLst/>
                </a:prstGeom>
                <a:solidFill>
                  <a:schemeClr val="bg1"/>
                </a:solidFill>
                <a:ln w="9525">
                  <a:noFill/>
                  <a:miter lim="800000"/>
                  <a:headEnd/>
                  <a:tailEnd/>
                </a:ln>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grpSp>
        </p:grpSp>
        <p:grpSp>
          <p:nvGrpSpPr>
            <p:cNvPr id="23" name="Group 22"/>
            <p:cNvGrpSpPr/>
            <p:nvPr/>
          </p:nvGrpSpPr>
          <p:grpSpPr>
            <a:xfrm>
              <a:off x="3204410" y="5966508"/>
              <a:ext cx="1352776" cy="1352776"/>
              <a:chOff x="1695265" y="3157293"/>
              <a:chExt cx="715948" cy="715948"/>
            </a:xfrm>
          </p:grpSpPr>
          <p:sp>
            <p:nvSpPr>
              <p:cNvPr id="103" name="Oval 102"/>
              <p:cNvSpPr/>
              <p:nvPr/>
            </p:nvSpPr>
            <p:spPr>
              <a:xfrm>
                <a:off x="1695265" y="3157293"/>
                <a:ext cx="715948" cy="715948"/>
              </a:xfrm>
              <a:prstGeom prst="ellipse">
                <a:avLst/>
              </a:prstGeom>
              <a:solidFill>
                <a:schemeClr val="tx2"/>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9163" tIns="207330" rIns="259163" bIns="207330" numCol="1" spcCol="0" rtlCol="0" fromWordArt="0" anchor="t" anchorCtr="0" forceAA="0" compatLnSpc="1">
                <a:prstTxWarp prst="textNoShape">
                  <a:avLst/>
                </a:prstTxWarp>
                <a:noAutofit/>
              </a:bodyPr>
              <a:lstStyle/>
              <a:p>
                <a:pPr algn="ctr" defTabSz="1270559">
                  <a:lnSpc>
                    <a:spcPct val="90000"/>
                  </a:lnSpc>
                  <a:spcBef>
                    <a:spcPts val="1134"/>
                  </a:spcBef>
                  <a:defRPr/>
                </a:pPr>
                <a:endParaRPr lang="en-US" sz="3779" kern="0" dirty="0" err="1">
                  <a:solidFill>
                    <a:sysClr val="windowText" lastClr="000000"/>
                  </a:solidFill>
                </a:endParaRPr>
              </a:p>
            </p:txBody>
          </p:sp>
          <p:grpSp>
            <p:nvGrpSpPr>
              <p:cNvPr id="14" name="Group 9"/>
              <p:cNvGrpSpPr>
                <a:grpSpLocks noChangeAspect="1"/>
              </p:cNvGrpSpPr>
              <p:nvPr/>
            </p:nvGrpSpPr>
            <p:grpSpPr bwMode="auto">
              <a:xfrm>
                <a:off x="1891314" y="3384298"/>
                <a:ext cx="323850" cy="261938"/>
                <a:chOff x="1215" y="2127"/>
                <a:chExt cx="204" cy="165"/>
              </a:xfrm>
              <a:noFill/>
            </p:grpSpPr>
            <p:sp>
              <p:nvSpPr>
                <p:cNvPr id="16" name="Rectangle 10"/>
                <p:cNvSpPr>
                  <a:spLocks noChangeArrowheads="1"/>
                </p:cNvSpPr>
                <p:nvPr/>
              </p:nvSpPr>
              <p:spPr bwMode="auto">
                <a:xfrm>
                  <a:off x="1283" y="2182"/>
                  <a:ext cx="136" cy="82"/>
                </a:xfrm>
                <a:prstGeom prst="rect">
                  <a:avLst/>
                </a:prstGeom>
                <a:grpFill/>
                <a:ln w="20638" cap="flat">
                  <a:solidFill>
                    <a:schemeClr val="bg1"/>
                  </a:solidFill>
                  <a:prstDash val="solid"/>
                  <a:miter lim="800000"/>
                  <a:headEnd/>
                  <a:tailEnd/>
                </a:ln>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17" name="Line 11"/>
                <p:cNvSpPr>
                  <a:spLocks noChangeShapeType="1"/>
                </p:cNvSpPr>
                <p:nvPr/>
              </p:nvSpPr>
              <p:spPr bwMode="auto">
                <a:xfrm>
                  <a:off x="1351" y="2264"/>
                  <a:ext cx="0" cy="28"/>
                </a:xfrm>
                <a:prstGeom prst="line">
                  <a:avLst/>
                </a:prstGeom>
                <a:grpFill/>
                <a:ln w="20638" cap="flat">
                  <a:solidFill>
                    <a:schemeClr val="bg1"/>
                  </a:solidFill>
                  <a:prstDash val="solid"/>
                  <a:miter lim="800000"/>
                  <a:headEnd/>
                  <a:tailEnd/>
                </a:ln>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18" name="Line 12"/>
                <p:cNvSpPr>
                  <a:spLocks noChangeShapeType="1"/>
                </p:cNvSpPr>
                <p:nvPr/>
              </p:nvSpPr>
              <p:spPr bwMode="auto">
                <a:xfrm>
                  <a:off x="1317" y="2292"/>
                  <a:ext cx="68" cy="0"/>
                </a:xfrm>
                <a:prstGeom prst="line">
                  <a:avLst/>
                </a:prstGeom>
                <a:grpFill/>
                <a:ln w="20638" cap="flat">
                  <a:solidFill>
                    <a:schemeClr val="bg1"/>
                  </a:solidFill>
                  <a:prstDash val="solid"/>
                  <a:miter lim="800000"/>
                  <a:headEnd/>
                  <a:tailEnd/>
                </a:ln>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19" name="Line 13"/>
                <p:cNvSpPr>
                  <a:spLocks noChangeShapeType="1"/>
                </p:cNvSpPr>
                <p:nvPr/>
              </p:nvSpPr>
              <p:spPr bwMode="auto">
                <a:xfrm>
                  <a:off x="1235" y="2155"/>
                  <a:ext cx="41" cy="0"/>
                </a:xfrm>
                <a:prstGeom prst="line">
                  <a:avLst/>
                </a:prstGeom>
                <a:grpFill/>
                <a:ln w="20638" cap="flat">
                  <a:solidFill>
                    <a:schemeClr val="bg1"/>
                  </a:solidFill>
                  <a:prstDash val="solid"/>
                  <a:miter lim="800000"/>
                  <a:headEnd/>
                  <a:tailEnd/>
                </a:ln>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20" name="Line 14"/>
                <p:cNvSpPr>
                  <a:spLocks noChangeShapeType="1"/>
                </p:cNvSpPr>
                <p:nvPr/>
              </p:nvSpPr>
              <p:spPr bwMode="auto">
                <a:xfrm>
                  <a:off x="1235" y="2264"/>
                  <a:ext cx="41" cy="0"/>
                </a:xfrm>
                <a:prstGeom prst="line">
                  <a:avLst/>
                </a:prstGeom>
                <a:grpFill/>
                <a:ln w="20638" cap="flat">
                  <a:solidFill>
                    <a:schemeClr val="bg1"/>
                  </a:solidFill>
                  <a:prstDash val="solid"/>
                  <a:miter lim="800000"/>
                  <a:headEnd/>
                  <a:tailEnd/>
                </a:ln>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21" name="Line 15"/>
                <p:cNvSpPr>
                  <a:spLocks noChangeShapeType="1"/>
                </p:cNvSpPr>
                <p:nvPr/>
              </p:nvSpPr>
              <p:spPr bwMode="auto">
                <a:xfrm>
                  <a:off x="1235" y="2237"/>
                  <a:ext cx="41" cy="0"/>
                </a:xfrm>
                <a:prstGeom prst="line">
                  <a:avLst/>
                </a:prstGeom>
                <a:grpFill/>
                <a:ln w="20638" cap="flat">
                  <a:solidFill>
                    <a:schemeClr val="bg1"/>
                  </a:solidFill>
                  <a:prstDash val="solid"/>
                  <a:miter lim="800000"/>
                  <a:headEnd/>
                  <a:tailEnd/>
                </a:ln>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22" name="Freeform 16"/>
                <p:cNvSpPr>
                  <a:spLocks/>
                </p:cNvSpPr>
                <p:nvPr/>
              </p:nvSpPr>
              <p:spPr bwMode="auto">
                <a:xfrm>
                  <a:off x="1215" y="2127"/>
                  <a:ext cx="82" cy="165"/>
                </a:xfrm>
                <a:custGeom>
                  <a:avLst/>
                  <a:gdLst>
                    <a:gd name="T0" fmla="*/ 82 w 82"/>
                    <a:gd name="T1" fmla="*/ 137 h 165"/>
                    <a:gd name="T2" fmla="*/ 82 w 82"/>
                    <a:gd name="T3" fmla="*/ 165 h 165"/>
                    <a:gd name="T4" fmla="*/ 0 w 82"/>
                    <a:gd name="T5" fmla="*/ 165 h 165"/>
                    <a:gd name="T6" fmla="*/ 0 w 82"/>
                    <a:gd name="T7" fmla="*/ 0 h 165"/>
                    <a:gd name="T8" fmla="*/ 82 w 82"/>
                    <a:gd name="T9" fmla="*/ 0 h 165"/>
                    <a:gd name="T10" fmla="*/ 82 w 82"/>
                    <a:gd name="T11" fmla="*/ 55 h 165"/>
                  </a:gdLst>
                  <a:ahLst/>
                  <a:cxnLst>
                    <a:cxn ang="0">
                      <a:pos x="T0" y="T1"/>
                    </a:cxn>
                    <a:cxn ang="0">
                      <a:pos x="T2" y="T3"/>
                    </a:cxn>
                    <a:cxn ang="0">
                      <a:pos x="T4" y="T5"/>
                    </a:cxn>
                    <a:cxn ang="0">
                      <a:pos x="T6" y="T7"/>
                    </a:cxn>
                    <a:cxn ang="0">
                      <a:pos x="T8" y="T9"/>
                    </a:cxn>
                    <a:cxn ang="0">
                      <a:pos x="T10" y="T11"/>
                    </a:cxn>
                  </a:cxnLst>
                  <a:rect l="0" t="0" r="r" b="b"/>
                  <a:pathLst>
                    <a:path w="82" h="165">
                      <a:moveTo>
                        <a:pt x="82" y="137"/>
                      </a:moveTo>
                      <a:lnTo>
                        <a:pt x="82" y="165"/>
                      </a:lnTo>
                      <a:lnTo>
                        <a:pt x="0" y="165"/>
                      </a:lnTo>
                      <a:lnTo>
                        <a:pt x="0" y="0"/>
                      </a:lnTo>
                      <a:lnTo>
                        <a:pt x="82" y="0"/>
                      </a:lnTo>
                      <a:lnTo>
                        <a:pt x="82" y="55"/>
                      </a:lnTo>
                    </a:path>
                  </a:pathLst>
                </a:custGeom>
                <a:grpFill/>
                <a:ln w="20638" cap="flat">
                  <a:solidFill>
                    <a:schemeClr val="bg1"/>
                  </a:solidFill>
                  <a:prstDash val="solid"/>
                  <a:miter lim="800000"/>
                  <a:headEnd/>
                  <a:tailEnd/>
                </a:ln>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grpSp>
        </p:grpSp>
        <p:grpSp>
          <p:nvGrpSpPr>
            <p:cNvPr id="31" name="Group 30"/>
            <p:cNvGrpSpPr/>
            <p:nvPr/>
          </p:nvGrpSpPr>
          <p:grpSpPr>
            <a:xfrm>
              <a:off x="12468494" y="5936777"/>
              <a:ext cx="1352776" cy="1352776"/>
              <a:chOff x="6618277" y="3141558"/>
              <a:chExt cx="715948" cy="715948"/>
            </a:xfrm>
          </p:grpSpPr>
          <p:sp>
            <p:nvSpPr>
              <p:cNvPr id="127" name="Oval 126"/>
              <p:cNvSpPr/>
              <p:nvPr/>
            </p:nvSpPr>
            <p:spPr>
              <a:xfrm>
                <a:off x="6618277" y="3141558"/>
                <a:ext cx="715948" cy="715948"/>
              </a:xfrm>
              <a:prstGeom prst="ellipse">
                <a:avLst/>
              </a:prstGeom>
              <a:solidFill>
                <a:srgbClr val="FF8C00"/>
              </a:solidFill>
              <a:ln w="38100">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9163" tIns="207330" rIns="259163" bIns="207330" numCol="1" spcCol="0" rtlCol="0" fromWordArt="0" anchor="t" anchorCtr="0" forceAA="0" compatLnSpc="1">
                <a:prstTxWarp prst="textNoShape">
                  <a:avLst/>
                </a:prstTxWarp>
                <a:noAutofit/>
              </a:bodyPr>
              <a:lstStyle/>
              <a:p>
                <a:pPr algn="ctr" defTabSz="1270559">
                  <a:lnSpc>
                    <a:spcPct val="90000"/>
                  </a:lnSpc>
                  <a:spcBef>
                    <a:spcPts val="1134"/>
                  </a:spcBef>
                  <a:defRPr/>
                </a:pPr>
                <a:endParaRPr lang="en-US" sz="3779" kern="0" dirty="0" err="1">
                  <a:solidFill>
                    <a:sysClr val="windowText" lastClr="000000"/>
                  </a:solidFill>
                </a:endParaRPr>
              </a:p>
            </p:txBody>
          </p:sp>
          <p:grpSp>
            <p:nvGrpSpPr>
              <p:cNvPr id="25" name="Group 19"/>
              <p:cNvGrpSpPr>
                <a:grpSpLocks noChangeAspect="1"/>
              </p:cNvGrpSpPr>
              <p:nvPr/>
            </p:nvGrpSpPr>
            <p:grpSpPr bwMode="auto">
              <a:xfrm>
                <a:off x="6808329" y="3327809"/>
                <a:ext cx="335844" cy="343447"/>
                <a:chOff x="2" y="1"/>
                <a:chExt cx="265" cy="271"/>
              </a:xfrm>
            </p:grpSpPr>
            <p:sp>
              <p:nvSpPr>
                <p:cNvPr id="26" name="AutoShape 18"/>
                <p:cNvSpPr>
                  <a:spLocks noChangeAspect="1" noChangeArrowheads="1" noTextEdit="1"/>
                </p:cNvSpPr>
                <p:nvPr/>
              </p:nvSpPr>
              <p:spPr bwMode="auto">
                <a:xfrm>
                  <a:off x="2" y="1"/>
                  <a:ext cx="26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27" name="Oval 20"/>
                <p:cNvSpPr>
                  <a:spLocks noChangeArrowheads="1"/>
                </p:cNvSpPr>
                <p:nvPr/>
              </p:nvSpPr>
              <p:spPr bwMode="auto">
                <a:xfrm>
                  <a:off x="8" y="12"/>
                  <a:ext cx="253" cy="252"/>
                </a:xfrm>
                <a:prstGeom prst="ellipse">
                  <a:avLst/>
                </a:prstGeom>
                <a:noFill/>
                <a:ln w="26988"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28" name="Oval 21"/>
                <p:cNvSpPr>
                  <a:spLocks noChangeArrowheads="1"/>
                </p:cNvSpPr>
                <p:nvPr/>
              </p:nvSpPr>
              <p:spPr bwMode="auto">
                <a:xfrm>
                  <a:off x="76" y="12"/>
                  <a:ext cx="117" cy="252"/>
                </a:xfrm>
                <a:prstGeom prst="ellipse">
                  <a:avLst/>
                </a:prstGeom>
                <a:noFill/>
                <a:ln w="26988"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29" name="Line 22"/>
                <p:cNvSpPr>
                  <a:spLocks noChangeShapeType="1"/>
                </p:cNvSpPr>
                <p:nvPr/>
              </p:nvSpPr>
              <p:spPr bwMode="auto">
                <a:xfrm>
                  <a:off x="12" y="180"/>
                  <a:ext cx="242" cy="0"/>
                </a:xfrm>
                <a:prstGeom prst="line">
                  <a:avLst/>
                </a:prstGeom>
                <a:noFill/>
                <a:ln w="26988"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30" name="Line 23"/>
                <p:cNvSpPr>
                  <a:spLocks noChangeShapeType="1"/>
                </p:cNvSpPr>
                <p:nvPr/>
              </p:nvSpPr>
              <p:spPr bwMode="auto">
                <a:xfrm>
                  <a:off x="14" y="96"/>
                  <a:ext cx="242" cy="0"/>
                </a:xfrm>
                <a:prstGeom prst="line">
                  <a:avLst/>
                </a:prstGeom>
                <a:noFill/>
                <a:ln w="26988"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grpSp>
        </p:grpSp>
        <p:grpSp>
          <p:nvGrpSpPr>
            <p:cNvPr id="88" name="Group 224">
              <a:extLst>
                <a:ext uri="{FF2B5EF4-FFF2-40B4-BE49-F238E27FC236}">
                  <a16:creationId xmlns:a16="http://schemas.microsoft.com/office/drawing/2014/main" id="{72DE8F6F-2C5D-41D7-B897-A39F0F24AFCD}"/>
                </a:ext>
              </a:extLst>
            </p:cNvPr>
            <p:cNvGrpSpPr/>
            <p:nvPr/>
          </p:nvGrpSpPr>
          <p:grpSpPr>
            <a:xfrm>
              <a:off x="7864869" y="7293114"/>
              <a:ext cx="1352776" cy="1352777"/>
              <a:chOff x="4161783" y="3859389"/>
              <a:chExt cx="715948" cy="715948"/>
            </a:xfrm>
            <a:solidFill>
              <a:srgbClr val="92D050"/>
            </a:solidFill>
          </p:grpSpPr>
          <p:sp>
            <p:nvSpPr>
              <p:cNvPr id="89" name="Oval 146">
                <a:extLst>
                  <a:ext uri="{FF2B5EF4-FFF2-40B4-BE49-F238E27FC236}">
                    <a16:creationId xmlns:a16="http://schemas.microsoft.com/office/drawing/2014/main" id="{781E525F-7E44-4020-A37C-119ED44356E4}"/>
                  </a:ext>
                </a:extLst>
              </p:cNvPr>
              <p:cNvSpPr/>
              <p:nvPr/>
            </p:nvSpPr>
            <p:spPr>
              <a:xfrm>
                <a:off x="4161783" y="3859389"/>
                <a:ext cx="715948" cy="715948"/>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59163" tIns="207330" rIns="259163" bIns="207330" numCol="1" spcCol="0" rtlCol="0" fromWordArt="0" anchor="t"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algn="ctr" defTabSz="1270559">
                  <a:lnSpc>
                    <a:spcPct val="90000"/>
                  </a:lnSpc>
                  <a:spcBef>
                    <a:spcPts val="1134"/>
                  </a:spcBef>
                  <a:defRPr/>
                </a:pPr>
                <a:endParaRPr lang="en-US" sz="3779" kern="0" dirty="0" err="1">
                  <a:solidFill>
                    <a:sysClr val="windowText" lastClr="000000"/>
                  </a:solidFill>
                </a:endParaRPr>
              </a:p>
            </p:txBody>
          </p:sp>
          <p:sp>
            <p:nvSpPr>
              <p:cNvPr id="90" name="Rectangle 223">
                <a:extLst>
                  <a:ext uri="{FF2B5EF4-FFF2-40B4-BE49-F238E27FC236}">
                    <a16:creationId xmlns:a16="http://schemas.microsoft.com/office/drawing/2014/main" id="{D5FAB20D-5B95-45FF-A088-D73B36A184C8}"/>
                  </a:ext>
                </a:extLst>
              </p:cNvPr>
              <p:cNvSpPr/>
              <p:nvPr/>
            </p:nvSpPr>
            <p:spPr>
              <a:xfrm>
                <a:off x="4246605" y="4022090"/>
                <a:ext cx="513276" cy="325845"/>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p:spPr>
            <p:txBody>
              <a:bodyPr wrap="square">
                <a:spAutoFit/>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defTabSz="1270559">
                  <a:defRPr/>
                </a:pPr>
                <a:endParaRPr lang="en-US" sz="3401" b="1" kern="0" dirty="0">
                  <a:solidFill>
                    <a:schemeClr val="bg1"/>
                  </a:solidFill>
                </a:endParaRPr>
              </a:p>
            </p:txBody>
          </p:sp>
        </p:grpSp>
        <p:grpSp>
          <p:nvGrpSpPr>
            <p:cNvPr id="235" name="Group 234"/>
            <p:cNvGrpSpPr/>
            <p:nvPr/>
          </p:nvGrpSpPr>
          <p:grpSpPr>
            <a:xfrm>
              <a:off x="14342701" y="3094828"/>
              <a:ext cx="1352776" cy="1352776"/>
              <a:chOff x="7575902" y="1637474"/>
              <a:chExt cx="715948" cy="715948"/>
            </a:xfrm>
          </p:grpSpPr>
          <p:sp>
            <p:nvSpPr>
              <p:cNvPr id="160" name="Oval 159"/>
              <p:cNvSpPr/>
              <p:nvPr/>
            </p:nvSpPr>
            <p:spPr>
              <a:xfrm>
                <a:off x="7575902" y="1637474"/>
                <a:ext cx="715948" cy="715948"/>
              </a:xfrm>
              <a:prstGeom prst="ellipse">
                <a:avLst/>
              </a:prstGeom>
              <a:solidFill>
                <a:schemeClr val="accent5"/>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9163" tIns="207330" rIns="259163" bIns="207330" numCol="1" spcCol="0" rtlCol="0" fromWordArt="0" anchor="t" anchorCtr="0" forceAA="0" compatLnSpc="1">
                <a:prstTxWarp prst="textNoShape">
                  <a:avLst/>
                </a:prstTxWarp>
                <a:noAutofit/>
              </a:bodyPr>
              <a:lstStyle/>
              <a:p>
                <a:pPr algn="ctr" defTabSz="1270559">
                  <a:lnSpc>
                    <a:spcPct val="90000"/>
                  </a:lnSpc>
                  <a:spcBef>
                    <a:spcPts val="1134"/>
                  </a:spcBef>
                  <a:defRPr/>
                </a:pPr>
                <a:endParaRPr lang="en-US" sz="3779" kern="0" dirty="0" err="1">
                  <a:solidFill>
                    <a:sysClr val="windowText" lastClr="000000"/>
                  </a:solidFill>
                </a:endParaRPr>
              </a:p>
            </p:txBody>
          </p:sp>
          <p:grpSp>
            <p:nvGrpSpPr>
              <p:cNvPr id="234" name="Group 233"/>
              <p:cNvGrpSpPr/>
              <p:nvPr/>
            </p:nvGrpSpPr>
            <p:grpSpPr>
              <a:xfrm>
                <a:off x="7682702" y="1834537"/>
                <a:ext cx="502348" cy="321822"/>
                <a:chOff x="7678659" y="1849623"/>
                <a:chExt cx="502348" cy="321822"/>
              </a:xfrm>
            </p:grpSpPr>
            <p:grpSp>
              <p:nvGrpSpPr>
                <p:cNvPr id="231" name="Group 30"/>
                <p:cNvGrpSpPr>
                  <a:grpSpLocks noChangeAspect="1"/>
                </p:cNvGrpSpPr>
                <p:nvPr/>
              </p:nvGrpSpPr>
              <p:grpSpPr bwMode="auto">
                <a:xfrm>
                  <a:off x="7678659" y="1849623"/>
                  <a:ext cx="285780" cy="161478"/>
                  <a:chOff x="4432" y="977"/>
                  <a:chExt cx="265" cy="240"/>
                </a:xfrm>
              </p:grpSpPr>
              <p:sp>
                <p:nvSpPr>
                  <p:cNvPr id="232" name="AutoShape 29"/>
                  <p:cNvSpPr>
                    <a:spLocks noChangeAspect="1" noChangeArrowheads="1" noTextEdit="1"/>
                  </p:cNvSpPr>
                  <p:nvPr/>
                </p:nvSpPr>
                <p:spPr bwMode="auto">
                  <a:xfrm>
                    <a:off x="4432" y="977"/>
                    <a:ext cx="26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233" name="Freeform 31"/>
                  <p:cNvSpPr>
                    <a:spLocks noEditPoints="1"/>
                  </p:cNvSpPr>
                  <p:nvPr/>
                </p:nvSpPr>
                <p:spPr bwMode="auto">
                  <a:xfrm>
                    <a:off x="4430" y="979"/>
                    <a:ext cx="269" cy="236"/>
                  </a:xfrm>
                  <a:custGeom>
                    <a:avLst/>
                    <a:gdLst>
                      <a:gd name="T0" fmla="*/ 219 w 269"/>
                      <a:gd name="T1" fmla="*/ 93 h 236"/>
                      <a:gd name="T2" fmla="*/ 269 w 269"/>
                      <a:gd name="T3" fmla="*/ 67 h 236"/>
                      <a:gd name="T4" fmla="*/ 134 w 269"/>
                      <a:gd name="T5" fmla="*/ 0 h 236"/>
                      <a:gd name="T6" fmla="*/ 0 w 269"/>
                      <a:gd name="T7" fmla="*/ 67 h 236"/>
                      <a:gd name="T8" fmla="*/ 50 w 269"/>
                      <a:gd name="T9" fmla="*/ 93 h 236"/>
                      <a:gd name="T10" fmla="*/ 0 w 269"/>
                      <a:gd name="T11" fmla="*/ 118 h 236"/>
                      <a:gd name="T12" fmla="*/ 50 w 269"/>
                      <a:gd name="T13" fmla="*/ 143 h 236"/>
                      <a:gd name="T14" fmla="*/ 0 w 269"/>
                      <a:gd name="T15" fmla="*/ 168 h 236"/>
                      <a:gd name="T16" fmla="*/ 134 w 269"/>
                      <a:gd name="T17" fmla="*/ 236 h 236"/>
                      <a:gd name="T18" fmla="*/ 269 w 269"/>
                      <a:gd name="T19" fmla="*/ 168 h 236"/>
                      <a:gd name="T20" fmla="*/ 219 w 269"/>
                      <a:gd name="T21" fmla="*/ 143 h 236"/>
                      <a:gd name="T22" fmla="*/ 269 w 269"/>
                      <a:gd name="T23" fmla="*/ 118 h 236"/>
                      <a:gd name="T24" fmla="*/ 219 w 269"/>
                      <a:gd name="T25" fmla="*/ 93 h 236"/>
                      <a:gd name="T26" fmla="*/ 38 w 269"/>
                      <a:gd name="T27" fmla="*/ 67 h 236"/>
                      <a:gd name="T28" fmla="*/ 134 w 269"/>
                      <a:gd name="T29" fmla="*/ 19 h 236"/>
                      <a:gd name="T30" fmla="*/ 231 w 269"/>
                      <a:gd name="T31" fmla="*/ 67 h 236"/>
                      <a:gd name="T32" fmla="*/ 134 w 269"/>
                      <a:gd name="T33" fmla="*/ 116 h 236"/>
                      <a:gd name="T34" fmla="*/ 38 w 269"/>
                      <a:gd name="T35" fmla="*/ 67 h 236"/>
                      <a:gd name="T36" fmla="*/ 231 w 269"/>
                      <a:gd name="T37" fmla="*/ 168 h 236"/>
                      <a:gd name="T38" fmla="*/ 134 w 269"/>
                      <a:gd name="T39" fmla="*/ 217 h 236"/>
                      <a:gd name="T40" fmla="*/ 38 w 269"/>
                      <a:gd name="T41" fmla="*/ 168 h 236"/>
                      <a:gd name="T42" fmla="*/ 69 w 269"/>
                      <a:gd name="T43" fmla="*/ 154 h 236"/>
                      <a:gd name="T44" fmla="*/ 134 w 269"/>
                      <a:gd name="T45" fmla="*/ 185 h 236"/>
                      <a:gd name="T46" fmla="*/ 200 w 269"/>
                      <a:gd name="T47" fmla="*/ 154 h 236"/>
                      <a:gd name="T48" fmla="*/ 231 w 269"/>
                      <a:gd name="T49" fmla="*/ 168 h 236"/>
                      <a:gd name="T50" fmla="*/ 134 w 269"/>
                      <a:gd name="T51" fmla="*/ 166 h 236"/>
                      <a:gd name="T52" fmla="*/ 38 w 269"/>
                      <a:gd name="T53" fmla="*/ 118 h 236"/>
                      <a:gd name="T54" fmla="*/ 69 w 269"/>
                      <a:gd name="T55" fmla="*/ 103 h 236"/>
                      <a:gd name="T56" fmla="*/ 134 w 269"/>
                      <a:gd name="T57" fmla="*/ 135 h 236"/>
                      <a:gd name="T58" fmla="*/ 200 w 269"/>
                      <a:gd name="T59" fmla="*/ 103 h 236"/>
                      <a:gd name="T60" fmla="*/ 231 w 269"/>
                      <a:gd name="T61" fmla="*/ 118 h 236"/>
                      <a:gd name="T62" fmla="*/ 134 w 269"/>
                      <a:gd name="T63" fmla="*/ 16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9" h="236">
                        <a:moveTo>
                          <a:pt x="219" y="93"/>
                        </a:moveTo>
                        <a:lnTo>
                          <a:pt x="269" y="67"/>
                        </a:lnTo>
                        <a:lnTo>
                          <a:pt x="134" y="0"/>
                        </a:lnTo>
                        <a:lnTo>
                          <a:pt x="0" y="67"/>
                        </a:lnTo>
                        <a:lnTo>
                          <a:pt x="50" y="93"/>
                        </a:lnTo>
                        <a:lnTo>
                          <a:pt x="0" y="118"/>
                        </a:lnTo>
                        <a:lnTo>
                          <a:pt x="50" y="143"/>
                        </a:lnTo>
                        <a:lnTo>
                          <a:pt x="0" y="168"/>
                        </a:lnTo>
                        <a:lnTo>
                          <a:pt x="134" y="236"/>
                        </a:lnTo>
                        <a:lnTo>
                          <a:pt x="269" y="168"/>
                        </a:lnTo>
                        <a:lnTo>
                          <a:pt x="219" y="143"/>
                        </a:lnTo>
                        <a:lnTo>
                          <a:pt x="269" y="118"/>
                        </a:lnTo>
                        <a:lnTo>
                          <a:pt x="219" y="93"/>
                        </a:lnTo>
                        <a:close/>
                        <a:moveTo>
                          <a:pt x="38" y="67"/>
                        </a:moveTo>
                        <a:lnTo>
                          <a:pt x="134" y="19"/>
                        </a:lnTo>
                        <a:lnTo>
                          <a:pt x="231" y="67"/>
                        </a:lnTo>
                        <a:lnTo>
                          <a:pt x="134" y="116"/>
                        </a:lnTo>
                        <a:lnTo>
                          <a:pt x="38" y="67"/>
                        </a:lnTo>
                        <a:close/>
                        <a:moveTo>
                          <a:pt x="231" y="168"/>
                        </a:moveTo>
                        <a:lnTo>
                          <a:pt x="134" y="217"/>
                        </a:lnTo>
                        <a:lnTo>
                          <a:pt x="38" y="168"/>
                        </a:lnTo>
                        <a:lnTo>
                          <a:pt x="69" y="154"/>
                        </a:lnTo>
                        <a:lnTo>
                          <a:pt x="134" y="185"/>
                        </a:lnTo>
                        <a:lnTo>
                          <a:pt x="200" y="154"/>
                        </a:lnTo>
                        <a:lnTo>
                          <a:pt x="231" y="168"/>
                        </a:lnTo>
                        <a:close/>
                        <a:moveTo>
                          <a:pt x="134" y="166"/>
                        </a:moveTo>
                        <a:lnTo>
                          <a:pt x="38" y="118"/>
                        </a:lnTo>
                        <a:lnTo>
                          <a:pt x="69" y="103"/>
                        </a:lnTo>
                        <a:lnTo>
                          <a:pt x="134" y="135"/>
                        </a:lnTo>
                        <a:lnTo>
                          <a:pt x="200" y="103"/>
                        </a:lnTo>
                        <a:lnTo>
                          <a:pt x="231" y="118"/>
                        </a:lnTo>
                        <a:lnTo>
                          <a:pt x="134" y="1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grpSp>
            <p:grpSp>
              <p:nvGrpSpPr>
                <p:cNvPr id="155" name="Group 30"/>
                <p:cNvGrpSpPr>
                  <a:grpSpLocks noChangeAspect="1"/>
                </p:cNvGrpSpPr>
                <p:nvPr/>
              </p:nvGrpSpPr>
              <p:grpSpPr bwMode="auto">
                <a:xfrm>
                  <a:off x="7895227" y="2009967"/>
                  <a:ext cx="285780" cy="161478"/>
                  <a:chOff x="4432" y="977"/>
                  <a:chExt cx="265" cy="240"/>
                </a:xfrm>
              </p:grpSpPr>
              <p:sp>
                <p:nvSpPr>
                  <p:cNvPr id="156" name="AutoShape 29"/>
                  <p:cNvSpPr>
                    <a:spLocks noChangeAspect="1" noChangeArrowheads="1" noTextEdit="1"/>
                  </p:cNvSpPr>
                  <p:nvPr/>
                </p:nvSpPr>
                <p:spPr bwMode="auto">
                  <a:xfrm>
                    <a:off x="4432" y="977"/>
                    <a:ext cx="26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sp>
                <p:nvSpPr>
                  <p:cNvPr id="157" name="Freeform 31"/>
                  <p:cNvSpPr>
                    <a:spLocks noEditPoints="1"/>
                  </p:cNvSpPr>
                  <p:nvPr/>
                </p:nvSpPr>
                <p:spPr bwMode="auto">
                  <a:xfrm>
                    <a:off x="4430" y="979"/>
                    <a:ext cx="269" cy="236"/>
                  </a:xfrm>
                  <a:custGeom>
                    <a:avLst/>
                    <a:gdLst>
                      <a:gd name="T0" fmla="*/ 219 w 269"/>
                      <a:gd name="T1" fmla="*/ 93 h 236"/>
                      <a:gd name="T2" fmla="*/ 269 w 269"/>
                      <a:gd name="T3" fmla="*/ 67 h 236"/>
                      <a:gd name="T4" fmla="*/ 134 w 269"/>
                      <a:gd name="T5" fmla="*/ 0 h 236"/>
                      <a:gd name="T6" fmla="*/ 0 w 269"/>
                      <a:gd name="T7" fmla="*/ 67 h 236"/>
                      <a:gd name="T8" fmla="*/ 50 w 269"/>
                      <a:gd name="T9" fmla="*/ 93 h 236"/>
                      <a:gd name="T10" fmla="*/ 0 w 269"/>
                      <a:gd name="T11" fmla="*/ 118 h 236"/>
                      <a:gd name="T12" fmla="*/ 50 w 269"/>
                      <a:gd name="T13" fmla="*/ 143 h 236"/>
                      <a:gd name="T14" fmla="*/ 0 w 269"/>
                      <a:gd name="T15" fmla="*/ 168 h 236"/>
                      <a:gd name="T16" fmla="*/ 134 w 269"/>
                      <a:gd name="T17" fmla="*/ 236 h 236"/>
                      <a:gd name="T18" fmla="*/ 269 w 269"/>
                      <a:gd name="T19" fmla="*/ 168 h 236"/>
                      <a:gd name="T20" fmla="*/ 219 w 269"/>
                      <a:gd name="T21" fmla="*/ 143 h 236"/>
                      <a:gd name="T22" fmla="*/ 269 w 269"/>
                      <a:gd name="T23" fmla="*/ 118 h 236"/>
                      <a:gd name="T24" fmla="*/ 219 w 269"/>
                      <a:gd name="T25" fmla="*/ 93 h 236"/>
                      <a:gd name="T26" fmla="*/ 38 w 269"/>
                      <a:gd name="T27" fmla="*/ 67 h 236"/>
                      <a:gd name="T28" fmla="*/ 134 w 269"/>
                      <a:gd name="T29" fmla="*/ 19 h 236"/>
                      <a:gd name="T30" fmla="*/ 231 w 269"/>
                      <a:gd name="T31" fmla="*/ 67 h 236"/>
                      <a:gd name="T32" fmla="*/ 134 w 269"/>
                      <a:gd name="T33" fmla="*/ 116 h 236"/>
                      <a:gd name="T34" fmla="*/ 38 w 269"/>
                      <a:gd name="T35" fmla="*/ 67 h 236"/>
                      <a:gd name="T36" fmla="*/ 231 w 269"/>
                      <a:gd name="T37" fmla="*/ 168 h 236"/>
                      <a:gd name="T38" fmla="*/ 134 w 269"/>
                      <a:gd name="T39" fmla="*/ 217 h 236"/>
                      <a:gd name="T40" fmla="*/ 38 w 269"/>
                      <a:gd name="T41" fmla="*/ 168 h 236"/>
                      <a:gd name="T42" fmla="*/ 69 w 269"/>
                      <a:gd name="T43" fmla="*/ 154 h 236"/>
                      <a:gd name="T44" fmla="*/ 134 w 269"/>
                      <a:gd name="T45" fmla="*/ 185 h 236"/>
                      <a:gd name="T46" fmla="*/ 200 w 269"/>
                      <a:gd name="T47" fmla="*/ 154 h 236"/>
                      <a:gd name="T48" fmla="*/ 231 w 269"/>
                      <a:gd name="T49" fmla="*/ 168 h 236"/>
                      <a:gd name="T50" fmla="*/ 134 w 269"/>
                      <a:gd name="T51" fmla="*/ 166 h 236"/>
                      <a:gd name="T52" fmla="*/ 38 w 269"/>
                      <a:gd name="T53" fmla="*/ 118 h 236"/>
                      <a:gd name="T54" fmla="*/ 69 w 269"/>
                      <a:gd name="T55" fmla="*/ 103 h 236"/>
                      <a:gd name="T56" fmla="*/ 134 w 269"/>
                      <a:gd name="T57" fmla="*/ 135 h 236"/>
                      <a:gd name="T58" fmla="*/ 200 w 269"/>
                      <a:gd name="T59" fmla="*/ 103 h 236"/>
                      <a:gd name="T60" fmla="*/ 231 w 269"/>
                      <a:gd name="T61" fmla="*/ 118 h 236"/>
                      <a:gd name="T62" fmla="*/ 134 w 269"/>
                      <a:gd name="T63" fmla="*/ 16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9" h="236">
                        <a:moveTo>
                          <a:pt x="219" y="93"/>
                        </a:moveTo>
                        <a:lnTo>
                          <a:pt x="269" y="67"/>
                        </a:lnTo>
                        <a:lnTo>
                          <a:pt x="134" y="0"/>
                        </a:lnTo>
                        <a:lnTo>
                          <a:pt x="0" y="67"/>
                        </a:lnTo>
                        <a:lnTo>
                          <a:pt x="50" y="93"/>
                        </a:lnTo>
                        <a:lnTo>
                          <a:pt x="0" y="118"/>
                        </a:lnTo>
                        <a:lnTo>
                          <a:pt x="50" y="143"/>
                        </a:lnTo>
                        <a:lnTo>
                          <a:pt x="0" y="168"/>
                        </a:lnTo>
                        <a:lnTo>
                          <a:pt x="134" y="236"/>
                        </a:lnTo>
                        <a:lnTo>
                          <a:pt x="269" y="168"/>
                        </a:lnTo>
                        <a:lnTo>
                          <a:pt x="219" y="143"/>
                        </a:lnTo>
                        <a:lnTo>
                          <a:pt x="269" y="118"/>
                        </a:lnTo>
                        <a:lnTo>
                          <a:pt x="219" y="93"/>
                        </a:lnTo>
                        <a:close/>
                        <a:moveTo>
                          <a:pt x="38" y="67"/>
                        </a:moveTo>
                        <a:lnTo>
                          <a:pt x="134" y="19"/>
                        </a:lnTo>
                        <a:lnTo>
                          <a:pt x="231" y="67"/>
                        </a:lnTo>
                        <a:lnTo>
                          <a:pt x="134" y="116"/>
                        </a:lnTo>
                        <a:lnTo>
                          <a:pt x="38" y="67"/>
                        </a:lnTo>
                        <a:close/>
                        <a:moveTo>
                          <a:pt x="231" y="168"/>
                        </a:moveTo>
                        <a:lnTo>
                          <a:pt x="134" y="217"/>
                        </a:lnTo>
                        <a:lnTo>
                          <a:pt x="38" y="168"/>
                        </a:lnTo>
                        <a:lnTo>
                          <a:pt x="69" y="154"/>
                        </a:lnTo>
                        <a:lnTo>
                          <a:pt x="134" y="185"/>
                        </a:lnTo>
                        <a:lnTo>
                          <a:pt x="200" y="154"/>
                        </a:lnTo>
                        <a:lnTo>
                          <a:pt x="231" y="168"/>
                        </a:lnTo>
                        <a:close/>
                        <a:moveTo>
                          <a:pt x="134" y="166"/>
                        </a:moveTo>
                        <a:lnTo>
                          <a:pt x="38" y="118"/>
                        </a:lnTo>
                        <a:lnTo>
                          <a:pt x="69" y="103"/>
                        </a:lnTo>
                        <a:lnTo>
                          <a:pt x="134" y="135"/>
                        </a:lnTo>
                        <a:lnTo>
                          <a:pt x="200" y="103"/>
                        </a:lnTo>
                        <a:lnTo>
                          <a:pt x="231" y="118"/>
                        </a:lnTo>
                        <a:lnTo>
                          <a:pt x="134" y="1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72775" tIns="86388" rIns="172775" bIns="86388" numCol="1" anchor="t" anchorCtr="0" compatLnSpc="1">
                    <a:prstTxWarp prst="textNoShape">
                      <a:avLst/>
                    </a:prstTxWarp>
                  </a:bodyPr>
                  <a:lstStyle/>
                  <a:p>
                    <a:pPr defTabSz="1270559">
                      <a:defRPr/>
                    </a:pPr>
                    <a:endParaRPr lang="en-US" sz="3401" kern="0">
                      <a:solidFill>
                        <a:sysClr val="windowText" lastClr="000000"/>
                      </a:solidFill>
                    </a:endParaRPr>
                  </a:p>
                </p:txBody>
              </p:sp>
            </p:grpSp>
          </p:grpSp>
        </p:grpSp>
        <p:sp>
          <p:nvSpPr>
            <p:cNvPr id="4" name="文本框 3">
              <a:extLst>
                <a:ext uri="{FF2B5EF4-FFF2-40B4-BE49-F238E27FC236}">
                  <a16:creationId xmlns:a16="http://schemas.microsoft.com/office/drawing/2014/main" id="{59A0057F-F46D-4B76-AA36-C336F1AED951}"/>
                </a:ext>
              </a:extLst>
            </p:cNvPr>
            <p:cNvSpPr txBox="1"/>
            <p:nvPr/>
          </p:nvSpPr>
          <p:spPr>
            <a:xfrm>
              <a:off x="8204079" y="3875272"/>
              <a:ext cx="808381" cy="400110"/>
            </a:xfrm>
            <a:prstGeom prst="rect">
              <a:avLst/>
            </a:prstGeom>
            <a:noFill/>
          </p:spPr>
          <p:txBody>
            <a:bodyPr wrap="square" rtlCol="0">
              <a:spAutoFit/>
            </a:bodyPr>
            <a:lstStyle/>
            <a:p>
              <a:r>
                <a:rPr lang="zh-CN" altLang="en-US" sz="2000" b="1" dirty="0"/>
                <a:t>结 论</a:t>
              </a:r>
            </a:p>
          </p:txBody>
        </p:sp>
        <p:sp>
          <p:nvSpPr>
            <p:cNvPr id="5" name="矩形 4">
              <a:extLst>
                <a:ext uri="{FF2B5EF4-FFF2-40B4-BE49-F238E27FC236}">
                  <a16:creationId xmlns:a16="http://schemas.microsoft.com/office/drawing/2014/main" id="{AD3A78B2-8347-4867-86C1-5E4DCE6726ED}"/>
                </a:ext>
              </a:extLst>
            </p:cNvPr>
            <p:cNvSpPr/>
            <p:nvPr/>
          </p:nvSpPr>
          <p:spPr>
            <a:xfrm>
              <a:off x="6625168" y="2000267"/>
              <a:ext cx="4029602" cy="1067253"/>
            </a:xfrm>
            <a:prstGeom prst="rect">
              <a:avLst/>
            </a:prstGeom>
          </p:spPr>
          <p:txBody>
            <a:bodyPr wrap="square">
              <a:spAutoFit/>
            </a:bodyPr>
            <a:lstStyle/>
            <a:p>
              <a:r>
                <a:rPr kumimoji="1" lang="zh-CN" altLang="en-US" sz="2000" b="1" dirty="0">
                  <a:solidFill>
                    <a:srgbClr val="C00000"/>
                  </a:solidFill>
                  <a:latin typeface="+mn-ea"/>
                </a:rPr>
                <a:t>少数企业主导的市场格局，产品的质量、服务、品牌等要素是核心竞争力</a:t>
              </a:r>
              <a:endParaRPr kumimoji="1" lang="ko-KR" altLang="en-US" sz="2000" b="1" dirty="0">
                <a:solidFill>
                  <a:srgbClr val="C00000"/>
                </a:solidFill>
                <a:latin typeface="+mn-ea"/>
              </a:endParaRPr>
            </a:p>
          </p:txBody>
        </p:sp>
      </p:grpSp>
    </p:spTree>
    <p:extLst>
      <p:ext uri="{BB962C8B-B14F-4D97-AF65-F5344CB8AC3E}">
        <p14:creationId xmlns:p14="http://schemas.microsoft.com/office/powerpoint/2010/main" val="3446115170"/>
      </p:ext>
    </p:extLst>
  </p:cSld>
  <p:clrMapOvr>
    <a:masterClrMapping/>
  </p:clrMapOvr>
  <p:transition spd="slow">
    <p:pu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2F544B-B0A0-407F-8F18-360E8F8B37BF}"/>
              </a:ext>
            </a:extLst>
          </p:cNvPr>
          <p:cNvSpPr>
            <a:spLocks noGrp="1"/>
          </p:cNvSpPr>
          <p:nvPr>
            <p:ph type="title"/>
          </p:nvPr>
        </p:nvSpPr>
        <p:spPr/>
        <p:txBody>
          <a:bodyPr/>
          <a:lstStyle/>
          <a:p>
            <a:r>
              <a:rPr lang="zh-CN" altLang="en-US" dirty="0"/>
              <a:t>竞争战略</a:t>
            </a:r>
          </a:p>
        </p:txBody>
      </p:sp>
      <p:sp>
        <p:nvSpPr>
          <p:cNvPr id="3" name="内容占位符 2">
            <a:extLst>
              <a:ext uri="{FF2B5EF4-FFF2-40B4-BE49-F238E27FC236}">
                <a16:creationId xmlns:a16="http://schemas.microsoft.com/office/drawing/2014/main" id="{6542F62D-92AB-4FF7-A6A5-A28FDC32CE09}"/>
              </a:ext>
            </a:extLst>
          </p:cNvPr>
          <p:cNvSpPr>
            <a:spLocks noGrp="1"/>
          </p:cNvSpPr>
          <p:nvPr>
            <p:ph idx="1"/>
          </p:nvPr>
        </p:nvSpPr>
        <p:spPr>
          <a:xfrm>
            <a:off x="949497" y="1593045"/>
            <a:ext cx="15378696" cy="7828747"/>
          </a:xfrm>
        </p:spPr>
        <p:txBody>
          <a:bodyPr>
            <a:normAutofit/>
          </a:bodyPr>
          <a:lstStyle/>
          <a:p>
            <a:r>
              <a:rPr lang="zh-CN" altLang="en-US" b="1" dirty="0"/>
              <a:t>竞争战略</a:t>
            </a:r>
            <a:endParaRPr lang="en-US" altLang="zh-CN" b="1" dirty="0"/>
          </a:p>
          <a:p>
            <a:pPr lvl="1"/>
            <a:r>
              <a:rPr lang="zh-CN" altLang="en-US" dirty="0"/>
              <a:t>战略是各种资源的集中作用结果</a:t>
            </a:r>
            <a:endParaRPr lang="en-US" altLang="zh-CN" dirty="0"/>
          </a:p>
          <a:p>
            <a:pPr lvl="1"/>
            <a:r>
              <a:rPr lang="zh-CN" altLang="en-US" dirty="0"/>
              <a:t>制定战略，则是找到主体在行业的位置，最有效对抗竞争对手，并用自身利益去影响对手</a:t>
            </a:r>
            <a:endParaRPr lang="en-US" altLang="zh-CN" dirty="0"/>
          </a:p>
          <a:p>
            <a:pPr lvl="1"/>
            <a:r>
              <a:rPr lang="zh-CN" altLang="en-US" dirty="0"/>
              <a:t>预判战略，确定相关竞争要素，深入理解资源，有助于明确优劣势，预判战略的效果，以及判断出哪些事件</a:t>
            </a:r>
            <a:r>
              <a:rPr lang="en-US" altLang="zh-CN" dirty="0"/>
              <a:t>/</a:t>
            </a:r>
            <a:r>
              <a:rPr lang="zh-CN" altLang="en-US" dirty="0"/>
              <a:t>现象</a:t>
            </a:r>
            <a:r>
              <a:rPr lang="en-US" altLang="zh-CN" dirty="0"/>
              <a:t>/</a:t>
            </a:r>
            <a:r>
              <a:rPr lang="zh-CN" altLang="en-US" dirty="0"/>
              <a:t>趋势可能成为行业和主体的机会或威胁</a:t>
            </a:r>
            <a:endParaRPr lang="en-US" altLang="zh-CN" dirty="0"/>
          </a:p>
          <a:p>
            <a:pPr lvl="1"/>
            <a:endParaRPr lang="en-US" altLang="zh-CN" dirty="0"/>
          </a:p>
          <a:p>
            <a:r>
              <a:rPr lang="zh-CN" altLang="en-US" b="1" dirty="0"/>
              <a:t>竞争要素</a:t>
            </a:r>
            <a:endParaRPr lang="en-US" altLang="zh-CN" dirty="0"/>
          </a:p>
          <a:p>
            <a:pPr lvl="1"/>
            <a:r>
              <a:rPr lang="zh-CN" altLang="en-US" dirty="0"/>
              <a:t>价格竞争，则成本是潜在因素</a:t>
            </a:r>
            <a:endParaRPr lang="en-US" altLang="zh-CN" dirty="0"/>
          </a:p>
          <a:p>
            <a:pPr lvl="1"/>
            <a:r>
              <a:rPr lang="zh-CN" altLang="en-US" dirty="0"/>
              <a:t>质量竞争，则技术和生产设备则是潜在因素</a:t>
            </a:r>
            <a:endParaRPr lang="en-US" altLang="zh-CN" dirty="0"/>
          </a:p>
          <a:p>
            <a:pPr lvl="1"/>
            <a:r>
              <a:rPr lang="zh-CN" altLang="en-US" dirty="0"/>
              <a:t>交付竞争，则经销商广度和生产效率是潜在因素</a:t>
            </a:r>
            <a:endParaRPr lang="en-US" altLang="zh-CN" dirty="0"/>
          </a:p>
          <a:p>
            <a:pPr lvl="1"/>
            <a:r>
              <a:rPr lang="zh-CN" altLang="en-US" dirty="0"/>
              <a:t>服务品牌竞争，则重视市场推广和营销，客户满意度和产品溢价程度</a:t>
            </a:r>
            <a:endParaRPr lang="en-US" altLang="zh-CN" dirty="0"/>
          </a:p>
          <a:p>
            <a:pPr lvl="1"/>
            <a:r>
              <a:rPr lang="zh-CN" altLang="en-US" dirty="0"/>
              <a:t>技术竞争，则研发和市场需求挖掘是潜在因素</a:t>
            </a:r>
            <a:endParaRPr lang="en-US" altLang="zh-CN" dirty="0"/>
          </a:p>
        </p:txBody>
      </p:sp>
    </p:spTree>
    <p:extLst>
      <p:ext uri="{BB962C8B-B14F-4D97-AF65-F5344CB8AC3E}">
        <p14:creationId xmlns:p14="http://schemas.microsoft.com/office/powerpoint/2010/main" val="12508350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E5929901-52BD-42EE-8760-86DC9FF8E40C}"/>
              </a:ext>
            </a:extLst>
          </p:cNvPr>
          <p:cNvSpPr>
            <a:spLocks noGrp="1" noChangeArrowheads="1"/>
          </p:cNvSpPr>
          <p:nvPr>
            <p:ph type="title"/>
          </p:nvPr>
        </p:nvSpPr>
        <p:spPr/>
        <p:txBody>
          <a:bodyPr/>
          <a:lstStyle/>
          <a:p>
            <a:r>
              <a:rPr lang="zh-CN" altLang="en-US" dirty="0"/>
              <a:t>竞争战略</a:t>
            </a:r>
          </a:p>
        </p:txBody>
      </p:sp>
      <p:sp>
        <p:nvSpPr>
          <p:cNvPr id="52227" name="Rectangle 3">
            <a:extLst>
              <a:ext uri="{FF2B5EF4-FFF2-40B4-BE49-F238E27FC236}">
                <a16:creationId xmlns:a16="http://schemas.microsoft.com/office/drawing/2014/main" id="{C0D386F6-6A9B-48FE-A81A-58B179B49356}"/>
              </a:ext>
            </a:extLst>
          </p:cNvPr>
          <p:cNvSpPr>
            <a:spLocks noGrp="1" noChangeArrowheads="1"/>
          </p:cNvSpPr>
          <p:nvPr>
            <p:ph sz="half" idx="2"/>
          </p:nvPr>
        </p:nvSpPr>
        <p:spPr/>
        <p:txBody>
          <a:bodyPr>
            <a:normAutofit/>
          </a:bodyPr>
          <a:lstStyle/>
          <a:p>
            <a:r>
              <a:rPr lang="zh-CN" altLang="en-US" dirty="0"/>
              <a:t>利益相关者，指与企业有利益关系的个人或组织，包括企业内部和企业外部。</a:t>
            </a:r>
            <a:endParaRPr lang="en-US" altLang="zh-CN" dirty="0"/>
          </a:p>
          <a:p>
            <a:pPr lvl="1"/>
            <a:r>
              <a:rPr lang="zh-CN" altLang="en-US" dirty="0"/>
              <a:t>所有相关者不可能对所有问题保持一致意见</a:t>
            </a:r>
          </a:p>
          <a:p>
            <a:pPr lvl="1"/>
            <a:r>
              <a:rPr lang="zh-CN" altLang="en-US" dirty="0"/>
              <a:t>如何平衡各方利益成为战略制定考虑的关键问题</a:t>
            </a:r>
          </a:p>
          <a:p>
            <a:pPr lvl="1"/>
            <a:r>
              <a:rPr lang="zh-CN" altLang="en-US" dirty="0"/>
              <a:t>通过各相关者意见或可能的产生影响力评价战略可行性</a:t>
            </a:r>
          </a:p>
          <a:p>
            <a:endParaRPr lang="en-US" altLang="zh-CN" dirty="0"/>
          </a:p>
          <a:p>
            <a:r>
              <a:rPr lang="zh-CN" altLang="en-US" b="1" dirty="0"/>
              <a:t>相关分析</a:t>
            </a:r>
          </a:p>
          <a:p>
            <a:pPr lvl="1"/>
            <a:r>
              <a:rPr lang="zh-CN" altLang="en-US" dirty="0"/>
              <a:t>明确定位：先确定所有相关者，标出他们之间的重要关系</a:t>
            </a:r>
          </a:p>
          <a:p>
            <a:pPr lvl="1"/>
            <a:r>
              <a:rPr lang="zh-CN" altLang="en-US" dirty="0"/>
              <a:t>风险与机会：对新战略的态度、利益一致性和影响力</a:t>
            </a:r>
          </a:p>
          <a:p>
            <a:pPr lvl="1"/>
            <a:r>
              <a:rPr lang="zh-CN" altLang="en-US" dirty="0"/>
              <a:t>战略推演：识别可能的变化对相关者格局的影响和应对措施</a:t>
            </a:r>
          </a:p>
        </p:txBody>
      </p:sp>
      <p:graphicFrame>
        <p:nvGraphicFramePr>
          <p:cNvPr id="8" name="Group 306">
            <a:extLst>
              <a:ext uri="{FF2B5EF4-FFF2-40B4-BE49-F238E27FC236}">
                <a16:creationId xmlns:a16="http://schemas.microsoft.com/office/drawing/2014/main" id="{7782B68D-E41E-46F1-A32D-9E8ECDCA6C1F}"/>
              </a:ext>
            </a:extLst>
          </p:cNvPr>
          <p:cNvGraphicFramePr>
            <a:graphicFrameLocks noGrp="1"/>
          </p:cNvGraphicFramePr>
          <p:nvPr>
            <p:ph sz="quarter" idx="4"/>
            <p:extLst>
              <p:ext uri="{D42A27DB-BD31-4B8C-83A1-F6EECF244321}">
                <p14:modId xmlns:p14="http://schemas.microsoft.com/office/powerpoint/2010/main" val="3981231886"/>
              </p:ext>
            </p:extLst>
          </p:nvPr>
        </p:nvGraphicFramePr>
        <p:xfrm>
          <a:off x="9343049" y="1686972"/>
          <a:ext cx="7636852" cy="3294664"/>
        </p:xfrm>
        <a:graphic>
          <a:graphicData uri="http://schemas.openxmlformats.org/drawingml/2006/table">
            <a:tbl>
              <a:tblPr firstRow="1" bandRow="1">
                <a:tableStyleId>{6E25E649-3F16-4E02-A733-19D2CDBF48F0}</a:tableStyleId>
              </a:tblPr>
              <a:tblGrid>
                <a:gridCol w="2759535">
                  <a:extLst>
                    <a:ext uri="{9D8B030D-6E8A-4147-A177-3AD203B41FA5}">
                      <a16:colId xmlns:a16="http://schemas.microsoft.com/office/drawing/2014/main" val="1621382749"/>
                    </a:ext>
                  </a:extLst>
                </a:gridCol>
                <a:gridCol w="2413816">
                  <a:extLst>
                    <a:ext uri="{9D8B030D-6E8A-4147-A177-3AD203B41FA5}">
                      <a16:colId xmlns:a16="http://schemas.microsoft.com/office/drawing/2014/main" val="3116136861"/>
                    </a:ext>
                  </a:extLst>
                </a:gridCol>
                <a:gridCol w="2463501">
                  <a:extLst>
                    <a:ext uri="{9D8B030D-6E8A-4147-A177-3AD203B41FA5}">
                      <a16:colId xmlns:a16="http://schemas.microsoft.com/office/drawing/2014/main" val="1487446340"/>
                    </a:ext>
                  </a:extLst>
                </a:gridCol>
              </a:tblGrid>
              <a:tr h="53525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bg1"/>
                          </a:solidFill>
                          <a:effectLst/>
                          <a:latin typeface="+mn-ea"/>
                          <a:ea typeface="+mn-ea"/>
                        </a:rPr>
                        <a:t>直接相关方</a:t>
                      </a:r>
                    </a:p>
                  </a:txBody>
                  <a:tcPr marL="129604" marR="129604" marT="64802" marB="64802" anchor="ctr" horzOverflow="overflow"/>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bg1"/>
                          </a:solidFill>
                          <a:effectLst/>
                          <a:latin typeface="+mn-ea"/>
                          <a:ea typeface="+mn-ea"/>
                        </a:rPr>
                        <a:t>客户与伙伴</a:t>
                      </a:r>
                    </a:p>
                  </a:txBody>
                  <a:tcPr marL="129604" marR="129604" marT="64802" marB="64802" anchor="ctr" horzOverflow="overflow"/>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bg1"/>
                          </a:solidFill>
                          <a:effectLst/>
                          <a:latin typeface="+mn-ea"/>
                          <a:ea typeface="+mn-ea"/>
                        </a:rPr>
                        <a:t>市场合作方</a:t>
                      </a:r>
                    </a:p>
                  </a:txBody>
                  <a:tcPr marL="129604" marR="129604" marT="64802" marB="64802" anchor="ctr" horzOverflow="overflow"/>
                </a:tc>
                <a:extLst>
                  <a:ext uri="{0D108BD9-81ED-4DB2-BD59-A6C34878D82A}">
                    <a16:rowId xmlns:a16="http://schemas.microsoft.com/office/drawing/2014/main" val="3317399250"/>
                  </a:ext>
                </a:extLst>
              </a:tr>
              <a:tr h="459902">
                <a:tc>
                  <a:txBody>
                    <a:bodyPr/>
                    <a:lstStyle/>
                    <a:p>
                      <a:pPr algn="ctr" fontAlgn="ctr"/>
                      <a:r>
                        <a:rPr lang="zh-CN" altLang="en-US" sz="2000" b="0" i="0" u="none" strike="noStrike" dirty="0">
                          <a:solidFill>
                            <a:srgbClr val="000000"/>
                          </a:solidFill>
                          <a:effectLst/>
                          <a:latin typeface="+mn-ea"/>
                          <a:ea typeface="+mn-ea"/>
                        </a:rPr>
                        <a:t>所有者和股东</a:t>
                      </a:r>
                    </a:p>
                  </a:txBody>
                  <a:tcPr marL="6350" marR="6350" marT="6350" marB="0" anchor="ctr"/>
                </a:tc>
                <a:tc>
                  <a:txBody>
                    <a:bodyPr/>
                    <a:lstStyle/>
                    <a:p>
                      <a:pPr algn="ctr" fontAlgn="ctr"/>
                      <a:r>
                        <a:rPr lang="zh-CN" altLang="en-US" sz="2000" b="0" i="0" u="none" strike="noStrike">
                          <a:solidFill>
                            <a:srgbClr val="000000"/>
                          </a:solidFill>
                          <a:effectLst/>
                          <a:latin typeface="+mn-ea"/>
                          <a:ea typeface="+mn-ea"/>
                        </a:rPr>
                        <a:t>供应商</a:t>
                      </a:r>
                    </a:p>
                  </a:txBody>
                  <a:tcPr marL="6350" marR="6350" marT="6350" marB="0" anchor="ctr"/>
                </a:tc>
                <a:tc>
                  <a:txBody>
                    <a:bodyPr/>
                    <a:lstStyle/>
                    <a:p>
                      <a:pPr algn="ctr" fontAlgn="ctr"/>
                      <a:r>
                        <a:rPr lang="zh-CN" altLang="en-US" sz="2000" b="0" i="0" u="none" strike="noStrike">
                          <a:solidFill>
                            <a:srgbClr val="000000"/>
                          </a:solidFill>
                          <a:effectLst/>
                          <a:latin typeface="+mn-ea"/>
                          <a:ea typeface="+mn-ea"/>
                        </a:rPr>
                        <a:t>监管者</a:t>
                      </a:r>
                    </a:p>
                  </a:txBody>
                  <a:tcPr marL="6350" marR="6350" marT="6350" marB="0" anchor="ctr"/>
                </a:tc>
                <a:extLst>
                  <a:ext uri="{0D108BD9-81ED-4DB2-BD59-A6C34878D82A}">
                    <a16:rowId xmlns:a16="http://schemas.microsoft.com/office/drawing/2014/main" val="4071307155"/>
                  </a:ext>
                </a:extLst>
              </a:tr>
              <a:tr h="459902">
                <a:tc>
                  <a:txBody>
                    <a:bodyPr/>
                    <a:lstStyle/>
                    <a:p>
                      <a:pPr algn="ctr" fontAlgn="ctr"/>
                      <a:r>
                        <a:rPr lang="zh-CN" altLang="en-US" sz="2000" b="0" i="0" u="none" strike="noStrike" dirty="0">
                          <a:solidFill>
                            <a:srgbClr val="000000"/>
                          </a:solidFill>
                          <a:effectLst/>
                          <a:latin typeface="+mn-ea"/>
                          <a:ea typeface="+mn-ea"/>
                        </a:rPr>
                        <a:t>银行和其它债权人 </a:t>
                      </a:r>
                    </a:p>
                  </a:txBody>
                  <a:tcPr marL="6350" marR="6350" marT="6350" marB="0" anchor="ctr"/>
                </a:tc>
                <a:tc>
                  <a:txBody>
                    <a:bodyPr/>
                    <a:lstStyle/>
                    <a:p>
                      <a:pPr algn="ctr" fontAlgn="ctr"/>
                      <a:r>
                        <a:rPr lang="zh-CN" altLang="en-US" sz="2000" b="0" i="0" u="none" strike="noStrike">
                          <a:solidFill>
                            <a:srgbClr val="000000"/>
                          </a:solidFill>
                          <a:effectLst/>
                          <a:latin typeface="+mn-ea"/>
                          <a:ea typeface="+mn-ea"/>
                        </a:rPr>
                        <a:t>广告商</a:t>
                      </a:r>
                    </a:p>
                  </a:txBody>
                  <a:tcPr marL="6350" marR="6350" marT="6350" marB="0" anchor="ctr"/>
                </a:tc>
                <a:tc>
                  <a:txBody>
                    <a:bodyPr/>
                    <a:lstStyle/>
                    <a:p>
                      <a:pPr algn="ctr" fontAlgn="ctr"/>
                      <a:r>
                        <a:rPr lang="zh-CN" altLang="en-US" sz="2000" b="0" i="0" u="none" strike="noStrike">
                          <a:solidFill>
                            <a:srgbClr val="000000"/>
                          </a:solidFill>
                          <a:effectLst/>
                          <a:latin typeface="+mn-ea"/>
                          <a:ea typeface="+mn-ea"/>
                        </a:rPr>
                        <a:t>政府 </a:t>
                      </a:r>
                    </a:p>
                  </a:txBody>
                  <a:tcPr marL="6350" marR="6350" marT="6350" marB="0" anchor="ctr"/>
                </a:tc>
                <a:extLst>
                  <a:ext uri="{0D108BD9-81ED-4DB2-BD59-A6C34878D82A}">
                    <a16:rowId xmlns:a16="http://schemas.microsoft.com/office/drawing/2014/main" val="4005492993"/>
                  </a:ext>
                </a:extLst>
              </a:tr>
              <a:tr h="459902">
                <a:tc>
                  <a:txBody>
                    <a:bodyPr/>
                    <a:lstStyle/>
                    <a:p>
                      <a:pPr algn="ctr" fontAlgn="ctr"/>
                      <a:r>
                        <a:rPr lang="zh-CN" altLang="en-US" sz="2000" b="0" i="0" u="none" strike="noStrike" dirty="0">
                          <a:solidFill>
                            <a:srgbClr val="000000"/>
                          </a:solidFill>
                          <a:effectLst/>
                          <a:latin typeface="+mn-ea"/>
                          <a:ea typeface="+mn-ea"/>
                        </a:rPr>
                        <a:t>管理人员 </a:t>
                      </a:r>
                    </a:p>
                  </a:txBody>
                  <a:tcPr marL="6350" marR="6350" marT="6350" marB="0" anchor="ctr"/>
                </a:tc>
                <a:tc>
                  <a:txBody>
                    <a:bodyPr/>
                    <a:lstStyle/>
                    <a:p>
                      <a:pPr algn="ctr" fontAlgn="ctr"/>
                      <a:r>
                        <a:rPr lang="zh-CN" altLang="en-US" sz="2000" b="0" i="0" u="none" strike="noStrike">
                          <a:solidFill>
                            <a:srgbClr val="000000"/>
                          </a:solidFill>
                          <a:effectLst/>
                          <a:latin typeface="+mn-ea"/>
                          <a:ea typeface="+mn-ea"/>
                        </a:rPr>
                        <a:t>公众利益群体</a:t>
                      </a:r>
                    </a:p>
                  </a:txBody>
                  <a:tcPr marL="6350" marR="6350" marT="6350" marB="0" anchor="ctr"/>
                </a:tc>
                <a:tc>
                  <a:txBody>
                    <a:bodyPr/>
                    <a:lstStyle/>
                    <a:p>
                      <a:pPr algn="ctr" fontAlgn="ctr"/>
                      <a:r>
                        <a:rPr lang="zh-CN" altLang="en-US" sz="2000" b="0" i="0" u="none" strike="noStrike" dirty="0">
                          <a:solidFill>
                            <a:srgbClr val="000000"/>
                          </a:solidFill>
                          <a:effectLst/>
                          <a:latin typeface="+mn-ea"/>
                          <a:ea typeface="+mn-ea"/>
                        </a:rPr>
                        <a:t>宗教群体、军队 </a:t>
                      </a:r>
                    </a:p>
                  </a:txBody>
                  <a:tcPr marL="6350" marR="6350" marT="6350" marB="0" anchor="ctr"/>
                </a:tc>
                <a:extLst>
                  <a:ext uri="{0D108BD9-81ED-4DB2-BD59-A6C34878D82A}">
                    <a16:rowId xmlns:a16="http://schemas.microsoft.com/office/drawing/2014/main" val="3113512347"/>
                  </a:ext>
                </a:extLst>
              </a:tr>
              <a:tr h="459902">
                <a:tc>
                  <a:txBody>
                    <a:bodyPr/>
                    <a:lstStyle/>
                    <a:p>
                      <a:pPr algn="ctr" fontAlgn="ctr"/>
                      <a:r>
                        <a:rPr lang="zh-CN" altLang="en-US" sz="2000" b="0" i="0" u="none" strike="noStrike" dirty="0">
                          <a:solidFill>
                            <a:srgbClr val="000000"/>
                          </a:solidFill>
                          <a:effectLst/>
                          <a:latin typeface="+mn-ea"/>
                          <a:ea typeface="+mn-ea"/>
                        </a:rPr>
                        <a:t>工会 </a:t>
                      </a:r>
                    </a:p>
                  </a:txBody>
                  <a:tcPr marL="6350" marR="6350" marT="6350" marB="0" anchor="ctr"/>
                </a:tc>
                <a:tc>
                  <a:txBody>
                    <a:bodyPr/>
                    <a:lstStyle/>
                    <a:p>
                      <a:pPr algn="ctr" fontAlgn="ctr"/>
                      <a:r>
                        <a:rPr lang="zh-CN" altLang="en-US" sz="2000" b="0" i="0" u="none" strike="noStrike">
                          <a:solidFill>
                            <a:srgbClr val="000000"/>
                          </a:solidFill>
                          <a:effectLst/>
                          <a:latin typeface="+mn-ea"/>
                          <a:ea typeface="+mn-ea"/>
                        </a:rPr>
                        <a:t>购买者和顾客 </a:t>
                      </a:r>
                    </a:p>
                  </a:txBody>
                  <a:tcPr marL="6350" marR="6350" marT="6350" marB="0" anchor="ctr"/>
                </a:tc>
                <a:tc>
                  <a:txBody>
                    <a:bodyPr/>
                    <a:lstStyle/>
                    <a:p>
                      <a:pPr algn="ctr" fontAlgn="ctr"/>
                      <a:r>
                        <a:rPr lang="zh-CN" altLang="en-US" sz="2000" b="0" i="0" u="none" strike="noStrike" dirty="0">
                          <a:solidFill>
                            <a:srgbClr val="000000"/>
                          </a:solidFill>
                          <a:effectLst/>
                          <a:latin typeface="+mn-ea"/>
                          <a:ea typeface="+mn-ea"/>
                        </a:rPr>
                        <a:t>其他</a:t>
                      </a:r>
                    </a:p>
                  </a:txBody>
                  <a:tcPr marL="6350" marR="6350" marT="6350" marB="0" anchor="ctr"/>
                </a:tc>
                <a:extLst>
                  <a:ext uri="{0D108BD9-81ED-4DB2-BD59-A6C34878D82A}">
                    <a16:rowId xmlns:a16="http://schemas.microsoft.com/office/drawing/2014/main" val="186316707"/>
                  </a:ext>
                </a:extLst>
              </a:tr>
              <a:tr h="459902">
                <a:tc>
                  <a:txBody>
                    <a:bodyPr/>
                    <a:lstStyle/>
                    <a:p>
                      <a:pPr algn="ctr" fontAlgn="ctr"/>
                      <a:r>
                        <a:rPr lang="zh-CN" altLang="en-US" sz="2000" b="0" i="0" u="none" strike="noStrike">
                          <a:solidFill>
                            <a:srgbClr val="000000"/>
                          </a:solidFill>
                          <a:effectLst/>
                          <a:latin typeface="+mn-ea"/>
                          <a:ea typeface="+mn-ea"/>
                        </a:rPr>
                        <a:t>雇员</a:t>
                      </a:r>
                    </a:p>
                  </a:txBody>
                  <a:tcPr marL="6350" marR="6350" marT="6350" marB="0" anchor="ctr"/>
                </a:tc>
                <a:tc>
                  <a:txBody>
                    <a:bodyPr/>
                    <a:lstStyle/>
                    <a:p>
                      <a:pPr algn="ctr" fontAlgn="ctr"/>
                      <a:r>
                        <a:rPr lang="zh-CN" altLang="en-US" sz="2000" b="0" i="0" u="none" strike="noStrike" dirty="0">
                          <a:solidFill>
                            <a:srgbClr val="000000"/>
                          </a:solidFill>
                          <a:effectLst/>
                          <a:latin typeface="+mn-ea"/>
                          <a:ea typeface="+mn-ea"/>
                        </a:rPr>
                        <a:t>媒体 </a:t>
                      </a:r>
                    </a:p>
                  </a:txBody>
                  <a:tcPr marL="6350" marR="6350" marT="6350" marB="0" anchor="ctr"/>
                </a:tc>
                <a:tc>
                  <a:txBody>
                    <a:bodyPr/>
                    <a:lstStyle/>
                    <a:p>
                      <a:pPr algn="ctr" fontAlgn="ctr"/>
                      <a:endParaRPr lang="zh-CN" altLang="en-US" sz="2000" b="0" i="0" u="none" strike="noStrike">
                        <a:solidFill>
                          <a:srgbClr val="000000"/>
                        </a:solidFill>
                        <a:effectLst/>
                        <a:latin typeface="+mn-ea"/>
                        <a:ea typeface="+mn-ea"/>
                      </a:endParaRPr>
                    </a:p>
                  </a:txBody>
                  <a:tcPr marL="6350" marR="6350" marT="6350" marB="0" anchor="ctr"/>
                </a:tc>
                <a:extLst>
                  <a:ext uri="{0D108BD9-81ED-4DB2-BD59-A6C34878D82A}">
                    <a16:rowId xmlns:a16="http://schemas.microsoft.com/office/drawing/2014/main" val="887977760"/>
                  </a:ext>
                </a:extLst>
              </a:tr>
              <a:tr h="459902">
                <a:tc>
                  <a:txBody>
                    <a:bodyPr/>
                    <a:lstStyle/>
                    <a:p>
                      <a:pPr algn="ctr" fontAlgn="ctr"/>
                      <a:r>
                        <a:rPr lang="zh-CN" altLang="en-US" sz="2000" b="0" i="0" u="none" strike="noStrike" dirty="0">
                          <a:solidFill>
                            <a:srgbClr val="000000"/>
                          </a:solidFill>
                          <a:effectLst/>
                          <a:latin typeface="+mn-ea"/>
                          <a:ea typeface="+mn-ea"/>
                        </a:rPr>
                        <a:t>竞争对手</a:t>
                      </a:r>
                    </a:p>
                  </a:txBody>
                  <a:tcPr marL="6350" marR="6350" marT="6350" marB="0" anchor="ctr"/>
                </a:tc>
                <a:tc>
                  <a:txBody>
                    <a:bodyPr/>
                    <a:lstStyle/>
                    <a:p>
                      <a:pPr algn="ctr" fontAlgn="ctr"/>
                      <a:endParaRPr lang="zh-CN" altLang="en-US" sz="2000" b="0" i="0" u="none" strike="noStrike">
                        <a:solidFill>
                          <a:srgbClr val="000000"/>
                        </a:solidFill>
                        <a:effectLst/>
                        <a:latin typeface="+mn-ea"/>
                        <a:ea typeface="+mn-ea"/>
                      </a:endParaRPr>
                    </a:p>
                  </a:txBody>
                  <a:tcPr marL="6350" marR="6350" marT="6350" marB="0" anchor="ctr"/>
                </a:tc>
                <a:tc>
                  <a:txBody>
                    <a:bodyPr/>
                    <a:lstStyle/>
                    <a:p>
                      <a:pPr algn="ctr" fontAlgn="ctr"/>
                      <a:endParaRPr lang="zh-CN" altLang="en-US" sz="2000" b="0" i="0" u="none" strike="noStrike" dirty="0">
                        <a:solidFill>
                          <a:srgbClr val="000000"/>
                        </a:solidFill>
                        <a:effectLst/>
                        <a:latin typeface="+mn-ea"/>
                        <a:ea typeface="+mn-ea"/>
                      </a:endParaRPr>
                    </a:p>
                  </a:txBody>
                  <a:tcPr marL="6350" marR="6350" marT="6350" marB="0" anchor="ctr"/>
                </a:tc>
                <a:extLst>
                  <a:ext uri="{0D108BD9-81ED-4DB2-BD59-A6C34878D82A}">
                    <a16:rowId xmlns:a16="http://schemas.microsoft.com/office/drawing/2014/main" val="2495999402"/>
                  </a:ext>
                </a:extLst>
              </a:tr>
            </a:tbl>
          </a:graphicData>
        </a:graphic>
      </p:graphicFrame>
      <p:grpSp>
        <p:nvGrpSpPr>
          <p:cNvPr id="10" name="组合 9">
            <a:extLst>
              <a:ext uri="{FF2B5EF4-FFF2-40B4-BE49-F238E27FC236}">
                <a16:creationId xmlns:a16="http://schemas.microsoft.com/office/drawing/2014/main" id="{47A34BF8-BF4C-4322-85CA-B11C0BBB5487}"/>
              </a:ext>
            </a:extLst>
          </p:cNvPr>
          <p:cNvGrpSpPr/>
          <p:nvPr/>
        </p:nvGrpSpPr>
        <p:grpSpPr>
          <a:xfrm>
            <a:off x="9715500" y="4860131"/>
            <a:ext cx="7402461" cy="5134555"/>
            <a:chOff x="10985501" y="4317650"/>
            <a:chExt cx="5880100" cy="5677036"/>
          </a:xfrm>
        </p:grpSpPr>
        <p:graphicFrame>
          <p:nvGraphicFramePr>
            <p:cNvPr id="4" name="图示 3">
              <a:extLst>
                <a:ext uri="{FF2B5EF4-FFF2-40B4-BE49-F238E27FC236}">
                  <a16:creationId xmlns:a16="http://schemas.microsoft.com/office/drawing/2014/main" id="{B32F53D4-7F4E-46F5-A52B-02B129EB1EF6}"/>
                </a:ext>
              </a:extLst>
            </p:cNvPr>
            <p:cNvGraphicFramePr/>
            <p:nvPr>
              <p:extLst>
                <p:ext uri="{D42A27DB-BD31-4B8C-83A1-F6EECF244321}">
                  <p14:modId xmlns:p14="http://schemas.microsoft.com/office/powerpoint/2010/main" val="2688331036"/>
                </p:ext>
              </p:extLst>
            </p:nvPr>
          </p:nvGraphicFramePr>
          <p:xfrm>
            <a:off x="10985501" y="4317650"/>
            <a:ext cx="5880100" cy="56770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文本框 4">
              <a:extLst>
                <a:ext uri="{FF2B5EF4-FFF2-40B4-BE49-F238E27FC236}">
                  <a16:creationId xmlns:a16="http://schemas.microsoft.com/office/drawing/2014/main" id="{9C8D5960-2B9B-42CF-B33D-268C8D6F0EBA}"/>
                </a:ext>
              </a:extLst>
            </p:cNvPr>
            <p:cNvSpPr txBox="1"/>
            <p:nvPr/>
          </p:nvSpPr>
          <p:spPr>
            <a:xfrm>
              <a:off x="13523724" y="8121755"/>
              <a:ext cx="1063112" cy="374323"/>
            </a:xfrm>
            <a:prstGeom prst="rect">
              <a:avLst/>
            </a:prstGeom>
            <a:noFill/>
          </p:spPr>
          <p:txBody>
            <a:bodyPr wrap="none" rtlCol="0">
              <a:spAutoFit/>
            </a:bodyPr>
            <a:lstStyle/>
            <a:p>
              <a:r>
                <a:rPr lang="zh-CN" altLang="en-US" sz="1600" dirty="0">
                  <a:solidFill>
                    <a:schemeClr val="tx1">
                      <a:lumMod val="65000"/>
                      <a:lumOff val="35000"/>
                    </a:schemeClr>
                  </a:solidFill>
                </a:rPr>
                <a:t>薪酬 劳动</a:t>
              </a:r>
            </a:p>
          </p:txBody>
        </p:sp>
        <p:sp>
          <p:nvSpPr>
            <p:cNvPr id="11" name="文本框 10">
              <a:extLst>
                <a:ext uri="{FF2B5EF4-FFF2-40B4-BE49-F238E27FC236}">
                  <a16:creationId xmlns:a16="http://schemas.microsoft.com/office/drawing/2014/main" id="{B62CC84F-FC22-4538-9996-71D7B28A746A}"/>
                </a:ext>
              </a:extLst>
            </p:cNvPr>
            <p:cNvSpPr txBox="1"/>
            <p:nvPr/>
          </p:nvSpPr>
          <p:spPr>
            <a:xfrm>
              <a:off x="13504853" y="5847344"/>
              <a:ext cx="1063112" cy="374323"/>
            </a:xfrm>
            <a:prstGeom prst="rect">
              <a:avLst/>
            </a:prstGeom>
            <a:noFill/>
          </p:spPr>
          <p:txBody>
            <a:bodyPr wrap="none" rtlCol="0">
              <a:spAutoFit/>
            </a:bodyPr>
            <a:lstStyle/>
            <a:p>
              <a:r>
                <a:rPr lang="zh-CN" altLang="en-US" sz="1600" dirty="0">
                  <a:solidFill>
                    <a:schemeClr val="tx1">
                      <a:lumMod val="65000"/>
                      <a:lumOff val="35000"/>
                    </a:schemeClr>
                  </a:solidFill>
                </a:rPr>
                <a:t>分红 资本</a:t>
              </a:r>
            </a:p>
          </p:txBody>
        </p:sp>
        <p:sp>
          <p:nvSpPr>
            <p:cNvPr id="12" name="文本框 11">
              <a:extLst>
                <a:ext uri="{FF2B5EF4-FFF2-40B4-BE49-F238E27FC236}">
                  <a16:creationId xmlns:a16="http://schemas.microsoft.com/office/drawing/2014/main" id="{A951A735-D3B3-4363-9BF3-95614E1A2485}"/>
                </a:ext>
              </a:extLst>
            </p:cNvPr>
            <p:cNvSpPr txBox="1"/>
            <p:nvPr/>
          </p:nvSpPr>
          <p:spPr>
            <a:xfrm>
              <a:off x="14416098" y="6220011"/>
              <a:ext cx="595035" cy="646558"/>
            </a:xfrm>
            <a:prstGeom prst="rect">
              <a:avLst/>
            </a:prstGeom>
            <a:noFill/>
          </p:spPr>
          <p:txBody>
            <a:bodyPr wrap="none" rtlCol="0">
              <a:spAutoFit/>
            </a:bodyPr>
            <a:lstStyle/>
            <a:p>
              <a:r>
                <a:rPr lang="zh-CN" altLang="en-US" sz="1600" dirty="0">
                  <a:solidFill>
                    <a:schemeClr val="tx1">
                      <a:lumMod val="65000"/>
                      <a:lumOff val="35000"/>
                    </a:schemeClr>
                  </a:solidFill>
                </a:rPr>
                <a:t>利息</a:t>
              </a:r>
              <a:endParaRPr lang="en-US" altLang="zh-CN" sz="1600" dirty="0">
                <a:solidFill>
                  <a:schemeClr val="tx1">
                    <a:lumMod val="65000"/>
                    <a:lumOff val="35000"/>
                  </a:schemeClr>
                </a:solidFill>
              </a:endParaRPr>
            </a:p>
            <a:p>
              <a:r>
                <a:rPr lang="zh-CN" altLang="en-US" sz="1600" dirty="0">
                  <a:solidFill>
                    <a:schemeClr val="tx1">
                      <a:lumMod val="65000"/>
                      <a:lumOff val="35000"/>
                    </a:schemeClr>
                  </a:solidFill>
                </a:rPr>
                <a:t>资金</a:t>
              </a:r>
            </a:p>
          </p:txBody>
        </p:sp>
        <p:sp>
          <p:nvSpPr>
            <p:cNvPr id="13" name="文本框 12">
              <a:extLst>
                <a:ext uri="{FF2B5EF4-FFF2-40B4-BE49-F238E27FC236}">
                  <a16:creationId xmlns:a16="http://schemas.microsoft.com/office/drawing/2014/main" id="{3E42BD5E-8DD7-4B45-8B6E-7187459907B9}"/>
                </a:ext>
              </a:extLst>
            </p:cNvPr>
            <p:cNvSpPr txBox="1"/>
            <p:nvPr/>
          </p:nvSpPr>
          <p:spPr>
            <a:xfrm>
              <a:off x="14416098" y="7373109"/>
              <a:ext cx="595035" cy="646558"/>
            </a:xfrm>
            <a:prstGeom prst="rect">
              <a:avLst/>
            </a:prstGeom>
            <a:noFill/>
          </p:spPr>
          <p:txBody>
            <a:bodyPr wrap="none" rtlCol="0">
              <a:spAutoFit/>
            </a:bodyPr>
            <a:lstStyle/>
            <a:p>
              <a:r>
                <a:rPr lang="zh-CN" altLang="en-US" sz="1600" dirty="0">
                  <a:solidFill>
                    <a:schemeClr val="tx1">
                      <a:lumMod val="65000"/>
                      <a:lumOff val="35000"/>
                    </a:schemeClr>
                  </a:solidFill>
                </a:rPr>
                <a:t>税收</a:t>
              </a:r>
              <a:endParaRPr lang="en-US" altLang="zh-CN" sz="1600" dirty="0">
                <a:solidFill>
                  <a:schemeClr val="tx1">
                    <a:lumMod val="65000"/>
                    <a:lumOff val="35000"/>
                  </a:schemeClr>
                </a:solidFill>
              </a:endParaRPr>
            </a:p>
            <a:p>
              <a:r>
                <a:rPr lang="zh-CN" altLang="en-US" sz="1600" dirty="0">
                  <a:solidFill>
                    <a:schemeClr val="tx1">
                      <a:lumMod val="65000"/>
                      <a:lumOff val="35000"/>
                    </a:schemeClr>
                  </a:solidFill>
                </a:rPr>
                <a:t>服务</a:t>
              </a:r>
            </a:p>
          </p:txBody>
        </p:sp>
        <p:sp>
          <p:nvSpPr>
            <p:cNvPr id="14" name="文本框 13">
              <a:extLst>
                <a:ext uri="{FF2B5EF4-FFF2-40B4-BE49-F238E27FC236}">
                  <a16:creationId xmlns:a16="http://schemas.microsoft.com/office/drawing/2014/main" id="{0570EF05-A605-4ACB-B5F0-30E192068BFC}"/>
                </a:ext>
              </a:extLst>
            </p:cNvPr>
            <p:cNvSpPr txBox="1"/>
            <p:nvPr/>
          </p:nvSpPr>
          <p:spPr>
            <a:xfrm>
              <a:off x="12992603" y="7411082"/>
              <a:ext cx="707063" cy="646330"/>
            </a:xfrm>
            <a:prstGeom prst="rect">
              <a:avLst/>
            </a:prstGeom>
            <a:noFill/>
          </p:spPr>
          <p:txBody>
            <a:bodyPr wrap="square" rtlCol="0">
              <a:spAutoFit/>
            </a:bodyPr>
            <a:lstStyle/>
            <a:p>
              <a:r>
                <a:rPr lang="zh-CN" altLang="en-US" sz="1600" dirty="0">
                  <a:solidFill>
                    <a:schemeClr val="tx1">
                      <a:lumMod val="65000"/>
                      <a:lumOff val="35000"/>
                    </a:schemeClr>
                  </a:solidFill>
                </a:rPr>
                <a:t>利润</a:t>
              </a:r>
              <a:endParaRPr lang="en-US" altLang="zh-CN" sz="1600" dirty="0">
                <a:solidFill>
                  <a:schemeClr val="tx1">
                    <a:lumMod val="65000"/>
                    <a:lumOff val="35000"/>
                  </a:schemeClr>
                </a:solidFill>
              </a:endParaRPr>
            </a:p>
            <a:p>
              <a:r>
                <a:rPr lang="zh-CN" altLang="en-US" sz="1600" dirty="0">
                  <a:solidFill>
                    <a:schemeClr val="tx1">
                      <a:lumMod val="65000"/>
                      <a:lumOff val="35000"/>
                    </a:schemeClr>
                  </a:solidFill>
                </a:rPr>
                <a:t>服务</a:t>
              </a:r>
            </a:p>
          </p:txBody>
        </p:sp>
        <p:sp>
          <p:nvSpPr>
            <p:cNvPr id="15" name="文本框 14">
              <a:extLst>
                <a:ext uri="{FF2B5EF4-FFF2-40B4-BE49-F238E27FC236}">
                  <a16:creationId xmlns:a16="http://schemas.microsoft.com/office/drawing/2014/main" id="{CE5A3AEB-FB92-4D4A-ACC9-D81E49E1910C}"/>
                </a:ext>
              </a:extLst>
            </p:cNvPr>
            <p:cNvSpPr txBox="1"/>
            <p:nvPr/>
          </p:nvSpPr>
          <p:spPr>
            <a:xfrm>
              <a:off x="12966439" y="6392147"/>
              <a:ext cx="646331" cy="374323"/>
            </a:xfrm>
            <a:prstGeom prst="rect">
              <a:avLst/>
            </a:prstGeom>
            <a:noFill/>
          </p:spPr>
          <p:txBody>
            <a:bodyPr wrap="square" rtlCol="0">
              <a:spAutoFit/>
            </a:bodyPr>
            <a:lstStyle/>
            <a:p>
              <a:r>
                <a:rPr lang="zh-CN" altLang="en-US" sz="1600" dirty="0">
                  <a:solidFill>
                    <a:schemeClr val="tx1">
                      <a:lumMod val="65000"/>
                      <a:lumOff val="35000"/>
                    </a:schemeClr>
                  </a:solidFill>
                </a:rPr>
                <a:t>义务</a:t>
              </a:r>
            </a:p>
          </p:txBody>
        </p:sp>
      </p:grpSp>
    </p:spTree>
    <p:extLst>
      <p:ext uri="{BB962C8B-B14F-4D97-AF65-F5344CB8AC3E}">
        <p14:creationId xmlns:p14="http://schemas.microsoft.com/office/powerpoint/2010/main" val="21067381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50FD180A-CE62-4DB6-8312-D30608FC8898}"/>
              </a:ext>
            </a:extLst>
          </p:cNvPr>
          <p:cNvSpPr>
            <a:spLocks noGrp="1" noChangeArrowheads="1"/>
          </p:cNvSpPr>
          <p:nvPr>
            <p:ph type="title"/>
          </p:nvPr>
        </p:nvSpPr>
        <p:spPr/>
        <p:txBody>
          <a:bodyPr/>
          <a:lstStyle/>
          <a:p>
            <a:r>
              <a:rPr lang="zh-CN" altLang="en-US" dirty="0"/>
              <a:t>竞争战略</a:t>
            </a:r>
          </a:p>
        </p:txBody>
      </p:sp>
      <p:sp>
        <p:nvSpPr>
          <p:cNvPr id="58372" name="Rectangle 4">
            <a:extLst>
              <a:ext uri="{FF2B5EF4-FFF2-40B4-BE49-F238E27FC236}">
                <a16:creationId xmlns:a16="http://schemas.microsoft.com/office/drawing/2014/main" id="{73874D6F-7C4C-4B98-9DD1-B0753E07A3AF}"/>
              </a:ext>
            </a:extLst>
          </p:cNvPr>
          <p:cNvSpPr>
            <a:spLocks noGrp="1" noChangeArrowheads="1"/>
          </p:cNvSpPr>
          <p:nvPr>
            <p:ph sz="half" idx="1"/>
          </p:nvPr>
        </p:nvSpPr>
        <p:spPr/>
        <p:txBody>
          <a:bodyPr>
            <a:noAutofit/>
          </a:bodyPr>
          <a:lstStyle/>
          <a:p>
            <a:r>
              <a:rPr lang="zh-CN" altLang="en-US" b="1" dirty="0"/>
              <a:t>权利</a:t>
            </a:r>
            <a:r>
              <a:rPr lang="en-US" altLang="zh-CN" b="1" dirty="0"/>
              <a:t>-</a:t>
            </a:r>
            <a:r>
              <a:rPr lang="zh-CN" altLang="en-US" b="1" dirty="0"/>
              <a:t>动态性矩阵</a:t>
            </a:r>
            <a:endParaRPr lang="zh-CN" altLang="en-US" dirty="0"/>
          </a:p>
          <a:p>
            <a:pPr lvl="1"/>
            <a:r>
              <a:rPr lang="en-US" altLang="zh-CN" dirty="0"/>
              <a:t>D</a:t>
            </a:r>
            <a:r>
              <a:rPr lang="zh-CN" altLang="en-US" dirty="0"/>
              <a:t>区：很强力的支持或阻碍新战略，但很难预测立场。通过事前沟通或小步骤试探对新战略的态度。 </a:t>
            </a:r>
          </a:p>
          <a:p>
            <a:pPr lvl="1"/>
            <a:r>
              <a:rPr lang="en-US" altLang="zh-CN" dirty="0"/>
              <a:t>C</a:t>
            </a:r>
            <a:r>
              <a:rPr lang="zh-CN" altLang="en-US" dirty="0"/>
              <a:t>区，可多种方式影响战略，争取认可。 </a:t>
            </a:r>
          </a:p>
          <a:p>
            <a:pPr lvl="1"/>
            <a:r>
              <a:rPr lang="en-US" altLang="zh-CN" dirty="0"/>
              <a:t>A</a:t>
            </a:r>
            <a:r>
              <a:rPr lang="zh-CN" altLang="en-US" dirty="0"/>
              <a:t>区、</a:t>
            </a:r>
            <a:r>
              <a:rPr lang="en-US" altLang="zh-CN" dirty="0"/>
              <a:t>B</a:t>
            </a:r>
            <a:r>
              <a:rPr lang="zh-CN" altLang="en-US" dirty="0"/>
              <a:t>区：权力小，但是否积极支持，将会影响大权利相关者的态度。</a:t>
            </a:r>
            <a:endParaRPr lang="en-US" altLang="zh-CN" dirty="0"/>
          </a:p>
        </p:txBody>
      </p:sp>
      <p:sp>
        <p:nvSpPr>
          <p:cNvPr id="4" name="内容占位符 3">
            <a:extLst>
              <a:ext uri="{FF2B5EF4-FFF2-40B4-BE49-F238E27FC236}">
                <a16:creationId xmlns:a16="http://schemas.microsoft.com/office/drawing/2014/main" id="{CCF426AA-74C0-4C6E-BF5E-586A26748A38}"/>
              </a:ext>
            </a:extLst>
          </p:cNvPr>
          <p:cNvSpPr>
            <a:spLocks noGrp="1"/>
          </p:cNvSpPr>
          <p:nvPr>
            <p:ph sz="half" idx="2"/>
          </p:nvPr>
        </p:nvSpPr>
        <p:spPr/>
        <p:txBody>
          <a:bodyPr>
            <a:normAutofit/>
          </a:bodyPr>
          <a:lstStyle/>
          <a:p>
            <a:r>
              <a:rPr lang="zh-CN" altLang="en-US" b="1" dirty="0"/>
              <a:t>权利</a:t>
            </a:r>
            <a:r>
              <a:rPr lang="en-US" altLang="zh-CN" b="1" dirty="0"/>
              <a:t>-</a:t>
            </a:r>
            <a:r>
              <a:rPr lang="zh-CN" altLang="en-US" b="1" dirty="0"/>
              <a:t>利益矩阵</a:t>
            </a:r>
            <a:endParaRPr lang="en-US" altLang="zh-CN" b="1" dirty="0"/>
          </a:p>
          <a:p>
            <a:pPr lvl="1"/>
            <a:r>
              <a:rPr lang="en-US" altLang="zh-CN" dirty="0"/>
              <a:t>D</a:t>
            </a:r>
            <a:r>
              <a:rPr lang="zh-CN" altLang="en-US" dirty="0"/>
              <a:t>区：重点考虑，极易形成阻碍力量</a:t>
            </a:r>
          </a:p>
          <a:p>
            <a:pPr lvl="1"/>
            <a:r>
              <a:rPr lang="en-US" altLang="zh-CN" dirty="0"/>
              <a:t>C</a:t>
            </a:r>
            <a:r>
              <a:rPr lang="zh-CN" altLang="en-US" dirty="0"/>
              <a:t>区：难掌控且相对被动，对战略的可能反应非常重要；保持其满意度，防止转变为</a:t>
            </a:r>
            <a:r>
              <a:rPr lang="en-US" altLang="zh-CN" dirty="0"/>
              <a:t>D</a:t>
            </a:r>
            <a:r>
              <a:rPr lang="zh-CN" altLang="en-US" dirty="0"/>
              <a:t>区</a:t>
            </a:r>
          </a:p>
          <a:p>
            <a:pPr lvl="1"/>
            <a:r>
              <a:rPr lang="en-US" altLang="zh-CN" dirty="0"/>
              <a:t>B</a:t>
            </a:r>
            <a:r>
              <a:rPr lang="zh-CN" altLang="en-US" dirty="0"/>
              <a:t>区：重要联盟，维持沟通防止成为阻碍力量</a:t>
            </a:r>
            <a:endParaRPr lang="en-US" altLang="zh-CN" dirty="0"/>
          </a:p>
        </p:txBody>
      </p:sp>
      <p:grpSp>
        <p:nvGrpSpPr>
          <p:cNvPr id="130" name="组合 129">
            <a:extLst>
              <a:ext uri="{FF2B5EF4-FFF2-40B4-BE49-F238E27FC236}">
                <a16:creationId xmlns:a16="http://schemas.microsoft.com/office/drawing/2014/main" id="{79CA913A-5E7C-416B-BAB3-1873ADA1DC14}"/>
              </a:ext>
            </a:extLst>
          </p:cNvPr>
          <p:cNvGrpSpPr/>
          <p:nvPr/>
        </p:nvGrpSpPr>
        <p:grpSpPr>
          <a:xfrm>
            <a:off x="457966" y="5100639"/>
            <a:ext cx="8158376" cy="4414057"/>
            <a:chOff x="1240093" y="5080253"/>
            <a:chExt cx="6047335" cy="4434443"/>
          </a:xfrm>
        </p:grpSpPr>
        <p:sp>
          <p:nvSpPr>
            <p:cNvPr id="131" name="矩形 130">
              <a:extLst>
                <a:ext uri="{FF2B5EF4-FFF2-40B4-BE49-F238E27FC236}">
                  <a16:creationId xmlns:a16="http://schemas.microsoft.com/office/drawing/2014/main" id="{3695555D-4E3C-4CA6-9904-86B4BA738BEF}"/>
                </a:ext>
              </a:extLst>
            </p:cNvPr>
            <p:cNvSpPr/>
            <p:nvPr/>
          </p:nvSpPr>
          <p:spPr>
            <a:xfrm>
              <a:off x="1562101" y="5093493"/>
              <a:ext cx="2819172" cy="2213549"/>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algn="ctr"/>
              <a:endParaRPr lang="zh-CN" altLang="en-US"/>
            </a:p>
          </p:txBody>
        </p:sp>
        <p:sp>
          <p:nvSpPr>
            <p:cNvPr id="132" name="矩形 131">
              <a:extLst>
                <a:ext uri="{FF2B5EF4-FFF2-40B4-BE49-F238E27FC236}">
                  <a16:creationId xmlns:a16="http://schemas.microsoft.com/office/drawing/2014/main" id="{1CEB40C8-300D-4B06-A90F-8C4254B3F12F}"/>
                </a:ext>
              </a:extLst>
            </p:cNvPr>
            <p:cNvSpPr/>
            <p:nvPr/>
          </p:nvSpPr>
          <p:spPr>
            <a:xfrm>
              <a:off x="4392943" y="5080253"/>
              <a:ext cx="2819172" cy="2213549"/>
            </a:xfrm>
            <a:prstGeom prst="rect">
              <a:avLst/>
            </a:prstGeom>
            <a:solidFill>
              <a:srgbClr val="00B05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algn="ctr"/>
              <a:endParaRPr lang="zh-CN" altLang="en-US"/>
            </a:p>
          </p:txBody>
        </p:sp>
        <p:sp>
          <p:nvSpPr>
            <p:cNvPr id="133" name="矩形 132">
              <a:extLst>
                <a:ext uri="{FF2B5EF4-FFF2-40B4-BE49-F238E27FC236}">
                  <a16:creationId xmlns:a16="http://schemas.microsoft.com/office/drawing/2014/main" id="{1E8B96AA-C379-439D-BD91-A7AC7175439C}"/>
                </a:ext>
              </a:extLst>
            </p:cNvPr>
            <p:cNvSpPr/>
            <p:nvPr/>
          </p:nvSpPr>
          <p:spPr>
            <a:xfrm>
              <a:off x="1550037" y="7301147"/>
              <a:ext cx="2819172" cy="2213549"/>
            </a:xfrm>
            <a:prstGeom prst="rect">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algn="ctr"/>
              <a:endParaRPr lang="zh-CN" altLang="en-US"/>
            </a:p>
          </p:txBody>
        </p:sp>
        <p:sp>
          <p:nvSpPr>
            <p:cNvPr id="134" name="矩形 133">
              <a:extLst>
                <a:ext uri="{FF2B5EF4-FFF2-40B4-BE49-F238E27FC236}">
                  <a16:creationId xmlns:a16="http://schemas.microsoft.com/office/drawing/2014/main" id="{5924E66A-CFC4-4E56-A011-AF44A545F668}"/>
                </a:ext>
              </a:extLst>
            </p:cNvPr>
            <p:cNvSpPr/>
            <p:nvPr/>
          </p:nvSpPr>
          <p:spPr>
            <a:xfrm>
              <a:off x="4380879" y="7287907"/>
              <a:ext cx="2819172" cy="2213549"/>
            </a:xfrm>
            <a:prstGeom prst="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algn="ctr"/>
              <a:endParaRPr lang="zh-CN" altLang="en-US"/>
            </a:p>
          </p:txBody>
        </p:sp>
        <p:grpSp>
          <p:nvGrpSpPr>
            <p:cNvPr id="135" name="组合 134">
              <a:extLst>
                <a:ext uri="{FF2B5EF4-FFF2-40B4-BE49-F238E27FC236}">
                  <a16:creationId xmlns:a16="http://schemas.microsoft.com/office/drawing/2014/main" id="{58D88E99-F530-48D4-8D6F-2F7EFE51BB57}"/>
                </a:ext>
              </a:extLst>
            </p:cNvPr>
            <p:cNvGrpSpPr/>
            <p:nvPr/>
          </p:nvGrpSpPr>
          <p:grpSpPr>
            <a:xfrm>
              <a:off x="1240093" y="5093493"/>
              <a:ext cx="6047335" cy="4165520"/>
              <a:chOff x="1240093" y="5093493"/>
              <a:chExt cx="6047335" cy="4165520"/>
            </a:xfrm>
          </p:grpSpPr>
          <p:cxnSp>
            <p:nvCxnSpPr>
              <p:cNvPr id="137" name="Straight Connector 34">
                <a:extLst>
                  <a:ext uri="{FF2B5EF4-FFF2-40B4-BE49-F238E27FC236}">
                    <a16:creationId xmlns:a16="http://schemas.microsoft.com/office/drawing/2014/main" id="{7AD90F67-9772-49B9-B1D0-36F37D078CD5}"/>
                  </a:ext>
                </a:extLst>
              </p:cNvPr>
              <p:cNvCxnSpPr>
                <a:cxnSpLocks/>
              </p:cNvCxnSpPr>
              <p:nvPr/>
            </p:nvCxnSpPr>
            <p:spPr>
              <a:xfrm flipH="1">
                <a:off x="4382159" y="5093493"/>
                <a:ext cx="10694" cy="4165520"/>
              </a:xfrm>
              <a:prstGeom prst="line">
                <a:avLst/>
              </a:prstGeom>
              <a:ln>
                <a:solidFill>
                  <a:schemeClr val="accent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8" name="Straight Connector 35">
                <a:extLst>
                  <a:ext uri="{FF2B5EF4-FFF2-40B4-BE49-F238E27FC236}">
                    <a16:creationId xmlns:a16="http://schemas.microsoft.com/office/drawing/2014/main" id="{8D1DBA3A-2B3B-4382-B3F7-6E6686443FBB}"/>
                  </a:ext>
                </a:extLst>
              </p:cNvPr>
              <p:cNvCxnSpPr/>
              <p:nvPr/>
            </p:nvCxnSpPr>
            <p:spPr>
              <a:xfrm flipV="1">
                <a:off x="1654217" y="7293802"/>
                <a:ext cx="5479044" cy="13240"/>
              </a:xfrm>
              <a:prstGeom prst="line">
                <a:avLst/>
              </a:prstGeom>
              <a:ln>
                <a:solidFill>
                  <a:schemeClr val="accent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39" name="TextBox 36">
                <a:extLst>
                  <a:ext uri="{FF2B5EF4-FFF2-40B4-BE49-F238E27FC236}">
                    <a16:creationId xmlns:a16="http://schemas.microsoft.com/office/drawing/2014/main" id="{E735785B-C917-4823-9E2C-3C3C74EABC16}"/>
                  </a:ext>
                </a:extLst>
              </p:cNvPr>
              <p:cNvSpPr txBox="1"/>
              <p:nvPr/>
            </p:nvSpPr>
            <p:spPr>
              <a:xfrm>
                <a:off x="4380879" y="6386898"/>
                <a:ext cx="2801367" cy="848710"/>
              </a:xfrm>
              <a:prstGeom prst="hexagon">
                <a:avLst>
                  <a:gd name="adj" fmla="val 0"/>
                  <a:gd name="vf" fmla="val 115470"/>
                </a:avLst>
              </a:prstGeom>
              <a:noFill/>
            </p:spPr>
            <p:txBody>
              <a:bodyPr wrap="square" lIns="254068" rIns="254068" rtlCol="0">
                <a:spAutoFit/>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defTabSz="1270559">
                  <a:defRPr/>
                </a:pPr>
                <a:r>
                  <a:rPr lang="zh-CN" altLang="en-US" sz="2000" dirty="0">
                    <a:solidFill>
                      <a:schemeClr val="bg2">
                        <a:lumMod val="25000"/>
                      </a:schemeClr>
                    </a:solidFill>
                    <a:latin typeface="+mj-lt"/>
                  </a:rPr>
                  <a:t>权利低、可预测性较差</a:t>
                </a:r>
                <a:endParaRPr lang="en-US" altLang="zh-CN" sz="2000" dirty="0">
                  <a:solidFill>
                    <a:schemeClr val="bg2">
                      <a:lumMod val="25000"/>
                    </a:schemeClr>
                  </a:solidFill>
                  <a:latin typeface="+mj-lt"/>
                </a:endParaRPr>
              </a:p>
              <a:p>
                <a:pPr algn="ctr" defTabSz="1270559">
                  <a:defRPr/>
                </a:pPr>
                <a:r>
                  <a:rPr lang="zh-CN" altLang="en-US" sz="2000" dirty="0">
                    <a:solidFill>
                      <a:schemeClr val="bg2">
                        <a:lumMod val="25000"/>
                      </a:schemeClr>
                    </a:solidFill>
                    <a:latin typeface="+mj-lt"/>
                  </a:rPr>
                  <a:t>摇摆的相关者</a:t>
                </a:r>
                <a:endParaRPr lang="en-US" sz="2000" dirty="0">
                  <a:solidFill>
                    <a:schemeClr val="bg2">
                      <a:lumMod val="25000"/>
                    </a:schemeClr>
                  </a:solidFill>
                  <a:latin typeface="+mj-lt"/>
                </a:endParaRPr>
              </a:p>
            </p:txBody>
          </p:sp>
          <p:sp>
            <p:nvSpPr>
              <p:cNvPr id="140" name="TextBox 37">
                <a:extLst>
                  <a:ext uri="{FF2B5EF4-FFF2-40B4-BE49-F238E27FC236}">
                    <a16:creationId xmlns:a16="http://schemas.microsoft.com/office/drawing/2014/main" id="{0549AE96-4DB3-45BA-91C7-B32AA2322138}"/>
                  </a:ext>
                </a:extLst>
              </p:cNvPr>
              <p:cNvSpPr txBox="1"/>
              <p:nvPr/>
            </p:nvSpPr>
            <p:spPr>
              <a:xfrm>
                <a:off x="1297287" y="8310239"/>
                <a:ext cx="3136365" cy="848710"/>
              </a:xfrm>
              <a:prstGeom prst="hexagon">
                <a:avLst>
                  <a:gd name="adj" fmla="val 0"/>
                  <a:gd name="vf" fmla="val 115470"/>
                </a:avLst>
              </a:prstGeom>
              <a:noFill/>
            </p:spPr>
            <p:txBody>
              <a:bodyPr wrap="square" lIns="254068" rIns="254068" rtlCol="0">
                <a:spAutoFit/>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defTabSz="1270559">
                  <a:defRPr/>
                </a:pPr>
                <a:r>
                  <a:rPr lang="zh-CN" altLang="en-US" sz="2000" dirty="0">
                    <a:solidFill>
                      <a:schemeClr val="bg2">
                        <a:lumMod val="25000"/>
                      </a:schemeClr>
                    </a:solidFill>
                    <a:latin typeface="+mj-lt"/>
                  </a:rPr>
                  <a:t>权利高、立场明确</a:t>
                </a:r>
                <a:endParaRPr lang="en-US" altLang="zh-CN" sz="2000" dirty="0">
                  <a:solidFill>
                    <a:schemeClr val="bg2">
                      <a:lumMod val="25000"/>
                    </a:schemeClr>
                  </a:solidFill>
                  <a:latin typeface="+mj-lt"/>
                </a:endParaRPr>
              </a:p>
              <a:p>
                <a:pPr algn="ctr" defTabSz="1270559">
                  <a:defRPr/>
                </a:pPr>
                <a:r>
                  <a:rPr lang="zh-CN" altLang="en-US" sz="2000" dirty="0">
                    <a:solidFill>
                      <a:schemeClr val="bg2">
                        <a:lumMod val="25000"/>
                      </a:schemeClr>
                    </a:solidFill>
                    <a:latin typeface="+mj-lt"/>
                  </a:rPr>
                  <a:t>需要争取的支持者</a:t>
                </a:r>
                <a:endParaRPr lang="en-US" sz="2000" dirty="0">
                  <a:solidFill>
                    <a:schemeClr val="bg2">
                      <a:lumMod val="25000"/>
                    </a:schemeClr>
                  </a:solidFill>
                  <a:latin typeface="+mj-lt"/>
                </a:endParaRPr>
              </a:p>
            </p:txBody>
          </p:sp>
          <p:sp>
            <p:nvSpPr>
              <p:cNvPr id="141" name="TextBox 39">
                <a:extLst>
                  <a:ext uri="{FF2B5EF4-FFF2-40B4-BE49-F238E27FC236}">
                    <a16:creationId xmlns:a16="http://schemas.microsoft.com/office/drawing/2014/main" id="{F75ABBF0-B0CA-4007-86BC-E061238D4903}"/>
                  </a:ext>
                </a:extLst>
              </p:cNvPr>
              <p:cNvSpPr txBox="1"/>
              <p:nvPr/>
            </p:nvSpPr>
            <p:spPr>
              <a:xfrm>
                <a:off x="4390597" y="8323989"/>
                <a:ext cx="2896831" cy="848710"/>
              </a:xfrm>
              <a:prstGeom prst="hexagon">
                <a:avLst>
                  <a:gd name="adj" fmla="val 0"/>
                  <a:gd name="vf" fmla="val 115470"/>
                </a:avLst>
              </a:prstGeom>
              <a:noFill/>
            </p:spPr>
            <p:txBody>
              <a:bodyPr wrap="square" lIns="254068" rIns="254068" rtlCol="0">
                <a:spAutoFit/>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defTabSz="1270559">
                  <a:defRPr/>
                </a:pPr>
                <a:r>
                  <a:rPr lang="zh-CN" altLang="en-US" sz="2000" dirty="0">
                    <a:solidFill>
                      <a:schemeClr val="bg2">
                        <a:lumMod val="25000"/>
                      </a:schemeClr>
                    </a:solidFill>
                    <a:latin typeface="+mj-lt"/>
                  </a:rPr>
                  <a:t>权利高、可预测性较低</a:t>
                </a:r>
                <a:endParaRPr lang="en-US" altLang="zh-CN" sz="2000" dirty="0">
                  <a:solidFill>
                    <a:schemeClr val="bg2">
                      <a:lumMod val="25000"/>
                    </a:schemeClr>
                  </a:solidFill>
                  <a:latin typeface="+mj-lt"/>
                </a:endParaRPr>
              </a:p>
              <a:p>
                <a:pPr algn="ctr" defTabSz="1270559">
                  <a:defRPr/>
                </a:pPr>
                <a:r>
                  <a:rPr lang="zh-CN" altLang="en-US" sz="2000" dirty="0">
                    <a:solidFill>
                      <a:schemeClr val="bg2">
                        <a:lumMod val="25000"/>
                      </a:schemeClr>
                    </a:solidFill>
                    <a:latin typeface="+mj-lt"/>
                  </a:rPr>
                  <a:t>需沟通的摇摆者</a:t>
                </a:r>
                <a:endParaRPr lang="en-US" sz="2000" dirty="0">
                  <a:solidFill>
                    <a:schemeClr val="bg2">
                      <a:lumMod val="25000"/>
                    </a:schemeClr>
                  </a:solidFill>
                  <a:latin typeface="+mj-lt"/>
                </a:endParaRPr>
              </a:p>
            </p:txBody>
          </p:sp>
          <p:sp>
            <p:nvSpPr>
              <p:cNvPr id="142" name="Freeform 122">
                <a:extLst>
                  <a:ext uri="{FF2B5EF4-FFF2-40B4-BE49-F238E27FC236}">
                    <a16:creationId xmlns:a16="http://schemas.microsoft.com/office/drawing/2014/main" id="{C0EC429E-C6EB-4DE5-AAD2-78C7411DD774}"/>
                  </a:ext>
                </a:extLst>
              </p:cNvPr>
              <p:cNvSpPr>
                <a:spLocks noChangeAspect="1"/>
              </p:cNvSpPr>
              <p:nvPr/>
            </p:nvSpPr>
            <p:spPr bwMode="black">
              <a:xfrm>
                <a:off x="2585713" y="5438258"/>
                <a:ext cx="600094" cy="958681"/>
              </a:xfrm>
              <a:custGeom>
                <a:avLst/>
                <a:gdLst>
                  <a:gd name="connsiteX0" fmla="*/ 189847 w 379783"/>
                  <a:gd name="connsiteY0" fmla="*/ 492967 h 606722"/>
                  <a:gd name="connsiteX1" fmla="*/ 151931 w 379783"/>
                  <a:gd name="connsiteY1" fmla="*/ 530826 h 606722"/>
                  <a:gd name="connsiteX2" fmla="*/ 189847 w 379783"/>
                  <a:gd name="connsiteY2" fmla="*/ 568774 h 606722"/>
                  <a:gd name="connsiteX3" fmla="*/ 227852 w 379783"/>
                  <a:gd name="connsiteY3" fmla="*/ 530826 h 606722"/>
                  <a:gd name="connsiteX4" fmla="*/ 189847 w 379783"/>
                  <a:gd name="connsiteY4" fmla="*/ 492967 h 606722"/>
                  <a:gd name="connsiteX5" fmla="*/ 237382 w 379783"/>
                  <a:gd name="connsiteY5" fmla="*/ 227503 h 606722"/>
                  <a:gd name="connsiteX6" fmla="*/ 294399 w 379783"/>
                  <a:gd name="connsiteY6" fmla="*/ 227503 h 606722"/>
                  <a:gd name="connsiteX7" fmla="*/ 294399 w 379783"/>
                  <a:gd name="connsiteY7" fmla="*/ 379219 h 606722"/>
                  <a:gd name="connsiteX8" fmla="*/ 237382 w 379783"/>
                  <a:gd name="connsiteY8" fmla="*/ 379219 h 606722"/>
                  <a:gd name="connsiteX9" fmla="*/ 85455 w 379783"/>
                  <a:gd name="connsiteY9" fmla="*/ 227503 h 606722"/>
                  <a:gd name="connsiteX10" fmla="*/ 142472 w 379783"/>
                  <a:gd name="connsiteY10" fmla="*/ 227503 h 606722"/>
                  <a:gd name="connsiteX11" fmla="*/ 142472 w 379783"/>
                  <a:gd name="connsiteY11" fmla="*/ 379219 h 606722"/>
                  <a:gd name="connsiteX12" fmla="*/ 85455 w 379783"/>
                  <a:gd name="connsiteY12" fmla="*/ 379219 h 606722"/>
                  <a:gd name="connsiteX13" fmla="*/ 161383 w 379783"/>
                  <a:gd name="connsiteY13" fmla="*/ 170627 h 606722"/>
                  <a:gd name="connsiteX14" fmla="*/ 218329 w 379783"/>
                  <a:gd name="connsiteY14" fmla="*/ 170627 h 606722"/>
                  <a:gd name="connsiteX15" fmla="*/ 218329 w 379783"/>
                  <a:gd name="connsiteY15" fmla="*/ 379219 h 606722"/>
                  <a:gd name="connsiteX16" fmla="*/ 161383 w 379783"/>
                  <a:gd name="connsiteY16" fmla="*/ 379219 h 606722"/>
                  <a:gd name="connsiteX17" fmla="*/ 56963 w 379783"/>
                  <a:gd name="connsiteY17" fmla="*/ 56877 h 606722"/>
                  <a:gd name="connsiteX18" fmla="*/ 56963 w 379783"/>
                  <a:gd name="connsiteY18" fmla="*/ 455020 h 606722"/>
                  <a:gd name="connsiteX19" fmla="*/ 322820 w 379783"/>
                  <a:gd name="connsiteY19" fmla="*/ 455020 h 606722"/>
                  <a:gd name="connsiteX20" fmla="*/ 322820 w 379783"/>
                  <a:gd name="connsiteY20" fmla="*/ 56877 h 606722"/>
                  <a:gd name="connsiteX21" fmla="*/ 0 w 379783"/>
                  <a:gd name="connsiteY21" fmla="*/ 0 h 606722"/>
                  <a:gd name="connsiteX22" fmla="*/ 379783 w 379783"/>
                  <a:gd name="connsiteY22" fmla="*/ 0 h 606722"/>
                  <a:gd name="connsiteX23" fmla="*/ 379783 w 379783"/>
                  <a:gd name="connsiteY23" fmla="*/ 606722 h 606722"/>
                  <a:gd name="connsiteX24" fmla="*/ 0 w 379783"/>
                  <a:gd name="connsiteY24" fmla="*/ 606722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9783" h="606722">
                    <a:moveTo>
                      <a:pt x="189847" y="492967"/>
                    </a:moveTo>
                    <a:cubicBezTo>
                      <a:pt x="168931" y="492967"/>
                      <a:pt x="151931" y="509942"/>
                      <a:pt x="151931" y="530826"/>
                    </a:cubicBezTo>
                    <a:cubicBezTo>
                      <a:pt x="151931" y="551800"/>
                      <a:pt x="168931" y="568774"/>
                      <a:pt x="189847" y="568774"/>
                    </a:cubicBezTo>
                    <a:cubicBezTo>
                      <a:pt x="210852" y="568774"/>
                      <a:pt x="227852" y="551800"/>
                      <a:pt x="227852" y="530826"/>
                    </a:cubicBezTo>
                    <a:cubicBezTo>
                      <a:pt x="227852" y="509942"/>
                      <a:pt x="210852" y="492967"/>
                      <a:pt x="189847" y="492967"/>
                    </a:cubicBezTo>
                    <a:close/>
                    <a:moveTo>
                      <a:pt x="237382" y="227503"/>
                    </a:moveTo>
                    <a:lnTo>
                      <a:pt x="294399" y="227503"/>
                    </a:lnTo>
                    <a:lnTo>
                      <a:pt x="294399" y="379219"/>
                    </a:lnTo>
                    <a:lnTo>
                      <a:pt x="237382" y="379219"/>
                    </a:lnTo>
                    <a:close/>
                    <a:moveTo>
                      <a:pt x="85455" y="227503"/>
                    </a:moveTo>
                    <a:lnTo>
                      <a:pt x="142472" y="227503"/>
                    </a:lnTo>
                    <a:lnTo>
                      <a:pt x="142472" y="379219"/>
                    </a:lnTo>
                    <a:lnTo>
                      <a:pt x="85455" y="379219"/>
                    </a:lnTo>
                    <a:close/>
                    <a:moveTo>
                      <a:pt x="161383" y="170627"/>
                    </a:moveTo>
                    <a:lnTo>
                      <a:pt x="218329" y="170627"/>
                    </a:lnTo>
                    <a:lnTo>
                      <a:pt x="218329" y="379219"/>
                    </a:lnTo>
                    <a:lnTo>
                      <a:pt x="161383" y="379219"/>
                    </a:lnTo>
                    <a:close/>
                    <a:moveTo>
                      <a:pt x="56963" y="56877"/>
                    </a:moveTo>
                    <a:lnTo>
                      <a:pt x="56963" y="455020"/>
                    </a:lnTo>
                    <a:lnTo>
                      <a:pt x="322820" y="455020"/>
                    </a:lnTo>
                    <a:lnTo>
                      <a:pt x="322820" y="56877"/>
                    </a:lnTo>
                    <a:close/>
                    <a:moveTo>
                      <a:pt x="0" y="0"/>
                    </a:moveTo>
                    <a:lnTo>
                      <a:pt x="379783" y="0"/>
                    </a:lnTo>
                    <a:lnTo>
                      <a:pt x="379783" y="606722"/>
                    </a:lnTo>
                    <a:lnTo>
                      <a:pt x="0" y="606722"/>
                    </a:lnTo>
                    <a:close/>
                  </a:path>
                </a:pathLst>
              </a:custGeom>
              <a:solidFill>
                <a:schemeClr val="tx1"/>
              </a:solidFill>
              <a:ln>
                <a:noFill/>
              </a:ln>
              <a:extLst/>
            </p:spPr>
            <p:txBody>
              <a:bodyPr vert="horz" wrap="square" lIns="129606" tIns="64803" rIns="129606" bIns="64803" numCol="1" anchor="t" anchorCtr="0" compatLnSpc="1">
                <a:prstTxWarp prst="textNoShape">
                  <a:avLst/>
                </a:prstTxWarp>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defTabSz="1270559">
                  <a:defRPr/>
                </a:pPr>
                <a:endParaRPr lang="en-US" sz="2000" kern="0" dirty="0">
                  <a:solidFill>
                    <a:schemeClr val="bg2">
                      <a:lumMod val="25000"/>
                    </a:schemeClr>
                  </a:solidFill>
                  <a:latin typeface="+mj-lt"/>
                </a:endParaRPr>
              </a:p>
            </p:txBody>
          </p:sp>
          <p:sp>
            <p:nvSpPr>
              <p:cNvPr id="143" name="Freeform 128">
                <a:extLst>
                  <a:ext uri="{FF2B5EF4-FFF2-40B4-BE49-F238E27FC236}">
                    <a16:creationId xmlns:a16="http://schemas.microsoft.com/office/drawing/2014/main" id="{71FA47F9-42D3-4B16-A312-4619EADB387E}"/>
                  </a:ext>
                </a:extLst>
              </p:cNvPr>
              <p:cNvSpPr>
                <a:spLocks noChangeAspect="1" noEditPoints="1"/>
              </p:cNvSpPr>
              <p:nvPr/>
            </p:nvSpPr>
            <p:spPr bwMode="black">
              <a:xfrm>
                <a:off x="5546090" y="7355750"/>
                <a:ext cx="751237" cy="856811"/>
              </a:xfrm>
              <a:custGeom>
                <a:avLst/>
                <a:gdLst>
                  <a:gd name="connsiteX0" fmla="*/ 172709 w 530849"/>
                  <a:gd name="connsiteY0" fmla="*/ 360519 h 605451"/>
                  <a:gd name="connsiteX1" fmla="*/ 222665 w 530849"/>
                  <a:gd name="connsiteY1" fmla="*/ 518492 h 605451"/>
                  <a:gd name="connsiteX2" fmla="*/ 229536 w 530849"/>
                  <a:gd name="connsiteY2" fmla="*/ 539907 h 605451"/>
                  <a:gd name="connsiteX3" fmla="*/ 251914 w 530849"/>
                  <a:gd name="connsiteY3" fmla="*/ 476496 h 605451"/>
                  <a:gd name="connsiteX4" fmla="*/ 265378 w 530849"/>
                  <a:gd name="connsiteY4" fmla="*/ 401310 h 605451"/>
                  <a:gd name="connsiteX5" fmla="*/ 265564 w 530849"/>
                  <a:gd name="connsiteY5" fmla="*/ 401310 h 605451"/>
                  <a:gd name="connsiteX6" fmla="*/ 265657 w 530849"/>
                  <a:gd name="connsiteY6" fmla="*/ 401310 h 605451"/>
                  <a:gd name="connsiteX7" fmla="*/ 265750 w 530849"/>
                  <a:gd name="connsiteY7" fmla="*/ 401310 h 605451"/>
                  <a:gd name="connsiteX8" fmla="*/ 265935 w 530849"/>
                  <a:gd name="connsiteY8" fmla="*/ 401310 h 605451"/>
                  <a:gd name="connsiteX9" fmla="*/ 279399 w 530849"/>
                  <a:gd name="connsiteY9" fmla="*/ 476496 h 605451"/>
                  <a:gd name="connsiteX10" fmla="*/ 301777 w 530849"/>
                  <a:gd name="connsiteY10" fmla="*/ 539907 h 605451"/>
                  <a:gd name="connsiteX11" fmla="*/ 308648 w 530849"/>
                  <a:gd name="connsiteY11" fmla="*/ 518492 h 605451"/>
                  <a:gd name="connsiteX12" fmla="*/ 358604 w 530849"/>
                  <a:gd name="connsiteY12" fmla="*/ 360519 h 605451"/>
                  <a:gd name="connsiteX13" fmla="*/ 462415 w 530849"/>
                  <a:gd name="connsiteY13" fmla="*/ 410581 h 605451"/>
                  <a:gd name="connsiteX14" fmla="*/ 530849 w 530849"/>
                  <a:gd name="connsiteY14" fmla="*/ 605451 h 605451"/>
                  <a:gd name="connsiteX15" fmla="*/ 0 w 530849"/>
                  <a:gd name="connsiteY15" fmla="*/ 605451 h 605451"/>
                  <a:gd name="connsiteX16" fmla="*/ 68898 w 530849"/>
                  <a:gd name="connsiteY16" fmla="*/ 410581 h 605451"/>
                  <a:gd name="connsiteX17" fmla="*/ 172709 w 530849"/>
                  <a:gd name="connsiteY17" fmla="*/ 360519 h 605451"/>
                  <a:gd name="connsiteX18" fmla="*/ 245328 w 530849"/>
                  <a:gd name="connsiteY18" fmla="*/ 111138 h 605451"/>
                  <a:gd name="connsiteX19" fmla="*/ 240037 w 530849"/>
                  <a:gd name="connsiteY19" fmla="*/ 116422 h 605451"/>
                  <a:gd name="connsiteX20" fmla="*/ 240037 w 530849"/>
                  <a:gd name="connsiteY20" fmla="*/ 184921 h 605451"/>
                  <a:gd name="connsiteX21" fmla="*/ 213951 w 530849"/>
                  <a:gd name="connsiteY21" fmla="*/ 184921 h 605451"/>
                  <a:gd name="connsiteX22" fmla="*/ 211352 w 530849"/>
                  <a:gd name="connsiteY22" fmla="*/ 190297 h 605451"/>
                  <a:gd name="connsiteX23" fmla="*/ 261481 w 530849"/>
                  <a:gd name="connsiteY23" fmla="*/ 251474 h 605451"/>
                  <a:gd name="connsiteX24" fmla="*/ 267886 w 530849"/>
                  <a:gd name="connsiteY24" fmla="*/ 251474 h 605451"/>
                  <a:gd name="connsiteX25" fmla="*/ 318108 w 530849"/>
                  <a:gd name="connsiteY25" fmla="*/ 190297 h 605451"/>
                  <a:gd name="connsiteX26" fmla="*/ 315509 w 530849"/>
                  <a:gd name="connsiteY26" fmla="*/ 184921 h 605451"/>
                  <a:gd name="connsiteX27" fmla="*/ 289423 w 530849"/>
                  <a:gd name="connsiteY27" fmla="*/ 184921 h 605451"/>
                  <a:gd name="connsiteX28" fmla="*/ 289423 w 530849"/>
                  <a:gd name="connsiteY28" fmla="*/ 116422 h 605451"/>
                  <a:gd name="connsiteX29" fmla="*/ 284132 w 530849"/>
                  <a:gd name="connsiteY29" fmla="*/ 111138 h 605451"/>
                  <a:gd name="connsiteX30" fmla="*/ 247463 w 530849"/>
                  <a:gd name="connsiteY30" fmla="*/ 0 h 605451"/>
                  <a:gd name="connsiteX31" fmla="*/ 264451 w 530849"/>
                  <a:gd name="connsiteY31" fmla="*/ 0 h 605451"/>
                  <a:gd name="connsiteX32" fmla="*/ 281347 w 530849"/>
                  <a:gd name="connsiteY32" fmla="*/ 0 h 605451"/>
                  <a:gd name="connsiteX33" fmla="*/ 294250 w 530849"/>
                  <a:gd name="connsiteY33" fmla="*/ 10845 h 605451"/>
                  <a:gd name="connsiteX34" fmla="*/ 300099 w 530849"/>
                  <a:gd name="connsiteY34" fmla="*/ 44863 h 605451"/>
                  <a:gd name="connsiteX35" fmla="*/ 336860 w 530849"/>
                  <a:gd name="connsiteY35" fmla="*/ 60065 h 605451"/>
                  <a:gd name="connsiteX36" fmla="*/ 364802 w 530849"/>
                  <a:gd name="connsiteY36" fmla="*/ 40043 h 605451"/>
                  <a:gd name="connsiteX37" fmla="*/ 381512 w 530849"/>
                  <a:gd name="connsiteY37" fmla="*/ 41155 h 605451"/>
                  <a:gd name="connsiteX38" fmla="*/ 393487 w 530849"/>
                  <a:gd name="connsiteY38" fmla="*/ 53113 h 605451"/>
                  <a:gd name="connsiteX39" fmla="*/ 405555 w 530849"/>
                  <a:gd name="connsiteY39" fmla="*/ 65163 h 605451"/>
                  <a:gd name="connsiteX40" fmla="*/ 407040 w 530849"/>
                  <a:gd name="connsiteY40" fmla="*/ 81940 h 605451"/>
                  <a:gd name="connsiteX41" fmla="*/ 387081 w 530849"/>
                  <a:gd name="connsiteY41" fmla="*/ 109840 h 605451"/>
                  <a:gd name="connsiteX42" fmla="*/ 402306 w 530849"/>
                  <a:gd name="connsiteY42" fmla="*/ 146454 h 605451"/>
                  <a:gd name="connsiteX43" fmla="*/ 436375 w 530849"/>
                  <a:gd name="connsiteY43" fmla="*/ 152108 h 605451"/>
                  <a:gd name="connsiteX44" fmla="*/ 447236 w 530849"/>
                  <a:gd name="connsiteY44" fmla="*/ 164900 h 605451"/>
                  <a:gd name="connsiteX45" fmla="*/ 447236 w 530849"/>
                  <a:gd name="connsiteY45" fmla="*/ 181770 h 605451"/>
                  <a:gd name="connsiteX46" fmla="*/ 447236 w 530849"/>
                  <a:gd name="connsiteY46" fmla="*/ 198732 h 605451"/>
                  <a:gd name="connsiteX47" fmla="*/ 436375 w 530849"/>
                  <a:gd name="connsiteY47" fmla="*/ 211617 h 605451"/>
                  <a:gd name="connsiteX48" fmla="*/ 402306 w 530849"/>
                  <a:gd name="connsiteY48" fmla="*/ 217363 h 605451"/>
                  <a:gd name="connsiteX49" fmla="*/ 387081 w 530849"/>
                  <a:gd name="connsiteY49" fmla="*/ 254070 h 605451"/>
                  <a:gd name="connsiteX50" fmla="*/ 407133 w 530849"/>
                  <a:gd name="connsiteY50" fmla="*/ 282063 h 605451"/>
                  <a:gd name="connsiteX51" fmla="*/ 405740 w 530849"/>
                  <a:gd name="connsiteY51" fmla="*/ 298840 h 605451"/>
                  <a:gd name="connsiteX52" fmla="*/ 393765 w 530849"/>
                  <a:gd name="connsiteY52" fmla="*/ 310797 h 605451"/>
                  <a:gd name="connsiteX53" fmla="*/ 381790 w 530849"/>
                  <a:gd name="connsiteY53" fmla="*/ 322847 h 605451"/>
                  <a:gd name="connsiteX54" fmla="*/ 364895 w 530849"/>
                  <a:gd name="connsiteY54" fmla="*/ 324330 h 605451"/>
                  <a:gd name="connsiteX55" fmla="*/ 336953 w 530849"/>
                  <a:gd name="connsiteY55" fmla="*/ 304401 h 605451"/>
                  <a:gd name="connsiteX56" fmla="*/ 301213 w 530849"/>
                  <a:gd name="connsiteY56" fmla="*/ 319232 h 605451"/>
                  <a:gd name="connsiteX57" fmla="*/ 295457 w 530849"/>
                  <a:gd name="connsiteY57" fmla="*/ 353343 h 605451"/>
                  <a:gd name="connsiteX58" fmla="*/ 282739 w 530849"/>
                  <a:gd name="connsiteY58" fmla="*/ 364188 h 605451"/>
                  <a:gd name="connsiteX59" fmla="*/ 265751 w 530849"/>
                  <a:gd name="connsiteY59" fmla="*/ 364188 h 605451"/>
                  <a:gd name="connsiteX60" fmla="*/ 248856 w 530849"/>
                  <a:gd name="connsiteY60" fmla="*/ 364188 h 605451"/>
                  <a:gd name="connsiteX61" fmla="*/ 235952 w 530849"/>
                  <a:gd name="connsiteY61" fmla="*/ 353343 h 605451"/>
                  <a:gd name="connsiteX62" fmla="*/ 230290 w 530849"/>
                  <a:gd name="connsiteY62" fmla="*/ 319696 h 605451"/>
                  <a:gd name="connsiteX63" fmla="*/ 193528 w 530849"/>
                  <a:gd name="connsiteY63" fmla="*/ 304772 h 605451"/>
                  <a:gd name="connsiteX64" fmla="*/ 165122 w 530849"/>
                  <a:gd name="connsiteY64" fmla="*/ 324794 h 605451"/>
                  <a:gd name="connsiteX65" fmla="*/ 148320 w 530849"/>
                  <a:gd name="connsiteY65" fmla="*/ 323403 h 605451"/>
                  <a:gd name="connsiteX66" fmla="*/ 136344 w 530849"/>
                  <a:gd name="connsiteY66" fmla="*/ 311446 h 605451"/>
                  <a:gd name="connsiteX67" fmla="*/ 124276 w 530849"/>
                  <a:gd name="connsiteY67" fmla="*/ 299489 h 605451"/>
                  <a:gd name="connsiteX68" fmla="*/ 122791 w 530849"/>
                  <a:gd name="connsiteY68" fmla="*/ 282619 h 605451"/>
                  <a:gd name="connsiteX69" fmla="*/ 142657 w 530849"/>
                  <a:gd name="connsiteY69" fmla="*/ 254811 h 605451"/>
                  <a:gd name="connsiteX70" fmla="*/ 127154 w 530849"/>
                  <a:gd name="connsiteY70" fmla="*/ 218383 h 605451"/>
                  <a:gd name="connsiteX71" fmla="*/ 92992 w 530849"/>
                  <a:gd name="connsiteY71" fmla="*/ 212729 h 605451"/>
                  <a:gd name="connsiteX72" fmla="*/ 82131 w 530849"/>
                  <a:gd name="connsiteY72" fmla="*/ 199937 h 605451"/>
                  <a:gd name="connsiteX73" fmla="*/ 82131 w 530849"/>
                  <a:gd name="connsiteY73" fmla="*/ 183067 h 605451"/>
                  <a:gd name="connsiteX74" fmla="*/ 82131 w 530849"/>
                  <a:gd name="connsiteY74" fmla="*/ 166105 h 605451"/>
                  <a:gd name="connsiteX75" fmla="*/ 92992 w 530849"/>
                  <a:gd name="connsiteY75" fmla="*/ 153220 h 605451"/>
                  <a:gd name="connsiteX76" fmla="*/ 126504 w 530849"/>
                  <a:gd name="connsiteY76" fmla="*/ 147937 h 605451"/>
                  <a:gd name="connsiteX77" fmla="*/ 141543 w 530849"/>
                  <a:gd name="connsiteY77" fmla="*/ 111231 h 605451"/>
                  <a:gd name="connsiteX78" fmla="*/ 121491 w 530849"/>
                  <a:gd name="connsiteY78" fmla="*/ 82960 h 605451"/>
                  <a:gd name="connsiteX79" fmla="*/ 122791 w 530849"/>
                  <a:gd name="connsiteY79" fmla="*/ 66090 h 605451"/>
                  <a:gd name="connsiteX80" fmla="*/ 134859 w 530849"/>
                  <a:gd name="connsiteY80" fmla="*/ 54132 h 605451"/>
                  <a:gd name="connsiteX81" fmla="*/ 146834 w 530849"/>
                  <a:gd name="connsiteY81" fmla="*/ 42175 h 605451"/>
                  <a:gd name="connsiteX82" fmla="*/ 163637 w 530849"/>
                  <a:gd name="connsiteY82" fmla="*/ 40785 h 605451"/>
                  <a:gd name="connsiteX83" fmla="*/ 191486 w 530849"/>
                  <a:gd name="connsiteY83" fmla="*/ 60528 h 605451"/>
                  <a:gd name="connsiteX84" fmla="*/ 228990 w 530849"/>
                  <a:gd name="connsiteY84" fmla="*/ 44863 h 605451"/>
                  <a:gd name="connsiteX85" fmla="*/ 234745 w 530849"/>
                  <a:gd name="connsiteY85" fmla="*/ 10845 h 605451"/>
                  <a:gd name="connsiteX86" fmla="*/ 247463 w 530849"/>
                  <a:gd name="connsiteY86" fmla="*/ 0 h 60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530849" h="605451">
                    <a:moveTo>
                      <a:pt x="172709" y="360519"/>
                    </a:moveTo>
                    <a:lnTo>
                      <a:pt x="222665" y="518492"/>
                    </a:lnTo>
                    <a:lnTo>
                      <a:pt x="229536" y="539907"/>
                    </a:lnTo>
                    <a:lnTo>
                      <a:pt x="251914" y="476496"/>
                    </a:lnTo>
                    <a:cubicBezTo>
                      <a:pt x="200380" y="404833"/>
                      <a:pt x="255907" y="401496"/>
                      <a:pt x="265378" y="401310"/>
                    </a:cubicBezTo>
                    <a:lnTo>
                      <a:pt x="265564" y="401310"/>
                    </a:lnTo>
                    <a:lnTo>
                      <a:pt x="265657" y="401310"/>
                    </a:lnTo>
                    <a:lnTo>
                      <a:pt x="265750" y="401310"/>
                    </a:lnTo>
                    <a:lnTo>
                      <a:pt x="265935" y="401310"/>
                    </a:lnTo>
                    <a:cubicBezTo>
                      <a:pt x="275406" y="401310"/>
                      <a:pt x="330933" y="404833"/>
                      <a:pt x="279399" y="476496"/>
                    </a:cubicBezTo>
                    <a:lnTo>
                      <a:pt x="301777" y="539907"/>
                    </a:lnTo>
                    <a:lnTo>
                      <a:pt x="308648" y="518492"/>
                    </a:lnTo>
                    <a:lnTo>
                      <a:pt x="358604" y="360519"/>
                    </a:lnTo>
                    <a:cubicBezTo>
                      <a:pt x="358604" y="360519"/>
                      <a:pt x="397510" y="385921"/>
                      <a:pt x="462415" y="410581"/>
                    </a:cubicBezTo>
                    <a:cubicBezTo>
                      <a:pt x="533820" y="436446"/>
                      <a:pt x="529456" y="495315"/>
                      <a:pt x="530849" y="605451"/>
                    </a:cubicBezTo>
                    <a:lnTo>
                      <a:pt x="0" y="605451"/>
                    </a:lnTo>
                    <a:cubicBezTo>
                      <a:pt x="1486" y="495315"/>
                      <a:pt x="-2971" y="436446"/>
                      <a:pt x="68898" y="410581"/>
                    </a:cubicBezTo>
                    <a:cubicBezTo>
                      <a:pt x="133803" y="385921"/>
                      <a:pt x="172709" y="360519"/>
                      <a:pt x="172709" y="360519"/>
                    </a:cubicBezTo>
                    <a:close/>
                    <a:moveTo>
                      <a:pt x="245328" y="111138"/>
                    </a:moveTo>
                    <a:cubicBezTo>
                      <a:pt x="242358" y="111138"/>
                      <a:pt x="240037" y="113455"/>
                      <a:pt x="240037" y="116422"/>
                    </a:cubicBezTo>
                    <a:lnTo>
                      <a:pt x="240037" y="184921"/>
                    </a:lnTo>
                    <a:lnTo>
                      <a:pt x="213951" y="184921"/>
                    </a:lnTo>
                    <a:cubicBezTo>
                      <a:pt x="211074" y="184921"/>
                      <a:pt x="209588" y="188073"/>
                      <a:pt x="211352" y="190297"/>
                    </a:cubicBezTo>
                    <a:lnTo>
                      <a:pt x="261481" y="251474"/>
                    </a:lnTo>
                    <a:cubicBezTo>
                      <a:pt x="263152" y="253513"/>
                      <a:pt x="266308" y="253513"/>
                      <a:pt x="267886" y="251474"/>
                    </a:cubicBezTo>
                    <a:lnTo>
                      <a:pt x="318108" y="190297"/>
                    </a:lnTo>
                    <a:cubicBezTo>
                      <a:pt x="319872" y="188073"/>
                      <a:pt x="318294" y="184921"/>
                      <a:pt x="315509" y="184921"/>
                    </a:cubicBezTo>
                    <a:lnTo>
                      <a:pt x="289423" y="184921"/>
                    </a:lnTo>
                    <a:lnTo>
                      <a:pt x="289423" y="116422"/>
                    </a:lnTo>
                    <a:cubicBezTo>
                      <a:pt x="289423" y="113455"/>
                      <a:pt x="287102" y="111138"/>
                      <a:pt x="284132" y="111138"/>
                    </a:cubicBezTo>
                    <a:close/>
                    <a:moveTo>
                      <a:pt x="247463" y="0"/>
                    </a:moveTo>
                    <a:lnTo>
                      <a:pt x="264451" y="0"/>
                    </a:lnTo>
                    <a:lnTo>
                      <a:pt x="281347" y="0"/>
                    </a:lnTo>
                    <a:cubicBezTo>
                      <a:pt x="287659" y="0"/>
                      <a:pt x="293136" y="4542"/>
                      <a:pt x="294250" y="10845"/>
                    </a:cubicBezTo>
                    <a:lnTo>
                      <a:pt x="300099" y="44863"/>
                    </a:lnTo>
                    <a:cubicBezTo>
                      <a:pt x="312909" y="48200"/>
                      <a:pt x="325163" y="53298"/>
                      <a:pt x="336860" y="60065"/>
                    </a:cubicBezTo>
                    <a:lnTo>
                      <a:pt x="364802" y="40043"/>
                    </a:lnTo>
                    <a:cubicBezTo>
                      <a:pt x="369908" y="36428"/>
                      <a:pt x="376963" y="37077"/>
                      <a:pt x="381512" y="41155"/>
                    </a:cubicBezTo>
                    <a:lnTo>
                      <a:pt x="393487" y="53113"/>
                    </a:lnTo>
                    <a:lnTo>
                      <a:pt x="405555" y="65163"/>
                    </a:lnTo>
                    <a:cubicBezTo>
                      <a:pt x="410104" y="69705"/>
                      <a:pt x="410753" y="76749"/>
                      <a:pt x="407040" y="81940"/>
                    </a:cubicBezTo>
                    <a:lnTo>
                      <a:pt x="387081" y="109840"/>
                    </a:lnTo>
                    <a:cubicBezTo>
                      <a:pt x="393858" y="121334"/>
                      <a:pt x="399057" y="133755"/>
                      <a:pt x="402306" y="146454"/>
                    </a:cubicBezTo>
                    <a:lnTo>
                      <a:pt x="436375" y="152108"/>
                    </a:lnTo>
                    <a:cubicBezTo>
                      <a:pt x="442687" y="153128"/>
                      <a:pt x="447236" y="158597"/>
                      <a:pt x="447236" y="164900"/>
                    </a:cubicBezTo>
                    <a:lnTo>
                      <a:pt x="447236" y="181770"/>
                    </a:lnTo>
                    <a:lnTo>
                      <a:pt x="447236" y="198732"/>
                    </a:lnTo>
                    <a:cubicBezTo>
                      <a:pt x="447236" y="205035"/>
                      <a:pt x="442687" y="210504"/>
                      <a:pt x="436375" y="211617"/>
                    </a:cubicBezTo>
                    <a:lnTo>
                      <a:pt x="402306" y="217363"/>
                    </a:lnTo>
                    <a:cubicBezTo>
                      <a:pt x="398964" y="230248"/>
                      <a:pt x="393858" y="242483"/>
                      <a:pt x="387081" y="254070"/>
                    </a:cubicBezTo>
                    <a:lnTo>
                      <a:pt x="407133" y="282063"/>
                    </a:lnTo>
                    <a:cubicBezTo>
                      <a:pt x="410846" y="287253"/>
                      <a:pt x="410196" y="294391"/>
                      <a:pt x="405740" y="298840"/>
                    </a:cubicBezTo>
                    <a:lnTo>
                      <a:pt x="393765" y="310797"/>
                    </a:lnTo>
                    <a:lnTo>
                      <a:pt x="381790" y="322847"/>
                    </a:lnTo>
                    <a:cubicBezTo>
                      <a:pt x="377148" y="327389"/>
                      <a:pt x="370093" y="328038"/>
                      <a:pt x="364895" y="324330"/>
                    </a:cubicBezTo>
                    <a:lnTo>
                      <a:pt x="336953" y="304401"/>
                    </a:lnTo>
                    <a:cubicBezTo>
                      <a:pt x="325720" y="310983"/>
                      <a:pt x="313559" y="315988"/>
                      <a:pt x="301213" y="319232"/>
                    </a:cubicBezTo>
                    <a:lnTo>
                      <a:pt x="295457" y="353343"/>
                    </a:lnTo>
                    <a:cubicBezTo>
                      <a:pt x="294529" y="359646"/>
                      <a:pt x="289052" y="364188"/>
                      <a:pt x="282739" y="364188"/>
                    </a:cubicBezTo>
                    <a:lnTo>
                      <a:pt x="265751" y="364188"/>
                    </a:lnTo>
                    <a:lnTo>
                      <a:pt x="248856" y="364188"/>
                    </a:lnTo>
                    <a:cubicBezTo>
                      <a:pt x="242543" y="364188"/>
                      <a:pt x="237066" y="359646"/>
                      <a:pt x="235952" y="353343"/>
                    </a:cubicBezTo>
                    <a:lnTo>
                      <a:pt x="230290" y="319696"/>
                    </a:lnTo>
                    <a:cubicBezTo>
                      <a:pt x="217665" y="316544"/>
                      <a:pt x="205132" y="311539"/>
                      <a:pt x="193528" y="304772"/>
                    </a:cubicBezTo>
                    <a:lnTo>
                      <a:pt x="165122" y="324794"/>
                    </a:lnTo>
                    <a:cubicBezTo>
                      <a:pt x="159924" y="328501"/>
                      <a:pt x="152776" y="327853"/>
                      <a:pt x="148320" y="323403"/>
                    </a:cubicBezTo>
                    <a:lnTo>
                      <a:pt x="136344" y="311446"/>
                    </a:lnTo>
                    <a:lnTo>
                      <a:pt x="124276" y="299489"/>
                    </a:lnTo>
                    <a:cubicBezTo>
                      <a:pt x="119728" y="294854"/>
                      <a:pt x="119078" y="287810"/>
                      <a:pt x="122791" y="282619"/>
                    </a:cubicBezTo>
                    <a:lnTo>
                      <a:pt x="142657" y="254811"/>
                    </a:lnTo>
                    <a:cubicBezTo>
                      <a:pt x="135695" y="243317"/>
                      <a:pt x="130496" y="231082"/>
                      <a:pt x="127154" y="218383"/>
                    </a:cubicBezTo>
                    <a:lnTo>
                      <a:pt x="92992" y="212729"/>
                    </a:lnTo>
                    <a:cubicBezTo>
                      <a:pt x="86680" y="211709"/>
                      <a:pt x="82131" y="206240"/>
                      <a:pt x="82131" y="199937"/>
                    </a:cubicBezTo>
                    <a:lnTo>
                      <a:pt x="82131" y="183067"/>
                    </a:lnTo>
                    <a:lnTo>
                      <a:pt x="82131" y="166105"/>
                    </a:lnTo>
                    <a:cubicBezTo>
                      <a:pt x="82131" y="159801"/>
                      <a:pt x="86680" y="154333"/>
                      <a:pt x="92992" y="153220"/>
                    </a:cubicBezTo>
                    <a:lnTo>
                      <a:pt x="126504" y="147937"/>
                    </a:lnTo>
                    <a:cubicBezTo>
                      <a:pt x="129753" y="135331"/>
                      <a:pt x="134673" y="122817"/>
                      <a:pt x="141543" y="111231"/>
                    </a:cubicBezTo>
                    <a:lnTo>
                      <a:pt x="121491" y="82960"/>
                    </a:lnTo>
                    <a:cubicBezTo>
                      <a:pt x="117778" y="77769"/>
                      <a:pt x="118335" y="70539"/>
                      <a:pt x="122791" y="66090"/>
                    </a:cubicBezTo>
                    <a:lnTo>
                      <a:pt x="134859" y="54132"/>
                    </a:lnTo>
                    <a:lnTo>
                      <a:pt x="146834" y="42175"/>
                    </a:lnTo>
                    <a:cubicBezTo>
                      <a:pt x="151383" y="37726"/>
                      <a:pt x="158438" y="37077"/>
                      <a:pt x="163637" y="40785"/>
                    </a:cubicBezTo>
                    <a:lnTo>
                      <a:pt x="191486" y="60528"/>
                    </a:lnTo>
                    <a:cubicBezTo>
                      <a:pt x="203369" y="53391"/>
                      <a:pt x="215994" y="48107"/>
                      <a:pt x="228990" y="44863"/>
                    </a:cubicBezTo>
                    <a:lnTo>
                      <a:pt x="234745" y="10845"/>
                    </a:lnTo>
                    <a:cubicBezTo>
                      <a:pt x="235674" y="4542"/>
                      <a:pt x="241151" y="0"/>
                      <a:pt x="247463" y="0"/>
                    </a:cubicBezTo>
                    <a:close/>
                  </a:path>
                </a:pathLst>
              </a:custGeom>
              <a:solidFill>
                <a:schemeClr val="tx1"/>
              </a:solidFill>
              <a:ln>
                <a:noFill/>
              </a:ln>
              <a:extLst/>
            </p:spPr>
            <p:txBody>
              <a:bodyPr vert="horz" wrap="square" lIns="129606" tIns="64803" rIns="129606" bIns="64803" numCol="1" anchor="t" anchorCtr="0" compatLnSpc="1">
                <a:prstTxWarp prst="textNoShape">
                  <a:avLst/>
                </a:prstTxWarp>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defTabSz="1270559">
                  <a:defRPr/>
                </a:pPr>
                <a:endParaRPr lang="en-US" sz="2000" kern="0" dirty="0">
                  <a:solidFill>
                    <a:schemeClr val="bg2">
                      <a:lumMod val="25000"/>
                    </a:schemeClr>
                  </a:solidFill>
                  <a:latin typeface="+mj-lt"/>
                </a:endParaRPr>
              </a:p>
            </p:txBody>
          </p:sp>
          <p:sp>
            <p:nvSpPr>
              <p:cNvPr id="144" name="Freeform 111">
                <a:extLst>
                  <a:ext uri="{FF2B5EF4-FFF2-40B4-BE49-F238E27FC236}">
                    <a16:creationId xmlns:a16="http://schemas.microsoft.com/office/drawing/2014/main" id="{0E694031-8CB2-45ED-8655-7E5F25C53059}"/>
                  </a:ext>
                </a:extLst>
              </p:cNvPr>
              <p:cNvSpPr>
                <a:spLocks noChangeAspect="1"/>
              </p:cNvSpPr>
              <p:nvPr/>
            </p:nvSpPr>
            <p:spPr bwMode="black">
              <a:xfrm>
                <a:off x="5211257" y="5447972"/>
                <a:ext cx="1226649" cy="969808"/>
              </a:xfrm>
              <a:custGeom>
                <a:avLst/>
                <a:gdLst>
                  <a:gd name="connsiteX0" fmla="*/ 520595 w 607639"/>
                  <a:gd name="connsiteY0" fmla="*/ 279163 h 480409"/>
                  <a:gd name="connsiteX1" fmla="*/ 550856 w 607639"/>
                  <a:gd name="connsiteY1" fmla="*/ 298274 h 480409"/>
                  <a:gd name="connsiteX2" fmla="*/ 555573 w 607639"/>
                  <a:gd name="connsiteY2" fmla="*/ 328675 h 480409"/>
                  <a:gd name="connsiteX3" fmla="*/ 582273 w 607639"/>
                  <a:gd name="connsiteY3" fmla="*/ 328675 h 480409"/>
                  <a:gd name="connsiteX4" fmla="*/ 607639 w 607639"/>
                  <a:gd name="connsiteY4" fmla="*/ 353919 h 480409"/>
                  <a:gd name="connsiteX5" fmla="*/ 607639 w 607639"/>
                  <a:gd name="connsiteY5" fmla="*/ 455075 h 480409"/>
                  <a:gd name="connsiteX6" fmla="*/ 582273 w 607639"/>
                  <a:gd name="connsiteY6" fmla="*/ 480409 h 480409"/>
                  <a:gd name="connsiteX7" fmla="*/ 480989 w 607639"/>
                  <a:gd name="connsiteY7" fmla="*/ 480409 h 480409"/>
                  <a:gd name="connsiteX8" fmla="*/ 455712 w 607639"/>
                  <a:gd name="connsiteY8" fmla="*/ 455075 h 480409"/>
                  <a:gd name="connsiteX9" fmla="*/ 455712 w 607639"/>
                  <a:gd name="connsiteY9" fmla="*/ 353919 h 480409"/>
                  <a:gd name="connsiteX10" fmla="*/ 480989 w 607639"/>
                  <a:gd name="connsiteY10" fmla="*/ 328675 h 480409"/>
                  <a:gd name="connsiteX11" fmla="*/ 504663 w 607639"/>
                  <a:gd name="connsiteY11" fmla="*/ 328675 h 480409"/>
                  <a:gd name="connsiteX12" fmla="*/ 501459 w 607639"/>
                  <a:gd name="connsiteY12" fmla="*/ 309386 h 480409"/>
                  <a:gd name="connsiteX13" fmla="*/ 520595 w 607639"/>
                  <a:gd name="connsiteY13" fmla="*/ 279163 h 480409"/>
                  <a:gd name="connsiteX14" fmla="*/ 87044 w 607639"/>
                  <a:gd name="connsiteY14" fmla="*/ 279163 h 480409"/>
                  <a:gd name="connsiteX15" fmla="*/ 106180 w 607639"/>
                  <a:gd name="connsiteY15" fmla="*/ 309386 h 480409"/>
                  <a:gd name="connsiteX16" fmla="*/ 102976 w 607639"/>
                  <a:gd name="connsiteY16" fmla="*/ 328675 h 480409"/>
                  <a:gd name="connsiteX17" fmla="*/ 126561 w 607639"/>
                  <a:gd name="connsiteY17" fmla="*/ 328675 h 480409"/>
                  <a:gd name="connsiteX18" fmla="*/ 151927 w 607639"/>
                  <a:gd name="connsiteY18" fmla="*/ 353919 h 480409"/>
                  <a:gd name="connsiteX19" fmla="*/ 151927 w 607639"/>
                  <a:gd name="connsiteY19" fmla="*/ 455075 h 480409"/>
                  <a:gd name="connsiteX20" fmla="*/ 126561 w 607639"/>
                  <a:gd name="connsiteY20" fmla="*/ 480409 h 480409"/>
                  <a:gd name="connsiteX21" fmla="*/ 25277 w 607639"/>
                  <a:gd name="connsiteY21" fmla="*/ 480409 h 480409"/>
                  <a:gd name="connsiteX22" fmla="*/ 0 w 607639"/>
                  <a:gd name="connsiteY22" fmla="*/ 455075 h 480409"/>
                  <a:gd name="connsiteX23" fmla="*/ 0 w 607639"/>
                  <a:gd name="connsiteY23" fmla="*/ 353919 h 480409"/>
                  <a:gd name="connsiteX24" fmla="*/ 25277 w 607639"/>
                  <a:gd name="connsiteY24" fmla="*/ 328675 h 480409"/>
                  <a:gd name="connsiteX25" fmla="*/ 52066 w 607639"/>
                  <a:gd name="connsiteY25" fmla="*/ 328675 h 480409"/>
                  <a:gd name="connsiteX26" fmla="*/ 56783 w 607639"/>
                  <a:gd name="connsiteY26" fmla="*/ 298274 h 480409"/>
                  <a:gd name="connsiteX27" fmla="*/ 87044 w 607639"/>
                  <a:gd name="connsiteY27" fmla="*/ 279163 h 480409"/>
                  <a:gd name="connsiteX28" fmla="*/ 444951 w 607639"/>
                  <a:gd name="connsiteY28" fmla="*/ 152182 h 480409"/>
                  <a:gd name="connsiteX29" fmla="*/ 463537 w 607639"/>
                  <a:gd name="connsiteY29" fmla="*/ 157693 h 480409"/>
                  <a:gd name="connsiteX30" fmla="*/ 502803 w 607639"/>
                  <a:gd name="connsiteY30" fmla="*/ 197604 h 480409"/>
                  <a:gd name="connsiteX31" fmla="*/ 498618 w 607639"/>
                  <a:gd name="connsiteY31" fmla="*/ 233160 h 480409"/>
                  <a:gd name="connsiteX32" fmla="*/ 482948 w 607639"/>
                  <a:gd name="connsiteY32" fmla="*/ 238582 h 480409"/>
                  <a:gd name="connsiteX33" fmla="*/ 463092 w 607639"/>
                  <a:gd name="connsiteY33" fmla="*/ 228982 h 480409"/>
                  <a:gd name="connsiteX34" fmla="*/ 431483 w 607639"/>
                  <a:gd name="connsiteY34" fmla="*/ 196982 h 480409"/>
                  <a:gd name="connsiteX35" fmla="*/ 427833 w 607639"/>
                  <a:gd name="connsiteY35" fmla="*/ 161337 h 480409"/>
                  <a:gd name="connsiteX36" fmla="*/ 444951 w 607639"/>
                  <a:gd name="connsiteY36" fmla="*/ 152182 h 480409"/>
                  <a:gd name="connsiteX37" fmla="*/ 162640 w 607639"/>
                  <a:gd name="connsiteY37" fmla="*/ 152182 h 480409"/>
                  <a:gd name="connsiteX38" fmla="*/ 179670 w 607639"/>
                  <a:gd name="connsiteY38" fmla="*/ 161337 h 480409"/>
                  <a:gd name="connsiteX39" fmla="*/ 176022 w 607639"/>
                  <a:gd name="connsiteY39" fmla="*/ 196982 h 480409"/>
                  <a:gd name="connsiteX40" fmla="*/ 144520 w 607639"/>
                  <a:gd name="connsiteY40" fmla="*/ 228893 h 480409"/>
                  <a:gd name="connsiteX41" fmla="*/ 124586 w 607639"/>
                  <a:gd name="connsiteY41" fmla="*/ 238582 h 480409"/>
                  <a:gd name="connsiteX42" fmla="*/ 108924 w 607639"/>
                  <a:gd name="connsiteY42" fmla="*/ 233160 h 480409"/>
                  <a:gd name="connsiteX43" fmla="*/ 104742 w 607639"/>
                  <a:gd name="connsiteY43" fmla="*/ 197693 h 480409"/>
                  <a:gd name="connsiteX44" fmla="*/ 144075 w 607639"/>
                  <a:gd name="connsiteY44" fmla="*/ 157693 h 480409"/>
                  <a:gd name="connsiteX45" fmla="*/ 162640 w 607639"/>
                  <a:gd name="connsiteY45" fmla="*/ 152182 h 480409"/>
                  <a:gd name="connsiteX46" fmla="*/ 253131 w 607639"/>
                  <a:gd name="connsiteY46" fmla="*/ 0 h 480409"/>
                  <a:gd name="connsiteX47" fmla="*/ 354419 w 607639"/>
                  <a:gd name="connsiteY47" fmla="*/ 0 h 480409"/>
                  <a:gd name="connsiteX48" fmla="*/ 379785 w 607639"/>
                  <a:gd name="connsiteY48" fmla="*/ 25337 h 480409"/>
                  <a:gd name="connsiteX49" fmla="*/ 379785 w 607639"/>
                  <a:gd name="connsiteY49" fmla="*/ 50585 h 480409"/>
                  <a:gd name="connsiteX50" fmla="*/ 513382 w 607639"/>
                  <a:gd name="connsiteY50" fmla="*/ 50585 h 480409"/>
                  <a:gd name="connsiteX51" fmla="*/ 556995 w 607639"/>
                  <a:gd name="connsiteY51" fmla="*/ 25337 h 480409"/>
                  <a:gd name="connsiteX52" fmla="*/ 607639 w 607639"/>
                  <a:gd name="connsiteY52" fmla="*/ 75833 h 480409"/>
                  <a:gd name="connsiteX53" fmla="*/ 556995 w 607639"/>
                  <a:gd name="connsiteY53" fmla="*/ 126417 h 480409"/>
                  <a:gd name="connsiteX54" fmla="*/ 513382 w 607639"/>
                  <a:gd name="connsiteY54" fmla="*/ 101169 h 480409"/>
                  <a:gd name="connsiteX55" fmla="*/ 379785 w 607639"/>
                  <a:gd name="connsiteY55" fmla="*/ 101169 h 480409"/>
                  <a:gd name="connsiteX56" fmla="*/ 379785 w 607639"/>
                  <a:gd name="connsiteY56" fmla="*/ 121261 h 480409"/>
                  <a:gd name="connsiteX57" fmla="*/ 382189 w 607639"/>
                  <a:gd name="connsiteY57" fmla="*/ 138774 h 480409"/>
                  <a:gd name="connsiteX58" fmla="*/ 357534 w 607639"/>
                  <a:gd name="connsiteY58" fmla="*/ 158066 h 480409"/>
                  <a:gd name="connsiteX59" fmla="*/ 351660 w 607639"/>
                  <a:gd name="connsiteY59" fmla="*/ 157444 h 480409"/>
                  <a:gd name="connsiteX60" fmla="*/ 306979 w 607639"/>
                  <a:gd name="connsiteY60" fmla="*/ 151754 h 480409"/>
                  <a:gd name="connsiteX61" fmla="*/ 306890 w 607639"/>
                  <a:gd name="connsiteY61" fmla="*/ 151754 h 480409"/>
                  <a:gd name="connsiteX62" fmla="*/ 300749 w 607639"/>
                  <a:gd name="connsiteY62" fmla="*/ 151754 h 480409"/>
                  <a:gd name="connsiteX63" fmla="*/ 300571 w 607639"/>
                  <a:gd name="connsiteY63" fmla="*/ 151754 h 480409"/>
                  <a:gd name="connsiteX64" fmla="*/ 255979 w 607639"/>
                  <a:gd name="connsiteY64" fmla="*/ 157444 h 480409"/>
                  <a:gd name="connsiteX65" fmla="*/ 250016 w 607639"/>
                  <a:gd name="connsiteY65" fmla="*/ 158066 h 480409"/>
                  <a:gd name="connsiteX66" fmla="*/ 225450 w 607639"/>
                  <a:gd name="connsiteY66" fmla="*/ 138774 h 480409"/>
                  <a:gd name="connsiteX67" fmla="*/ 227853 w 607639"/>
                  <a:gd name="connsiteY67" fmla="*/ 121261 h 480409"/>
                  <a:gd name="connsiteX68" fmla="*/ 227853 w 607639"/>
                  <a:gd name="connsiteY68" fmla="*/ 101169 h 480409"/>
                  <a:gd name="connsiteX69" fmla="*/ 94257 w 607639"/>
                  <a:gd name="connsiteY69" fmla="*/ 101169 h 480409"/>
                  <a:gd name="connsiteX70" fmla="*/ 50644 w 607639"/>
                  <a:gd name="connsiteY70" fmla="*/ 126417 h 480409"/>
                  <a:gd name="connsiteX71" fmla="*/ 0 w 607639"/>
                  <a:gd name="connsiteY71" fmla="*/ 75833 h 480409"/>
                  <a:gd name="connsiteX72" fmla="*/ 50644 w 607639"/>
                  <a:gd name="connsiteY72" fmla="*/ 25337 h 480409"/>
                  <a:gd name="connsiteX73" fmla="*/ 94257 w 607639"/>
                  <a:gd name="connsiteY73" fmla="*/ 50585 h 480409"/>
                  <a:gd name="connsiteX74" fmla="*/ 227853 w 607639"/>
                  <a:gd name="connsiteY74" fmla="*/ 50585 h 480409"/>
                  <a:gd name="connsiteX75" fmla="*/ 227853 w 607639"/>
                  <a:gd name="connsiteY75" fmla="*/ 25337 h 480409"/>
                  <a:gd name="connsiteX76" fmla="*/ 253131 w 607639"/>
                  <a:gd name="connsiteY76" fmla="*/ 0 h 48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7639" h="480409">
                    <a:moveTo>
                      <a:pt x="520595" y="279163"/>
                    </a:moveTo>
                    <a:cubicBezTo>
                      <a:pt x="534301" y="276052"/>
                      <a:pt x="547740" y="284585"/>
                      <a:pt x="550856" y="298274"/>
                    </a:cubicBezTo>
                    <a:cubicBezTo>
                      <a:pt x="553081" y="308230"/>
                      <a:pt x="554594" y="318363"/>
                      <a:pt x="555573" y="328675"/>
                    </a:cubicBezTo>
                    <a:lnTo>
                      <a:pt x="582273" y="328675"/>
                    </a:lnTo>
                    <a:cubicBezTo>
                      <a:pt x="596336" y="328675"/>
                      <a:pt x="607639" y="339964"/>
                      <a:pt x="607639" y="353919"/>
                    </a:cubicBezTo>
                    <a:lnTo>
                      <a:pt x="607639" y="455075"/>
                    </a:lnTo>
                    <a:cubicBezTo>
                      <a:pt x="607639" y="469031"/>
                      <a:pt x="596336" y="480409"/>
                      <a:pt x="582273" y="480409"/>
                    </a:cubicBezTo>
                    <a:lnTo>
                      <a:pt x="480989" y="480409"/>
                    </a:lnTo>
                    <a:cubicBezTo>
                      <a:pt x="467015" y="480409"/>
                      <a:pt x="455712" y="469031"/>
                      <a:pt x="455712" y="455075"/>
                    </a:cubicBezTo>
                    <a:lnTo>
                      <a:pt x="455712" y="353919"/>
                    </a:lnTo>
                    <a:cubicBezTo>
                      <a:pt x="455712" y="339964"/>
                      <a:pt x="467015" y="328675"/>
                      <a:pt x="480989" y="328675"/>
                    </a:cubicBezTo>
                    <a:lnTo>
                      <a:pt x="504663" y="328675"/>
                    </a:lnTo>
                    <a:cubicBezTo>
                      <a:pt x="503862" y="322186"/>
                      <a:pt x="502883" y="315697"/>
                      <a:pt x="501459" y="309386"/>
                    </a:cubicBezTo>
                    <a:cubicBezTo>
                      <a:pt x="498344" y="295697"/>
                      <a:pt x="506888" y="282185"/>
                      <a:pt x="520595" y="279163"/>
                    </a:cubicBezTo>
                    <a:close/>
                    <a:moveTo>
                      <a:pt x="87044" y="279163"/>
                    </a:moveTo>
                    <a:cubicBezTo>
                      <a:pt x="100662" y="282185"/>
                      <a:pt x="109206" y="295697"/>
                      <a:pt x="106180" y="309386"/>
                    </a:cubicBezTo>
                    <a:cubicBezTo>
                      <a:pt x="104756" y="315697"/>
                      <a:pt x="103777" y="322186"/>
                      <a:pt x="102976" y="328675"/>
                    </a:cubicBezTo>
                    <a:lnTo>
                      <a:pt x="126561" y="328675"/>
                    </a:lnTo>
                    <a:cubicBezTo>
                      <a:pt x="140624" y="328675"/>
                      <a:pt x="151927" y="339964"/>
                      <a:pt x="151927" y="353919"/>
                    </a:cubicBezTo>
                    <a:lnTo>
                      <a:pt x="151927" y="455075"/>
                    </a:lnTo>
                    <a:cubicBezTo>
                      <a:pt x="151927" y="469031"/>
                      <a:pt x="140624" y="480409"/>
                      <a:pt x="126561" y="480409"/>
                    </a:cubicBezTo>
                    <a:lnTo>
                      <a:pt x="25277" y="480409"/>
                    </a:lnTo>
                    <a:cubicBezTo>
                      <a:pt x="11303" y="480409"/>
                      <a:pt x="0" y="469031"/>
                      <a:pt x="0" y="455075"/>
                    </a:cubicBezTo>
                    <a:lnTo>
                      <a:pt x="0" y="353919"/>
                    </a:lnTo>
                    <a:cubicBezTo>
                      <a:pt x="0" y="339964"/>
                      <a:pt x="11303" y="328675"/>
                      <a:pt x="25277" y="328675"/>
                    </a:cubicBezTo>
                    <a:lnTo>
                      <a:pt x="52066" y="328675"/>
                    </a:lnTo>
                    <a:cubicBezTo>
                      <a:pt x="53045" y="318363"/>
                      <a:pt x="54558" y="308230"/>
                      <a:pt x="56783" y="298274"/>
                    </a:cubicBezTo>
                    <a:cubicBezTo>
                      <a:pt x="59810" y="284585"/>
                      <a:pt x="73249" y="276052"/>
                      <a:pt x="87044" y="279163"/>
                    </a:cubicBezTo>
                    <a:close/>
                    <a:moveTo>
                      <a:pt x="444951" y="152182"/>
                    </a:moveTo>
                    <a:cubicBezTo>
                      <a:pt x="451406" y="151515"/>
                      <a:pt x="458106" y="153293"/>
                      <a:pt x="463537" y="157693"/>
                    </a:cubicBezTo>
                    <a:cubicBezTo>
                      <a:pt x="478051" y="169515"/>
                      <a:pt x="491228" y="183026"/>
                      <a:pt x="502803" y="197604"/>
                    </a:cubicBezTo>
                    <a:cubicBezTo>
                      <a:pt x="511529" y="208626"/>
                      <a:pt x="509659" y="224538"/>
                      <a:pt x="498618" y="233160"/>
                    </a:cubicBezTo>
                    <a:cubicBezTo>
                      <a:pt x="493988" y="236804"/>
                      <a:pt x="488468" y="238582"/>
                      <a:pt x="482948" y="238582"/>
                    </a:cubicBezTo>
                    <a:cubicBezTo>
                      <a:pt x="475468" y="238582"/>
                      <a:pt x="468078" y="235293"/>
                      <a:pt x="463092" y="228982"/>
                    </a:cubicBezTo>
                    <a:cubicBezTo>
                      <a:pt x="453743" y="217160"/>
                      <a:pt x="443147" y="206404"/>
                      <a:pt x="431483" y="196982"/>
                    </a:cubicBezTo>
                    <a:cubicBezTo>
                      <a:pt x="420710" y="188093"/>
                      <a:pt x="419018" y="172182"/>
                      <a:pt x="427833" y="161337"/>
                    </a:cubicBezTo>
                    <a:cubicBezTo>
                      <a:pt x="432285" y="155960"/>
                      <a:pt x="438495" y="152849"/>
                      <a:pt x="444951" y="152182"/>
                    </a:cubicBezTo>
                    <a:close/>
                    <a:moveTo>
                      <a:pt x="162640" y="152182"/>
                    </a:moveTo>
                    <a:cubicBezTo>
                      <a:pt x="169080" y="152849"/>
                      <a:pt x="175265" y="155960"/>
                      <a:pt x="179670" y="161337"/>
                    </a:cubicBezTo>
                    <a:cubicBezTo>
                      <a:pt x="188480" y="172182"/>
                      <a:pt x="186878" y="188093"/>
                      <a:pt x="176022" y="196982"/>
                    </a:cubicBezTo>
                    <a:cubicBezTo>
                      <a:pt x="164453" y="206404"/>
                      <a:pt x="153775" y="217160"/>
                      <a:pt x="144520" y="228893"/>
                    </a:cubicBezTo>
                    <a:cubicBezTo>
                      <a:pt x="139536" y="235293"/>
                      <a:pt x="132061" y="238582"/>
                      <a:pt x="124586" y="238582"/>
                    </a:cubicBezTo>
                    <a:cubicBezTo>
                      <a:pt x="119158" y="238582"/>
                      <a:pt x="113641" y="236804"/>
                      <a:pt x="108924" y="233160"/>
                    </a:cubicBezTo>
                    <a:cubicBezTo>
                      <a:pt x="97979" y="224538"/>
                      <a:pt x="96110" y="208626"/>
                      <a:pt x="104742" y="197693"/>
                    </a:cubicBezTo>
                    <a:cubicBezTo>
                      <a:pt x="116310" y="183026"/>
                      <a:pt x="129570" y="169515"/>
                      <a:pt x="144075" y="157693"/>
                    </a:cubicBezTo>
                    <a:cubicBezTo>
                      <a:pt x="149503" y="153293"/>
                      <a:pt x="156199" y="151515"/>
                      <a:pt x="162640" y="152182"/>
                    </a:cubicBezTo>
                    <a:close/>
                    <a:moveTo>
                      <a:pt x="253131" y="0"/>
                    </a:moveTo>
                    <a:lnTo>
                      <a:pt x="354419" y="0"/>
                    </a:lnTo>
                    <a:cubicBezTo>
                      <a:pt x="368482" y="0"/>
                      <a:pt x="379785" y="11379"/>
                      <a:pt x="379785" y="25337"/>
                    </a:cubicBezTo>
                    <a:lnTo>
                      <a:pt x="379785" y="50585"/>
                    </a:lnTo>
                    <a:lnTo>
                      <a:pt x="513382" y="50585"/>
                    </a:lnTo>
                    <a:cubicBezTo>
                      <a:pt x="522105" y="35560"/>
                      <a:pt x="538304" y="25337"/>
                      <a:pt x="556995" y="25337"/>
                    </a:cubicBezTo>
                    <a:cubicBezTo>
                      <a:pt x="584943" y="25337"/>
                      <a:pt x="607639" y="47918"/>
                      <a:pt x="607639" y="75833"/>
                    </a:cubicBezTo>
                    <a:cubicBezTo>
                      <a:pt x="607639" y="103836"/>
                      <a:pt x="584943" y="126417"/>
                      <a:pt x="556995" y="126417"/>
                    </a:cubicBezTo>
                    <a:cubicBezTo>
                      <a:pt x="538304" y="126417"/>
                      <a:pt x="522105" y="116194"/>
                      <a:pt x="513382" y="101169"/>
                    </a:cubicBezTo>
                    <a:lnTo>
                      <a:pt x="379785" y="101169"/>
                    </a:lnTo>
                    <a:lnTo>
                      <a:pt x="379785" y="121261"/>
                    </a:lnTo>
                    <a:cubicBezTo>
                      <a:pt x="382456" y="126506"/>
                      <a:pt x="383613" y="132551"/>
                      <a:pt x="382189" y="138774"/>
                    </a:cubicBezTo>
                    <a:cubicBezTo>
                      <a:pt x="379340" y="150332"/>
                      <a:pt x="369016" y="158066"/>
                      <a:pt x="357534" y="158066"/>
                    </a:cubicBezTo>
                    <a:cubicBezTo>
                      <a:pt x="355576" y="158066"/>
                      <a:pt x="353618" y="157888"/>
                      <a:pt x="351660" y="157444"/>
                    </a:cubicBezTo>
                    <a:cubicBezTo>
                      <a:pt x="337152" y="153888"/>
                      <a:pt x="322110" y="152021"/>
                      <a:pt x="306979" y="151754"/>
                    </a:cubicBezTo>
                    <a:cubicBezTo>
                      <a:pt x="306979" y="151754"/>
                      <a:pt x="306979" y="151754"/>
                      <a:pt x="306890" y="151754"/>
                    </a:cubicBezTo>
                    <a:lnTo>
                      <a:pt x="300749" y="151754"/>
                    </a:lnTo>
                    <a:cubicBezTo>
                      <a:pt x="300660" y="151754"/>
                      <a:pt x="300660" y="151754"/>
                      <a:pt x="300571" y="151754"/>
                    </a:cubicBezTo>
                    <a:cubicBezTo>
                      <a:pt x="285440" y="152021"/>
                      <a:pt x="270487" y="153888"/>
                      <a:pt x="255979" y="157444"/>
                    </a:cubicBezTo>
                    <a:cubicBezTo>
                      <a:pt x="254021" y="157888"/>
                      <a:pt x="251974" y="158066"/>
                      <a:pt x="250016" y="158066"/>
                    </a:cubicBezTo>
                    <a:cubicBezTo>
                      <a:pt x="238623" y="158066"/>
                      <a:pt x="228299" y="150332"/>
                      <a:pt x="225450" y="138774"/>
                    </a:cubicBezTo>
                    <a:cubicBezTo>
                      <a:pt x="223937" y="132551"/>
                      <a:pt x="225094" y="126506"/>
                      <a:pt x="227853" y="121261"/>
                    </a:cubicBezTo>
                    <a:lnTo>
                      <a:pt x="227853" y="101169"/>
                    </a:lnTo>
                    <a:lnTo>
                      <a:pt x="94257" y="101169"/>
                    </a:lnTo>
                    <a:cubicBezTo>
                      <a:pt x="85445" y="116194"/>
                      <a:pt x="69335" y="126417"/>
                      <a:pt x="50644" y="126417"/>
                    </a:cubicBezTo>
                    <a:cubicBezTo>
                      <a:pt x="22696" y="126417"/>
                      <a:pt x="0" y="103836"/>
                      <a:pt x="0" y="75833"/>
                    </a:cubicBezTo>
                    <a:cubicBezTo>
                      <a:pt x="0" y="47918"/>
                      <a:pt x="22696" y="25337"/>
                      <a:pt x="50644" y="25337"/>
                    </a:cubicBezTo>
                    <a:cubicBezTo>
                      <a:pt x="69335" y="25337"/>
                      <a:pt x="85445" y="35560"/>
                      <a:pt x="94257" y="50585"/>
                    </a:cubicBezTo>
                    <a:lnTo>
                      <a:pt x="227853" y="50585"/>
                    </a:lnTo>
                    <a:lnTo>
                      <a:pt x="227853" y="25337"/>
                    </a:lnTo>
                    <a:cubicBezTo>
                      <a:pt x="227853" y="11379"/>
                      <a:pt x="239157" y="0"/>
                      <a:pt x="253131" y="0"/>
                    </a:cubicBez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254104" tIns="203283" rIns="254104" bIns="203283" numCol="1" spcCol="0" rtlCol="0" fromWordArt="0" anchor="t"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algn="ctr" defTabSz="1295670" fontAlgn="base">
                  <a:lnSpc>
                    <a:spcPct val="90000"/>
                  </a:lnSpc>
                  <a:spcBef>
                    <a:spcPct val="0"/>
                  </a:spcBef>
                  <a:spcAft>
                    <a:spcPct val="0"/>
                  </a:spcAft>
                  <a:defRPr/>
                </a:pPr>
                <a:endParaRPr lang="en-US" sz="2000" kern="0" dirty="0">
                  <a:solidFill>
                    <a:schemeClr val="bg2">
                      <a:lumMod val="25000"/>
                    </a:schemeClr>
                  </a:solidFill>
                  <a:latin typeface="+mj-lt"/>
                  <a:ea typeface="Segoe UI" pitchFamily="34" charset="0"/>
                  <a:cs typeface="Segoe UI" pitchFamily="34" charset="0"/>
                </a:endParaRPr>
              </a:p>
            </p:txBody>
          </p:sp>
          <p:sp>
            <p:nvSpPr>
              <p:cNvPr id="145" name="Freeform 124">
                <a:extLst>
                  <a:ext uri="{FF2B5EF4-FFF2-40B4-BE49-F238E27FC236}">
                    <a16:creationId xmlns:a16="http://schemas.microsoft.com/office/drawing/2014/main" id="{BD3FAE24-7AC5-45C8-8ABA-CEE50D55C51B}"/>
                  </a:ext>
                </a:extLst>
              </p:cNvPr>
              <p:cNvSpPr>
                <a:spLocks noChangeAspect="1" noEditPoints="1"/>
              </p:cNvSpPr>
              <p:nvPr/>
            </p:nvSpPr>
            <p:spPr bwMode="black">
              <a:xfrm>
                <a:off x="2440871" y="7411721"/>
                <a:ext cx="889779" cy="880646"/>
              </a:xfrm>
              <a:custGeom>
                <a:avLst/>
                <a:gdLst>
                  <a:gd name="connsiteX0" fmla="*/ 471767 w 609603"/>
                  <a:gd name="connsiteY0" fmla="*/ 525794 h 603346"/>
                  <a:gd name="connsiteX1" fmla="*/ 507767 w 609603"/>
                  <a:gd name="connsiteY1" fmla="*/ 531101 h 603346"/>
                  <a:gd name="connsiteX2" fmla="*/ 509502 w 609603"/>
                  <a:gd name="connsiteY2" fmla="*/ 531101 h 603346"/>
                  <a:gd name="connsiteX3" fmla="*/ 516116 w 609603"/>
                  <a:gd name="connsiteY3" fmla="*/ 603345 h 603346"/>
                  <a:gd name="connsiteX4" fmla="*/ 419935 w 609603"/>
                  <a:gd name="connsiteY4" fmla="*/ 603345 h 603346"/>
                  <a:gd name="connsiteX5" fmla="*/ 460923 w 609603"/>
                  <a:gd name="connsiteY5" fmla="*/ 551464 h 603346"/>
                  <a:gd name="connsiteX6" fmla="*/ 471767 w 609603"/>
                  <a:gd name="connsiteY6" fmla="*/ 525794 h 603346"/>
                  <a:gd name="connsiteX7" fmla="*/ 205706 w 609603"/>
                  <a:gd name="connsiteY7" fmla="*/ 359518 h 603346"/>
                  <a:gd name="connsiteX8" fmla="*/ 218299 w 609603"/>
                  <a:gd name="connsiteY8" fmla="*/ 365001 h 603346"/>
                  <a:gd name="connsiteX9" fmla="*/ 258098 w 609603"/>
                  <a:gd name="connsiteY9" fmla="*/ 404418 h 603346"/>
                  <a:gd name="connsiteX10" fmla="*/ 297680 w 609603"/>
                  <a:gd name="connsiteY10" fmla="*/ 365001 h 603346"/>
                  <a:gd name="connsiteX11" fmla="*/ 323273 w 609603"/>
                  <a:gd name="connsiteY11" fmla="*/ 364026 h 603346"/>
                  <a:gd name="connsiteX12" fmla="*/ 351794 w 609603"/>
                  <a:gd name="connsiteY12" fmla="*/ 387958 h 603346"/>
                  <a:gd name="connsiteX13" fmla="*/ 384002 w 609603"/>
                  <a:gd name="connsiteY13" fmla="*/ 400736 h 603346"/>
                  <a:gd name="connsiteX14" fmla="*/ 383785 w 609603"/>
                  <a:gd name="connsiteY14" fmla="*/ 408641 h 603346"/>
                  <a:gd name="connsiteX15" fmla="*/ 400811 w 609603"/>
                  <a:gd name="connsiteY15" fmla="*/ 469933 h 603346"/>
                  <a:gd name="connsiteX16" fmla="*/ 378255 w 609603"/>
                  <a:gd name="connsiteY16" fmla="*/ 486502 h 603346"/>
                  <a:gd name="connsiteX17" fmla="*/ 335419 w 609603"/>
                  <a:gd name="connsiteY17" fmla="*/ 540755 h 603346"/>
                  <a:gd name="connsiteX18" fmla="*/ 324574 w 609603"/>
                  <a:gd name="connsiteY18" fmla="*/ 579414 h 603346"/>
                  <a:gd name="connsiteX19" fmla="*/ 333575 w 609603"/>
                  <a:gd name="connsiteY19" fmla="*/ 603346 h 603346"/>
                  <a:gd name="connsiteX20" fmla="*/ 0 w 609603"/>
                  <a:gd name="connsiteY20" fmla="*/ 603346 h 603346"/>
                  <a:gd name="connsiteX21" fmla="*/ 42510 w 609603"/>
                  <a:gd name="connsiteY21" fmla="*/ 436472 h 603346"/>
                  <a:gd name="connsiteX22" fmla="*/ 164185 w 609603"/>
                  <a:gd name="connsiteY22" fmla="*/ 387958 h 603346"/>
                  <a:gd name="connsiteX23" fmla="*/ 192706 w 609603"/>
                  <a:gd name="connsiteY23" fmla="*/ 364026 h 603346"/>
                  <a:gd name="connsiteX24" fmla="*/ 205706 w 609603"/>
                  <a:gd name="connsiteY24" fmla="*/ 359518 h 603346"/>
                  <a:gd name="connsiteX25" fmla="*/ 499602 w 609603"/>
                  <a:gd name="connsiteY25" fmla="*/ 336329 h 603346"/>
                  <a:gd name="connsiteX26" fmla="*/ 451830 w 609603"/>
                  <a:gd name="connsiteY26" fmla="*/ 363039 h 603346"/>
                  <a:gd name="connsiteX27" fmla="*/ 463651 w 609603"/>
                  <a:gd name="connsiteY27" fmla="*/ 463328 h 603346"/>
                  <a:gd name="connsiteX28" fmla="*/ 564183 w 609603"/>
                  <a:gd name="connsiteY28" fmla="*/ 451523 h 603346"/>
                  <a:gd name="connsiteX29" fmla="*/ 552254 w 609603"/>
                  <a:gd name="connsiteY29" fmla="*/ 351126 h 603346"/>
                  <a:gd name="connsiteX30" fmla="*/ 499602 w 609603"/>
                  <a:gd name="connsiteY30" fmla="*/ 336329 h 603346"/>
                  <a:gd name="connsiteX31" fmla="*/ 496050 w 609603"/>
                  <a:gd name="connsiteY31" fmla="*/ 306477 h 603346"/>
                  <a:gd name="connsiteX32" fmla="*/ 570907 w 609603"/>
                  <a:gd name="connsiteY32" fmla="*/ 327515 h 603346"/>
                  <a:gd name="connsiteX33" fmla="*/ 587825 w 609603"/>
                  <a:gd name="connsiteY33" fmla="*/ 470152 h 603346"/>
                  <a:gd name="connsiteX34" fmla="*/ 464302 w 609603"/>
                  <a:gd name="connsiteY34" fmla="*/ 498960 h 603346"/>
                  <a:gd name="connsiteX35" fmla="*/ 449770 w 609603"/>
                  <a:gd name="connsiteY35" fmla="*/ 517372 h 603346"/>
                  <a:gd name="connsiteX36" fmla="*/ 443371 w 609603"/>
                  <a:gd name="connsiteY36" fmla="*/ 537625 h 603346"/>
                  <a:gd name="connsiteX37" fmla="*/ 400534 w 609603"/>
                  <a:gd name="connsiteY37" fmla="*/ 591885 h 603346"/>
                  <a:gd name="connsiteX38" fmla="*/ 358239 w 609603"/>
                  <a:gd name="connsiteY38" fmla="*/ 596867 h 603346"/>
                  <a:gd name="connsiteX39" fmla="*/ 353251 w 609603"/>
                  <a:gd name="connsiteY39" fmla="*/ 554629 h 603346"/>
                  <a:gd name="connsiteX40" fmla="*/ 396088 w 609603"/>
                  <a:gd name="connsiteY40" fmla="*/ 500368 h 603346"/>
                  <a:gd name="connsiteX41" fmla="*/ 414307 w 609603"/>
                  <a:gd name="connsiteY41" fmla="*/ 489430 h 603346"/>
                  <a:gd name="connsiteX42" fmla="*/ 428839 w 609603"/>
                  <a:gd name="connsiteY42" fmla="*/ 471018 h 603346"/>
                  <a:gd name="connsiteX43" fmla="*/ 428189 w 609603"/>
                  <a:gd name="connsiteY43" fmla="*/ 344411 h 603346"/>
                  <a:gd name="connsiteX44" fmla="*/ 496050 w 609603"/>
                  <a:gd name="connsiteY44" fmla="*/ 306477 h 603346"/>
                  <a:gd name="connsiteX45" fmla="*/ 126659 w 609603"/>
                  <a:gd name="connsiteY45" fmla="*/ 105930 h 603346"/>
                  <a:gd name="connsiteX46" fmla="*/ 164836 w 609603"/>
                  <a:gd name="connsiteY46" fmla="*/ 138855 h 603346"/>
                  <a:gd name="connsiteX47" fmla="*/ 258003 w 609603"/>
                  <a:gd name="connsiteY47" fmla="*/ 157268 h 603346"/>
                  <a:gd name="connsiteX48" fmla="*/ 351279 w 609603"/>
                  <a:gd name="connsiteY48" fmla="*/ 138855 h 603346"/>
                  <a:gd name="connsiteX49" fmla="*/ 389348 w 609603"/>
                  <a:gd name="connsiteY49" fmla="*/ 105930 h 603346"/>
                  <a:gd name="connsiteX50" fmla="*/ 430237 w 609603"/>
                  <a:gd name="connsiteY50" fmla="*/ 150119 h 603346"/>
                  <a:gd name="connsiteX51" fmla="*/ 379370 w 609603"/>
                  <a:gd name="connsiteY51" fmla="*/ 198641 h 603346"/>
                  <a:gd name="connsiteX52" fmla="*/ 258003 w 609603"/>
                  <a:gd name="connsiteY52" fmla="*/ 354603 h 603346"/>
                  <a:gd name="connsiteX53" fmla="*/ 136745 w 609603"/>
                  <a:gd name="connsiteY53" fmla="*/ 198641 h 603346"/>
                  <a:gd name="connsiteX54" fmla="*/ 85878 w 609603"/>
                  <a:gd name="connsiteY54" fmla="*/ 150119 h 603346"/>
                  <a:gd name="connsiteX55" fmla="*/ 126659 w 609603"/>
                  <a:gd name="connsiteY55" fmla="*/ 105930 h 603346"/>
                  <a:gd name="connsiteX56" fmla="*/ 200583 w 609603"/>
                  <a:gd name="connsiteY56" fmla="*/ 234 h 603346"/>
                  <a:gd name="connsiteX57" fmla="*/ 258004 w 609603"/>
                  <a:gd name="connsiteY57" fmla="*/ 26120 h 603346"/>
                  <a:gd name="connsiteX58" fmla="*/ 370811 w 609603"/>
                  <a:gd name="connsiteY58" fmla="*/ 98471 h 603346"/>
                  <a:gd name="connsiteX59" fmla="*/ 371245 w 609603"/>
                  <a:gd name="connsiteY59" fmla="*/ 98580 h 603346"/>
                  <a:gd name="connsiteX60" fmla="*/ 342934 w 609603"/>
                  <a:gd name="connsiteY60" fmla="*/ 121325 h 603346"/>
                  <a:gd name="connsiteX61" fmla="*/ 258004 w 609603"/>
                  <a:gd name="connsiteY61" fmla="*/ 137896 h 603346"/>
                  <a:gd name="connsiteX62" fmla="*/ 173073 w 609603"/>
                  <a:gd name="connsiteY62" fmla="*/ 121325 h 603346"/>
                  <a:gd name="connsiteX63" fmla="*/ 144871 w 609603"/>
                  <a:gd name="connsiteY63" fmla="*/ 98580 h 603346"/>
                  <a:gd name="connsiteX64" fmla="*/ 145196 w 609603"/>
                  <a:gd name="connsiteY64" fmla="*/ 98471 h 603346"/>
                  <a:gd name="connsiteX65" fmla="*/ 200583 w 609603"/>
                  <a:gd name="connsiteY65" fmla="*/ 234 h 603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9603" h="603346">
                    <a:moveTo>
                      <a:pt x="471767" y="525794"/>
                    </a:moveTo>
                    <a:cubicBezTo>
                      <a:pt x="483369" y="529260"/>
                      <a:pt x="495622" y="531101"/>
                      <a:pt x="507767" y="531101"/>
                    </a:cubicBezTo>
                    <a:cubicBezTo>
                      <a:pt x="508417" y="531101"/>
                      <a:pt x="508960" y="531101"/>
                      <a:pt x="509502" y="531101"/>
                    </a:cubicBezTo>
                    <a:cubicBezTo>
                      <a:pt x="513731" y="565653"/>
                      <a:pt x="514598" y="597496"/>
                      <a:pt x="516116" y="603345"/>
                    </a:cubicBezTo>
                    <a:lnTo>
                      <a:pt x="419935" y="603345"/>
                    </a:lnTo>
                    <a:lnTo>
                      <a:pt x="460923" y="551464"/>
                    </a:lnTo>
                    <a:cubicBezTo>
                      <a:pt x="466779" y="543990"/>
                      <a:pt x="470574" y="535109"/>
                      <a:pt x="471767" y="525794"/>
                    </a:cubicBezTo>
                    <a:close/>
                    <a:moveTo>
                      <a:pt x="205706" y="359518"/>
                    </a:moveTo>
                    <a:cubicBezTo>
                      <a:pt x="210301" y="359694"/>
                      <a:pt x="214829" y="361535"/>
                      <a:pt x="218299" y="365001"/>
                    </a:cubicBezTo>
                    <a:lnTo>
                      <a:pt x="258098" y="404418"/>
                    </a:lnTo>
                    <a:lnTo>
                      <a:pt x="297680" y="365001"/>
                    </a:lnTo>
                    <a:cubicBezTo>
                      <a:pt x="304620" y="358070"/>
                      <a:pt x="315790" y="357637"/>
                      <a:pt x="323273" y="364026"/>
                    </a:cubicBezTo>
                    <a:lnTo>
                      <a:pt x="351794" y="387958"/>
                    </a:lnTo>
                    <a:lnTo>
                      <a:pt x="384002" y="400736"/>
                    </a:lnTo>
                    <a:cubicBezTo>
                      <a:pt x="383894" y="403443"/>
                      <a:pt x="383785" y="406042"/>
                      <a:pt x="383785" y="408641"/>
                    </a:cubicBezTo>
                    <a:cubicBezTo>
                      <a:pt x="384002" y="430299"/>
                      <a:pt x="389967" y="451524"/>
                      <a:pt x="400811" y="469933"/>
                    </a:cubicBezTo>
                    <a:cubicBezTo>
                      <a:pt x="392027" y="473290"/>
                      <a:pt x="384219" y="479030"/>
                      <a:pt x="378255" y="486502"/>
                    </a:cubicBezTo>
                    <a:lnTo>
                      <a:pt x="335419" y="540755"/>
                    </a:lnTo>
                    <a:cubicBezTo>
                      <a:pt x="326743" y="551692"/>
                      <a:pt x="322839" y="565445"/>
                      <a:pt x="324574" y="579414"/>
                    </a:cubicBezTo>
                    <a:cubicBezTo>
                      <a:pt x="325550" y="588185"/>
                      <a:pt x="328695" y="596307"/>
                      <a:pt x="333575" y="603346"/>
                    </a:cubicBezTo>
                    <a:lnTo>
                      <a:pt x="0" y="603346"/>
                    </a:lnTo>
                    <a:cubicBezTo>
                      <a:pt x="3362" y="590568"/>
                      <a:pt x="3362" y="452065"/>
                      <a:pt x="42510" y="436472"/>
                    </a:cubicBezTo>
                    <a:lnTo>
                      <a:pt x="164185" y="387958"/>
                    </a:lnTo>
                    <a:lnTo>
                      <a:pt x="192706" y="364026"/>
                    </a:lnTo>
                    <a:cubicBezTo>
                      <a:pt x="196447" y="360831"/>
                      <a:pt x="201110" y="359342"/>
                      <a:pt x="205706" y="359518"/>
                    </a:cubicBezTo>
                    <a:close/>
                    <a:moveTo>
                      <a:pt x="499602" y="336329"/>
                    </a:moveTo>
                    <a:cubicBezTo>
                      <a:pt x="481410" y="338481"/>
                      <a:pt x="464031" y="347552"/>
                      <a:pt x="451830" y="363039"/>
                    </a:cubicBezTo>
                    <a:cubicBezTo>
                      <a:pt x="427430" y="393906"/>
                      <a:pt x="432744" y="438960"/>
                      <a:pt x="463651" y="463328"/>
                    </a:cubicBezTo>
                    <a:cubicBezTo>
                      <a:pt x="494668" y="487697"/>
                      <a:pt x="539674" y="482390"/>
                      <a:pt x="564183" y="451523"/>
                    </a:cubicBezTo>
                    <a:cubicBezTo>
                      <a:pt x="588584" y="420548"/>
                      <a:pt x="583270" y="375494"/>
                      <a:pt x="552254" y="351126"/>
                    </a:cubicBezTo>
                    <a:cubicBezTo>
                      <a:pt x="536800" y="338942"/>
                      <a:pt x="517794" y="334176"/>
                      <a:pt x="499602" y="336329"/>
                    </a:cubicBezTo>
                    <a:close/>
                    <a:moveTo>
                      <a:pt x="496050" y="306477"/>
                    </a:moveTo>
                    <a:cubicBezTo>
                      <a:pt x="521888" y="303418"/>
                      <a:pt x="548892" y="310187"/>
                      <a:pt x="570907" y="327515"/>
                    </a:cubicBezTo>
                    <a:cubicBezTo>
                      <a:pt x="614937" y="362173"/>
                      <a:pt x="622528" y="426180"/>
                      <a:pt x="587825" y="470152"/>
                    </a:cubicBezTo>
                    <a:cubicBezTo>
                      <a:pt x="557893" y="507950"/>
                      <a:pt x="506163" y="518780"/>
                      <a:pt x="464302" y="498960"/>
                    </a:cubicBezTo>
                    <a:lnTo>
                      <a:pt x="449770" y="517372"/>
                    </a:lnTo>
                    <a:cubicBezTo>
                      <a:pt x="450204" y="524412"/>
                      <a:pt x="448035" y="531668"/>
                      <a:pt x="443371" y="537625"/>
                    </a:cubicBezTo>
                    <a:lnTo>
                      <a:pt x="400534" y="591885"/>
                    </a:lnTo>
                    <a:cubicBezTo>
                      <a:pt x="390232" y="604882"/>
                      <a:pt x="371253" y="607156"/>
                      <a:pt x="358239" y="596867"/>
                    </a:cubicBezTo>
                    <a:cubicBezTo>
                      <a:pt x="345117" y="586578"/>
                      <a:pt x="342948" y="567625"/>
                      <a:pt x="353251" y="554629"/>
                    </a:cubicBezTo>
                    <a:lnTo>
                      <a:pt x="396088" y="500368"/>
                    </a:lnTo>
                    <a:cubicBezTo>
                      <a:pt x="400751" y="494412"/>
                      <a:pt x="407367" y="490729"/>
                      <a:pt x="414307" y="489430"/>
                    </a:cubicBezTo>
                    <a:lnTo>
                      <a:pt x="428839" y="471018"/>
                    </a:lnTo>
                    <a:cubicBezTo>
                      <a:pt x="399775" y="434953"/>
                      <a:pt x="398257" y="382209"/>
                      <a:pt x="428189" y="344411"/>
                    </a:cubicBezTo>
                    <a:cubicBezTo>
                      <a:pt x="445541" y="322425"/>
                      <a:pt x="470213" y="309537"/>
                      <a:pt x="496050" y="306477"/>
                    </a:cubicBezTo>
                    <a:close/>
                    <a:moveTo>
                      <a:pt x="126659" y="105930"/>
                    </a:moveTo>
                    <a:cubicBezTo>
                      <a:pt x="132949" y="118602"/>
                      <a:pt x="145964" y="129866"/>
                      <a:pt x="164836" y="138855"/>
                    </a:cubicBezTo>
                    <a:cubicBezTo>
                      <a:pt x="189890" y="150769"/>
                      <a:pt x="222971" y="157268"/>
                      <a:pt x="258003" y="157268"/>
                    </a:cubicBezTo>
                    <a:cubicBezTo>
                      <a:pt x="293144" y="157268"/>
                      <a:pt x="326224" y="150769"/>
                      <a:pt x="351279" y="138855"/>
                    </a:cubicBezTo>
                    <a:cubicBezTo>
                      <a:pt x="370042" y="129866"/>
                      <a:pt x="383057" y="118602"/>
                      <a:pt x="389348" y="105930"/>
                    </a:cubicBezTo>
                    <a:cubicBezTo>
                      <a:pt x="414836" y="117844"/>
                      <a:pt x="430237" y="133223"/>
                      <a:pt x="430237" y="150119"/>
                    </a:cubicBezTo>
                    <a:cubicBezTo>
                      <a:pt x="430237" y="169073"/>
                      <a:pt x="410715" y="186294"/>
                      <a:pt x="379370" y="198641"/>
                    </a:cubicBezTo>
                    <a:cubicBezTo>
                      <a:pt x="373947" y="296767"/>
                      <a:pt x="322753" y="354603"/>
                      <a:pt x="258003" y="354603"/>
                    </a:cubicBezTo>
                    <a:cubicBezTo>
                      <a:pt x="193253" y="354603"/>
                      <a:pt x="142060" y="296767"/>
                      <a:pt x="136745" y="198641"/>
                    </a:cubicBezTo>
                    <a:cubicBezTo>
                      <a:pt x="105292" y="186186"/>
                      <a:pt x="85878" y="169073"/>
                      <a:pt x="85878" y="150119"/>
                    </a:cubicBezTo>
                    <a:cubicBezTo>
                      <a:pt x="85878" y="133223"/>
                      <a:pt x="101279" y="117844"/>
                      <a:pt x="126659" y="105930"/>
                    </a:cubicBezTo>
                    <a:close/>
                    <a:moveTo>
                      <a:pt x="200583" y="234"/>
                    </a:moveTo>
                    <a:cubicBezTo>
                      <a:pt x="225029" y="2834"/>
                      <a:pt x="249814" y="26120"/>
                      <a:pt x="258004" y="26120"/>
                    </a:cubicBezTo>
                    <a:cubicBezTo>
                      <a:pt x="274382" y="26120"/>
                      <a:pt x="357253" y="-67026"/>
                      <a:pt x="370811" y="98471"/>
                    </a:cubicBezTo>
                    <a:cubicBezTo>
                      <a:pt x="371028" y="98471"/>
                      <a:pt x="371137" y="98580"/>
                      <a:pt x="371245" y="98580"/>
                    </a:cubicBezTo>
                    <a:cubicBezTo>
                      <a:pt x="366690" y="106811"/>
                      <a:pt x="356927" y="114718"/>
                      <a:pt x="342934" y="121325"/>
                    </a:cubicBezTo>
                    <a:cubicBezTo>
                      <a:pt x="320481" y="132047"/>
                      <a:pt x="290327" y="137896"/>
                      <a:pt x="258004" y="137896"/>
                    </a:cubicBezTo>
                    <a:cubicBezTo>
                      <a:pt x="225788" y="137896"/>
                      <a:pt x="195634" y="132047"/>
                      <a:pt x="173073" y="121325"/>
                    </a:cubicBezTo>
                    <a:cubicBezTo>
                      <a:pt x="159189" y="114718"/>
                      <a:pt x="149426" y="106811"/>
                      <a:pt x="144871" y="98580"/>
                    </a:cubicBezTo>
                    <a:cubicBezTo>
                      <a:pt x="144979" y="98580"/>
                      <a:pt x="145088" y="98471"/>
                      <a:pt x="145196" y="98471"/>
                    </a:cubicBezTo>
                    <a:cubicBezTo>
                      <a:pt x="152030" y="15723"/>
                      <a:pt x="176137" y="-2365"/>
                      <a:pt x="200583" y="234"/>
                    </a:cubicBezTo>
                    <a:close/>
                  </a:path>
                </a:pathLst>
              </a:custGeom>
              <a:solidFill>
                <a:schemeClr val="tx1"/>
              </a:solidFill>
              <a:ln>
                <a:noFill/>
              </a:ln>
              <a:extLst/>
            </p:spPr>
            <p:txBody>
              <a:bodyPr vert="horz" wrap="square" lIns="129606" tIns="64803" rIns="129606" bIns="64803" numCol="1" anchor="t" anchorCtr="0" compatLnSpc="1">
                <a:prstTxWarp prst="textNoShape">
                  <a:avLst/>
                </a:prstTxWarp>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defTabSz="1270559">
                  <a:defRPr/>
                </a:pPr>
                <a:endParaRPr lang="en-US" sz="2000" kern="0" dirty="0">
                  <a:solidFill>
                    <a:schemeClr val="bg2">
                      <a:lumMod val="25000"/>
                    </a:schemeClr>
                  </a:solidFill>
                  <a:latin typeface="+mj-lt"/>
                </a:endParaRPr>
              </a:p>
            </p:txBody>
          </p:sp>
          <p:sp>
            <p:nvSpPr>
              <p:cNvPr id="146" name="Rectangle 44">
                <a:extLst>
                  <a:ext uri="{FF2B5EF4-FFF2-40B4-BE49-F238E27FC236}">
                    <a16:creationId xmlns:a16="http://schemas.microsoft.com/office/drawing/2014/main" id="{9DC60A01-BE28-4E6B-8BB8-B839CF28D1D0}"/>
                  </a:ext>
                </a:extLst>
              </p:cNvPr>
              <p:cNvSpPr/>
              <p:nvPr/>
            </p:nvSpPr>
            <p:spPr>
              <a:xfrm>
                <a:off x="1240093" y="6555397"/>
                <a:ext cx="3153647" cy="707886"/>
              </a:xfrm>
              <a:prstGeom prst="rect">
                <a:avLst/>
              </a:prstGeom>
            </p:spPr>
            <p:txBody>
              <a:bodyPr wrap="square">
                <a:spAutoFit/>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defTabSz="1270559">
                  <a:defRPr/>
                </a:pPr>
                <a:r>
                  <a:rPr lang="zh-CN" altLang="en-US" sz="2000" kern="0" dirty="0">
                    <a:solidFill>
                      <a:schemeClr val="bg2">
                        <a:lumMod val="25000"/>
                      </a:schemeClr>
                    </a:solidFill>
                    <a:latin typeface="+mj-lt"/>
                  </a:rPr>
                  <a:t>权利低、可预测性较高</a:t>
                </a:r>
                <a:endParaRPr lang="en-US" altLang="zh-CN" sz="2000" kern="0" dirty="0">
                  <a:solidFill>
                    <a:schemeClr val="bg2">
                      <a:lumMod val="25000"/>
                    </a:schemeClr>
                  </a:solidFill>
                  <a:latin typeface="+mj-lt"/>
                </a:endParaRPr>
              </a:p>
              <a:p>
                <a:pPr algn="ctr" defTabSz="1270559">
                  <a:defRPr/>
                </a:pPr>
                <a:r>
                  <a:rPr lang="zh-CN" altLang="en-US" sz="2000" kern="0" dirty="0">
                    <a:solidFill>
                      <a:schemeClr val="bg2">
                        <a:lumMod val="25000"/>
                      </a:schemeClr>
                    </a:solidFill>
                    <a:latin typeface="+mj-lt"/>
                  </a:rPr>
                  <a:t>忠诚度好的相关者</a:t>
                </a:r>
                <a:endParaRPr lang="en-US" sz="2000" kern="0" dirty="0">
                  <a:solidFill>
                    <a:schemeClr val="bg2">
                      <a:lumMod val="25000"/>
                    </a:schemeClr>
                  </a:solidFill>
                  <a:latin typeface="+mj-lt"/>
                </a:endParaRPr>
              </a:p>
            </p:txBody>
          </p:sp>
        </p:grpSp>
        <p:sp>
          <p:nvSpPr>
            <p:cNvPr id="136" name="文本框 33">
              <a:extLst>
                <a:ext uri="{FF2B5EF4-FFF2-40B4-BE49-F238E27FC236}">
                  <a16:creationId xmlns:a16="http://schemas.microsoft.com/office/drawing/2014/main" id="{A6ECDFEA-90E4-417E-8F87-F0746DEA2ECB}"/>
                </a:ext>
              </a:extLst>
            </p:cNvPr>
            <p:cNvSpPr txBox="1"/>
            <p:nvPr/>
          </p:nvSpPr>
          <p:spPr>
            <a:xfrm>
              <a:off x="4056666" y="6736986"/>
              <a:ext cx="660885" cy="1082193"/>
            </a:xfrm>
            <a:prstGeom prst="rect">
              <a:avLst/>
            </a:prstGeom>
            <a:noFill/>
          </p:spPr>
          <p:txBody>
            <a:bodyPr wrap="none" rtlCol="0">
              <a:spAutoFit/>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a:r>
                <a:rPr lang="en-US" altLang="zh-CN" sz="3200" b="1" dirty="0">
                  <a:solidFill>
                    <a:schemeClr val="tx1">
                      <a:lumMod val="50000"/>
                      <a:lumOff val="50000"/>
                    </a:schemeClr>
                  </a:solidFill>
                </a:rPr>
                <a:t>A B</a:t>
              </a:r>
            </a:p>
            <a:p>
              <a:pPr algn="ctr"/>
              <a:r>
                <a:rPr lang="en-US" altLang="zh-CN" sz="3200" b="1" dirty="0">
                  <a:solidFill>
                    <a:schemeClr val="tx1">
                      <a:lumMod val="50000"/>
                      <a:lumOff val="50000"/>
                    </a:schemeClr>
                  </a:solidFill>
                </a:rPr>
                <a:t>C D</a:t>
              </a:r>
              <a:endParaRPr lang="zh-CN" altLang="en-US" sz="3200" b="1" dirty="0">
                <a:solidFill>
                  <a:schemeClr val="tx1">
                    <a:lumMod val="50000"/>
                    <a:lumOff val="50000"/>
                  </a:schemeClr>
                </a:solidFill>
              </a:endParaRPr>
            </a:p>
          </p:txBody>
        </p:sp>
      </p:grpSp>
      <p:grpSp>
        <p:nvGrpSpPr>
          <p:cNvPr id="198" name="组合 197">
            <a:extLst>
              <a:ext uri="{FF2B5EF4-FFF2-40B4-BE49-F238E27FC236}">
                <a16:creationId xmlns:a16="http://schemas.microsoft.com/office/drawing/2014/main" id="{33DB4C03-D292-4569-83AF-0564D9D407F5}"/>
              </a:ext>
            </a:extLst>
          </p:cNvPr>
          <p:cNvGrpSpPr/>
          <p:nvPr/>
        </p:nvGrpSpPr>
        <p:grpSpPr>
          <a:xfrm>
            <a:off x="8663599" y="5080000"/>
            <a:ext cx="8760803" cy="4414057"/>
            <a:chOff x="1337867" y="5080253"/>
            <a:chExt cx="6498034" cy="4434443"/>
          </a:xfrm>
        </p:grpSpPr>
        <p:sp>
          <p:nvSpPr>
            <p:cNvPr id="199" name="矩形 198">
              <a:extLst>
                <a:ext uri="{FF2B5EF4-FFF2-40B4-BE49-F238E27FC236}">
                  <a16:creationId xmlns:a16="http://schemas.microsoft.com/office/drawing/2014/main" id="{363C15EE-F20F-4516-93AA-1EE83F952C19}"/>
                </a:ext>
              </a:extLst>
            </p:cNvPr>
            <p:cNvSpPr/>
            <p:nvPr/>
          </p:nvSpPr>
          <p:spPr>
            <a:xfrm>
              <a:off x="1562101" y="5093493"/>
              <a:ext cx="2819172" cy="2213549"/>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algn="ctr"/>
              <a:endParaRPr lang="zh-CN" altLang="en-US"/>
            </a:p>
          </p:txBody>
        </p:sp>
        <p:sp>
          <p:nvSpPr>
            <p:cNvPr id="200" name="矩形 199">
              <a:extLst>
                <a:ext uri="{FF2B5EF4-FFF2-40B4-BE49-F238E27FC236}">
                  <a16:creationId xmlns:a16="http://schemas.microsoft.com/office/drawing/2014/main" id="{0B2BA8FA-E571-4AD0-B4E7-A95F3EBF1E64}"/>
                </a:ext>
              </a:extLst>
            </p:cNvPr>
            <p:cNvSpPr/>
            <p:nvPr/>
          </p:nvSpPr>
          <p:spPr>
            <a:xfrm>
              <a:off x="4392943" y="5080253"/>
              <a:ext cx="2819172" cy="2213549"/>
            </a:xfrm>
            <a:prstGeom prst="rect">
              <a:avLst/>
            </a:prstGeom>
            <a:solidFill>
              <a:srgbClr val="00B05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algn="ctr"/>
              <a:endParaRPr lang="zh-CN" altLang="en-US"/>
            </a:p>
          </p:txBody>
        </p:sp>
        <p:sp>
          <p:nvSpPr>
            <p:cNvPr id="201" name="矩形 200">
              <a:extLst>
                <a:ext uri="{FF2B5EF4-FFF2-40B4-BE49-F238E27FC236}">
                  <a16:creationId xmlns:a16="http://schemas.microsoft.com/office/drawing/2014/main" id="{9E8CE950-6955-4217-A79C-E91076019CA4}"/>
                </a:ext>
              </a:extLst>
            </p:cNvPr>
            <p:cNvSpPr/>
            <p:nvPr/>
          </p:nvSpPr>
          <p:spPr>
            <a:xfrm>
              <a:off x="1550037" y="7301147"/>
              <a:ext cx="2819172" cy="2213549"/>
            </a:xfrm>
            <a:prstGeom prst="rect">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algn="ctr"/>
              <a:endParaRPr lang="zh-CN" altLang="en-US"/>
            </a:p>
          </p:txBody>
        </p:sp>
        <p:sp>
          <p:nvSpPr>
            <p:cNvPr id="202" name="矩形 201">
              <a:extLst>
                <a:ext uri="{FF2B5EF4-FFF2-40B4-BE49-F238E27FC236}">
                  <a16:creationId xmlns:a16="http://schemas.microsoft.com/office/drawing/2014/main" id="{A4ED499D-8BE0-4D82-98CB-11C33A463670}"/>
                </a:ext>
              </a:extLst>
            </p:cNvPr>
            <p:cNvSpPr/>
            <p:nvPr/>
          </p:nvSpPr>
          <p:spPr>
            <a:xfrm>
              <a:off x="4380879" y="7287907"/>
              <a:ext cx="2819171" cy="2213549"/>
            </a:xfrm>
            <a:prstGeom prst="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algn="ctr"/>
              <a:endParaRPr lang="zh-CN" altLang="en-US"/>
            </a:p>
          </p:txBody>
        </p:sp>
        <p:grpSp>
          <p:nvGrpSpPr>
            <p:cNvPr id="203" name="组合 202">
              <a:extLst>
                <a:ext uri="{FF2B5EF4-FFF2-40B4-BE49-F238E27FC236}">
                  <a16:creationId xmlns:a16="http://schemas.microsoft.com/office/drawing/2014/main" id="{648DD3F5-B7EE-4A61-BFB7-9E15A7E42A9E}"/>
                </a:ext>
              </a:extLst>
            </p:cNvPr>
            <p:cNvGrpSpPr/>
            <p:nvPr/>
          </p:nvGrpSpPr>
          <p:grpSpPr>
            <a:xfrm>
              <a:off x="1337867" y="5093493"/>
              <a:ext cx="6498034" cy="4165520"/>
              <a:chOff x="1337867" y="5093493"/>
              <a:chExt cx="6498034" cy="4165520"/>
            </a:xfrm>
          </p:grpSpPr>
          <p:cxnSp>
            <p:nvCxnSpPr>
              <p:cNvPr id="205" name="Straight Connector 34">
                <a:extLst>
                  <a:ext uri="{FF2B5EF4-FFF2-40B4-BE49-F238E27FC236}">
                    <a16:creationId xmlns:a16="http://schemas.microsoft.com/office/drawing/2014/main" id="{C53AC543-BF2A-45C6-A121-FB0B95C3782E}"/>
                  </a:ext>
                </a:extLst>
              </p:cNvPr>
              <p:cNvCxnSpPr>
                <a:cxnSpLocks/>
              </p:cNvCxnSpPr>
              <p:nvPr/>
            </p:nvCxnSpPr>
            <p:spPr>
              <a:xfrm flipH="1">
                <a:off x="4382159" y="5093493"/>
                <a:ext cx="10694" cy="4165520"/>
              </a:xfrm>
              <a:prstGeom prst="line">
                <a:avLst/>
              </a:prstGeom>
              <a:ln>
                <a:solidFill>
                  <a:schemeClr val="accent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6" name="Straight Connector 35">
                <a:extLst>
                  <a:ext uri="{FF2B5EF4-FFF2-40B4-BE49-F238E27FC236}">
                    <a16:creationId xmlns:a16="http://schemas.microsoft.com/office/drawing/2014/main" id="{BBFDEE50-8114-4290-B223-4993B2B70A11}"/>
                  </a:ext>
                </a:extLst>
              </p:cNvPr>
              <p:cNvCxnSpPr/>
              <p:nvPr/>
            </p:nvCxnSpPr>
            <p:spPr>
              <a:xfrm flipV="1">
                <a:off x="1654217" y="7293802"/>
                <a:ext cx="5479044" cy="13240"/>
              </a:xfrm>
              <a:prstGeom prst="line">
                <a:avLst/>
              </a:prstGeom>
              <a:ln>
                <a:solidFill>
                  <a:schemeClr val="accent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07" name="TextBox 36">
                <a:extLst>
                  <a:ext uri="{FF2B5EF4-FFF2-40B4-BE49-F238E27FC236}">
                    <a16:creationId xmlns:a16="http://schemas.microsoft.com/office/drawing/2014/main" id="{94DEAE5A-CB65-4D9D-BD94-B391984CD5A4}"/>
                  </a:ext>
                </a:extLst>
              </p:cNvPr>
              <p:cNvSpPr txBox="1"/>
              <p:nvPr/>
            </p:nvSpPr>
            <p:spPr>
              <a:xfrm>
                <a:off x="4127500" y="6487411"/>
                <a:ext cx="3708401" cy="848710"/>
              </a:xfrm>
              <a:prstGeom prst="hexagon">
                <a:avLst>
                  <a:gd name="adj" fmla="val 0"/>
                  <a:gd name="vf" fmla="val 115470"/>
                </a:avLst>
              </a:prstGeom>
              <a:noFill/>
            </p:spPr>
            <p:txBody>
              <a:bodyPr wrap="square" lIns="254068" rIns="254068" rtlCol="0">
                <a:spAutoFit/>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defTabSz="1270559">
                  <a:defRPr/>
                </a:pPr>
                <a:r>
                  <a:rPr lang="zh-CN" altLang="en-US" sz="2000" dirty="0">
                    <a:solidFill>
                      <a:schemeClr val="bg2">
                        <a:lumMod val="25000"/>
                      </a:schemeClr>
                    </a:solidFill>
                    <a:latin typeface="+mj-lt"/>
                  </a:rPr>
                  <a:t>权利低、相关度低</a:t>
                </a:r>
                <a:endParaRPr lang="en-US" altLang="zh-CN" sz="2000" dirty="0">
                  <a:solidFill>
                    <a:schemeClr val="bg2">
                      <a:lumMod val="25000"/>
                    </a:schemeClr>
                  </a:solidFill>
                  <a:latin typeface="+mj-lt"/>
                </a:endParaRPr>
              </a:p>
              <a:p>
                <a:pPr algn="ctr" defTabSz="1270559">
                  <a:defRPr/>
                </a:pPr>
                <a:r>
                  <a:rPr lang="zh-CN" altLang="en-US" sz="2000" dirty="0">
                    <a:solidFill>
                      <a:schemeClr val="bg2">
                        <a:lumMod val="25000"/>
                      </a:schemeClr>
                    </a:solidFill>
                    <a:latin typeface="+mj-lt"/>
                  </a:rPr>
                  <a:t>保持沟通的相关者</a:t>
                </a:r>
                <a:endParaRPr lang="en-US" sz="2000" dirty="0">
                  <a:solidFill>
                    <a:schemeClr val="bg2">
                      <a:lumMod val="25000"/>
                    </a:schemeClr>
                  </a:solidFill>
                  <a:latin typeface="+mj-lt"/>
                </a:endParaRPr>
              </a:p>
            </p:txBody>
          </p:sp>
          <p:sp>
            <p:nvSpPr>
              <p:cNvPr id="208" name="TextBox 37">
                <a:extLst>
                  <a:ext uri="{FF2B5EF4-FFF2-40B4-BE49-F238E27FC236}">
                    <a16:creationId xmlns:a16="http://schemas.microsoft.com/office/drawing/2014/main" id="{2C82E4C2-5A8B-4062-9380-8875AEED247E}"/>
                  </a:ext>
                </a:extLst>
              </p:cNvPr>
              <p:cNvSpPr txBox="1"/>
              <p:nvPr/>
            </p:nvSpPr>
            <p:spPr>
              <a:xfrm>
                <a:off x="1337867" y="8310239"/>
                <a:ext cx="3095785" cy="848710"/>
              </a:xfrm>
              <a:prstGeom prst="hexagon">
                <a:avLst>
                  <a:gd name="adj" fmla="val 0"/>
                  <a:gd name="vf" fmla="val 115470"/>
                </a:avLst>
              </a:prstGeom>
              <a:noFill/>
            </p:spPr>
            <p:txBody>
              <a:bodyPr wrap="square" lIns="254068" rIns="254068" rtlCol="0">
                <a:spAutoFit/>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defTabSz="1270559">
                  <a:defRPr/>
                </a:pPr>
                <a:r>
                  <a:rPr lang="zh-CN" altLang="en-US" sz="2000" dirty="0">
                    <a:solidFill>
                      <a:schemeClr val="bg2">
                        <a:lumMod val="25000"/>
                      </a:schemeClr>
                    </a:solidFill>
                    <a:latin typeface="+mj-lt"/>
                  </a:rPr>
                  <a:t>权利高、利益相关高</a:t>
                </a:r>
                <a:endParaRPr lang="en-US" altLang="zh-CN" sz="2000" dirty="0">
                  <a:solidFill>
                    <a:schemeClr val="bg2">
                      <a:lumMod val="25000"/>
                    </a:schemeClr>
                  </a:solidFill>
                  <a:latin typeface="+mj-lt"/>
                </a:endParaRPr>
              </a:p>
              <a:p>
                <a:pPr algn="ctr" defTabSz="1270559">
                  <a:defRPr/>
                </a:pPr>
                <a:r>
                  <a:rPr lang="zh-CN" altLang="en-US" sz="2000" dirty="0">
                    <a:solidFill>
                      <a:schemeClr val="bg2">
                        <a:lumMod val="25000"/>
                      </a:schemeClr>
                    </a:solidFill>
                    <a:latin typeface="+mj-lt"/>
                  </a:rPr>
                  <a:t>保持满意度的相关者</a:t>
                </a:r>
                <a:endParaRPr lang="en-US" sz="2000" dirty="0">
                  <a:solidFill>
                    <a:schemeClr val="bg2">
                      <a:lumMod val="25000"/>
                    </a:schemeClr>
                  </a:solidFill>
                  <a:latin typeface="+mj-lt"/>
                </a:endParaRPr>
              </a:p>
            </p:txBody>
          </p:sp>
          <p:sp>
            <p:nvSpPr>
              <p:cNvPr id="209" name="TextBox 39">
                <a:extLst>
                  <a:ext uri="{FF2B5EF4-FFF2-40B4-BE49-F238E27FC236}">
                    <a16:creationId xmlns:a16="http://schemas.microsoft.com/office/drawing/2014/main" id="{4D3CE3A0-9F15-4514-BF08-2064A122612B}"/>
                  </a:ext>
                </a:extLst>
              </p:cNvPr>
              <p:cNvSpPr txBox="1"/>
              <p:nvPr/>
            </p:nvSpPr>
            <p:spPr>
              <a:xfrm>
                <a:off x="4012918" y="8323989"/>
                <a:ext cx="3822983" cy="848710"/>
              </a:xfrm>
              <a:prstGeom prst="hexagon">
                <a:avLst>
                  <a:gd name="adj" fmla="val 0"/>
                  <a:gd name="vf" fmla="val 115470"/>
                </a:avLst>
              </a:prstGeom>
              <a:noFill/>
            </p:spPr>
            <p:txBody>
              <a:bodyPr wrap="square" lIns="254068" rIns="254068" rtlCol="0">
                <a:spAutoFit/>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defTabSz="1270559">
                  <a:defRPr/>
                </a:pPr>
                <a:r>
                  <a:rPr lang="zh-CN" altLang="en-US" sz="2000" dirty="0">
                    <a:solidFill>
                      <a:schemeClr val="bg2">
                        <a:lumMod val="25000"/>
                      </a:schemeClr>
                    </a:solidFill>
                    <a:latin typeface="+mj-lt"/>
                  </a:rPr>
                  <a:t>权利高、相关度低</a:t>
                </a:r>
                <a:endParaRPr lang="en-US" altLang="zh-CN" sz="2000" dirty="0">
                  <a:solidFill>
                    <a:schemeClr val="bg2">
                      <a:lumMod val="25000"/>
                    </a:schemeClr>
                  </a:solidFill>
                  <a:latin typeface="+mj-lt"/>
                </a:endParaRPr>
              </a:p>
              <a:p>
                <a:pPr algn="ctr" defTabSz="1270559">
                  <a:defRPr/>
                </a:pPr>
                <a:r>
                  <a:rPr lang="zh-CN" altLang="en-US" sz="2000" dirty="0">
                    <a:solidFill>
                      <a:schemeClr val="bg2">
                        <a:lumMod val="25000"/>
                      </a:schemeClr>
                    </a:solidFill>
                    <a:latin typeface="+mj-lt"/>
                  </a:rPr>
                  <a:t>最主要的相关者</a:t>
                </a:r>
                <a:endParaRPr lang="en-US" altLang="zh-CN" sz="2000" dirty="0">
                  <a:solidFill>
                    <a:schemeClr val="bg2">
                      <a:lumMod val="25000"/>
                    </a:schemeClr>
                  </a:solidFill>
                  <a:latin typeface="+mj-lt"/>
                </a:endParaRPr>
              </a:p>
            </p:txBody>
          </p:sp>
          <p:sp>
            <p:nvSpPr>
              <p:cNvPr id="210" name="Freeform 122">
                <a:extLst>
                  <a:ext uri="{FF2B5EF4-FFF2-40B4-BE49-F238E27FC236}">
                    <a16:creationId xmlns:a16="http://schemas.microsoft.com/office/drawing/2014/main" id="{2CFF233E-7E8E-4D6F-964A-BDCE7C00BF05}"/>
                  </a:ext>
                </a:extLst>
              </p:cNvPr>
              <p:cNvSpPr>
                <a:spLocks noChangeAspect="1"/>
              </p:cNvSpPr>
              <p:nvPr/>
            </p:nvSpPr>
            <p:spPr bwMode="black">
              <a:xfrm>
                <a:off x="2406420" y="5564786"/>
                <a:ext cx="958681" cy="705623"/>
              </a:xfrm>
              <a:custGeom>
                <a:avLst/>
                <a:gdLst>
                  <a:gd name="connsiteX0" fmla="*/ 212431 w 607639"/>
                  <a:gd name="connsiteY0" fmla="*/ 302514 h 447244"/>
                  <a:gd name="connsiteX1" fmla="*/ 259610 w 607639"/>
                  <a:gd name="connsiteY1" fmla="*/ 302514 h 447244"/>
                  <a:gd name="connsiteX2" fmla="*/ 244121 w 607639"/>
                  <a:gd name="connsiteY2" fmla="*/ 402403 h 447244"/>
                  <a:gd name="connsiteX3" fmla="*/ 218395 w 607639"/>
                  <a:gd name="connsiteY3" fmla="*/ 421155 h 447244"/>
                  <a:gd name="connsiteX4" fmla="*/ 199612 w 607639"/>
                  <a:gd name="connsiteY4" fmla="*/ 395472 h 447244"/>
                  <a:gd name="connsiteX5" fmla="*/ 213855 w 607639"/>
                  <a:gd name="connsiteY5" fmla="*/ 303314 h 447244"/>
                  <a:gd name="connsiteX6" fmla="*/ 93429 w 607639"/>
                  <a:gd name="connsiteY6" fmla="*/ 302514 h 447244"/>
                  <a:gd name="connsiteX7" fmla="*/ 139095 w 607639"/>
                  <a:gd name="connsiteY7" fmla="*/ 302514 h 447244"/>
                  <a:gd name="connsiteX8" fmla="*/ 153516 w 607639"/>
                  <a:gd name="connsiteY8" fmla="*/ 395472 h 447244"/>
                  <a:gd name="connsiteX9" fmla="*/ 134644 w 607639"/>
                  <a:gd name="connsiteY9" fmla="*/ 421155 h 447244"/>
                  <a:gd name="connsiteX10" fmla="*/ 108918 w 607639"/>
                  <a:gd name="connsiteY10" fmla="*/ 402403 h 447244"/>
                  <a:gd name="connsiteX11" fmla="*/ 478046 w 607639"/>
                  <a:gd name="connsiteY11" fmla="*/ 302444 h 447244"/>
                  <a:gd name="connsiteX12" fmla="*/ 523596 w 607639"/>
                  <a:gd name="connsiteY12" fmla="*/ 302444 h 447244"/>
                  <a:gd name="connsiteX13" fmla="*/ 508116 w 607639"/>
                  <a:gd name="connsiteY13" fmla="*/ 402314 h 447244"/>
                  <a:gd name="connsiteX14" fmla="*/ 485875 w 607639"/>
                  <a:gd name="connsiteY14" fmla="*/ 421417 h 447244"/>
                  <a:gd name="connsiteX15" fmla="*/ 463633 w 607639"/>
                  <a:gd name="connsiteY15" fmla="*/ 395472 h 447244"/>
                  <a:gd name="connsiteX16" fmla="*/ 357555 w 607639"/>
                  <a:gd name="connsiteY16" fmla="*/ 302444 h 447244"/>
                  <a:gd name="connsiteX17" fmla="*/ 403094 w 607639"/>
                  <a:gd name="connsiteY17" fmla="*/ 302444 h 447244"/>
                  <a:gd name="connsiteX18" fmla="*/ 417502 w 607639"/>
                  <a:gd name="connsiteY18" fmla="*/ 395490 h 447244"/>
                  <a:gd name="connsiteX19" fmla="*/ 398646 w 607639"/>
                  <a:gd name="connsiteY19" fmla="*/ 421174 h 447244"/>
                  <a:gd name="connsiteX20" fmla="*/ 372942 w 607639"/>
                  <a:gd name="connsiteY20" fmla="*/ 402333 h 447244"/>
                  <a:gd name="connsiteX21" fmla="*/ 446717 w 607639"/>
                  <a:gd name="connsiteY21" fmla="*/ 173723 h 447244"/>
                  <a:gd name="connsiteX22" fmla="*/ 431409 w 607639"/>
                  <a:gd name="connsiteY22" fmla="*/ 189007 h 447244"/>
                  <a:gd name="connsiteX23" fmla="*/ 446717 w 607639"/>
                  <a:gd name="connsiteY23" fmla="*/ 204381 h 447244"/>
                  <a:gd name="connsiteX24" fmla="*/ 462115 w 607639"/>
                  <a:gd name="connsiteY24" fmla="*/ 189007 h 447244"/>
                  <a:gd name="connsiteX25" fmla="*/ 446717 w 607639"/>
                  <a:gd name="connsiteY25" fmla="*/ 173723 h 447244"/>
                  <a:gd name="connsiteX26" fmla="*/ 151042 w 607639"/>
                  <a:gd name="connsiteY26" fmla="*/ 173723 h 447244"/>
                  <a:gd name="connsiteX27" fmla="*/ 135733 w 607639"/>
                  <a:gd name="connsiteY27" fmla="*/ 189096 h 447244"/>
                  <a:gd name="connsiteX28" fmla="*/ 151042 w 607639"/>
                  <a:gd name="connsiteY28" fmla="*/ 204381 h 447244"/>
                  <a:gd name="connsiteX29" fmla="*/ 166351 w 607639"/>
                  <a:gd name="connsiteY29" fmla="*/ 189096 h 447244"/>
                  <a:gd name="connsiteX30" fmla="*/ 151042 w 607639"/>
                  <a:gd name="connsiteY30" fmla="*/ 173723 h 447244"/>
                  <a:gd name="connsiteX31" fmla="*/ 545118 w 607639"/>
                  <a:gd name="connsiteY31" fmla="*/ 141343 h 447244"/>
                  <a:gd name="connsiteX32" fmla="*/ 565318 w 607639"/>
                  <a:gd name="connsiteY32" fmla="*/ 187563 h 447244"/>
                  <a:gd name="connsiteX33" fmla="*/ 554817 w 607639"/>
                  <a:gd name="connsiteY33" fmla="*/ 213429 h 447244"/>
                  <a:gd name="connsiteX34" fmla="*/ 545118 w 607639"/>
                  <a:gd name="connsiteY34" fmla="*/ 217695 h 447244"/>
                  <a:gd name="connsiteX35" fmla="*/ 348382 w 607639"/>
                  <a:gd name="connsiteY35" fmla="*/ 140496 h 447244"/>
                  <a:gd name="connsiteX36" fmla="*/ 348382 w 607639"/>
                  <a:gd name="connsiteY36" fmla="*/ 219741 h 447244"/>
                  <a:gd name="connsiteX37" fmla="*/ 335996 w 607639"/>
                  <a:gd name="connsiteY37" fmla="*/ 212278 h 447244"/>
                  <a:gd name="connsiteX38" fmla="*/ 327619 w 607639"/>
                  <a:gd name="connsiteY38" fmla="*/ 187581 h 447244"/>
                  <a:gd name="connsiteX39" fmla="*/ 348382 w 607639"/>
                  <a:gd name="connsiteY39" fmla="*/ 140496 h 447244"/>
                  <a:gd name="connsiteX40" fmla="*/ 83487 w 607639"/>
                  <a:gd name="connsiteY40" fmla="*/ 139155 h 447244"/>
                  <a:gd name="connsiteX41" fmla="*/ 218597 w 607639"/>
                  <a:gd name="connsiteY41" fmla="*/ 139155 h 447244"/>
                  <a:gd name="connsiteX42" fmla="*/ 229100 w 607639"/>
                  <a:gd name="connsiteY42" fmla="*/ 149730 h 447244"/>
                  <a:gd name="connsiteX43" fmla="*/ 229100 w 607639"/>
                  <a:gd name="connsiteY43" fmla="*/ 228463 h 447244"/>
                  <a:gd name="connsiteX44" fmla="*/ 222424 w 607639"/>
                  <a:gd name="connsiteY44" fmla="*/ 238238 h 447244"/>
                  <a:gd name="connsiteX45" fmla="*/ 375335 w 607639"/>
                  <a:gd name="connsiteY45" fmla="*/ 238238 h 447244"/>
                  <a:gd name="connsiteX46" fmla="*/ 368660 w 607639"/>
                  <a:gd name="connsiteY46" fmla="*/ 228463 h 447244"/>
                  <a:gd name="connsiteX47" fmla="*/ 368660 w 607639"/>
                  <a:gd name="connsiteY47" fmla="*/ 149641 h 447244"/>
                  <a:gd name="connsiteX48" fmla="*/ 379162 w 607639"/>
                  <a:gd name="connsiteY48" fmla="*/ 139155 h 447244"/>
                  <a:gd name="connsiteX49" fmla="*/ 514272 w 607639"/>
                  <a:gd name="connsiteY49" fmla="*/ 139155 h 447244"/>
                  <a:gd name="connsiteX50" fmla="*/ 524864 w 607639"/>
                  <a:gd name="connsiteY50" fmla="*/ 149641 h 447244"/>
                  <a:gd name="connsiteX51" fmla="*/ 524864 w 607639"/>
                  <a:gd name="connsiteY51" fmla="*/ 228463 h 447244"/>
                  <a:gd name="connsiteX52" fmla="*/ 518189 w 607639"/>
                  <a:gd name="connsiteY52" fmla="*/ 238238 h 447244"/>
                  <a:gd name="connsiteX53" fmla="*/ 599362 w 607639"/>
                  <a:gd name="connsiteY53" fmla="*/ 238238 h 447244"/>
                  <a:gd name="connsiteX54" fmla="*/ 607639 w 607639"/>
                  <a:gd name="connsiteY54" fmla="*/ 246413 h 447244"/>
                  <a:gd name="connsiteX55" fmla="*/ 607639 w 607639"/>
                  <a:gd name="connsiteY55" fmla="*/ 276093 h 447244"/>
                  <a:gd name="connsiteX56" fmla="*/ 599362 w 607639"/>
                  <a:gd name="connsiteY56" fmla="*/ 284358 h 447244"/>
                  <a:gd name="connsiteX57" fmla="*/ 581204 w 607639"/>
                  <a:gd name="connsiteY57" fmla="*/ 284358 h 447244"/>
                  <a:gd name="connsiteX58" fmla="*/ 581204 w 607639"/>
                  <a:gd name="connsiteY58" fmla="*/ 430538 h 447244"/>
                  <a:gd name="connsiteX59" fmla="*/ 564471 w 607639"/>
                  <a:gd name="connsiteY59" fmla="*/ 447244 h 447244"/>
                  <a:gd name="connsiteX60" fmla="*/ 547738 w 607639"/>
                  <a:gd name="connsiteY60" fmla="*/ 430538 h 447244"/>
                  <a:gd name="connsiteX61" fmla="*/ 547738 w 607639"/>
                  <a:gd name="connsiteY61" fmla="*/ 284358 h 447244"/>
                  <a:gd name="connsiteX62" fmla="*/ 328785 w 607639"/>
                  <a:gd name="connsiteY62" fmla="*/ 284358 h 447244"/>
                  <a:gd name="connsiteX63" fmla="*/ 328785 w 607639"/>
                  <a:gd name="connsiteY63" fmla="*/ 430538 h 447244"/>
                  <a:gd name="connsiteX64" fmla="*/ 312052 w 607639"/>
                  <a:gd name="connsiteY64" fmla="*/ 447244 h 447244"/>
                  <a:gd name="connsiteX65" fmla="*/ 295320 w 607639"/>
                  <a:gd name="connsiteY65" fmla="*/ 430538 h 447244"/>
                  <a:gd name="connsiteX66" fmla="*/ 295320 w 607639"/>
                  <a:gd name="connsiteY66" fmla="*/ 284358 h 447244"/>
                  <a:gd name="connsiteX67" fmla="*/ 54649 w 607639"/>
                  <a:gd name="connsiteY67" fmla="*/ 284358 h 447244"/>
                  <a:gd name="connsiteX68" fmla="*/ 54649 w 607639"/>
                  <a:gd name="connsiteY68" fmla="*/ 430538 h 447244"/>
                  <a:gd name="connsiteX69" fmla="*/ 37916 w 607639"/>
                  <a:gd name="connsiteY69" fmla="*/ 447244 h 447244"/>
                  <a:gd name="connsiteX70" fmla="*/ 21183 w 607639"/>
                  <a:gd name="connsiteY70" fmla="*/ 430538 h 447244"/>
                  <a:gd name="connsiteX71" fmla="*/ 21183 w 607639"/>
                  <a:gd name="connsiteY71" fmla="*/ 284358 h 447244"/>
                  <a:gd name="connsiteX72" fmla="*/ 8188 w 607639"/>
                  <a:gd name="connsiteY72" fmla="*/ 284358 h 447244"/>
                  <a:gd name="connsiteX73" fmla="*/ 0 w 607639"/>
                  <a:gd name="connsiteY73" fmla="*/ 276182 h 447244"/>
                  <a:gd name="connsiteX74" fmla="*/ 0 w 607639"/>
                  <a:gd name="connsiteY74" fmla="*/ 246502 h 447244"/>
                  <a:gd name="connsiteX75" fmla="*/ 8188 w 607639"/>
                  <a:gd name="connsiteY75" fmla="*/ 238238 h 447244"/>
                  <a:gd name="connsiteX76" fmla="*/ 55628 w 607639"/>
                  <a:gd name="connsiteY76" fmla="*/ 238238 h 447244"/>
                  <a:gd name="connsiteX77" fmla="*/ 79660 w 607639"/>
                  <a:gd name="connsiteY77" fmla="*/ 238238 h 447244"/>
                  <a:gd name="connsiteX78" fmla="*/ 72895 w 607639"/>
                  <a:gd name="connsiteY78" fmla="*/ 228463 h 447244"/>
                  <a:gd name="connsiteX79" fmla="*/ 72895 w 607639"/>
                  <a:gd name="connsiteY79" fmla="*/ 149730 h 447244"/>
                  <a:gd name="connsiteX80" fmla="*/ 83487 w 607639"/>
                  <a:gd name="connsiteY80" fmla="*/ 139155 h 447244"/>
                  <a:gd name="connsiteX81" fmla="*/ 39195 w 607639"/>
                  <a:gd name="connsiteY81" fmla="*/ 121070 h 447244"/>
                  <a:gd name="connsiteX82" fmla="*/ 51791 w 607639"/>
                  <a:gd name="connsiteY82" fmla="*/ 125756 h 447244"/>
                  <a:gd name="connsiteX83" fmla="*/ 58640 w 607639"/>
                  <a:gd name="connsiteY83" fmla="*/ 133750 h 447244"/>
                  <a:gd name="connsiteX84" fmla="*/ 53926 w 607639"/>
                  <a:gd name="connsiteY84" fmla="*/ 149739 h 447244"/>
                  <a:gd name="connsiteX85" fmla="*/ 53926 w 607639"/>
                  <a:gd name="connsiteY85" fmla="*/ 192997 h 447244"/>
                  <a:gd name="connsiteX86" fmla="*/ 23152 w 607639"/>
                  <a:gd name="connsiteY86" fmla="*/ 153736 h 447244"/>
                  <a:gd name="connsiteX87" fmla="*/ 26532 w 607639"/>
                  <a:gd name="connsiteY87" fmla="*/ 125312 h 447244"/>
                  <a:gd name="connsiteX88" fmla="*/ 39195 w 607639"/>
                  <a:gd name="connsiteY88" fmla="*/ 121070 h 447244"/>
                  <a:gd name="connsiteX89" fmla="*/ 388783 w 607639"/>
                  <a:gd name="connsiteY89" fmla="*/ 97663 h 447244"/>
                  <a:gd name="connsiteX90" fmla="*/ 407374 w 607639"/>
                  <a:gd name="connsiteY90" fmla="*/ 118903 h 447244"/>
                  <a:gd name="connsiteX91" fmla="*/ 358896 w 607639"/>
                  <a:gd name="connsiteY91" fmla="*/ 118903 h 447244"/>
                  <a:gd name="connsiteX92" fmla="*/ 388783 w 607639"/>
                  <a:gd name="connsiteY92" fmla="*/ 97663 h 447244"/>
                  <a:gd name="connsiteX93" fmla="*/ 496984 w 607639"/>
                  <a:gd name="connsiteY93" fmla="*/ 96675 h 447244"/>
                  <a:gd name="connsiteX94" fmla="*/ 534181 w 607639"/>
                  <a:gd name="connsiteY94" fmla="*/ 118903 h 447244"/>
                  <a:gd name="connsiteX95" fmla="*/ 477940 w 607639"/>
                  <a:gd name="connsiteY95" fmla="*/ 118903 h 447244"/>
                  <a:gd name="connsiteX96" fmla="*/ 496984 w 607639"/>
                  <a:gd name="connsiteY96" fmla="*/ 96675 h 447244"/>
                  <a:gd name="connsiteX97" fmla="*/ 133002 w 607639"/>
                  <a:gd name="connsiteY97" fmla="*/ 96675 h 447244"/>
                  <a:gd name="connsiteX98" fmla="*/ 230809 w 607639"/>
                  <a:gd name="connsiteY98" fmla="*/ 96675 h 447244"/>
                  <a:gd name="connsiteX99" fmla="*/ 272193 w 607639"/>
                  <a:gd name="connsiteY99" fmla="*/ 122543 h 447244"/>
                  <a:gd name="connsiteX100" fmla="*/ 301384 w 607639"/>
                  <a:gd name="connsiteY100" fmla="*/ 187612 h 447244"/>
                  <a:gd name="connsiteX101" fmla="*/ 290793 w 607639"/>
                  <a:gd name="connsiteY101" fmla="*/ 213568 h 447244"/>
                  <a:gd name="connsiteX102" fmla="*/ 275753 w 607639"/>
                  <a:gd name="connsiteY102" fmla="*/ 220235 h 447244"/>
                  <a:gd name="connsiteX103" fmla="*/ 248164 w 607639"/>
                  <a:gd name="connsiteY103" fmla="*/ 220235 h 447244"/>
                  <a:gd name="connsiteX104" fmla="*/ 248164 w 607639"/>
                  <a:gd name="connsiteY104" fmla="*/ 188323 h 447244"/>
                  <a:gd name="connsiteX105" fmla="*/ 256441 w 607639"/>
                  <a:gd name="connsiteY105" fmla="*/ 184678 h 447244"/>
                  <a:gd name="connsiteX106" fmla="*/ 248164 w 607639"/>
                  <a:gd name="connsiteY106" fmla="*/ 166189 h 447244"/>
                  <a:gd name="connsiteX107" fmla="*/ 248164 w 607639"/>
                  <a:gd name="connsiteY107" fmla="*/ 149744 h 447244"/>
                  <a:gd name="connsiteX108" fmla="*/ 218617 w 607639"/>
                  <a:gd name="connsiteY108" fmla="*/ 120143 h 447244"/>
                  <a:gd name="connsiteX109" fmla="*/ 92864 w 607639"/>
                  <a:gd name="connsiteY109" fmla="*/ 120143 h 447244"/>
                  <a:gd name="connsiteX110" fmla="*/ 133002 w 607639"/>
                  <a:gd name="connsiteY110" fmla="*/ 96675 h 447244"/>
                  <a:gd name="connsiteX111" fmla="*/ 442657 w 607639"/>
                  <a:gd name="connsiteY111" fmla="*/ 27803 h 447244"/>
                  <a:gd name="connsiteX112" fmla="*/ 484432 w 607639"/>
                  <a:gd name="connsiteY112" fmla="*/ 69543 h 447244"/>
                  <a:gd name="connsiteX113" fmla="*/ 442657 w 607639"/>
                  <a:gd name="connsiteY113" fmla="*/ 111283 h 447244"/>
                  <a:gd name="connsiteX114" fmla="*/ 400882 w 607639"/>
                  <a:gd name="connsiteY114" fmla="*/ 69543 h 447244"/>
                  <a:gd name="connsiteX115" fmla="*/ 442657 w 607639"/>
                  <a:gd name="connsiteY115" fmla="*/ 27803 h 447244"/>
                  <a:gd name="connsiteX116" fmla="*/ 178636 w 607639"/>
                  <a:gd name="connsiteY116" fmla="*/ 0 h 447244"/>
                  <a:gd name="connsiteX117" fmla="*/ 220376 w 607639"/>
                  <a:gd name="connsiteY117" fmla="*/ 41669 h 447244"/>
                  <a:gd name="connsiteX118" fmla="*/ 178636 w 607639"/>
                  <a:gd name="connsiteY118" fmla="*/ 83338 h 447244"/>
                  <a:gd name="connsiteX119" fmla="*/ 136897 w 607639"/>
                  <a:gd name="connsiteY119" fmla="*/ 41669 h 447244"/>
                  <a:gd name="connsiteX120" fmla="*/ 178636 w 607639"/>
                  <a:gd name="connsiteY120" fmla="*/ 0 h 447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607639" h="447244">
                    <a:moveTo>
                      <a:pt x="212431" y="302514"/>
                    </a:moveTo>
                    <a:lnTo>
                      <a:pt x="259610" y="302514"/>
                    </a:lnTo>
                    <a:lnTo>
                      <a:pt x="244121" y="402403"/>
                    </a:lnTo>
                    <a:cubicBezTo>
                      <a:pt x="242252" y="414667"/>
                      <a:pt x="230679" y="423110"/>
                      <a:pt x="218395" y="421155"/>
                    </a:cubicBezTo>
                    <a:cubicBezTo>
                      <a:pt x="206111" y="419289"/>
                      <a:pt x="197654" y="407824"/>
                      <a:pt x="199612" y="395472"/>
                    </a:cubicBezTo>
                    <a:lnTo>
                      <a:pt x="213855" y="303314"/>
                    </a:lnTo>
                    <a:close/>
                    <a:moveTo>
                      <a:pt x="93429" y="302514"/>
                    </a:moveTo>
                    <a:lnTo>
                      <a:pt x="139095" y="302514"/>
                    </a:lnTo>
                    <a:lnTo>
                      <a:pt x="153516" y="395472"/>
                    </a:lnTo>
                    <a:cubicBezTo>
                      <a:pt x="155385" y="407824"/>
                      <a:pt x="146928" y="419289"/>
                      <a:pt x="134644" y="421155"/>
                    </a:cubicBezTo>
                    <a:cubicBezTo>
                      <a:pt x="122360" y="423110"/>
                      <a:pt x="110876" y="414667"/>
                      <a:pt x="108918" y="402403"/>
                    </a:cubicBezTo>
                    <a:close/>
                    <a:moveTo>
                      <a:pt x="478046" y="302444"/>
                    </a:moveTo>
                    <a:lnTo>
                      <a:pt x="523596" y="302444"/>
                    </a:lnTo>
                    <a:lnTo>
                      <a:pt x="508116" y="402314"/>
                    </a:lnTo>
                    <a:cubicBezTo>
                      <a:pt x="506426" y="413509"/>
                      <a:pt x="496817" y="421417"/>
                      <a:pt x="485875" y="421417"/>
                    </a:cubicBezTo>
                    <a:cubicBezTo>
                      <a:pt x="472085" y="421417"/>
                      <a:pt x="461498" y="409155"/>
                      <a:pt x="463633" y="395472"/>
                    </a:cubicBezTo>
                    <a:close/>
                    <a:moveTo>
                      <a:pt x="357555" y="302444"/>
                    </a:moveTo>
                    <a:lnTo>
                      <a:pt x="403094" y="302444"/>
                    </a:lnTo>
                    <a:lnTo>
                      <a:pt x="417502" y="395490"/>
                    </a:lnTo>
                    <a:cubicBezTo>
                      <a:pt x="419370" y="407754"/>
                      <a:pt x="411009" y="419307"/>
                      <a:pt x="398646" y="421174"/>
                    </a:cubicBezTo>
                    <a:cubicBezTo>
                      <a:pt x="386372" y="423040"/>
                      <a:pt x="374899" y="414686"/>
                      <a:pt x="372942" y="402333"/>
                    </a:cubicBezTo>
                    <a:close/>
                    <a:moveTo>
                      <a:pt x="446717" y="173723"/>
                    </a:moveTo>
                    <a:cubicBezTo>
                      <a:pt x="438262" y="173723"/>
                      <a:pt x="431409" y="180565"/>
                      <a:pt x="431409" y="189007"/>
                    </a:cubicBezTo>
                    <a:cubicBezTo>
                      <a:pt x="431409" y="197538"/>
                      <a:pt x="438262" y="204381"/>
                      <a:pt x="446717" y="204381"/>
                    </a:cubicBezTo>
                    <a:cubicBezTo>
                      <a:pt x="455173" y="204381"/>
                      <a:pt x="462115" y="197538"/>
                      <a:pt x="462115" y="189007"/>
                    </a:cubicBezTo>
                    <a:cubicBezTo>
                      <a:pt x="462115" y="180565"/>
                      <a:pt x="455173" y="173723"/>
                      <a:pt x="446717" y="173723"/>
                    </a:cubicBezTo>
                    <a:close/>
                    <a:moveTo>
                      <a:pt x="151042" y="173723"/>
                    </a:moveTo>
                    <a:cubicBezTo>
                      <a:pt x="142586" y="173723"/>
                      <a:pt x="135733" y="180654"/>
                      <a:pt x="135733" y="189096"/>
                    </a:cubicBezTo>
                    <a:cubicBezTo>
                      <a:pt x="135733" y="197538"/>
                      <a:pt x="142586" y="204381"/>
                      <a:pt x="151042" y="204381"/>
                    </a:cubicBezTo>
                    <a:cubicBezTo>
                      <a:pt x="159497" y="204381"/>
                      <a:pt x="166351" y="197538"/>
                      <a:pt x="166351" y="189096"/>
                    </a:cubicBezTo>
                    <a:cubicBezTo>
                      <a:pt x="166351" y="180654"/>
                      <a:pt x="159497" y="173723"/>
                      <a:pt x="151042" y="173723"/>
                    </a:cubicBezTo>
                    <a:close/>
                    <a:moveTo>
                      <a:pt x="545118" y="141343"/>
                    </a:moveTo>
                    <a:cubicBezTo>
                      <a:pt x="558021" y="169431"/>
                      <a:pt x="565051" y="186763"/>
                      <a:pt x="565318" y="187563"/>
                    </a:cubicBezTo>
                    <a:cubicBezTo>
                      <a:pt x="569322" y="197518"/>
                      <a:pt x="564695" y="209073"/>
                      <a:pt x="554817" y="213429"/>
                    </a:cubicBezTo>
                    <a:lnTo>
                      <a:pt x="545118" y="217695"/>
                    </a:lnTo>
                    <a:close/>
                    <a:moveTo>
                      <a:pt x="348382" y="140496"/>
                    </a:moveTo>
                    <a:lnTo>
                      <a:pt x="348382" y="219741"/>
                    </a:lnTo>
                    <a:lnTo>
                      <a:pt x="335996" y="212278"/>
                    </a:lnTo>
                    <a:cubicBezTo>
                      <a:pt x="327530" y="207215"/>
                      <a:pt x="323966" y="196732"/>
                      <a:pt x="327619" y="187581"/>
                    </a:cubicBezTo>
                    <a:cubicBezTo>
                      <a:pt x="331808" y="177187"/>
                      <a:pt x="340006" y="158530"/>
                      <a:pt x="348382" y="140496"/>
                    </a:cubicBezTo>
                    <a:close/>
                    <a:moveTo>
                      <a:pt x="83487" y="139155"/>
                    </a:moveTo>
                    <a:lnTo>
                      <a:pt x="218597" y="139155"/>
                    </a:lnTo>
                    <a:cubicBezTo>
                      <a:pt x="224382" y="139155"/>
                      <a:pt x="229100" y="143865"/>
                      <a:pt x="229100" y="149730"/>
                    </a:cubicBezTo>
                    <a:lnTo>
                      <a:pt x="229100" y="228463"/>
                    </a:lnTo>
                    <a:cubicBezTo>
                      <a:pt x="229100" y="232906"/>
                      <a:pt x="226340" y="236727"/>
                      <a:pt x="222424" y="238238"/>
                    </a:cubicBezTo>
                    <a:cubicBezTo>
                      <a:pt x="362518" y="238238"/>
                      <a:pt x="245121" y="238238"/>
                      <a:pt x="375335" y="238238"/>
                    </a:cubicBezTo>
                    <a:cubicBezTo>
                      <a:pt x="371419" y="236727"/>
                      <a:pt x="368660" y="232906"/>
                      <a:pt x="368660" y="228463"/>
                    </a:cubicBezTo>
                    <a:lnTo>
                      <a:pt x="368660" y="149641"/>
                    </a:lnTo>
                    <a:cubicBezTo>
                      <a:pt x="368660" y="143865"/>
                      <a:pt x="373377" y="139155"/>
                      <a:pt x="379162" y="139155"/>
                    </a:cubicBezTo>
                    <a:lnTo>
                      <a:pt x="514272" y="139155"/>
                    </a:lnTo>
                    <a:cubicBezTo>
                      <a:pt x="520147" y="139155"/>
                      <a:pt x="524864" y="143865"/>
                      <a:pt x="524864" y="149641"/>
                    </a:cubicBezTo>
                    <a:lnTo>
                      <a:pt x="524864" y="228463"/>
                    </a:lnTo>
                    <a:cubicBezTo>
                      <a:pt x="524864" y="232906"/>
                      <a:pt x="522105" y="236727"/>
                      <a:pt x="518189" y="238238"/>
                    </a:cubicBezTo>
                    <a:lnTo>
                      <a:pt x="599362" y="238238"/>
                    </a:lnTo>
                    <a:cubicBezTo>
                      <a:pt x="603901" y="238238"/>
                      <a:pt x="607639" y="241881"/>
                      <a:pt x="607639" y="246413"/>
                    </a:cubicBezTo>
                    <a:lnTo>
                      <a:pt x="607639" y="276093"/>
                    </a:lnTo>
                    <a:cubicBezTo>
                      <a:pt x="607639" y="280625"/>
                      <a:pt x="603901" y="284358"/>
                      <a:pt x="599362" y="284358"/>
                    </a:cubicBezTo>
                    <a:lnTo>
                      <a:pt x="581204" y="284358"/>
                    </a:lnTo>
                    <a:lnTo>
                      <a:pt x="581204" y="430538"/>
                    </a:lnTo>
                    <a:cubicBezTo>
                      <a:pt x="581204" y="439779"/>
                      <a:pt x="573728" y="447244"/>
                      <a:pt x="564471" y="447244"/>
                    </a:cubicBezTo>
                    <a:cubicBezTo>
                      <a:pt x="555215" y="447244"/>
                      <a:pt x="547738" y="439779"/>
                      <a:pt x="547738" y="430538"/>
                    </a:cubicBezTo>
                    <a:lnTo>
                      <a:pt x="547738" y="284358"/>
                    </a:lnTo>
                    <a:lnTo>
                      <a:pt x="328785" y="284358"/>
                    </a:lnTo>
                    <a:lnTo>
                      <a:pt x="328785" y="430538"/>
                    </a:lnTo>
                    <a:cubicBezTo>
                      <a:pt x="328785" y="439779"/>
                      <a:pt x="321309" y="447244"/>
                      <a:pt x="312052" y="447244"/>
                    </a:cubicBezTo>
                    <a:cubicBezTo>
                      <a:pt x="302796" y="447244"/>
                      <a:pt x="295320" y="439779"/>
                      <a:pt x="295320" y="430538"/>
                    </a:cubicBezTo>
                    <a:lnTo>
                      <a:pt x="295320" y="284358"/>
                    </a:lnTo>
                    <a:cubicBezTo>
                      <a:pt x="293984" y="284358"/>
                      <a:pt x="54649" y="284358"/>
                      <a:pt x="54649" y="284358"/>
                    </a:cubicBezTo>
                    <a:lnTo>
                      <a:pt x="54649" y="430538"/>
                    </a:lnTo>
                    <a:cubicBezTo>
                      <a:pt x="54649" y="439779"/>
                      <a:pt x="47173" y="447244"/>
                      <a:pt x="37916" y="447244"/>
                    </a:cubicBezTo>
                    <a:cubicBezTo>
                      <a:pt x="28660" y="447244"/>
                      <a:pt x="21183" y="439779"/>
                      <a:pt x="21183" y="430538"/>
                    </a:cubicBezTo>
                    <a:lnTo>
                      <a:pt x="21183" y="284358"/>
                    </a:lnTo>
                    <a:lnTo>
                      <a:pt x="8188" y="284358"/>
                    </a:lnTo>
                    <a:cubicBezTo>
                      <a:pt x="3649" y="284358"/>
                      <a:pt x="0" y="280714"/>
                      <a:pt x="0" y="276182"/>
                    </a:cubicBezTo>
                    <a:lnTo>
                      <a:pt x="0" y="246502"/>
                    </a:lnTo>
                    <a:cubicBezTo>
                      <a:pt x="0" y="241970"/>
                      <a:pt x="3649" y="238238"/>
                      <a:pt x="8188" y="238238"/>
                    </a:cubicBezTo>
                    <a:lnTo>
                      <a:pt x="55628" y="238238"/>
                    </a:lnTo>
                    <a:lnTo>
                      <a:pt x="79660" y="238238"/>
                    </a:lnTo>
                    <a:cubicBezTo>
                      <a:pt x="75743" y="236727"/>
                      <a:pt x="72895" y="232906"/>
                      <a:pt x="72895" y="228463"/>
                    </a:cubicBezTo>
                    <a:lnTo>
                      <a:pt x="72895" y="149730"/>
                    </a:lnTo>
                    <a:cubicBezTo>
                      <a:pt x="72895" y="143865"/>
                      <a:pt x="77613" y="139155"/>
                      <a:pt x="83487" y="139155"/>
                    </a:cubicBezTo>
                    <a:close/>
                    <a:moveTo>
                      <a:pt x="39195" y="121070"/>
                    </a:moveTo>
                    <a:cubicBezTo>
                      <a:pt x="43675" y="121137"/>
                      <a:pt x="48145" y="122692"/>
                      <a:pt x="51791" y="125756"/>
                    </a:cubicBezTo>
                    <a:cubicBezTo>
                      <a:pt x="53926" y="127444"/>
                      <a:pt x="54549" y="128421"/>
                      <a:pt x="58640" y="133750"/>
                    </a:cubicBezTo>
                    <a:cubicBezTo>
                      <a:pt x="55616" y="138369"/>
                      <a:pt x="53926" y="143787"/>
                      <a:pt x="53926" y="149739"/>
                    </a:cubicBezTo>
                    <a:lnTo>
                      <a:pt x="53926" y="192997"/>
                    </a:lnTo>
                    <a:lnTo>
                      <a:pt x="23152" y="153736"/>
                    </a:lnTo>
                    <a:cubicBezTo>
                      <a:pt x="15948" y="144409"/>
                      <a:pt x="18083" y="131885"/>
                      <a:pt x="26532" y="125312"/>
                    </a:cubicBezTo>
                    <a:cubicBezTo>
                      <a:pt x="30223" y="122425"/>
                      <a:pt x="34715" y="121004"/>
                      <a:pt x="39195" y="121070"/>
                    </a:cubicBezTo>
                    <a:close/>
                    <a:moveTo>
                      <a:pt x="388783" y="97663"/>
                    </a:moveTo>
                    <a:cubicBezTo>
                      <a:pt x="393231" y="106106"/>
                      <a:pt x="399635" y="113393"/>
                      <a:pt x="407374" y="118903"/>
                    </a:cubicBezTo>
                    <a:lnTo>
                      <a:pt x="358896" y="118903"/>
                    </a:lnTo>
                    <a:cubicBezTo>
                      <a:pt x="365478" y="107972"/>
                      <a:pt x="376419" y="100329"/>
                      <a:pt x="388783" y="97663"/>
                    </a:cubicBezTo>
                    <a:close/>
                    <a:moveTo>
                      <a:pt x="496984" y="96675"/>
                    </a:moveTo>
                    <a:cubicBezTo>
                      <a:pt x="512201" y="97475"/>
                      <a:pt x="526261" y="105922"/>
                      <a:pt x="534181" y="118903"/>
                    </a:cubicBezTo>
                    <a:lnTo>
                      <a:pt x="477940" y="118903"/>
                    </a:lnTo>
                    <a:cubicBezTo>
                      <a:pt x="485949" y="113124"/>
                      <a:pt x="492445" y="105566"/>
                      <a:pt x="496984" y="96675"/>
                    </a:cubicBezTo>
                    <a:close/>
                    <a:moveTo>
                      <a:pt x="133002" y="96675"/>
                    </a:moveTo>
                    <a:lnTo>
                      <a:pt x="230809" y="96675"/>
                    </a:lnTo>
                    <a:cubicBezTo>
                      <a:pt x="248342" y="96675"/>
                      <a:pt x="264539" y="106809"/>
                      <a:pt x="272193" y="122543"/>
                    </a:cubicBezTo>
                    <a:cubicBezTo>
                      <a:pt x="282962" y="144588"/>
                      <a:pt x="295599" y="173122"/>
                      <a:pt x="301384" y="187612"/>
                    </a:cubicBezTo>
                    <a:cubicBezTo>
                      <a:pt x="305478" y="197656"/>
                      <a:pt x="300761" y="209123"/>
                      <a:pt x="290793" y="213568"/>
                    </a:cubicBezTo>
                    <a:lnTo>
                      <a:pt x="275753" y="220235"/>
                    </a:lnTo>
                    <a:lnTo>
                      <a:pt x="248164" y="220235"/>
                    </a:lnTo>
                    <a:lnTo>
                      <a:pt x="248164" y="188323"/>
                    </a:lnTo>
                    <a:lnTo>
                      <a:pt x="256441" y="184678"/>
                    </a:lnTo>
                    <a:cubicBezTo>
                      <a:pt x="254127" y="179522"/>
                      <a:pt x="251368" y="173300"/>
                      <a:pt x="248164" y="166189"/>
                    </a:cubicBezTo>
                    <a:lnTo>
                      <a:pt x="248164" y="149744"/>
                    </a:lnTo>
                    <a:cubicBezTo>
                      <a:pt x="248164" y="133387"/>
                      <a:pt x="234903" y="120143"/>
                      <a:pt x="218617" y="120143"/>
                    </a:cubicBezTo>
                    <a:cubicBezTo>
                      <a:pt x="206513" y="120143"/>
                      <a:pt x="105057" y="120143"/>
                      <a:pt x="92864" y="120143"/>
                    </a:cubicBezTo>
                    <a:cubicBezTo>
                      <a:pt x="101052" y="105653"/>
                      <a:pt x="116537" y="96675"/>
                      <a:pt x="133002" y="96675"/>
                    </a:cubicBezTo>
                    <a:close/>
                    <a:moveTo>
                      <a:pt x="442657" y="27803"/>
                    </a:moveTo>
                    <a:cubicBezTo>
                      <a:pt x="465729" y="27803"/>
                      <a:pt x="484432" y="46491"/>
                      <a:pt x="484432" y="69543"/>
                    </a:cubicBezTo>
                    <a:cubicBezTo>
                      <a:pt x="484432" y="92595"/>
                      <a:pt x="465729" y="111283"/>
                      <a:pt x="442657" y="111283"/>
                    </a:cubicBezTo>
                    <a:cubicBezTo>
                      <a:pt x="419585" y="111283"/>
                      <a:pt x="400882" y="92595"/>
                      <a:pt x="400882" y="69543"/>
                    </a:cubicBezTo>
                    <a:cubicBezTo>
                      <a:pt x="400882" y="46491"/>
                      <a:pt x="419585" y="27803"/>
                      <a:pt x="442657" y="27803"/>
                    </a:cubicBezTo>
                    <a:close/>
                    <a:moveTo>
                      <a:pt x="178636" y="0"/>
                    </a:moveTo>
                    <a:cubicBezTo>
                      <a:pt x="201687" y="0"/>
                      <a:pt x="220376" y="18658"/>
                      <a:pt x="220376" y="41669"/>
                    </a:cubicBezTo>
                    <a:cubicBezTo>
                      <a:pt x="220376" y="64769"/>
                      <a:pt x="201687" y="83338"/>
                      <a:pt x="178636" y="83338"/>
                    </a:cubicBezTo>
                    <a:cubicBezTo>
                      <a:pt x="155764" y="83338"/>
                      <a:pt x="136897" y="64858"/>
                      <a:pt x="136897" y="41669"/>
                    </a:cubicBezTo>
                    <a:cubicBezTo>
                      <a:pt x="136897" y="18658"/>
                      <a:pt x="155586" y="0"/>
                      <a:pt x="178636" y="0"/>
                    </a:cubicBezTo>
                    <a:close/>
                  </a:path>
                </a:pathLst>
              </a:custGeom>
              <a:solidFill>
                <a:schemeClr val="tx1"/>
              </a:solidFill>
              <a:ln>
                <a:noFill/>
              </a:ln>
              <a:extLst/>
            </p:spPr>
            <p:txBody>
              <a:bodyPr vert="horz" wrap="square" lIns="129606" tIns="64803" rIns="129606" bIns="64803" numCol="1" anchor="t" anchorCtr="0" compatLnSpc="1">
                <a:prstTxWarp prst="textNoShape">
                  <a:avLst/>
                </a:prstTxWarp>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defTabSz="1270559">
                  <a:defRPr/>
                </a:pPr>
                <a:endParaRPr lang="en-US" sz="2000" kern="0" dirty="0">
                  <a:solidFill>
                    <a:schemeClr val="bg2">
                      <a:lumMod val="25000"/>
                    </a:schemeClr>
                  </a:solidFill>
                  <a:latin typeface="+mj-lt"/>
                </a:endParaRPr>
              </a:p>
            </p:txBody>
          </p:sp>
          <p:sp>
            <p:nvSpPr>
              <p:cNvPr id="211" name="Freeform 128">
                <a:extLst>
                  <a:ext uri="{FF2B5EF4-FFF2-40B4-BE49-F238E27FC236}">
                    <a16:creationId xmlns:a16="http://schemas.microsoft.com/office/drawing/2014/main" id="{93A5A46A-4A18-493A-A2E6-C15F73504885}"/>
                  </a:ext>
                </a:extLst>
              </p:cNvPr>
              <p:cNvSpPr>
                <a:spLocks noChangeAspect="1" noEditPoints="1"/>
              </p:cNvSpPr>
              <p:nvPr/>
            </p:nvSpPr>
            <p:spPr bwMode="black">
              <a:xfrm>
                <a:off x="5526853" y="7355750"/>
                <a:ext cx="789714" cy="856811"/>
              </a:xfrm>
              <a:custGeom>
                <a:avLst/>
                <a:gdLst>
                  <a:gd name="connsiteX0" fmla="*/ 191479 w 561065"/>
                  <a:gd name="connsiteY0" fmla="*/ 375902 h 608735"/>
                  <a:gd name="connsiteX1" fmla="*/ 245437 w 561065"/>
                  <a:gd name="connsiteY1" fmla="*/ 535655 h 608735"/>
                  <a:gd name="connsiteX2" fmla="*/ 250809 w 561065"/>
                  <a:gd name="connsiteY2" fmla="*/ 420563 h 608735"/>
                  <a:gd name="connsiteX3" fmla="*/ 246371 w 561065"/>
                  <a:gd name="connsiteY3" fmla="*/ 411817 h 608735"/>
                  <a:gd name="connsiteX4" fmla="*/ 228911 w 561065"/>
                  <a:gd name="connsiteY4" fmla="*/ 377418 h 608735"/>
                  <a:gd name="connsiteX5" fmla="*/ 280299 w 561065"/>
                  <a:gd name="connsiteY5" fmla="*/ 393743 h 608735"/>
                  <a:gd name="connsiteX6" fmla="*/ 332563 w 561065"/>
                  <a:gd name="connsiteY6" fmla="*/ 376718 h 608735"/>
                  <a:gd name="connsiteX7" fmla="*/ 314811 w 561065"/>
                  <a:gd name="connsiteY7" fmla="*/ 411817 h 608735"/>
                  <a:gd name="connsiteX8" fmla="*/ 310373 w 561065"/>
                  <a:gd name="connsiteY8" fmla="*/ 420563 h 608735"/>
                  <a:gd name="connsiteX9" fmla="*/ 315745 w 561065"/>
                  <a:gd name="connsiteY9" fmla="*/ 535655 h 608735"/>
                  <a:gd name="connsiteX10" fmla="*/ 369644 w 561065"/>
                  <a:gd name="connsiteY10" fmla="*/ 375960 h 608735"/>
                  <a:gd name="connsiteX11" fmla="*/ 443223 w 561065"/>
                  <a:gd name="connsiteY11" fmla="*/ 403946 h 608735"/>
                  <a:gd name="connsiteX12" fmla="*/ 506290 w 561065"/>
                  <a:gd name="connsiteY12" fmla="*/ 430241 h 608735"/>
                  <a:gd name="connsiteX13" fmla="*/ 507925 w 561065"/>
                  <a:gd name="connsiteY13" fmla="*/ 430999 h 608735"/>
                  <a:gd name="connsiteX14" fmla="*/ 510728 w 561065"/>
                  <a:gd name="connsiteY14" fmla="*/ 432573 h 608735"/>
                  <a:gd name="connsiteX15" fmla="*/ 528831 w 561065"/>
                  <a:gd name="connsiteY15" fmla="*/ 452630 h 608735"/>
                  <a:gd name="connsiteX16" fmla="*/ 528831 w 561065"/>
                  <a:gd name="connsiteY16" fmla="*/ 452688 h 608735"/>
                  <a:gd name="connsiteX17" fmla="*/ 532042 w 561065"/>
                  <a:gd name="connsiteY17" fmla="*/ 462308 h 608735"/>
                  <a:gd name="connsiteX18" fmla="*/ 558671 w 561065"/>
                  <a:gd name="connsiteY18" fmla="*/ 548307 h 608735"/>
                  <a:gd name="connsiteX19" fmla="*/ 560539 w 561065"/>
                  <a:gd name="connsiteY19" fmla="*/ 555828 h 608735"/>
                  <a:gd name="connsiteX20" fmla="*/ 561065 w 561065"/>
                  <a:gd name="connsiteY20" fmla="*/ 562824 h 608735"/>
                  <a:gd name="connsiteX21" fmla="*/ 515166 w 561065"/>
                  <a:gd name="connsiteY21" fmla="*/ 608710 h 608735"/>
                  <a:gd name="connsiteX22" fmla="*/ 471311 w 561065"/>
                  <a:gd name="connsiteY22" fmla="*/ 608710 h 608735"/>
                  <a:gd name="connsiteX23" fmla="*/ 283044 w 561065"/>
                  <a:gd name="connsiteY23" fmla="*/ 608710 h 608735"/>
                  <a:gd name="connsiteX24" fmla="*/ 280532 w 561065"/>
                  <a:gd name="connsiteY24" fmla="*/ 608710 h 608735"/>
                  <a:gd name="connsiteX25" fmla="*/ 278080 w 561065"/>
                  <a:gd name="connsiteY25" fmla="*/ 608710 h 608735"/>
                  <a:gd name="connsiteX26" fmla="*/ 89812 w 561065"/>
                  <a:gd name="connsiteY26" fmla="*/ 608710 h 608735"/>
                  <a:gd name="connsiteX27" fmla="*/ 45957 w 561065"/>
                  <a:gd name="connsiteY27" fmla="*/ 608710 h 608735"/>
                  <a:gd name="connsiteX28" fmla="*/ 0 w 561065"/>
                  <a:gd name="connsiteY28" fmla="*/ 562824 h 608735"/>
                  <a:gd name="connsiteX29" fmla="*/ 584 w 561065"/>
                  <a:gd name="connsiteY29" fmla="*/ 555828 h 608735"/>
                  <a:gd name="connsiteX30" fmla="*/ 2453 w 561065"/>
                  <a:gd name="connsiteY30" fmla="*/ 548307 h 608735"/>
                  <a:gd name="connsiteX31" fmla="*/ 29081 w 561065"/>
                  <a:gd name="connsiteY31" fmla="*/ 462308 h 608735"/>
                  <a:gd name="connsiteX32" fmla="*/ 32234 w 561065"/>
                  <a:gd name="connsiteY32" fmla="*/ 452688 h 608735"/>
                  <a:gd name="connsiteX33" fmla="*/ 32234 w 561065"/>
                  <a:gd name="connsiteY33" fmla="*/ 452630 h 608735"/>
                  <a:gd name="connsiteX34" fmla="*/ 50395 w 561065"/>
                  <a:gd name="connsiteY34" fmla="*/ 432457 h 608735"/>
                  <a:gd name="connsiteX35" fmla="*/ 53198 w 561065"/>
                  <a:gd name="connsiteY35" fmla="*/ 430941 h 608735"/>
                  <a:gd name="connsiteX36" fmla="*/ 54833 w 561065"/>
                  <a:gd name="connsiteY36" fmla="*/ 430125 h 608735"/>
                  <a:gd name="connsiteX37" fmla="*/ 117901 w 561065"/>
                  <a:gd name="connsiteY37" fmla="*/ 403888 h 608735"/>
                  <a:gd name="connsiteX38" fmla="*/ 191479 w 561065"/>
                  <a:gd name="connsiteY38" fmla="*/ 375902 h 608735"/>
                  <a:gd name="connsiteX39" fmla="*/ 277747 w 561065"/>
                  <a:gd name="connsiteY39" fmla="*/ 0 h 608735"/>
                  <a:gd name="connsiteX40" fmla="*/ 277980 w 561065"/>
                  <a:gd name="connsiteY40" fmla="*/ 0 h 608735"/>
                  <a:gd name="connsiteX41" fmla="*/ 278214 w 561065"/>
                  <a:gd name="connsiteY41" fmla="*/ 0 h 608735"/>
                  <a:gd name="connsiteX42" fmla="*/ 280491 w 561065"/>
                  <a:gd name="connsiteY42" fmla="*/ 0 h 608735"/>
                  <a:gd name="connsiteX43" fmla="*/ 282768 w 561065"/>
                  <a:gd name="connsiteY43" fmla="*/ 0 h 608735"/>
                  <a:gd name="connsiteX44" fmla="*/ 283001 w 561065"/>
                  <a:gd name="connsiteY44" fmla="*/ 0 h 608735"/>
                  <a:gd name="connsiteX45" fmla="*/ 283235 w 561065"/>
                  <a:gd name="connsiteY45" fmla="*/ 0 h 608735"/>
                  <a:gd name="connsiteX46" fmla="*/ 401988 w 561065"/>
                  <a:gd name="connsiteY46" fmla="*/ 118656 h 608735"/>
                  <a:gd name="connsiteX47" fmla="*/ 400470 w 561065"/>
                  <a:gd name="connsiteY47" fmla="*/ 162854 h 608735"/>
                  <a:gd name="connsiteX48" fmla="*/ 427093 w 561065"/>
                  <a:gd name="connsiteY48" fmla="*/ 188509 h 608735"/>
                  <a:gd name="connsiteX49" fmla="*/ 394456 w 561065"/>
                  <a:gd name="connsiteY49" fmla="*/ 242969 h 608735"/>
                  <a:gd name="connsiteX50" fmla="*/ 342436 w 561065"/>
                  <a:gd name="connsiteY50" fmla="*/ 326465 h 608735"/>
                  <a:gd name="connsiteX51" fmla="*/ 283001 w 561065"/>
                  <a:gd name="connsiteY51" fmla="*/ 354745 h 608735"/>
                  <a:gd name="connsiteX52" fmla="*/ 280491 w 561065"/>
                  <a:gd name="connsiteY52" fmla="*/ 354803 h 608735"/>
                  <a:gd name="connsiteX53" fmla="*/ 277980 w 561065"/>
                  <a:gd name="connsiteY53" fmla="*/ 354745 h 608735"/>
                  <a:gd name="connsiteX54" fmla="*/ 218136 w 561065"/>
                  <a:gd name="connsiteY54" fmla="*/ 326116 h 608735"/>
                  <a:gd name="connsiteX55" fmla="*/ 166467 w 561065"/>
                  <a:gd name="connsiteY55" fmla="*/ 242969 h 608735"/>
                  <a:gd name="connsiteX56" fmla="*/ 133830 w 561065"/>
                  <a:gd name="connsiteY56" fmla="*/ 188509 h 608735"/>
                  <a:gd name="connsiteX57" fmla="*/ 160453 w 561065"/>
                  <a:gd name="connsiteY57" fmla="*/ 162970 h 608735"/>
                  <a:gd name="connsiteX58" fmla="*/ 158877 w 561065"/>
                  <a:gd name="connsiteY58" fmla="*/ 118715 h 608735"/>
                  <a:gd name="connsiteX59" fmla="*/ 277747 w 561065"/>
                  <a:gd name="connsiteY59" fmla="*/ 0 h 60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61065" h="608735">
                    <a:moveTo>
                      <a:pt x="191479" y="375902"/>
                    </a:moveTo>
                    <a:cubicBezTo>
                      <a:pt x="195917" y="394559"/>
                      <a:pt x="238604" y="518455"/>
                      <a:pt x="245437" y="535655"/>
                    </a:cubicBezTo>
                    <a:lnTo>
                      <a:pt x="250809" y="420563"/>
                    </a:lnTo>
                    <a:cubicBezTo>
                      <a:pt x="248999" y="417881"/>
                      <a:pt x="247773" y="414732"/>
                      <a:pt x="246371" y="411817"/>
                    </a:cubicBezTo>
                    <a:lnTo>
                      <a:pt x="228911" y="377418"/>
                    </a:lnTo>
                    <a:cubicBezTo>
                      <a:pt x="241466" y="387446"/>
                      <a:pt x="259860" y="393743"/>
                      <a:pt x="280299" y="393743"/>
                    </a:cubicBezTo>
                    <a:cubicBezTo>
                      <a:pt x="301263" y="393743"/>
                      <a:pt x="320008" y="387155"/>
                      <a:pt x="332563" y="376718"/>
                    </a:cubicBezTo>
                    <a:lnTo>
                      <a:pt x="314811" y="411817"/>
                    </a:lnTo>
                    <a:cubicBezTo>
                      <a:pt x="313409" y="414732"/>
                      <a:pt x="312183" y="417881"/>
                      <a:pt x="310373" y="420563"/>
                    </a:cubicBezTo>
                    <a:lnTo>
                      <a:pt x="315745" y="535655"/>
                    </a:lnTo>
                    <a:cubicBezTo>
                      <a:pt x="322519" y="518455"/>
                      <a:pt x="365089" y="394618"/>
                      <a:pt x="369644" y="375960"/>
                    </a:cubicBezTo>
                    <a:cubicBezTo>
                      <a:pt x="394754" y="384881"/>
                      <a:pt x="419397" y="393685"/>
                      <a:pt x="443223" y="403946"/>
                    </a:cubicBezTo>
                    <a:cubicBezTo>
                      <a:pt x="443223" y="403946"/>
                      <a:pt x="490757" y="422895"/>
                      <a:pt x="506290" y="430241"/>
                    </a:cubicBezTo>
                    <a:cubicBezTo>
                      <a:pt x="506815" y="430475"/>
                      <a:pt x="507341" y="430766"/>
                      <a:pt x="507925" y="430999"/>
                    </a:cubicBezTo>
                    <a:cubicBezTo>
                      <a:pt x="509210" y="431699"/>
                      <a:pt x="510261" y="432224"/>
                      <a:pt x="510728" y="432573"/>
                    </a:cubicBezTo>
                    <a:cubicBezTo>
                      <a:pt x="518553" y="437238"/>
                      <a:pt x="524976" y="444234"/>
                      <a:pt x="528831" y="452630"/>
                    </a:cubicBezTo>
                    <a:lnTo>
                      <a:pt x="528831" y="452688"/>
                    </a:lnTo>
                    <a:cubicBezTo>
                      <a:pt x="530232" y="455720"/>
                      <a:pt x="531342" y="458985"/>
                      <a:pt x="532042" y="462308"/>
                    </a:cubicBezTo>
                    <a:cubicBezTo>
                      <a:pt x="538408" y="481607"/>
                      <a:pt x="552539" y="524694"/>
                      <a:pt x="558671" y="548307"/>
                    </a:cubicBezTo>
                    <a:cubicBezTo>
                      <a:pt x="559547" y="550697"/>
                      <a:pt x="560131" y="553204"/>
                      <a:pt x="560539" y="555828"/>
                    </a:cubicBezTo>
                    <a:cubicBezTo>
                      <a:pt x="560831" y="558102"/>
                      <a:pt x="561065" y="560492"/>
                      <a:pt x="561065" y="562824"/>
                    </a:cubicBezTo>
                    <a:cubicBezTo>
                      <a:pt x="561065" y="588187"/>
                      <a:pt x="540510" y="608710"/>
                      <a:pt x="515166" y="608710"/>
                    </a:cubicBezTo>
                    <a:lnTo>
                      <a:pt x="471311" y="608710"/>
                    </a:lnTo>
                    <a:lnTo>
                      <a:pt x="283044" y="608710"/>
                    </a:lnTo>
                    <a:lnTo>
                      <a:pt x="280532" y="608710"/>
                    </a:lnTo>
                    <a:lnTo>
                      <a:pt x="278080" y="608710"/>
                    </a:lnTo>
                    <a:cubicBezTo>
                      <a:pt x="215305" y="608768"/>
                      <a:pt x="152529" y="608710"/>
                      <a:pt x="89812" y="608710"/>
                    </a:cubicBezTo>
                    <a:lnTo>
                      <a:pt x="45957" y="608710"/>
                    </a:lnTo>
                    <a:cubicBezTo>
                      <a:pt x="20555" y="608710"/>
                      <a:pt x="0" y="588187"/>
                      <a:pt x="0" y="562824"/>
                    </a:cubicBezTo>
                    <a:cubicBezTo>
                      <a:pt x="0" y="560492"/>
                      <a:pt x="175" y="558102"/>
                      <a:pt x="584" y="555828"/>
                    </a:cubicBezTo>
                    <a:cubicBezTo>
                      <a:pt x="934" y="553263"/>
                      <a:pt x="1577" y="550697"/>
                      <a:pt x="2453" y="548307"/>
                    </a:cubicBezTo>
                    <a:cubicBezTo>
                      <a:pt x="8584" y="524577"/>
                      <a:pt x="22657" y="481607"/>
                      <a:pt x="29081" y="462308"/>
                    </a:cubicBezTo>
                    <a:cubicBezTo>
                      <a:pt x="29782" y="458985"/>
                      <a:pt x="30833" y="455720"/>
                      <a:pt x="32234" y="452688"/>
                    </a:cubicBezTo>
                    <a:lnTo>
                      <a:pt x="32234" y="452630"/>
                    </a:lnTo>
                    <a:cubicBezTo>
                      <a:pt x="36147" y="444234"/>
                      <a:pt x="42512" y="437238"/>
                      <a:pt x="50395" y="432457"/>
                    </a:cubicBezTo>
                    <a:cubicBezTo>
                      <a:pt x="50863" y="432107"/>
                      <a:pt x="51855" y="431524"/>
                      <a:pt x="53198" y="430941"/>
                    </a:cubicBezTo>
                    <a:cubicBezTo>
                      <a:pt x="53724" y="430591"/>
                      <a:pt x="54308" y="430358"/>
                      <a:pt x="54833" y="430125"/>
                    </a:cubicBezTo>
                    <a:cubicBezTo>
                      <a:pt x="70308" y="422895"/>
                      <a:pt x="117901" y="403888"/>
                      <a:pt x="117901" y="403888"/>
                    </a:cubicBezTo>
                    <a:cubicBezTo>
                      <a:pt x="141726" y="393626"/>
                      <a:pt x="166311" y="384823"/>
                      <a:pt x="191479" y="375902"/>
                    </a:cubicBezTo>
                    <a:close/>
                    <a:moveTo>
                      <a:pt x="277747" y="0"/>
                    </a:moveTo>
                    <a:lnTo>
                      <a:pt x="277980" y="0"/>
                    </a:lnTo>
                    <a:lnTo>
                      <a:pt x="278214" y="0"/>
                    </a:lnTo>
                    <a:lnTo>
                      <a:pt x="280491" y="0"/>
                    </a:lnTo>
                    <a:lnTo>
                      <a:pt x="282768" y="0"/>
                    </a:lnTo>
                    <a:lnTo>
                      <a:pt x="283001" y="0"/>
                    </a:lnTo>
                    <a:lnTo>
                      <a:pt x="283235" y="0"/>
                    </a:lnTo>
                    <a:cubicBezTo>
                      <a:pt x="348858" y="0"/>
                      <a:pt x="402105" y="53118"/>
                      <a:pt x="401988" y="118656"/>
                    </a:cubicBezTo>
                    <a:cubicBezTo>
                      <a:pt x="401988" y="125420"/>
                      <a:pt x="400470" y="154807"/>
                      <a:pt x="400470" y="162854"/>
                    </a:cubicBezTo>
                    <a:cubicBezTo>
                      <a:pt x="403331" y="163029"/>
                      <a:pt x="429954" y="156673"/>
                      <a:pt x="427093" y="188509"/>
                    </a:cubicBezTo>
                    <a:cubicBezTo>
                      <a:pt x="421021" y="256030"/>
                      <a:pt x="395215" y="242969"/>
                      <a:pt x="394456" y="242969"/>
                    </a:cubicBezTo>
                    <a:cubicBezTo>
                      <a:pt x="381670" y="283901"/>
                      <a:pt x="361820" y="309964"/>
                      <a:pt x="342436" y="326465"/>
                    </a:cubicBezTo>
                    <a:cubicBezTo>
                      <a:pt x="312485" y="351946"/>
                      <a:pt x="283468" y="354745"/>
                      <a:pt x="283001" y="354745"/>
                    </a:cubicBezTo>
                    <a:cubicBezTo>
                      <a:pt x="282125" y="354803"/>
                      <a:pt x="281250" y="354803"/>
                      <a:pt x="280491" y="354803"/>
                    </a:cubicBezTo>
                    <a:cubicBezTo>
                      <a:pt x="279615" y="354803"/>
                      <a:pt x="278856" y="354745"/>
                      <a:pt x="277980" y="354745"/>
                    </a:cubicBezTo>
                    <a:cubicBezTo>
                      <a:pt x="277455" y="354745"/>
                      <a:pt x="248263" y="351946"/>
                      <a:pt x="218136" y="326116"/>
                    </a:cubicBezTo>
                    <a:cubicBezTo>
                      <a:pt x="198811" y="309556"/>
                      <a:pt x="179136" y="283609"/>
                      <a:pt x="166467" y="242969"/>
                    </a:cubicBezTo>
                    <a:cubicBezTo>
                      <a:pt x="165649" y="242969"/>
                      <a:pt x="139902" y="256030"/>
                      <a:pt x="133830" y="188509"/>
                    </a:cubicBezTo>
                    <a:cubicBezTo>
                      <a:pt x="130969" y="156731"/>
                      <a:pt x="157592" y="163087"/>
                      <a:pt x="160453" y="162970"/>
                    </a:cubicBezTo>
                    <a:cubicBezTo>
                      <a:pt x="160453" y="154807"/>
                      <a:pt x="158877" y="125478"/>
                      <a:pt x="158877" y="118715"/>
                    </a:cubicBezTo>
                    <a:cubicBezTo>
                      <a:pt x="158877" y="53177"/>
                      <a:pt x="212123" y="0"/>
                      <a:pt x="277747" y="0"/>
                    </a:cubicBezTo>
                    <a:close/>
                  </a:path>
                </a:pathLst>
              </a:custGeom>
              <a:solidFill>
                <a:schemeClr val="tx1"/>
              </a:solidFill>
              <a:ln>
                <a:noFill/>
              </a:ln>
              <a:extLst/>
            </p:spPr>
            <p:txBody>
              <a:bodyPr vert="horz" wrap="square" lIns="129606" tIns="64803" rIns="129606" bIns="64803" numCol="1" anchor="t" anchorCtr="0" compatLnSpc="1">
                <a:prstTxWarp prst="textNoShape">
                  <a:avLst/>
                </a:prstTxWarp>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defTabSz="1270559">
                  <a:defRPr/>
                </a:pPr>
                <a:endParaRPr lang="en-US" sz="2000" kern="0" dirty="0">
                  <a:solidFill>
                    <a:schemeClr val="bg2">
                      <a:lumMod val="25000"/>
                    </a:schemeClr>
                  </a:solidFill>
                  <a:latin typeface="+mj-lt"/>
                </a:endParaRPr>
              </a:p>
            </p:txBody>
          </p:sp>
          <p:sp>
            <p:nvSpPr>
              <p:cNvPr id="212" name="Freeform 111">
                <a:extLst>
                  <a:ext uri="{FF2B5EF4-FFF2-40B4-BE49-F238E27FC236}">
                    <a16:creationId xmlns:a16="http://schemas.microsoft.com/office/drawing/2014/main" id="{F45FF378-0C58-4951-AAB7-A59B58DB54E3}"/>
                  </a:ext>
                </a:extLst>
              </p:cNvPr>
              <p:cNvSpPr>
                <a:spLocks noChangeAspect="1"/>
              </p:cNvSpPr>
              <p:nvPr/>
            </p:nvSpPr>
            <p:spPr bwMode="black">
              <a:xfrm>
                <a:off x="5367004" y="5319552"/>
                <a:ext cx="915153" cy="1226649"/>
              </a:xfrm>
              <a:custGeom>
                <a:avLst/>
                <a:gdLst>
                  <a:gd name="connsiteX0" fmla="*/ 149760 w 444804"/>
                  <a:gd name="connsiteY0" fmla="*/ 323740 h 596204"/>
                  <a:gd name="connsiteX1" fmla="*/ 159803 w 444804"/>
                  <a:gd name="connsiteY1" fmla="*/ 325172 h 596204"/>
                  <a:gd name="connsiteX2" fmla="*/ 158368 w 444804"/>
                  <a:gd name="connsiteY2" fmla="*/ 335202 h 596204"/>
                  <a:gd name="connsiteX3" fmla="*/ 67981 w 444804"/>
                  <a:gd name="connsiteY3" fmla="*/ 419741 h 596204"/>
                  <a:gd name="connsiteX4" fmla="*/ 60090 w 444804"/>
                  <a:gd name="connsiteY4" fmla="*/ 421890 h 596204"/>
                  <a:gd name="connsiteX5" fmla="*/ 55069 w 444804"/>
                  <a:gd name="connsiteY5" fmla="*/ 414726 h 596204"/>
                  <a:gd name="connsiteX6" fmla="*/ 55069 w 444804"/>
                  <a:gd name="connsiteY6" fmla="*/ 403263 h 596204"/>
                  <a:gd name="connsiteX7" fmla="*/ 13462 w 444804"/>
                  <a:gd name="connsiteY7" fmla="*/ 464160 h 596204"/>
                  <a:gd name="connsiteX8" fmla="*/ 7006 w 444804"/>
                  <a:gd name="connsiteY8" fmla="*/ 468458 h 596204"/>
                  <a:gd name="connsiteX9" fmla="*/ 4137 w 444804"/>
                  <a:gd name="connsiteY9" fmla="*/ 467025 h 596204"/>
                  <a:gd name="connsiteX10" fmla="*/ 550 w 444804"/>
                  <a:gd name="connsiteY10" fmla="*/ 457712 h 596204"/>
                  <a:gd name="connsiteX11" fmla="*/ 55786 w 444804"/>
                  <a:gd name="connsiteY11" fmla="*/ 380337 h 596204"/>
                  <a:gd name="connsiteX12" fmla="*/ 64395 w 444804"/>
                  <a:gd name="connsiteY12" fmla="*/ 378188 h 596204"/>
                  <a:gd name="connsiteX13" fmla="*/ 68699 w 444804"/>
                  <a:gd name="connsiteY13" fmla="*/ 385352 h 596204"/>
                  <a:gd name="connsiteX14" fmla="*/ 69416 w 444804"/>
                  <a:gd name="connsiteY14" fmla="*/ 397532 h 596204"/>
                  <a:gd name="connsiteX15" fmla="*/ 149760 w 444804"/>
                  <a:gd name="connsiteY15" fmla="*/ 323740 h 596204"/>
                  <a:gd name="connsiteX16" fmla="*/ 121114 w 444804"/>
                  <a:gd name="connsiteY16" fmla="*/ 292955 h 596204"/>
                  <a:gd name="connsiteX17" fmla="*/ 126850 w 444804"/>
                  <a:gd name="connsiteY17" fmla="*/ 295103 h 596204"/>
                  <a:gd name="connsiteX18" fmla="*/ 124699 w 444804"/>
                  <a:gd name="connsiteY18" fmla="*/ 300117 h 596204"/>
                  <a:gd name="connsiteX19" fmla="*/ 66624 w 444804"/>
                  <a:gd name="connsiteY19" fmla="*/ 336642 h 596204"/>
                  <a:gd name="connsiteX20" fmla="*/ 62322 w 444804"/>
                  <a:gd name="connsiteY20" fmla="*/ 336642 h 596204"/>
                  <a:gd name="connsiteX21" fmla="*/ 60171 w 444804"/>
                  <a:gd name="connsiteY21" fmla="*/ 332345 h 596204"/>
                  <a:gd name="connsiteX22" fmla="*/ 61605 w 444804"/>
                  <a:gd name="connsiteY22" fmla="*/ 325900 h 596204"/>
                  <a:gd name="connsiteX23" fmla="*/ 32209 w 444804"/>
                  <a:gd name="connsiteY23" fmla="*/ 354547 h 596204"/>
                  <a:gd name="connsiteX24" fmla="*/ 28624 w 444804"/>
                  <a:gd name="connsiteY24" fmla="*/ 355979 h 596204"/>
                  <a:gd name="connsiteX25" fmla="*/ 26473 w 444804"/>
                  <a:gd name="connsiteY25" fmla="*/ 355263 h 596204"/>
                  <a:gd name="connsiteX26" fmla="*/ 25756 w 444804"/>
                  <a:gd name="connsiteY26" fmla="*/ 349533 h 596204"/>
                  <a:gd name="connsiteX27" fmla="*/ 64473 w 444804"/>
                  <a:gd name="connsiteY27" fmla="*/ 313724 h 596204"/>
                  <a:gd name="connsiteX28" fmla="*/ 68775 w 444804"/>
                  <a:gd name="connsiteY28" fmla="*/ 313008 h 596204"/>
                  <a:gd name="connsiteX29" fmla="*/ 70926 w 444804"/>
                  <a:gd name="connsiteY29" fmla="*/ 317305 h 596204"/>
                  <a:gd name="connsiteX30" fmla="*/ 69492 w 444804"/>
                  <a:gd name="connsiteY30" fmla="*/ 324467 h 596204"/>
                  <a:gd name="connsiteX31" fmla="*/ 121114 w 444804"/>
                  <a:gd name="connsiteY31" fmla="*/ 292955 h 596204"/>
                  <a:gd name="connsiteX32" fmla="*/ 167717 w 444804"/>
                  <a:gd name="connsiteY32" fmla="*/ 231367 h 596204"/>
                  <a:gd name="connsiteX33" fmla="*/ 167717 w 444804"/>
                  <a:gd name="connsiteY33" fmla="*/ 232083 h 596204"/>
                  <a:gd name="connsiteX34" fmla="*/ 167000 w 444804"/>
                  <a:gd name="connsiteY34" fmla="*/ 234231 h 596204"/>
                  <a:gd name="connsiteX35" fmla="*/ 168434 w 444804"/>
                  <a:gd name="connsiteY35" fmla="*/ 232083 h 596204"/>
                  <a:gd name="connsiteX36" fmla="*/ 167717 w 444804"/>
                  <a:gd name="connsiteY36" fmla="*/ 231367 h 596204"/>
                  <a:gd name="connsiteX37" fmla="*/ 245396 w 444804"/>
                  <a:gd name="connsiteY37" fmla="*/ 118756 h 596204"/>
                  <a:gd name="connsiteX38" fmla="*/ 271738 w 444804"/>
                  <a:gd name="connsiteY38" fmla="*/ 120356 h 596204"/>
                  <a:gd name="connsiteX39" fmla="*/ 439606 w 444804"/>
                  <a:gd name="connsiteY39" fmla="*/ 250704 h 596204"/>
                  <a:gd name="connsiteX40" fmla="*/ 389389 w 444804"/>
                  <a:gd name="connsiteY40" fmla="*/ 280068 h 596204"/>
                  <a:gd name="connsiteX41" fmla="*/ 352085 w 444804"/>
                  <a:gd name="connsiteY41" fmla="*/ 236380 h 596204"/>
                  <a:gd name="connsiteX42" fmla="*/ 369302 w 444804"/>
                  <a:gd name="connsiteY42" fmla="*/ 290811 h 596204"/>
                  <a:gd name="connsiteX43" fmla="*/ 374324 w 444804"/>
                  <a:gd name="connsiteY43" fmla="*/ 318026 h 596204"/>
                  <a:gd name="connsiteX44" fmla="*/ 406606 w 444804"/>
                  <a:gd name="connsiteY44" fmla="*/ 546494 h 596204"/>
                  <a:gd name="connsiteX45" fmla="*/ 329128 w 444804"/>
                  <a:gd name="connsiteY45" fmla="*/ 567980 h 596204"/>
                  <a:gd name="connsiteX46" fmla="*/ 294694 w 444804"/>
                  <a:gd name="connsiteY46" fmla="*/ 367445 h 596204"/>
                  <a:gd name="connsiteX47" fmla="*/ 283216 w 444804"/>
                  <a:gd name="connsiteY47" fmla="*/ 363147 h 596204"/>
                  <a:gd name="connsiteX48" fmla="*/ 256673 w 444804"/>
                  <a:gd name="connsiteY48" fmla="*/ 550791 h 596204"/>
                  <a:gd name="connsiteX49" fmla="*/ 175608 w 444804"/>
                  <a:gd name="connsiteY49" fmla="*/ 550791 h 596204"/>
                  <a:gd name="connsiteX50" fmla="*/ 217934 w 444804"/>
                  <a:gd name="connsiteY50" fmla="*/ 309432 h 596204"/>
                  <a:gd name="connsiteX51" fmla="*/ 281064 w 444804"/>
                  <a:gd name="connsiteY51" fmla="*/ 304419 h 596204"/>
                  <a:gd name="connsiteX52" fmla="*/ 319802 w 444804"/>
                  <a:gd name="connsiteY52" fmla="*/ 264312 h 596204"/>
                  <a:gd name="connsiteX53" fmla="*/ 278912 w 444804"/>
                  <a:gd name="connsiteY53" fmla="*/ 224921 h 596204"/>
                  <a:gd name="connsiteX54" fmla="*/ 204304 w 444804"/>
                  <a:gd name="connsiteY54" fmla="*/ 228502 h 596204"/>
                  <a:gd name="connsiteX55" fmla="*/ 197130 w 444804"/>
                  <a:gd name="connsiteY55" fmla="*/ 219191 h 596204"/>
                  <a:gd name="connsiteX56" fmla="*/ 188521 w 444804"/>
                  <a:gd name="connsiteY56" fmla="*/ 207732 h 596204"/>
                  <a:gd name="connsiteX57" fmla="*/ 172021 w 444804"/>
                  <a:gd name="connsiteY57" fmla="*/ 224205 h 596204"/>
                  <a:gd name="connsiteX58" fmla="*/ 168434 w 444804"/>
                  <a:gd name="connsiteY58" fmla="*/ 229934 h 596204"/>
                  <a:gd name="connsiteX59" fmla="*/ 174173 w 444804"/>
                  <a:gd name="connsiteY59" fmla="*/ 232799 h 596204"/>
                  <a:gd name="connsiteX60" fmla="*/ 194260 w 444804"/>
                  <a:gd name="connsiteY60" fmla="*/ 237096 h 596204"/>
                  <a:gd name="connsiteX61" fmla="*/ 273172 w 444804"/>
                  <a:gd name="connsiteY61" fmla="*/ 234231 h 596204"/>
                  <a:gd name="connsiteX62" fmla="*/ 299716 w 444804"/>
                  <a:gd name="connsiteY62" fmla="*/ 250704 h 596204"/>
                  <a:gd name="connsiteX63" fmla="*/ 304020 w 444804"/>
                  <a:gd name="connsiteY63" fmla="*/ 264312 h 596204"/>
                  <a:gd name="connsiteX64" fmla="*/ 295411 w 444804"/>
                  <a:gd name="connsiteY64" fmla="*/ 282217 h 596204"/>
                  <a:gd name="connsiteX65" fmla="*/ 273172 w 444804"/>
                  <a:gd name="connsiteY65" fmla="*/ 292960 h 596204"/>
                  <a:gd name="connsiteX66" fmla="*/ 115348 w 444804"/>
                  <a:gd name="connsiteY66" fmla="*/ 257150 h 596204"/>
                  <a:gd name="connsiteX67" fmla="*/ 187086 w 444804"/>
                  <a:gd name="connsiteY67" fmla="*/ 137545 h 596204"/>
                  <a:gd name="connsiteX68" fmla="*/ 193543 w 444804"/>
                  <a:gd name="connsiteY68" fmla="*/ 133964 h 596204"/>
                  <a:gd name="connsiteX69" fmla="*/ 245396 w 444804"/>
                  <a:gd name="connsiteY69" fmla="*/ 118756 h 596204"/>
                  <a:gd name="connsiteX70" fmla="*/ 172053 w 444804"/>
                  <a:gd name="connsiteY70" fmla="*/ 0 h 596204"/>
                  <a:gd name="connsiteX71" fmla="*/ 232308 w 444804"/>
                  <a:gd name="connsiteY71" fmla="*/ 60140 h 596204"/>
                  <a:gd name="connsiteX72" fmla="*/ 172053 w 444804"/>
                  <a:gd name="connsiteY72" fmla="*/ 120280 h 596204"/>
                  <a:gd name="connsiteX73" fmla="*/ 111798 w 444804"/>
                  <a:gd name="connsiteY73" fmla="*/ 60140 h 596204"/>
                  <a:gd name="connsiteX74" fmla="*/ 172053 w 444804"/>
                  <a:gd name="connsiteY74" fmla="*/ 0 h 59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44804" h="596204">
                    <a:moveTo>
                      <a:pt x="149760" y="323740"/>
                    </a:moveTo>
                    <a:cubicBezTo>
                      <a:pt x="152629" y="321590"/>
                      <a:pt x="157651" y="322307"/>
                      <a:pt x="159803" y="325172"/>
                    </a:cubicBezTo>
                    <a:cubicBezTo>
                      <a:pt x="162672" y="328755"/>
                      <a:pt x="161955" y="333053"/>
                      <a:pt x="158368" y="335202"/>
                    </a:cubicBezTo>
                    <a:cubicBezTo>
                      <a:pt x="122500" y="362427"/>
                      <a:pt x="90937" y="394666"/>
                      <a:pt x="67981" y="419741"/>
                    </a:cubicBezTo>
                    <a:cubicBezTo>
                      <a:pt x="65829" y="422607"/>
                      <a:pt x="62960" y="423323"/>
                      <a:pt x="60090" y="421890"/>
                    </a:cubicBezTo>
                    <a:cubicBezTo>
                      <a:pt x="57221" y="421174"/>
                      <a:pt x="55069" y="418308"/>
                      <a:pt x="55069" y="414726"/>
                    </a:cubicBezTo>
                    <a:cubicBezTo>
                      <a:pt x="55069" y="411144"/>
                      <a:pt x="55069" y="407562"/>
                      <a:pt x="55069" y="403263"/>
                    </a:cubicBezTo>
                    <a:cubicBezTo>
                      <a:pt x="37852" y="422607"/>
                      <a:pt x="24223" y="443383"/>
                      <a:pt x="13462" y="464160"/>
                    </a:cubicBezTo>
                    <a:cubicBezTo>
                      <a:pt x="12745" y="466309"/>
                      <a:pt x="9876" y="468458"/>
                      <a:pt x="7006" y="468458"/>
                    </a:cubicBezTo>
                    <a:cubicBezTo>
                      <a:pt x="6289" y="468458"/>
                      <a:pt x="4854" y="467742"/>
                      <a:pt x="4137" y="467025"/>
                    </a:cubicBezTo>
                    <a:cubicBezTo>
                      <a:pt x="550" y="465593"/>
                      <a:pt x="-885" y="461294"/>
                      <a:pt x="550" y="457712"/>
                    </a:cubicBezTo>
                    <a:cubicBezTo>
                      <a:pt x="14180" y="431204"/>
                      <a:pt x="32831" y="403980"/>
                      <a:pt x="55786" y="380337"/>
                    </a:cubicBezTo>
                    <a:cubicBezTo>
                      <a:pt x="57938" y="377472"/>
                      <a:pt x="61525" y="377472"/>
                      <a:pt x="64395" y="378188"/>
                    </a:cubicBezTo>
                    <a:cubicBezTo>
                      <a:pt x="67264" y="379621"/>
                      <a:pt x="68699" y="381770"/>
                      <a:pt x="68699" y="385352"/>
                    </a:cubicBezTo>
                    <a:cubicBezTo>
                      <a:pt x="68699" y="388935"/>
                      <a:pt x="68699" y="393233"/>
                      <a:pt x="69416" y="397532"/>
                    </a:cubicBezTo>
                    <a:cubicBezTo>
                      <a:pt x="90937" y="373890"/>
                      <a:pt x="118196" y="347382"/>
                      <a:pt x="149760" y="323740"/>
                    </a:cubicBezTo>
                    <a:close/>
                    <a:moveTo>
                      <a:pt x="121114" y="292955"/>
                    </a:moveTo>
                    <a:cubicBezTo>
                      <a:pt x="123265" y="292239"/>
                      <a:pt x="126133" y="292955"/>
                      <a:pt x="126850" y="295103"/>
                    </a:cubicBezTo>
                    <a:cubicBezTo>
                      <a:pt x="127567" y="296536"/>
                      <a:pt x="126850" y="299401"/>
                      <a:pt x="124699" y="300117"/>
                    </a:cubicBezTo>
                    <a:cubicBezTo>
                      <a:pt x="102473" y="310859"/>
                      <a:pt x="81681" y="325183"/>
                      <a:pt x="66624" y="336642"/>
                    </a:cubicBezTo>
                    <a:cubicBezTo>
                      <a:pt x="65190" y="337358"/>
                      <a:pt x="63756" y="337358"/>
                      <a:pt x="62322" y="336642"/>
                    </a:cubicBezTo>
                    <a:cubicBezTo>
                      <a:pt x="60888" y="335926"/>
                      <a:pt x="60171" y="334494"/>
                      <a:pt x="60171" y="332345"/>
                    </a:cubicBezTo>
                    <a:cubicBezTo>
                      <a:pt x="60888" y="330197"/>
                      <a:pt x="60888" y="328048"/>
                      <a:pt x="61605" y="325900"/>
                    </a:cubicBezTo>
                    <a:cubicBezTo>
                      <a:pt x="50133" y="334494"/>
                      <a:pt x="40096" y="344520"/>
                      <a:pt x="32209" y="354547"/>
                    </a:cubicBezTo>
                    <a:cubicBezTo>
                      <a:pt x="31492" y="355979"/>
                      <a:pt x="30058" y="356695"/>
                      <a:pt x="28624" y="355979"/>
                    </a:cubicBezTo>
                    <a:cubicBezTo>
                      <a:pt x="27907" y="355979"/>
                      <a:pt x="27190" y="355979"/>
                      <a:pt x="26473" y="355263"/>
                    </a:cubicBezTo>
                    <a:cubicBezTo>
                      <a:pt x="25039" y="353831"/>
                      <a:pt x="24322" y="351682"/>
                      <a:pt x="25756" y="349533"/>
                    </a:cubicBezTo>
                    <a:cubicBezTo>
                      <a:pt x="35794" y="336642"/>
                      <a:pt x="49417" y="324467"/>
                      <a:pt x="64473" y="313724"/>
                    </a:cubicBezTo>
                    <a:cubicBezTo>
                      <a:pt x="65907" y="312292"/>
                      <a:pt x="67341" y="312292"/>
                      <a:pt x="68775" y="313008"/>
                    </a:cubicBezTo>
                    <a:cubicBezTo>
                      <a:pt x="70209" y="314440"/>
                      <a:pt x="70926" y="315873"/>
                      <a:pt x="70926" y="317305"/>
                    </a:cubicBezTo>
                    <a:cubicBezTo>
                      <a:pt x="70209" y="319454"/>
                      <a:pt x="70209" y="322319"/>
                      <a:pt x="69492" y="324467"/>
                    </a:cubicBezTo>
                    <a:cubicBezTo>
                      <a:pt x="83832" y="313724"/>
                      <a:pt x="101756" y="302265"/>
                      <a:pt x="121114" y="292955"/>
                    </a:cubicBezTo>
                    <a:close/>
                    <a:moveTo>
                      <a:pt x="167717" y="231367"/>
                    </a:moveTo>
                    <a:cubicBezTo>
                      <a:pt x="167717" y="232083"/>
                      <a:pt x="167717" y="232083"/>
                      <a:pt x="167717" y="232083"/>
                    </a:cubicBezTo>
                    <a:cubicBezTo>
                      <a:pt x="167717" y="232799"/>
                      <a:pt x="167717" y="233515"/>
                      <a:pt x="167000" y="234231"/>
                    </a:cubicBezTo>
                    <a:cubicBezTo>
                      <a:pt x="167717" y="232799"/>
                      <a:pt x="167717" y="232083"/>
                      <a:pt x="168434" y="232083"/>
                    </a:cubicBezTo>
                    <a:cubicBezTo>
                      <a:pt x="167717" y="232083"/>
                      <a:pt x="167717" y="231367"/>
                      <a:pt x="167717" y="231367"/>
                    </a:cubicBezTo>
                    <a:close/>
                    <a:moveTo>
                      <a:pt x="245396" y="118756"/>
                    </a:moveTo>
                    <a:cubicBezTo>
                      <a:pt x="254252" y="117939"/>
                      <a:pt x="263308" y="118208"/>
                      <a:pt x="271738" y="120356"/>
                    </a:cubicBezTo>
                    <a:cubicBezTo>
                      <a:pt x="340607" y="146139"/>
                      <a:pt x="397997" y="188395"/>
                      <a:pt x="439606" y="250704"/>
                    </a:cubicBezTo>
                    <a:cubicBezTo>
                      <a:pt x="461127" y="282217"/>
                      <a:pt x="410193" y="311581"/>
                      <a:pt x="389389" y="280068"/>
                    </a:cubicBezTo>
                    <a:cubicBezTo>
                      <a:pt x="377911" y="263595"/>
                      <a:pt x="365715" y="249272"/>
                      <a:pt x="352085" y="236380"/>
                    </a:cubicBezTo>
                    <a:cubicBezTo>
                      <a:pt x="359259" y="253569"/>
                      <a:pt x="364998" y="271474"/>
                      <a:pt x="369302" y="290811"/>
                    </a:cubicBezTo>
                    <a:cubicBezTo>
                      <a:pt x="370019" y="294392"/>
                      <a:pt x="374324" y="311581"/>
                      <a:pt x="374324" y="318026"/>
                    </a:cubicBezTo>
                    <a:cubicBezTo>
                      <a:pt x="374324" y="396092"/>
                      <a:pt x="384367" y="471293"/>
                      <a:pt x="406606" y="546494"/>
                    </a:cubicBezTo>
                    <a:cubicBezTo>
                      <a:pt x="421671" y="596628"/>
                      <a:pt x="344194" y="617397"/>
                      <a:pt x="329128" y="567980"/>
                    </a:cubicBezTo>
                    <a:cubicBezTo>
                      <a:pt x="309042" y="502090"/>
                      <a:pt x="298998" y="435483"/>
                      <a:pt x="294694" y="367445"/>
                    </a:cubicBezTo>
                    <a:cubicBezTo>
                      <a:pt x="291107" y="366012"/>
                      <a:pt x="286803" y="364580"/>
                      <a:pt x="283216" y="363147"/>
                    </a:cubicBezTo>
                    <a:cubicBezTo>
                      <a:pt x="261694" y="424024"/>
                      <a:pt x="253803" y="486333"/>
                      <a:pt x="256673" y="550791"/>
                    </a:cubicBezTo>
                    <a:cubicBezTo>
                      <a:pt x="258825" y="603073"/>
                      <a:pt x="178478" y="603073"/>
                      <a:pt x="175608" y="550791"/>
                    </a:cubicBezTo>
                    <a:cubicBezTo>
                      <a:pt x="172021" y="466280"/>
                      <a:pt x="187086" y="387498"/>
                      <a:pt x="217934" y="309432"/>
                    </a:cubicBezTo>
                    <a:cubicBezTo>
                      <a:pt x="240890" y="308716"/>
                      <a:pt x="262412" y="306567"/>
                      <a:pt x="281064" y="304419"/>
                    </a:cubicBezTo>
                    <a:cubicBezTo>
                      <a:pt x="304737" y="300838"/>
                      <a:pt x="319802" y="285798"/>
                      <a:pt x="319802" y="264312"/>
                    </a:cubicBezTo>
                    <a:cubicBezTo>
                      <a:pt x="319802" y="244974"/>
                      <a:pt x="301150" y="222056"/>
                      <a:pt x="278912" y="224921"/>
                    </a:cubicBezTo>
                    <a:cubicBezTo>
                      <a:pt x="248781" y="228502"/>
                      <a:pt x="225825" y="229934"/>
                      <a:pt x="204304" y="228502"/>
                    </a:cubicBezTo>
                    <a:cubicBezTo>
                      <a:pt x="202151" y="225637"/>
                      <a:pt x="199282" y="222056"/>
                      <a:pt x="197130" y="219191"/>
                    </a:cubicBezTo>
                    <a:cubicBezTo>
                      <a:pt x="193543" y="215610"/>
                      <a:pt x="190673" y="211313"/>
                      <a:pt x="188521" y="207732"/>
                    </a:cubicBezTo>
                    <a:cubicBezTo>
                      <a:pt x="182065" y="212746"/>
                      <a:pt x="177043" y="217759"/>
                      <a:pt x="172021" y="224205"/>
                    </a:cubicBezTo>
                    <a:cubicBezTo>
                      <a:pt x="169869" y="226353"/>
                      <a:pt x="169152" y="228502"/>
                      <a:pt x="168434" y="229934"/>
                    </a:cubicBezTo>
                    <a:cubicBezTo>
                      <a:pt x="169869" y="231367"/>
                      <a:pt x="170586" y="231367"/>
                      <a:pt x="174173" y="232799"/>
                    </a:cubicBezTo>
                    <a:cubicBezTo>
                      <a:pt x="180630" y="234948"/>
                      <a:pt x="187804" y="236380"/>
                      <a:pt x="194260" y="237096"/>
                    </a:cubicBezTo>
                    <a:cubicBezTo>
                      <a:pt x="220803" y="239245"/>
                      <a:pt x="247347" y="237096"/>
                      <a:pt x="273172" y="234231"/>
                    </a:cubicBezTo>
                    <a:cubicBezTo>
                      <a:pt x="284651" y="232799"/>
                      <a:pt x="294694" y="240677"/>
                      <a:pt x="299716" y="250704"/>
                    </a:cubicBezTo>
                    <a:cubicBezTo>
                      <a:pt x="301868" y="255001"/>
                      <a:pt x="304020" y="260015"/>
                      <a:pt x="304020" y="264312"/>
                    </a:cubicBezTo>
                    <a:cubicBezTo>
                      <a:pt x="304020" y="272906"/>
                      <a:pt x="299716" y="278636"/>
                      <a:pt x="295411" y="282217"/>
                    </a:cubicBezTo>
                    <a:cubicBezTo>
                      <a:pt x="289672" y="287946"/>
                      <a:pt x="281781" y="291527"/>
                      <a:pt x="273172" y="292960"/>
                    </a:cubicBezTo>
                    <a:cubicBezTo>
                      <a:pt x="226542" y="298689"/>
                      <a:pt x="142608" y="308000"/>
                      <a:pt x="115348" y="257150"/>
                    </a:cubicBezTo>
                    <a:cubicBezTo>
                      <a:pt x="88087" y="205584"/>
                      <a:pt x="149782" y="160463"/>
                      <a:pt x="187086" y="137545"/>
                    </a:cubicBezTo>
                    <a:cubicBezTo>
                      <a:pt x="189238" y="136112"/>
                      <a:pt x="191391" y="134680"/>
                      <a:pt x="193543" y="133964"/>
                    </a:cubicBezTo>
                    <a:cubicBezTo>
                      <a:pt x="194081" y="133427"/>
                      <a:pt x="218831" y="121207"/>
                      <a:pt x="245396" y="118756"/>
                    </a:cubicBezTo>
                    <a:close/>
                    <a:moveTo>
                      <a:pt x="172053" y="0"/>
                    </a:moveTo>
                    <a:cubicBezTo>
                      <a:pt x="205331" y="0"/>
                      <a:pt x="232308" y="26926"/>
                      <a:pt x="232308" y="60140"/>
                    </a:cubicBezTo>
                    <a:cubicBezTo>
                      <a:pt x="232308" y="93354"/>
                      <a:pt x="205331" y="120280"/>
                      <a:pt x="172053" y="120280"/>
                    </a:cubicBezTo>
                    <a:cubicBezTo>
                      <a:pt x="138775" y="120280"/>
                      <a:pt x="111798" y="93354"/>
                      <a:pt x="111798" y="60140"/>
                    </a:cubicBezTo>
                    <a:cubicBezTo>
                      <a:pt x="111798" y="26926"/>
                      <a:pt x="138775" y="0"/>
                      <a:pt x="172053" y="0"/>
                    </a:cubicBez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254104" tIns="203283" rIns="254104" bIns="203283" numCol="1" spcCol="0" rtlCol="0" fromWordArt="0" anchor="t"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algn="ctr" defTabSz="1295670" fontAlgn="base">
                  <a:lnSpc>
                    <a:spcPct val="90000"/>
                  </a:lnSpc>
                  <a:spcBef>
                    <a:spcPct val="0"/>
                  </a:spcBef>
                  <a:spcAft>
                    <a:spcPct val="0"/>
                  </a:spcAft>
                  <a:defRPr/>
                </a:pPr>
                <a:endParaRPr lang="en-US" sz="2000" kern="0" dirty="0">
                  <a:solidFill>
                    <a:schemeClr val="bg2">
                      <a:lumMod val="25000"/>
                    </a:schemeClr>
                  </a:solidFill>
                  <a:latin typeface="+mj-lt"/>
                  <a:ea typeface="Segoe UI" pitchFamily="34" charset="0"/>
                  <a:cs typeface="Segoe UI" pitchFamily="34" charset="0"/>
                </a:endParaRPr>
              </a:p>
            </p:txBody>
          </p:sp>
          <p:sp>
            <p:nvSpPr>
              <p:cNvPr id="213" name="Freeform 124">
                <a:extLst>
                  <a:ext uri="{FF2B5EF4-FFF2-40B4-BE49-F238E27FC236}">
                    <a16:creationId xmlns:a16="http://schemas.microsoft.com/office/drawing/2014/main" id="{86147EA7-1937-4470-A95C-B1673D2BBF6E}"/>
                  </a:ext>
                </a:extLst>
              </p:cNvPr>
              <p:cNvSpPr>
                <a:spLocks noChangeAspect="1" noEditPoints="1"/>
              </p:cNvSpPr>
              <p:nvPr/>
            </p:nvSpPr>
            <p:spPr bwMode="black">
              <a:xfrm>
                <a:off x="2440871" y="7535336"/>
                <a:ext cx="889779" cy="633415"/>
              </a:xfrm>
              <a:custGeom>
                <a:avLst/>
                <a:gdLst>
                  <a:gd name="connsiteX0" fmla="*/ 303775 w 607639"/>
                  <a:gd name="connsiteY0" fmla="*/ 235618 h 432566"/>
                  <a:gd name="connsiteX1" fmla="*/ 441377 w 607639"/>
                  <a:gd name="connsiteY1" fmla="*/ 302719 h 432566"/>
                  <a:gd name="connsiteX2" fmla="*/ 489885 w 607639"/>
                  <a:gd name="connsiteY2" fmla="*/ 292232 h 432566"/>
                  <a:gd name="connsiteX3" fmla="*/ 607639 w 607639"/>
                  <a:gd name="connsiteY3" fmla="*/ 409814 h 432566"/>
                  <a:gd name="connsiteX4" fmla="*/ 584854 w 607639"/>
                  <a:gd name="connsiteY4" fmla="*/ 432566 h 432566"/>
                  <a:gd name="connsiteX5" fmla="*/ 394828 w 607639"/>
                  <a:gd name="connsiteY5" fmla="*/ 432566 h 432566"/>
                  <a:gd name="connsiteX6" fmla="*/ 212812 w 607639"/>
                  <a:gd name="connsiteY6" fmla="*/ 432566 h 432566"/>
                  <a:gd name="connsiteX7" fmla="*/ 22786 w 607639"/>
                  <a:gd name="connsiteY7" fmla="*/ 432566 h 432566"/>
                  <a:gd name="connsiteX8" fmla="*/ 0 w 607639"/>
                  <a:gd name="connsiteY8" fmla="*/ 409814 h 432566"/>
                  <a:gd name="connsiteX9" fmla="*/ 117754 w 607639"/>
                  <a:gd name="connsiteY9" fmla="*/ 292232 h 432566"/>
                  <a:gd name="connsiteX10" fmla="*/ 166262 w 607639"/>
                  <a:gd name="connsiteY10" fmla="*/ 302719 h 432566"/>
                  <a:gd name="connsiteX11" fmla="*/ 303775 w 607639"/>
                  <a:gd name="connsiteY11" fmla="*/ 235618 h 432566"/>
                  <a:gd name="connsiteX12" fmla="*/ 489830 w 607639"/>
                  <a:gd name="connsiteY12" fmla="*/ 110364 h 432566"/>
                  <a:gd name="connsiteX13" fmla="*/ 558173 w 607639"/>
                  <a:gd name="connsiteY13" fmla="*/ 178530 h 432566"/>
                  <a:gd name="connsiteX14" fmla="*/ 489830 w 607639"/>
                  <a:gd name="connsiteY14" fmla="*/ 246696 h 432566"/>
                  <a:gd name="connsiteX15" fmla="*/ 421487 w 607639"/>
                  <a:gd name="connsiteY15" fmla="*/ 178530 h 432566"/>
                  <a:gd name="connsiteX16" fmla="*/ 489830 w 607639"/>
                  <a:gd name="connsiteY16" fmla="*/ 110364 h 432566"/>
                  <a:gd name="connsiteX17" fmla="*/ 117738 w 607639"/>
                  <a:gd name="connsiteY17" fmla="*/ 110364 h 432566"/>
                  <a:gd name="connsiteX18" fmla="*/ 186010 w 607639"/>
                  <a:gd name="connsiteY18" fmla="*/ 178530 h 432566"/>
                  <a:gd name="connsiteX19" fmla="*/ 117738 w 607639"/>
                  <a:gd name="connsiteY19" fmla="*/ 246696 h 432566"/>
                  <a:gd name="connsiteX20" fmla="*/ 49466 w 607639"/>
                  <a:gd name="connsiteY20" fmla="*/ 178530 h 432566"/>
                  <a:gd name="connsiteX21" fmla="*/ 117738 w 607639"/>
                  <a:gd name="connsiteY21" fmla="*/ 110364 h 432566"/>
                  <a:gd name="connsiteX22" fmla="*/ 303820 w 607639"/>
                  <a:gd name="connsiteY22" fmla="*/ 0 h 432566"/>
                  <a:gd name="connsiteX23" fmla="*/ 398978 w 607639"/>
                  <a:gd name="connsiteY23" fmla="*/ 95052 h 432566"/>
                  <a:gd name="connsiteX24" fmla="*/ 303820 w 607639"/>
                  <a:gd name="connsiteY24" fmla="*/ 190104 h 432566"/>
                  <a:gd name="connsiteX25" fmla="*/ 208662 w 607639"/>
                  <a:gd name="connsiteY25" fmla="*/ 95052 h 432566"/>
                  <a:gd name="connsiteX26" fmla="*/ 303820 w 607639"/>
                  <a:gd name="connsiteY26" fmla="*/ 0 h 432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639" h="432566">
                    <a:moveTo>
                      <a:pt x="303775" y="235618"/>
                    </a:moveTo>
                    <a:cubicBezTo>
                      <a:pt x="357623" y="235618"/>
                      <a:pt x="408534" y="260859"/>
                      <a:pt x="441377" y="302719"/>
                    </a:cubicBezTo>
                    <a:cubicBezTo>
                      <a:pt x="456152" y="295965"/>
                      <a:pt x="472529" y="292232"/>
                      <a:pt x="489885" y="292232"/>
                    </a:cubicBezTo>
                    <a:cubicBezTo>
                      <a:pt x="554770" y="292232"/>
                      <a:pt x="607639" y="344935"/>
                      <a:pt x="607639" y="409814"/>
                    </a:cubicBezTo>
                    <a:cubicBezTo>
                      <a:pt x="607639" y="422346"/>
                      <a:pt x="597404" y="432566"/>
                      <a:pt x="584854" y="432566"/>
                    </a:cubicBezTo>
                    <a:lnTo>
                      <a:pt x="394828" y="432566"/>
                    </a:lnTo>
                    <a:lnTo>
                      <a:pt x="212812" y="432566"/>
                    </a:lnTo>
                    <a:lnTo>
                      <a:pt x="22786" y="432566"/>
                    </a:lnTo>
                    <a:cubicBezTo>
                      <a:pt x="10147" y="432566"/>
                      <a:pt x="0" y="422346"/>
                      <a:pt x="0" y="409814"/>
                    </a:cubicBezTo>
                    <a:cubicBezTo>
                      <a:pt x="0" y="344935"/>
                      <a:pt x="52869" y="292232"/>
                      <a:pt x="117754" y="292232"/>
                    </a:cubicBezTo>
                    <a:cubicBezTo>
                      <a:pt x="135021" y="292232"/>
                      <a:pt x="151487" y="295965"/>
                      <a:pt x="166262" y="302719"/>
                    </a:cubicBezTo>
                    <a:cubicBezTo>
                      <a:pt x="199016" y="260859"/>
                      <a:pt x="249927" y="235618"/>
                      <a:pt x="303775" y="235618"/>
                    </a:cubicBezTo>
                    <a:close/>
                    <a:moveTo>
                      <a:pt x="489830" y="110364"/>
                    </a:moveTo>
                    <a:cubicBezTo>
                      <a:pt x="527575" y="110364"/>
                      <a:pt x="558173" y="140883"/>
                      <a:pt x="558173" y="178530"/>
                    </a:cubicBezTo>
                    <a:cubicBezTo>
                      <a:pt x="558173" y="216177"/>
                      <a:pt x="527575" y="246696"/>
                      <a:pt x="489830" y="246696"/>
                    </a:cubicBezTo>
                    <a:cubicBezTo>
                      <a:pt x="452085" y="246696"/>
                      <a:pt x="421487" y="216177"/>
                      <a:pt x="421487" y="178530"/>
                    </a:cubicBezTo>
                    <a:cubicBezTo>
                      <a:pt x="421487" y="140883"/>
                      <a:pt x="452085" y="110364"/>
                      <a:pt x="489830" y="110364"/>
                    </a:cubicBezTo>
                    <a:close/>
                    <a:moveTo>
                      <a:pt x="117738" y="110364"/>
                    </a:moveTo>
                    <a:cubicBezTo>
                      <a:pt x="155444" y="110364"/>
                      <a:pt x="186010" y="140883"/>
                      <a:pt x="186010" y="178530"/>
                    </a:cubicBezTo>
                    <a:cubicBezTo>
                      <a:pt x="186010" y="216177"/>
                      <a:pt x="155444" y="246696"/>
                      <a:pt x="117738" y="246696"/>
                    </a:cubicBezTo>
                    <a:cubicBezTo>
                      <a:pt x="80032" y="246696"/>
                      <a:pt x="49466" y="216177"/>
                      <a:pt x="49466" y="178530"/>
                    </a:cubicBezTo>
                    <a:cubicBezTo>
                      <a:pt x="49466" y="140883"/>
                      <a:pt x="80032" y="110364"/>
                      <a:pt x="117738" y="110364"/>
                    </a:cubicBezTo>
                    <a:close/>
                    <a:moveTo>
                      <a:pt x="303820" y="0"/>
                    </a:moveTo>
                    <a:cubicBezTo>
                      <a:pt x="356374" y="0"/>
                      <a:pt x="398978" y="42556"/>
                      <a:pt x="398978" y="95052"/>
                    </a:cubicBezTo>
                    <a:cubicBezTo>
                      <a:pt x="398978" y="147548"/>
                      <a:pt x="356374" y="190104"/>
                      <a:pt x="303820" y="190104"/>
                    </a:cubicBezTo>
                    <a:cubicBezTo>
                      <a:pt x="251266" y="190104"/>
                      <a:pt x="208662" y="147548"/>
                      <a:pt x="208662" y="95052"/>
                    </a:cubicBezTo>
                    <a:cubicBezTo>
                      <a:pt x="208662" y="42556"/>
                      <a:pt x="251266" y="0"/>
                      <a:pt x="303820" y="0"/>
                    </a:cubicBezTo>
                    <a:close/>
                  </a:path>
                </a:pathLst>
              </a:custGeom>
              <a:solidFill>
                <a:schemeClr val="tx1"/>
              </a:solidFill>
              <a:ln>
                <a:noFill/>
              </a:ln>
              <a:extLst/>
            </p:spPr>
            <p:txBody>
              <a:bodyPr vert="horz" wrap="square" lIns="129606" tIns="64803" rIns="129606" bIns="64803" numCol="1" anchor="t" anchorCtr="0" compatLnSpc="1">
                <a:prstTxWarp prst="textNoShape">
                  <a:avLst/>
                </a:prstTxWarp>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defTabSz="1270559">
                  <a:defRPr/>
                </a:pPr>
                <a:endParaRPr lang="en-US" sz="2000" kern="0" dirty="0">
                  <a:solidFill>
                    <a:schemeClr val="bg2">
                      <a:lumMod val="25000"/>
                    </a:schemeClr>
                  </a:solidFill>
                  <a:latin typeface="+mj-lt"/>
                </a:endParaRPr>
              </a:p>
            </p:txBody>
          </p:sp>
          <p:sp>
            <p:nvSpPr>
              <p:cNvPr id="214" name="Rectangle 44">
                <a:extLst>
                  <a:ext uri="{FF2B5EF4-FFF2-40B4-BE49-F238E27FC236}">
                    <a16:creationId xmlns:a16="http://schemas.microsoft.com/office/drawing/2014/main" id="{C9AF5D7B-7BF6-4583-8FA4-CCB64ECEC5F7}"/>
                  </a:ext>
                </a:extLst>
              </p:cNvPr>
              <p:cNvSpPr/>
              <p:nvPr/>
            </p:nvSpPr>
            <p:spPr>
              <a:xfrm>
                <a:off x="1361241" y="6555397"/>
                <a:ext cx="3032499" cy="711155"/>
              </a:xfrm>
              <a:prstGeom prst="rect">
                <a:avLst/>
              </a:prstGeom>
            </p:spPr>
            <p:txBody>
              <a:bodyPr wrap="square">
                <a:spAutoFit/>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defTabSz="1270559">
                  <a:defRPr/>
                </a:pPr>
                <a:r>
                  <a:rPr lang="zh-CN" altLang="en-US" sz="2000" kern="0" dirty="0">
                    <a:solidFill>
                      <a:schemeClr val="bg2">
                        <a:lumMod val="25000"/>
                      </a:schemeClr>
                    </a:solidFill>
                    <a:latin typeface="+mj-lt"/>
                  </a:rPr>
                  <a:t>权利低、利益相关度高</a:t>
                </a:r>
                <a:endParaRPr lang="en-US" altLang="zh-CN" sz="2000" kern="0" dirty="0">
                  <a:solidFill>
                    <a:schemeClr val="bg2">
                      <a:lumMod val="25000"/>
                    </a:schemeClr>
                  </a:solidFill>
                  <a:latin typeface="+mj-lt"/>
                </a:endParaRPr>
              </a:p>
              <a:p>
                <a:pPr algn="ctr" defTabSz="1270559">
                  <a:defRPr/>
                </a:pPr>
                <a:r>
                  <a:rPr lang="zh-CN" altLang="en-US" sz="2000" kern="0" dirty="0">
                    <a:solidFill>
                      <a:schemeClr val="bg2">
                        <a:lumMod val="25000"/>
                      </a:schemeClr>
                    </a:solidFill>
                    <a:latin typeface="+mj-lt"/>
                  </a:rPr>
                  <a:t>容易团结的相关者</a:t>
                </a:r>
                <a:endParaRPr lang="en-US" sz="2000" kern="0" dirty="0">
                  <a:solidFill>
                    <a:schemeClr val="bg2">
                      <a:lumMod val="25000"/>
                    </a:schemeClr>
                  </a:solidFill>
                  <a:latin typeface="+mj-lt"/>
                </a:endParaRPr>
              </a:p>
            </p:txBody>
          </p:sp>
        </p:grpSp>
        <p:sp>
          <p:nvSpPr>
            <p:cNvPr id="204" name="文本框 48">
              <a:extLst>
                <a:ext uri="{FF2B5EF4-FFF2-40B4-BE49-F238E27FC236}">
                  <a16:creationId xmlns:a16="http://schemas.microsoft.com/office/drawing/2014/main" id="{7A4D6C7C-8CC0-4C30-9D9D-80F79F20253A}"/>
                </a:ext>
              </a:extLst>
            </p:cNvPr>
            <p:cNvSpPr txBox="1"/>
            <p:nvPr/>
          </p:nvSpPr>
          <p:spPr>
            <a:xfrm>
              <a:off x="4056455" y="6736986"/>
              <a:ext cx="661307" cy="1082193"/>
            </a:xfrm>
            <a:prstGeom prst="rect">
              <a:avLst/>
            </a:prstGeom>
            <a:noFill/>
          </p:spPr>
          <p:txBody>
            <a:bodyPr wrap="none" rtlCol="0">
              <a:spAutoFit/>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algn="ctr"/>
              <a:r>
                <a:rPr lang="en-US" altLang="zh-CN" sz="3200" b="1" dirty="0">
                  <a:solidFill>
                    <a:schemeClr val="tx1">
                      <a:lumMod val="50000"/>
                      <a:lumOff val="50000"/>
                    </a:schemeClr>
                  </a:solidFill>
                </a:rPr>
                <a:t>A B</a:t>
              </a:r>
            </a:p>
            <a:p>
              <a:pPr algn="ctr"/>
              <a:r>
                <a:rPr lang="en-US" altLang="zh-CN" sz="3200" b="1" dirty="0">
                  <a:solidFill>
                    <a:schemeClr val="tx1">
                      <a:lumMod val="50000"/>
                      <a:lumOff val="50000"/>
                    </a:schemeClr>
                  </a:solidFill>
                </a:rPr>
                <a:t>C D</a:t>
              </a:r>
              <a:endParaRPr lang="zh-CN" altLang="en-US" sz="3200" b="1" dirty="0">
                <a:solidFill>
                  <a:schemeClr val="tx1">
                    <a:lumMod val="50000"/>
                    <a:lumOff val="50000"/>
                  </a:schemeClr>
                </a:solidFill>
              </a:endParaRPr>
            </a:p>
          </p:txBody>
        </p:sp>
      </p:grpSp>
    </p:spTree>
    <p:extLst>
      <p:ext uri="{BB962C8B-B14F-4D97-AF65-F5344CB8AC3E}">
        <p14:creationId xmlns:p14="http://schemas.microsoft.com/office/powerpoint/2010/main" val="15500534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2F544B-B0A0-407F-8F18-360E8F8B37BF}"/>
              </a:ext>
            </a:extLst>
          </p:cNvPr>
          <p:cNvSpPr>
            <a:spLocks noGrp="1"/>
          </p:cNvSpPr>
          <p:nvPr>
            <p:ph type="title"/>
          </p:nvPr>
        </p:nvSpPr>
        <p:spPr/>
        <p:txBody>
          <a:bodyPr/>
          <a:lstStyle/>
          <a:p>
            <a:r>
              <a:rPr lang="zh-CN" altLang="en-US" dirty="0"/>
              <a:t>市场地位</a:t>
            </a:r>
          </a:p>
        </p:txBody>
      </p:sp>
      <p:sp>
        <p:nvSpPr>
          <p:cNvPr id="3" name="内容占位符 2">
            <a:extLst>
              <a:ext uri="{FF2B5EF4-FFF2-40B4-BE49-F238E27FC236}">
                <a16:creationId xmlns:a16="http://schemas.microsoft.com/office/drawing/2014/main" id="{6542F62D-92AB-4FF7-A6A5-A28FDC32CE09}"/>
              </a:ext>
            </a:extLst>
          </p:cNvPr>
          <p:cNvSpPr>
            <a:spLocks noGrp="1"/>
          </p:cNvSpPr>
          <p:nvPr>
            <p:ph idx="1"/>
          </p:nvPr>
        </p:nvSpPr>
        <p:spPr/>
        <p:txBody>
          <a:bodyPr>
            <a:normAutofit/>
          </a:bodyPr>
          <a:lstStyle/>
          <a:p>
            <a:r>
              <a:rPr lang="zh-CN" altLang="en-US" b="1" dirty="0"/>
              <a:t>市场地位</a:t>
            </a:r>
            <a:r>
              <a:rPr lang="zh-CN" altLang="en-US" dirty="0"/>
              <a:t>：反映竞争能力</a:t>
            </a:r>
            <a:endParaRPr lang="en-US" altLang="zh-CN" dirty="0"/>
          </a:p>
          <a:p>
            <a:pPr lvl="1"/>
            <a:r>
              <a:rPr lang="zh-CN" altLang="en-US" dirty="0"/>
              <a:t>资产规模、销售收入、生产能力、市场占有率等方面的行业排序</a:t>
            </a:r>
            <a:endParaRPr lang="en-US" altLang="zh-CN" dirty="0"/>
          </a:p>
          <a:p>
            <a:pPr lvl="1"/>
            <a:r>
              <a:rPr lang="zh-CN" altLang="en-US" dirty="0"/>
              <a:t>规模经济效益和多元化协同效益</a:t>
            </a:r>
            <a:endParaRPr lang="en-US" altLang="zh-CN" dirty="0"/>
          </a:p>
          <a:p>
            <a:r>
              <a:rPr lang="zh-CN" altLang="en-US" b="1" dirty="0"/>
              <a:t>科技研发</a:t>
            </a:r>
            <a:r>
              <a:rPr lang="zh-CN" altLang="en-US" dirty="0"/>
              <a:t>：把握未来的市场需求的</a:t>
            </a:r>
            <a:endParaRPr lang="en-US" altLang="zh-CN" dirty="0"/>
          </a:p>
          <a:p>
            <a:pPr lvl="1"/>
            <a:r>
              <a:rPr lang="zh-CN" altLang="en-US" dirty="0"/>
              <a:t>当前工艺技术、研发实力、资源投入和成果水平的行业排序</a:t>
            </a:r>
            <a:endParaRPr lang="en-US" altLang="zh-CN" dirty="0"/>
          </a:p>
          <a:p>
            <a:r>
              <a:rPr lang="zh-CN" altLang="en-US" b="1" dirty="0"/>
              <a:t>上下游渠道</a:t>
            </a:r>
            <a:r>
              <a:rPr lang="zh-CN" altLang="en-US" dirty="0"/>
              <a:t>：产销的可持续性</a:t>
            </a:r>
            <a:endParaRPr lang="en-US" altLang="zh-CN" dirty="0"/>
          </a:p>
          <a:p>
            <a:pPr lvl="1"/>
            <a:r>
              <a:rPr lang="zh-CN" altLang="en-US" dirty="0"/>
              <a:t>采购渠道，集中度、原料价格、成本稳定性、价格控制力，资源占用能力和交通成本</a:t>
            </a:r>
            <a:endParaRPr lang="en-US" altLang="zh-CN" dirty="0"/>
          </a:p>
          <a:p>
            <a:pPr lvl="1"/>
            <a:r>
              <a:rPr lang="zh-CN" altLang="en-US" dirty="0"/>
              <a:t>销售渠道，销售渠道、市场各层次覆盖，占有份额、客户集中度和稳定性</a:t>
            </a:r>
            <a:endParaRPr lang="en-US" altLang="zh-CN" dirty="0"/>
          </a:p>
          <a:p>
            <a:r>
              <a:rPr lang="zh-CN" altLang="en-US" b="1" dirty="0"/>
              <a:t>市场份额</a:t>
            </a:r>
            <a:r>
              <a:rPr lang="zh-CN" altLang="en-US" dirty="0"/>
              <a:t>：关注主要市场和主要产品</a:t>
            </a:r>
            <a:endParaRPr lang="en-US" altLang="zh-CN" dirty="0"/>
          </a:p>
          <a:p>
            <a:pPr lvl="1"/>
            <a:r>
              <a:rPr lang="zh-CN" altLang="en-US" dirty="0"/>
              <a:t>结合市场需求的层次进行细分：拥有单一市场</a:t>
            </a:r>
            <a:r>
              <a:rPr lang="en-US" altLang="zh-CN" dirty="0"/>
              <a:t>40%</a:t>
            </a:r>
            <a:r>
              <a:rPr lang="zh-CN" altLang="en-US" dirty="0"/>
              <a:t>的主体的盈利状况并不一定高于细分市场的</a:t>
            </a:r>
            <a:r>
              <a:rPr lang="en-US" altLang="zh-CN" dirty="0"/>
              <a:t>10%</a:t>
            </a:r>
            <a:r>
              <a:rPr lang="zh-CN" altLang="en-US" dirty="0"/>
              <a:t>的主体</a:t>
            </a:r>
            <a:endParaRPr lang="en-US" altLang="zh-CN" dirty="0"/>
          </a:p>
          <a:p>
            <a:pPr lvl="1"/>
            <a:r>
              <a:rPr lang="zh-CN" altLang="en-US" dirty="0"/>
              <a:t>持续观察主要产品在各层市场份额并判断趋势</a:t>
            </a:r>
          </a:p>
          <a:p>
            <a:pPr lvl="2"/>
            <a:endParaRPr lang="en-US" altLang="zh-CN" dirty="0"/>
          </a:p>
        </p:txBody>
      </p:sp>
    </p:spTree>
    <p:extLst>
      <p:ext uri="{BB962C8B-B14F-4D97-AF65-F5344CB8AC3E}">
        <p14:creationId xmlns:p14="http://schemas.microsoft.com/office/powerpoint/2010/main" val="37544619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2F544B-B0A0-407F-8F18-360E8F8B37BF}"/>
              </a:ext>
            </a:extLst>
          </p:cNvPr>
          <p:cNvSpPr>
            <a:spLocks noGrp="1"/>
          </p:cNvSpPr>
          <p:nvPr>
            <p:ph type="title"/>
          </p:nvPr>
        </p:nvSpPr>
        <p:spPr/>
        <p:txBody>
          <a:bodyPr/>
          <a:lstStyle/>
          <a:p>
            <a:r>
              <a:rPr lang="zh-CN" altLang="en-US" dirty="0"/>
              <a:t>市场地位</a:t>
            </a:r>
          </a:p>
        </p:txBody>
      </p:sp>
      <p:sp>
        <p:nvSpPr>
          <p:cNvPr id="3" name="内容占位符 2">
            <a:extLst>
              <a:ext uri="{FF2B5EF4-FFF2-40B4-BE49-F238E27FC236}">
                <a16:creationId xmlns:a16="http://schemas.microsoft.com/office/drawing/2014/main" id="{6542F62D-92AB-4FF7-A6A5-A28FDC32CE09}"/>
              </a:ext>
            </a:extLst>
          </p:cNvPr>
          <p:cNvSpPr>
            <a:spLocks noGrp="1"/>
          </p:cNvSpPr>
          <p:nvPr>
            <p:ph idx="1"/>
          </p:nvPr>
        </p:nvSpPr>
        <p:spPr>
          <a:xfrm>
            <a:off x="949497" y="1593045"/>
            <a:ext cx="15378696" cy="7828747"/>
          </a:xfrm>
        </p:spPr>
        <p:txBody>
          <a:bodyPr>
            <a:normAutofit/>
          </a:bodyPr>
          <a:lstStyle/>
          <a:p>
            <a:r>
              <a:rPr lang="zh-CN" altLang="en-US" b="1" dirty="0"/>
              <a:t>产品盈利</a:t>
            </a:r>
            <a:endParaRPr lang="en-US" altLang="zh-CN" b="1" dirty="0"/>
          </a:p>
          <a:p>
            <a:pPr lvl="1"/>
            <a:r>
              <a:rPr lang="zh-CN" altLang="zh-CN" dirty="0"/>
              <a:t>产品盈利</a:t>
            </a:r>
            <a:r>
              <a:rPr lang="zh-CN" altLang="en-US" dirty="0"/>
              <a:t>，产品价格、销量、溢价能力，产品线布局，市场结构和可扩展性</a:t>
            </a:r>
            <a:endParaRPr lang="en-US" altLang="zh-CN" dirty="0"/>
          </a:p>
          <a:p>
            <a:pPr lvl="1"/>
            <a:r>
              <a:rPr lang="zh-CN" altLang="en-US" dirty="0"/>
              <a:t>生产效率，设备先进性、人员熟练度、产品良率，行业排序</a:t>
            </a:r>
            <a:endParaRPr lang="en-US" altLang="zh-CN" dirty="0"/>
          </a:p>
          <a:p>
            <a:pPr lvl="1"/>
            <a:r>
              <a:rPr lang="zh-CN" altLang="en-US" dirty="0"/>
              <a:t>生产成本，单位成本，成本固定和可变的比例，</a:t>
            </a:r>
            <a:endParaRPr lang="en-US" altLang="zh-CN" dirty="0"/>
          </a:p>
          <a:p>
            <a:pPr lvl="1"/>
            <a:endParaRPr lang="en-US" altLang="zh-CN" dirty="0"/>
          </a:p>
          <a:p>
            <a:r>
              <a:rPr lang="zh-CN" altLang="en-US" b="1" dirty="0"/>
              <a:t>全面评价</a:t>
            </a:r>
            <a:r>
              <a:rPr lang="zh-CN" altLang="en-US" dirty="0"/>
              <a:t>，各要素都只能在某一方面提高经营效率和规模经济</a:t>
            </a:r>
            <a:endParaRPr lang="en-US" altLang="zh-CN" dirty="0"/>
          </a:p>
          <a:p>
            <a:pPr lvl="1"/>
            <a:r>
              <a:rPr lang="zh-CN" altLang="en-US" dirty="0"/>
              <a:t>效率和规模存在于生产</a:t>
            </a:r>
            <a:r>
              <a:rPr lang="en-US" altLang="zh-CN" dirty="0"/>
              <a:t>-</a:t>
            </a:r>
            <a:r>
              <a:rPr lang="zh-CN" altLang="en-US" dirty="0"/>
              <a:t>销售</a:t>
            </a:r>
            <a:r>
              <a:rPr lang="en-US" altLang="zh-CN" dirty="0"/>
              <a:t>-</a:t>
            </a:r>
            <a:r>
              <a:rPr lang="zh-CN" altLang="en-US" dirty="0"/>
              <a:t>采购</a:t>
            </a:r>
            <a:r>
              <a:rPr lang="en-US" altLang="zh-CN" dirty="0"/>
              <a:t>-</a:t>
            </a:r>
            <a:r>
              <a:rPr lang="zh-CN" altLang="en-US" dirty="0"/>
              <a:t>管理</a:t>
            </a:r>
            <a:r>
              <a:rPr lang="en-US" altLang="zh-CN" dirty="0"/>
              <a:t>-</a:t>
            </a:r>
            <a:r>
              <a:rPr lang="zh-CN" altLang="en-US" dirty="0"/>
              <a:t>财务等每一个环节上</a:t>
            </a:r>
            <a:endParaRPr lang="en-US" altLang="zh-CN" dirty="0"/>
          </a:p>
          <a:p>
            <a:pPr lvl="1"/>
            <a:r>
              <a:rPr lang="zh-CN" altLang="en-US" dirty="0"/>
              <a:t>所有的主体都夸大自己是行业领导者</a:t>
            </a:r>
            <a:endParaRPr lang="en-US" altLang="zh-CN" dirty="0"/>
          </a:p>
          <a:p>
            <a:pPr lvl="1"/>
            <a:r>
              <a:rPr lang="zh-CN" altLang="en-US" dirty="0"/>
              <a:t>只在某一个方面做得最好，并会带来最好的盈利，如汽车行业第</a:t>
            </a:r>
            <a:r>
              <a:rPr lang="en-US" altLang="zh-CN" dirty="0"/>
              <a:t>2-3</a:t>
            </a:r>
            <a:r>
              <a:rPr lang="zh-CN" altLang="en-US" dirty="0"/>
              <a:t>的主体往往盈利最好，也有行业的第</a:t>
            </a:r>
            <a:r>
              <a:rPr lang="en-US" altLang="zh-CN" dirty="0"/>
              <a:t>2-3</a:t>
            </a:r>
            <a:r>
              <a:rPr lang="zh-CN" altLang="en-US" dirty="0"/>
              <a:t>主体与领导者差距过大</a:t>
            </a:r>
          </a:p>
        </p:txBody>
      </p:sp>
    </p:spTree>
    <p:extLst>
      <p:ext uri="{BB962C8B-B14F-4D97-AF65-F5344CB8AC3E}">
        <p14:creationId xmlns:p14="http://schemas.microsoft.com/office/powerpoint/2010/main" val="3806415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2F544B-B0A0-407F-8F18-360E8F8B37BF}"/>
              </a:ext>
            </a:extLst>
          </p:cNvPr>
          <p:cNvSpPr>
            <a:spLocks noGrp="1"/>
          </p:cNvSpPr>
          <p:nvPr>
            <p:ph type="title"/>
          </p:nvPr>
        </p:nvSpPr>
        <p:spPr/>
        <p:txBody>
          <a:bodyPr/>
          <a:lstStyle/>
          <a:p>
            <a:r>
              <a:rPr lang="zh-CN" altLang="en-US" dirty="0"/>
              <a:t>产品销售</a:t>
            </a:r>
          </a:p>
        </p:txBody>
      </p:sp>
      <p:sp>
        <p:nvSpPr>
          <p:cNvPr id="3" name="内容占位符 2">
            <a:extLst>
              <a:ext uri="{FF2B5EF4-FFF2-40B4-BE49-F238E27FC236}">
                <a16:creationId xmlns:a16="http://schemas.microsoft.com/office/drawing/2014/main" id="{6542F62D-92AB-4FF7-A6A5-A28FDC32CE09}"/>
              </a:ext>
            </a:extLst>
          </p:cNvPr>
          <p:cNvSpPr>
            <a:spLocks noGrp="1"/>
          </p:cNvSpPr>
          <p:nvPr>
            <p:ph idx="1"/>
          </p:nvPr>
        </p:nvSpPr>
        <p:spPr/>
        <p:txBody>
          <a:bodyPr/>
          <a:lstStyle/>
          <a:p>
            <a:r>
              <a:rPr lang="zh-CN" altLang="en-US" dirty="0"/>
              <a:t>成熟度高的公司通常都拥有一套</a:t>
            </a:r>
            <a:r>
              <a:rPr lang="zh-CN" altLang="en-US" b="1" dirty="0"/>
              <a:t>信用度高</a:t>
            </a:r>
            <a:r>
              <a:rPr lang="en-US" altLang="zh-CN" b="1" dirty="0"/>
              <a:t>-</a:t>
            </a:r>
            <a:r>
              <a:rPr lang="zh-CN" altLang="en-US" b="1" dirty="0"/>
              <a:t>顾客使用</a:t>
            </a:r>
            <a:r>
              <a:rPr lang="en-US" altLang="zh-CN" b="1" dirty="0"/>
              <a:t>-</a:t>
            </a:r>
            <a:r>
              <a:rPr lang="zh-CN" altLang="en-US" b="1" dirty="0"/>
              <a:t>定价能力</a:t>
            </a:r>
            <a:r>
              <a:rPr lang="zh-CN" altLang="en-US" dirty="0"/>
              <a:t>的正反馈闭环。成功的公司都能准确把握客户需求，推出合适的产品，以有利价格实现市场份额，从而实现显著增长；</a:t>
            </a:r>
            <a:endParaRPr lang="en-US" altLang="zh-CN" dirty="0"/>
          </a:p>
          <a:p>
            <a:pPr lvl="1"/>
            <a:r>
              <a:rPr lang="zh-CN" altLang="en-US" dirty="0"/>
              <a:t>先评估行业趋势、竞争者趋势、消费者趋势，以及公司的总体和核心的战略，最后形成业绩和盈利预判</a:t>
            </a:r>
            <a:endParaRPr lang="en-US" altLang="zh-CN" dirty="0"/>
          </a:p>
          <a:p>
            <a:pPr lvl="1"/>
            <a:r>
              <a:rPr lang="zh-CN" altLang="en-US" dirty="0"/>
              <a:t>难以对众多产品进行逐一评估</a:t>
            </a:r>
            <a:endParaRPr lang="en-US" altLang="zh-CN" dirty="0"/>
          </a:p>
          <a:p>
            <a:endParaRPr lang="en-US" altLang="zh-CN" dirty="0"/>
          </a:p>
          <a:p>
            <a:r>
              <a:rPr lang="zh-CN" altLang="en-US" b="1" dirty="0"/>
              <a:t>销售收入的稳健性</a:t>
            </a:r>
            <a:endParaRPr lang="en-US" altLang="zh-CN" b="1" dirty="0"/>
          </a:p>
          <a:p>
            <a:pPr lvl="1"/>
            <a:r>
              <a:rPr lang="zh-CN" altLang="en-US" dirty="0"/>
              <a:t>持续的销售增长和定价能力是强有力的信号</a:t>
            </a:r>
            <a:endParaRPr lang="en-US" altLang="zh-CN" dirty="0"/>
          </a:p>
          <a:p>
            <a:pPr lvl="1"/>
            <a:r>
              <a:rPr lang="zh-CN" altLang="en-US" dirty="0"/>
              <a:t>市场地位一般的主体，通常较难实现逆境增长</a:t>
            </a:r>
            <a:endParaRPr lang="en-US" altLang="zh-CN" dirty="0"/>
          </a:p>
          <a:p>
            <a:pPr lvl="1"/>
            <a:r>
              <a:rPr lang="zh-CN" altLang="en-US" dirty="0"/>
              <a:t>关注经济周期对销售收入的影响</a:t>
            </a:r>
            <a:endParaRPr lang="en-US" altLang="zh-CN" dirty="0"/>
          </a:p>
          <a:p>
            <a:pPr lvl="1"/>
            <a:endParaRPr lang="en-US" altLang="zh-CN" dirty="0"/>
          </a:p>
          <a:p>
            <a:endParaRPr lang="en-US" altLang="zh-CN" dirty="0"/>
          </a:p>
          <a:p>
            <a:pPr lvl="1"/>
            <a:endParaRPr lang="en-US" altLang="zh-CN" dirty="0"/>
          </a:p>
          <a:p>
            <a:endParaRPr lang="zh-CN" altLang="en-US" dirty="0"/>
          </a:p>
        </p:txBody>
      </p:sp>
    </p:spTree>
    <p:extLst>
      <p:ext uri="{BB962C8B-B14F-4D97-AF65-F5344CB8AC3E}">
        <p14:creationId xmlns:p14="http://schemas.microsoft.com/office/powerpoint/2010/main" val="1403333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2F544B-B0A0-407F-8F18-360E8F8B37BF}"/>
              </a:ext>
            </a:extLst>
          </p:cNvPr>
          <p:cNvSpPr>
            <a:spLocks noGrp="1"/>
          </p:cNvSpPr>
          <p:nvPr>
            <p:ph type="title"/>
          </p:nvPr>
        </p:nvSpPr>
        <p:spPr/>
        <p:txBody>
          <a:bodyPr/>
          <a:lstStyle/>
          <a:p>
            <a:r>
              <a:rPr lang="zh-CN" altLang="en-US" dirty="0"/>
              <a:t>经营持续性</a:t>
            </a:r>
          </a:p>
        </p:txBody>
      </p:sp>
      <p:sp>
        <p:nvSpPr>
          <p:cNvPr id="3" name="内容占位符 2">
            <a:extLst>
              <a:ext uri="{FF2B5EF4-FFF2-40B4-BE49-F238E27FC236}">
                <a16:creationId xmlns:a16="http://schemas.microsoft.com/office/drawing/2014/main" id="{6542F62D-92AB-4FF7-A6A5-A28FDC32CE09}"/>
              </a:ext>
            </a:extLst>
          </p:cNvPr>
          <p:cNvSpPr>
            <a:spLocks noGrp="1"/>
          </p:cNvSpPr>
          <p:nvPr>
            <p:ph idx="1"/>
          </p:nvPr>
        </p:nvSpPr>
        <p:spPr/>
        <p:txBody>
          <a:bodyPr/>
          <a:lstStyle/>
          <a:p>
            <a:r>
              <a:rPr lang="zh-CN" altLang="en-US" dirty="0"/>
              <a:t>主要表现为销售收入、产品单价、盈利状况和现金流量等指标。</a:t>
            </a:r>
            <a:endParaRPr lang="en-US" altLang="zh-CN" dirty="0"/>
          </a:p>
          <a:p>
            <a:r>
              <a:rPr lang="zh-CN" altLang="en-US" dirty="0"/>
              <a:t>经营连续性是主体信用良好的表现</a:t>
            </a:r>
            <a:endParaRPr lang="en-US" altLang="zh-CN" dirty="0"/>
          </a:p>
          <a:p>
            <a:pPr lvl="1"/>
            <a:r>
              <a:rPr lang="zh-CN" altLang="en-US" dirty="0"/>
              <a:t>拥有高质量产品，或拥有足够强的市场地位</a:t>
            </a:r>
            <a:endParaRPr lang="en-US" altLang="zh-CN" dirty="0"/>
          </a:p>
          <a:p>
            <a:pPr lvl="1"/>
            <a:r>
              <a:rPr lang="zh-CN" altLang="en-US" dirty="0"/>
              <a:t>产品优势的差异明显，管理效率差异</a:t>
            </a:r>
            <a:endParaRPr lang="en-US" altLang="zh-CN" dirty="0"/>
          </a:p>
          <a:p>
            <a:pPr lvl="1"/>
            <a:r>
              <a:rPr lang="zh-CN" altLang="en-US" dirty="0"/>
              <a:t>主体能够更成功和更自信的实施公司战略</a:t>
            </a:r>
            <a:endParaRPr lang="en-US" altLang="zh-CN" dirty="0"/>
          </a:p>
          <a:p>
            <a:pPr lvl="1"/>
            <a:r>
              <a:rPr lang="zh-CN" altLang="en-US" dirty="0"/>
              <a:t>更准确的预测现金流</a:t>
            </a:r>
            <a:endParaRPr lang="en-US" altLang="zh-CN" dirty="0"/>
          </a:p>
          <a:p>
            <a:endParaRPr lang="en-US" altLang="zh-CN" dirty="0"/>
          </a:p>
          <a:p>
            <a:endParaRPr lang="en-US" altLang="zh-CN" dirty="0"/>
          </a:p>
        </p:txBody>
      </p:sp>
    </p:spTree>
    <p:extLst>
      <p:ext uri="{BB962C8B-B14F-4D97-AF65-F5344CB8AC3E}">
        <p14:creationId xmlns:p14="http://schemas.microsoft.com/office/powerpoint/2010/main" val="9794222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2F544B-B0A0-407F-8F18-360E8F8B37BF}"/>
              </a:ext>
            </a:extLst>
          </p:cNvPr>
          <p:cNvSpPr>
            <a:spLocks noGrp="1"/>
          </p:cNvSpPr>
          <p:nvPr>
            <p:ph type="title"/>
          </p:nvPr>
        </p:nvSpPr>
        <p:spPr/>
        <p:txBody>
          <a:bodyPr/>
          <a:lstStyle/>
          <a:p>
            <a:r>
              <a:rPr lang="zh-CN" altLang="en-US" dirty="0"/>
              <a:t>经营多样性</a:t>
            </a:r>
          </a:p>
        </p:txBody>
      </p:sp>
      <p:sp>
        <p:nvSpPr>
          <p:cNvPr id="3" name="内容占位符 2">
            <a:extLst>
              <a:ext uri="{FF2B5EF4-FFF2-40B4-BE49-F238E27FC236}">
                <a16:creationId xmlns:a16="http://schemas.microsoft.com/office/drawing/2014/main" id="{6542F62D-92AB-4FF7-A6A5-A28FDC32CE09}"/>
              </a:ext>
            </a:extLst>
          </p:cNvPr>
          <p:cNvSpPr>
            <a:spLocks noGrp="1"/>
          </p:cNvSpPr>
          <p:nvPr>
            <p:ph idx="1"/>
          </p:nvPr>
        </p:nvSpPr>
        <p:spPr/>
        <p:txBody>
          <a:bodyPr/>
          <a:lstStyle/>
          <a:p>
            <a:r>
              <a:rPr lang="zh-CN" altLang="en-US" dirty="0"/>
              <a:t>规模较大的公司</a:t>
            </a:r>
            <a:endParaRPr lang="en-US" altLang="zh-CN" dirty="0"/>
          </a:p>
          <a:p>
            <a:pPr lvl="1"/>
            <a:r>
              <a:rPr lang="zh-CN" altLang="en-US" dirty="0"/>
              <a:t>主要关注资产使用效率和管理效率</a:t>
            </a:r>
            <a:endParaRPr lang="en-US" altLang="zh-CN" dirty="0"/>
          </a:p>
          <a:p>
            <a:pPr lvl="1"/>
            <a:r>
              <a:rPr lang="zh-CN" altLang="en-US" dirty="0"/>
              <a:t>经营不善的大公司，往往比小公司更加难以决策</a:t>
            </a:r>
            <a:endParaRPr lang="en-US" altLang="zh-CN" dirty="0"/>
          </a:p>
          <a:p>
            <a:pPr lvl="1"/>
            <a:r>
              <a:rPr lang="zh-CN" altLang="en-US" dirty="0"/>
              <a:t>采取多样化经营来缓解商业周期和单一产品周期</a:t>
            </a:r>
            <a:endParaRPr lang="en-US" altLang="zh-CN" dirty="0"/>
          </a:p>
          <a:p>
            <a:pPr lvl="1"/>
            <a:r>
              <a:rPr lang="zh-CN" altLang="en-US" dirty="0"/>
              <a:t>多样化包括多种业务、多个产品线、多个工厂、多个销售渠道、多种类型的客户</a:t>
            </a:r>
            <a:endParaRPr lang="en-US" altLang="zh-CN" dirty="0"/>
          </a:p>
          <a:p>
            <a:pPr lvl="1"/>
            <a:r>
              <a:rPr lang="zh-CN" altLang="en-US" dirty="0"/>
              <a:t>进入新市场的难度理论上要低，但并不尽然</a:t>
            </a:r>
            <a:endParaRPr lang="en-US" altLang="zh-CN" dirty="0"/>
          </a:p>
          <a:p>
            <a:endParaRPr lang="en-US" altLang="zh-CN" dirty="0"/>
          </a:p>
          <a:p>
            <a:r>
              <a:rPr lang="zh-CN" altLang="en-US" dirty="0"/>
              <a:t>规模较小的公司</a:t>
            </a:r>
            <a:endParaRPr lang="en-US" altLang="zh-CN" dirty="0"/>
          </a:p>
          <a:p>
            <a:pPr lvl="1"/>
            <a:r>
              <a:rPr lang="zh-CN" altLang="en-US" dirty="0"/>
              <a:t>经营灵活，但只能集中精力在单一产品或市场上</a:t>
            </a:r>
            <a:endParaRPr lang="en-US" altLang="zh-CN" dirty="0"/>
          </a:p>
          <a:p>
            <a:pPr lvl="1"/>
            <a:r>
              <a:rPr lang="zh-CN" altLang="en-US" dirty="0"/>
              <a:t>能否把握单一产品和市场供求的灵活性关系，成为关键</a:t>
            </a:r>
            <a:endParaRPr lang="en-US" altLang="zh-CN" dirty="0"/>
          </a:p>
          <a:p>
            <a:pPr lvl="1"/>
            <a:r>
              <a:rPr lang="zh-CN" altLang="en-US" dirty="0"/>
              <a:t>抓住市场需求，在新市场取得成功的概率更大</a:t>
            </a:r>
          </a:p>
        </p:txBody>
      </p:sp>
    </p:spTree>
    <p:extLst>
      <p:ext uri="{BB962C8B-B14F-4D97-AF65-F5344CB8AC3E}">
        <p14:creationId xmlns:p14="http://schemas.microsoft.com/office/powerpoint/2010/main" val="30886110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2F544B-B0A0-407F-8F18-360E8F8B37BF}"/>
              </a:ext>
            </a:extLst>
          </p:cNvPr>
          <p:cNvSpPr>
            <a:spLocks noGrp="1"/>
          </p:cNvSpPr>
          <p:nvPr>
            <p:ph type="title"/>
          </p:nvPr>
        </p:nvSpPr>
        <p:spPr/>
        <p:txBody>
          <a:bodyPr/>
          <a:lstStyle/>
          <a:p>
            <a:r>
              <a:rPr lang="zh-CN" altLang="en-US" dirty="0"/>
              <a:t>财务多样化</a:t>
            </a:r>
          </a:p>
        </p:txBody>
      </p:sp>
      <p:sp>
        <p:nvSpPr>
          <p:cNvPr id="3" name="内容占位符 2">
            <a:extLst>
              <a:ext uri="{FF2B5EF4-FFF2-40B4-BE49-F238E27FC236}">
                <a16:creationId xmlns:a16="http://schemas.microsoft.com/office/drawing/2014/main" id="{6542F62D-92AB-4FF7-A6A5-A28FDC32CE09}"/>
              </a:ext>
            </a:extLst>
          </p:cNvPr>
          <p:cNvSpPr>
            <a:spLocks noGrp="1"/>
          </p:cNvSpPr>
          <p:nvPr>
            <p:ph idx="1"/>
          </p:nvPr>
        </p:nvSpPr>
        <p:spPr/>
        <p:txBody>
          <a:bodyPr>
            <a:normAutofit fontScale="92500" lnSpcReduction="10000"/>
          </a:bodyPr>
          <a:lstStyle/>
          <a:p>
            <a:r>
              <a:rPr lang="zh-CN" altLang="en-US" b="1" dirty="0">
                <a:latin typeface="+mn-ea"/>
              </a:rPr>
              <a:t>主营收入</a:t>
            </a:r>
            <a:endParaRPr lang="en-US" altLang="zh-CN" b="1" dirty="0">
              <a:latin typeface="+mn-ea"/>
            </a:endParaRPr>
          </a:p>
          <a:p>
            <a:pPr lvl="1"/>
            <a:r>
              <a:rPr lang="zh-CN" altLang="en-US" dirty="0">
                <a:latin typeface="+mn-ea"/>
              </a:rPr>
              <a:t>从多样化的产品、生产线、顾客和区域中获得稳定的利润组合</a:t>
            </a:r>
            <a:endParaRPr lang="en-US" altLang="zh-CN" dirty="0">
              <a:latin typeface="+mn-ea"/>
            </a:endParaRPr>
          </a:p>
          <a:p>
            <a:pPr lvl="1"/>
            <a:r>
              <a:rPr lang="zh-CN" altLang="en-US" dirty="0">
                <a:latin typeface="+mn-ea"/>
              </a:rPr>
              <a:t>避免收入来源单一化</a:t>
            </a:r>
            <a:endParaRPr lang="en-US" altLang="zh-CN" dirty="0">
              <a:latin typeface="+mn-ea"/>
            </a:endParaRPr>
          </a:p>
          <a:p>
            <a:pPr lvl="2"/>
            <a:r>
              <a:rPr lang="zh-CN" altLang="en-US" dirty="0">
                <a:latin typeface="+mn-ea"/>
              </a:rPr>
              <a:t>例，有主导性产品，但财务状况不稳定的公司</a:t>
            </a:r>
            <a:endParaRPr lang="en-US" altLang="zh-CN" dirty="0">
              <a:latin typeface="+mn-ea"/>
            </a:endParaRPr>
          </a:p>
          <a:p>
            <a:endParaRPr lang="en-US" altLang="zh-CN" dirty="0">
              <a:latin typeface="+mn-ea"/>
            </a:endParaRPr>
          </a:p>
          <a:p>
            <a:r>
              <a:rPr lang="zh-CN" altLang="en-US" b="1" dirty="0">
                <a:latin typeface="+mn-ea"/>
              </a:rPr>
              <a:t>资产处置</a:t>
            </a:r>
            <a:r>
              <a:rPr lang="zh-CN" altLang="en-US" dirty="0">
                <a:latin typeface="+mn-ea"/>
              </a:rPr>
              <a:t>：消极反应</a:t>
            </a:r>
            <a:endParaRPr lang="en-US" altLang="zh-CN" dirty="0">
              <a:latin typeface="+mn-ea"/>
            </a:endParaRPr>
          </a:p>
          <a:p>
            <a:pPr lvl="1"/>
            <a:r>
              <a:rPr lang="zh-CN" altLang="en-US" dirty="0">
                <a:latin typeface="+mn-ea"/>
              </a:rPr>
              <a:t>可能错过被剥离资产将要产生的财务贡献</a:t>
            </a:r>
            <a:endParaRPr lang="en-US" altLang="zh-CN" dirty="0">
              <a:latin typeface="+mn-ea"/>
            </a:endParaRPr>
          </a:p>
          <a:p>
            <a:pPr lvl="1"/>
            <a:r>
              <a:rPr lang="zh-CN" altLang="en-US" dirty="0">
                <a:latin typeface="+mn-ea"/>
              </a:rPr>
              <a:t>被认为主体没有财务能力继续维持多元化经营</a:t>
            </a:r>
            <a:endParaRPr lang="en-US" altLang="zh-CN" dirty="0">
              <a:latin typeface="+mn-ea"/>
            </a:endParaRPr>
          </a:p>
          <a:p>
            <a:pPr lvl="1"/>
            <a:r>
              <a:rPr lang="zh-CN" altLang="en-US" dirty="0">
                <a:latin typeface="+mn-ea"/>
              </a:rPr>
              <a:t>对小公司或周期性行业的公司，由于缺乏财务生存能力，更为艰难</a:t>
            </a:r>
            <a:endParaRPr lang="en-US" altLang="zh-CN" dirty="0">
              <a:latin typeface="+mn-ea"/>
            </a:endParaRPr>
          </a:p>
          <a:p>
            <a:pPr marL="457198" lvl="1" indent="0">
              <a:buNone/>
            </a:pPr>
            <a:endParaRPr lang="en-US" altLang="zh-CN" dirty="0">
              <a:latin typeface="+mn-ea"/>
            </a:endParaRPr>
          </a:p>
          <a:p>
            <a:r>
              <a:rPr lang="zh-CN" altLang="en-US" b="1" dirty="0">
                <a:latin typeface="+mn-ea"/>
              </a:rPr>
              <a:t>危机时机</a:t>
            </a:r>
            <a:r>
              <a:rPr lang="zh-CN" altLang="en-US" dirty="0">
                <a:latin typeface="+mn-ea"/>
              </a:rPr>
              <a:t>：规模效应有缓冲作用，但本身并不产生价值</a:t>
            </a:r>
            <a:endParaRPr lang="en-US" altLang="zh-CN" dirty="0">
              <a:latin typeface="+mn-ea"/>
            </a:endParaRPr>
          </a:p>
          <a:p>
            <a:pPr lvl="1"/>
            <a:r>
              <a:rPr lang="zh-CN" altLang="en-US" dirty="0">
                <a:latin typeface="+mn-ea"/>
              </a:rPr>
              <a:t>大公司的规模将有助于银行相信其长远生存能力并获得融资</a:t>
            </a:r>
            <a:endParaRPr lang="en-US" altLang="zh-CN" dirty="0">
              <a:latin typeface="+mn-ea"/>
            </a:endParaRPr>
          </a:p>
          <a:p>
            <a:pPr lvl="1"/>
            <a:r>
              <a:rPr lang="zh-CN" altLang="en-US" dirty="0">
                <a:latin typeface="+mn-ea"/>
              </a:rPr>
              <a:t>与商业伙伴和雇员合作关系稳定，腾出更大空间</a:t>
            </a:r>
            <a:endParaRPr lang="en-US" altLang="zh-CN" dirty="0">
              <a:latin typeface="+mn-ea"/>
            </a:endParaRPr>
          </a:p>
          <a:p>
            <a:pPr lvl="1"/>
            <a:r>
              <a:rPr lang="zh-CN" altLang="en-US" dirty="0">
                <a:latin typeface="+mn-ea"/>
              </a:rPr>
              <a:t>紧密关注资产运用效率和盈利指标</a:t>
            </a:r>
          </a:p>
        </p:txBody>
      </p:sp>
    </p:spTree>
    <p:extLst>
      <p:ext uri="{BB962C8B-B14F-4D97-AF65-F5344CB8AC3E}">
        <p14:creationId xmlns:p14="http://schemas.microsoft.com/office/powerpoint/2010/main" val="29836250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2F544B-B0A0-407F-8F18-360E8F8B37BF}"/>
              </a:ext>
            </a:extLst>
          </p:cNvPr>
          <p:cNvSpPr>
            <a:spLocks noGrp="1"/>
          </p:cNvSpPr>
          <p:nvPr>
            <p:ph type="title"/>
          </p:nvPr>
        </p:nvSpPr>
        <p:spPr/>
        <p:txBody>
          <a:bodyPr/>
          <a:lstStyle/>
          <a:p>
            <a:r>
              <a:rPr lang="zh-CN" altLang="en-US" dirty="0"/>
              <a:t>监管环境</a:t>
            </a:r>
          </a:p>
        </p:txBody>
      </p:sp>
      <p:sp>
        <p:nvSpPr>
          <p:cNvPr id="3" name="内容占位符 2">
            <a:extLst>
              <a:ext uri="{FF2B5EF4-FFF2-40B4-BE49-F238E27FC236}">
                <a16:creationId xmlns:a16="http://schemas.microsoft.com/office/drawing/2014/main" id="{6542F62D-92AB-4FF7-A6A5-A28FDC32CE09}"/>
              </a:ext>
            </a:extLst>
          </p:cNvPr>
          <p:cNvSpPr>
            <a:spLocks noGrp="1"/>
          </p:cNvSpPr>
          <p:nvPr>
            <p:ph idx="1"/>
          </p:nvPr>
        </p:nvSpPr>
        <p:spPr/>
        <p:txBody>
          <a:bodyPr>
            <a:normAutofit lnSpcReduction="10000"/>
          </a:bodyPr>
          <a:lstStyle/>
          <a:p>
            <a:r>
              <a:rPr lang="zh-CN" altLang="en-US" dirty="0"/>
              <a:t>监管未必会提高行业的稳定性，而是增加更多</a:t>
            </a:r>
            <a:r>
              <a:rPr lang="zh-CN" altLang="en-US" b="1" dirty="0"/>
              <a:t>约束条件</a:t>
            </a:r>
            <a:endParaRPr lang="en-US" altLang="zh-CN" b="1" dirty="0"/>
          </a:p>
          <a:p>
            <a:pPr lvl="1"/>
            <a:r>
              <a:rPr lang="zh-CN" altLang="en-US" dirty="0"/>
              <a:t>如林业公司采伐量限制；农业公司则获得补贴；水电公司被限定了费率标准，固化了公用事业主体的盈利稳定性等</a:t>
            </a:r>
            <a:endParaRPr lang="en-US" altLang="zh-CN" dirty="0"/>
          </a:p>
          <a:p>
            <a:pPr lvl="1"/>
            <a:endParaRPr lang="en-US" altLang="zh-CN" dirty="0"/>
          </a:p>
          <a:p>
            <a:r>
              <a:rPr lang="zh-CN" altLang="en-US" dirty="0"/>
              <a:t>监管形式众多，关注</a:t>
            </a:r>
            <a:r>
              <a:rPr lang="zh-CN" altLang="en-US" b="1" dirty="0"/>
              <a:t>监管态度和立场</a:t>
            </a:r>
            <a:r>
              <a:rPr lang="zh-CN" altLang="en-US" dirty="0"/>
              <a:t>，如：</a:t>
            </a:r>
            <a:endParaRPr lang="en-US" altLang="zh-CN" dirty="0"/>
          </a:p>
          <a:p>
            <a:pPr lvl="1"/>
            <a:r>
              <a:rPr lang="zh-CN" altLang="en-US" dirty="0"/>
              <a:t>是限制最低费率，还是允许正常的投资回报率</a:t>
            </a:r>
            <a:endParaRPr lang="en-US" altLang="zh-CN" dirty="0"/>
          </a:p>
          <a:p>
            <a:pPr lvl="1"/>
            <a:r>
              <a:rPr lang="zh-CN" altLang="en-US" dirty="0"/>
              <a:t>在市场上创造竞争，还是限制境外竞争</a:t>
            </a:r>
            <a:endParaRPr lang="en-US" altLang="zh-CN" dirty="0"/>
          </a:p>
          <a:p>
            <a:pPr lvl="1"/>
            <a:r>
              <a:rPr lang="zh-CN" altLang="en-US" dirty="0"/>
              <a:t>对于困境的公司主体，倾向于破产，还是扶持</a:t>
            </a:r>
            <a:endParaRPr lang="en-US" altLang="zh-CN" dirty="0"/>
          </a:p>
          <a:p>
            <a:pPr lvl="1"/>
            <a:r>
              <a:rPr lang="zh-CN" altLang="en-US" dirty="0"/>
              <a:t>重视环境保护，还是鼓励经济生产</a:t>
            </a:r>
            <a:endParaRPr lang="en-US" altLang="zh-CN" dirty="0"/>
          </a:p>
          <a:p>
            <a:pPr lvl="1"/>
            <a:endParaRPr lang="en-US" altLang="zh-CN" dirty="0"/>
          </a:p>
          <a:p>
            <a:r>
              <a:rPr lang="zh-CN" altLang="en-US" b="1" dirty="0"/>
              <a:t>监管者变更</a:t>
            </a:r>
            <a:endParaRPr lang="en-US" altLang="zh-CN" b="1" dirty="0"/>
          </a:p>
          <a:p>
            <a:pPr lvl="1"/>
            <a:r>
              <a:rPr lang="zh-CN" altLang="en-US" dirty="0"/>
              <a:t>政治人物天生就是要影响规则制定的，监管规则也自然随之变化</a:t>
            </a:r>
            <a:endParaRPr lang="en-US" altLang="zh-CN" dirty="0"/>
          </a:p>
          <a:p>
            <a:pPr lvl="1"/>
            <a:r>
              <a:rPr lang="zh-CN" altLang="en-US" dirty="0"/>
              <a:t>政策分析不应被动等待结果；应评估当前效果，并对可能方向进行场景预测</a:t>
            </a:r>
          </a:p>
        </p:txBody>
      </p:sp>
    </p:spTree>
    <p:extLst>
      <p:ext uri="{BB962C8B-B14F-4D97-AF65-F5344CB8AC3E}">
        <p14:creationId xmlns:p14="http://schemas.microsoft.com/office/powerpoint/2010/main" val="13232837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7A70AA4-F8A4-4E3F-B209-D0F5CD05839D}"/>
              </a:ext>
            </a:extLst>
          </p:cNvPr>
          <p:cNvSpPr>
            <a:spLocks noGrp="1"/>
          </p:cNvSpPr>
          <p:nvPr>
            <p:ph type="title"/>
          </p:nvPr>
        </p:nvSpPr>
        <p:spPr/>
        <p:txBody>
          <a:bodyPr/>
          <a:lstStyle/>
          <a:p>
            <a:r>
              <a:rPr lang="zh-CN" altLang="en-US" dirty="0"/>
              <a:t>（四）公司治理</a:t>
            </a:r>
          </a:p>
        </p:txBody>
      </p:sp>
      <p:sp>
        <p:nvSpPr>
          <p:cNvPr id="5" name="文本占位符 4">
            <a:extLst>
              <a:ext uri="{FF2B5EF4-FFF2-40B4-BE49-F238E27FC236}">
                <a16:creationId xmlns:a16="http://schemas.microsoft.com/office/drawing/2014/main" id="{B8EE4351-AB24-4B48-BE4E-B33E7D251B19}"/>
              </a:ext>
            </a:extLst>
          </p:cNvPr>
          <p:cNvSpPr>
            <a:spLocks noGrp="1"/>
          </p:cNvSpPr>
          <p:nvPr>
            <p:ph type="body" idx="1"/>
          </p:nvPr>
        </p:nvSpPr>
        <p:spPr/>
        <p:txBody>
          <a:bodyPr/>
          <a:lstStyle/>
          <a:p>
            <a:r>
              <a:rPr lang="zh-CN" altLang="en-US" dirty="0"/>
              <a:t>通过分析公司治理完善程度和股权结构，来对高管层的管理战略、市场战略、财务战略的计划的可行性和可操作性进行谨慎评估。</a:t>
            </a:r>
          </a:p>
        </p:txBody>
      </p:sp>
    </p:spTree>
    <p:extLst>
      <p:ext uri="{BB962C8B-B14F-4D97-AF65-F5344CB8AC3E}">
        <p14:creationId xmlns:p14="http://schemas.microsoft.com/office/powerpoint/2010/main" val="13612794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493BD-63D8-4E05-A1A6-64FB63962208}"/>
              </a:ext>
            </a:extLst>
          </p:cNvPr>
          <p:cNvSpPr>
            <a:spLocks noGrp="1"/>
          </p:cNvSpPr>
          <p:nvPr>
            <p:ph type="title"/>
          </p:nvPr>
        </p:nvSpPr>
        <p:spPr/>
        <p:txBody>
          <a:bodyPr/>
          <a:lstStyle/>
          <a:p>
            <a:r>
              <a:rPr lang="zh-CN" altLang="en-US" dirty="0"/>
              <a:t>公司治理</a:t>
            </a:r>
          </a:p>
        </p:txBody>
      </p:sp>
      <p:sp>
        <p:nvSpPr>
          <p:cNvPr id="3" name="内容占位符 2">
            <a:extLst>
              <a:ext uri="{FF2B5EF4-FFF2-40B4-BE49-F238E27FC236}">
                <a16:creationId xmlns:a16="http://schemas.microsoft.com/office/drawing/2014/main" id="{AC51279D-FAB8-4172-BD22-5886D37BFFAA}"/>
              </a:ext>
            </a:extLst>
          </p:cNvPr>
          <p:cNvSpPr>
            <a:spLocks noGrp="1"/>
          </p:cNvSpPr>
          <p:nvPr>
            <p:ph idx="1"/>
          </p:nvPr>
        </p:nvSpPr>
        <p:spPr/>
        <p:txBody>
          <a:bodyPr>
            <a:normAutofit/>
          </a:bodyPr>
          <a:lstStyle/>
          <a:p>
            <a:r>
              <a:rPr lang="zh-CN" altLang="en-US" b="1" dirty="0"/>
              <a:t>治理</a:t>
            </a:r>
            <a:r>
              <a:rPr lang="zh-CN" altLang="zh-CN" b="1" dirty="0"/>
              <a:t>结构</a:t>
            </a:r>
            <a:endParaRPr lang="en-US" altLang="zh-CN" b="1" dirty="0"/>
          </a:p>
          <a:p>
            <a:pPr lvl="1"/>
            <a:r>
              <a:rPr lang="zh-CN" altLang="en-US" dirty="0"/>
              <a:t>股权结构的制衡会稳定经营决策，限制资产和资金调配的随意性</a:t>
            </a:r>
            <a:endParaRPr lang="en-US" altLang="zh-CN" dirty="0"/>
          </a:p>
          <a:p>
            <a:pPr lvl="1"/>
            <a:r>
              <a:rPr lang="zh-CN" altLang="en-US" dirty="0"/>
              <a:t>股东大会、董事会、监事会的构成、履职能力、是否与企业当前发展需要匹配</a:t>
            </a:r>
            <a:endParaRPr lang="en-US" altLang="zh-CN" dirty="0"/>
          </a:p>
          <a:p>
            <a:pPr lvl="1"/>
            <a:r>
              <a:rPr lang="zh-CN" altLang="en-US" dirty="0"/>
              <a:t>决策机制和决策执行是否有效</a:t>
            </a:r>
            <a:endParaRPr lang="en-US" altLang="zh-CN" dirty="0"/>
          </a:p>
          <a:p>
            <a:r>
              <a:rPr lang="zh-CN" altLang="en-US" b="1" dirty="0"/>
              <a:t>管理团队</a:t>
            </a:r>
            <a:endParaRPr lang="en-US" altLang="zh-CN" b="1" dirty="0"/>
          </a:p>
          <a:p>
            <a:pPr lvl="1"/>
            <a:r>
              <a:rPr lang="zh-CN" altLang="zh-CN" dirty="0"/>
              <a:t>利用</a:t>
            </a:r>
            <a:r>
              <a:rPr lang="zh-CN" altLang="en-US" dirty="0"/>
              <a:t>当前</a:t>
            </a:r>
            <a:r>
              <a:rPr lang="zh-CN" altLang="zh-CN" dirty="0"/>
              <a:t>资源和市场机遇</a:t>
            </a:r>
            <a:r>
              <a:rPr lang="zh-CN" altLang="en-US" dirty="0"/>
              <a:t>、成功应对竞争和困难</a:t>
            </a:r>
            <a:endParaRPr lang="en-US" altLang="zh-CN" dirty="0"/>
          </a:p>
          <a:p>
            <a:pPr lvl="1"/>
            <a:r>
              <a:rPr lang="zh-CN" altLang="en-US" dirty="0"/>
              <a:t>评估能力：从业经验，历史管理业绩，社会关系、技能水平</a:t>
            </a:r>
            <a:endParaRPr lang="en-US" altLang="zh-CN" dirty="0"/>
          </a:p>
          <a:p>
            <a:pPr lvl="1"/>
            <a:r>
              <a:rPr lang="zh-CN" altLang="en-US" dirty="0"/>
              <a:t>评估素质：教育结构、技术结构和年龄结构</a:t>
            </a:r>
            <a:endParaRPr lang="en-US" altLang="zh-CN" dirty="0"/>
          </a:p>
          <a:p>
            <a:r>
              <a:rPr lang="zh-CN" altLang="en-US" b="1" dirty="0"/>
              <a:t>管理控制</a:t>
            </a:r>
            <a:endParaRPr lang="en-US" altLang="zh-CN" b="1" dirty="0"/>
          </a:p>
          <a:p>
            <a:pPr lvl="1"/>
            <a:r>
              <a:rPr lang="zh-CN" altLang="en-US" dirty="0"/>
              <a:t>集团对分支机构</a:t>
            </a:r>
            <a:r>
              <a:rPr lang="en-US" altLang="zh-CN" dirty="0"/>
              <a:t>/</a:t>
            </a:r>
            <a:r>
              <a:rPr lang="zh-CN" altLang="en-US" dirty="0"/>
              <a:t>子公司的控制力</a:t>
            </a:r>
            <a:endParaRPr lang="en-US" altLang="zh-CN" dirty="0"/>
          </a:p>
          <a:p>
            <a:pPr lvl="1"/>
            <a:r>
              <a:rPr lang="zh-CN" altLang="en-US" dirty="0"/>
              <a:t>管控效率：</a:t>
            </a:r>
            <a:r>
              <a:rPr lang="zh-CN" altLang="zh-CN" dirty="0"/>
              <a:t>综合管理控制、人事控制、财务控制、生产控制、销售控制</a:t>
            </a:r>
            <a:endParaRPr lang="en-US" altLang="zh-CN" dirty="0"/>
          </a:p>
          <a:p>
            <a:pPr lvl="1"/>
            <a:r>
              <a:rPr lang="zh-CN" altLang="en-US" dirty="0"/>
              <a:t>法律意义的影响力和实际意义的影响力</a:t>
            </a:r>
            <a:endParaRPr lang="en-US" altLang="zh-CN" dirty="0"/>
          </a:p>
          <a:p>
            <a:pPr lvl="1"/>
            <a:endParaRPr lang="zh-CN" altLang="en-US" dirty="0"/>
          </a:p>
        </p:txBody>
      </p:sp>
    </p:spTree>
    <p:extLst>
      <p:ext uri="{BB962C8B-B14F-4D97-AF65-F5344CB8AC3E}">
        <p14:creationId xmlns:p14="http://schemas.microsoft.com/office/powerpoint/2010/main" val="23778514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493BD-63D8-4E05-A1A6-64FB63962208}"/>
              </a:ext>
            </a:extLst>
          </p:cNvPr>
          <p:cNvSpPr>
            <a:spLocks noGrp="1"/>
          </p:cNvSpPr>
          <p:nvPr>
            <p:ph type="title"/>
          </p:nvPr>
        </p:nvSpPr>
        <p:spPr/>
        <p:txBody>
          <a:bodyPr/>
          <a:lstStyle/>
          <a:p>
            <a:r>
              <a:rPr lang="zh-CN" altLang="en-US" dirty="0"/>
              <a:t>公司治理</a:t>
            </a:r>
          </a:p>
        </p:txBody>
      </p:sp>
      <p:sp>
        <p:nvSpPr>
          <p:cNvPr id="3" name="内容占位符 2">
            <a:extLst>
              <a:ext uri="{FF2B5EF4-FFF2-40B4-BE49-F238E27FC236}">
                <a16:creationId xmlns:a16="http://schemas.microsoft.com/office/drawing/2014/main" id="{AC51279D-FAB8-4172-BD22-5886D37BFFAA}"/>
              </a:ext>
            </a:extLst>
          </p:cNvPr>
          <p:cNvSpPr>
            <a:spLocks noGrp="1"/>
          </p:cNvSpPr>
          <p:nvPr>
            <p:ph idx="1"/>
          </p:nvPr>
        </p:nvSpPr>
        <p:spPr/>
        <p:txBody>
          <a:bodyPr>
            <a:normAutofit/>
          </a:bodyPr>
          <a:lstStyle/>
          <a:p>
            <a:r>
              <a:rPr lang="zh-CN" altLang="en-US" b="1" dirty="0"/>
              <a:t>战略目标</a:t>
            </a:r>
            <a:endParaRPr lang="en-US" altLang="zh-CN" b="1" dirty="0"/>
          </a:p>
          <a:p>
            <a:pPr lvl="1"/>
            <a:r>
              <a:rPr lang="zh-CN" altLang="en-US" dirty="0"/>
              <a:t>战略目标的明确度、可行性</a:t>
            </a:r>
            <a:endParaRPr lang="en-US" altLang="zh-CN" dirty="0"/>
          </a:p>
          <a:p>
            <a:pPr lvl="1"/>
            <a:r>
              <a:rPr lang="zh-CN" altLang="en-US" dirty="0"/>
              <a:t>计划项目</a:t>
            </a:r>
            <a:r>
              <a:rPr lang="en-US" altLang="zh-CN" dirty="0"/>
              <a:t>/</a:t>
            </a:r>
            <a:r>
              <a:rPr lang="zh-CN" altLang="en-US" dirty="0"/>
              <a:t>在建项目的</a:t>
            </a:r>
            <a:r>
              <a:rPr lang="zh-CN" altLang="zh-CN" dirty="0"/>
              <a:t>设计产能、资金安排、项目进度</a:t>
            </a:r>
            <a:endParaRPr lang="en-US" altLang="zh-CN" dirty="0"/>
          </a:p>
          <a:p>
            <a:pPr lvl="1"/>
            <a:r>
              <a:rPr lang="zh-CN" altLang="en-US" dirty="0"/>
              <a:t>产品的</a:t>
            </a:r>
            <a:r>
              <a:rPr lang="zh-CN" altLang="zh-CN" dirty="0"/>
              <a:t>市场需求</a:t>
            </a:r>
            <a:r>
              <a:rPr lang="zh-CN" altLang="en-US" dirty="0"/>
              <a:t>、定</a:t>
            </a:r>
            <a:r>
              <a:rPr lang="zh-CN" altLang="zh-CN" dirty="0"/>
              <a:t>价</a:t>
            </a:r>
            <a:r>
              <a:rPr lang="zh-CN" altLang="en-US" dirty="0"/>
              <a:t>、</a:t>
            </a:r>
            <a:r>
              <a:rPr lang="zh-CN" altLang="zh-CN" dirty="0"/>
              <a:t>销售配套措施</a:t>
            </a:r>
            <a:endParaRPr lang="en-US" altLang="zh-CN" dirty="0"/>
          </a:p>
          <a:p>
            <a:pPr lvl="1"/>
            <a:r>
              <a:rPr lang="zh-CN" altLang="en-US" dirty="0"/>
              <a:t>理性评估</a:t>
            </a:r>
            <a:r>
              <a:rPr lang="zh-CN" altLang="zh-CN" dirty="0"/>
              <a:t>可行性</a:t>
            </a:r>
            <a:r>
              <a:rPr lang="zh-CN" altLang="en-US" dirty="0"/>
              <a:t>和</a:t>
            </a:r>
            <a:r>
              <a:rPr lang="zh-CN" altLang="zh-CN" dirty="0"/>
              <a:t>投资风险</a:t>
            </a:r>
            <a:r>
              <a:rPr lang="zh-CN" altLang="en-US" dirty="0"/>
              <a:t>；对于尚未确定的</a:t>
            </a:r>
            <a:r>
              <a:rPr lang="zh-CN" altLang="zh-CN" dirty="0"/>
              <a:t>并购重组</a:t>
            </a:r>
            <a:r>
              <a:rPr lang="zh-CN" altLang="en-US" dirty="0"/>
              <a:t>、市场变动等，应保持谨慎</a:t>
            </a:r>
            <a:endParaRPr lang="en-US" altLang="zh-CN" dirty="0"/>
          </a:p>
          <a:p>
            <a:pPr lvl="1"/>
            <a:endParaRPr lang="en-US" altLang="zh-CN" dirty="0"/>
          </a:p>
          <a:p>
            <a:r>
              <a:rPr lang="zh-CN" altLang="en-US" b="1" dirty="0"/>
              <a:t>制度建设</a:t>
            </a:r>
            <a:endParaRPr lang="en-US" altLang="zh-CN" b="1" dirty="0"/>
          </a:p>
          <a:p>
            <a:pPr lvl="1"/>
            <a:r>
              <a:rPr lang="zh-CN" altLang="en-US" dirty="0"/>
              <a:t>健全完备：治理、财务、人事薪酬，采购、生产、销售等</a:t>
            </a:r>
            <a:endParaRPr lang="en-US" altLang="zh-CN" dirty="0"/>
          </a:p>
          <a:p>
            <a:pPr lvl="1"/>
            <a:r>
              <a:rPr lang="zh-CN" altLang="en-US" dirty="0"/>
              <a:t>执行效果：综合制度受益者和被管理部门的评价</a:t>
            </a:r>
          </a:p>
        </p:txBody>
      </p:sp>
    </p:spTree>
    <p:extLst>
      <p:ext uri="{BB962C8B-B14F-4D97-AF65-F5344CB8AC3E}">
        <p14:creationId xmlns:p14="http://schemas.microsoft.com/office/powerpoint/2010/main" val="41543258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2F544B-B0A0-407F-8F18-360E8F8B37BF}"/>
              </a:ext>
            </a:extLst>
          </p:cNvPr>
          <p:cNvSpPr>
            <a:spLocks noGrp="1"/>
          </p:cNvSpPr>
          <p:nvPr>
            <p:ph type="title"/>
          </p:nvPr>
        </p:nvSpPr>
        <p:spPr/>
        <p:txBody>
          <a:bodyPr/>
          <a:lstStyle/>
          <a:p>
            <a:r>
              <a:rPr lang="zh-CN" altLang="en-US" dirty="0"/>
              <a:t>信息披露</a:t>
            </a:r>
          </a:p>
        </p:txBody>
      </p:sp>
      <p:sp>
        <p:nvSpPr>
          <p:cNvPr id="3" name="内容占位符 2">
            <a:extLst>
              <a:ext uri="{FF2B5EF4-FFF2-40B4-BE49-F238E27FC236}">
                <a16:creationId xmlns:a16="http://schemas.microsoft.com/office/drawing/2014/main" id="{6542F62D-92AB-4FF7-A6A5-A28FDC32CE09}"/>
              </a:ext>
            </a:extLst>
          </p:cNvPr>
          <p:cNvSpPr>
            <a:spLocks noGrp="1"/>
          </p:cNvSpPr>
          <p:nvPr>
            <p:ph idx="1"/>
          </p:nvPr>
        </p:nvSpPr>
        <p:spPr>
          <a:xfrm>
            <a:off x="949497" y="1593045"/>
            <a:ext cx="15378696" cy="7828747"/>
          </a:xfrm>
        </p:spPr>
        <p:txBody>
          <a:bodyPr>
            <a:normAutofit/>
          </a:bodyPr>
          <a:lstStyle/>
          <a:p>
            <a:r>
              <a:rPr lang="zh-CN" altLang="en-US" b="1" dirty="0"/>
              <a:t>信息披露</a:t>
            </a:r>
            <a:endParaRPr lang="en-US" altLang="zh-CN" b="1" dirty="0"/>
          </a:p>
          <a:p>
            <a:pPr lvl="1"/>
            <a:r>
              <a:rPr lang="zh-CN" altLang="en-US" dirty="0"/>
              <a:t>关注为实现公司战略所愿意承受的风险程度，评估经营成果和风险对称性</a:t>
            </a:r>
            <a:endParaRPr lang="en-US" altLang="zh-CN" dirty="0"/>
          </a:p>
          <a:p>
            <a:pPr lvl="1"/>
            <a:r>
              <a:rPr lang="zh-CN" altLang="en-US" dirty="0"/>
              <a:t>通过各类信息公告、战略规划和经营计划，来评价战略执行效果和风险承受水平</a:t>
            </a:r>
            <a:endParaRPr lang="en-US" altLang="zh-CN" dirty="0"/>
          </a:p>
          <a:p>
            <a:pPr lvl="1"/>
            <a:r>
              <a:rPr lang="zh-CN" altLang="en-US" dirty="0"/>
              <a:t>通过战略规划和经营计划的可行性和可操作性，来评估管理层可信度</a:t>
            </a:r>
            <a:endParaRPr lang="en-US" altLang="zh-CN" dirty="0"/>
          </a:p>
          <a:p>
            <a:pPr lvl="1"/>
            <a:endParaRPr lang="en-US" altLang="zh-CN" dirty="0"/>
          </a:p>
          <a:p>
            <a:pPr lvl="1"/>
            <a:r>
              <a:rPr lang="zh-CN" altLang="en-US" dirty="0"/>
              <a:t>过去的执行偏差将预示着未来的偏差；困难时期，管理层的信任度非常重要</a:t>
            </a:r>
            <a:endParaRPr lang="en-US" altLang="zh-CN" dirty="0"/>
          </a:p>
          <a:p>
            <a:pPr lvl="1"/>
            <a:r>
              <a:rPr lang="zh-CN" altLang="en-US" dirty="0"/>
              <a:t>股东追求估值增涨和长期利益，可能运营过激；债权人追求风险收益对称，存续期内持续良好表现</a:t>
            </a:r>
            <a:endParaRPr lang="en-US" altLang="zh-CN" dirty="0"/>
          </a:p>
          <a:p>
            <a:pPr lvl="1"/>
            <a:endParaRPr lang="en-US" altLang="zh-CN" dirty="0"/>
          </a:p>
          <a:p>
            <a:r>
              <a:rPr lang="zh-CN" altLang="en-US" b="1" dirty="0"/>
              <a:t>公司声誉</a:t>
            </a:r>
            <a:r>
              <a:rPr lang="zh-CN" altLang="en-US" dirty="0"/>
              <a:t>：重视诚信、商业道德、内控系统、公司文化和公司战略，并为各方创造价值</a:t>
            </a:r>
            <a:endParaRPr lang="en-US" altLang="zh-CN" dirty="0"/>
          </a:p>
          <a:p>
            <a:pPr lvl="1"/>
            <a:r>
              <a:rPr lang="zh-CN" altLang="en-US" dirty="0"/>
              <a:t>诚信责任，有较高的意愿承担偿付责任，明确答复股东和债权人的疑问，言行一致</a:t>
            </a:r>
            <a:endParaRPr lang="en-US" altLang="zh-CN" dirty="0"/>
          </a:p>
          <a:p>
            <a:pPr lvl="1"/>
            <a:r>
              <a:rPr lang="zh-CN" altLang="en-US" dirty="0"/>
              <a:t>公开坦诚，意味着清晰传达信息，坦诚面对问题和切实行动措施</a:t>
            </a:r>
            <a:endParaRPr lang="en-US" altLang="zh-CN" dirty="0"/>
          </a:p>
          <a:p>
            <a:pPr lvl="1"/>
            <a:r>
              <a:rPr lang="zh-CN" altLang="en-US" dirty="0"/>
              <a:t>管理风格，高管层的激进程度和风险偏好，如过高的工作计划、激进的销售目标，不接受失败的奖惩制度</a:t>
            </a:r>
            <a:endParaRPr lang="en-US" altLang="zh-CN" dirty="0"/>
          </a:p>
        </p:txBody>
      </p:sp>
    </p:spTree>
    <p:extLst>
      <p:ext uri="{BB962C8B-B14F-4D97-AF65-F5344CB8AC3E}">
        <p14:creationId xmlns:p14="http://schemas.microsoft.com/office/powerpoint/2010/main" val="10774742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60BB203-169B-47EF-A141-DD6B6267F34B}"/>
              </a:ext>
            </a:extLst>
          </p:cNvPr>
          <p:cNvSpPr>
            <a:spLocks noGrp="1"/>
          </p:cNvSpPr>
          <p:nvPr>
            <p:ph type="title"/>
          </p:nvPr>
        </p:nvSpPr>
        <p:spPr/>
        <p:txBody>
          <a:bodyPr/>
          <a:lstStyle/>
          <a:p>
            <a:r>
              <a:rPr lang="en-US" altLang="zh-CN" dirty="0"/>
              <a:t> </a:t>
            </a:r>
            <a:r>
              <a:rPr lang="zh-CN" altLang="en-US" dirty="0"/>
              <a:t>公司治理的评测</a:t>
            </a:r>
            <a:r>
              <a:rPr lang="zh-CN" altLang="en-US"/>
              <a:t>量表</a:t>
            </a:r>
            <a:r>
              <a:rPr lang="zh-CN" altLang="en-US" sz="2400"/>
              <a:t>（</a:t>
            </a:r>
            <a:r>
              <a:rPr lang="en-US" altLang="zh-CN" sz="2400"/>
              <a:t>1/6 </a:t>
            </a:r>
            <a:r>
              <a:rPr lang="zh-CN" altLang="en-US" sz="2400" dirty="0"/>
              <a:t>摘自标普评级）</a:t>
            </a:r>
          </a:p>
        </p:txBody>
      </p:sp>
      <p:graphicFrame>
        <p:nvGraphicFramePr>
          <p:cNvPr id="9" name="内容占位符 8">
            <a:extLst>
              <a:ext uri="{FF2B5EF4-FFF2-40B4-BE49-F238E27FC236}">
                <a16:creationId xmlns:a16="http://schemas.microsoft.com/office/drawing/2014/main" id="{2558D0A0-3BEA-4510-895E-EE15BCC831D0}"/>
              </a:ext>
            </a:extLst>
          </p:cNvPr>
          <p:cNvGraphicFramePr>
            <a:graphicFrameLocks noGrp="1"/>
          </p:cNvGraphicFramePr>
          <p:nvPr>
            <p:ph idx="1"/>
            <p:extLst>
              <p:ext uri="{D42A27DB-BD31-4B8C-83A1-F6EECF244321}">
                <p14:modId xmlns:p14="http://schemas.microsoft.com/office/powerpoint/2010/main" val="331976202"/>
              </p:ext>
            </p:extLst>
          </p:nvPr>
        </p:nvGraphicFramePr>
        <p:xfrm>
          <a:off x="273050" y="1674813"/>
          <a:ext cx="16791691" cy="7748541"/>
        </p:xfrm>
        <a:graphic>
          <a:graphicData uri="http://schemas.openxmlformats.org/drawingml/2006/table">
            <a:tbl>
              <a:tblPr firstRow="1" bandRow="1">
                <a:tableStyleId>{5C22544A-7EE6-4342-B048-85BDC9FD1C3A}</a:tableStyleId>
              </a:tblPr>
              <a:tblGrid>
                <a:gridCol w="3189678">
                  <a:extLst>
                    <a:ext uri="{9D8B030D-6E8A-4147-A177-3AD203B41FA5}">
                      <a16:colId xmlns:a16="http://schemas.microsoft.com/office/drawing/2014/main" val="630623575"/>
                    </a:ext>
                  </a:extLst>
                </a:gridCol>
                <a:gridCol w="13602013">
                  <a:extLst>
                    <a:ext uri="{9D8B030D-6E8A-4147-A177-3AD203B41FA5}">
                      <a16:colId xmlns:a16="http://schemas.microsoft.com/office/drawing/2014/main" val="1507351217"/>
                    </a:ext>
                  </a:extLst>
                </a:gridCol>
              </a:tblGrid>
              <a:tr h="468780">
                <a:tc>
                  <a:txBody>
                    <a:bodyPr/>
                    <a:lstStyle/>
                    <a:p>
                      <a:pPr algn="ctr" fontAlgn="t"/>
                      <a:r>
                        <a:rPr lang="zh-CN" altLang="en-US" sz="2000" b="1" u="none" strike="noStrike" dirty="0">
                          <a:effectLst/>
                        </a:rPr>
                        <a:t>评测问题</a:t>
                      </a:r>
                      <a:endParaRPr lang="zh-CN" altLang="en-US" sz="2000" b="1" i="0" u="none" strike="noStrike" dirty="0">
                        <a:solidFill>
                          <a:srgbClr val="000000"/>
                        </a:solidFill>
                        <a:effectLst/>
                        <a:latin typeface="等线" panose="02010600030101010101" pitchFamily="2" charset="-122"/>
                        <a:ea typeface="等线" panose="02010600030101010101" pitchFamily="2" charset="-122"/>
                      </a:endParaRPr>
                    </a:p>
                  </a:txBody>
                  <a:tcPr marL="7773" marR="7773" marT="7620" marB="0" anchor="ctr"/>
                </a:tc>
                <a:tc>
                  <a:txBody>
                    <a:bodyPr/>
                    <a:lstStyle/>
                    <a:p>
                      <a:pPr algn="ctr" fontAlgn="ctr"/>
                      <a:r>
                        <a:rPr lang="zh-CN" altLang="en-US" sz="2000" b="1" u="none" strike="noStrike" dirty="0">
                          <a:effectLst/>
                        </a:rPr>
                        <a:t>预警信号</a:t>
                      </a:r>
                      <a:endParaRPr lang="zh-CN" altLang="en-US" sz="2000" b="1" i="0" u="none" strike="noStrike" dirty="0">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2371105547"/>
                  </a:ext>
                </a:extLst>
              </a:tr>
              <a:tr h="751160">
                <a:tc rowSpan="7">
                  <a:txBody>
                    <a:bodyPr/>
                    <a:lstStyle/>
                    <a:p>
                      <a:pPr algn="l" fontAlgn="t"/>
                      <a:r>
                        <a:rPr lang="en-US" altLang="zh-CN" sz="2000" u="none" strike="noStrike" dirty="0">
                          <a:effectLst/>
                        </a:rPr>
                        <a:t>1.</a:t>
                      </a:r>
                      <a:r>
                        <a:rPr lang="zh-CN" altLang="en-US" sz="2000" u="none" strike="noStrike" dirty="0">
                          <a:effectLst/>
                        </a:rPr>
                        <a:t>在公司经营模式、成长和收购战略</a:t>
                      </a:r>
                      <a:r>
                        <a:rPr lang="en-US" altLang="zh-CN" sz="2000" u="none" strike="noStrike" dirty="0">
                          <a:effectLst/>
                        </a:rPr>
                        <a:t>/</a:t>
                      </a:r>
                      <a:r>
                        <a:rPr lang="zh-CN" altLang="en-US" sz="2000" u="none" strike="noStrike" dirty="0">
                          <a:effectLst/>
                        </a:rPr>
                        <a:t>方案上的激进程度</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73" marR="7773" marT="7620" marB="0" anchor="ctr"/>
                </a:tc>
                <a:tc>
                  <a:txBody>
                    <a:bodyPr/>
                    <a:lstStyle/>
                    <a:p>
                      <a:pPr algn="l" fontAlgn="ctr"/>
                      <a:r>
                        <a:rPr lang="zh-CN" altLang="en-US" sz="2000" u="none" strike="noStrike" dirty="0">
                          <a:effectLst/>
                        </a:rPr>
                        <a:t>有建立过于野心勃勃的或过于乐观的发展目标</a:t>
                      </a:r>
                      <a:r>
                        <a:rPr lang="en-US" altLang="zh-CN" sz="2000" u="none" strike="noStrike" dirty="0">
                          <a:effectLst/>
                        </a:rPr>
                        <a:t>/</a:t>
                      </a:r>
                      <a:r>
                        <a:rPr lang="zh-CN" altLang="en-US" sz="2000" u="none" strike="noStrike" dirty="0">
                          <a:effectLst/>
                        </a:rPr>
                        <a:t>战略</a:t>
                      </a:r>
                      <a:r>
                        <a:rPr lang="zh-CN" altLang="en-US" sz="2000" u="none" strike="noStrike">
                          <a:effectLst/>
                        </a:rPr>
                        <a:t>的历史（例如</a:t>
                      </a:r>
                      <a:r>
                        <a:rPr lang="zh-CN" altLang="en-US" sz="2000" u="none" strike="noStrike" dirty="0">
                          <a:effectLst/>
                        </a:rPr>
                        <a:t>，显示出激进的或过于乐观的公司规划以及新业务和新产品的发展或导人计划） </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252257794"/>
                  </a:ext>
                </a:extLst>
              </a:tr>
              <a:tr h="380217">
                <a:tc vMerge="1">
                  <a:txBody>
                    <a:bodyPr/>
                    <a:lstStyle/>
                    <a:p>
                      <a:endParaRPr lang="zh-CN" altLang="en-US"/>
                    </a:p>
                  </a:txBody>
                  <a:tcPr/>
                </a:tc>
                <a:tc>
                  <a:txBody>
                    <a:bodyPr/>
                    <a:lstStyle/>
                    <a:p>
                      <a:pPr algn="l" fontAlgn="ctr"/>
                      <a:r>
                        <a:rPr lang="zh-CN" altLang="en-US" sz="2000" u="none" strike="noStrike">
                          <a:effectLst/>
                        </a:rPr>
                        <a:t>销售收入增长明显超过同行业平均水平</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1916923812"/>
                  </a:ext>
                </a:extLst>
              </a:tr>
              <a:tr h="380217">
                <a:tc vMerge="1">
                  <a:txBody>
                    <a:bodyPr/>
                    <a:lstStyle/>
                    <a:p>
                      <a:endParaRPr lang="zh-CN" altLang="en-US"/>
                    </a:p>
                  </a:txBody>
                  <a:tcPr/>
                </a:tc>
                <a:tc>
                  <a:txBody>
                    <a:bodyPr/>
                    <a:lstStyle/>
                    <a:p>
                      <a:pPr algn="l" fontAlgn="ctr"/>
                      <a:r>
                        <a:rPr lang="zh-CN" altLang="en-US" sz="2000" u="none" strike="noStrike" dirty="0">
                          <a:effectLst/>
                        </a:rPr>
                        <a:t>通过收购迅速发展</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2422315763"/>
                  </a:ext>
                </a:extLst>
              </a:tr>
              <a:tr h="380217">
                <a:tc vMerge="1">
                  <a:txBody>
                    <a:bodyPr/>
                    <a:lstStyle/>
                    <a:p>
                      <a:endParaRPr lang="zh-CN" altLang="en-US"/>
                    </a:p>
                  </a:txBody>
                  <a:tcPr/>
                </a:tc>
                <a:tc>
                  <a:txBody>
                    <a:bodyPr/>
                    <a:lstStyle/>
                    <a:p>
                      <a:pPr algn="l" fontAlgn="ctr"/>
                      <a:r>
                        <a:rPr lang="zh-CN" altLang="en-US" sz="2000" u="none" strike="noStrike" dirty="0">
                          <a:effectLst/>
                        </a:rPr>
                        <a:t>收购时付出很高溢价的历史</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1482802185"/>
                  </a:ext>
                </a:extLst>
              </a:tr>
              <a:tr h="380217">
                <a:tc vMerge="1">
                  <a:txBody>
                    <a:bodyPr/>
                    <a:lstStyle/>
                    <a:p>
                      <a:endParaRPr lang="zh-CN" altLang="en-US"/>
                    </a:p>
                  </a:txBody>
                  <a:tcPr/>
                </a:tc>
                <a:tc>
                  <a:txBody>
                    <a:bodyPr/>
                    <a:lstStyle/>
                    <a:p>
                      <a:pPr algn="l" fontAlgn="ctr"/>
                      <a:r>
                        <a:rPr lang="zh-CN" altLang="en-US" sz="2000" u="none" strike="noStrike" dirty="0">
                          <a:effectLst/>
                        </a:rPr>
                        <a:t>系列收购</a:t>
                      </a:r>
                      <a:endParaRPr lang="en-US" altLang="zh-CN" sz="2000" b="0" i="0" u="none" strike="noStrike" dirty="0">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1128425187"/>
                  </a:ext>
                </a:extLst>
              </a:tr>
              <a:tr h="751160">
                <a:tc vMerge="1">
                  <a:txBody>
                    <a:bodyPr/>
                    <a:lstStyle/>
                    <a:p>
                      <a:endParaRPr lang="zh-CN" altLang="en-US"/>
                    </a:p>
                  </a:txBody>
                  <a:tcPr/>
                </a:tc>
                <a:tc>
                  <a:txBody>
                    <a:bodyPr/>
                    <a:lstStyle/>
                    <a:p>
                      <a:pPr algn="l" fontAlgn="ctr"/>
                      <a:r>
                        <a:rPr lang="zh-CN" altLang="en-US" sz="2000" u="none" strike="noStrike" dirty="0">
                          <a:effectLst/>
                        </a:rPr>
                        <a:t>不管商业模式是否稳定，前景是否明朗，制定迅速发展的计划</a:t>
                      </a:r>
                      <a:r>
                        <a:rPr lang="zh-CN" altLang="en-US" sz="2000" u="none" strike="noStrike">
                          <a:effectLst/>
                        </a:rPr>
                        <a:t>或目标（例如</a:t>
                      </a:r>
                      <a:r>
                        <a:rPr lang="zh-CN" altLang="en-US" sz="2000" u="none" strike="noStrike" dirty="0">
                          <a:effectLst/>
                        </a:rPr>
                        <a:t>，公司处于一个解除管制的行业和</a:t>
                      </a:r>
                      <a:r>
                        <a:rPr lang="en-US" altLang="zh-CN" sz="2000" u="none" strike="noStrike" dirty="0">
                          <a:effectLst/>
                        </a:rPr>
                        <a:t>/</a:t>
                      </a:r>
                      <a:r>
                        <a:rPr lang="zh-CN" altLang="en-US" sz="2000" u="none" strike="noStrike" dirty="0">
                          <a:effectLst/>
                        </a:rPr>
                        <a:t>或一个面对迅速的技术变化、快速成长的行业，但产品或业务流程却是前景不明或不成熟）</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1191515446"/>
                  </a:ext>
                </a:extLst>
              </a:tr>
              <a:tr h="426584">
                <a:tc vMerge="1">
                  <a:txBody>
                    <a:bodyPr/>
                    <a:lstStyle/>
                    <a:p>
                      <a:endParaRPr lang="zh-CN" altLang="en-US"/>
                    </a:p>
                  </a:txBody>
                  <a:tcPr/>
                </a:tc>
                <a:tc>
                  <a:txBody>
                    <a:bodyPr/>
                    <a:lstStyle/>
                    <a:p>
                      <a:pPr algn="l" fontAlgn="ctr"/>
                      <a:r>
                        <a:rPr lang="zh-CN" altLang="en-US" sz="2000" u="none" strike="noStrike">
                          <a:effectLst/>
                        </a:rPr>
                        <a:t>由于连续收购的影响，在各期财务报告之间缺乏比较性，信用分析师难以理解所报告的财务结果</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1775606835"/>
                  </a:ext>
                </a:extLst>
              </a:tr>
              <a:tr h="426584">
                <a:tc rowSpan="4">
                  <a:txBody>
                    <a:bodyPr/>
                    <a:lstStyle/>
                    <a:p>
                      <a:pPr algn="l" fontAlgn="t"/>
                      <a:r>
                        <a:rPr lang="en-US" altLang="zh-CN" sz="2000" u="none" strike="noStrike" dirty="0">
                          <a:effectLst/>
                        </a:rPr>
                        <a:t>2. </a:t>
                      </a:r>
                      <a:r>
                        <a:rPr lang="zh-CN" altLang="en-US" sz="2000" u="none" strike="noStrike" dirty="0">
                          <a:effectLst/>
                        </a:rPr>
                        <a:t>扩张进入新的或不成熟的产品、业务领域、行业和</a:t>
                      </a:r>
                      <a:r>
                        <a:rPr lang="en-US" altLang="zh-CN" sz="2000" u="none" strike="noStrike" dirty="0">
                          <a:effectLst/>
                        </a:rPr>
                        <a:t>/</a:t>
                      </a:r>
                      <a:r>
                        <a:rPr lang="zh-CN" altLang="en-US" sz="2000" u="none" strike="noStrike" dirty="0">
                          <a:effectLst/>
                        </a:rPr>
                        <a:t>或市场的激进程度</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73" marR="7773" marT="7620" marB="0" anchor="ctr"/>
                </a:tc>
                <a:tc>
                  <a:txBody>
                    <a:bodyPr/>
                    <a:lstStyle/>
                    <a:p>
                      <a:pPr algn="l" fontAlgn="ctr"/>
                      <a:r>
                        <a:rPr lang="zh-CN" altLang="en-US" sz="2000" u="none" strike="noStrike">
                          <a:effectLst/>
                        </a:rPr>
                        <a:t>扩张进人新的业务领域或传统竞争能力之外的行业的历史</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3255513961"/>
                  </a:ext>
                </a:extLst>
              </a:tr>
              <a:tr h="380217">
                <a:tc vMerge="1">
                  <a:txBody>
                    <a:bodyPr/>
                    <a:lstStyle/>
                    <a:p>
                      <a:endParaRPr lang="zh-CN" altLang="en-US"/>
                    </a:p>
                  </a:txBody>
                  <a:tcPr/>
                </a:tc>
                <a:tc>
                  <a:txBody>
                    <a:bodyPr/>
                    <a:lstStyle/>
                    <a:p>
                      <a:pPr algn="l" fontAlgn="ctr"/>
                      <a:r>
                        <a:rPr lang="zh-CN" altLang="en-US" sz="2000" u="none" strike="noStrike">
                          <a:effectLst/>
                        </a:rPr>
                        <a:t>进入海外市场的实质性扩张，尤其是那些受国家或新兴市场风险以及管制和其他</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3342111016"/>
                  </a:ext>
                </a:extLst>
              </a:tr>
              <a:tr h="380217">
                <a:tc vMerge="1">
                  <a:txBody>
                    <a:bodyPr/>
                    <a:lstStyle/>
                    <a:p>
                      <a:endParaRPr lang="zh-CN" altLang="en-US"/>
                    </a:p>
                  </a:txBody>
                  <a:tcPr/>
                </a:tc>
                <a:tc>
                  <a:txBody>
                    <a:bodyPr/>
                    <a:lstStyle/>
                    <a:p>
                      <a:pPr algn="l" fontAlgn="ctr"/>
                      <a:r>
                        <a:rPr lang="zh-CN" altLang="en-US" sz="2000" u="none" strike="noStrike">
                          <a:effectLst/>
                        </a:rPr>
                        <a:t>政策风险影响的项目</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4151143099"/>
                  </a:ext>
                </a:extLst>
              </a:tr>
              <a:tr h="751160">
                <a:tc vMerge="1">
                  <a:txBody>
                    <a:bodyPr/>
                    <a:lstStyle/>
                    <a:p>
                      <a:endParaRPr lang="zh-CN" altLang="en-US"/>
                    </a:p>
                  </a:txBody>
                  <a:tcPr/>
                </a:tc>
                <a:tc>
                  <a:txBody>
                    <a:bodyPr/>
                    <a:lstStyle/>
                    <a:p>
                      <a:pPr algn="l" fontAlgn="ctr"/>
                      <a:r>
                        <a:rPr lang="zh-CN" altLang="en-US" sz="2000" u="none" strike="noStrike">
                          <a:effectLst/>
                        </a:rPr>
                        <a:t>实际的或计划的销售收入增长，在很大程度上来源于新的或前景不明的业务领域和市场，特别是那些有问题的或盈利前景不明确的</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2122273860"/>
                  </a:ext>
                </a:extLst>
              </a:tr>
              <a:tr h="751160">
                <a:tc rowSpan="4">
                  <a:txBody>
                    <a:bodyPr/>
                    <a:lstStyle/>
                    <a:p>
                      <a:pPr algn="l" fontAlgn="t"/>
                      <a:r>
                        <a:rPr lang="en-US" altLang="zh-CN" sz="2000" u="none" strike="noStrike">
                          <a:effectLst/>
                        </a:rPr>
                        <a:t>3. </a:t>
                      </a:r>
                      <a:r>
                        <a:rPr lang="zh-CN" altLang="en-US" sz="2000" u="none" strike="noStrike">
                          <a:effectLst/>
                        </a:rPr>
                        <a:t>在业务或经营战略上的转型</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73" marR="7773" marT="7620" marB="0" anchor="ctr"/>
                </a:tc>
                <a:tc>
                  <a:txBody>
                    <a:bodyPr/>
                    <a:lstStyle/>
                    <a:p>
                      <a:pPr algn="l" fontAlgn="ctr"/>
                      <a:r>
                        <a:rPr lang="zh-CN" altLang="en-US" sz="2000" u="none" strike="noStrike">
                          <a:effectLst/>
                        </a:rPr>
                        <a:t>由于传统业务已步人成熟期，或者出于增长压力，或是由于先前的战略失败，而采用激进的多元化或新产品战略</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2550085161"/>
                  </a:ext>
                </a:extLst>
              </a:tr>
              <a:tr h="380217">
                <a:tc vMerge="1">
                  <a:txBody>
                    <a:bodyPr/>
                    <a:lstStyle/>
                    <a:p>
                      <a:endParaRPr lang="zh-CN" altLang="en-US"/>
                    </a:p>
                  </a:txBody>
                  <a:tcPr/>
                </a:tc>
                <a:tc>
                  <a:txBody>
                    <a:bodyPr/>
                    <a:lstStyle/>
                    <a:p>
                      <a:pPr algn="l" fontAlgn="ctr"/>
                      <a:r>
                        <a:rPr lang="zh-CN" altLang="en-US" sz="2000" u="none" strike="noStrike">
                          <a:effectLst/>
                        </a:rPr>
                        <a:t>在定价、营销</a:t>
                      </a:r>
                      <a:r>
                        <a:rPr lang="en-US" altLang="zh-CN" sz="2000" u="none" strike="noStrike">
                          <a:effectLst/>
                        </a:rPr>
                        <a:t>/</a:t>
                      </a:r>
                      <a:r>
                        <a:rPr lang="zh-CN" altLang="en-US" sz="2000" u="none" strike="noStrike">
                          <a:effectLst/>
                        </a:rPr>
                        <a:t>广告或产品价值定位战略和战术方面的实质性变化</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3640026356"/>
                  </a:ext>
                </a:extLst>
              </a:tr>
              <a:tr h="380217">
                <a:tc vMerge="1">
                  <a:txBody>
                    <a:bodyPr/>
                    <a:lstStyle/>
                    <a:p>
                      <a:endParaRPr lang="zh-CN" altLang="en-US"/>
                    </a:p>
                  </a:txBody>
                  <a:tcPr/>
                </a:tc>
                <a:tc>
                  <a:txBody>
                    <a:bodyPr/>
                    <a:lstStyle/>
                    <a:p>
                      <a:pPr algn="l" fontAlgn="ctr"/>
                      <a:r>
                        <a:rPr lang="zh-CN" altLang="en-US" sz="2000" u="none" strike="noStrike">
                          <a:effectLst/>
                        </a:rPr>
                        <a:t>在股权或在管理、法律、管制和运作架构方面的主要变化</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634025772"/>
                  </a:ext>
                </a:extLst>
              </a:tr>
              <a:tr h="380217">
                <a:tc vMerge="1">
                  <a:txBody>
                    <a:bodyPr/>
                    <a:lstStyle/>
                    <a:p>
                      <a:endParaRPr lang="zh-CN" altLang="en-US"/>
                    </a:p>
                  </a:txBody>
                  <a:tcPr/>
                </a:tc>
                <a:tc>
                  <a:txBody>
                    <a:bodyPr/>
                    <a:lstStyle/>
                    <a:p>
                      <a:pPr algn="l" fontAlgn="ctr"/>
                      <a:r>
                        <a:rPr lang="zh-CN" altLang="en-US" sz="2000" u="none" strike="noStrike" dirty="0">
                          <a:effectLst/>
                        </a:rPr>
                        <a:t>公司雇用重组顾问</a:t>
                      </a:r>
                      <a:r>
                        <a:rPr lang="en-US" altLang="zh-CN" sz="2000" u="none" strike="noStrike" dirty="0">
                          <a:effectLst/>
                        </a:rPr>
                        <a:t>/</a:t>
                      </a:r>
                      <a:r>
                        <a:rPr lang="zh-CN" altLang="en-US" sz="2000" u="none" strike="noStrike" dirty="0">
                          <a:effectLst/>
                        </a:rPr>
                        <a:t>专家</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73" marR="7773" marT="7620" marB="0" anchor="ctr"/>
                </a:tc>
                <a:extLst>
                  <a:ext uri="{0D108BD9-81ED-4DB2-BD59-A6C34878D82A}">
                    <a16:rowId xmlns:a16="http://schemas.microsoft.com/office/drawing/2014/main" val="4232816570"/>
                  </a:ext>
                </a:extLst>
              </a:tr>
            </a:tbl>
          </a:graphicData>
        </a:graphic>
      </p:graphicFrame>
    </p:spTree>
    <p:extLst>
      <p:ext uri="{BB962C8B-B14F-4D97-AF65-F5344CB8AC3E}">
        <p14:creationId xmlns:p14="http://schemas.microsoft.com/office/powerpoint/2010/main" val="27975487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60BB203-169B-47EF-A141-DD6B6267F34B}"/>
              </a:ext>
            </a:extLst>
          </p:cNvPr>
          <p:cNvSpPr>
            <a:spLocks noGrp="1"/>
          </p:cNvSpPr>
          <p:nvPr>
            <p:ph type="title"/>
          </p:nvPr>
        </p:nvSpPr>
        <p:spPr/>
        <p:txBody>
          <a:bodyPr/>
          <a:lstStyle/>
          <a:p>
            <a:r>
              <a:rPr lang="en-US" altLang="zh-CN" dirty="0"/>
              <a:t> </a:t>
            </a:r>
            <a:r>
              <a:rPr lang="zh-CN" altLang="en-US" dirty="0"/>
              <a:t>公司治理的评测</a:t>
            </a:r>
            <a:r>
              <a:rPr lang="zh-CN" altLang="en-US"/>
              <a:t>量表</a:t>
            </a:r>
            <a:r>
              <a:rPr lang="zh-CN" altLang="en-US" sz="2400"/>
              <a:t>（</a:t>
            </a:r>
            <a:r>
              <a:rPr lang="en-US" altLang="zh-CN" sz="2400"/>
              <a:t>2/6 </a:t>
            </a:r>
            <a:r>
              <a:rPr lang="zh-CN" altLang="en-US" sz="2400" dirty="0"/>
              <a:t>摘自标普评级）</a:t>
            </a:r>
          </a:p>
        </p:txBody>
      </p:sp>
      <p:graphicFrame>
        <p:nvGraphicFramePr>
          <p:cNvPr id="5" name="内容占位符 4">
            <a:extLst>
              <a:ext uri="{FF2B5EF4-FFF2-40B4-BE49-F238E27FC236}">
                <a16:creationId xmlns:a16="http://schemas.microsoft.com/office/drawing/2014/main" id="{65A14BBE-5678-4527-B170-791ACE1C1333}"/>
              </a:ext>
            </a:extLst>
          </p:cNvPr>
          <p:cNvGraphicFramePr>
            <a:graphicFrameLocks noGrp="1"/>
          </p:cNvGraphicFramePr>
          <p:nvPr>
            <p:ph idx="1"/>
            <p:extLst>
              <p:ext uri="{D42A27DB-BD31-4B8C-83A1-F6EECF244321}">
                <p14:modId xmlns:p14="http://schemas.microsoft.com/office/powerpoint/2010/main" val="2962027853"/>
              </p:ext>
            </p:extLst>
          </p:nvPr>
        </p:nvGraphicFramePr>
        <p:xfrm>
          <a:off x="273050" y="1674813"/>
          <a:ext cx="16791040" cy="7953896"/>
        </p:xfrm>
        <a:graphic>
          <a:graphicData uri="http://schemas.openxmlformats.org/drawingml/2006/table">
            <a:tbl>
              <a:tblPr firstRow="1" bandRow="1">
                <a:tableStyleId>{5C22544A-7EE6-4342-B048-85BDC9FD1C3A}</a:tableStyleId>
              </a:tblPr>
              <a:tblGrid>
                <a:gridCol w="3339580">
                  <a:extLst>
                    <a:ext uri="{9D8B030D-6E8A-4147-A177-3AD203B41FA5}">
                      <a16:colId xmlns:a16="http://schemas.microsoft.com/office/drawing/2014/main" val="383750525"/>
                    </a:ext>
                  </a:extLst>
                </a:gridCol>
                <a:gridCol w="13451460">
                  <a:extLst>
                    <a:ext uri="{9D8B030D-6E8A-4147-A177-3AD203B41FA5}">
                      <a16:colId xmlns:a16="http://schemas.microsoft.com/office/drawing/2014/main" val="3409989579"/>
                    </a:ext>
                  </a:extLst>
                </a:gridCol>
              </a:tblGrid>
              <a:tr h="498761">
                <a:tc>
                  <a:txBody>
                    <a:bodyPr/>
                    <a:lstStyle/>
                    <a:p>
                      <a:pPr algn="ctr" fontAlgn="t"/>
                      <a:r>
                        <a:rPr lang="zh-CN" altLang="en-US" sz="2000" u="none" strike="noStrike" dirty="0">
                          <a:effectLst/>
                        </a:rPr>
                        <a:t>评测问题</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602" marR="7602" marT="7620" marB="0" anchor="ctr"/>
                </a:tc>
                <a:tc>
                  <a:txBody>
                    <a:bodyPr/>
                    <a:lstStyle/>
                    <a:p>
                      <a:pPr algn="ctr" fontAlgn="ctr"/>
                      <a:r>
                        <a:rPr lang="zh-CN" altLang="en-US" sz="2000" u="none" strike="noStrike" dirty="0">
                          <a:effectLst/>
                        </a:rPr>
                        <a:t>预警信号</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1369404332"/>
                  </a:ext>
                </a:extLst>
              </a:tr>
              <a:tr h="403798">
                <a:tc rowSpan="4">
                  <a:txBody>
                    <a:bodyPr/>
                    <a:lstStyle/>
                    <a:p>
                      <a:pPr algn="l" fontAlgn="t"/>
                      <a:r>
                        <a:rPr lang="en-US" altLang="zh-CN" sz="2000" u="none" strike="noStrike" dirty="0">
                          <a:effectLst/>
                        </a:rPr>
                        <a:t>4. </a:t>
                      </a:r>
                      <a:r>
                        <a:rPr lang="zh-CN" altLang="en-US" sz="2000" u="none" strike="noStrike" dirty="0">
                          <a:effectLst/>
                        </a:rPr>
                        <a:t>重组、资产出售和临时停工的历史。警示信号如下</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602" marR="7602" marT="7620" marB="0" anchor="ctr"/>
                </a:tc>
                <a:tc>
                  <a:txBody>
                    <a:bodyPr/>
                    <a:lstStyle/>
                    <a:p>
                      <a:pPr algn="l" fontAlgn="ctr"/>
                      <a:r>
                        <a:rPr lang="zh-CN" altLang="en-US" sz="2000" u="none" strike="noStrike" dirty="0">
                          <a:effectLst/>
                        </a:rPr>
                        <a:t>造成业务领域、部门或子公司组合变动</a:t>
                      </a:r>
                      <a:r>
                        <a:rPr lang="zh-CN" altLang="en-US" sz="2000" u="none" strike="noStrike">
                          <a:effectLst/>
                        </a:rPr>
                        <a:t>的交易（购买</a:t>
                      </a:r>
                      <a:r>
                        <a:rPr lang="zh-CN" altLang="en-US" sz="2000" u="none" strike="noStrike" dirty="0">
                          <a:effectLst/>
                        </a:rPr>
                        <a:t>和出售） </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1630089474"/>
                  </a:ext>
                </a:extLst>
              </a:tr>
              <a:tr h="322974">
                <a:tc vMerge="1">
                  <a:txBody>
                    <a:bodyPr/>
                    <a:lstStyle/>
                    <a:p>
                      <a:endParaRPr lang="zh-CN" altLang="en-US"/>
                    </a:p>
                  </a:txBody>
                  <a:tcPr/>
                </a:tc>
                <a:tc>
                  <a:txBody>
                    <a:bodyPr/>
                    <a:lstStyle/>
                    <a:p>
                      <a:pPr algn="l" fontAlgn="ctr"/>
                      <a:r>
                        <a:rPr lang="zh-CN" altLang="en-US" sz="2000" u="none" strike="noStrike">
                          <a:effectLst/>
                        </a:rPr>
                        <a:t>核心业务的关闭</a:t>
                      </a:r>
                      <a:r>
                        <a:rPr lang="en-US" altLang="zh-CN" sz="2000" u="none" strike="noStrike">
                          <a:effectLst/>
                        </a:rPr>
                        <a:t>/</a:t>
                      </a:r>
                      <a:r>
                        <a:rPr lang="zh-CN" altLang="en-US" sz="2000" u="none" strike="noStrike">
                          <a:effectLst/>
                        </a:rPr>
                        <a:t>出售</a:t>
                      </a:r>
                      <a:r>
                        <a:rPr lang="en-US" altLang="zh-CN" sz="2000" u="none" strike="noStrike">
                          <a:effectLst/>
                        </a:rPr>
                        <a:t>/</a:t>
                      </a:r>
                      <a:r>
                        <a:rPr lang="zh-CN" altLang="en-US" sz="2000" u="none" strike="noStrike">
                          <a:effectLst/>
                        </a:rPr>
                        <a:t>削弱</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2397871956"/>
                  </a:ext>
                </a:extLst>
              </a:tr>
              <a:tr h="322974">
                <a:tc vMerge="1">
                  <a:txBody>
                    <a:bodyPr/>
                    <a:lstStyle/>
                    <a:p>
                      <a:endParaRPr lang="zh-CN" altLang="en-US"/>
                    </a:p>
                  </a:txBody>
                  <a:tcPr/>
                </a:tc>
                <a:tc>
                  <a:txBody>
                    <a:bodyPr/>
                    <a:lstStyle/>
                    <a:p>
                      <a:pPr algn="l" fontAlgn="ctr"/>
                      <a:r>
                        <a:rPr lang="zh-CN" altLang="en-US" sz="2000" u="none" strike="noStrike">
                          <a:effectLst/>
                        </a:rPr>
                        <a:t>为了维持经营控制而</a:t>
                      </a:r>
                      <a:r>
                        <a:rPr lang="en-US" altLang="zh-CN" sz="2000" u="none" strike="noStrike">
                          <a:effectLst/>
                        </a:rPr>
                        <a:t>"</a:t>
                      </a:r>
                      <a:r>
                        <a:rPr lang="zh-CN" altLang="en-US" sz="2000" u="none" strike="noStrike">
                          <a:effectLst/>
                        </a:rPr>
                        <a:t>出售</a:t>
                      </a:r>
                      <a:r>
                        <a:rPr lang="en-US" altLang="zh-CN" sz="2000" u="none" strike="noStrike">
                          <a:effectLst/>
                        </a:rPr>
                        <a:t>"</a:t>
                      </a:r>
                      <a:r>
                        <a:rPr lang="zh-CN" altLang="en-US" sz="2000" u="none" strike="noStrike">
                          <a:effectLst/>
                        </a:rPr>
                        <a:t>主要资产</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2200391820"/>
                  </a:ext>
                </a:extLst>
              </a:tr>
              <a:tr h="322974">
                <a:tc vMerge="1">
                  <a:txBody>
                    <a:bodyPr/>
                    <a:lstStyle/>
                    <a:p>
                      <a:endParaRPr lang="zh-CN" altLang="en-US"/>
                    </a:p>
                  </a:txBody>
                  <a:tcPr/>
                </a:tc>
                <a:tc>
                  <a:txBody>
                    <a:bodyPr/>
                    <a:lstStyle/>
                    <a:p>
                      <a:pPr algn="l" fontAlgn="ctr"/>
                      <a:r>
                        <a:rPr lang="zh-CN" altLang="en-US" sz="2000" u="none" strike="noStrike">
                          <a:effectLst/>
                        </a:rPr>
                        <a:t>经常性的重组损失、商誉资产的冲减和</a:t>
                      </a:r>
                      <a:r>
                        <a:rPr lang="en-US" altLang="zh-CN" sz="2000" u="none" strike="noStrike">
                          <a:effectLst/>
                        </a:rPr>
                        <a:t>/</a:t>
                      </a:r>
                      <a:r>
                        <a:rPr lang="zh-CN" altLang="en-US" sz="2000" u="none" strike="noStrike">
                          <a:effectLst/>
                        </a:rPr>
                        <a:t>或临时停工</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2087877733"/>
                  </a:ext>
                </a:extLst>
              </a:tr>
              <a:tr h="407973">
                <a:tc rowSpan="5">
                  <a:txBody>
                    <a:bodyPr/>
                    <a:lstStyle/>
                    <a:p>
                      <a:pPr algn="l" fontAlgn="t"/>
                      <a:r>
                        <a:rPr lang="en-US" altLang="zh-CN" sz="2000" u="none" strike="noStrike" dirty="0">
                          <a:effectLst/>
                        </a:rPr>
                        <a:t>5. </a:t>
                      </a:r>
                      <a:r>
                        <a:rPr lang="zh-CN" altLang="en-US" sz="2000" u="none" strike="noStrike" dirty="0">
                          <a:effectLst/>
                        </a:rPr>
                        <a:t>在股东价值创造或权益价值增加战略上的进取程度。警示信号如下</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602" marR="7602" marT="7620" marB="0" anchor="ctr"/>
                </a:tc>
                <a:tc>
                  <a:txBody>
                    <a:bodyPr/>
                    <a:lstStyle/>
                    <a:p>
                      <a:pPr algn="l" fontAlgn="ctr"/>
                      <a:r>
                        <a:rPr lang="zh-CN" altLang="en-US" sz="2000" u="none" strike="noStrike" dirty="0">
                          <a:effectLst/>
                        </a:rPr>
                        <a:t>把股票价格上涨置于激进的位置，例如，过多地强调短期</a:t>
                      </a:r>
                      <a:r>
                        <a:rPr lang="zh-CN" altLang="en-US" sz="2000" u="none" strike="noStrike">
                          <a:effectLst/>
                        </a:rPr>
                        <a:t>业绩表现（如季度市盈率（</a:t>
                      </a:r>
                      <a:r>
                        <a:rPr lang="en-US" altLang="zh-CN" sz="2000" u="none" strike="noStrike">
                          <a:effectLst/>
                        </a:rPr>
                        <a:t>P</a:t>
                      </a:r>
                      <a:r>
                        <a:rPr lang="en-US" altLang="zh-CN" sz="2000" u="none" strike="noStrike" dirty="0">
                          <a:effectLst/>
                        </a:rPr>
                        <a:t>/E</a:t>
                      </a:r>
                      <a:r>
                        <a:rPr lang="zh-CN" altLang="en-US" sz="2000" u="none" strike="noStrike" dirty="0">
                          <a:effectLst/>
                        </a:rPr>
                        <a:t>） 过高的或过快的增长</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3579331697"/>
                  </a:ext>
                </a:extLst>
              </a:tr>
              <a:tr h="322974">
                <a:tc vMerge="1">
                  <a:txBody>
                    <a:bodyPr/>
                    <a:lstStyle/>
                    <a:p>
                      <a:endParaRPr lang="zh-CN" altLang="en-US"/>
                    </a:p>
                  </a:txBody>
                  <a:tcPr/>
                </a:tc>
                <a:tc>
                  <a:txBody>
                    <a:bodyPr/>
                    <a:lstStyle/>
                    <a:p>
                      <a:pPr algn="l" fontAlgn="ctr"/>
                      <a:r>
                        <a:rPr lang="zh-CN" altLang="en-US" sz="2000" u="none" strike="noStrike">
                          <a:effectLst/>
                        </a:rPr>
                        <a:t>低红利支付的历史</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3127899443"/>
                  </a:ext>
                </a:extLst>
              </a:tr>
              <a:tr h="322974">
                <a:tc vMerge="1">
                  <a:txBody>
                    <a:bodyPr/>
                    <a:lstStyle/>
                    <a:p>
                      <a:endParaRPr lang="zh-CN" altLang="en-US"/>
                    </a:p>
                  </a:txBody>
                  <a:tcPr/>
                </a:tc>
                <a:tc>
                  <a:txBody>
                    <a:bodyPr/>
                    <a:lstStyle/>
                    <a:p>
                      <a:pPr algn="l" fontAlgn="ctr"/>
                      <a:r>
                        <a:rPr lang="zh-CN" altLang="en-US" sz="2000" u="none" strike="noStrike">
                          <a:effectLst/>
                        </a:rPr>
                        <a:t>激进的股票回购历史</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2936269397"/>
                  </a:ext>
                </a:extLst>
              </a:tr>
              <a:tr h="322974">
                <a:tc vMerge="1">
                  <a:txBody>
                    <a:bodyPr/>
                    <a:lstStyle/>
                    <a:p>
                      <a:endParaRPr lang="zh-CN" altLang="en-US"/>
                    </a:p>
                  </a:txBody>
                  <a:tcPr/>
                </a:tc>
                <a:tc>
                  <a:txBody>
                    <a:bodyPr/>
                    <a:lstStyle/>
                    <a:p>
                      <a:pPr algn="l" fontAlgn="ctr"/>
                      <a:r>
                        <a:rPr lang="zh-CN" altLang="en-US" sz="2000" u="none" strike="noStrike">
                          <a:effectLst/>
                        </a:rPr>
                        <a:t>实质性的资产再评估</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3214217980"/>
                  </a:ext>
                </a:extLst>
              </a:tr>
              <a:tr h="322974">
                <a:tc vMerge="1">
                  <a:txBody>
                    <a:bodyPr/>
                    <a:lstStyle/>
                    <a:p>
                      <a:endParaRPr lang="zh-CN" altLang="en-US"/>
                    </a:p>
                  </a:txBody>
                  <a:tcPr/>
                </a:tc>
                <a:tc>
                  <a:txBody>
                    <a:bodyPr/>
                    <a:lstStyle/>
                    <a:p>
                      <a:pPr algn="l" fontAlgn="ctr"/>
                      <a:r>
                        <a:rPr lang="zh-CN" altLang="en-US" sz="2000" u="none" strike="noStrike">
                          <a:effectLst/>
                        </a:rPr>
                        <a:t>引入财务投资机构</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1691172010"/>
                  </a:ext>
                </a:extLst>
              </a:tr>
              <a:tr h="403798">
                <a:tc rowSpan="12">
                  <a:txBody>
                    <a:bodyPr/>
                    <a:lstStyle/>
                    <a:p>
                      <a:pPr algn="l" fontAlgn="t"/>
                      <a:r>
                        <a:rPr lang="en-US" altLang="zh-CN" sz="2000" u="none" strike="noStrike" dirty="0">
                          <a:effectLst/>
                        </a:rPr>
                        <a:t>6. </a:t>
                      </a:r>
                      <a:r>
                        <a:rPr lang="zh-CN" altLang="en-US" sz="2000" u="none" strike="noStrike" dirty="0">
                          <a:effectLst/>
                        </a:rPr>
                        <a:t>总裁和高层管理人员的报酬及利益上的进取或激进程度</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602" marR="7602" marT="7620" marB="0" anchor="ctr"/>
                </a:tc>
                <a:tc>
                  <a:txBody>
                    <a:bodyPr/>
                    <a:lstStyle/>
                    <a:p>
                      <a:pPr algn="l" fontAlgn="ctr"/>
                      <a:r>
                        <a:rPr lang="zh-CN" altLang="en-US" sz="2000" u="none" strike="noStrike" dirty="0">
                          <a:effectLst/>
                        </a:rPr>
                        <a:t>总裁的全部收入明显高于行业</a:t>
                      </a:r>
                      <a:r>
                        <a:rPr lang="zh-CN" altLang="en-US" sz="2000" u="none" strike="noStrike">
                          <a:effectLst/>
                        </a:rPr>
                        <a:t>平均水平（例如</a:t>
                      </a:r>
                      <a:r>
                        <a:rPr lang="zh-CN" altLang="en-US" sz="2000" u="none" strike="noStrike" dirty="0">
                          <a:effectLst/>
                        </a:rPr>
                        <a:t>，处于同集团或行业的前</a:t>
                      </a:r>
                      <a:r>
                        <a:rPr lang="en-US" altLang="zh-CN" sz="2000" u="none" strike="noStrike" dirty="0">
                          <a:effectLst/>
                        </a:rPr>
                        <a:t>1/4</a:t>
                      </a:r>
                      <a:r>
                        <a:rPr lang="zh-CN" altLang="en-US" sz="2000" u="none" strike="noStrike" dirty="0">
                          <a:effectLst/>
                        </a:rPr>
                        <a:t>）</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3753283572"/>
                  </a:ext>
                </a:extLst>
              </a:tr>
              <a:tr h="322974">
                <a:tc vMerge="1">
                  <a:txBody>
                    <a:bodyPr/>
                    <a:lstStyle/>
                    <a:p>
                      <a:endParaRPr lang="zh-CN" altLang="en-US"/>
                    </a:p>
                  </a:txBody>
                  <a:tcPr/>
                </a:tc>
                <a:tc>
                  <a:txBody>
                    <a:bodyPr/>
                    <a:lstStyle/>
                    <a:p>
                      <a:pPr algn="l" fontAlgn="ctr"/>
                      <a:r>
                        <a:rPr lang="zh-CN" altLang="en-US" sz="2000" u="none" strike="noStrike">
                          <a:effectLst/>
                        </a:rPr>
                        <a:t>高层管理人员的酬劳高于同行业平均水平</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4153569260"/>
                  </a:ext>
                </a:extLst>
              </a:tr>
              <a:tr h="403798">
                <a:tc vMerge="1">
                  <a:txBody>
                    <a:bodyPr/>
                    <a:lstStyle/>
                    <a:p>
                      <a:endParaRPr lang="zh-CN" altLang="en-US"/>
                    </a:p>
                  </a:txBody>
                  <a:tcPr/>
                </a:tc>
                <a:tc>
                  <a:txBody>
                    <a:bodyPr/>
                    <a:lstStyle/>
                    <a:p>
                      <a:pPr algn="l" fontAlgn="ctr"/>
                      <a:r>
                        <a:rPr lang="zh-CN" altLang="en-US" sz="2000" u="none" strike="noStrike">
                          <a:effectLst/>
                        </a:rPr>
                        <a:t>总裁和</a:t>
                      </a:r>
                      <a:r>
                        <a:rPr lang="en-US" altLang="zh-CN" sz="2000" u="none" strike="noStrike">
                          <a:effectLst/>
                        </a:rPr>
                        <a:t>/</a:t>
                      </a:r>
                      <a:r>
                        <a:rPr lang="zh-CN" altLang="en-US" sz="2000" u="none" strike="noStrike">
                          <a:effectLst/>
                        </a:rPr>
                        <a:t>或高层管理团队的酬劳严重偏离于以股票表现为基础的酬劳</a:t>
                      </a:r>
                      <a:r>
                        <a:rPr lang="en-US" altLang="zh-CN" sz="2000" u="none" strike="noStrike">
                          <a:effectLst/>
                        </a:rPr>
                        <a:t>〈</a:t>
                      </a:r>
                      <a:r>
                        <a:rPr lang="zh-CN" altLang="en-US" sz="2000" u="none" strike="noStrike">
                          <a:effectLst/>
                        </a:rPr>
                        <a:t>期权和奖金）</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3619574536"/>
                  </a:ext>
                </a:extLst>
              </a:tr>
              <a:tr h="322974">
                <a:tc vMerge="1">
                  <a:txBody>
                    <a:bodyPr/>
                    <a:lstStyle/>
                    <a:p>
                      <a:endParaRPr lang="zh-CN" altLang="en-US"/>
                    </a:p>
                  </a:txBody>
                  <a:tcPr/>
                </a:tc>
                <a:tc>
                  <a:txBody>
                    <a:bodyPr/>
                    <a:lstStyle/>
                    <a:p>
                      <a:pPr algn="l" fontAlgn="ctr"/>
                      <a:r>
                        <a:rPr lang="zh-CN" altLang="en-US" sz="2000" u="none" strike="noStrike">
                          <a:effectLst/>
                        </a:rPr>
                        <a:t>产生</a:t>
                      </a:r>
                      <a:r>
                        <a:rPr lang="en-US" altLang="zh-CN" sz="2000" u="none" strike="noStrike">
                          <a:effectLst/>
                        </a:rPr>
                        <a:t>"</a:t>
                      </a:r>
                      <a:r>
                        <a:rPr lang="zh-CN" altLang="en-US" sz="2000" u="none" strike="noStrike">
                          <a:effectLst/>
                        </a:rPr>
                        <a:t>贪婪的文化</a:t>
                      </a:r>
                      <a:r>
                        <a:rPr lang="en-US" altLang="zh-CN" sz="2000" u="none" strike="noStrike">
                          <a:effectLst/>
                        </a:rPr>
                        <a:t>"</a:t>
                      </a:r>
                      <a:r>
                        <a:rPr lang="zh-CN" altLang="en-US" sz="2000" u="none" strike="noStrike">
                          <a:effectLst/>
                        </a:rPr>
                        <a:t>一种超出正常或失控的收入状态</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2498422919"/>
                  </a:ext>
                </a:extLst>
              </a:tr>
              <a:tr h="403798">
                <a:tc vMerge="1">
                  <a:txBody>
                    <a:bodyPr/>
                    <a:lstStyle/>
                    <a:p>
                      <a:endParaRPr lang="zh-CN" altLang="en-US"/>
                    </a:p>
                  </a:txBody>
                  <a:tcPr/>
                </a:tc>
                <a:tc>
                  <a:txBody>
                    <a:bodyPr/>
                    <a:lstStyle/>
                    <a:p>
                      <a:pPr algn="l" fontAlgn="ctr"/>
                      <a:r>
                        <a:rPr lang="zh-CN" altLang="en-US" sz="2000" u="none" strike="noStrike">
                          <a:effectLst/>
                        </a:rPr>
                        <a:t>将公司财务业绩表现和高层管理人员收入相连接，但主要是根据短期表现</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3113543802"/>
                  </a:ext>
                </a:extLst>
              </a:tr>
              <a:tr h="403798">
                <a:tc vMerge="1">
                  <a:txBody>
                    <a:bodyPr/>
                    <a:lstStyle/>
                    <a:p>
                      <a:endParaRPr lang="zh-CN" altLang="en-US"/>
                    </a:p>
                  </a:txBody>
                  <a:tcPr/>
                </a:tc>
                <a:tc>
                  <a:txBody>
                    <a:bodyPr/>
                    <a:lstStyle/>
                    <a:p>
                      <a:pPr algn="l" fontAlgn="ctr"/>
                      <a:r>
                        <a:rPr lang="zh-CN" altLang="en-US" sz="2000" u="none" strike="noStrike">
                          <a:effectLst/>
                        </a:rPr>
                        <a:t>薪酬委员会没有清晰地制定出基于克服长远意义上的个人或公司业绩障碍的薪酬政策</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2177977046"/>
                  </a:ext>
                </a:extLst>
              </a:tr>
              <a:tr h="322974">
                <a:tc vMerge="1">
                  <a:txBody>
                    <a:bodyPr/>
                    <a:lstStyle/>
                    <a:p>
                      <a:endParaRPr lang="zh-CN" altLang="en-US"/>
                    </a:p>
                  </a:txBody>
                  <a:tcPr/>
                </a:tc>
                <a:tc>
                  <a:txBody>
                    <a:bodyPr/>
                    <a:lstStyle/>
                    <a:p>
                      <a:pPr algn="l" fontAlgn="ctr"/>
                      <a:r>
                        <a:rPr lang="zh-CN" altLang="en-US" sz="2000" u="none" strike="noStrike">
                          <a:effectLst/>
                        </a:rPr>
                        <a:t>有期权再定价</a:t>
                      </a:r>
                      <a:r>
                        <a:rPr lang="en-US" altLang="zh-CN" sz="2000" u="none" strike="noStrike">
                          <a:effectLst/>
                        </a:rPr>
                        <a:t>/</a:t>
                      </a:r>
                      <a:r>
                        <a:rPr lang="zh-CN" altLang="en-US" sz="2000" u="none" strike="noStrike">
                          <a:effectLst/>
                        </a:rPr>
                        <a:t>取消的历史</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3846718020"/>
                  </a:ext>
                </a:extLst>
              </a:tr>
              <a:tr h="322974">
                <a:tc vMerge="1">
                  <a:txBody>
                    <a:bodyPr/>
                    <a:lstStyle/>
                    <a:p>
                      <a:endParaRPr lang="zh-CN" altLang="en-US"/>
                    </a:p>
                  </a:txBody>
                  <a:tcPr/>
                </a:tc>
                <a:tc>
                  <a:txBody>
                    <a:bodyPr/>
                    <a:lstStyle/>
                    <a:p>
                      <a:pPr algn="l" fontAlgn="ctr"/>
                      <a:r>
                        <a:rPr lang="zh-CN" altLang="en-US" sz="2000" u="none" strike="noStrike">
                          <a:effectLst/>
                        </a:rPr>
                        <a:t>有股票奖励价值低于目前市场价值的历史</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2417150230"/>
                  </a:ext>
                </a:extLst>
              </a:tr>
              <a:tr h="322974">
                <a:tc vMerge="1">
                  <a:txBody>
                    <a:bodyPr/>
                    <a:lstStyle/>
                    <a:p>
                      <a:endParaRPr lang="zh-CN" altLang="en-US"/>
                    </a:p>
                  </a:txBody>
                  <a:tcPr/>
                </a:tc>
                <a:tc>
                  <a:txBody>
                    <a:bodyPr/>
                    <a:lstStyle/>
                    <a:p>
                      <a:pPr algn="l" fontAlgn="ctr"/>
                      <a:r>
                        <a:rPr lang="zh-CN" altLang="en-US" sz="2000" u="none" strike="noStrike">
                          <a:effectLst/>
                        </a:rPr>
                        <a:t>终止或改变会使总裁和高层管理人员报酬过高的合同</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3092214889"/>
                  </a:ext>
                </a:extLst>
              </a:tr>
              <a:tr h="403798">
                <a:tc vMerge="1">
                  <a:txBody>
                    <a:bodyPr/>
                    <a:lstStyle/>
                    <a:p>
                      <a:endParaRPr lang="zh-CN" altLang="en-US"/>
                    </a:p>
                  </a:txBody>
                  <a:tcPr/>
                </a:tc>
                <a:tc>
                  <a:txBody>
                    <a:bodyPr/>
                    <a:lstStyle/>
                    <a:p>
                      <a:pPr algn="l" fontAlgn="ctr"/>
                      <a:r>
                        <a:rPr lang="zh-CN" altLang="en-US" sz="2000" u="none" strike="noStrike" dirty="0">
                          <a:effectLst/>
                        </a:rPr>
                        <a:t>没有明确目的或不与业绩增长相联系而支付给管理者的</a:t>
                      </a:r>
                      <a:r>
                        <a:rPr lang="zh-CN" altLang="en-US" sz="2000" u="none" strike="noStrike">
                          <a:effectLst/>
                        </a:rPr>
                        <a:t>特别酬劳（包括</a:t>
                      </a:r>
                      <a:r>
                        <a:rPr lang="en-US" altLang="zh-CN" sz="2000" u="none" strike="noStrike" dirty="0">
                          <a:effectLst/>
                        </a:rPr>
                        <a:t>"</a:t>
                      </a:r>
                      <a:r>
                        <a:rPr lang="zh-CN" altLang="en-US" sz="2000" u="none" strike="noStrike" dirty="0">
                          <a:effectLst/>
                        </a:rPr>
                        <a:t>保证</a:t>
                      </a:r>
                      <a:r>
                        <a:rPr lang="en-US" altLang="zh-CN" sz="2000" u="none" strike="noStrike" dirty="0">
                          <a:effectLst/>
                        </a:rPr>
                        <a:t>"</a:t>
                      </a:r>
                      <a:r>
                        <a:rPr lang="zh-CN" altLang="en-US" sz="2000" u="none" strike="noStrike" dirty="0">
                          <a:effectLst/>
                        </a:rPr>
                        <a:t>的奖励）</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481537134"/>
                  </a:ext>
                </a:extLst>
              </a:tr>
              <a:tr h="322974">
                <a:tc vMerge="1">
                  <a:txBody>
                    <a:bodyPr/>
                    <a:lstStyle/>
                    <a:p>
                      <a:endParaRPr lang="zh-CN" altLang="en-US"/>
                    </a:p>
                  </a:txBody>
                  <a:tcPr/>
                </a:tc>
                <a:tc>
                  <a:txBody>
                    <a:bodyPr/>
                    <a:lstStyle/>
                    <a:p>
                      <a:pPr algn="l" fontAlgn="ctr"/>
                      <a:r>
                        <a:rPr lang="zh-CN" altLang="en-US" sz="2000" u="none" strike="noStrike">
                          <a:effectLst/>
                        </a:rPr>
                        <a:t>薪酬计划或设置形成了不正当的激励</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1510099895"/>
                  </a:ext>
                </a:extLst>
              </a:tr>
              <a:tr h="425712">
                <a:tc vMerge="1">
                  <a:txBody>
                    <a:bodyPr/>
                    <a:lstStyle/>
                    <a:p>
                      <a:endParaRPr lang="zh-CN" altLang="en-US"/>
                    </a:p>
                  </a:txBody>
                  <a:tcPr/>
                </a:tc>
                <a:tc>
                  <a:txBody>
                    <a:bodyPr/>
                    <a:lstStyle/>
                    <a:p>
                      <a:pPr algn="l" fontAlgn="ctr"/>
                      <a:r>
                        <a:rPr lang="zh-CN" altLang="en-US" sz="2000" u="none" strike="noStrike" dirty="0">
                          <a:effectLst/>
                        </a:rPr>
                        <a:t>非正常额外利益的存在以及向总裁和</a:t>
                      </a:r>
                      <a:r>
                        <a:rPr lang="en-US" altLang="zh-CN" sz="2000" u="none" strike="noStrike" dirty="0">
                          <a:effectLst/>
                        </a:rPr>
                        <a:t>/</a:t>
                      </a:r>
                      <a:r>
                        <a:rPr lang="zh-CN" altLang="en-US" sz="2000" u="none" strike="noStrike" dirty="0">
                          <a:effectLst/>
                        </a:rPr>
                        <a:t>或高层管理人员低息借贷</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602" marR="7602" marT="7620" marB="0" anchor="ctr"/>
                </a:tc>
                <a:extLst>
                  <a:ext uri="{0D108BD9-81ED-4DB2-BD59-A6C34878D82A}">
                    <a16:rowId xmlns:a16="http://schemas.microsoft.com/office/drawing/2014/main" val="3808853376"/>
                  </a:ext>
                </a:extLst>
              </a:tr>
            </a:tbl>
          </a:graphicData>
        </a:graphic>
      </p:graphicFrame>
    </p:spTree>
    <p:extLst>
      <p:ext uri="{BB962C8B-B14F-4D97-AF65-F5344CB8AC3E}">
        <p14:creationId xmlns:p14="http://schemas.microsoft.com/office/powerpoint/2010/main" val="20677791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60BB203-169B-47EF-A141-DD6B6267F34B}"/>
              </a:ext>
            </a:extLst>
          </p:cNvPr>
          <p:cNvSpPr>
            <a:spLocks noGrp="1"/>
          </p:cNvSpPr>
          <p:nvPr>
            <p:ph type="title"/>
          </p:nvPr>
        </p:nvSpPr>
        <p:spPr/>
        <p:txBody>
          <a:bodyPr/>
          <a:lstStyle/>
          <a:p>
            <a:r>
              <a:rPr lang="en-US" altLang="zh-CN" dirty="0"/>
              <a:t> </a:t>
            </a:r>
            <a:r>
              <a:rPr lang="zh-CN" altLang="en-US" dirty="0"/>
              <a:t>公司治理的评测</a:t>
            </a:r>
            <a:r>
              <a:rPr lang="zh-CN" altLang="en-US"/>
              <a:t>量表</a:t>
            </a:r>
            <a:r>
              <a:rPr lang="zh-CN" altLang="en-US" sz="2400"/>
              <a:t>（</a:t>
            </a:r>
            <a:r>
              <a:rPr lang="en-US" altLang="zh-CN" sz="2400"/>
              <a:t>3/6 </a:t>
            </a:r>
            <a:r>
              <a:rPr lang="zh-CN" altLang="en-US" sz="2400" dirty="0"/>
              <a:t>摘自标普评级）</a:t>
            </a:r>
          </a:p>
        </p:txBody>
      </p:sp>
      <p:graphicFrame>
        <p:nvGraphicFramePr>
          <p:cNvPr id="5" name="内容占位符 4">
            <a:extLst>
              <a:ext uri="{FF2B5EF4-FFF2-40B4-BE49-F238E27FC236}">
                <a16:creationId xmlns:a16="http://schemas.microsoft.com/office/drawing/2014/main" id="{7A4ED186-4A85-494F-9767-FC0FB7561FF4}"/>
              </a:ext>
            </a:extLst>
          </p:cNvPr>
          <p:cNvGraphicFramePr>
            <a:graphicFrameLocks noGrp="1"/>
          </p:cNvGraphicFramePr>
          <p:nvPr>
            <p:ph idx="1"/>
            <p:extLst>
              <p:ext uri="{D42A27DB-BD31-4B8C-83A1-F6EECF244321}">
                <p14:modId xmlns:p14="http://schemas.microsoft.com/office/powerpoint/2010/main" val="3121862614"/>
              </p:ext>
            </p:extLst>
          </p:nvPr>
        </p:nvGraphicFramePr>
        <p:xfrm>
          <a:off x="273050" y="1674813"/>
          <a:ext cx="16791330" cy="7926758"/>
        </p:xfrm>
        <a:graphic>
          <a:graphicData uri="http://schemas.openxmlformats.org/drawingml/2006/table">
            <a:tbl>
              <a:tblPr firstRow="1" bandRow="1">
                <a:tableStyleId>{5C22544A-7EE6-4342-B048-85BDC9FD1C3A}</a:tableStyleId>
              </a:tblPr>
              <a:tblGrid>
                <a:gridCol w="3309599">
                  <a:extLst>
                    <a:ext uri="{9D8B030D-6E8A-4147-A177-3AD203B41FA5}">
                      <a16:colId xmlns:a16="http://schemas.microsoft.com/office/drawing/2014/main" val="1179950321"/>
                    </a:ext>
                  </a:extLst>
                </a:gridCol>
                <a:gridCol w="13481731">
                  <a:extLst>
                    <a:ext uri="{9D8B030D-6E8A-4147-A177-3AD203B41FA5}">
                      <a16:colId xmlns:a16="http://schemas.microsoft.com/office/drawing/2014/main" val="2865354808"/>
                    </a:ext>
                  </a:extLst>
                </a:gridCol>
              </a:tblGrid>
              <a:tr h="498761">
                <a:tc>
                  <a:txBody>
                    <a:bodyPr/>
                    <a:lstStyle/>
                    <a:p>
                      <a:pPr algn="ctr" fontAlgn="t"/>
                      <a:r>
                        <a:rPr lang="zh-CN" altLang="en-US" sz="2000" u="none" strike="noStrike" dirty="0">
                          <a:effectLst/>
                        </a:rPr>
                        <a:t>评测问题</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39" marR="7739" marT="7620" marB="0" anchor="ctr"/>
                </a:tc>
                <a:tc>
                  <a:txBody>
                    <a:bodyPr/>
                    <a:lstStyle/>
                    <a:p>
                      <a:pPr algn="ctr" fontAlgn="ctr"/>
                      <a:r>
                        <a:rPr lang="zh-CN" altLang="en-US" sz="2000" u="none" strike="noStrike" dirty="0">
                          <a:effectLst/>
                        </a:rPr>
                        <a:t>预警信号</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2668692457"/>
                  </a:ext>
                </a:extLst>
              </a:tr>
              <a:tr h="336909">
                <a:tc rowSpan="12">
                  <a:txBody>
                    <a:bodyPr/>
                    <a:lstStyle/>
                    <a:p>
                      <a:pPr algn="ctr" fontAlgn="t"/>
                      <a:r>
                        <a:rPr lang="en-US" altLang="zh-CN" sz="2000" u="none" strike="noStrike" dirty="0">
                          <a:effectLst/>
                        </a:rPr>
                        <a:t>7. </a:t>
                      </a:r>
                      <a:r>
                        <a:rPr lang="zh-CN" altLang="en-US" sz="2000" u="none" strike="noStrike" dirty="0">
                          <a:effectLst/>
                        </a:rPr>
                        <a:t>总裁和</a:t>
                      </a:r>
                      <a:r>
                        <a:rPr lang="en-US" altLang="zh-CN" sz="2000" u="none" strike="noStrike" dirty="0">
                          <a:effectLst/>
                        </a:rPr>
                        <a:t>/</a:t>
                      </a:r>
                      <a:r>
                        <a:rPr lang="zh-CN" altLang="en-US" sz="2000" u="none" strike="noStrike" dirty="0">
                          <a:effectLst/>
                        </a:rPr>
                        <a:t>或其他高层管理人员在控制上是过度信赖型还是过度集权型</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39" marR="7739" marT="7620" marB="0"/>
                </a:tc>
                <a:tc>
                  <a:txBody>
                    <a:bodyPr/>
                    <a:lstStyle/>
                    <a:p>
                      <a:pPr algn="l" fontAlgn="ctr"/>
                      <a:r>
                        <a:rPr lang="zh-CN" altLang="en-US" sz="2000" u="none" strike="noStrike" dirty="0">
                          <a:effectLst/>
                        </a:rPr>
                        <a:t>领导个人崇拜</a:t>
                      </a:r>
                      <a:r>
                        <a:rPr lang="en-US" altLang="zh-CN" sz="2000" u="none" strike="noStrike" dirty="0">
                          <a:effectLst/>
                        </a:rPr>
                        <a:t>/</a:t>
                      </a:r>
                      <a:r>
                        <a:rPr lang="zh-CN" altLang="en-US" sz="2000" u="none" strike="noStrike" dirty="0">
                          <a:effectLst/>
                        </a:rPr>
                        <a:t>高频度媒体渲染</a:t>
                      </a:r>
                      <a:r>
                        <a:rPr lang="en-US" altLang="zh-CN" sz="2000" u="none" strike="noStrike" dirty="0">
                          <a:effectLst/>
                        </a:rPr>
                        <a:t>/</a:t>
                      </a:r>
                      <a:r>
                        <a:rPr lang="zh-CN" altLang="en-US" sz="2000" u="none" strike="noStrike" dirty="0">
                          <a:effectLst/>
                        </a:rPr>
                        <a:t>总裁的傲慢</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2925512291"/>
                  </a:ext>
                </a:extLst>
              </a:tr>
              <a:tr h="336909">
                <a:tc vMerge="1">
                  <a:txBody>
                    <a:bodyPr/>
                    <a:lstStyle/>
                    <a:p>
                      <a:endParaRPr lang="zh-CN" altLang="en-US"/>
                    </a:p>
                  </a:txBody>
                  <a:tcPr/>
                </a:tc>
                <a:tc>
                  <a:txBody>
                    <a:bodyPr/>
                    <a:lstStyle/>
                    <a:p>
                      <a:pPr algn="l" fontAlgn="ctr"/>
                      <a:r>
                        <a:rPr lang="zh-CN" altLang="en-US" sz="2000" u="none" strike="noStrike" dirty="0">
                          <a:effectLst/>
                        </a:rPr>
                        <a:t>战略和经营决策高度依赖于总裁</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157455310"/>
                  </a:ext>
                </a:extLst>
              </a:tr>
              <a:tr h="336909">
                <a:tc vMerge="1">
                  <a:txBody>
                    <a:bodyPr/>
                    <a:lstStyle/>
                    <a:p>
                      <a:endParaRPr lang="zh-CN" altLang="en-US"/>
                    </a:p>
                  </a:txBody>
                  <a:tcPr/>
                </a:tc>
                <a:tc>
                  <a:txBody>
                    <a:bodyPr/>
                    <a:lstStyle/>
                    <a:p>
                      <a:pPr algn="l" fontAlgn="ctr"/>
                      <a:r>
                        <a:rPr lang="zh-CN" altLang="en-US" sz="2000" u="none" strike="noStrike" dirty="0">
                          <a:effectLst/>
                        </a:rPr>
                        <a:t>公司和公众</a:t>
                      </a:r>
                      <a:r>
                        <a:rPr lang="en-US" altLang="zh-CN" sz="2000" u="none" strike="noStrike" dirty="0">
                          <a:effectLst/>
                        </a:rPr>
                        <a:t>/</a:t>
                      </a:r>
                      <a:r>
                        <a:rPr lang="zh-CN" altLang="en-US" sz="2000" u="none" strike="noStrike" dirty="0">
                          <a:effectLst/>
                        </a:rPr>
                        <a:t>客户</a:t>
                      </a:r>
                      <a:r>
                        <a:rPr lang="en-US" altLang="zh-CN" sz="2000" u="none" strike="noStrike" dirty="0">
                          <a:effectLst/>
                        </a:rPr>
                        <a:t>/</a:t>
                      </a:r>
                      <a:r>
                        <a:rPr lang="zh-CN" altLang="en-US" sz="2000" u="none" strike="noStrike" dirty="0">
                          <a:effectLst/>
                        </a:rPr>
                        <a:t>政府的关系严重依赖</a:t>
                      </a:r>
                      <a:r>
                        <a:rPr lang="zh-CN" altLang="en-US" sz="2000" u="none" strike="noStrike">
                          <a:effectLst/>
                        </a:rPr>
                        <a:t>于总裁（例如</a:t>
                      </a:r>
                      <a:r>
                        <a:rPr lang="zh-CN" altLang="en-US" sz="2000" u="none" strike="noStrike" dirty="0">
                          <a:effectLst/>
                        </a:rPr>
                        <a:t>，总裁是惟一的或主要的发言人） </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2067998962"/>
                  </a:ext>
                </a:extLst>
              </a:tr>
              <a:tr h="336909">
                <a:tc vMerge="1">
                  <a:txBody>
                    <a:bodyPr/>
                    <a:lstStyle/>
                    <a:p>
                      <a:endParaRPr lang="zh-CN" altLang="en-US"/>
                    </a:p>
                  </a:txBody>
                  <a:tcPr/>
                </a:tc>
                <a:tc>
                  <a:txBody>
                    <a:bodyPr/>
                    <a:lstStyle/>
                    <a:p>
                      <a:pPr algn="l" fontAlgn="ctr"/>
                      <a:r>
                        <a:rPr lang="zh-CN" altLang="en-US" sz="2000" u="none" strike="noStrike">
                          <a:effectLst/>
                        </a:rPr>
                        <a:t>权力集中于总裁</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2105170421"/>
                  </a:ext>
                </a:extLst>
              </a:tr>
              <a:tr h="336909">
                <a:tc vMerge="1">
                  <a:txBody>
                    <a:bodyPr/>
                    <a:lstStyle/>
                    <a:p>
                      <a:endParaRPr lang="zh-CN" altLang="en-US"/>
                    </a:p>
                  </a:txBody>
                  <a:tcPr/>
                </a:tc>
                <a:tc>
                  <a:txBody>
                    <a:bodyPr/>
                    <a:lstStyle/>
                    <a:p>
                      <a:pPr algn="l" fontAlgn="ctr"/>
                      <a:r>
                        <a:rPr lang="zh-CN" altLang="en-US" sz="2000" u="none" strike="noStrike">
                          <a:effectLst/>
                        </a:rPr>
                        <a:t>总裁没有能力或不愿意授权</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1169338627"/>
                  </a:ext>
                </a:extLst>
              </a:tr>
              <a:tr h="336909">
                <a:tc vMerge="1">
                  <a:txBody>
                    <a:bodyPr/>
                    <a:lstStyle/>
                    <a:p>
                      <a:endParaRPr lang="zh-CN" altLang="en-US"/>
                    </a:p>
                  </a:txBody>
                  <a:tcPr/>
                </a:tc>
                <a:tc>
                  <a:txBody>
                    <a:bodyPr/>
                    <a:lstStyle/>
                    <a:p>
                      <a:pPr algn="l" fontAlgn="ctr"/>
                      <a:r>
                        <a:rPr lang="zh-CN" altLang="en-US" sz="2000" u="none" strike="noStrike">
                          <a:effectLst/>
                        </a:rPr>
                        <a:t>没有清晰的继任计划</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3945383853"/>
                  </a:ext>
                </a:extLst>
              </a:tr>
              <a:tr h="336909">
                <a:tc vMerge="1">
                  <a:txBody>
                    <a:bodyPr/>
                    <a:lstStyle/>
                    <a:p>
                      <a:endParaRPr lang="zh-CN" altLang="en-US"/>
                    </a:p>
                  </a:txBody>
                  <a:tcPr/>
                </a:tc>
                <a:tc>
                  <a:txBody>
                    <a:bodyPr/>
                    <a:lstStyle/>
                    <a:p>
                      <a:pPr algn="l" fontAlgn="ctr"/>
                      <a:r>
                        <a:rPr lang="zh-CN" altLang="en-US" sz="2000" u="none" strike="noStrike">
                          <a:effectLst/>
                        </a:rPr>
                        <a:t>总裁下属的高层管理团队太弱或</a:t>
                      </a:r>
                      <a:r>
                        <a:rPr lang="en-US" altLang="zh-CN" sz="2000" u="none" strike="noStrike">
                          <a:effectLst/>
                        </a:rPr>
                        <a:t>"</a:t>
                      </a:r>
                      <a:r>
                        <a:rPr lang="zh-CN" altLang="en-US" sz="2000" u="none" strike="noStrike">
                          <a:effectLst/>
                        </a:rPr>
                        <a:t>太专横</a:t>
                      </a:r>
                      <a:r>
                        <a:rPr lang="en-US" altLang="zh-CN" sz="2000" u="none" strike="noStrike">
                          <a:effectLst/>
                        </a:rPr>
                        <a:t>"</a:t>
                      </a:r>
                      <a:endParaRPr lang="en-US" altLang="zh-CN" sz="2000" b="0" i="0" u="none" strike="noStrike">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4141823393"/>
                  </a:ext>
                </a:extLst>
              </a:tr>
              <a:tr h="336909">
                <a:tc vMerge="1">
                  <a:txBody>
                    <a:bodyPr/>
                    <a:lstStyle/>
                    <a:p>
                      <a:endParaRPr lang="zh-CN" altLang="en-US"/>
                    </a:p>
                  </a:txBody>
                  <a:tcPr/>
                </a:tc>
                <a:tc>
                  <a:txBody>
                    <a:bodyPr/>
                    <a:lstStyle/>
                    <a:p>
                      <a:pPr algn="l" fontAlgn="ctr"/>
                      <a:r>
                        <a:rPr lang="zh-CN" altLang="en-US" sz="2000" u="none" strike="noStrike">
                          <a:effectLst/>
                        </a:rPr>
                        <a:t>弱的、无效率的或专横的董事会</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1469487002"/>
                  </a:ext>
                </a:extLst>
              </a:tr>
              <a:tr h="336909">
                <a:tc vMerge="1">
                  <a:txBody>
                    <a:bodyPr/>
                    <a:lstStyle/>
                    <a:p>
                      <a:endParaRPr lang="zh-CN" altLang="en-US"/>
                    </a:p>
                  </a:txBody>
                  <a:tcPr/>
                </a:tc>
                <a:tc>
                  <a:txBody>
                    <a:bodyPr/>
                    <a:lstStyle/>
                    <a:p>
                      <a:pPr algn="l" fontAlgn="ctr"/>
                      <a:r>
                        <a:rPr lang="zh-CN" altLang="en-US" sz="2000" u="none" strike="noStrike">
                          <a:effectLst/>
                        </a:rPr>
                        <a:t>董事会里没有一个独立的声音</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1990333571"/>
                  </a:ext>
                </a:extLst>
              </a:tr>
              <a:tr h="336909">
                <a:tc vMerge="1">
                  <a:txBody>
                    <a:bodyPr/>
                    <a:lstStyle/>
                    <a:p>
                      <a:endParaRPr lang="zh-CN" altLang="en-US"/>
                    </a:p>
                  </a:txBody>
                  <a:tcPr/>
                </a:tc>
                <a:tc>
                  <a:txBody>
                    <a:bodyPr/>
                    <a:lstStyle/>
                    <a:p>
                      <a:pPr algn="l" fontAlgn="ctr"/>
                      <a:r>
                        <a:rPr lang="zh-CN" altLang="en-US" sz="2000" u="none" strike="noStrike" dirty="0">
                          <a:effectLst/>
                        </a:rPr>
                        <a:t>形成了阿诀奉承的</a:t>
                      </a:r>
                      <a:r>
                        <a:rPr lang="zh-CN" altLang="en-US" sz="2000" u="none" strike="noStrike">
                          <a:effectLst/>
                        </a:rPr>
                        <a:t>公司文化（例</a:t>
                      </a:r>
                      <a:r>
                        <a:rPr lang="zh-CN" altLang="en-US" sz="2000" u="none" strike="noStrike" dirty="0">
                          <a:effectLst/>
                        </a:rPr>
                        <a:t>，不利于或不鼓励公司内部辩论和独立的或创造性的思考，高层仅喜欢</a:t>
                      </a:r>
                      <a:r>
                        <a:rPr lang="en-US" altLang="zh-CN" sz="2000" u="none" strike="noStrike" dirty="0">
                          <a:effectLst/>
                        </a:rPr>
                        <a:t>"</a:t>
                      </a:r>
                      <a:r>
                        <a:rPr lang="zh-CN" altLang="en-US" sz="2000" u="none" strike="noStrike" dirty="0">
                          <a:effectLst/>
                        </a:rPr>
                        <a:t>好消息</a:t>
                      </a:r>
                      <a:r>
                        <a:rPr lang="en-US" altLang="zh-CN" sz="2000" u="none" strike="noStrike" dirty="0">
                          <a:effectLst/>
                        </a:rPr>
                        <a:t>"</a:t>
                      </a:r>
                      <a:r>
                        <a:rPr lang="zh-CN" altLang="en-US" sz="2000" u="none" strike="noStrike" dirty="0">
                          <a:effectLst/>
                        </a:rPr>
                        <a:t>的环境）</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1778447370"/>
                  </a:ext>
                </a:extLst>
              </a:tr>
              <a:tr h="336909">
                <a:tc vMerge="1">
                  <a:txBody>
                    <a:bodyPr/>
                    <a:lstStyle/>
                    <a:p>
                      <a:endParaRPr lang="zh-CN" altLang="en-US"/>
                    </a:p>
                  </a:txBody>
                  <a:tcPr/>
                </a:tc>
                <a:tc>
                  <a:txBody>
                    <a:bodyPr/>
                    <a:lstStyle/>
                    <a:p>
                      <a:pPr algn="l" fontAlgn="ctr"/>
                      <a:r>
                        <a:rPr lang="zh-CN" altLang="en-US" sz="2000" u="none" strike="noStrike">
                          <a:effectLst/>
                        </a:rPr>
                        <a:t>存在着长期形成的有重大所有权利益的总裁或高层管理团队</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3008732161"/>
                  </a:ext>
                </a:extLst>
              </a:tr>
              <a:tr h="361125">
                <a:tc vMerge="1">
                  <a:txBody>
                    <a:bodyPr/>
                    <a:lstStyle/>
                    <a:p>
                      <a:endParaRPr lang="zh-CN" altLang="en-US"/>
                    </a:p>
                  </a:txBody>
                  <a:tcPr/>
                </a:tc>
                <a:tc>
                  <a:txBody>
                    <a:bodyPr/>
                    <a:lstStyle/>
                    <a:p>
                      <a:pPr algn="l" fontAlgn="ctr"/>
                      <a:r>
                        <a:rPr lang="zh-CN" altLang="en-US" sz="2000" u="none" strike="noStrike">
                          <a:effectLst/>
                        </a:rPr>
                        <a:t>所有者利益的结构复杂、有杠杆，不透明。如公司几乎独有，即使公开上市，其管理层也保持着显著的所有权或控制权。</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867212054"/>
                  </a:ext>
                </a:extLst>
              </a:tr>
              <a:tr h="336909">
                <a:tc rowSpan="5">
                  <a:txBody>
                    <a:bodyPr/>
                    <a:lstStyle/>
                    <a:p>
                      <a:pPr algn="ctr" fontAlgn="t"/>
                      <a:r>
                        <a:rPr lang="en-US" altLang="zh-CN" sz="2000" u="none" strike="noStrike" dirty="0">
                          <a:effectLst/>
                        </a:rPr>
                        <a:t>8.</a:t>
                      </a:r>
                      <a:r>
                        <a:rPr lang="zh-CN" altLang="en-US" sz="2000" u="none" strike="noStrike" dirty="0">
                          <a:effectLst/>
                        </a:rPr>
                        <a:t>过高的和</a:t>
                      </a:r>
                      <a:r>
                        <a:rPr lang="en-US" altLang="zh-CN" sz="2000" u="none" strike="noStrike" dirty="0">
                          <a:effectLst/>
                        </a:rPr>
                        <a:t>/</a:t>
                      </a:r>
                      <a:r>
                        <a:rPr lang="zh-CN" altLang="en-US" sz="2000" u="none" strike="noStrike" dirty="0">
                          <a:effectLst/>
                        </a:rPr>
                        <a:t>或未预期的高层管理人员更替</a:t>
                      </a:r>
                      <a:r>
                        <a:rPr lang="en-US" altLang="zh-CN" sz="2000" u="none" strike="noStrike" dirty="0">
                          <a:effectLst/>
                        </a:rPr>
                        <a:t>/</a:t>
                      </a:r>
                      <a:r>
                        <a:rPr lang="zh-CN" altLang="en-US" sz="2000" u="none" strike="noStrike" dirty="0">
                          <a:effectLst/>
                        </a:rPr>
                        <a:t>离职率</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39" marR="7739" marT="7620" marB="0"/>
                </a:tc>
                <a:tc>
                  <a:txBody>
                    <a:bodyPr/>
                    <a:lstStyle/>
                    <a:p>
                      <a:pPr algn="l" fontAlgn="ctr"/>
                      <a:r>
                        <a:rPr lang="zh-CN" altLang="en-US" sz="2000" u="none" strike="noStrike" dirty="0">
                          <a:effectLst/>
                        </a:rPr>
                        <a:t>高层管理人员让人惊讶的</a:t>
                      </a:r>
                      <a:r>
                        <a:rPr lang="zh-CN" altLang="en-US" sz="2000" u="none" strike="noStrike">
                          <a:effectLst/>
                        </a:rPr>
                        <a:t>离职率（自愿</a:t>
                      </a:r>
                      <a:r>
                        <a:rPr lang="zh-CN" altLang="en-US" sz="2000" u="none" strike="noStrike" dirty="0">
                          <a:effectLst/>
                        </a:rPr>
                        <a:t>或被迫）</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934768044"/>
                  </a:ext>
                </a:extLst>
              </a:tr>
              <a:tr h="336909">
                <a:tc vMerge="1">
                  <a:txBody>
                    <a:bodyPr/>
                    <a:lstStyle/>
                    <a:p>
                      <a:endParaRPr lang="zh-CN" altLang="en-US"/>
                    </a:p>
                  </a:txBody>
                  <a:tcPr/>
                </a:tc>
                <a:tc>
                  <a:txBody>
                    <a:bodyPr/>
                    <a:lstStyle/>
                    <a:p>
                      <a:pPr algn="l" fontAlgn="ctr"/>
                      <a:r>
                        <a:rPr lang="zh-CN" altLang="en-US" sz="2000" u="none" strike="noStrike">
                          <a:effectLst/>
                        </a:rPr>
                        <a:t>没有充分理由的离职或不正常的更替</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2367305190"/>
                  </a:ext>
                </a:extLst>
              </a:tr>
              <a:tr h="336909">
                <a:tc vMerge="1">
                  <a:txBody>
                    <a:bodyPr/>
                    <a:lstStyle/>
                    <a:p>
                      <a:endParaRPr lang="zh-CN" altLang="en-US"/>
                    </a:p>
                  </a:txBody>
                  <a:tcPr/>
                </a:tc>
                <a:tc>
                  <a:txBody>
                    <a:bodyPr/>
                    <a:lstStyle/>
                    <a:p>
                      <a:pPr algn="l" fontAlgn="ctr"/>
                      <a:r>
                        <a:rPr lang="zh-CN" altLang="en-US" sz="2000" u="none" strike="noStrike">
                          <a:effectLst/>
                        </a:rPr>
                        <a:t>对公司离职现象的解释缺乏可信度</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1451503090"/>
                  </a:ext>
                </a:extLst>
              </a:tr>
              <a:tr h="336909">
                <a:tc vMerge="1">
                  <a:txBody>
                    <a:bodyPr/>
                    <a:lstStyle/>
                    <a:p>
                      <a:endParaRPr lang="zh-CN" altLang="en-US"/>
                    </a:p>
                  </a:txBody>
                  <a:tcPr/>
                </a:tc>
                <a:tc>
                  <a:txBody>
                    <a:bodyPr/>
                    <a:lstStyle/>
                    <a:p>
                      <a:pPr algn="l" fontAlgn="ctr"/>
                      <a:r>
                        <a:rPr lang="zh-CN" altLang="en-US" sz="2000" u="none" strike="noStrike">
                          <a:effectLst/>
                        </a:rPr>
                        <a:t>公司招回前主席</a:t>
                      </a:r>
                      <a:r>
                        <a:rPr lang="en-US" altLang="zh-CN" sz="2000" u="none" strike="noStrike">
                          <a:effectLst/>
                        </a:rPr>
                        <a:t>/</a:t>
                      </a:r>
                      <a:r>
                        <a:rPr lang="zh-CN" altLang="en-US" sz="2000" u="none" strike="noStrike">
                          <a:effectLst/>
                        </a:rPr>
                        <a:t>前总裁</a:t>
                      </a:r>
                      <a:r>
                        <a:rPr lang="en-US" altLang="zh-CN" sz="2000" u="none" strike="noStrike">
                          <a:effectLst/>
                        </a:rPr>
                        <a:t>/</a:t>
                      </a:r>
                      <a:r>
                        <a:rPr lang="zh-CN" altLang="en-US" sz="2000" u="none" strike="noStrike">
                          <a:effectLst/>
                        </a:rPr>
                        <a:t>前首席财务官</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3499605607"/>
                  </a:ext>
                </a:extLst>
              </a:tr>
              <a:tr h="336909">
                <a:tc vMerge="1">
                  <a:txBody>
                    <a:bodyPr/>
                    <a:lstStyle/>
                    <a:p>
                      <a:endParaRPr lang="zh-CN" altLang="en-US"/>
                    </a:p>
                  </a:txBody>
                  <a:tcPr/>
                </a:tc>
                <a:tc>
                  <a:txBody>
                    <a:bodyPr/>
                    <a:lstStyle/>
                    <a:p>
                      <a:pPr algn="l" fontAlgn="ctr"/>
                      <a:r>
                        <a:rPr lang="zh-CN" altLang="en-US" sz="2000" u="none" strike="noStrike">
                          <a:effectLst/>
                        </a:rPr>
                        <a:t>离职员工成为商业成功者</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1855851951"/>
                  </a:ext>
                </a:extLst>
              </a:tr>
              <a:tr h="336909">
                <a:tc rowSpan="4">
                  <a:txBody>
                    <a:bodyPr/>
                    <a:lstStyle/>
                    <a:p>
                      <a:pPr algn="ctr" fontAlgn="t"/>
                      <a:r>
                        <a:rPr lang="en-US" altLang="zh-CN" sz="2000" u="none" strike="noStrike" dirty="0">
                          <a:effectLst/>
                        </a:rPr>
                        <a:t>9. </a:t>
                      </a:r>
                      <a:r>
                        <a:rPr lang="zh-CN" altLang="en-US" sz="2000" u="none" strike="noStrike" dirty="0">
                          <a:effectLst/>
                        </a:rPr>
                        <a:t>鼓励进取的公司文化和实践</a:t>
                      </a:r>
                      <a:r>
                        <a:rPr lang="en-US" altLang="zh-CN" sz="2000" u="none" strike="noStrike" dirty="0">
                          <a:effectLst/>
                        </a:rPr>
                        <a:t>"</a:t>
                      </a:r>
                      <a:r>
                        <a:rPr lang="zh-CN" altLang="en-US" sz="2000" u="none" strike="noStrike" dirty="0">
                          <a:effectLst/>
                        </a:rPr>
                        <a:t>不抓</a:t>
                      </a:r>
                      <a:r>
                        <a:rPr lang="zh-CN" altLang="en-US" sz="2000" u="none" strike="noStrike">
                          <a:effectLst/>
                        </a:rPr>
                        <a:t>俘虏</a:t>
                      </a:r>
                      <a:r>
                        <a:rPr lang="en-US" altLang="zh-CN" sz="2000" u="none" strike="noStrike">
                          <a:effectLst/>
                        </a:rPr>
                        <a:t>"</a:t>
                      </a:r>
                      <a:r>
                        <a:rPr lang="zh-CN" altLang="en-US" sz="2000" u="none" strike="noStrike">
                          <a:effectLst/>
                        </a:rPr>
                        <a:t>（彻底</a:t>
                      </a:r>
                      <a:r>
                        <a:rPr lang="zh-CN" altLang="en-US" sz="2000" u="none" strike="noStrike" dirty="0">
                          <a:effectLst/>
                        </a:rPr>
                        <a:t>解决问题）的公司文化</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39" marR="7739" marT="7620" marB="0"/>
                </a:tc>
                <a:tc>
                  <a:txBody>
                    <a:bodyPr/>
                    <a:lstStyle/>
                    <a:p>
                      <a:pPr algn="l" fontAlgn="ctr"/>
                      <a:r>
                        <a:rPr lang="zh-CN" altLang="en-US" sz="2000" u="none" strike="noStrike">
                          <a:effectLst/>
                        </a:rPr>
                        <a:t>以可疑的</a:t>
                      </a:r>
                      <a:r>
                        <a:rPr lang="en-US" altLang="zh-CN" sz="2000" u="none" strike="noStrike">
                          <a:effectLst/>
                        </a:rPr>
                        <a:t>/</a:t>
                      </a:r>
                      <a:r>
                        <a:rPr lang="zh-CN" altLang="en-US" sz="2000" u="none" strike="noStrike">
                          <a:effectLst/>
                        </a:rPr>
                        <a:t>轻率的战略和战术对待顾客、雇员、供应商、会计师、银行、调控者或政府</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3185364436"/>
                  </a:ext>
                </a:extLst>
              </a:tr>
              <a:tr h="336909">
                <a:tc vMerge="1">
                  <a:txBody>
                    <a:bodyPr/>
                    <a:lstStyle/>
                    <a:p>
                      <a:endParaRPr lang="zh-CN" altLang="en-US"/>
                    </a:p>
                  </a:txBody>
                  <a:tcPr/>
                </a:tc>
                <a:tc>
                  <a:txBody>
                    <a:bodyPr/>
                    <a:lstStyle/>
                    <a:p>
                      <a:pPr algn="l" fontAlgn="ctr"/>
                      <a:r>
                        <a:rPr lang="zh-CN" altLang="en-US" sz="2000" u="none" strike="noStrike">
                          <a:effectLst/>
                        </a:rPr>
                        <a:t>重用游说人员和律师</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1528885940"/>
                  </a:ext>
                </a:extLst>
              </a:tr>
              <a:tr h="665601">
                <a:tc vMerge="1">
                  <a:txBody>
                    <a:bodyPr/>
                    <a:lstStyle/>
                    <a:p>
                      <a:endParaRPr lang="zh-CN" altLang="en-US"/>
                    </a:p>
                  </a:txBody>
                  <a:tcPr/>
                </a:tc>
                <a:tc>
                  <a:txBody>
                    <a:bodyPr/>
                    <a:lstStyle/>
                    <a:p>
                      <a:pPr algn="l" fontAlgn="ctr"/>
                      <a:r>
                        <a:rPr lang="zh-CN" altLang="en-US" sz="2000" u="none" strike="noStrike" dirty="0">
                          <a:effectLst/>
                        </a:rPr>
                        <a:t>为追求经营战略而打官司以及对批评者过度施压的历史，例如，公司对公司顾客、雇员、供应商、会计师、银行、调控者或政府实体的诉讼</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535558099"/>
                  </a:ext>
                </a:extLst>
              </a:tr>
              <a:tr h="336909">
                <a:tc vMerge="1">
                  <a:txBody>
                    <a:bodyPr/>
                    <a:lstStyle/>
                    <a:p>
                      <a:endParaRPr lang="zh-CN" altLang="en-US"/>
                    </a:p>
                  </a:txBody>
                  <a:tcPr/>
                </a:tc>
                <a:tc>
                  <a:txBody>
                    <a:bodyPr/>
                    <a:lstStyle/>
                    <a:p>
                      <a:pPr algn="l" fontAlgn="ctr"/>
                      <a:r>
                        <a:rPr lang="zh-CN" altLang="en-US" sz="2000" u="none" strike="noStrike" dirty="0">
                          <a:effectLst/>
                        </a:rPr>
                        <a:t>公司沟通和公司形象塑造上的激进和夸大</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7739" marR="7739" marT="7620" marB="0" anchor="ctr"/>
                </a:tc>
                <a:extLst>
                  <a:ext uri="{0D108BD9-81ED-4DB2-BD59-A6C34878D82A}">
                    <a16:rowId xmlns:a16="http://schemas.microsoft.com/office/drawing/2014/main" val="305699816"/>
                  </a:ext>
                </a:extLst>
              </a:tr>
            </a:tbl>
          </a:graphicData>
        </a:graphic>
      </p:graphicFrame>
    </p:spTree>
    <p:extLst>
      <p:ext uri="{BB962C8B-B14F-4D97-AF65-F5344CB8AC3E}">
        <p14:creationId xmlns:p14="http://schemas.microsoft.com/office/powerpoint/2010/main" val="25131274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AF1E2A0C-9CDA-44D7-B113-E3092E838921}"/>
              </a:ext>
            </a:extLst>
          </p:cNvPr>
          <p:cNvSpPr>
            <a:spLocks noGrp="1"/>
          </p:cNvSpPr>
          <p:nvPr>
            <p:ph type="title"/>
          </p:nvPr>
        </p:nvSpPr>
        <p:spPr/>
        <p:txBody>
          <a:bodyPr/>
          <a:lstStyle/>
          <a:p>
            <a:r>
              <a:rPr lang="en-US" altLang="zh-CN" dirty="0"/>
              <a:t> </a:t>
            </a:r>
            <a:r>
              <a:rPr lang="zh-CN" altLang="en-US" dirty="0"/>
              <a:t>公司治理的评测</a:t>
            </a:r>
            <a:r>
              <a:rPr lang="zh-CN" altLang="en-US"/>
              <a:t>量表</a:t>
            </a:r>
            <a:r>
              <a:rPr lang="zh-CN" altLang="en-US" sz="2400"/>
              <a:t>（</a:t>
            </a:r>
            <a:r>
              <a:rPr lang="en-US" altLang="zh-CN" sz="2400"/>
              <a:t>4/6 </a:t>
            </a:r>
            <a:r>
              <a:rPr lang="zh-CN" altLang="en-US" sz="2400" dirty="0"/>
              <a:t>摘自标普评级）</a:t>
            </a:r>
          </a:p>
        </p:txBody>
      </p:sp>
      <p:graphicFrame>
        <p:nvGraphicFramePr>
          <p:cNvPr id="4" name="内容占位符 3">
            <a:extLst>
              <a:ext uri="{FF2B5EF4-FFF2-40B4-BE49-F238E27FC236}">
                <a16:creationId xmlns:a16="http://schemas.microsoft.com/office/drawing/2014/main" id="{F057F65B-1CB5-4C58-9318-29B21607FDBD}"/>
              </a:ext>
            </a:extLst>
          </p:cNvPr>
          <p:cNvGraphicFramePr>
            <a:graphicFrameLocks noGrp="1"/>
          </p:cNvGraphicFramePr>
          <p:nvPr>
            <p:ph idx="1"/>
            <p:extLst>
              <p:ext uri="{D42A27DB-BD31-4B8C-83A1-F6EECF244321}">
                <p14:modId xmlns:p14="http://schemas.microsoft.com/office/powerpoint/2010/main" val="1504760766"/>
              </p:ext>
            </p:extLst>
          </p:nvPr>
        </p:nvGraphicFramePr>
        <p:xfrm>
          <a:off x="273050" y="1590173"/>
          <a:ext cx="16791624" cy="7969698"/>
        </p:xfrm>
        <a:graphic>
          <a:graphicData uri="http://schemas.openxmlformats.org/drawingml/2006/table">
            <a:tbl>
              <a:tblPr firstRow="1" bandRow="1">
                <a:tableStyleId>{5C22544A-7EE6-4342-B048-85BDC9FD1C3A}</a:tableStyleId>
              </a:tblPr>
              <a:tblGrid>
                <a:gridCol w="3339580">
                  <a:extLst>
                    <a:ext uri="{9D8B030D-6E8A-4147-A177-3AD203B41FA5}">
                      <a16:colId xmlns:a16="http://schemas.microsoft.com/office/drawing/2014/main" val="2243582679"/>
                    </a:ext>
                  </a:extLst>
                </a:gridCol>
                <a:gridCol w="13452044">
                  <a:extLst>
                    <a:ext uri="{9D8B030D-6E8A-4147-A177-3AD203B41FA5}">
                      <a16:colId xmlns:a16="http://schemas.microsoft.com/office/drawing/2014/main" val="2391297533"/>
                    </a:ext>
                  </a:extLst>
                </a:gridCol>
              </a:tblGrid>
              <a:tr h="520202">
                <a:tc>
                  <a:txBody>
                    <a:bodyPr/>
                    <a:lstStyle/>
                    <a:p>
                      <a:pPr algn="ctr" fontAlgn="t"/>
                      <a:r>
                        <a:rPr lang="zh-CN" altLang="en-US" sz="2000" u="none" strike="noStrike" dirty="0">
                          <a:effectLst/>
                        </a:rPr>
                        <a:t>评测问题</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tc>
                  <a:txBody>
                    <a:bodyPr/>
                    <a:lstStyle/>
                    <a:p>
                      <a:pPr algn="ctr" fontAlgn="ctr"/>
                      <a:r>
                        <a:rPr lang="zh-CN" altLang="en-US" sz="2000" u="none" strike="noStrike" dirty="0">
                          <a:effectLst/>
                        </a:rPr>
                        <a:t>预警信号</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3836314562"/>
                  </a:ext>
                </a:extLst>
              </a:tr>
              <a:tr h="442685">
                <a:tc rowSpan="3">
                  <a:txBody>
                    <a:bodyPr/>
                    <a:lstStyle/>
                    <a:p>
                      <a:pPr algn="l" fontAlgn="t"/>
                      <a:r>
                        <a:rPr lang="en-US" altLang="zh-CN" sz="2000" u="none" strike="noStrike" dirty="0">
                          <a:effectLst/>
                        </a:rPr>
                        <a:t>10. </a:t>
                      </a:r>
                      <a:r>
                        <a:rPr lang="zh-CN" altLang="en-US" sz="2000" u="none" strike="noStrike" dirty="0">
                          <a:effectLst/>
                        </a:rPr>
                        <a:t>针对公司的诉讼和法律争端的频度</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tc>
                  <a:txBody>
                    <a:bodyPr/>
                    <a:lstStyle/>
                    <a:p>
                      <a:pPr algn="l" fontAlgn="ctr"/>
                      <a:r>
                        <a:rPr lang="zh-CN" altLang="en-US" sz="2000" u="none" strike="noStrike" dirty="0">
                          <a:effectLst/>
                        </a:rPr>
                        <a:t>来自于顾客、竞争者、监管者、股东、债权人或政府实体的威胁或者诉讼在增加</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1630639702"/>
                  </a:ext>
                </a:extLst>
              </a:tr>
              <a:tr h="1091955">
                <a:tc vMerge="1">
                  <a:txBody>
                    <a:bodyPr/>
                    <a:lstStyle/>
                    <a:p>
                      <a:endParaRPr lang="zh-CN" altLang="en-US"/>
                    </a:p>
                  </a:txBody>
                  <a:tcPr/>
                </a:tc>
                <a:tc>
                  <a:txBody>
                    <a:bodyPr/>
                    <a:lstStyle/>
                    <a:p>
                      <a:pPr algn="l" fontAlgn="ctr"/>
                      <a:r>
                        <a:rPr lang="zh-CN" altLang="en-US" sz="2000" u="none" strike="noStrike">
                          <a:effectLst/>
                        </a:rPr>
                        <a:t>部分诉讼反映出公司过于激进和</a:t>
                      </a:r>
                      <a:r>
                        <a:rPr lang="en-US" altLang="zh-CN" sz="2000" u="none" strike="noStrike">
                          <a:effectLst/>
                        </a:rPr>
                        <a:t>/</a:t>
                      </a:r>
                      <a:r>
                        <a:rPr lang="zh-CN" altLang="en-US" sz="2000" u="none" strike="noStrike">
                          <a:effectLst/>
                        </a:rPr>
                        <a:t>或具有违法倾向的公司文化：管理层的虚假陈述、产品缺陷、管理层过高的薪酬和津贴及奖金、公司对管理层的贷款、会计和报告欺诈、欺诈性销售或强制性销售、价格限定和非法的</a:t>
                      </a:r>
                      <a:r>
                        <a:rPr lang="en-US" altLang="zh-CN" sz="2000" u="none" strike="noStrike">
                          <a:effectLst/>
                        </a:rPr>
                        <a:t>"</a:t>
                      </a:r>
                      <a:r>
                        <a:rPr lang="zh-CN" altLang="en-US" sz="2000" u="none" strike="noStrike">
                          <a:effectLst/>
                        </a:rPr>
                        <a:t>囤积居奇</a:t>
                      </a:r>
                      <a:r>
                        <a:rPr lang="en-US" altLang="zh-CN" sz="2000" u="none" strike="noStrike">
                          <a:effectLst/>
                        </a:rPr>
                        <a:t>"</a:t>
                      </a:r>
                      <a:r>
                        <a:rPr lang="zh-CN" altLang="en-US" sz="2000" u="none" strike="noStrike">
                          <a:effectLst/>
                        </a:rPr>
                        <a:t>行为，以及监督不利</a:t>
                      </a:r>
                      <a:r>
                        <a:rPr lang="en-US" altLang="zh-CN" sz="2000" u="none" strike="noStrike">
                          <a:effectLst/>
                        </a:rPr>
                        <a:t>/</a:t>
                      </a:r>
                      <a:r>
                        <a:rPr lang="zh-CN" altLang="en-US" sz="2000" u="none" strike="noStrike">
                          <a:effectLst/>
                        </a:rPr>
                        <a:t>管理疏忽</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385211568"/>
                  </a:ext>
                </a:extLst>
              </a:tr>
              <a:tr h="452521">
                <a:tc vMerge="1">
                  <a:txBody>
                    <a:bodyPr/>
                    <a:lstStyle/>
                    <a:p>
                      <a:endParaRPr lang="zh-CN" altLang="en-US"/>
                    </a:p>
                  </a:txBody>
                  <a:tcPr/>
                </a:tc>
                <a:tc>
                  <a:txBody>
                    <a:bodyPr/>
                    <a:lstStyle/>
                    <a:p>
                      <a:pPr algn="l" fontAlgn="ctr"/>
                      <a:r>
                        <a:rPr lang="zh-CN" altLang="en-US" sz="2000" u="none" strike="noStrike">
                          <a:effectLst/>
                        </a:rPr>
                        <a:t>存在可观的或有负债，或有实质性增加的可能，或为未来的诉讼费用或负债建立可观的储备。</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3319630619"/>
                  </a:ext>
                </a:extLst>
              </a:tr>
              <a:tr h="442685">
                <a:tc rowSpan="2">
                  <a:txBody>
                    <a:bodyPr/>
                    <a:lstStyle/>
                    <a:p>
                      <a:pPr algn="l" fontAlgn="t"/>
                      <a:r>
                        <a:rPr lang="en-US" altLang="zh-CN" sz="2000" u="none" strike="noStrike" dirty="0">
                          <a:effectLst/>
                        </a:rPr>
                        <a:t>11. </a:t>
                      </a:r>
                      <a:r>
                        <a:rPr lang="zh-CN" altLang="en-US" sz="2000" u="none" strike="noStrike" dirty="0">
                          <a:effectLst/>
                        </a:rPr>
                        <a:t>公司受到政府或监管机构起诉、裁定或处理的历史。警示信号如下</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tc>
                  <a:txBody>
                    <a:bodyPr/>
                    <a:lstStyle/>
                    <a:p>
                      <a:pPr algn="l" fontAlgn="ctr"/>
                      <a:r>
                        <a:rPr lang="zh-CN" altLang="en-US" sz="2000" u="none" strike="noStrike" dirty="0">
                          <a:effectLst/>
                        </a:rPr>
                        <a:t>管制机构审查</a:t>
                      </a:r>
                      <a:r>
                        <a:rPr lang="en-US" altLang="zh-CN" sz="2000" u="none" strike="noStrike" dirty="0">
                          <a:effectLst/>
                        </a:rPr>
                        <a:t>/</a:t>
                      </a:r>
                      <a:r>
                        <a:rPr lang="zh-CN" altLang="en-US" sz="2000" u="none" strike="noStrike" dirty="0">
                          <a:effectLst/>
                        </a:rPr>
                        <a:t>起诉</a:t>
                      </a:r>
                      <a:r>
                        <a:rPr lang="en-US" altLang="zh-CN" sz="2000" u="none" strike="noStrike" dirty="0">
                          <a:effectLst/>
                        </a:rPr>
                        <a:t>/</a:t>
                      </a:r>
                      <a:r>
                        <a:rPr lang="zh-CN" altLang="en-US" sz="2000" u="none" strike="noStrike" dirty="0">
                          <a:effectLst/>
                        </a:rPr>
                        <a:t>处罚事件</a:t>
                      </a:r>
                      <a:r>
                        <a:rPr lang="zh-CN" altLang="en-US" sz="2000" u="none" strike="noStrike">
                          <a:effectLst/>
                        </a:rPr>
                        <a:t>的增加（包括</a:t>
                      </a:r>
                      <a:r>
                        <a:rPr lang="zh-CN" altLang="en-US" sz="2000" u="none" strike="noStrike" dirty="0">
                          <a:effectLst/>
                        </a:rPr>
                        <a:t>强行重述或重填各种报告） </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679191086"/>
                  </a:ext>
                </a:extLst>
              </a:tr>
              <a:tr h="518970">
                <a:tc vMerge="1">
                  <a:txBody>
                    <a:bodyPr/>
                    <a:lstStyle/>
                    <a:p>
                      <a:endParaRPr lang="zh-CN" altLang="en-US"/>
                    </a:p>
                  </a:txBody>
                  <a:tcPr/>
                </a:tc>
                <a:tc>
                  <a:txBody>
                    <a:bodyPr/>
                    <a:lstStyle/>
                    <a:p>
                      <a:pPr algn="l" fontAlgn="ctr"/>
                      <a:r>
                        <a:rPr lang="zh-CN" altLang="en-US" sz="2000" u="none" strike="noStrike">
                          <a:effectLst/>
                        </a:rPr>
                        <a:t>存在相当可观的或有负债，或有实质性的增加负债的可能。</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494140181"/>
                  </a:ext>
                </a:extLst>
              </a:tr>
              <a:tr h="442685">
                <a:tc rowSpan="5">
                  <a:txBody>
                    <a:bodyPr/>
                    <a:lstStyle/>
                    <a:p>
                      <a:pPr algn="l" fontAlgn="t"/>
                      <a:r>
                        <a:rPr lang="en-US" altLang="zh-CN" sz="2000" u="none" strike="noStrike" dirty="0">
                          <a:effectLst/>
                        </a:rPr>
                        <a:t>12. </a:t>
                      </a:r>
                      <a:r>
                        <a:rPr lang="zh-CN" altLang="en-US" sz="2000" u="none" strike="noStrike" dirty="0">
                          <a:effectLst/>
                        </a:rPr>
                        <a:t>公司结构</a:t>
                      </a:r>
                      <a:r>
                        <a:rPr lang="en-US" altLang="zh-CN" sz="2000" u="none" strike="noStrike" dirty="0">
                          <a:effectLst/>
                        </a:rPr>
                        <a:t>/</a:t>
                      </a:r>
                      <a:r>
                        <a:rPr lang="zh-CN" altLang="en-US" sz="2000" u="none" strike="noStrike" dirty="0">
                          <a:effectLst/>
                        </a:rPr>
                        <a:t>经营结构</a:t>
                      </a:r>
                      <a:r>
                        <a:rPr lang="en-US" altLang="zh-CN" sz="2000" u="none" strike="noStrike" dirty="0">
                          <a:effectLst/>
                        </a:rPr>
                        <a:t>/</a:t>
                      </a:r>
                      <a:r>
                        <a:rPr lang="zh-CN" altLang="en-US" sz="2000" u="none" strike="noStrike" dirty="0">
                          <a:effectLst/>
                        </a:rPr>
                        <a:t>税收结构方面的激进性或复杂性</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tc>
                  <a:txBody>
                    <a:bodyPr/>
                    <a:lstStyle/>
                    <a:p>
                      <a:pPr algn="l" fontAlgn="ctr"/>
                      <a:r>
                        <a:rPr lang="zh-CN" altLang="en-US" sz="2000" u="none" strike="noStrike">
                          <a:effectLst/>
                        </a:rPr>
                        <a:t>将管理资源过度集中于创造复杂的公司法律实体、运营和税收结构</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217833393"/>
                  </a:ext>
                </a:extLst>
              </a:tr>
              <a:tr h="659109">
                <a:tc vMerge="1">
                  <a:txBody>
                    <a:bodyPr/>
                    <a:lstStyle/>
                    <a:p>
                      <a:endParaRPr lang="zh-CN" altLang="en-US"/>
                    </a:p>
                  </a:txBody>
                  <a:tcPr/>
                </a:tc>
                <a:tc>
                  <a:txBody>
                    <a:bodyPr/>
                    <a:lstStyle/>
                    <a:p>
                      <a:pPr algn="l" fontAlgn="ctr"/>
                      <a:r>
                        <a:rPr lang="zh-CN" altLang="en-US" sz="2000" u="none" strike="noStrike">
                          <a:effectLst/>
                        </a:rPr>
                        <a:t>担心或怀疑管理者编织了一张复杂或不透明的网，用来隐藏其在经营和财务上的问题，包括损失、下降的边际利润、很少的或负的现金流和</a:t>
                      </a:r>
                      <a:r>
                        <a:rPr lang="en-US" altLang="zh-CN" sz="2000" u="none" strike="noStrike">
                          <a:effectLst/>
                        </a:rPr>
                        <a:t>/</a:t>
                      </a:r>
                      <a:r>
                        <a:rPr lang="zh-CN" altLang="en-US" sz="2000" u="none" strike="noStrike">
                          <a:effectLst/>
                        </a:rPr>
                        <a:t>或非法行为，例如税收和会计欺骗</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239018054"/>
                  </a:ext>
                </a:extLst>
              </a:tr>
              <a:tr h="328156">
                <a:tc vMerge="1">
                  <a:txBody>
                    <a:bodyPr/>
                    <a:lstStyle/>
                    <a:p>
                      <a:endParaRPr lang="zh-CN" altLang="en-US"/>
                    </a:p>
                  </a:txBody>
                  <a:tcPr/>
                </a:tc>
                <a:tc>
                  <a:txBody>
                    <a:bodyPr/>
                    <a:lstStyle/>
                    <a:p>
                      <a:pPr algn="l" fontAlgn="ctr"/>
                      <a:r>
                        <a:rPr lang="zh-CN" altLang="en-US" sz="2000" u="none" strike="noStrike" dirty="0">
                          <a:effectLst/>
                        </a:rPr>
                        <a:t>存在着过多的公司法定实体</a:t>
                      </a:r>
                      <a:r>
                        <a:rPr lang="zh-CN" altLang="en-US" sz="2000" u="none" strike="noStrike">
                          <a:effectLst/>
                        </a:rPr>
                        <a:t>或载体（具有</a:t>
                      </a:r>
                      <a:r>
                        <a:rPr lang="zh-CN" altLang="en-US" sz="2000" u="none" strike="noStrike" dirty="0">
                          <a:effectLst/>
                        </a:rPr>
                        <a:t>有限的经营授权） </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815421843"/>
                  </a:ext>
                </a:extLst>
              </a:tr>
              <a:tr h="659109">
                <a:tc vMerge="1">
                  <a:txBody>
                    <a:bodyPr/>
                    <a:lstStyle/>
                    <a:p>
                      <a:endParaRPr lang="zh-CN" altLang="en-US"/>
                    </a:p>
                  </a:txBody>
                  <a:tcPr/>
                </a:tc>
                <a:tc>
                  <a:txBody>
                    <a:bodyPr/>
                    <a:lstStyle/>
                    <a:p>
                      <a:pPr algn="l" fontAlgn="ctr"/>
                      <a:r>
                        <a:rPr lang="zh-CN" altLang="en-US" sz="2000" u="none" strike="noStrike" dirty="0">
                          <a:effectLst/>
                        </a:rPr>
                        <a:t>严重依赖于税盾或税收结构，以维持或极大化盈利性、市场资本化和市场净值，过度注重</a:t>
                      </a:r>
                      <a:r>
                        <a:rPr lang="zh-CN" altLang="en-US" sz="2000" u="none" strike="noStrike">
                          <a:effectLst/>
                        </a:rPr>
                        <a:t>税收战略（税</a:t>
                      </a:r>
                      <a:r>
                        <a:rPr lang="zh-CN" altLang="en-US" sz="2000" u="none" strike="noStrike" dirty="0">
                          <a:effectLst/>
                        </a:rPr>
                        <a:t>赋最小化、税收信用）</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04232756"/>
                  </a:ext>
                </a:extLst>
              </a:tr>
              <a:tr h="442685">
                <a:tc vMerge="1">
                  <a:txBody>
                    <a:bodyPr/>
                    <a:lstStyle/>
                    <a:p>
                      <a:endParaRPr lang="zh-CN" altLang="en-US"/>
                    </a:p>
                  </a:txBody>
                  <a:tcPr/>
                </a:tc>
                <a:tc>
                  <a:txBody>
                    <a:bodyPr/>
                    <a:lstStyle/>
                    <a:p>
                      <a:pPr algn="l" fontAlgn="ctr"/>
                      <a:r>
                        <a:rPr lang="zh-CN" altLang="en-US" sz="2000" u="none" strike="noStrike">
                          <a:effectLst/>
                        </a:rPr>
                        <a:t>管理者不能或不愿意解释公司结构、税赋结构、所有者结构复杂的原因</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890265275"/>
                  </a:ext>
                </a:extLst>
              </a:tr>
              <a:tr h="328156">
                <a:tc rowSpan="6">
                  <a:txBody>
                    <a:bodyPr/>
                    <a:lstStyle/>
                    <a:p>
                      <a:pPr algn="l" fontAlgn="t"/>
                      <a:r>
                        <a:rPr lang="en-US" altLang="zh-CN" sz="2000" u="none" strike="noStrike" dirty="0">
                          <a:effectLst/>
                        </a:rPr>
                        <a:t>13. </a:t>
                      </a:r>
                      <a:r>
                        <a:rPr lang="zh-CN" altLang="en-US" sz="2000" u="none" strike="noStrike" dirty="0">
                          <a:effectLst/>
                        </a:rPr>
                        <a:t>在财务</a:t>
                      </a:r>
                      <a:r>
                        <a:rPr lang="en-US" altLang="zh-CN" sz="2000" u="none" strike="noStrike" dirty="0">
                          <a:effectLst/>
                        </a:rPr>
                        <a:t>/</a:t>
                      </a:r>
                      <a:r>
                        <a:rPr lang="zh-CN" altLang="en-US" sz="2000" u="none" strike="noStrike" dirty="0">
                          <a:effectLst/>
                        </a:rPr>
                        <a:t>杠杆结构方面的进取性或复杂性</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tc>
                  <a:txBody>
                    <a:bodyPr/>
                    <a:lstStyle/>
                    <a:p>
                      <a:pPr algn="l" fontAlgn="ctr"/>
                      <a:r>
                        <a:rPr lang="zh-CN" altLang="en-US" sz="2000" u="none" strike="noStrike">
                          <a:effectLst/>
                        </a:rPr>
                        <a:t>在财务杠杆上的高度激进性</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565227310"/>
                  </a:ext>
                </a:extLst>
              </a:tr>
              <a:tr h="328156">
                <a:tc vMerge="1">
                  <a:txBody>
                    <a:bodyPr/>
                    <a:lstStyle/>
                    <a:p>
                      <a:endParaRPr lang="zh-CN" altLang="en-US"/>
                    </a:p>
                  </a:txBody>
                  <a:tcPr/>
                </a:tc>
                <a:tc>
                  <a:txBody>
                    <a:bodyPr/>
                    <a:lstStyle/>
                    <a:p>
                      <a:pPr algn="l" fontAlgn="ctr"/>
                      <a:r>
                        <a:rPr lang="zh-CN" altLang="en-US" sz="2000" u="none" strike="noStrike">
                          <a:effectLst/>
                        </a:rPr>
                        <a:t>资本结构稳定性对再融资风险的敏感性</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1265164581"/>
                  </a:ext>
                </a:extLst>
              </a:tr>
              <a:tr h="328156">
                <a:tc vMerge="1">
                  <a:txBody>
                    <a:bodyPr/>
                    <a:lstStyle/>
                    <a:p>
                      <a:endParaRPr lang="zh-CN" altLang="en-US"/>
                    </a:p>
                  </a:txBody>
                  <a:tcPr/>
                </a:tc>
                <a:tc>
                  <a:txBody>
                    <a:bodyPr/>
                    <a:lstStyle/>
                    <a:p>
                      <a:pPr algn="l" fontAlgn="ctr"/>
                      <a:r>
                        <a:rPr lang="zh-CN" altLang="en-US" sz="2000" u="none" strike="noStrike">
                          <a:effectLst/>
                        </a:rPr>
                        <a:t>过度依赖短期负债</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936026265"/>
                  </a:ext>
                </a:extLst>
              </a:tr>
              <a:tr h="328156">
                <a:tc vMerge="1">
                  <a:txBody>
                    <a:bodyPr/>
                    <a:lstStyle/>
                    <a:p>
                      <a:endParaRPr lang="zh-CN" altLang="en-US"/>
                    </a:p>
                  </a:txBody>
                  <a:tcPr/>
                </a:tc>
                <a:tc>
                  <a:txBody>
                    <a:bodyPr/>
                    <a:lstStyle/>
                    <a:p>
                      <a:pPr algn="l" fontAlgn="ctr"/>
                      <a:r>
                        <a:rPr lang="zh-CN" altLang="en-US" sz="2000" u="none" strike="noStrike">
                          <a:effectLst/>
                        </a:rPr>
                        <a:t>管理者不能解释资本结构和筹集资金及使用上的合理性</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1816515661"/>
                  </a:ext>
                </a:extLst>
              </a:tr>
              <a:tr h="328156">
                <a:tc vMerge="1">
                  <a:txBody>
                    <a:bodyPr/>
                    <a:lstStyle/>
                    <a:p>
                      <a:endParaRPr lang="zh-CN" altLang="en-US"/>
                    </a:p>
                  </a:txBody>
                  <a:tcPr/>
                </a:tc>
                <a:tc>
                  <a:txBody>
                    <a:bodyPr/>
                    <a:lstStyle/>
                    <a:p>
                      <a:pPr algn="l" fontAlgn="ctr"/>
                      <a:r>
                        <a:rPr lang="zh-CN" altLang="en-US" sz="2000" u="none" strike="noStrike" dirty="0">
                          <a:effectLst/>
                        </a:rPr>
                        <a:t>在公司结构中存在大量复杂的财务补助和</a:t>
                      </a:r>
                      <a:r>
                        <a:rPr lang="en-US" altLang="zh-CN" sz="2000" u="none" strike="noStrike" dirty="0">
                          <a:effectLst/>
                        </a:rPr>
                        <a:t>/</a:t>
                      </a:r>
                      <a:r>
                        <a:rPr lang="zh-CN" altLang="en-US" sz="2000" u="none" strike="noStrike" dirty="0">
                          <a:effectLst/>
                        </a:rPr>
                        <a:t>或其他融资载体</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1998786363"/>
                  </a:ext>
                </a:extLst>
              </a:tr>
              <a:tr h="328156">
                <a:tc vMerge="1">
                  <a:txBody>
                    <a:bodyPr/>
                    <a:lstStyle/>
                    <a:p>
                      <a:endParaRPr lang="zh-CN" altLang="en-US"/>
                    </a:p>
                  </a:txBody>
                  <a:tcPr/>
                </a:tc>
                <a:tc>
                  <a:txBody>
                    <a:bodyPr/>
                    <a:lstStyle/>
                    <a:p>
                      <a:pPr algn="l" fontAlgn="ctr"/>
                      <a:r>
                        <a:rPr lang="zh-CN" altLang="en-US" sz="2000" u="none" strike="noStrike" dirty="0">
                          <a:effectLst/>
                        </a:rPr>
                        <a:t>过度结构化的筹资安排。</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4104443903"/>
                  </a:ext>
                </a:extLst>
              </a:tr>
            </a:tbl>
          </a:graphicData>
        </a:graphic>
      </p:graphicFrame>
    </p:spTree>
    <p:extLst>
      <p:ext uri="{BB962C8B-B14F-4D97-AF65-F5344CB8AC3E}">
        <p14:creationId xmlns:p14="http://schemas.microsoft.com/office/powerpoint/2010/main" val="26322077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84921F1-243A-441B-AF95-E2ABD6931119}"/>
              </a:ext>
            </a:extLst>
          </p:cNvPr>
          <p:cNvSpPr>
            <a:spLocks noGrp="1"/>
          </p:cNvSpPr>
          <p:nvPr>
            <p:ph type="title"/>
          </p:nvPr>
        </p:nvSpPr>
        <p:spPr/>
        <p:txBody>
          <a:bodyPr/>
          <a:lstStyle/>
          <a:p>
            <a:r>
              <a:rPr lang="en-US" altLang="zh-CN" dirty="0"/>
              <a:t> </a:t>
            </a:r>
            <a:r>
              <a:rPr lang="zh-CN" altLang="en-US" dirty="0"/>
              <a:t>公司治理的评测</a:t>
            </a:r>
            <a:r>
              <a:rPr lang="zh-CN" altLang="en-US"/>
              <a:t>量表</a:t>
            </a:r>
            <a:r>
              <a:rPr lang="zh-CN" altLang="en-US" sz="2400"/>
              <a:t>（</a:t>
            </a:r>
            <a:r>
              <a:rPr lang="en-US" altLang="zh-CN" sz="2400"/>
              <a:t>5/6 </a:t>
            </a:r>
            <a:r>
              <a:rPr lang="zh-CN" altLang="en-US" sz="2400" dirty="0"/>
              <a:t>摘自标普评级）</a:t>
            </a:r>
          </a:p>
        </p:txBody>
      </p:sp>
      <p:graphicFrame>
        <p:nvGraphicFramePr>
          <p:cNvPr id="4" name="内容占位符 3">
            <a:extLst>
              <a:ext uri="{FF2B5EF4-FFF2-40B4-BE49-F238E27FC236}">
                <a16:creationId xmlns:a16="http://schemas.microsoft.com/office/drawing/2014/main" id="{7910BB60-66C2-452B-97CB-01D3E5FE493F}"/>
              </a:ext>
            </a:extLst>
          </p:cNvPr>
          <p:cNvGraphicFramePr>
            <a:graphicFrameLocks noGrp="1"/>
          </p:cNvGraphicFramePr>
          <p:nvPr>
            <p:ph idx="1"/>
            <p:extLst>
              <p:ext uri="{D42A27DB-BD31-4B8C-83A1-F6EECF244321}">
                <p14:modId xmlns:p14="http://schemas.microsoft.com/office/powerpoint/2010/main" val="1114026151"/>
              </p:ext>
            </p:extLst>
          </p:nvPr>
        </p:nvGraphicFramePr>
        <p:xfrm>
          <a:off x="273050" y="1674813"/>
          <a:ext cx="16791625" cy="7868788"/>
        </p:xfrm>
        <a:graphic>
          <a:graphicData uri="http://schemas.openxmlformats.org/drawingml/2006/table">
            <a:tbl>
              <a:tblPr firstRow="1" bandRow="1">
                <a:tableStyleId>{5C22544A-7EE6-4342-B048-85BDC9FD1C3A}</a:tableStyleId>
              </a:tblPr>
              <a:tblGrid>
                <a:gridCol w="3354570">
                  <a:extLst>
                    <a:ext uri="{9D8B030D-6E8A-4147-A177-3AD203B41FA5}">
                      <a16:colId xmlns:a16="http://schemas.microsoft.com/office/drawing/2014/main" val="3322560533"/>
                    </a:ext>
                  </a:extLst>
                </a:gridCol>
                <a:gridCol w="13437055">
                  <a:extLst>
                    <a:ext uri="{9D8B030D-6E8A-4147-A177-3AD203B41FA5}">
                      <a16:colId xmlns:a16="http://schemas.microsoft.com/office/drawing/2014/main" val="3538811568"/>
                    </a:ext>
                  </a:extLst>
                </a:gridCol>
              </a:tblGrid>
              <a:tr h="484824">
                <a:tc>
                  <a:txBody>
                    <a:bodyPr/>
                    <a:lstStyle/>
                    <a:p>
                      <a:pPr algn="ctr" fontAlgn="t"/>
                      <a:r>
                        <a:rPr lang="zh-CN" altLang="en-US" sz="2000" u="none" strike="noStrike" dirty="0">
                          <a:effectLst/>
                        </a:rPr>
                        <a:t>评测问题</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9084" marR="9084" marT="7620" marB="0" anchor="ctr"/>
                </a:tc>
                <a:tc>
                  <a:txBody>
                    <a:bodyPr/>
                    <a:lstStyle/>
                    <a:p>
                      <a:pPr algn="ctr" fontAlgn="ctr"/>
                      <a:r>
                        <a:rPr lang="zh-CN" altLang="en-US" sz="2000" u="none" strike="noStrike" dirty="0">
                          <a:effectLst/>
                        </a:rPr>
                        <a:t>预警信号</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9084" marR="9084" marT="7620" marB="0" anchor="ctr"/>
                </a:tc>
                <a:extLst>
                  <a:ext uri="{0D108BD9-81ED-4DB2-BD59-A6C34878D82A}">
                    <a16:rowId xmlns:a16="http://schemas.microsoft.com/office/drawing/2014/main" val="50751955"/>
                  </a:ext>
                </a:extLst>
              </a:tr>
              <a:tr h="777777">
                <a:tc rowSpan="6">
                  <a:txBody>
                    <a:bodyPr/>
                    <a:lstStyle/>
                    <a:p>
                      <a:pPr algn="l" fontAlgn="t"/>
                      <a:r>
                        <a:rPr lang="en-US" altLang="zh-CN" sz="2000" u="none" strike="noStrike" dirty="0">
                          <a:effectLst/>
                        </a:rPr>
                        <a:t>14. </a:t>
                      </a:r>
                      <a:r>
                        <a:rPr lang="zh-CN" altLang="en-US" sz="2000" u="none" strike="noStrike" dirty="0">
                          <a:effectLst/>
                        </a:rPr>
                        <a:t>财务稳定性一一公司流动性对下述因素敏感，包括触发条件、或有负债或非经营现金的可获得性</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tc>
                  <a:txBody>
                    <a:bodyPr/>
                    <a:lstStyle/>
                    <a:p>
                      <a:pPr algn="l" fontAlgn="ctr"/>
                      <a:r>
                        <a:rPr lang="zh-CN" altLang="en-US" sz="2000" u="none" strike="noStrike">
                          <a:effectLst/>
                        </a:rPr>
                        <a:t>在债务、衍生品和经营协议中存在要求清偿或债务担保或前述特定事件发生情况下的或有负债的实质性触发条件</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842725628"/>
                  </a:ext>
                </a:extLst>
              </a:tr>
              <a:tr h="388888">
                <a:tc vMerge="1">
                  <a:txBody>
                    <a:bodyPr/>
                    <a:lstStyle/>
                    <a:p>
                      <a:endParaRPr lang="zh-CN" altLang="en-US"/>
                    </a:p>
                  </a:txBody>
                  <a:tcPr/>
                </a:tc>
                <a:tc>
                  <a:txBody>
                    <a:bodyPr/>
                    <a:lstStyle/>
                    <a:p>
                      <a:pPr algn="l" fontAlgn="ctr"/>
                      <a:r>
                        <a:rPr lang="zh-CN" altLang="en-US" sz="2000" u="none" strike="noStrike">
                          <a:effectLst/>
                        </a:rPr>
                        <a:t>缺乏为或有负债融资的可靠计划</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4272243739"/>
                  </a:ext>
                </a:extLst>
              </a:tr>
              <a:tr h="388888">
                <a:tc vMerge="1">
                  <a:txBody>
                    <a:bodyPr/>
                    <a:lstStyle/>
                    <a:p>
                      <a:endParaRPr lang="zh-CN" altLang="en-US"/>
                    </a:p>
                  </a:txBody>
                  <a:tcPr/>
                </a:tc>
                <a:tc>
                  <a:txBody>
                    <a:bodyPr/>
                    <a:lstStyle/>
                    <a:p>
                      <a:pPr algn="l" fontAlgn="ctr"/>
                      <a:r>
                        <a:rPr lang="zh-CN" altLang="en-US" sz="2000" u="none" strike="noStrike" dirty="0">
                          <a:effectLst/>
                        </a:rPr>
                        <a:t>过于依赖应收账款或保理</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748737531"/>
                  </a:ext>
                </a:extLst>
              </a:tr>
              <a:tr h="388888">
                <a:tc vMerge="1">
                  <a:txBody>
                    <a:bodyPr/>
                    <a:lstStyle/>
                    <a:p>
                      <a:endParaRPr lang="zh-CN" altLang="en-US"/>
                    </a:p>
                  </a:txBody>
                  <a:tcPr/>
                </a:tc>
                <a:tc>
                  <a:txBody>
                    <a:bodyPr/>
                    <a:lstStyle/>
                    <a:p>
                      <a:pPr algn="l" fontAlgn="ctr"/>
                      <a:r>
                        <a:rPr lang="zh-CN" altLang="en-US" sz="2000" u="none" strike="noStrike">
                          <a:effectLst/>
                        </a:rPr>
                        <a:t>触发契约阔值的危险</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1403061698"/>
                  </a:ext>
                </a:extLst>
              </a:tr>
              <a:tr h="583425">
                <a:tc vMerge="1">
                  <a:txBody>
                    <a:bodyPr/>
                    <a:lstStyle/>
                    <a:p>
                      <a:endParaRPr lang="zh-CN" altLang="en-US"/>
                    </a:p>
                  </a:txBody>
                  <a:tcPr/>
                </a:tc>
                <a:tc>
                  <a:txBody>
                    <a:bodyPr/>
                    <a:lstStyle/>
                    <a:p>
                      <a:pPr algn="l" fontAlgn="ctr"/>
                      <a:r>
                        <a:rPr lang="zh-CN" altLang="en-US" sz="2000" u="none" strike="noStrike">
                          <a:effectLst/>
                        </a:rPr>
                        <a:t>获得更低或更高成本借款的便利</a:t>
                      </a:r>
                      <a:r>
                        <a:rPr lang="en-US" altLang="zh-CN" sz="2000" u="none" strike="noStrike">
                          <a:effectLst/>
                        </a:rPr>
                        <a:t>/</a:t>
                      </a:r>
                      <a:r>
                        <a:rPr lang="zh-CN" altLang="en-US" sz="2000" u="none" strike="noStrike">
                          <a:effectLst/>
                        </a:rPr>
                        <a:t>能力</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3161613735"/>
                  </a:ext>
                </a:extLst>
              </a:tr>
              <a:tr h="1001028">
                <a:tc vMerge="1">
                  <a:txBody>
                    <a:bodyPr/>
                    <a:lstStyle/>
                    <a:p>
                      <a:endParaRPr lang="zh-CN" altLang="en-US"/>
                    </a:p>
                  </a:txBody>
                  <a:tcPr/>
                </a:tc>
                <a:tc>
                  <a:txBody>
                    <a:bodyPr/>
                    <a:lstStyle/>
                    <a:p>
                      <a:pPr algn="l" fontAlgn="ctr"/>
                      <a:r>
                        <a:rPr lang="zh-CN" altLang="en-US" sz="2000" u="none" strike="noStrike" dirty="0">
                          <a:effectLst/>
                        </a:rPr>
                        <a:t>依赖于资产出售、非常或有收入或非同寻常的大量</a:t>
                      </a:r>
                      <a:r>
                        <a:rPr lang="zh-CN" altLang="en-US" sz="2000" u="none" strike="noStrike">
                          <a:effectLst/>
                        </a:rPr>
                        <a:t>现金储备（在</a:t>
                      </a:r>
                      <a:r>
                        <a:rPr lang="zh-CN" altLang="en-US" sz="2000" u="none" strike="noStrike" dirty="0">
                          <a:effectLst/>
                        </a:rPr>
                        <a:t>借款人或子公司处）的</a:t>
                      </a:r>
                      <a:r>
                        <a:rPr lang="zh-CN" altLang="en-US" sz="2000" u="none" strike="noStrike">
                          <a:effectLst/>
                        </a:rPr>
                        <a:t>财务稳定性（还本付息</a:t>
                      </a:r>
                      <a:r>
                        <a:rPr lang="zh-CN" altLang="en-US" sz="2000" u="none" strike="noStrike" dirty="0">
                          <a:effectLst/>
                        </a:rPr>
                        <a:t>或融资便利）。</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3894166793"/>
                  </a:ext>
                </a:extLst>
              </a:tr>
              <a:tr h="777777">
                <a:tc rowSpan="6">
                  <a:txBody>
                    <a:bodyPr/>
                    <a:lstStyle/>
                    <a:p>
                      <a:pPr algn="l" fontAlgn="t"/>
                      <a:r>
                        <a:rPr lang="en-US" altLang="zh-CN" sz="2000" u="none" strike="noStrike" dirty="0">
                          <a:effectLst/>
                        </a:rPr>
                        <a:t>15. </a:t>
                      </a:r>
                      <a:r>
                        <a:rPr lang="zh-CN" altLang="en-US" sz="2000" u="none" strike="noStrike" dirty="0">
                          <a:effectLst/>
                        </a:rPr>
                        <a:t>对盈利性和资本管理的衍生产品及资产负债表外结构的依赖度</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tc>
                  <a:txBody>
                    <a:bodyPr/>
                    <a:lstStyle/>
                    <a:p>
                      <a:pPr algn="l" fontAlgn="ctr"/>
                      <a:r>
                        <a:rPr lang="zh-CN" altLang="en-US" sz="2000" u="none" strike="noStrike">
                          <a:effectLst/>
                        </a:rPr>
                        <a:t>严重依赖于盈利性和证券化筹集的资本、金融衍生产品和</a:t>
                      </a:r>
                      <a:r>
                        <a:rPr lang="en-US" altLang="zh-CN" sz="2000" u="none" strike="noStrike">
                          <a:effectLst/>
                        </a:rPr>
                        <a:t>SPV</a:t>
                      </a:r>
                      <a:endParaRPr lang="en-US" altLang="zh-CN"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566604051"/>
                  </a:ext>
                </a:extLst>
              </a:tr>
              <a:tr h="760870">
                <a:tc vMerge="1">
                  <a:txBody>
                    <a:bodyPr/>
                    <a:lstStyle/>
                    <a:p>
                      <a:endParaRPr lang="zh-CN" altLang="en-US"/>
                    </a:p>
                  </a:txBody>
                  <a:tcPr/>
                </a:tc>
                <a:tc>
                  <a:txBody>
                    <a:bodyPr/>
                    <a:lstStyle/>
                    <a:p>
                      <a:pPr algn="l" fontAlgn="ctr"/>
                      <a:r>
                        <a:rPr lang="zh-CN" altLang="en-US" sz="2000" u="none" strike="noStrike">
                          <a:effectLst/>
                        </a:rPr>
                        <a:t>管理者不能或不愿意解释对资产证券化、金融衍生产品和</a:t>
                      </a:r>
                      <a:r>
                        <a:rPr lang="en-US" altLang="zh-CN" sz="2000" u="none" strike="noStrike">
                          <a:effectLst/>
                        </a:rPr>
                        <a:t>SPV</a:t>
                      </a:r>
                      <a:r>
                        <a:rPr lang="zh-CN" altLang="en-US" sz="2000" u="none" strike="noStrike">
                          <a:effectLst/>
                        </a:rPr>
                        <a:t>影响的合理性</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1540518275"/>
                  </a:ext>
                </a:extLst>
              </a:tr>
              <a:tr h="388888">
                <a:tc vMerge="1">
                  <a:txBody>
                    <a:bodyPr/>
                    <a:lstStyle/>
                    <a:p>
                      <a:endParaRPr lang="zh-CN" altLang="en-US"/>
                    </a:p>
                  </a:txBody>
                  <a:tcPr/>
                </a:tc>
                <a:tc>
                  <a:txBody>
                    <a:bodyPr/>
                    <a:lstStyle/>
                    <a:p>
                      <a:pPr algn="l" fontAlgn="ctr"/>
                      <a:r>
                        <a:rPr lang="zh-CN" altLang="en-US" sz="2000" u="none" strike="noStrike">
                          <a:effectLst/>
                        </a:rPr>
                        <a:t>与同行相比过度运用资产证券化、金融衍生产品和</a:t>
                      </a:r>
                      <a:r>
                        <a:rPr lang="en-US" altLang="zh-CN" sz="2000" u="none" strike="noStrike">
                          <a:effectLst/>
                        </a:rPr>
                        <a:t>SPV</a:t>
                      </a:r>
                      <a:endParaRPr lang="en-US" altLang="zh-CN"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3206026615"/>
                  </a:ext>
                </a:extLst>
              </a:tr>
              <a:tr h="760870">
                <a:tc vMerge="1">
                  <a:txBody>
                    <a:bodyPr/>
                    <a:lstStyle/>
                    <a:p>
                      <a:endParaRPr lang="zh-CN" altLang="en-US"/>
                    </a:p>
                  </a:txBody>
                  <a:tcPr/>
                </a:tc>
                <a:tc>
                  <a:txBody>
                    <a:bodyPr/>
                    <a:lstStyle/>
                    <a:p>
                      <a:pPr algn="l" fontAlgn="ctr"/>
                      <a:r>
                        <a:rPr lang="zh-CN" altLang="en-US" sz="2000" u="none" strike="noStrike" dirty="0">
                          <a:effectLst/>
                        </a:rPr>
                        <a:t>对于这些技术是运用于规避风险还是运用于假设的风险方面缺乏明晰性</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1456141914"/>
                  </a:ext>
                </a:extLst>
              </a:tr>
              <a:tr h="388888">
                <a:tc vMerge="1">
                  <a:txBody>
                    <a:bodyPr/>
                    <a:lstStyle/>
                    <a:p>
                      <a:endParaRPr lang="zh-CN" altLang="en-US"/>
                    </a:p>
                  </a:txBody>
                  <a:tcPr/>
                </a:tc>
                <a:tc>
                  <a:txBody>
                    <a:bodyPr/>
                    <a:lstStyle/>
                    <a:p>
                      <a:pPr algn="l" fontAlgn="ctr"/>
                      <a:r>
                        <a:rPr lang="zh-CN" altLang="en-US" sz="2000" u="none" strike="noStrike">
                          <a:effectLst/>
                        </a:rPr>
                        <a:t>不谨慎的风险管理实践和疏忽</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1771270046"/>
                  </a:ext>
                </a:extLst>
              </a:tr>
              <a:tr h="777777">
                <a:tc vMerge="1">
                  <a:txBody>
                    <a:bodyPr/>
                    <a:lstStyle/>
                    <a:p>
                      <a:endParaRPr lang="zh-CN" altLang="en-US"/>
                    </a:p>
                  </a:txBody>
                  <a:tcPr/>
                </a:tc>
                <a:tc>
                  <a:txBody>
                    <a:bodyPr/>
                    <a:lstStyle/>
                    <a:p>
                      <a:pPr algn="l" fontAlgn="ctr"/>
                      <a:r>
                        <a:rPr lang="zh-CN" altLang="en-US" sz="2000" u="none" strike="noStrike" dirty="0">
                          <a:effectLst/>
                        </a:rPr>
                        <a:t>宁愿激进地运用金融衍生产品来应对风险（例如合成资产</a:t>
                      </a:r>
                      <a:r>
                        <a:rPr lang="en-US" altLang="zh-CN" sz="2000" u="none" strike="noStrike" dirty="0">
                          <a:effectLst/>
                        </a:rPr>
                        <a:t>/</a:t>
                      </a:r>
                      <a:r>
                        <a:rPr lang="zh-CN" altLang="en-US" sz="2000" u="none" strike="noStrike" dirty="0">
                          <a:effectLst/>
                        </a:rPr>
                        <a:t>证券数量），而不采用谨慎的预防措施</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1849866635"/>
                  </a:ext>
                </a:extLst>
              </a:tr>
            </a:tbl>
          </a:graphicData>
        </a:graphic>
      </p:graphicFrame>
    </p:spTree>
    <p:extLst>
      <p:ext uri="{BB962C8B-B14F-4D97-AF65-F5344CB8AC3E}">
        <p14:creationId xmlns:p14="http://schemas.microsoft.com/office/powerpoint/2010/main" val="6868759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12641B34-5AFF-44FF-BC8E-27DBC0CA9E60}"/>
              </a:ext>
            </a:extLst>
          </p:cNvPr>
          <p:cNvSpPr>
            <a:spLocks noGrp="1"/>
          </p:cNvSpPr>
          <p:nvPr>
            <p:ph type="title"/>
          </p:nvPr>
        </p:nvSpPr>
        <p:spPr/>
        <p:txBody>
          <a:bodyPr/>
          <a:lstStyle/>
          <a:p>
            <a:r>
              <a:rPr lang="en-US" altLang="zh-CN" dirty="0"/>
              <a:t> </a:t>
            </a:r>
            <a:r>
              <a:rPr lang="zh-CN" altLang="en-US" dirty="0"/>
              <a:t>公司治理的评测</a:t>
            </a:r>
            <a:r>
              <a:rPr lang="zh-CN" altLang="en-US"/>
              <a:t>量表</a:t>
            </a:r>
            <a:r>
              <a:rPr lang="zh-CN" altLang="en-US" sz="2400"/>
              <a:t>（</a:t>
            </a:r>
            <a:r>
              <a:rPr lang="en-US" altLang="zh-CN" sz="2400"/>
              <a:t>6/6 </a:t>
            </a:r>
            <a:r>
              <a:rPr lang="zh-CN" altLang="en-US" sz="2400" dirty="0"/>
              <a:t>摘自标普评级）</a:t>
            </a:r>
          </a:p>
        </p:txBody>
      </p:sp>
      <p:graphicFrame>
        <p:nvGraphicFramePr>
          <p:cNvPr id="4" name="内容占位符 3">
            <a:extLst>
              <a:ext uri="{FF2B5EF4-FFF2-40B4-BE49-F238E27FC236}">
                <a16:creationId xmlns:a16="http://schemas.microsoft.com/office/drawing/2014/main" id="{0EFEE62F-EB84-4C13-973A-117281C0E67A}"/>
              </a:ext>
            </a:extLst>
          </p:cNvPr>
          <p:cNvGraphicFramePr>
            <a:graphicFrameLocks noGrp="1"/>
          </p:cNvGraphicFramePr>
          <p:nvPr>
            <p:ph idx="1"/>
            <p:extLst>
              <p:ext uri="{D42A27DB-BD31-4B8C-83A1-F6EECF244321}">
                <p14:modId xmlns:p14="http://schemas.microsoft.com/office/powerpoint/2010/main" val="4229926291"/>
              </p:ext>
            </p:extLst>
          </p:nvPr>
        </p:nvGraphicFramePr>
        <p:xfrm>
          <a:off x="273050" y="1674813"/>
          <a:ext cx="16791625" cy="7815697"/>
        </p:xfrm>
        <a:graphic>
          <a:graphicData uri="http://schemas.openxmlformats.org/drawingml/2006/table">
            <a:tbl>
              <a:tblPr firstRow="1" bandRow="1">
                <a:tableStyleId>{5C22544A-7EE6-4342-B048-85BDC9FD1C3A}</a:tableStyleId>
              </a:tblPr>
              <a:tblGrid>
                <a:gridCol w="3369560">
                  <a:extLst>
                    <a:ext uri="{9D8B030D-6E8A-4147-A177-3AD203B41FA5}">
                      <a16:colId xmlns:a16="http://schemas.microsoft.com/office/drawing/2014/main" val="3218607282"/>
                    </a:ext>
                  </a:extLst>
                </a:gridCol>
                <a:gridCol w="13422065">
                  <a:extLst>
                    <a:ext uri="{9D8B030D-6E8A-4147-A177-3AD203B41FA5}">
                      <a16:colId xmlns:a16="http://schemas.microsoft.com/office/drawing/2014/main" val="2399554242"/>
                    </a:ext>
                  </a:extLst>
                </a:gridCol>
              </a:tblGrid>
              <a:tr h="548552">
                <a:tc>
                  <a:txBody>
                    <a:bodyPr/>
                    <a:lstStyle/>
                    <a:p>
                      <a:pPr algn="ctr" fontAlgn="t"/>
                      <a:r>
                        <a:rPr lang="zh-CN" altLang="en-US" sz="2000" u="none" strike="noStrike" dirty="0">
                          <a:effectLst/>
                        </a:rPr>
                        <a:t>评测问题</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9084" marR="9084" marT="7620" marB="0" anchor="ctr"/>
                </a:tc>
                <a:tc>
                  <a:txBody>
                    <a:bodyPr/>
                    <a:lstStyle/>
                    <a:p>
                      <a:pPr algn="ctr" fontAlgn="ctr"/>
                      <a:r>
                        <a:rPr lang="zh-CN" altLang="en-US" sz="2000" u="none" strike="noStrike" dirty="0">
                          <a:effectLst/>
                        </a:rPr>
                        <a:t>预警信号</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9084" marR="9084" marT="7620" marB="0" anchor="ctr"/>
                </a:tc>
                <a:extLst>
                  <a:ext uri="{0D108BD9-81ED-4DB2-BD59-A6C34878D82A}">
                    <a16:rowId xmlns:a16="http://schemas.microsoft.com/office/drawing/2014/main" val="3752192089"/>
                  </a:ext>
                </a:extLst>
              </a:tr>
              <a:tr h="772030">
                <a:tc rowSpan="7">
                  <a:txBody>
                    <a:bodyPr/>
                    <a:lstStyle/>
                    <a:p>
                      <a:pPr algn="l" fontAlgn="t"/>
                      <a:r>
                        <a:rPr lang="en-US" altLang="zh-CN" sz="2000" u="none" strike="noStrike" dirty="0">
                          <a:effectLst/>
                        </a:rPr>
                        <a:t>16. </a:t>
                      </a:r>
                      <a:r>
                        <a:rPr lang="zh-CN" altLang="en-US" sz="2000" u="none" strike="noStrike" dirty="0">
                          <a:effectLst/>
                        </a:rPr>
                        <a:t>进取性战略，认可销售收入或利润的历史，少报成本或债务的历史</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tc>
                  <a:txBody>
                    <a:bodyPr/>
                    <a:lstStyle/>
                    <a:p>
                      <a:pPr algn="l" fontAlgn="ctr"/>
                      <a:r>
                        <a:rPr lang="zh-CN" altLang="en-US" sz="2000" u="none" strike="noStrike" dirty="0">
                          <a:effectLst/>
                        </a:rPr>
                        <a:t>净利润的增长大大地高于运营现金流量的增长</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591265144"/>
                  </a:ext>
                </a:extLst>
              </a:tr>
              <a:tr h="386015">
                <a:tc vMerge="1">
                  <a:txBody>
                    <a:bodyPr/>
                    <a:lstStyle/>
                    <a:p>
                      <a:endParaRPr lang="zh-CN" altLang="en-US"/>
                    </a:p>
                  </a:txBody>
                  <a:tcPr/>
                </a:tc>
                <a:tc>
                  <a:txBody>
                    <a:bodyPr/>
                    <a:lstStyle/>
                    <a:p>
                      <a:pPr algn="l" fontAlgn="ctr"/>
                      <a:r>
                        <a:rPr lang="zh-CN" altLang="en-US" sz="2000" u="none" strike="noStrike">
                          <a:effectLst/>
                        </a:rPr>
                        <a:t>销售收入和利润增长远远地高于同行</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526880815"/>
                  </a:ext>
                </a:extLst>
              </a:tr>
              <a:tr h="755245">
                <a:tc vMerge="1">
                  <a:txBody>
                    <a:bodyPr/>
                    <a:lstStyle/>
                    <a:p>
                      <a:endParaRPr lang="zh-CN" altLang="en-US"/>
                    </a:p>
                  </a:txBody>
                  <a:tcPr/>
                </a:tc>
                <a:tc>
                  <a:txBody>
                    <a:bodyPr/>
                    <a:lstStyle/>
                    <a:p>
                      <a:pPr algn="l" fontAlgn="ctr"/>
                      <a:r>
                        <a:rPr lang="zh-CN" altLang="en-US" sz="2000" u="none" strike="noStrike" dirty="0">
                          <a:effectLst/>
                        </a:rPr>
                        <a:t>对→般公认会计准则</a:t>
                      </a:r>
                      <a:r>
                        <a:rPr lang="en-US" altLang="zh-CN" sz="2000" u="none" strike="noStrike" dirty="0">
                          <a:effectLst/>
                        </a:rPr>
                        <a:t>CGAAP</a:t>
                      </a:r>
                      <a:r>
                        <a:rPr lang="zh-CN" altLang="en-US" sz="2000" u="none" strike="noStrike">
                          <a:effectLst/>
                        </a:rPr>
                        <a:t>） （或</a:t>
                      </a:r>
                      <a:r>
                        <a:rPr lang="zh-CN" altLang="en-US" sz="2000" u="none" strike="noStrike" dirty="0">
                          <a:effectLst/>
                        </a:rPr>
                        <a:t>其他会计准则）的利润采用过激的形式进行调整</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330966526"/>
                  </a:ext>
                </a:extLst>
              </a:tr>
              <a:tr h="386015">
                <a:tc vMerge="1">
                  <a:txBody>
                    <a:bodyPr/>
                    <a:lstStyle/>
                    <a:p>
                      <a:endParaRPr lang="zh-CN" altLang="en-US"/>
                    </a:p>
                  </a:txBody>
                  <a:tcPr/>
                </a:tc>
                <a:tc>
                  <a:txBody>
                    <a:bodyPr/>
                    <a:lstStyle/>
                    <a:p>
                      <a:pPr algn="l" fontAlgn="ctr"/>
                      <a:r>
                        <a:rPr lang="zh-CN" altLang="en-US" sz="2000" u="none" strike="noStrike">
                          <a:effectLst/>
                        </a:rPr>
                        <a:t>被指控有违法财务报告实践的诉讼或处置</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3650002323"/>
                  </a:ext>
                </a:extLst>
              </a:tr>
              <a:tr h="386015">
                <a:tc vMerge="1">
                  <a:txBody>
                    <a:bodyPr/>
                    <a:lstStyle/>
                    <a:p>
                      <a:endParaRPr lang="zh-CN" altLang="en-US"/>
                    </a:p>
                  </a:txBody>
                  <a:tcPr/>
                </a:tc>
                <a:tc>
                  <a:txBody>
                    <a:bodyPr/>
                    <a:lstStyle/>
                    <a:p>
                      <a:pPr algn="l" fontAlgn="ctr"/>
                      <a:r>
                        <a:rPr lang="zh-CN" altLang="en-US" sz="2000" u="none" strike="noStrike">
                          <a:effectLst/>
                        </a:rPr>
                        <a:t>掩饰费用或债务的历史</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221345044"/>
                  </a:ext>
                </a:extLst>
              </a:tr>
              <a:tr h="386015">
                <a:tc vMerge="1">
                  <a:txBody>
                    <a:bodyPr/>
                    <a:lstStyle/>
                    <a:p>
                      <a:endParaRPr lang="zh-CN" altLang="en-US"/>
                    </a:p>
                  </a:txBody>
                  <a:tcPr/>
                </a:tc>
                <a:tc>
                  <a:txBody>
                    <a:bodyPr/>
                    <a:lstStyle/>
                    <a:p>
                      <a:pPr algn="l" fontAlgn="ctr"/>
                      <a:r>
                        <a:rPr lang="zh-CN" altLang="en-US" sz="2000" u="none" strike="noStrike">
                          <a:effectLst/>
                        </a:rPr>
                        <a:t>不重现项目和特别支出的历史</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1371064986"/>
                  </a:ext>
                </a:extLst>
              </a:tr>
              <a:tr h="755245">
                <a:tc vMerge="1">
                  <a:txBody>
                    <a:bodyPr/>
                    <a:lstStyle/>
                    <a:p>
                      <a:endParaRPr lang="zh-CN" altLang="en-US"/>
                    </a:p>
                  </a:txBody>
                  <a:tcPr/>
                </a:tc>
                <a:tc>
                  <a:txBody>
                    <a:bodyPr/>
                    <a:lstStyle/>
                    <a:p>
                      <a:pPr algn="l" fontAlgn="ctr"/>
                      <a:r>
                        <a:rPr lang="zh-CN" altLang="en-US" sz="2000" u="none" strike="noStrike">
                          <a:effectLst/>
                        </a:rPr>
                        <a:t>很高百分比的销售收人和净利润来源于非营业性和</a:t>
                      </a:r>
                      <a:r>
                        <a:rPr lang="en-US" altLang="zh-CN" sz="2000" u="none" strike="noStrike">
                          <a:effectLst/>
                        </a:rPr>
                        <a:t>/</a:t>
                      </a:r>
                      <a:r>
                        <a:rPr lang="zh-CN" altLang="en-US" sz="2000" u="none" strike="noStrike">
                          <a:effectLst/>
                        </a:rPr>
                        <a:t>或非重现性资源</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4068043003"/>
                  </a:ext>
                </a:extLst>
              </a:tr>
              <a:tr h="755245">
                <a:tc rowSpan="7">
                  <a:txBody>
                    <a:bodyPr/>
                    <a:lstStyle/>
                    <a:p>
                      <a:pPr algn="l" fontAlgn="t"/>
                      <a:r>
                        <a:rPr lang="en-US" altLang="zh-CN" sz="2000" u="none" strike="noStrike" dirty="0">
                          <a:effectLst/>
                        </a:rPr>
                        <a:t>17. </a:t>
                      </a:r>
                      <a:r>
                        <a:rPr lang="zh-CN" altLang="en-US" sz="2000" u="none" strike="noStrike" dirty="0">
                          <a:effectLst/>
                        </a:rPr>
                        <a:t>会计实务和会计报告方面的激进性、频繁变化或复杂性</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tc>
                  <a:txBody>
                    <a:bodyPr/>
                    <a:lstStyle/>
                    <a:p>
                      <a:pPr algn="l" fontAlgn="ctr"/>
                      <a:r>
                        <a:rPr lang="zh-CN" altLang="en-US" sz="2000" u="none" strike="noStrike">
                          <a:effectLst/>
                        </a:rPr>
                        <a:t>在会计选择和处理上，特别是在那些影响销售收入、成本和负债的报告上频繁变动</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397728224"/>
                  </a:ext>
                </a:extLst>
              </a:tr>
              <a:tr h="755245">
                <a:tc vMerge="1">
                  <a:txBody>
                    <a:bodyPr/>
                    <a:lstStyle/>
                    <a:p>
                      <a:endParaRPr lang="zh-CN" altLang="en-US"/>
                    </a:p>
                  </a:txBody>
                  <a:tcPr/>
                </a:tc>
                <a:tc>
                  <a:txBody>
                    <a:bodyPr/>
                    <a:lstStyle/>
                    <a:p>
                      <a:pPr algn="l" fontAlgn="ctr"/>
                      <a:r>
                        <a:rPr lang="zh-CN" altLang="en-US" sz="2000" u="none" strike="noStrike">
                          <a:effectLst/>
                        </a:rPr>
                        <a:t>由于会计错误、不规范性、欺骗或估计上的不正常变化而经常发生重述或告诫</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833800"/>
                  </a:ext>
                </a:extLst>
              </a:tr>
              <a:tr h="386015">
                <a:tc vMerge="1">
                  <a:txBody>
                    <a:bodyPr/>
                    <a:lstStyle/>
                    <a:p>
                      <a:endParaRPr lang="zh-CN" altLang="en-US"/>
                    </a:p>
                  </a:txBody>
                  <a:tcPr/>
                </a:tc>
                <a:tc>
                  <a:txBody>
                    <a:bodyPr/>
                    <a:lstStyle/>
                    <a:p>
                      <a:pPr algn="l" fontAlgn="ctr"/>
                      <a:r>
                        <a:rPr lang="zh-CN" altLang="en-US" sz="2000" u="none" strike="noStrike">
                          <a:effectLst/>
                        </a:rPr>
                        <a:t>与审计师交换意见或抗争的历史</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3306779545"/>
                  </a:ext>
                </a:extLst>
              </a:tr>
              <a:tr h="386015">
                <a:tc vMerge="1">
                  <a:txBody>
                    <a:bodyPr/>
                    <a:lstStyle/>
                    <a:p>
                      <a:endParaRPr lang="zh-CN" altLang="en-US"/>
                    </a:p>
                  </a:txBody>
                  <a:tcPr/>
                </a:tc>
                <a:tc>
                  <a:txBody>
                    <a:bodyPr/>
                    <a:lstStyle/>
                    <a:p>
                      <a:pPr algn="l" fontAlgn="ctr"/>
                      <a:r>
                        <a:rPr lang="zh-CN" altLang="en-US" sz="2000" u="none" strike="noStrike">
                          <a:effectLst/>
                        </a:rPr>
                        <a:t>审计师出具无保留意见或拒签财务报告意见</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063640218"/>
                  </a:ext>
                </a:extLst>
              </a:tr>
              <a:tr h="386015">
                <a:tc vMerge="1">
                  <a:txBody>
                    <a:bodyPr/>
                    <a:lstStyle/>
                    <a:p>
                      <a:endParaRPr lang="zh-CN" altLang="en-US"/>
                    </a:p>
                  </a:txBody>
                  <a:tcPr/>
                </a:tc>
                <a:tc>
                  <a:txBody>
                    <a:bodyPr/>
                    <a:lstStyle/>
                    <a:p>
                      <a:pPr algn="l" fontAlgn="ctr"/>
                      <a:r>
                        <a:rPr lang="zh-CN" altLang="en-US" sz="2000" u="none" strike="noStrike">
                          <a:effectLst/>
                        </a:rPr>
                        <a:t>对高层经理证明或内控报告的异议</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573417531"/>
                  </a:ext>
                </a:extLst>
              </a:tr>
              <a:tr h="386015">
                <a:tc vMerge="1">
                  <a:txBody>
                    <a:bodyPr/>
                    <a:lstStyle/>
                    <a:p>
                      <a:endParaRPr lang="zh-CN" altLang="en-US"/>
                    </a:p>
                  </a:txBody>
                  <a:tcPr/>
                </a:tc>
                <a:tc>
                  <a:txBody>
                    <a:bodyPr/>
                    <a:lstStyle/>
                    <a:p>
                      <a:pPr algn="l" fontAlgn="ctr"/>
                      <a:r>
                        <a:rPr lang="zh-CN" altLang="en-US" sz="2000" u="none" strike="noStrike">
                          <a:effectLst/>
                        </a:rPr>
                        <a:t>薄弱的内控环境</a:t>
                      </a:r>
                      <a:endParaRPr lang="zh-CN" altLang="en-US" sz="2000" b="0" i="0" u="none" strike="noStrike">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2034599208"/>
                  </a:ext>
                </a:extLst>
              </a:tr>
              <a:tr h="386015">
                <a:tc vMerge="1">
                  <a:txBody>
                    <a:bodyPr/>
                    <a:lstStyle/>
                    <a:p>
                      <a:endParaRPr lang="zh-CN" altLang="en-US"/>
                    </a:p>
                  </a:txBody>
                  <a:tcPr/>
                </a:tc>
                <a:tc>
                  <a:txBody>
                    <a:bodyPr/>
                    <a:lstStyle/>
                    <a:p>
                      <a:pPr algn="l" fontAlgn="ctr"/>
                      <a:r>
                        <a:rPr lang="zh-CN" altLang="en-US" sz="2000" u="none" strike="noStrike" dirty="0">
                          <a:effectLst/>
                        </a:rPr>
                        <a:t>不透明的或不充分的财务披露</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8320" marR="8320" marT="7620" marB="0" anchor="ctr"/>
                </a:tc>
                <a:extLst>
                  <a:ext uri="{0D108BD9-81ED-4DB2-BD59-A6C34878D82A}">
                    <a16:rowId xmlns:a16="http://schemas.microsoft.com/office/drawing/2014/main" val="3212059831"/>
                  </a:ext>
                </a:extLst>
              </a:tr>
            </a:tbl>
          </a:graphicData>
        </a:graphic>
      </p:graphicFrame>
    </p:spTree>
    <p:extLst>
      <p:ext uri="{BB962C8B-B14F-4D97-AF65-F5344CB8AC3E}">
        <p14:creationId xmlns:p14="http://schemas.microsoft.com/office/powerpoint/2010/main" val="40119477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7A70AA4-F8A4-4E3F-B209-D0F5CD05839D}"/>
              </a:ext>
            </a:extLst>
          </p:cNvPr>
          <p:cNvSpPr>
            <a:spLocks noGrp="1"/>
          </p:cNvSpPr>
          <p:nvPr>
            <p:ph type="title"/>
          </p:nvPr>
        </p:nvSpPr>
        <p:spPr/>
        <p:txBody>
          <a:bodyPr/>
          <a:lstStyle/>
          <a:p>
            <a:r>
              <a:rPr lang="zh-CN" altLang="en-US" dirty="0"/>
              <a:t>（五）财务状况</a:t>
            </a:r>
          </a:p>
        </p:txBody>
      </p:sp>
      <p:sp>
        <p:nvSpPr>
          <p:cNvPr id="5" name="文本占位符 4">
            <a:extLst>
              <a:ext uri="{FF2B5EF4-FFF2-40B4-BE49-F238E27FC236}">
                <a16:creationId xmlns:a16="http://schemas.microsoft.com/office/drawing/2014/main" id="{B8EE4351-AB24-4B48-BE4E-B33E7D251B19}"/>
              </a:ext>
            </a:extLst>
          </p:cNvPr>
          <p:cNvSpPr>
            <a:spLocks noGrp="1"/>
          </p:cNvSpPr>
          <p:nvPr>
            <p:ph type="body" idx="1"/>
          </p:nvPr>
        </p:nvSpPr>
        <p:spPr/>
        <p:txBody>
          <a:bodyPr/>
          <a:lstStyle/>
          <a:p>
            <a:r>
              <a:rPr lang="zh-CN" altLang="en-US" dirty="0"/>
              <a:t>基于信用主体财务数据和特定的财务分析方法所形成的偿付能力的判断，以此构成投资参考。</a:t>
            </a:r>
          </a:p>
        </p:txBody>
      </p:sp>
    </p:spTree>
    <p:extLst>
      <p:ext uri="{BB962C8B-B14F-4D97-AF65-F5344CB8AC3E}">
        <p14:creationId xmlns:p14="http://schemas.microsoft.com/office/powerpoint/2010/main" val="24061219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C4DCB2-66EC-442D-A045-49B2850B2FCA}"/>
              </a:ext>
            </a:extLst>
          </p:cNvPr>
          <p:cNvSpPr>
            <a:spLocks noGrp="1"/>
          </p:cNvSpPr>
          <p:nvPr>
            <p:ph type="title"/>
          </p:nvPr>
        </p:nvSpPr>
        <p:spPr/>
        <p:txBody>
          <a:bodyPr/>
          <a:lstStyle/>
          <a:p>
            <a:r>
              <a:rPr lang="zh-CN" altLang="en-US" dirty="0"/>
              <a:t>基本步骤</a:t>
            </a:r>
          </a:p>
        </p:txBody>
      </p:sp>
      <p:sp>
        <p:nvSpPr>
          <p:cNvPr id="3" name="内容占位符 2">
            <a:extLst>
              <a:ext uri="{FF2B5EF4-FFF2-40B4-BE49-F238E27FC236}">
                <a16:creationId xmlns:a16="http://schemas.microsoft.com/office/drawing/2014/main" id="{398E9CF5-DCB5-44C9-BEE2-457337AA743D}"/>
              </a:ext>
            </a:extLst>
          </p:cNvPr>
          <p:cNvSpPr>
            <a:spLocks noGrp="1"/>
          </p:cNvSpPr>
          <p:nvPr>
            <p:ph idx="1"/>
          </p:nvPr>
        </p:nvSpPr>
        <p:spPr/>
        <p:txBody>
          <a:bodyPr>
            <a:normAutofit/>
          </a:bodyPr>
          <a:lstStyle/>
          <a:p>
            <a:r>
              <a:rPr lang="zh-CN" altLang="en-US" dirty="0"/>
              <a:t>财务波动是经营业绩和管理层所承受风险的共同结果，从波动性的角度反映偿债能力</a:t>
            </a:r>
          </a:p>
          <a:p>
            <a:r>
              <a:rPr lang="zh-CN" altLang="en-US" b="1" dirty="0"/>
              <a:t>确定所承受的财务风险等级</a:t>
            </a:r>
            <a:endParaRPr lang="en-US" altLang="zh-CN" b="1" dirty="0"/>
          </a:p>
          <a:p>
            <a:pPr lvl="1"/>
            <a:r>
              <a:rPr lang="zh-CN" altLang="en-US" dirty="0"/>
              <a:t>资产负债：确定主体的债务和支持债务的资产状况，包括资产结构类型和现金产出能力</a:t>
            </a:r>
            <a:endParaRPr lang="en-US" altLang="zh-CN" dirty="0"/>
          </a:p>
          <a:p>
            <a:pPr lvl="1"/>
            <a:r>
              <a:rPr lang="zh-CN" altLang="en-US" dirty="0"/>
              <a:t>盈利能力：衡量经营的生存能力、持续性、价值成长性，股东和高管通常重视利润</a:t>
            </a:r>
            <a:endParaRPr lang="en-US" altLang="zh-CN" dirty="0"/>
          </a:p>
          <a:p>
            <a:pPr lvl="1"/>
            <a:r>
              <a:rPr lang="zh-CN" altLang="en-US" dirty="0"/>
              <a:t>现金产生：债务偿付的直接来源，包括现金产生的能力和对现金的需求</a:t>
            </a:r>
            <a:endParaRPr lang="en-US" altLang="zh-CN" dirty="0"/>
          </a:p>
          <a:p>
            <a:pPr lvl="1"/>
            <a:r>
              <a:rPr lang="zh-CN" altLang="en-US" dirty="0"/>
              <a:t>财务弹性：评估主体面临经营波动的抵抗能力</a:t>
            </a:r>
            <a:endParaRPr lang="en-US" altLang="zh-CN" dirty="0"/>
          </a:p>
          <a:p>
            <a:pPr lvl="1"/>
            <a:endParaRPr lang="en-US" altLang="zh-CN" dirty="0"/>
          </a:p>
          <a:p>
            <a:r>
              <a:rPr lang="zh-CN" altLang="en-US" b="1" dirty="0"/>
              <a:t>对未来财务状况进行外推</a:t>
            </a:r>
            <a:endParaRPr lang="en-US" altLang="zh-CN" b="1" dirty="0"/>
          </a:p>
          <a:p>
            <a:pPr lvl="1"/>
            <a:r>
              <a:rPr lang="zh-CN" altLang="en-US" dirty="0"/>
              <a:t>以历史为基础，结合公司战略、行业、市场等合理预测和展望财务状况</a:t>
            </a:r>
            <a:endParaRPr lang="en-US" altLang="zh-CN" dirty="0"/>
          </a:p>
          <a:p>
            <a:pPr lvl="1"/>
            <a:r>
              <a:rPr lang="zh-CN" altLang="en-US" dirty="0"/>
              <a:t>理解会计政策，合理修正财务状况和排序</a:t>
            </a:r>
            <a:endParaRPr lang="en-US" altLang="zh-CN" dirty="0"/>
          </a:p>
          <a:p>
            <a:pPr lvl="1"/>
            <a:r>
              <a:rPr lang="zh-CN" altLang="en-US" dirty="0"/>
              <a:t>通过财务表现评估管理风格</a:t>
            </a:r>
          </a:p>
        </p:txBody>
      </p:sp>
    </p:spTree>
    <p:extLst>
      <p:ext uri="{BB962C8B-B14F-4D97-AF65-F5344CB8AC3E}">
        <p14:creationId xmlns:p14="http://schemas.microsoft.com/office/powerpoint/2010/main" val="9740966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C4FE21-1DD3-4504-9DD8-9487EC459A5D}"/>
              </a:ext>
            </a:extLst>
          </p:cNvPr>
          <p:cNvSpPr>
            <a:spLocks noGrp="1"/>
          </p:cNvSpPr>
          <p:nvPr>
            <p:ph type="title"/>
          </p:nvPr>
        </p:nvSpPr>
        <p:spPr/>
        <p:txBody>
          <a:bodyPr>
            <a:normAutofit/>
          </a:bodyPr>
          <a:lstStyle/>
          <a:p>
            <a:r>
              <a:rPr lang="zh-CN" altLang="en-US" dirty="0"/>
              <a:t>五个维度</a:t>
            </a:r>
          </a:p>
        </p:txBody>
      </p:sp>
      <p:sp>
        <p:nvSpPr>
          <p:cNvPr id="3" name="内容占位符 2">
            <a:extLst>
              <a:ext uri="{FF2B5EF4-FFF2-40B4-BE49-F238E27FC236}">
                <a16:creationId xmlns:a16="http://schemas.microsoft.com/office/drawing/2014/main" id="{0883791E-8AE4-4790-B567-DD2ADC2A5659}"/>
              </a:ext>
            </a:extLst>
          </p:cNvPr>
          <p:cNvSpPr>
            <a:spLocks noGrp="1"/>
          </p:cNvSpPr>
          <p:nvPr>
            <p:ph idx="1"/>
          </p:nvPr>
        </p:nvSpPr>
        <p:spPr/>
        <p:txBody>
          <a:bodyPr>
            <a:normAutofit lnSpcReduction="10000"/>
          </a:bodyPr>
          <a:lstStyle/>
          <a:p>
            <a:pPr lvl="1"/>
            <a:r>
              <a:rPr lang="zh-CN" altLang="en-US" b="1" dirty="0"/>
              <a:t>信息质量</a:t>
            </a:r>
            <a:endParaRPr lang="en-US" altLang="zh-CN" b="1" dirty="0"/>
          </a:p>
          <a:p>
            <a:pPr lvl="2"/>
            <a:r>
              <a:rPr lang="zh-CN" altLang="en-US" dirty="0"/>
              <a:t>审计机构资质、审计意见，会计政策的个体差异</a:t>
            </a:r>
            <a:endParaRPr lang="en-US" altLang="zh-CN" dirty="0"/>
          </a:p>
          <a:p>
            <a:pPr lvl="2"/>
            <a:r>
              <a:rPr lang="zh-CN" altLang="en-US" dirty="0"/>
              <a:t>评级机构和募集说明书的评价差异</a:t>
            </a:r>
            <a:endParaRPr lang="en-US" altLang="zh-CN" dirty="0"/>
          </a:p>
          <a:p>
            <a:pPr lvl="2"/>
            <a:endParaRPr lang="zh-CN" altLang="en-US" dirty="0"/>
          </a:p>
          <a:p>
            <a:pPr lvl="1"/>
            <a:r>
              <a:rPr lang="zh-CN" altLang="en-US" b="1" dirty="0"/>
              <a:t>偿债意愿</a:t>
            </a:r>
            <a:endParaRPr lang="en-US" altLang="zh-CN" b="1" dirty="0"/>
          </a:p>
          <a:p>
            <a:pPr lvl="2"/>
            <a:r>
              <a:rPr lang="zh-CN" altLang="en-US" dirty="0"/>
              <a:t>管理层资质，经营价值观，审慎程度，商业模式</a:t>
            </a:r>
            <a:endParaRPr lang="en-US" altLang="zh-CN" dirty="0"/>
          </a:p>
          <a:p>
            <a:pPr lvl="2"/>
            <a:r>
              <a:rPr lang="zh-CN" altLang="en-US" dirty="0"/>
              <a:t>董事会，独立性如何（成员数量，主席特质，任命董事成员，独立董事成员）</a:t>
            </a:r>
            <a:endParaRPr lang="en-US" altLang="zh-CN" dirty="0"/>
          </a:p>
          <a:p>
            <a:pPr lvl="1"/>
            <a:endParaRPr lang="en-US" altLang="zh-CN" dirty="0"/>
          </a:p>
          <a:p>
            <a:pPr lvl="1"/>
            <a:r>
              <a:rPr lang="zh-CN" altLang="en-US" b="1" dirty="0"/>
              <a:t>偿债能力</a:t>
            </a:r>
            <a:r>
              <a:rPr lang="zh-CN" altLang="en-US" dirty="0"/>
              <a:t>：当前的现金流动性，当前和未来的盈利能力，体现为一系列财务指标</a:t>
            </a:r>
            <a:endParaRPr lang="en-US" altLang="zh-CN" dirty="0"/>
          </a:p>
          <a:p>
            <a:pPr lvl="1"/>
            <a:endParaRPr lang="en-US" altLang="zh-CN" dirty="0"/>
          </a:p>
          <a:p>
            <a:pPr lvl="1"/>
            <a:r>
              <a:rPr lang="zh-CN" altLang="en-US" b="1" dirty="0"/>
              <a:t>抵押变现：</a:t>
            </a:r>
            <a:r>
              <a:rPr lang="zh-CN" altLang="en-US" dirty="0"/>
              <a:t>在清算状况下，资产负债表中的资产变现价值</a:t>
            </a:r>
            <a:endParaRPr lang="en-US" altLang="zh-CN" dirty="0"/>
          </a:p>
          <a:p>
            <a:pPr lvl="2"/>
            <a:endParaRPr lang="en-US" altLang="zh-CN" dirty="0"/>
          </a:p>
          <a:p>
            <a:pPr lvl="1"/>
            <a:r>
              <a:rPr lang="zh-CN" altLang="en-US" b="1" dirty="0"/>
              <a:t>保护条款</a:t>
            </a:r>
            <a:r>
              <a:rPr lang="zh-CN" altLang="en-US" dirty="0"/>
              <a:t>：针对还款现金流的保障条款，优先偿还顺序等</a:t>
            </a:r>
            <a:endParaRPr lang="en-US" altLang="zh-CN" dirty="0"/>
          </a:p>
          <a:p>
            <a:pPr lvl="2"/>
            <a:endParaRPr lang="zh-CN" altLang="en-US" dirty="0"/>
          </a:p>
        </p:txBody>
      </p:sp>
    </p:spTree>
    <p:extLst>
      <p:ext uri="{BB962C8B-B14F-4D97-AF65-F5344CB8AC3E}">
        <p14:creationId xmlns:p14="http://schemas.microsoft.com/office/powerpoint/2010/main" val="36542828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标题 38">
            <a:extLst>
              <a:ext uri="{FF2B5EF4-FFF2-40B4-BE49-F238E27FC236}">
                <a16:creationId xmlns:a16="http://schemas.microsoft.com/office/drawing/2014/main" id="{5AC43D62-9ADE-484A-BA43-FF16023C4D65}"/>
              </a:ext>
            </a:extLst>
          </p:cNvPr>
          <p:cNvSpPr>
            <a:spLocks noGrp="1"/>
          </p:cNvSpPr>
          <p:nvPr>
            <p:ph type="title"/>
          </p:nvPr>
        </p:nvSpPr>
        <p:spPr/>
        <p:txBody>
          <a:bodyPr/>
          <a:lstStyle/>
          <a:p>
            <a:r>
              <a:rPr lang="zh-CN" altLang="en-US" dirty="0"/>
              <a:t>偿债指标</a:t>
            </a:r>
          </a:p>
        </p:txBody>
      </p:sp>
      <p:sp>
        <p:nvSpPr>
          <p:cNvPr id="40" name="内容占位符 39">
            <a:extLst>
              <a:ext uri="{FF2B5EF4-FFF2-40B4-BE49-F238E27FC236}">
                <a16:creationId xmlns:a16="http://schemas.microsoft.com/office/drawing/2014/main" id="{47C1EE2E-3FC6-49FD-9462-EBD0502963CF}"/>
              </a:ext>
            </a:extLst>
          </p:cNvPr>
          <p:cNvSpPr>
            <a:spLocks noGrp="1"/>
          </p:cNvSpPr>
          <p:nvPr>
            <p:ph sz="half" idx="1"/>
          </p:nvPr>
        </p:nvSpPr>
        <p:spPr>
          <a:xfrm>
            <a:off x="949497" y="1594172"/>
            <a:ext cx="8206506" cy="7873919"/>
          </a:xfrm>
        </p:spPr>
        <p:txBody>
          <a:bodyPr>
            <a:normAutofit lnSpcReduction="10000"/>
          </a:bodyPr>
          <a:lstStyle/>
          <a:p>
            <a:r>
              <a:rPr lang="zh-CN" altLang="en-US" dirty="0"/>
              <a:t>评估</a:t>
            </a:r>
            <a:r>
              <a:rPr lang="zh-CN" altLang="zh-CN" dirty="0"/>
              <a:t>财务风险的关键因素</a:t>
            </a:r>
            <a:r>
              <a:rPr lang="zh-CN" altLang="en-US" dirty="0"/>
              <a:t>，分为</a:t>
            </a:r>
            <a:r>
              <a:rPr lang="zh-CN" altLang="zh-CN" dirty="0"/>
              <a:t>短期偿债指标分析和长期偿债指标</a:t>
            </a:r>
            <a:endParaRPr lang="en-US" altLang="zh-CN" dirty="0"/>
          </a:p>
          <a:p>
            <a:r>
              <a:rPr lang="zh-CN" altLang="en-US" b="1" dirty="0"/>
              <a:t>短期债务指标</a:t>
            </a:r>
            <a:r>
              <a:rPr lang="zh-CN" altLang="en-US" dirty="0"/>
              <a:t>：</a:t>
            </a:r>
            <a:r>
              <a:rPr lang="zh-CN" altLang="zh-CN" dirty="0"/>
              <a:t>考察可变现资产对企业短期债务的保障程度</a:t>
            </a:r>
            <a:r>
              <a:rPr lang="zh-CN" altLang="en-US" dirty="0"/>
              <a:t>，理解融资用途</a:t>
            </a:r>
            <a:endParaRPr lang="en-US" altLang="zh-CN" dirty="0"/>
          </a:p>
          <a:p>
            <a:pPr lvl="1"/>
            <a:r>
              <a:rPr lang="zh-CN" altLang="zh-CN" dirty="0"/>
              <a:t>周转</a:t>
            </a:r>
            <a:r>
              <a:rPr lang="zh-CN" altLang="en-US" dirty="0"/>
              <a:t>，</a:t>
            </a:r>
            <a:r>
              <a:rPr lang="zh-CN" altLang="zh-CN" dirty="0"/>
              <a:t>短期可变现资产和经营性现金流入量对短期债务的保障程度</a:t>
            </a:r>
            <a:endParaRPr lang="en-US" altLang="zh-CN" dirty="0"/>
          </a:p>
          <a:p>
            <a:pPr lvl="1"/>
            <a:r>
              <a:rPr lang="zh-CN" altLang="zh-CN" dirty="0"/>
              <a:t>偿还</a:t>
            </a:r>
            <a:r>
              <a:rPr lang="zh-CN" altLang="en-US" dirty="0"/>
              <a:t>，</a:t>
            </a:r>
            <a:r>
              <a:rPr lang="zh-CN" altLang="zh-CN" dirty="0"/>
              <a:t>短期可变现资产和经营活动现金流净额对短期债务的保障程度</a:t>
            </a:r>
            <a:endParaRPr lang="en-US" altLang="zh-CN" dirty="0"/>
          </a:p>
          <a:p>
            <a:pPr lvl="1"/>
            <a:endParaRPr lang="en-US" altLang="zh-CN" dirty="0"/>
          </a:p>
          <a:p>
            <a:r>
              <a:rPr lang="zh-CN" altLang="en-US" b="1" dirty="0"/>
              <a:t>长期债务指标</a:t>
            </a:r>
            <a:r>
              <a:rPr lang="zh-CN" altLang="en-US" dirty="0"/>
              <a:t>：</a:t>
            </a:r>
            <a:r>
              <a:rPr lang="zh-CN" altLang="zh-CN" dirty="0"/>
              <a:t>长期偿债资金来源对于长期债务和利息的保障程度</a:t>
            </a:r>
            <a:endParaRPr lang="en-US" altLang="zh-CN" dirty="0"/>
          </a:p>
          <a:p>
            <a:pPr lvl="1"/>
            <a:r>
              <a:rPr lang="zh-CN" altLang="en-US" dirty="0"/>
              <a:t>长期偿债资金来源的行业差异性</a:t>
            </a:r>
            <a:endParaRPr lang="en-US" altLang="zh-CN" dirty="0"/>
          </a:p>
          <a:p>
            <a:pPr lvl="1"/>
            <a:r>
              <a:rPr lang="zh-CN" altLang="en-US" dirty="0"/>
              <a:t>行业周期中当期的经营净现金流量有局限性</a:t>
            </a:r>
            <a:endParaRPr lang="en-US" altLang="zh-CN" dirty="0"/>
          </a:p>
          <a:p>
            <a:pPr lvl="1"/>
            <a:r>
              <a:rPr lang="zh-CN" altLang="en-US" dirty="0"/>
              <a:t>行业折旧、受限经营期限等因素</a:t>
            </a:r>
            <a:endParaRPr lang="en-US" altLang="zh-CN" dirty="0"/>
          </a:p>
        </p:txBody>
      </p:sp>
      <p:grpSp>
        <p:nvGrpSpPr>
          <p:cNvPr id="42" name="iṧlîdé">
            <a:extLst>
              <a:ext uri="{FF2B5EF4-FFF2-40B4-BE49-F238E27FC236}">
                <a16:creationId xmlns:a16="http://schemas.microsoft.com/office/drawing/2014/main" id="{F22F7F60-3DB9-4E5E-94AC-1ABA302168B9}"/>
              </a:ext>
            </a:extLst>
          </p:cNvPr>
          <p:cNvGrpSpPr/>
          <p:nvPr/>
        </p:nvGrpSpPr>
        <p:grpSpPr>
          <a:xfrm>
            <a:off x="9544858" y="1596871"/>
            <a:ext cx="6498706" cy="4102165"/>
            <a:chOff x="1307644" y="1637908"/>
            <a:chExt cx="5368180" cy="4209679"/>
          </a:xfrm>
        </p:grpSpPr>
        <p:sp>
          <p:nvSpPr>
            <p:cNvPr id="43" name="ïṧľïḍe">
              <a:extLst>
                <a:ext uri="{FF2B5EF4-FFF2-40B4-BE49-F238E27FC236}">
                  <a16:creationId xmlns:a16="http://schemas.microsoft.com/office/drawing/2014/main" id="{B288BB93-EB84-40EE-BE58-5FFF879C3153}"/>
                </a:ext>
              </a:extLst>
            </p:cNvPr>
            <p:cNvSpPr>
              <a:spLocks/>
            </p:cNvSpPr>
            <p:nvPr/>
          </p:nvSpPr>
          <p:spPr bwMode="auto">
            <a:xfrm>
              <a:off x="1307644" y="1637908"/>
              <a:ext cx="5368180" cy="1880490"/>
            </a:xfrm>
            <a:custGeom>
              <a:avLst/>
              <a:gdLst/>
              <a:ahLst/>
              <a:cxnLst>
                <a:cxn ang="0">
                  <a:pos x="1599" y="0"/>
                </a:cxn>
                <a:cxn ang="0">
                  <a:pos x="1434" y="28"/>
                </a:cxn>
                <a:cxn ang="0">
                  <a:pos x="1470" y="71"/>
                </a:cxn>
                <a:cxn ang="0">
                  <a:pos x="1202" y="291"/>
                </a:cxn>
                <a:cxn ang="0">
                  <a:pos x="842" y="164"/>
                </a:cxn>
                <a:cxn ang="0">
                  <a:pos x="842" y="164"/>
                </a:cxn>
                <a:cxn ang="0">
                  <a:pos x="842" y="164"/>
                </a:cxn>
                <a:cxn ang="0">
                  <a:pos x="842" y="164"/>
                </a:cxn>
                <a:cxn ang="0">
                  <a:pos x="840" y="163"/>
                </a:cxn>
                <a:cxn ang="0">
                  <a:pos x="839" y="163"/>
                </a:cxn>
                <a:cxn ang="0">
                  <a:pos x="837" y="163"/>
                </a:cxn>
                <a:cxn ang="0">
                  <a:pos x="836" y="163"/>
                </a:cxn>
                <a:cxn ang="0">
                  <a:pos x="834" y="163"/>
                </a:cxn>
                <a:cxn ang="0">
                  <a:pos x="834" y="163"/>
                </a:cxn>
                <a:cxn ang="0">
                  <a:pos x="833" y="163"/>
                </a:cxn>
                <a:cxn ang="0">
                  <a:pos x="833" y="163"/>
                </a:cxn>
                <a:cxn ang="0">
                  <a:pos x="833" y="163"/>
                </a:cxn>
                <a:cxn ang="0">
                  <a:pos x="831" y="163"/>
                </a:cxn>
                <a:cxn ang="0">
                  <a:pos x="830" y="163"/>
                </a:cxn>
                <a:cxn ang="0">
                  <a:pos x="829" y="163"/>
                </a:cxn>
                <a:cxn ang="0">
                  <a:pos x="828" y="163"/>
                </a:cxn>
                <a:cxn ang="0">
                  <a:pos x="826" y="163"/>
                </a:cxn>
                <a:cxn ang="0">
                  <a:pos x="825" y="164"/>
                </a:cxn>
                <a:cxn ang="0">
                  <a:pos x="823" y="164"/>
                </a:cxn>
                <a:cxn ang="0">
                  <a:pos x="822" y="165"/>
                </a:cxn>
                <a:cxn ang="0">
                  <a:pos x="821" y="165"/>
                </a:cxn>
                <a:cxn ang="0">
                  <a:pos x="20" y="541"/>
                </a:cxn>
                <a:cxn ang="0">
                  <a:pos x="7" y="579"/>
                </a:cxn>
                <a:cxn ang="0">
                  <a:pos x="32" y="595"/>
                </a:cxn>
                <a:cxn ang="0">
                  <a:pos x="44" y="592"/>
                </a:cxn>
                <a:cxn ang="0">
                  <a:pos x="834" y="221"/>
                </a:cxn>
                <a:cxn ang="0">
                  <a:pos x="1199" y="349"/>
                </a:cxn>
                <a:cxn ang="0">
                  <a:pos x="1199" y="349"/>
                </a:cxn>
                <a:cxn ang="0">
                  <a:pos x="1203" y="350"/>
                </a:cxn>
                <a:cxn ang="0">
                  <a:pos x="1204" y="350"/>
                </a:cxn>
                <a:cxn ang="0">
                  <a:pos x="1208" y="350"/>
                </a:cxn>
                <a:cxn ang="0">
                  <a:pos x="1208" y="350"/>
                </a:cxn>
                <a:cxn ang="0">
                  <a:pos x="1213" y="350"/>
                </a:cxn>
                <a:cxn ang="0">
                  <a:pos x="1214" y="350"/>
                </a:cxn>
                <a:cxn ang="0">
                  <a:pos x="1217" y="349"/>
                </a:cxn>
                <a:cxn ang="0">
                  <a:pos x="1219" y="348"/>
                </a:cxn>
                <a:cxn ang="0">
                  <a:pos x="1221" y="347"/>
                </a:cxn>
                <a:cxn ang="0">
                  <a:pos x="1223" y="346"/>
                </a:cxn>
                <a:cxn ang="0">
                  <a:pos x="1225" y="345"/>
                </a:cxn>
                <a:cxn ang="0">
                  <a:pos x="1226" y="344"/>
                </a:cxn>
                <a:cxn ang="0">
                  <a:pos x="1505" y="114"/>
                </a:cxn>
                <a:cxn ang="0">
                  <a:pos x="1540" y="157"/>
                </a:cxn>
                <a:cxn ang="0">
                  <a:pos x="1599" y="0"/>
                </a:cxn>
              </a:cxnLst>
              <a:rect l="0" t="0" r="r" b="b"/>
              <a:pathLst>
                <a:path w="1599" h="595">
                  <a:moveTo>
                    <a:pt x="1599" y="0"/>
                  </a:moveTo>
                  <a:cubicBezTo>
                    <a:pt x="1434" y="28"/>
                    <a:pt x="1434" y="28"/>
                    <a:pt x="1434" y="28"/>
                  </a:cubicBezTo>
                  <a:cubicBezTo>
                    <a:pt x="1470" y="71"/>
                    <a:pt x="1470" y="71"/>
                    <a:pt x="1470" y="71"/>
                  </a:cubicBezTo>
                  <a:cubicBezTo>
                    <a:pt x="1202" y="291"/>
                    <a:pt x="1202" y="291"/>
                    <a:pt x="1202" y="291"/>
                  </a:cubicBezTo>
                  <a:cubicBezTo>
                    <a:pt x="842" y="164"/>
                    <a:pt x="842" y="164"/>
                    <a:pt x="842" y="164"/>
                  </a:cubicBezTo>
                  <a:cubicBezTo>
                    <a:pt x="842" y="164"/>
                    <a:pt x="842" y="164"/>
                    <a:pt x="842" y="164"/>
                  </a:cubicBezTo>
                  <a:cubicBezTo>
                    <a:pt x="842" y="164"/>
                    <a:pt x="842" y="164"/>
                    <a:pt x="842" y="164"/>
                  </a:cubicBezTo>
                  <a:cubicBezTo>
                    <a:pt x="842" y="164"/>
                    <a:pt x="842" y="164"/>
                    <a:pt x="842" y="164"/>
                  </a:cubicBezTo>
                  <a:cubicBezTo>
                    <a:pt x="841" y="164"/>
                    <a:pt x="840" y="164"/>
                    <a:pt x="840" y="163"/>
                  </a:cubicBezTo>
                  <a:cubicBezTo>
                    <a:pt x="839" y="163"/>
                    <a:pt x="839" y="163"/>
                    <a:pt x="839" y="163"/>
                  </a:cubicBezTo>
                  <a:cubicBezTo>
                    <a:pt x="838" y="163"/>
                    <a:pt x="837" y="163"/>
                    <a:pt x="837" y="163"/>
                  </a:cubicBezTo>
                  <a:cubicBezTo>
                    <a:pt x="837" y="163"/>
                    <a:pt x="836" y="163"/>
                    <a:pt x="836" y="163"/>
                  </a:cubicBezTo>
                  <a:cubicBezTo>
                    <a:pt x="835" y="163"/>
                    <a:pt x="835" y="163"/>
                    <a:pt x="834" y="163"/>
                  </a:cubicBezTo>
                  <a:cubicBezTo>
                    <a:pt x="834" y="163"/>
                    <a:pt x="834" y="163"/>
                    <a:pt x="834" y="163"/>
                  </a:cubicBezTo>
                  <a:cubicBezTo>
                    <a:pt x="833" y="163"/>
                    <a:pt x="833" y="163"/>
                    <a:pt x="833" y="163"/>
                  </a:cubicBezTo>
                  <a:cubicBezTo>
                    <a:pt x="833" y="163"/>
                    <a:pt x="833" y="163"/>
                    <a:pt x="833" y="163"/>
                  </a:cubicBezTo>
                  <a:cubicBezTo>
                    <a:pt x="833" y="163"/>
                    <a:pt x="833" y="163"/>
                    <a:pt x="833" y="163"/>
                  </a:cubicBezTo>
                  <a:cubicBezTo>
                    <a:pt x="832" y="163"/>
                    <a:pt x="832" y="163"/>
                    <a:pt x="831" y="163"/>
                  </a:cubicBezTo>
                  <a:cubicBezTo>
                    <a:pt x="831" y="163"/>
                    <a:pt x="831" y="163"/>
                    <a:pt x="830" y="163"/>
                  </a:cubicBezTo>
                  <a:cubicBezTo>
                    <a:pt x="830" y="163"/>
                    <a:pt x="829" y="163"/>
                    <a:pt x="829" y="163"/>
                  </a:cubicBezTo>
                  <a:cubicBezTo>
                    <a:pt x="828" y="163"/>
                    <a:pt x="828" y="163"/>
                    <a:pt x="828" y="163"/>
                  </a:cubicBezTo>
                  <a:cubicBezTo>
                    <a:pt x="827" y="163"/>
                    <a:pt x="827" y="163"/>
                    <a:pt x="826" y="163"/>
                  </a:cubicBezTo>
                  <a:cubicBezTo>
                    <a:pt x="825" y="164"/>
                    <a:pt x="825" y="164"/>
                    <a:pt x="825" y="164"/>
                  </a:cubicBezTo>
                  <a:cubicBezTo>
                    <a:pt x="824" y="164"/>
                    <a:pt x="824" y="164"/>
                    <a:pt x="823" y="164"/>
                  </a:cubicBezTo>
                  <a:cubicBezTo>
                    <a:pt x="823" y="164"/>
                    <a:pt x="823" y="165"/>
                    <a:pt x="822" y="165"/>
                  </a:cubicBezTo>
                  <a:cubicBezTo>
                    <a:pt x="822" y="165"/>
                    <a:pt x="821" y="165"/>
                    <a:pt x="821" y="165"/>
                  </a:cubicBezTo>
                  <a:cubicBezTo>
                    <a:pt x="20" y="541"/>
                    <a:pt x="20" y="541"/>
                    <a:pt x="20" y="541"/>
                  </a:cubicBezTo>
                  <a:cubicBezTo>
                    <a:pt x="6" y="548"/>
                    <a:pt x="0" y="565"/>
                    <a:pt x="7" y="579"/>
                  </a:cubicBezTo>
                  <a:cubicBezTo>
                    <a:pt x="11" y="589"/>
                    <a:pt x="22" y="595"/>
                    <a:pt x="32" y="595"/>
                  </a:cubicBezTo>
                  <a:cubicBezTo>
                    <a:pt x="36" y="595"/>
                    <a:pt x="40" y="594"/>
                    <a:pt x="44" y="592"/>
                  </a:cubicBezTo>
                  <a:cubicBezTo>
                    <a:pt x="834" y="221"/>
                    <a:pt x="834" y="221"/>
                    <a:pt x="834" y="221"/>
                  </a:cubicBezTo>
                  <a:cubicBezTo>
                    <a:pt x="1199" y="349"/>
                    <a:pt x="1199" y="349"/>
                    <a:pt x="1199" y="349"/>
                  </a:cubicBezTo>
                  <a:cubicBezTo>
                    <a:pt x="1199" y="349"/>
                    <a:pt x="1199" y="349"/>
                    <a:pt x="1199" y="349"/>
                  </a:cubicBezTo>
                  <a:cubicBezTo>
                    <a:pt x="1200" y="349"/>
                    <a:pt x="1202" y="350"/>
                    <a:pt x="1203" y="350"/>
                  </a:cubicBezTo>
                  <a:cubicBezTo>
                    <a:pt x="1204" y="350"/>
                    <a:pt x="1204" y="350"/>
                    <a:pt x="1204" y="350"/>
                  </a:cubicBezTo>
                  <a:cubicBezTo>
                    <a:pt x="1205" y="350"/>
                    <a:pt x="1206" y="350"/>
                    <a:pt x="1208" y="350"/>
                  </a:cubicBezTo>
                  <a:cubicBezTo>
                    <a:pt x="1208" y="350"/>
                    <a:pt x="1208" y="350"/>
                    <a:pt x="1208" y="350"/>
                  </a:cubicBezTo>
                  <a:cubicBezTo>
                    <a:pt x="1210" y="350"/>
                    <a:pt x="1211" y="350"/>
                    <a:pt x="1213" y="350"/>
                  </a:cubicBezTo>
                  <a:cubicBezTo>
                    <a:pt x="1213" y="350"/>
                    <a:pt x="1213" y="350"/>
                    <a:pt x="1214" y="350"/>
                  </a:cubicBezTo>
                  <a:cubicBezTo>
                    <a:pt x="1215" y="350"/>
                    <a:pt x="1216" y="349"/>
                    <a:pt x="1217" y="349"/>
                  </a:cubicBezTo>
                  <a:cubicBezTo>
                    <a:pt x="1217" y="349"/>
                    <a:pt x="1218" y="349"/>
                    <a:pt x="1219" y="348"/>
                  </a:cubicBezTo>
                  <a:cubicBezTo>
                    <a:pt x="1219" y="348"/>
                    <a:pt x="1220" y="348"/>
                    <a:pt x="1221" y="347"/>
                  </a:cubicBezTo>
                  <a:cubicBezTo>
                    <a:pt x="1222" y="347"/>
                    <a:pt x="1222" y="347"/>
                    <a:pt x="1223" y="346"/>
                  </a:cubicBezTo>
                  <a:cubicBezTo>
                    <a:pt x="1223" y="346"/>
                    <a:pt x="1224" y="345"/>
                    <a:pt x="1225" y="345"/>
                  </a:cubicBezTo>
                  <a:cubicBezTo>
                    <a:pt x="1226" y="344"/>
                    <a:pt x="1226" y="344"/>
                    <a:pt x="1226" y="344"/>
                  </a:cubicBezTo>
                  <a:cubicBezTo>
                    <a:pt x="1505" y="114"/>
                    <a:pt x="1505" y="114"/>
                    <a:pt x="1505" y="114"/>
                  </a:cubicBezTo>
                  <a:cubicBezTo>
                    <a:pt x="1540" y="157"/>
                    <a:pt x="1540" y="157"/>
                    <a:pt x="1540" y="157"/>
                  </a:cubicBezTo>
                  <a:cubicBezTo>
                    <a:pt x="1599" y="0"/>
                    <a:pt x="1599" y="0"/>
                    <a:pt x="1599" y="0"/>
                  </a:cubicBezTo>
                </a:path>
              </a:pathLst>
            </a:custGeom>
            <a:solidFill>
              <a:schemeClr val="bg1">
                <a:lumMod val="65000"/>
              </a:schemeClr>
            </a:solidFill>
            <a:ln w="9525">
              <a:noFill/>
              <a:round/>
              <a:headEnd/>
              <a:tailEnd/>
            </a:ln>
          </p:spPr>
          <p:txBody>
            <a:bodyPr anchor="ctr"/>
            <a:lstStyle/>
            <a:p>
              <a:pPr algn="ctr"/>
              <a:endParaRPr sz="2400" dirty="0"/>
            </a:p>
          </p:txBody>
        </p:sp>
        <p:sp>
          <p:nvSpPr>
            <p:cNvPr id="44" name="iṥļîḑè">
              <a:extLst>
                <a:ext uri="{FF2B5EF4-FFF2-40B4-BE49-F238E27FC236}">
                  <a16:creationId xmlns:a16="http://schemas.microsoft.com/office/drawing/2014/main" id="{995504B9-B111-4AD7-8A3D-5E1DC89A8643}"/>
                </a:ext>
              </a:extLst>
            </p:cNvPr>
            <p:cNvSpPr>
              <a:spLocks/>
            </p:cNvSpPr>
            <p:nvPr/>
          </p:nvSpPr>
          <p:spPr bwMode="auto">
            <a:xfrm>
              <a:off x="1398895" y="3384483"/>
              <a:ext cx="831414" cy="2463104"/>
            </a:xfrm>
            <a:custGeom>
              <a:avLst/>
              <a:gdLst/>
              <a:ahLst/>
              <a:cxnLst>
                <a:cxn ang="0">
                  <a:pos x="0" y="174"/>
                </a:cxn>
                <a:cxn ang="0">
                  <a:pos x="0" y="1159"/>
                </a:cxn>
                <a:cxn ang="0">
                  <a:pos x="372" y="1159"/>
                </a:cxn>
                <a:cxn ang="0">
                  <a:pos x="372" y="0"/>
                </a:cxn>
                <a:cxn ang="0">
                  <a:pos x="0" y="174"/>
                </a:cxn>
              </a:cxnLst>
              <a:rect l="0" t="0" r="r" b="b"/>
              <a:pathLst>
                <a:path w="372" h="1159">
                  <a:moveTo>
                    <a:pt x="0" y="174"/>
                  </a:moveTo>
                  <a:lnTo>
                    <a:pt x="0" y="1159"/>
                  </a:lnTo>
                  <a:lnTo>
                    <a:pt x="372" y="1159"/>
                  </a:lnTo>
                  <a:lnTo>
                    <a:pt x="372" y="0"/>
                  </a:lnTo>
                  <a:lnTo>
                    <a:pt x="0" y="174"/>
                  </a:lnTo>
                  <a:close/>
                </a:path>
              </a:pathLst>
            </a:custGeom>
            <a:solidFill>
              <a:schemeClr val="accent1"/>
            </a:solidFill>
            <a:ln w="9525">
              <a:noFill/>
              <a:round/>
              <a:headEnd/>
              <a:tailEnd/>
            </a:ln>
          </p:spPr>
          <p:txBody>
            <a:bodyPr anchor="ctr"/>
            <a:lstStyle/>
            <a:p>
              <a:pPr algn="ctr"/>
              <a:endParaRPr sz="2400" dirty="0"/>
            </a:p>
          </p:txBody>
        </p:sp>
        <p:sp>
          <p:nvSpPr>
            <p:cNvPr id="45" name="ïṡľíḓè">
              <a:extLst>
                <a:ext uri="{FF2B5EF4-FFF2-40B4-BE49-F238E27FC236}">
                  <a16:creationId xmlns:a16="http://schemas.microsoft.com/office/drawing/2014/main" id="{F12DA93E-4FE9-4579-A9E8-C0889DD0C913}"/>
                </a:ext>
              </a:extLst>
            </p:cNvPr>
            <p:cNvSpPr>
              <a:spLocks/>
            </p:cNvSpPr>
            <p:nvPr/>
          </p:nvSpPr>
          <p:spPr bwMode="auto">
            <a:xfrm>
              <a:off x="2453807" y="2910563"/>
              <a:ext cx="831414" cy="2937023"/>
            </a:xfrm>
            <a:custGeom>
              <a:avLst/>
              <a:gdLst/>
              <a:ahLst/>
              <a:cxnLst>
                <a:cxn ang="0">
                  <a:pos x="0" y="175"/>
                </a:cxn>
                <a:cxn ang="0">
                  <a:pos x="0" y="1382"/>
                </a:cxn>
                <a:cxn ang="0">
                  <a:pos x="372" y="1382"/>
                </a:cxn>
                <a:cxn ang="0">
                  <a:pos x="372" y="0"/>
                </a:cxn>
                <a:cxn ang="0">
                  <a:pos x="0" y="175"/>
                </a:cxn>
              </a:cxnLst>
              <a:rect l="0" t="0" r="r" b="b"/>
              <a:pathLst>
                <a:path w="372" h="1382">
                  <a:moveTo>
                    <a:pt x="0" y="175"/>
                  </a:moveTo>
                  <a:lnTo>
                    <a:pt x="0" y="1382"/>
                  </a:lnTo>
                  <a:lnTo>
                    <a:pt x="372" y="1382"/>
                  </a:lnTo>
                  <a:lnTo>
                    <a:pt x="372" y="0"/>
                  </a:lnTo>
                  <a:lnTo>
                    <a:pt x="0" y="175"/>
                  </a:lnTo>
                  <a:close/>
                </a:path>
              </a:pathLst>
            </a:custGeom>
            <a:solidFill>
              <a:schemeClr val="accent2"/>
            </a:solidFill>
            <a:ln w="9525">
              <a:noFill/>
              <a:round/>
              <a:headEnd/>
              <a:tailEnd/>
            </a:ln>
          </p:spPr>
          <p:txBody>
            <a:bodyPr anchor="ctr"/>
            <a:lstStyle/>
            <a:p>
              <a:pPr algn="ctr"/>
              <a:endParaRPr sz="2400"/>
            </a:p>
          </p:txBody>
        </p:sp>
        <p:sp>
          <p:nvSpPr>
            <p:cNvPr id="46" name="iŝļïḋè">
              <a:extLst>
                <a:ext uri="{FF2B5EF4-FFF2-40B4-BE49-F238E27FC236}">
                  <a16:creationId xmlns:a16="http://schemas.microsoft.com/office/drawing/2014/main" id="{1194394E-DA05-4EC0-BC1B-1B4A02A30ED9}"/>
                </a:ext>
              </a:extLst>
            </p:cNvPr>
            <p:cNvSpPr>
              <a:spLocks/>
            </p:cNvSpPr>
            <p:nvPr/>
          </p:nvSpPr>
          <p:spPr bwMode="auto">
            <a:xfrm>
              <a:off x="2453807" y="2910563"/>
              <a:ext cx="831414" cy="2937023"/>
            </a:xfrm>
            <a:custGeom>
              <a:avLst/>
              <a:gdLst/>
              <a:ahLst/>
              <a:cxnLst>
                <a:cxn ang="0">
                  <a:pos x="0" y="175"/>
                </a:cxn>
                <a:cxn ang="0">
                  <a:pos x="0" y="1382"/>
                </a:cxn>
                <a:cxn ang="0">
                  <a:pos x="372" y="1382"/>
                </a:cxn>
                <a:cxn ang="0">
                  <a:pos x="372" y="0"/>
                </a:cxn>
                <a:cxn ang="0">
                  <a:pos x="0" y="175"/>
                </a:cxn>
              </a:cxnLst>
              <a:rect l="0" t="0" r="r" b="b"/>
              <a:pathLst>
                <a:path w="372" h="1382">
                  <a:moveTo>
                    <a:pt x="0" y="175"/>
                  </a:moveTo>
                  <a:lnTo>
                    <a:pt x="0" y="1382"/>
                  </a:lnTo>
                  <a:lnTo>
                    <a:pt x="372" y="1382"/>
                  </a:lnTo>
                  <a:lnTo>
                    <a:pt x="372" y="0"/>
                  </a:lnTo>
                  <a:lnTo>
                    <a:pt x="0" y="175"/>
                  </a:lnTo>
                </a:path>
              </a:pathLst>
            </a:custGeom>
            <a:noFill/>
            <a:ln w="9525">
              <a:noFill/>
              <a:round/>
              <a:headEnd/>
              <a:tailEnd/>
            </a:ln>
          </p:spPr>
          <p:txBody>
            <a:bodyPr anchor="ctr"/>
            <a:lstStyle/>
            <a:p>
              <a:pPr algn="ctr"/>
              <a:endParaRPr sz="2400"/>
            </a:p>
          </p:txBody>
        </p:sp>
        <p:sp>
          <p:nvSpPr>
            <p:cNvPr id="47" name="îṥ1ïḋé">
              <a:extLst>
                <a:ext uri="{FF2B5EF4-FFF2-40B4-BE49-F238E27FC236}">
                  <a16:creationId xmlns:a16="http://schemas.microsoft.com/office/drawing/2014/main" id="{6B753C22-2ABE-4311-984E-7BD8B3A32A33}"/>
                </a:ext>
              </a:extLst>
            </p:cNvPr>
            <p:cNvSpPr>
              <a:spLocks/>
            </p:cNvSpPr>
            <p:nvPr/>
          </p:nvSpPr>
          <p:spPr bwMode="auto">
            <a:xfrm>
              <a:off x="3510956" y="2536528"/>
              <a:ext cx="831414" cy="3311057"/>
            </a:xfrm>
            <a:custGeom>
              <a:avLst/>
              <a:gdLst/>
              <a:ahLst/>
              <a:cxnLst>
                <a:cxn ang="0">
                  <a:pos x="275" y="0"/>
                </a:cxn>
                <a:cxn ang="0">
                  <a:pos x="0" y="129"/>
                </a:cxn>
                <a:cxn ang="0">
                  <a:pos x="0" y="1558"/>
                </a:cxn>
                <a:cxn ang="0">
                  <a:pos x="372" y="1558"/>
                </a:cxn>
                <a:cxn ang="0">
                  <a:pos x="372" y="33"/>
                </a:cxn>
                <a:cxn ang="0">
                  <a:pos x="275" y="0"/>
                </a:cxn>
              </a:cxnLst>
              <a:rect l="0" t="0" r="r" b="b"/>
              <a:pathLst>
                <a:path w="372" h="1558">
                  <a:moveTo>
                    <a:pt x="275" y="0"/>
                  </a:moveTo>
                  <a:lnTo>
                    <a:pt x="0" y="129"/>
                  </a:lnTo>
                  <a:lnTo>
                    <a:pt x="0" y="1558"/>
                  </a:lnTo>
                  <a:lnTo>
                    <a:pt x="372" y="1558"/>
                  </a:lnTo>
                  <a:lnTo>
                    <a:pt x="372" y="33"/>
                  </a:lnTo>
                  <a:lnTo>
                    <a:pt x="275" y="0"/>
                  </a:lnTo>
                  <a:close/>
                </a:path>
              </a:pathLst>
            </a:custGeom>
            <a:solidFill>
              <a:schemeClr val="accent3"/>
            </a:solidFill>
            <a:ln w="9525">
              <a:noFill/>
              <a:round/>
              <a:headEnd/>
              <a:tailEnd/>
            </a:ln>
          </p:spPr>
          <p:txBody>
            <a:bodyPr anchor="ctr"/>
            <a:lstStyle/>
            <a:p>
              <a:pPr algn="ctr"/>
              <a:endParaRPr sz="2400"/>
            </a:p>
          </p:txBody>
        </p:sp>
        <p:sp>
          <p:nvSpPr>
            <p:cNvPr id="48" name="íṧḷîḓè">
              <a:extLst>
                <a:ext uri="{FF2B5EF4-FFF2-40B4-BE49-F238E27FC236}">
                  <a16:creationId xmlns:a16="http://schemas.microsoft.com/office/drawing/2014/main" id="{ED1F3ADE-2813-4DE2-84EE-64164FAC6D2A}"/>
                </a:ext>
              </a:extLst>
            </p:cNvPr>
            <p:cNvSpPr>
              <a:spLocks/>
            </p:cNvSpPr>
            <p:nvPr/>
          </p:nvSpPr>
          <p:spPr bwMode="auto">
            <a:xfrm>
              <a:off x="3510956" y="2536528"/>
              <a:ext cx="831414" cy="3311057"/>
            </a:xfrm>
            <a:custGeom>
              <a:avLst/>
              <a:gdLst/>
              <a:ahLst/>
              <a:cxnLst>
                <a:cxn ang="0">
                  <a:pos x="275" y="0"/>
                </a:cxn>
                <a:cxn ang="0">
                  <a:pos x="0" y="129"/>
                </a:cxn>
                <a:cxn ang="0">
                  <a:pos x="0" y="1558"/>
                </a:cxn>
                <a:cxn ang="0">
                  <a:pos x="372" y="1558"/>
                </a:cxn>
                <a:cxn ang="0">
                  <a:pos x="372" y="33"/>
                </a:cxn>
                <a:cxn ang="0">
                  <a:pos x="275" y="0"/>
                </a:cxn>
              </a:cxnLst>
              <a:rect l="0" t="0" r="r" b="b"/>
              <a:pathLst>
                <a:path w="372" h="1558">
                  <a:moveTo>
                    <a:pt x="275" y="0"/>
                  </a:moveTo>
                  <a:lnTo>
                    <a:pt x="0" y="129"/>
                  </a:lnTo>
                  <a:lnTo>
                    <a:pt x="0" y="1558"/>
                  </a:lnTo>
                  <a:lnTo>
                    <a:pt x="372" y="1558"/>
                  </a:lnTo>
                  <a:lnTo>
                    <a:pt x="372" y="33"/>
                  </a:lnTo>
                  <a:lnTo>
                    <a:pt x="275" y="0"/>
                  </a:lnTo>
                </a:path>
              </a:pathLst>
            </a:custGeom>
            <a:noFill/>
            <a:ln w="9525">
              <a:noFill/>
              <a:round/>
              <a:headEnd/>
              <a:tailEnd/>
            </a:ln>
          </p:spPr>
          <p:txBody>
            <a:bodyPr anchor="ctr"/>
            <a:lstStyle/>
            <a:p>
              <a:pPr algn="ctr"/>
              <a:endParaRPr sz="2400"/>
            </a:p>
          </p:txBody>
        </p:sp>
        <p:sp>
          <p:nvSpPr>
            <p:cNvPr id="49" name="îśľíde">
              <a:extLst>
                <a:ext uri="{FF2B5EF4-FFF2-40B4-BE49-F238E27FC236}">
                  <a16:creationId xmlns:a16="http://schemas.microsoft.com/office/drawing/2014/main" id="{DCDDFBF3-1A10-4658-9D0F-A28149443145}"/>
                </a:ext>
              </a:extLst>
            </p:cNvPr>
            <p:cNvSpPr>
              <a:spLocks/>
            </p:cNvSpPr>
            <p:nvPr/>
          </p:nvSpPr>
          <p:spPr bwMode="auto">
            <a:xfrm>
              <a:off x="4563632" y="2683168"/>
              <a:ext cx="831414" cy="3164419"/>
            </a:xfrm>
            <a:custGeom>
              <a:avLst/>
              <a:gdLst/>
              <a:ahLst/>
              <a:cxnLst>
                <a:cxn ang="0">
                  <a:pos x="0" y="0"/>
                </a:cxn>
                <a:cxn ang="0">
                  <a:pos x="0" y="1489"/>
                </a:cxn>
                <a:cxn ang="0">
                  <a:pos x="372" y="1489"/>
                </a:cxn>
                <a:cxn ang="0">
                  <a:pos x="372" y="130"/>
                </a:cxn>
                <a:cxn ang="0">
                  <a:pos x="0" y="0"/>
                </a:cxn>
              </a:cxnLst>
              <a:rect l="0" t="0" r="r" b="b"/>
              <a:pathLst>
                <a:path w="372" h="1489">
                  <a:moveTo>
                    <a:pt x="0" y="0"/>
                  </a:moveTo>
                  <a:lnTo>
                    <a:pt x="0" y="1489"/>
                  </a:lnTo>
                  <a:lnTo>
                    <a:pt x="372" y="1489"/>
                  </a:lnTo>
                  <a:lnTo>
                    <a:pt x="372" y="130"/>
                  </a:lnTo>
                  <a:lnTo>
                    <a:pt x="0" y="0"/>
                  </a:lnTo>
                  <a:close/>
                </a:path>
              </a:pathLst>
            </a:custGeom>
            <a:solidFill>
              <a:schemeClr val="accent4"/>
            </a:solidFill>
            <a:ln w="9525">
              <a:noFill/>
              <a:round/>
              <a:headEnd/>
              <a:tailEnd/>
            </a:ln>
          </p:spPr>
          <p:txBody>
            <a:bodyPr anchor="ctr"/>
            <a:lstStyle/>
            <a:p>
              <a:pPr algn="ctr"/>
              <a:endParaRPr sz="2400"/>
            </a:p>
          </p:txBody>
        </p:sp>
        <p:sp>
          <p:nvSpPr>
            <p:cNvPr id="50" name="îŝḻíḍê">
              <a:extLst>
                <a:ext uri="{FF2B5EF4-FFF2-40B4-BE49-F238E27FC236}">
                  <a16:creationId xmlns:a16="http://schemas.microsoft.com/office/drawing/2014/main" id="{A1F91261-78A9-4B0F-95B3-99752EA57B5B}"/>
                </a:ext>
              </a:extLst>
            </p:cNvPr>
            <p:cNvSpPr>
              <a:spLocks/>
            </p:cNvSpPr>
            <p:nvPr/>
          </p:nvSpPr>
          <p:spPr bwMode="auto">
            <a:xfrm>
              <a:off x="4563632" y="2683168"/>
              <a:ext cx="831414" cy="3164419"/>
            </a:xfrm>
            <a:custGeom>
              <a:avLst/>
              <a:gdLst/>
              <a:ahLst/>
              <a:cxnLst>
                <a:cxn ang="0">
                  <a:pos x="0" y="0"/>
                </a:cxn>
                <a:cxn ang="0">
                  <a:pos x="0" y="1489"/>
                </a:cxn>
                <a:cxn ang="0">
                  <a:pos x="372" y="1489"/>
                </a:cxn>
                <a:cxn ang="0">
                  <a:pos x="372" y="130"/>
                </a:cxn>
                <a:cxn ang="0">
                  <a:pos x="0" y="0"/>
                </a:cxn>
              </a:cxnLst>
              <a:rect l="0" t="0" r="r" b="b"/>
              <a:pathLst>
                <a:path w="372" h="1489">
                  <a:moveTo>
                    <a:pt x="0" y="0"/>
                  </a:moveTo>
                  <a:lnTo>
                    <a:pt x="0" y="1489"/>
                  </a:lnTo>
                  <a:lnTo>
                    <a:pt x="372" y="1489"/>
                  </a:lnTo>
                  <a:lnTo>
                    <a:pt x="372" y="130"/>
                  </a:lnTo>
                  <a:lnTo>
                    <a:pt x="0" y="0"/>
                  </a:lnTo>
                </a:path>
              </a:pathLst>
            </a:custGeom>
            <a:noFill/>
            <a:ln w="9525">
              <a:noFill/>
              <a:round/>
              <a:headEnd/>
              <a:tailEnd/>
            </a:ln>
          </p:spPr>
          <p:txBody>
            <a:bodyPr anchor="ctr"/>
            <a:lstStyle/>
            <a:p>
              <a:pPr algn="ctr"/>
              <a:endParaRPr sz="2400"/>
            </a:p>
          </p:txBody>
        </p:sp>
        <p:sp>
          <p:nvSpPr>
            <p:cNvPr id="51" name="îŝļîḍè">
              <a:extLst>
                <a:ext uri="{FF2B5EF4-FFF2-40B4-BE49-F238E27FC236}">
                  <a16:creationId xmlns:a16="http://schemas.microsoft.com/office/drawing/2014/main" id="{97CD49CC-C568-480B-84F5-08627BC33CB5}"/>
                </a:ext>
              </a:extLst>
            </p:cNvPr>
            <p:cNvSpPr>
              <a:spLocks/>
            </p:cNvSpPr>
            <p:nvPr/>
          </p:nvSpPr>
          <p:spPr bwMode="auto">
            <a:xfrm>
              <a:off x="5618545" y="2385640"/>
              <a:ext cx="831414" cy="3461946"/>
            </a:xfrm>
            <a:custGeom>
              <a:avLst/>
              <a:gdLst/>
              <a:ahLst/>
              <a:cxnLst>
                <a:cxn ang="0">
                  <a:pos x="13" y="163"/>
                </a:cxn>
                <a:cxn ang="0">
                  <a:pos x="12" y="164"/>
                </a:cxn>
                <a:cxn ang="0">
                  <a:pos x="10" y="165"/>
                </a:cxn>
                <a:cxn ang="0">
                  <a:pos x="8" y="166"/>
                </a:cxn>
                <a:cxn ang="0">
                  <a:pos x="6" y="167"/>
                </a:cxn>
                <a:cxn ang="0">
                  <a:pos x="4" y="168"/>
                </a:cxn>
                <a:cxn ang="0">
                  <a:pos x="1" y="169"/>
                </a:cxn>
                <a:cxn ang="0">
                  <a:pos x="0" y="169"/>
                </a:cxn>
                <a:cxn ang="0">
                  <a:pos x="0" y="923"/>
                </a:cxn>
                <a:cxn ang="0">
                  <a:pos x="211" y="923"/>
                </a:cxn>
                <a:cxn ang="0">
                  <a:pos x="211" y="0"/>
                </a:cxn>
                <a:cxn ang="0">
                  <a:pos x="13" y="163"/>
                </a:cxn>
              </a:cxnLst>
              <a:rect l="0" t="0" r="r" b="b"/>
              <a:pathLst>
                <a:path w="211" h="923">
                  <a:moveTo>
                    <a:pt x="13" y="163"/>
                  </a:moveTo>
                  <a:cubicBezTo>
                    <a:pt x="12" y="164"/>
                    <a:pt x="12" y="164"/>
                    <a:pt x="12" y="164"/>
                  </a:cubicBezTo>
                  <a:cubicBezTo>
                    <a:pt x="11" y="164"/>
                    <a:pt x="10" y="165"/>
                    <a:pt x="10" y="165"/>
                  </a:cubicBezTo>
                  <a:cubicBezTo>
                    <a:pt x="9" y="166"/>
                    <a:pt x="9" y="166"/>
                    <a:pt x="8" y="166"/>
                  </a:cubicBezTo>
                  <a:cubicBezTo>
                    <a:pt x="7" y="167"/>
                    <a:pt x="6" y="167"/>
                    <a:pt x="6" y="167"/>
                  </a:cubicBezTo>
                  <a:cubicBezTo>
                    <a:pt x="5" y="168"/>
                    <a:pt x="4" y="168"/>
                    <a:pt x="4" y="168"/>
                  </a:cubicBezTo>
                  <a:cubicBezTo>
                    <a:pt x="3" y="168"/>
                    <a:pt x="2" y="169"/>
                    <a:pt x="1" y="169"/>
                  </a:cubicBezTo>
                  <a:cubicBezTo>
                    <a:pt x="0" y="169"/>
                    <a:pt x="0" y="169"/>
                    <a:pt x="0" y="169"/>
                  </a:cubicBezTo>
                  <a:cubicBezTo>
                    <a:pt x="0" y="923"/>
                    <a:pt x="0" y="923"/>
                    <a:pt x="0" y="923"/>
                  </a:cubicBezTo>
                  <a:cubicBezTo>
                    <a:pt x="211" y="923"/>
                    <a:pt x="211" y="923"/>
                    <a:pt x="211" y="923"/>
                  </a:cubicBezTo>
                  <a:cubicBezTo>
                    <a:pt x="211" y="0"/>
                    <a:pt x="211" y="0"/>
                    <a:pt x="211" y="0"/>
                  </a:cubicBezTo>
                  <a:cubicBezTo>
                    <a:pt x="13" y="163"/>
                    <a:pt x="13" y="163"/>
                    <a:pt x="13" y="163"/>
                  </a:cubicBezTo>
                </a:path>
              </a:pathLst>
            </a:custGeom>
            <a:solidFill>
              <a:schemeClr val="accent5"/>
            </a:solidFill>
            <a:ln w="9525">
              <a:noFill/>
              <a:round/>
              <a:headEnd/>
              <a:tailEnd/>
            </a:ln>
          </p:spPr>
          <p:txBody>
            <a:bodyPr anchor="ctr"/>
            <a:lstStyle/>
            <a:p>
              <a:pPr algn="ctr"/>
              <a:endParaRPr sz="2400"/>
            </a:p>
          </p:txBody>
        </p:sp>
        <p:grpSp>
          <p:nvGrpSpPr>
            <p:cNvPr id="52" name="íšḻídê">
              <a:extLst>
                <a:ext uri="{FF2B5EF4-FFF2-40B4-BE49-F238E27FC236}">
                  <a16:creationId xmlns:a16="http://schemas.microsoft.com/office/drawing/2014/main" id="{014F4AAE-679F-4BAD-AA91-C066B250CD05}"/>
                </a:ext>
              </a:extLst>
            </p:cNvPr>
            <p:cNvGrpSpPr/>
            <p:nvPr/>
          </p:nvGrpSpPr>
          <p:grpSpPr>
            <a:xfrm>
              <a:off x="5875261" y="2741304"/>
              <a:ext cx="317736" cy="576286"/>
              <a:chOff x="5105400" y="2235151"/>
              <a:chExt cx="212725" cy="385812"/>
            </a:xfrm>
            <a:solidFill>
              <a:schemeClr val="bg1"/>
            </a:solidFill>
          </p:grpSpPr>
          <p:sp>
            <p:nvSpPr>
              <p:cNvPr id="86" name="ïşļiḋê">
                <a:extLst>
                  <a:ext uri="{FF2B5EF4-FFF2-40B4-BE49-F238E27FC236}">
                    <a16:creationId xmlns:a16="http://schemas.microsoft.com/office/drawing/2014/main" id="{A2E1E7BC-C0B1-43D5-B44F-874C046FCA5C}"/>
                  </a:ext>
                </a:extLst>
              </p:cNvPr>
              <p:cNvSpPr>
                <a:spLocks/>
              </p:cNvSpPr>
              <p:nvPr/>
            </p:nvSpPr>
            <p:spPr bwMode="auto">
              <a:xfrm>
                <a:off x="5197475" y="2606675"/>
                <a:ext cx="25400" cy="14288"/>
              </a:xfrm>
              <a:custGeom>
                <a:avLst/>
                <a:gdLst/>
                <a:ahLst/>
                <a:cxnLst>
                  <a:cxn ang="0">
                    <a:pos x="7" y="0"/>
                  </a:cxn>
                  <a:cxn ang="0">
                    <a:pos x="3" y="0"/>
                  </a:cxn>
                  <a:cxn ang="0">
                    <a:pos x="0" y="2"/>
                  </a:cxn>
                  <a:cxn ang="0">
                    <a:pos x="0" y="2"/>
                  </a:cxn>
                  <a:cxn ang="0">
                    <a:pos x="3" y="5"/>
                  </a:cxn>
                  <a:cxn ang="0">
                    <a:pos x="7" y="5"/>
                  </a:cxn>
                  <a:cxn ang="0">
                    <a:pos x="9" y="2"/>
                  </a:cxn>
                  <a:cxn ang="0">
                    <a:pos x="9" y="2"/>
                  </a:cxn>
                  <a:cxn ang="0">
                    <a:pos x="7" y="0"/>
                  </a:cxn>
                </a:cxnLst>
                <a:rect l="0" t="0" r="r" b="b"/>
                <a:pathLst>
                  <a:path w="9" h="5">
                    <a:moveTo>
                      <a:pt x="7" y="0"/>
                    </a:moveTo>
                    <a:cubicBezTo>
                      <a:pt x="3" y="0"/>
                      <a:pt x="3" y="0"/>
                      <a:pt x="3" y="0"/>
                    </a:cubicBezTo>
                    <a:cubicBezTo>
                      <a:pt x="1" y="0"/>
                      <a:pt x="0" y="1"/>
                      <a:pt x="0" y="2"/>
                    </a:cubicBezTo>
                    <a:cubicBezTo>
                      <a:pt x="0" y="2"/>
                      <a:pt x="0" y="2"/>
                      <a:pt x="0" y="2"/>
                    </a:cubicBezTo>
                    <a:cubicBezTo>
                      <a:pt x="0" y="4"/>
                      <a:pt x="1" y="5"/>
                      <a:pt x="3" y="5"/>
                    </a:cubicBezTo>
                    <a:cubicBezTo>
                      <a:pt x="7" y="5"/>
                      <a:pt x="7" y="5"/>
                      <a:pt x="7" y="5"/>
                    </a:cubicBezTo>
                    <a:cubicBezTo>
                      <a:pt x="8" y="5"/>
                      <a:pt x="9" y="4"/>
                      <a:pt x="9" y="2"/>
                    </a:cubicBezTo>
                    <a:cubicBezTo>
                      <a:pt x="9" y="2"/>
                      <a:pt x="9" y="2"/>
                      <a:pt x="9" y="2"/>
                    </a:cubicBezTo>
                    <a:cubicBezTo>
                      <a:pt x="9" y="1"/>
                      <a:pt x="8" y="0"/>
                      <a:pt x="7" y="0"/>
                    </a:cubicBezTo>
                  </a:path>
                </a:pathLst>
              </a:custGeom>
              <a:grpFill/>
              <a:ln w="9525">
                <a:noFill/>
                <a:round/>
                <a:headEnd/>
                <a:tailEnd/>
              </a:ln>
            </p:spPr>
            <p:txBody>
              <a:bodyPr anchor="ctr"/>
              <a:lstStyle/>
              <a:p>
                <a:pPr algn="ctr"/>
                <a:endParaRPr sz="2400"/>
              </a:p>
            </p:txBody>
          </p:sp>
          <p:sp>
            <p:nvSpPr>
              <p:cNvPr id="87" name="ï$ľïḋê">
                <a:extLst>
                  <a:ext uri="{FF2B5EF4-FFF2-40B4-BE49-F238E27FC236}">
                    <a16:creationId xmlns:a16="http://schemas.microsoft.com/office/drawing/2014/main" id="{BD1D653E-3D52-4B4E-A005-8AB35A8BF972}"/>
                  </a:ext>
                </a:extLst>
              </p:cNvPr>
              <p:cNvSpPr>
                <a:spLocks/>
              </p:cNvSpPr>
              <p:nvPr/>
            </p:nvSpPr>
            <p:spPr bwMode="auto">
              <a:xfrm>
                <a:off x="5189538" y="2589213"/>
                <a:ext cx="44450" cy="14288"/>
              </a:xfrm>
              <a:custGeom>
                <a:avLst/>
                <a:gdLst/>
                <a:ahLst/>
                <a:cxnLst>
                  <a:cxn ang="0">
                    <a:pos x="13" y="0"/>
                  </a:cxn>
                  <a:cxn ang="0">
                    <a:pos x="2" y="0"/>
                  </a:cxn>
                  <a:cxn ang="0">
                    <a:pos x="0" y="3"/>
                  </a:cxn>
                  <a:cxn ang="0">
                    <a:pos x="0" y="3"/>
                  </a:cxn>
                  <a:cxn ang="0">
                    <a:pos x="2" y="5"/>
                  </a:cxn>
                  <a:cxn ang="0">
                    <a:pos x="13" y="5"/>
                  </a:cxn>
                  <a:cxn ang="0">
                    <a:pos x="16" y="3"/>
                  </a:cxn>
                  <a:cxn ang="0">
                    <a:pos x="16" y="3"/>
                  </a:cxn>
                  <a:cxn ang="0">
                    <a:pos x="13" y="0"/>
                  </a:cxn>
                </a:cxnLst>
                <a:rect l="0" t="0" r="r" b="b"/>
                <a:pathLst>
                  <a:path w="16" h="5">
                    <a:moveTo>
                      <a:pt x="13" y="0"/>
                    </a:moveTo>
                    <a:cubicBezTo>
                      <a:pt x="2" y="0"/>
                      <a:pt x="2" y="0"/>
                      <a:pt x="2" y="0"/>
                    </a:cubicBezTo>
                    <a:cubicBezTo>
                      <a:pt x="1" y="0"/>
                      <a:pt x="0" y="1"/>
                      <a:pt x="0" y="3"/>
                    </a:cubicBezTo>
                    <a:cubicBezTo>
                      <a:pt x="0" y="3"/>
                      <a:pt x="0" y="3"/>
                      <a:pt x="0" y="3"/>
                    </a:cubicBezTo>
                    <a:cubicBezTo>
                      <a:pt x="0" y="4"/>
                      <a:pt x="1" y="5"/>
                      <a:pt x="2" y="5"/>
                    </a:cubicBezTo>
                    <a:cubicBezTo>
                      <a:pt x="13" y="5"/>
                      <a:pt x="13" y="5"/>
                      <a:pt x="13" y="5"/>
                    </a:cubicBezTo>
                    <a:cubicBezTo>
                      <a:pt x="15" y="5"/>
                      <a:pt x="16" y="4"/>
                      <a:pt x="16" y="3"/>
                    </a:cubicBezTo>
                    <a:cubicBezTo>
                      <a:pt x="16" y="3"/>
                      <a:pt x="16" y="3"/>
                      <a:pt x="16" y="3"/>
                    </a:cubicBezTo>
                    <a:cubicBezTo>
                      <a:pt x="16" y="1"/>
                      <a:pt x="15" y="0"/>
                      <a:pt x="13" y="0"/>
                    </a:cubicBezTo>
                  </a:path>
                </a:pathLst>
              </a:custGeom>
              <a:grpFill/>
              <a:ln w="9525">
                <a:noFill/>
                <a:round/>
                <a:headEnd/>
                <a:tailEnd/>
              </a:ln>
            </p:spPr>
            <p:txBody>
              <a:bodyPr anchor="ctr"/>
              <a:lstStyle/>
              <a:p>
                <a:pPr algn="ctr"/>
                <a:endParaRPr sz="2400"/>
              </a:p>
            </p:txBody>
          </p:sp>
          <p:sp>
            <p:nvSpPr>
              <p:cNvPr id="88" name="îSļiďè">
                <a:extLst>
                  <a:ext uri="{FF2B5EF4-FFF2-40B4-BE49-F238E27FC236}">
                    <a16:creationId xmlns:a16="http://schemas.microsoft.com/office/drawing/2014/main" id="{8DD76B76-859C-4AC2-8FAD-CBD53E75D8AB}"/>
                  </a:ext>
                </a:extLst>
              </p:cNvPr>
              <p:cNvSpPr>
                <a:spLocks/>
              </p:cNvSpPr>
              <p:nvPr/>
            </p:nvSpPr>
            <p:spPr bwMode="auto">
              <a:xfrm>
                <a:off x="5181600" y="2570163"/>
                <a:ext cx="58738" cy="19050"/>
              </a:xfrm>
              <a:custGeom>
                <a:avLst/>
                <a:gdLst/>
                <a:ahLst/>
                <a:cxnLst>
                  <a:cxn ang="0">
                    <a:pos x="18" y="0"/>
                  </a:cxn>
                  <a:cxn ang="0">
                    <a:pos x="4" y="0"/>
                  </a:cxn>
                  <a:cxn ang="0">
                    <a:pos x="0" y="3"/>
                  </a:cxn>
                  <a:cxn ang="0">
                    <a:pos x="0" y="3"/>
                  </a:cxn>
                  <a:cxn ang="0">
                    <a:pos x="4" y="7"/>
                  </a:cxn>
                  <a:cxn ang="0">
                    <a:pos x="18" y="7"/>
                  </a:cxn>
                  <a:cxn ang="0">
                    <a:pos x="21" y="3"/>
                  </a:cxn>
                  <a:cxn ang="0">
                    <a:pos x="21" y="3"/>
                  </a:cxn>
                  <a:cxn ang="0">
                    <a:pos x="18" y="0"/>
                  </a:cxn>
                </a:cxnLst>
                <a:rect l="0" t="0" r="r" b="b"/>
                <a:pathLst>
                  <a:path w="21" h="7">
                    <a:moveTo>
                      <a:pt x="18" y="0"/>
                    </a:moveTo>
                    <a:cubicBezTo>
                      <a:pt x="4" y="0"/>
                      <a:pt x="4" y="0"/>
                      <a:pt x="4" y="0"/>
                    </a:cubicBezTo>
                    <a:cubicBezTo>
                      <a:pt x="2" y="0"/>
                      <a:pt x="0" y="1"/>
                      <a:pt x="0" y="3"/>
                    </a:cubicBezTo>
                    <a:cubicBezTo>
                      <a:pt x="0" y="3"/>
                      <a:pt x="0" y="3"/>
                      <a:pt x="0" y="3"/>
                    </a:cubicBezTo>
                    <a:cubicBezTo>
                      <a:pt x="0" y="5"/>
                      <a:pt x="2" y="7"/>
                      <a:pt x="4" y="7"/>
                    </a:cubicBezTo>
                    <a:cubicBezTo>
                      <a:pt x="18" y="7"/>
                      <a:pt x="18" y="7"/>
                      <a:pt x="18" y="7"/>
                    </a:cubicBezTo>
                    <a:cubicBezTo>
                      <a:pt x="20" y="7"/>
                      <a:pt x="21" y="5"/>
                      <a:pt x="21" y="3"/>
                    </a:cubicBezTo>
                    <a:cubicBezTo>
                      <a:pt x="21" y="3"/>
                      <a:pt x="21" y="3"/>
                      <a:pt x="21" y="3"/>
                    </a:cubicBezTo>
                    <a:cubicBezTo>
                      <a:pt x="21" y="1"/>
                      <a:pt x="20" y="0"/>
                      <a:pt x="18" y="0"/>
                    </a:cubicBezTo>
                  </a:path>
                </a:pathLst>
              </a:custGeom>
              <a:grpFill/>
              <a:ln w="9525">
                <a:noFill/>
                <a:round/>
                <a:headEnd/>
                <a:tailEnd/>
              </a:ln>
            </p:spPr>
            <p:txBody>
              <a:bodyPr anchor="ctr"/>
              <a:lstStyle/>
              <a:p>
                <a:pPr algn="ctr"/>
                <a:endParaRPr sz="2400"/>
              </a:p>
            </p:txBody>
          </p:sp>
          <p:sp>
            <p:nvSpPr>
              <p:cNvPr id="89" name="ïŝļîḍè">
                <a:extLst>
                  <a:ext uri="{FF2B5EF4-FFF2-40B4-BE49-F238E27FC236}">
                    <a16:creationId xmlns:a16="http://schemas.microsoft.com/office/drawing/2014/main" id="{66B402D3-D40E-45F5-8BE7-238BF0600DF9}"/>
                  </a:ext>
                </a:extLst>
              </p:cNvPr>
              <p:cNvSpPr>
                <a:spLocks/>
              </p:cNvSpPr>
              <p:nvPr/>
            </p:nvSpPr>
            <p:spPr bwMode="auto">
              <a:xfrm>
                <a:off x="5207000" y="2362200"/>
                <a:ext cx="11113" cy="25400"/>
              </a:xfrm>
              <a:prstGeom prst="rect">
                <a:avLst/>
              </a:prstGeom>
              <a:grpFill/>
              <a:ln w="9525">
                <a:noFill/>
                <a:miter lim="800000"/>
                <a:headEnd/>
                <a:tailEnd/>
              </a:ln>
            </p:spPr>
            <p:txBody>
              <a:bodyPr anchor="ctr"/>
              <a:lstStyle/>
              <a:p>
                <a:pPr algn="ctr"/>
                <a:endParaRPr sz="2400"/>
              </a:p>
            </p:txBody>
          </p:sp>
          <p:sp>
            <p:nvSpPr>
              <p:cNvPr id="90" name="í$1iḍè">
                <a:extLst>
                  <a:ext uri="{FF2B5EF4-FFF2-40B4-BE49-F238E27FC236}">
                    <a16:creationId xmlns:a16="http://schemas.microsoft.com/office/drawing/2014/main" id="{C4F03C69-585D-4F42-811E-A178A9E29C68}"/>
                  </a:ext>
                </a:extLst>
              </p:cNvPr>
              <p:cNvSpPr>
                <a:spLocks/>
              </p:cNvSpPr>
              <p:nvPr/>
            </p:nvSpPr>
            <p:spPr bwMode="auto">
              <a:xfrm>
                <a:off x="5207000" y="2362200"/>
                <a:ext cx="11113" cy="25400"/>
              </a:xfrm>
              <a:prstGeom prst="rect">
                <a:avLst/>
              </a:prstGeom>
              <a:grpFill/>
              <a:ln w="9525">
                <a:noFill/>
                <a:miter lim="800000"/>
                <a:headEnd/>
                <a:tailEnd/>
              </a:ln>
            </p:spPr>
            <p:txBody>
              <a:bodyPr anchor="ctr"/>
              <a:lstStyle/>
              <a:p>
                <a:pPr algn="ctr"/>
                <a:endParaRPr sz="2400"/>
              </a:p>
            </p:txBody>
          </p:sp>
          <p:sp>
            <p:nvSpPr>
              <p:cNvPr id="91" name="iṧlíďê">
                <a:extLst>
                  <a:ext uri="{FF2B5EF4-FFF2-40B4-BE49-F238E27FC236}">
                    <a16:creationId xmlns:a16="http://schemas.microsoft.com/office/drawing/2014/main" id="{F60C6CEF-E31F-4661-B365-147448147911}"/>
                  </a:ext>
                </a:extLst>
              </p:cNvPr>
              <p:cNvSpPr>
                <a:spLocks/>
              </p:cNvSpPr>
              <p:nvPr/>
            </p:nvSpPr>
            <p:spPr bwMode="auto">
              <a:xfrm>
                <a:off x="5262563" y="2387600"/>
                <a:ext cx="25400" cy="25400"/>
              </a:xfrm>
              <a:custGeom>
                <a:avLst/>
                <a:gdLst/>
                <a:ahLst/>
                <a:cxnLst>
                  <a:cxn ang="0">
                    <a:pos x="10" y="0"/>
                  </a:cxn>
                  <a:cxn ang="0">
                    <a:pos x="0" y="11"/>
                  </a:cxn>
                  <a:cxn ang="0">
                    <a:pos x="5" y="16"/>
                  </a:cxn>
                  <a:cxn ang="0">
                    <a:pos x="16" y="4"/>
                  </a:cxn>
                  <a:cxn ang="0">
                    <a:pos x="10" y="0"/>
                  </a:cxn>
                </a:cxnLst>
                <a:rect l="0" t="0" r="r" b="b"/>
                <a:pathLst>
                  <a:path w="16" h="16">
                    <a:moveTo>
                      <a:pt x="10" y="0"/>
                    </a:moveTo>
                    <a:lnTo>
                      <a:pt x="0" y="11"/>
                    </a:lnTo>
                    <a:lnTo>
                      <a:pt x="5" y="16"/>
                    </a:lnTo>
                    <a:lnTo>
                      <a:pt x="16" y="4"/>
                    </a:lnTo>
                    <a:lnTo>
                      <a:pt x="10" y="0"/>
                    </a:lnTo>
                    <a:close/>
                  </a:path>
                </a:pathLst>
              </a:custGeom>
              <a:grpFill/>
              <a:ln w="9525">
                <a:noFill/>
                <a:round/>
                <a:headEnd/>
                <a:tailEnd/>
              </a:ln>
            </p:spPr>
            <p:txBody>
              <a:bodyPr anchor="ctr"/>
              <a:lstStyle/>
              <a:p>
                <a:pPr algn="ctr"/>
                <a:endParaRPr sz="2400"/>
              </a:p>
            </p:txBody>
          </p:sp>
          <p:sp>
            <p:nvSpPr>
              <p:cNvPr id="92" name="ïṥ1îḑê">
                <a:extLst>
                  <a:ext uri="{FF2B5EF4-FFF2-40B4-BE49-F238E27FC236}">
                    <a16:creationId xmlns:a16="http://schemas.microsoft.com/office/drawing/2014/main" id="{40513CF6-0709-4FA1-B1DA-027BBF52A5CE}"/>
                  </a:ext>
                </a:extLst>
              </p:cNvPr>
              <p:cNvSpPr>
                <a:spLocks/>
              </p:cNvSpPr>
              <p:nvPr/>
            </p:nvSpPr>
            <p:spPr bwMode="auto">
              <a:xfrm>
                <a:off x="5262563" y="2387600"/>
                <a:ext cx="25400" cy="25400"/>
              </a:xfrm>
              <a:custGeom>
                <a:avLst/>
                <a:gdLst/>
                <a:ahLst/>
                <a:cxnLst>
                  <a:cxn ang="0">
                    <a:pos x="10" y="0"/>
                  </a:cxn>
                  <a:cxn ang="0">
                    <a:pos x="0" y="11"/>
                  </a:cxn>
                  <a:cxn ang="0">
                    <a:pos x="5" y="16"/>
                  </a:cxn>
                  <a:cxn ang="0">
                    <a:pos x="16" y="4"/>
                  </a:cxn>
                  <a:cxn ang="0">
                    <a:pos x="10" y="0"/>
                  </a:cxn>
                </a:cxnLst>
                <a:rect l="0" t="0" r="r" b="b"/>
                <a:pathLst>
                  <a:path w="16" h="16">
                    <a:moveTo>
                      <a:pt x="10" y="0"/>
                    </a:moveTo>
                    <a:lnTo>
                      <a:pt x="0" y="11"/>
                    </a:lnTo>
                    <a:lnTo>
                      <a:pt x="5" y="16"/>
                    </a:lnTo>
                    <a:lnTo>
                      <a:pt x="16" y="4"/>
                    </a:lnTo>
                    <a:lnTo>
                      <a:pt x="10" y="0"/>
                    </a:lnTo>
                  </a:path>
                </a:pathLst>
              </a:custGeom>
              <a:grpFill/>
              <a:ln w="9525">
                <a:noFill/>
                <a:round/>
                <a:headEnd/>
                <a:tailEnd/>
              </a:ln>
            </p:spPr>
            <p:txBody>
              <a:bodyPr anchor="ctr"/>
              <a:lstStyle/>
              <a:p>
                <a:pPr algn="ctr"/>
                <a:endParaRPr sz="2400"/>
              </a:p>
            </p:txBody>
          </p:sp>
          <p:sp>
            <p:nvSpPr>
              <p:cNvPr id="93" name="îṣļiḓè">
                <a:extLst>
                  <a:ext uri="{FF2B5EF4-FFF2-40B4-BE49-F238E27FC236}">
                    <a16:creationId xmlns:a16="http://schemas.microsoft.com/office/drawing/2014/main" id="{7DA092B8-F232-4144-97EF-77D3E6236696}"/>
                  </a:ext>
                </a:extLst>
              </p:cNvPr>
              <p:cNvSpPr>
                <a:spLocks/>
              </p:cNvSpPr>
              <p:nvPr/>
            </p:nvSpPr>
            <p:spPr bwMode="auto">
              <a:xfrm>
                <a:off x="5289550" y="2455863"/>
                <a:ext cx="28575" cy="14288"/>
              </a:xfrm>
              <a:custGeom>
                <a:avLst/>
                <a:gdLst/>
                <a:ahLst/>
                <a:cxnLst>
                  <a:cxn ang="0">
                    <a:pos x="16" y="0"/>
                  </a:cxn>
                  <a:cxn ang="0">
                    <a:pos x="0" y="1"/>
                  </a:cxn>
                  <a:cxn ang="0">
                    <a:pos x="2" y="9"/>
                  </a:cxn>
                  <a:cxn ang="0">
                    <a:pos x="18" y="7"/>
                  </a:cxn>
                  <a:cxn ang="0">
                    <a:pos x="16" y="0"/>
                  </a:cxn>
                </a:cxnLst>
                <a:rect l="0" t="0" r="r" b="b"/>
                <a:pathLst>
                  <a:path w="18" h="9">
                    <a:moveTo>
                      <a:pt x="16" y="0"/>
                    </a:moveTo>
                    <a:lnTo>
                      <a:pt x="0" y="1"/>
                    </a:lnTo>
                    <a:lnTo>
                      <a:pt x="2" y="9"/>
                    </a:lnTo>
                    <a:lnTo>
                      <a:pt x="18" y="7"/>
                    </a:lnTo>
                    <a:lnTo>
                      <a:pt x="16" y="0"/>
                    </a:lnTo>
                    <a:close/>
                  </a:path>
                </a:pathLst>
              </a:custGeom>
              <a:grpFill/>
              <a:ln w="9525">
                <a:noFill/>
                <a:round/>
                <a:headEnd/>
                <a:tailEnd/>
              </a:ln>
            </p:spPr>
            <p:txBody>
              <a:bodyPr anchor="ctr"/>
              <a:lstStyle/>
              <a:p>
                <a:pPr algn="ctr"/>
                <a:endParaRPr sz="2400"/>
              </a:p>
            </p:txBody>
          </p:sp>
          <p:sp>
            <p:nvSpPr>
              <p:cNvPr id="94" name="íṡḷiḓé">
                <a:extLst>
                  <a:ext uri="{FF2B5EF4-FFF2-40B4-BE49-F238E27FC236}">
                    <a16:creationId xmlns:a16="http://schemas.microsoft.com/office/drawing/2014/main" id="{34733654-6138-4624-9167-859A11ED4648}"/>
                  </a:ext>
                </a:extLst>
              </p:cNvPr>
              <p:cNvSpPr>
                <a:spLocks/>
              </p:cNvSpPr>
              <p:nvPr/>
            </p:nvSpPr>
            <p:spPr bwMode="auto">
              <a:xfrm>
                <a:off x="5289550" y="2455863"/>
                <a:ext cx="28575" cy="14288"/>
              </a:xfrm>
              <a:custGeom>
                <a:avLst/>
                <a:gdLst/>
                <a:ahLst/>
                <a:cxnLst>
                  <a:cxn ang="0">
                    <a:pos x="16" y="0"/>
                  </a:cxn>
                  <a:cxn ang="0">
                    <a:pos x="0" y="1"/>
                  </a:cxn>
                  <a:cxn ang="0">
                    <a:pos x="2" y="9"/>
                  </a:cxn>
                  <a:cxn ang="0">
                    <a:pos x="18" y="7"/>
                  </a:cxn>
                  <a:cxn ang="0">
                    <a:pos x="16" y="0"/>
                  </a:cxn>
                </a:cxnLst>
                <a:rect l="0" t="0" r="r" b="b"/>
                <a:pathLst>
                  <a:path w="18" h="9">
                    <a:moveTo>
                      <a:pt x="16" y="0"/>
                    </a:moveTo>
                    <a:lnTo>
                      <a:pt x="0" y="1"/>
                    </a:lnTo>
                    <a:lnTo>
                      <a:pt x="2" y="9"/>
                    </a:lnTo>
                    <a:lnTo>
                      <a:pt x="18" y="7"/>
                    </a:lnTo>
                    <a:lnTo>
                      <a:pt x="16" y="0"/>
                    </a:lnTo>
                  </a:path>
                </a:pathLst>
              </a:custGeom>
              <a:grpFill/>
              <a:ln w="9525">
                <a:noFill/>
                <a:round/>
                <a:headEnd/>
                <a:tailEnd/>
              </a:ln>
            </p:spPr>
            <p:txBody>
              <a:bodyPr anchor="ctr"/>
              <a:lstStyle/>
              <a:p>
                <a:pPr algn="ctr"/>
                <a:endParaRPr sz="2400"/>
              </a:p>
            </p:txBody>
          </p:sp>
          <p:sp>
            <p:nvSpPr>
              <p:cNvPr id="95" name="ïśļiḑe">
                <a:extLst>
                  <a:ext uri="{FF2B5EF4-FFF2-40B4-BE49-F238E27FC236}">
                    <a16:creationId xmlns:a16="http://schemas.microsoft.com/office/drawing/2014/main" id="{9A51C539-129A-4BA3-B958-C0754C65EC36}"/>
                  </a:ext>
                </a:extLst>
              </p:cNvPr>
              <p:cNvSpPr>
                <a:spLocks/>
              </p:cNvSpPr>
              <p:nvPr/>
            </p:nvSpPr>
            <p:spPr bwMode="auto">
              <a:xfrm>
                <a:off x="5270500" y="2517775"/>
                <a:ext cx="25400" cy="22225"/>
              </a:xfrm>
              <a:custGeom>
                <a:avLst/>
                <a:gdLst/>
                <a:ahLst/>
                <a:cxnLst>
                  <a:cxn ang="0">
                    <a:pos x="4" y="0"/>
                  </a:cxn>
                  <a:cxn ang="0">
                    <a:pos x="0" y="5"/>
                  </a:cxn>
                  <a:cxn ang="0">
                    <a:pos x="12" y="14"/>
                  </a:cxn>
                  <a:cxn ang="0">
                    <a:pos x="16" y="8"/>
                  </a:cxn>
                  <a:cxn ang="0">
                    <a:pos x="4" y="0"/>
                  </a:cxn>
                </a:cxnLst>
                <a:rect l="0" t="0" r="r" b="b"/>
                <a:pathLst>
                  <a:path w="16" h="14">
                    <a:moveTo>
                      <a:pt x="4" y="0"/>
                    </a:moveTo>
                    <a:lnTo>
                      <a:pt x="0" y="5"/>
                    </a:lnTo>
                    <a:lnTo>
                      <a:pt x="12" y="14"/>
                    </a:lnTo>
                    <a:lnTo>
                      <a:pt x="16" y="8"/>
                    </a:lnTo>
                    <a:lnTo>
                      <a:pt x="4" y="0"/>
                    </a:lnTo>
                    <a:close/>
                  </a:path>
                </a:pathLst>
              </a:custGeom>
              <a:grpFill/>
              <a:ln w="9525">
                <a:noFill/>
                <a:round/>
                <a:headEnd/>
                <a:tailEnd/>
              </a:ln>
            </p:spPr>
            <p:txBody>
              <a:bodyPr anchor="ctr"/>
              <a:lstStyle/>
              <a:p>
                <a:pPr algn="ctr"/>
                <a:endParaRPr sz="2400"/>
              </a:p>
            </p:txBody>
          </p:sp>
          <p:sp>
            <p:nvSpPr>
              <p:cNvPr id="96" name="ïŝḷïďè">
                <a:extLst>
                  <a:ext uri="{FF2B5EF4-FFF2-40B4-BE49-F238E27FC236}">
                    <a16:creationId xmlns:a16="http://schemas.microsoft.com/office/drawing/2014/main" id="{D82C2C42-44EB-4B7B-B151-C3590F6F0927}"/>
                  </a:ext>
                </a:extLst>
              </p:cNvPr>
              <p:cNvSpPr>
                <a:spLocks/>
              </p:cNvSpPr>
              <p:nvPr/>
            </p:nvSpPr>
            <p:spPr bwMode="auto">
              <a:xfrm>
                <a:off x="5270500" y="2517775"/>
                <a:ext cx="25400" cy="22225"/>
              </a:xfrm>
              <a:custGeom>
                <a:avLst/>
                <a:gdLst/>
                <a:ahLst/>
                <a:cxnLst>
                  <a:cxn ang="0">
                    <a:pos x="4" y="0"/>
                  </a:cxn>
                  <a:cxn ang="0">
                    <a:pos x="0" y="5"/>
                  </a:cxn>
                  <a:cxn ang="0">
                    <a:pos x="12" y="14"/>
                  </a:cxn>
                  <a:cxn ang="0">
                    <a:pos x="16" y="8"/>
                  </a:cxn>
                  <a:cxn ang="0">
                    <a:pos x="4" y="0"/>
                  </a:cxn>
                </a:cxnLst>
                <a:rect l="0" t="0" r="r" b="b"/>
                <a:pathLst>
                  <a:path w="16" h="14">
                    <a:moveTo>
                      <a:pt x="4" y="0"/>
                    </a:moveTo>
                    <a:lnTo>
                      <a:pt x="0" y="5"/>
                    </a:lnTo>
                    <a:lnTo>
                      <a:pt x="12" y="14"/>
                    </a:lnTo>
                    <a:lnTo>
                      <a:pt x="16" y="8"/>
                    </a:lnTo>
                    <a:lnTo>
                      <a:pt x="4" y="0"/>
                    </a:lnTo>
                  </a:path>
                </a:pathLst>
              </a:custGeom>
              <a:grpFill/>
              <a:ln w="9525">
                <a:noFill/>
                <a:round/>
                <a:headEnd/>
                <a:tailEnd/>
              </a:ln>
            </p:spPr>
            <p:txBody>
              <a:bodyPr anchor="ctr"/>
              <a:lstStyle/>
              <a:p>
                <a:pPr algn="ctr"/>
                <a:endParaRPr sz="2400"/>
              </a:p>
            </p:txBody>
          </p:sp>
          <p:sp>
            <p:nvSpPr>
              <p:cNvPr id="97" name="íslîḍè">
                <a:extLst>
                  <a:ext uri="{FF2B5EF4-FFF2-40B4-BE49-F238E27FC236}">
                    <a16:creationId xmlns:a16="http://schemas.microsoft.com/office/drawing/2014/main" id="{207B938B-FDE6-4448-B0C9-FE3DB250F9B7}"/>
                  </a:ext>
                </a:extLst>
              </p:cNvPr>
              <p:cNvSpPr>
                <a:spLocks/>
              </p:cNvSpPr>
              <p:nvPr/>
            </p:nvSpPr>
            <p:spPr bwMode="auto">
              <a:xfrm>
                <a:off x="5133975" y="2386013"/>
                <a:ext cx="25400" cy="23813"/>
              </a:xfrm>
              <a:custGeom>
                <a:avLst/>
                <a:gdLst/>
                <a:ahLst/>
                <a:cxnLst>
                  <a:cxn ang="0">
                    <a:pos x="5" y="0"/>
                  </a:cxn>
                  <a:cxn ang="0">
                    <a:pos x="0" y="5"/>
                  </a:cxn>
                  <a:cxn ang="0">
                    <a:pos x="12" y="15"/>
                  </a:cxn>
                  <a:cxn ang="0">
                    <a:pos x="16" y="12"/>
                  </a:cxn>
                  <a:cxn ang="0">
                    <a:pos x="5" y="0"/>
                  </a:cxn>
                </a:cxnLst>
                <a:rect l="0" t="0" r="r" b="b"/>
                <a:pathLst>
                  <a:path w="16" h="15">
                    <a:moveTo>
                      <a:pt x="5" y="0"/>
                    </a:moveTo>
                    <a:lnTo>
                      <a:pt x="0" y="5"/>
                    </a:lnTo>
                    <a:lnTo>
                      <a:pt x="12" y="15"/>
                    </a:lnTo>
                    <a:lnTo>
                      <a:pt x="16" y="12"/>
                    </a:lnTo>
                    <a:lnTo>
                      <a:pt x="5" y="0"/>
                    </a:lnTo>
                    <a:close/>
                  </a:path>
                </a:pathLst>
              </a:custGeom>
              <a:grpFill/>
              <a:ln w="9525">
                <a:noFill/>
                <a:round/>
                <a:headEnd/>
                <a:tailEnd/>
              </a:ln>
            </p:spPr>
            <p:txBody>
              <a:bodyPr anchor="ctr"/>
              <a:lstStyle/>
              <a:p>
                <a:pPr algn="ctr"/>
                <a:endParaRPr sz="2400"/>
              </a:p>
            </p:txBody>
          </p:sp>
          <p:sp>
            <p:nvSpPr>
              <p:cNvPr id="98" name="íś1îďê">
                <a:extLst>
                  <a:ext uri="{FF2B5EF4-FFF2-40B4-BE49-F238E27FC236}">
                    <a16:creationId xmlns:a16="http://schemas.microsoft.com/office/drawing/2014/main" id="{6BD08512-D3E2-4DBC-B454-439851BCE563}"/>
                  </a:ext>
                </a:extLst>
              </p:cNvPr>
              <p:cNvSpPr>
                <a:spLocks/>
              </p:cNvSpPr>
              <p:nvPr/>
            </p:nvSpPr>
            <p:spPr bwMode="auto">
              <a:xfrm>
                <a:off x="5133975" y="2386013"/>
                <a:ext cx="25400" cy="23813"/>
              </a:xfrm>
              <a:custGeom>
                <a:avLst/>
                <a:gdLst/>
                <a:ahLst/>
                <a:cxnLst>
                  <a:cxn ang="0">
                    <a:pos x="5" y="0"/>
                  </a:cxn>
                  <a:cxn ang="0">
                    <a:pos x="0" y="5"/>
                  </a:cxn>
                  <a:cxn ang="0">
                    <a:pos x="12" y="15"/>
                  </a:cxn>
                  <a:cxn ang="0">
                    <a:pos x="16" y="12"/>
                  </a:cxn>
                  <a:cxn ang="0">
                    <a:pos x="5" y="0"/>
                  </a:cxn>
                </a:cxnLst>
                <a:rect l="0" t="0" r="r" b="b"/>
                <a:pathLst>
                  <a:path w="16" h="15">
                    <a:moveTo>
                      <a:pt x="5" y="0"/>
                    </a:moveTo>
                    <a:lnTo>
                      <a:pt x="0" y="5"/>
                    </a:lnTo>
                    <a:lnTo>
                      <a:pt x="12" y="15"/>
                    </a:lnTo>
                    <a:lnTo>
                      <a:pt x="16" y="12"/>
                    </a:lnTo>
                    <a:lnTo>
                      <a:pt x="5" y="0"/>
                    </a:lnTo>
                  </a:path>
                </a:pathLst>
              </a:custGeom>
              <a:grpFill/>
              <a:ln w="9525">
                <a:noFill/>
                <a:round/>
                <a:headEnd/>
                <a:tailEnd/>
              </a:ln>
            </p:spPr>
            <p:txBody>
              <a:bodyPr anchor="ctr"/>
              <a:lstStyle/>
              <a:p>
                <a:pPr algn="ctr"/>
                <a:endParaRPr sz="2400"/>
              </a:p>
            </p:txBody>
          </p:sp>
          <p:sp>
            <p:nvSpPr>
              <p:cNvPr id="99" name="ï$ľîḓe">
                <a:extLst>
                  <a:ext uri="{FF2B5EF4-FFF2-40B4-BE49-F238E27FC236}">
                    <a16:creationId xmlns:a16="http://schemas.microsoft.com/office/drawing/2014/main" id="{4948F0C7-9C61-4A19-9092-6BABA7C1DB2C}"/>
                  </a:ext>
                </a:extLst>
              </p:cNvPr>
              <p:cNvSpPr>
                <a:spLocks/>
              </p:cNvSpPr>
              <p:nvPr/>
            </p:nvSpPr>
            <p:spPr bwMode="auto">
              <a:xfrm>
                <a:off x="5105400" y="2455863"/>
                <a:ext cx="25400" cy="11113"/>
              </a:xfrm>
              <a:custGeom>
                <a:avLst/>
                <a:gdLst/>
                <a:ahLst/>
                <a:cxnLst>
                  <a:cxn ang="0">
                    <a:pos x="0" y="0"/>
                  </a:cxn>
                  <a:cxn ang="0">
                    <a:pos x="0" y="7"/>
                  </a:cxn>
                  <a:cxn ang="0">
                    <a:pos x="16" y="7"/>
                  </a:cxn>
                  <a:cxn ang="0">
                    <a:pos x="16" y="1"/>
                  </a:cxn>
                  <a:cxn ang="0">
                    <a:pos x="0" y="0"/>
                  </a:cxn>
                </a:cxnLst>
                <a:rect l="0" t="0" r="r" b="b"/>
                <a:pathLst>
                  <a:path w="16" h="7">
                    <a:moveTo>
                      <a:pt x="0" y="0"/>
                    </a:moveTo>
                    <a:lnTo>
                      <a:pt x="0" y="7"/>
                    </a:lnTo>
                    <a:lnTo>
                      <a:pt x="16" y="7"/>
                    </a:lnTo>
                    <a:lnTo>
                      <a:pt x="16" y="1"/>
                    </a:lnTo>
                    <a:lnTo>
                      <a:pt x="0" y="0"/>
                    </a:lnTo>
                    <a:close/>
                  </a:path>
                </a:pathLst>
              </a:custGeom>
              <a:grpFill/>
              <a:ln w="9525">
                <a:noFill/>
                <a:round/>
                <a:headEnd/>
                <a:tailEnd/>
              </a:ln>
            </p:spPr>
            <p:txBody>
              <a:bodyPr anchor="ctr"/>
              <a:lstStyle/>
              <a:p>
                <a:pPr algn="ctr"/>
                <a:endParaRPr sz="2400"/>
              </a:p>
            </p:txBody>
          </p:sp>
          <p:sp>
            <p:nvSpPr>
              <p:cNvPr id="100" name="îš1îḍé">
                <a:extLst>
                  <a:ext uri="{FF2B5EF4-FFF2-40B4-BE49-F238E27FC236}">
                    <a16:creationId xmlns:a16="http://schemas.microsoft.com/office/drawing/2014/main" id="{8B65B2A9-3FFC-4135-912A-69E67E29FB12}"/>
                  </a:ext>
                </a:extLst>
              </p:cNvPr>
              <p:cNvSpPr>
                <a:spLocks/>
              </p:cNvSpPr>
              <p:nvPr/>
            </p:nvSpPr>
            <p:spPr bwMode="auto">
              <a:xfrm>
                <a:off x="5105400" y="2455863"/>
                <a:ext cx="25400" cy="11113"/>
              </a:xfrm>
              <a:custGeom>
                <a:avLst/>
                <a:gdLst/>
                <a:ahLst/>
                <a:cxnLst>
                  <a:cxn ang="0">
                    <a:pos x="0" y="0"/>
                  </a:cxn>
                  <a:cxn ang="0">
                    <a:pos x="0" y="7"/>
                  </a:cxn>
                  <a:cxn ang="0">
                    <a:pos x="16" y="7"/>
                  </a:cxn>
                  <a:cxn ang="0">
                    <a:pos x="16" y="1"/>
                  </a:cxn>
                  <a:cxn ang="0">
                    <a:pos x="0" y="0"/>
                  </a:cxn>
                </a:cxnLst>
                <a:rect l="0" t="0" r="r" b="b"/>
                <a:pathLst>
                  <a:path w="16" h="7">
                    <a:moveTo>
                      <a:pt x="0" y="0"/>
                    </a:moveTo>
                    <a:lnTo>
                      <a:pt x="0" y="7"/>
                    </a:lnTo>
                    <a:lnTo>
                      <a:pt x="16" y="7"/>
                    </a:lnTo>
                    <a:lnTo>
                      <a:pt x="16" y="1"/>
                    </a:lnTo>
                    <a:lnTo>
                      <a:pt x="0" y="0"/>
                    </a:lnTo>
                  </a:path>
                </a:pathLst>
              </a:custGeom>
              <a:grpFill/>
              <a:ln w="9525">
                <a:noFill/>
                <a:round/>
                <a:headEnd/>
                <a:tailEnd/>
              </a:ln>
            </p:spPr>
            <p:txBody>
              <a:bodyPr anchor="ctr"/>
              <a:lstStyle/>
              <a:p>
                <a:pPr algn="ctr"/>
                <a:endParaRPr sz="2400"/>
              </a:p>
            </p:txBody>
          </p:sp>
          <p:sp>
            <p:nvSpPr>
              <p:cNvPr id="101" name="íṥḻïḓê">
                <a:extLst>
                  <a:ext uri="{FF2B5EF4-FFF2-40B4-BE49-F238E27FC236}">
                    <a16:creationId xmlns:a16="http://schemas.microsoft.com/office/drawing/2014/main" id="{155ED29C-E26C-454A-96DC-3026FCA9B33B}"/>
                  </a:ext>
                </a:extLst>
              </p:cNvPr>
              <p:cNvSpPr>
                <a:spLocks/>
              </p:cNvSpPr>
              <p:nvPr/>
            </p:nvSpPr>
            <p:spPr bwMode="auto">
              <a:xfrm>
                <a:off x="5124450" y="2514600"/>
                <a:ext cx="28575" cy="25400"/>
              </a:xfrm>
              <a:custGeom>
                <a:avLst/>
                <a:gdLst/>
                <a:ahLst/>
                <a:cxnLst>
                  <a:cxn ang="0">
                    <a:pos x="13" y="0"/>
                  </a:cxn>
                  <a:cxn ang="0">
                    <a:pos x="0" y="10"/>
                  </a:cxn>
                  <a:cxn ang="0">
                    <a:pos x="4" y="16"/>
                  </a:cxn>
                  <a:cxn ang="0">
                    <a:pos x="18" y="5"/>
                  </a:cxn>
                  <a:cxn ang="0">
                    <a:pos x="13" y="0"/>
                  </a:cxn>
                </a:cxnLst>
                <a:rect l="0" t="0" r="r" b="b"/>
                <a:pathLst>
                  <a:path w="18" h="16">
                    <a:moveTo>
                      <a:pt x="13" y="0"/>
                    </a:moveTo>
                    <a:lnTo>
                      <a:pt x="0" y="10"/>
                    </a:lnTo>
                    <a:lnTo>
                      <a:pt x="4" y="16"/>
                    </a:lnTo>
                    <a:lnTo>
                      <a:pt x="18" y="5"/>
                    </a:lnTo>
                    <a:lnTo>
                      <a:pt x="13" y="0"/>
                    </a:lnTo>
                    <a:close/>
                  </a:path>
                </a:pathLst>
              </a:custGeom>
              <a:grpFill/>
              <a:ln w="9525">
                <a:noFill/>
                <a:round/>
                <a:headEnd/>
                <a:tailEnd/>
              </a:ln>
            </p:spPr>
            <p:txBody>
              <a:bodyPr anchor="ctr"/>
              <a:lstStyle/>
              <a:p>
                <a:pPr algn="ctr"/>
                <a:endParaRPr sz="2400"/>
              </a:p>
            </p:txBody>
          </p:sp>
          <p:sp>
            <p:nvSpPr>
              <p:cNvPr id="102" name="íšļiḓé">
                <a:extLst>
                  <a:ext uri="{FF2B5EF4-FFF2-40B4-BE49-F238E27FC236}">
                    <a16:creationId xmlns:a16="http://schemas.microsoft.com/office/drawing/2014/main" id="{4B7644EF-DED0-4805-92F2-D6A3CBD3A1E7}"/>
                  </a:ext>
                </a:extLst>
              </p:cNvPr>
              <p:cNvSpPr>
                <a:spLocks/>
              </p:cNvSpPr>
              <p:nvPr/>
            </p:nvSpPr>
            <p:spPr bwMode="auto">
              <a:xfrm>
                <a:off x="5124450" y="2514600"/>
                <a:ext cx="28575" cy="25400"/>
              </a:xfrm>
              <a:custGeom>
                <a:avLst/>
                <a:gdLst/>
                <a:ahLst/>
                <a:cxnLst>
                  <a:cxn ang="0">
                    <a:pos x="13" y="0"/>
                  </a:cxn>
                  <a:cxn ang="0">
                    <a:pos x="0" y="10"/>
                  </a:cxn>
                  <a:cxn ang="0">
                    <a:pos x="4" y="16"/>
                  </a:cxn>
                  <a:cxn ang="0">
                    <a:pos x="18" y="5"/>
                  </a:cxn>
                  <a:cxn ang="0">
                    <a:pos x="13" y="0"/>
                  </a:cxn>
                </a:cxnLst>
                <a:rect l="0" t="0" r="r" b="b"/>
                <a:pathLst>
                  <a:path w="18" h="16">
                    <a:moveTo>
                      <a:pt x="13" y="0"/>
                    </a:moveTo>
                    <a:lnTo>
                      <a:pt x="0" y="10"/>
                    </a:lnTo>
                    <a:lnTo>
                      <a:pt x="4" y="16"/>
                    </a:lnTo>
                    <a:lnTo>
                      <a:pt x="18" y="5"/>
                    </a:lnTo>
                    <a:lnTo>
                      <a:pt x="13" y="0"/>
                    </a:lnTo>
                  </a:path>
                </a:pathLst>
              </a:custGeom>
              <a:grpFill/>
              <a:ln w="9525">
                <a:noFill/>
                <a:round/>
                <a:headEnd/>
                <a:tailEnd/>
              </a:ln>
            </p:spPr>
            <p:txBody>
              <a:bodyPr anchor="ctr"/>
              <a:lstStyle/>
              <a:p>
                <a:pPr algn="ctr"/>
                <a:endParaRPr sz="2400"/>
              </a:p>
            </p:txBody>
          </p:sp>
          <p:sp>
            <p:nvSpPr>
              <p:cNvPr id="103" name="iṧ1íḓè">
                <a:extLst>
                  <a:ext uri="{FF2B5EF4-FFF2-40B4-BE49-F238E27FC236}">
                    <a16:creationId xmlns:a16="http://schemas.microsoft.com/office/drawing/2014/main" id="{906E5FDF-9E92-4FF7-A1B3-86D34E2C4785}"/>
                  </a:ext>
                </a:extLst>
              </p:cNvPr>
              <p:cNvSpPr>
                <a:spLocks/>
              </p:cNvSpPr>
              <p:nvPr/>
            </p:nvSpPr>
            <p:spPr bwMode="auto">
              <a:xfrm>
                <a:off x="5214938" y="2492375"/>
                <a:ext cx="11113" cy="15875"/>
              </a:xfrm>
              <a:custGeom>
                <a:avLst/>
                <a:gdLst/>
                <a:ahLst/>
                <a:cxnLst>
                  <a:cxn ang="0">
                    <a:pos x="0" y="0"/>
                  </a:cxn>
                  <a:cxn ang="0">
                    <a:pos x="0" y="0"/>
                  </a:cxn>
                  <a:cxn ang="0">
                    <a:pos x="0" y="6"/>
                  </a:cxn>
                  <a:cxn ang="0">
                    <a:pos x="4" y="3"/>
                  </a:cxn>
                  <a:cxn ang="0">
                    <a:pos x="4" y="3"/>
                  </a:cxn>
                  <a:cxn ang="0">
                    <a:pos x="2" y="1"/>
                  </a:cxn>
                  <a:cxn ang="0">
                    <a:pos x="0" y="0"/>
                  </a:cxn>
                </a:cxnLst>
                <a:rect l="0" t="0" r="r" b="b"/>
                <a:pathLst>
                  <a:path w="4" h="6">
                    <a:moveTo>
                      <a:pt x="0" y="0"/>
                    </a:moveTo>
                    <a:cubicBezTo>
                      <a:pt x="0" y="0"/>
                      <a:pt x="0" y="0"/>
                      <a:pt x="0" y="0"/>
                    </a:cubicBezTo>
                    <a:cubicBezTo>
                      <a:pt x="0" y="6"/>
                      <a:pt x="0" y="6"/>
                      <a:pt x="0" y="6"/>
                    </a:cubicBezTo>
                    <a:cubicBezTo>
                      <a:pt x="3" y="6"/>
                      <a:pt x="4" y="5"/>
                      <a:pt x="4" y="3"/>
                    </a:cubicBezTo>
                    <a:cubicBezTo>
                      <a:pt x="4" y="3"/>
                      <a:pt x="4" y="3"/>
                      <a:pt x="4" y="3"/>
                    </a:cubicBezTo>
                    <a:cubicBezTo>
                      <a:pt x="4" y="2"/>
                      <a:pt x="3" y="1"/>
                      <a:pt x="2" y="1"/>
                    </a:cubicBezTo>
                    <a:cubicBezTo>
                      <a:pt x="2" y="1"/>
                      <a:pt x="1" y="1"/>
                      <a:pt x="0" y="0"/>
                    </a:cubicBezTo>
                  </a:path>
                </a:pathLst>
              </a:custGeom>
              <a:grpFill/>
              <a:ln w="9525">
                <a:noFill/>
                <a:round/>
                <a:headEnd/>
                <a:tailEnd/>
              </a:ln>
            </p:spPr>
            <p:txBody>
              <a:bodyPr anchor="ctr"/>
              <a:lstStyle/>
              <a:p>
                <a:pPr algn="ctr"/>
                <a:endParaRPr sz="2400"/>
              </a:p>
            </p:txBody>
          </p:sp>
          <p:sp>
            <p:nvSpPr>
              <p:cNvPr id="104" name="îśľîḋè">
                <a:extLst>
                  <a:ext uri="{FF2B5EF4-FFF2-40B4-BE49-F238E27FC236}">
                    <a16:creationId xmlns:a16="http://schemas.microsoft.com/office/drawing/2014/main" id="{6B35FDA2-C133-434D-BCA2-3DA05BE30760}"/>
                  </a:ext>
                </a:extLst>
              </p:cNvPr>
              <p:cNvSpPr>
                <a:spLocks/>
              </p:cNvSpPr>
              <p:nvPr/>
            </p:nvSpPr>
            <p:spPr bwMode="auto">
              <a:xfrm>
                <a:off x="5200650" y="2463800"/>
                <a:ext cx="6350" cy="14288"/>
              </a:xfrm>
              <a:custGeom>
                <a:avLst/>
                <a:gdLst/>
                <a:ahLst/>
                <a:cxnLst>
                  <a:cxn ang="0">
                    <a:pos x="2" y="0"/>
                  </a:cxn>
                  <a:cxn ang="0">
                    <a:pos x="0" y="3"/>
                  </a:cxn>
                  <a:cxn ang="0">
                    <a:pos x="0" y="3"/>
                  </a:cxn>
                  <a:cxn ang="0">
                    <a:pos x="2" y="5"/>
                  </a:cxn>
                  <a:cxn ang="0">
                    <a:pos x="2" y="5"/>
                  </a:cxn>
                  <a:cxn ang="0">
                    <a:pos x="2" y="0"/>
                  </a:cxn>
                </a:cxnLst>
                <a:rect l="0" t="0" r="r" b="b"/>
                <a:pathLst>
                  <a:path w="2" h="5">
                    <a:moveTo>
                      <a:pt x="2" y="0"/>
                    </a:moveTo>
                    <a:cubicBezTo>
                      <a:pt x="0" y="1"/>
                      <a:pt x="0" y="1"/>
                      <a:pt x="0" y="3"/>
                    </a:cubicBezTo>
                    <a:cubicBezTo>
                      <a:pt x="0" y="3"/>
                      <a:pt x="0" y="3"/>
                      <a:pt x="0" y="3"/>
                    </a:cubicBezTo>
                    <a:cubicBezTo>
                      <a:pt x="0" y="4"/>
                      <a:pt x="0" y="5"/>
                      <a:pt x="2" y="5"/>
                    </a:cubicBezTo>
                    <a:cubicBezTo>
                      <a:pt x="2" y="5"/>
                      <a:pt x="2" y="5"/>
                      <a:pt x="2" y="5"/>
                    </a:cubicBezTo>
                    <a:cubicBezTo>
                      <a:pt x="2" y="0"/>
                      <a:pt x="2" y="0"/>
                      <a:pt x="2" y="0"/>
                    </a:cubicBezTo>
                  </a:path>
                </a:pathLst>
              </a:custGeom>
              <a:grpFill/>
              <a:ln w="9525">
                <a:noFill/>
                <a:round/>
                <a:headEnd/>
                <a:tailEnd/>
              </a:ln>
            </p:spPr>
            <p:txBody>
              <a:bodyPr anchor="ctr"/>
              <a:lstStyle/>
              <a:p>
                <a:pPr algn="ctr"/>
                <a:endParaRPr sz="2400"/>
              </a:p>
            </p:txBody>
          </p:sp>
          <p:sp>
            <p:nvSpPr>
              <p:cNvPr id="105" name="îsḻîḋe">
                <a:extLst>
                  <a:ext uri="{FF2B5EF4-FFF2-40B4-BE49-F238E27FC236}">
                    <a16:creationId xmlns:a16="http://schemas.microsoft.com/office/drawing/2014/main" id="{295800AC-6F58-43CD-910D-3BFC1B5BDCDD}"/>
                  </a:ext>
                </a:extLst>
              </p:cNvPr>
              <p:cNvSpPr>
                <a:spLocks/>
              </p:cNvSpPr>
              <p:nvPr/>
            </p:nvSpPr>
            <p:spPr bwMode="auto">
              <a:xfrm>
                <a:off x="5156200" y="2235151"/>
                <a:ext cx="131764" cy="229443"/>
              </a:xfrm>
              <a:custGeom>
                <a:avLst/>
                <a:gdLst/>
                <a:ahLst/>
                <a:cxnLst>
                  <a:cxn ang="0">
                    <a:pos x="22" y="14"/>
                  </a:cxn>
                  <a:cxn ang="0">
                    <a:pos x="22" y="14"/>
                  </a:cxn>
                  <a:cxn ang="0">
                    <a:pos x="25" y="14"/>
                  </a:cxn>
                  <a:cxn ang="0">
                    <a:pos x="25" y="20"/>
                  </a:cxn>
                  <a:cxn ang="0">
                    <a:pos x="30" y="22"/>
                  </a:cxn>
                  <a:cxn ang="0">
                    <a:pos x="32" y="27"/>
                  </a:cxn>
                  <a:cxn ang="0">
                    <a:pos x="32" y="27"/>
                  </a:cxn>
                  <a:cxn ang="0">
                    <a:pos x="28" y="27"/>
                  </a:cxn>
                  <a:cxn ang="0">
                    <a:pos x="25" y="23"/>
                  </a:cxn>
                  <a:cxn ang="0">
                    <a:pos x="25" y="23"/>
                  </a:cxn>
                  <a:cxn ang="0">
                    <a:pos x="25" y="29"/>
                  </a:cxn>
                  <a:cxn ang="0">
                    <a:pos x="28" y="30"/>
                  </a:cxn>
                  <a:cxn ang="0">
                    <a:pos x="32" y="32"/>
                  </a:cxn>
                  <a:cxn ang="0">
                    <a:pos x="33" y="36"/>
                  </a:cxn>
                  <a:cxn ang="0">
                    <a:pos x="33" y="36"/>
                  </a:cxn>
                  <a:cxn ang="0">
                    <a:pos x="30" y="41"/>
                  </a:cxn>
                  <a:cxn ang="0">
                    <a:pos x="25" y="43"/>
                  </a:cxn>
                  <a:cxn ang="0">
                    <a:pos x="25" y="43"/>
                  </a:cxn>
                  <a:cxn ang="0">
                    <a:pos x="25" y="48"/>
                  </a:cxn>
                  <a:cxn ang="0">
                    <a:pos x="22" y="48"/>
                  </a:cxn>
                  <a:cxn ang="0">
                    <a:pos x="22" y="43"/>
                  </a:cxn>
                  <a:cxn ang="0">
                    <a:pos x="17" y="41"/>
                  </a:cxn>
                  <a:cxn ang="0">
                    <a:pos x="15" y="35"/>
                  </a:cxn>
                  <a:cxn ang="0">
                    <a:pos x="15" y="35"/>
                  </a:cxn>
                  <a:cxn ang="0">
                    <a:pos x="19" y="35"/>
                  </a:cxn>
                  <a:cxn ang="0">
                    <a:pos x="22" y="39"/>
                  </a:cxn>
                  <a:cxn ang="0">
                    <a:pos x="22" y="39"/>
                  </a:cxn>
                  <a:cxn ang="0">
                    <a:pos x="22" y="32"/>
                  </a:cxn>
                  <a:cxn ang="0">
                    <a:pos x="20" y="32"/>
                  </a:cxn>
                  <a:cxn ang="0">
                    <a:pos x="15" y="26"/>
                  </a:cxn>
                  <a:cxn ang="0">
                    <a:pos x="15" y="26"/>
                  </a:cxn>
                  <a:cxn ang="0">
                    <a:pos x="18" y="21"/>
                  </a:cxn>
                  <a:cxn ang="0">
                    <a:pos x="22" y="20"/>
                  </a:cxn>
                  <a:cxn ang="0">
                    <a:pos x="22" y="20"/>
                  </a:cxn>
                  <a:cxn ang="0">
                    <a:pos x="22" y="14"/>
                  </a:cxn>
                  <a:cxn ang="0">
                    <a:pos x="7" y="10"/>
                  </a:cxn>
                  <a:cxn ang="0">
                    <a:pos x="24" y="2"/>
                  </a:cxn>
                  <a:cxn ang="0">
                    <a:pos x="40" y="10"/>
                  </a:cxn>
                  <a:cxn ang="0">
                    <a:pos x="40" y="10"/>
                  </a:cxn>
                  <a:cxn ang="0">
                    <a:pos x="24" y="8"/>
                  </a:cxn>
                  <a:cxn ang="0">
                    <a:pos x="7" y="10"/>
                  </a:cxn>
                  <a:cxn ang="0">
                    <a:pos x="7" y="10"/>
                  </a:cxn>
                  <a:cxn ang="0">
                    <a:pos x="24" y="0"/>
                  </a:cxn>
                  <a:cxn ang="0">
                    <a:pos x="0" y="23"/>
                  </a:cxn>
                  <a:cxn ang="0">
                    <a:pos x="0" y="23"/>
                  </a:cxn>
                  <a:cxn ang="0">
                    <a:pos x="5" y="38"/>
                  </a:cxn>
                  <a:cxn ang="0">
                    <a:pos x="14" y="56"/>
                  </a:cxn>
                  <a:cxn ang="0">
                    <a:pos x="15" y="56"/>
                  </a:cxn>
                  <a:cxn ang="0">
                    <a:pos x="18" y="56"/>
                  </a:cxn>
                  <a:cxn ang="0">
                    <a:pos x="28" y="56"/>
                  </a:cxn>
                  <a:cxn ang="0">
                    <a:pos x="33" y="56"/>
                  </a:cxn>
                  <a:cxn ang="0">
                    <a:pos x="33" y="56"/>
                  </a:cxn>
                  <a:cxn ang="0">
                    <a:pos x="42" y="38"/>
                  </a:cxn>
                  <a:cxn ang="0">
                    <a:pos x="47" y="23"/>
                  </a:cxn>
                  <a:cxn ang="0">
                    <a:pos x="47" y="23"/>
                  </a:cxn>
                  <a:cxn ang="0">
                    <a:pos x="24" y="0"/>
                  </a:cxn>
                </a:cxnLst>
                <a:rect l="0" t="0" r="r" b="b"/>
                <a:pathLst>
                  <a:path w="47" h="56">
                    <a:moveTo>
                      <a:pt x="22" y="14"/>
                    </a:moveTo>
                    <a:cubicBezTo>
                      <a:pt x="22" y="14"/>
                      <a:pt x="22" y="14"/>
                      <a:pt x="22" y="14"/>
                    </a:cubicBezTo>
                    <a:cubicBezTo>
                      <a:pt x="25" y="14"/>
                      <a:pt x="25" y="14"/>
                      <a:pt x="25" y="14"/>
                    </a:cubicBezTo>
                    <a:cubicBezTo>
                      <a:pt x="25" y="20"/>
                      <a:pt x="25" y="20"/>
                      <a:pt x="25" y="20"/>
                    </a:cubicBezTo>
                    <a:cubicBezTo>
                      <a:pt x="27" y="20"/>
                      <a:pt x="28" y="21"/>
                      <a:pt x="30" y="22"/>
                    </a:cubicBezTo>
                    <a:cubicBezTo>
                      <a:pt x="31" y="23"/>
                      <a:pt x="32" y="25"/>
                      <a:pt x="32" y="27"/>
                    </a:cubicBezTo>
                    <a:cubicBezTo>
                      <a:pt x="32" y="27"/>
                      <a:pt x="32" y="27"/>
                      <a:pt x="32" y="27"/>
                    </a:cubicBezTo>
                    <a:cubicBezTo>
                      <a:pt x="28" y="27"/>
                      <a:pt x="28" y="27"/>
                      <a:pt x="28" y="27"/>
                    </a:cubicBezTo>
                    <a:cubicBezTo>
                      <a:pt x="28" y="25"/>
                      <a:pt x="27" y="24"/>
                      <a:pt x="25" y="23"/>
                    </a:cubicBezTo>
                    <a:cubicBezTo>
                      <a:pt x="25" y="23"/>
                      <a:pt x="25" y="23"/>
                      <a:pt x="25" y="23"/>
                    </a:cubicBezTo>
                    <a:cubicBezTo>
                      <a:pt x="25" y="29"/>
                      <a:pt x="25" y="29"/>
                      <a:pt x="25" y="29"/>
                    </a:cubicBezTo>
                    <a:cubicBezTo>
                      <a:pt x="26" y="30"/>
                      <a:pt x="27" y="30"/>
                      <a:pt x="28" y="30"/>
                    </a:cubicBezTo>
                    <a:cubicBezTo>
                      <a:pt x="30" y="30"/>
                      <a:pt x="31" y="31"/>
                      <a:pt x="32" y="32"/>
                    </a:cubicBezTo>
                    <a:cubicBezTo>
                      <a:pt x="32" y="33"/>
                      <a:pt x="33" y="35"/>
                      <a:pt x="33" y="36"/>
                    </a:cubicBezTo>
                    <a:cubicBezTo>
                      <a:pt x="33" y="36"/>
                      <a:pt x="33" y="36"/>
                      <a:pt x="33" y="36"/>
                    </a:cubicBezTo>
                    <a:cubicBezTo>
                      <a:pt x="33" y="38"/>
                      <a:pt x="32" y="40"/>
                      <a:pt x="30" y="41"/>
                    </a:cubicBezTo>
                    <a:cubicBezTo>
                      <a:pt x="29" y="42"/>
                      <a:pt x="27" y="42"/>
                      <a:pt x="25" y="43"/>
                    </a:cubicBezTo>
                    <a:cubicBezTo>
                      <a:pt x="25" y="43"/>
                      <a:pt x="25" y="43"/>
                      <a:pt x="25" y="43"/>
                    </a:cubicBezTo>
                    <a:cubicBezTo>
                      <a:pt x="25" y="48"/>
                      <a:pt x="25" y="48"/>
                      <a:pt x="25" y="48"/>
                    </a:cubicBezTo>
                    <a:cubicBezTo>
                      <a:pt x="22" y="48"/>
                      <a:pt x="22" y="48"/>
                      <a:pt x="22" y="48"/>
                    </a:cubicBezTo>
                    <a:cubicBezTo>
                      <a:pt x="22" y="43"/>
                      <a:pt x="22" y="43"/>
                      <a:pt x="22" y="43"/>
                    </a:cubicBezTo>
                    <a:cubicBezTo>
                      <a:pt x="20" y="42"/>
                      <a:pt x="19" y="42"/>
                      <a:pt x="17" y="41"/>
                    </a:cubicBezTo>
                    <a:cubicBezTo>
                      <a:pt x="15" y="39"/>
                      <a:pt x="15" y="37"/>
                      <a:pt x="15" y="35"/>
                    </a:cubicBezTo>
                    <a:cubicBezTo>
                      <a:pt x="15" y="35"/>
                      <a:pt x="15" y="35"/>
                      <a:pt x="15" y="35"/>
                    </a:cubicBezTo>
                    <a:cubicBezTo>
                      <a:pt x="19" y="35"/>
                      <a:pt x="19" y="35"/>
                      <a:pt x="19" y="35"/>
                    </a:cubicBezTo>
                    <a:cubicBezTo>
                      <a:pt x="19" y="37"/>
                      <a:pt x="20" y="39"/>
                      <a:pt x="22" y="39"/>
                    </a:cubicBezTo>
                    <a:cubicBezTo>
                      <a:pt x="22" y="39"/>
                      <a:pt x="22" y="39"/>
                      <a:pt x="22" y="39"/>
                    </a:cubicBezTo>
                    <a:cubicBezTo>
                      <a:pt x="22" y="32"/>
                      <a:pt x="22" y="32"/>
                      <a:pt x="22" y="32"/>
                    </a:cubicBezTo>
                    <a:cubicBezTo>
                      <a:pt x="21" y="32"/>
                      <a:pt x="21" y="32"/>
                      <a:pt x="20" y="32"/>
                    </a:cubicBezTo>
                    <a:cubicBezTo>
                      <a:pt x="17" y="31"/>
                      <a:pt x="15" y="29"/>
                      <a:pt x="15" y="26"/>
                    </a:cubicBezTo>
                    <a:cubicBezTo>
                      <a:pt x="15" y="26"/>
                      <a:pt x="15" y="26"/>
                      <a:pt x="15" y="26"/>
                    </a:cubicBezTo>
                    <a:cubicBezTo>
                      <a:pt x="15" y="24"/>
                      <a:pt x="16" y="23"/>
                      <a:pt x="18" y="21"/>
                    </a:cubicBezTo>
                    <a:cubicBezTo>
                      <a:pt x="19" y="21"/>
                      <a:pt x="20" y="20"/>
                      <a:pt x="22" y="20"/>
                    </a:cubicBezTo>
                    <a:cubicBezTo>
                      <a:pt x="22" y="20"/>
                      <a:pt x="22" y="20"/>
                      <a:pt x="22" y="20"/>
                    </a:cubicBezTo>
                    <a:cubicBezTo>
                      <a:pt x="22" y="14"/>
                      <a:pt x="22" y="14"/>
                      <a:pt x="22" y="14"/>
                    </a:cubicBezTo>
                    <a:moveTo>
                      <a:pt x="7" y="10"/>
                    </a:moveTo>
                    <a:cubicBezTo>
                      <a:pt x="11" y="5"/>
                      <a:pt x="17" y="2"/>
                      <a:pt x="24" y="2"/>
                    </a:cubicBezTo>
                    <a:cubicBezTo>
                      <a:pt x="31" y="2"/>
                      <a:pt x="37" y="5"/>
                      <a:pt x="40" y="10"/>
                    </a:cubicBezTo>
                    <a:cubicBezTo>
                      <a:pt x="40" y="10"/>
                      <a:pt x="40" y="10"/>
                      <a:pt x="40" y="10"/>
                    </a:cubicBezTo>
                    <a:cubicBezTo>
                      <a:pt x="35" y="9"/>
                      <a:pt x="30" y="8"/>
                      <a:pt x="24" y="8"/>
                    </a:cubicBezTo>
                    <a:cubicBezTo>
                      <a:pt x="18" y="8"/>
                      <a:pt x="12" y="9"/>
                      <a:pt x="7" y="10"/>
                    </a:cubicBezTo>
                    <a:cubicBezTo>
                      <a:pt x="7" y="10"/>
                      <a:pt x="7" y="10"/>
                      <a:pt x="7" y="10"/>
                    </a:cubicBezTo>
                    <a:moveTo>
                      <a:pt x="24" y="0"/>
                    </a:moveTo>
                    <a:cubicBezTo>
                      <a:pt x="11" y="0"/>
                      <a:pt x="0" y="10"/>
                      <a:pt x="0" y="23"/>
                    </a:cubicBezTo>
                    <a:cubicBezTo>
                      <a:pt x="0" y="23"/>
                      <a:pt x="0" y="23"/>
                      <a:pt x="0" y="23"/>
                    </a:cubicBezTo>
                    <a:cubicBezTo>
                      <a:pt x="0" y="29"/>
                      <a:pt x="2" y="34"/>
                      <a:pt x="5" y="38"/>
                    </a:cubicBezTo>
                    <a:cubicBezTo>
                      <a:pt x="7" y="40"/>
                      <a:pt x="13" y="50"/>
                      <a:pt x="14" y="56"/>
                    </a:cubicBezTo>
                    <a:cubicBezTo>
                      <a:pt x="15" y="56"/>
                      <a:pt x="15" y="56"/>
                      <a:pt x="15" y="56"/>
                    </a:cubicBezTo>
                    <a:cubicBezTo>
                      <a:pt x="18" y="56"/>
                      <a:pt x="18" y="56"/>
                      <a:pt x="18" y="56"/>
                    </a:cubicBezTo>
                    <a:cubicBezTo>
                      <a:pt x="28" y="56"/>
                      <a:pt x="28" y="56"/>
                      <a:pt x="28" y="56"/>
                    </a:cubicBezTo>
                    <a:cubicBezTo>
                      <a:pt x="33" y="56"/>
                      <a:pt x="33" y="56"/>
                      <a:pt x="33" y="56"/>
                    </a:cubicBezTo>
                    <a:cubicBezTo>
                      <a:pt x="33" y="56"/>
                      <a:pt x="33" y="56"/>
                      <a:pt x="33" y="56"/>
                    </a:cubicBezTo>
                    <a:cubicBezTo>
                      <a:pt x="34" y="50"/>
                      <a:pt x="40" y="40"/>
                      <a:pt x="42" y="38"/>
                    </a:cubicBezTo>
                    <a:cubicBezTo>
                      <a:pt x="45" y="34"/>
                      <a:pt x="47" y="29"/>
                      <a:pt x="47" y="23"/>
                    </a:cubicBezTo>
                    <a:cubicBezTo>
                      <a:pt x="47" y="23"/>
                      <a:pt x="47" y="23"/>
                      <a:pt x="47" y="23"/>
                    </a:cubicBezTo>
                    <a:cubicBezTo>
                      <a:pt x="47" y="10"/>
                      <a:pt x="37" y="0"/>
                      <a:pt x="24" y="0"/>
                    </a:cubicBezTo>
                  </a:path>
                </a:pathLst>
              </a:custGeom>
              <a:grpFill/>
              <a:ln w="9525">
                <a:noFill/>
                <a:round/>
                <a:headEnd/>
                <a:tailEnd/>
              </a:ln>
            </p:spPr>
            <p:txBody>
              <a:bodyPr anchor="ctr"/>
              <a:lstStyle/>
              <a:p>
                <a:pPr algn="ctr"/>
                <a:endParaRPr sz="2400"/>
              </a:p>
            </p:txBody>
          </p:sp>
        </p:grpSp>
        <p:grpSp>
          <p:nvGrpSpPr>
            <p:cNvPr id="53" name="i$ḷíďe">
              <a:extLst>
                <a:ext uri="{FF2B5EF4-FFF2-40B4-BE49-F238E27FC236}">
                  <a16:creationId xmlns:a16="http://schemas.microsoft.com/office/drawing/2014/main" id="{1A44A090-349D-4E82-9399-8B60E5D11A80}"/>
                </a:ext>
              </a:extLst>
            </p:cNvPr>
            <p:cNvGrpSpPr/>
            <p:nvPr/>
          </p:nvGrpSpPr>
          <p:grpSpPr>
            <a:xfrm>
              <a:off x="4823544" y="3073357"/>
              <a:ext cx="310605" cy="317750"/>
              <a:chOff x="4357688" y="2324100"/>
              <a:chExt cx="207963" cy="212726"/>
            </a:xfrm>
            <a:solidFill>
              <a:schemeClr val="bg1"/>
            </a:solidFill>
          </p:grpSpPr>
          <p:sp>
            <p:nvSpPr>
              <p:cNvPr id="82" name="išļîḍê">
                <a:extLst>
                  <a:ext uri="{FF2B5EF4-FFF2-40B4-BE49-F238E27FC236}">
                    <a16:creationId xmlns:a16="http://schemas.microsoft.com/office/drawing/2014/main" id="{0067F7E0-3214-417E-8677-8BA5D9A01003}"/>
                  </a:ext>
                </a:extLst>
              </p:cNvPr>
              <p:cNvSpPr>
                <a:spLocks/>
              </p:cNvSpPr>
              <p:nvPr/>
            </p:nvSpPr>
            <p:spPr bwMode="auto">
              <a:xfrm>
                <a:off x="4514850" y="2481263"/>
                <a:ext cx="3175" cy="7938"/>
              </a:xfrm>
              <a:custGeom>
                <a:avLst/>
                <a:gdLst/>
                <a:ahLst/>
                <a:cxnLst>
                  <a:cxn ang="0">
                    <a:pos x="1" y="0"/>
                  </a:cxn>
                  <a:cxn ang="0">
                    <a:pos x="0" y="1"/>
                  </a:cxn>
                  <a:cxn ang="0">
                    <a:pos x="0" y="1"/>
                  </a:cxn>
                  <a:cxn ang="0">
                    <a:pos x="1" y="3"/>
                  </a:cxn>
                  <a:cxn ang="0">
                    <a:pos x="1" y="3"/>
                  </a:cxn>
                  <a:cxn ang="0">
                    <a:pos x="1" y="0"/>
                  </a:cxn>
                </a:cxnLst>
                <a:rect l="0" t="0" r="r" b="b"/>
                <a:pathLst>
                  <a:path w="1" h="3">
                    <a:moveTo>
                      <a:pt x="1" y="0"/>
                    </a:moveTo>
                    <a:cubicBezTo>
                      <a:pt x="0" y="0"/>
                      <a:pt x="0" y="1"/>
                      <a:pt x="0" y="1"/>
                    </a:cubicBezTo>
                    <a:cubicBezTo>
                      <a:pt x="0" y="1"/>
                      <a:pt x="0" y="1"/>
                      <a:pt x="0" y="1"/>
                    </a:cubicBezTo>
                    <a:cubicBezTo>
                      <a:pt x="0" y="2"/>
                      <a:pt x="0" y="3"/>
                      <a:pt x="1" y="3"/>
                    </a:cubicBezTo>
                    <a:cubicBezTo>
                      <a:pt x="1" y="3"/>
                      <a:pt x="1" y="3"/>
                      <a:pt x="1" y="3"/>
                    </a:cubicBezTo>
                    <a:cubicBezTo>
                      <a:pt x="1" y="0"/>
                      <a:pt x="1" y="0"/>
                      <a:pt x="1" y="0"/>
                    </a:cubicBezTo>
                  </a:path>
                </a:pathLst>
              </a:custGeom>
              <a:grpFill/>
              <a:ln w="9525">
                <a:noFill/>
                <a:round/>
                <a:headEnd/>
                <a:tailEnd/>
              </a:ln>
            </p:spPr>
            <p:txBody>
              <a:bodyPr anchor="ctr"/>
              <a:lstStyle/>
              <a:p>
                <a:pPr algn="ctr"/>
                <a:endParaRPr sz="2400"/>
              </a:p>
            </p:txBody>
          </p:sp>
          <p:sp>
            <p:nvSpPr>
              <p:cNvPr id="83" name="îṥļiḋe">
                <a:extLst>
                  <a:ext uri="{FF2B5EF4-FFF2-40B4-BE49-F238E27FC236}">
                    <a16:creationId xmlns:a16="http://schemas.microsoft.com/office/drawing/2014/main" id="{D0B53ACF-ABAC-44AC-94DE-4B2BF66AC790}"/>
                  </a:ext>
                </a:extLst>
              </p:cNvPr>
              <p:cNvSpPr>
                <a:spLocks/>
              </p:cNvSpPr>
              <p:nvPr/>
            </p:nvSpPr>
            <p:spPr bwMode="auto">
              <a:xfrm>
                <a:off x="4522788" y="2497138"/>
                <a:ext cx="6350" cy="11113"/>
              </a:xfrm>
              <a:custGeom>
                <a:avLst/>
                <a:gdLst/>
                <a:ahLst/>
                <a:cxnLst>
                  <a:cxn ang="0">
                    <a:pos x="0" y="0"/>
                  </a:cxn>
                  <a:cxn ang="0">
                    <a:pos x="0" y="0"/>
                  </a:cxn>
                  <a:cxn ang="0">
                    <a:pos x="0" y="4"/>
                  </a:cxn>
                  <a:cxn ang="0">
                    <a:pos x="2" y="2"/>
                  </a:cxn>
                  <a:cxn ang="0">
                    <a:pos x="2" y="2"/>
                  </a:cxn>
                  <a:cxn ang="0">
                    <a:pos x="1" y="0"/>
                  </a:cxn>
                  <a:cxn ang="0">
                    <a:pos x="0" y="0"/>
                  </a:cxn>
                </a:cxnLst>
                <a:rect l="0" t="0" r="r" b="b"/>
                <a:pathLst>
                  <a:path w="2" h="4">
                    <a:moveTo>
                      <a:pt x="0" y="0"/>
                    </a:moveTo>
                    <a:cubicBezTo>
                      <a:pt x="0" y="0"/>
                      <a:pt x="0" y="0"/>
                      <a:pt x="0" y="0"/>
                    </a:cubicBezTo>
                    <a:cubicBezTo>
                      <a:pt x="0" y="4"/>
                      <a:pt x="0" y="4"/>
                      <a:pt x="0" y="4"/>
                    </a:cubicBezTo>
                    <a:cubicBezTo>
                      <a:pt x="2" y="4"/>
                      <a:pt x="2" y="3"/>
                      <a:pt x="2" y="2"/>
                    </a:cubicBezTo>
                    <a:cubicBezTo>
                      <a:pt x="2" y="2"/>
                      <a:pt x="2" y="2"/>
                      <a:pt x="2" y="2"/>
                    </a:cubicBezTo>
                    <a:cubicBezTo>
                      <a:pt x="2" y="1"/>
                      <a:pt x="2" y="1"/>
                      <a:pt x="1" y="0"/>
                    </a:cubicBezTo>
                    <a:cubicBezTo>
                      <a:pt x="1" y="0"/>
                      <a:pt x="1" y="0"/>
                      <a:pt x="0" y="0"/>
                    </a:cubicBezTo>
                  </a:path>
                </a:pathLst>
              </a:custGeom>
              <a:grpFill/>
              <a:ln w="9525">
                <a:noFill/>
                <a:round/>
                <a:headEnd/>
                <a:tailEnd/>
              </a:ln>
            </p:spPr>
            <p:txBody>
              <a:bodyPr anchor="ctr"/>
              <a:lstStyle/>
              <a:p>
                <a:pPr algn="ctr"/>
                <a:endParaRPr sz="2400"/>
              </a:p>
            </p:txBody>
          </p:sp>
          <p:sp>
            <p:nvSpPr>
              <p:cNvPr id="84" name="iŝļïḍê">
                <a:extLst>
                  <a:ext uri="{FF2B5EF4-FFF2-40B4-BE49-F238E27FC236}">
                    <a16:creationId xmlns:a16="http://schemas.microsoft.com/office/drawing/2014/main" id="{85479102-1A47-4511-A709-919FDF00EA18}"/>
                  </a:ext>
                </a:extLst>
              </p:cNvPr>
              <p:cNvSpPr>
                <a:spLocks/>
              </p:cNvSpPr>
              <p:nvPr/>
            </p:nvSpPr>
            <p:spPr bwMode="auto">
              <a:xfrm>
                <a:off x="4478338" y="2449513"/>
                <a:ext cx="87313" cy="87313"/>
              </a:xfrm>
              <a:custGeom>
                <a:avLst/>
                <a:gdLst/>
                <a:ahLst/>
                <a:cxnLst>
                  <a:cxn ang="0">
                    <a:pos x="14" y="5"/>
                  </a:cxn>
                  <a:cxn ang="0">
                    <a:pos x="14" y="5"/>
                  </a:cxn>
                  <a:cxn ang="0">
                    <a:pos x="16" y="5"/>
                  </a:cxn>
                  <a:cxn ang="0">
                    <a:pos x="16" y="9"/>
                  </a:cxn>
                  <a:cxn ang="0">
                    <a:pos x="19" y="10"/>
                  </a:cxn>
                  <a:cxn ang="0">
                    <a:pos x="21" y="13"/>
                  </a:cxn>
                  <a:cxn ang="0">
                    <a:pos x="21" y="13"/>
                  </a:cxn>
                  <a:cxn ang="0">
                    <a:pos x="18" y="13"/>
                  </a:cxn>
                  <a:cxn ang="0">
                    <a:pos x="16" y="11"/>
                  </a:cxn>
                  <a:cxn ang="0">
                    <a:pos x="16" y="11"/>
                  </a:cxn>
                  <a:cxn ang="0">
                    <a:pos x="16" y="15"/>
                  </a:cxn>
                  <a:cxn ang="0">
                    <a:pos x="18" y="15"/>
                  </a:cxn>
                  <a:cxn ang="0">
                    <a:pos x="20" y="17"/>
                  </a:cxn>
                  <a:cxn ang="0">
                    <a:pos x="21" y="19"/>
                  </a:cxn>
                  <a:cxn ang="0">
                    <a:pos x="21" y="19"/>
                  </a:cxn>
                  <a:cxn ang="0">
                    <a:pos x="19" y="22"/>
                  </a:cxn>
                  <a:cxn ang="0">
                    <a:pos x="16" y="23"/>
                  </a:cxn>
                  <a:cxn ang="0">
                    <a:pos x="16" y="23"/>
                  </a:cxn>
                  <a:cxn ang="0">
                    <a:pos x="16" y="26"/>
                  </a:cxn>
                  <a:cxn ang="0">
                    <a:pos x="14" y="26"/>
                  </a:cxn>
                  <a:cxn ang="0">
                    <a:pos x="14" y="23"/>
                  </a:cxn>
                  <a:cxn ang="0">
                    <a:pos x="11" y="22"/>
                  </a:cxn>
                  <a:cxn ang="0">
                    <a:pos x="10" y="18"/>
                  </a:cxn>
                  <a:cxn ang="0">
                    <a:pos x="10" y="18"/>
                  </a:cxn>
                  <a:cxn ang="0">
                    <a:pos x="12" y="18"/>
                  </a:cxn>
                  <a:cxn ang="0">
                    <a:pos x="14" y="21"/>
                  </a:cxn>
                  <a:cxn ang="0">
                    <a:pos x="14" y="21"/>
                  </a:cxn>
                  <a:cxn ang="0">
                    <a:pos x="14" y="17"/>
                  </a:cxn>
                  <a:cxn ang="0">
                    <a:pos x="13" y="16"/>
                  </a:cxn>
                  <a:cxn ang="0">
                    <a:pos x="10" y="13"/>
                  </a:cxn>
                  <a:cxn ang="0">
                    <a:pos x="10" y="13"/>
                  </a:cxn>
                  <a:cxn ang="0">
                    <a:pos x="12" y="10"/>
                  </a:cxn>
                  <a:cxn ang="0">
                    <a:pos x="14" y="9"/>
                  </a:cxn>
                  <a:cxn ang="0">
                    <a:pos x="14" y="9"/>
                  </a:cxn>
                  <a:cxn ang="0">
                    <a:pos x="14" y="5"/>
                  </a:cxn>
                  <a:cxn ang="0">
                    <a:pos x="15" y="0"/>
                  </a:cxn>
                  <a:cxn ang="0">
                    <a:pos x="0" y="16"/>
                  </a:cxn>
                  <a:cxn ang="0">
                    <a:pos x="0" y="16"/>
                  </a:cxn>
                  <a:cxn ang="0">
                    <a:pos x="15" y="31"/>
                  </a:cxn>
                  <a:cxn ang="0">
                    <a:pos x="31" y="16"/>
                  </a:cxn>
                  <a:cxn ang="0">
                    <a:pos x="31" y="16"/>
                  </a:cxn>
                  <a:cxn ang="0">
                    <a:pos x="15" y="0"/>
                  </a:cxn>
                </a:cxnLst>
                <a:rect l="0" t="0" r="r" b="b"/>
                <a:pathLst>
                  <a:path w="31" h="31">
                    <a:moveTo>
                      <a:pt x="14" y="5"/>
                    </a:moveTo>
                    <a:cubicBezTo>
                      <a:pt x="14" y="5"/>
                      <a:pt x="14" y="5"/>
                      <a:pt x="14" y="5"/>
                    </a:cubicBezTo>
                    <a:cubicBezTo>
                      <a:pt x="16" y="5"/>
                      <a:pt x="16" y="5"/>
                      <a:pt x="16" y="5"/>
                    </a:cubicBezTo>
                    <a:cubicBezTo>
                      <a:pt x="16" y="9"/>
                      <a:pt x="16" y="9"/>
                      <a:pt x="16" y="9"/>
                    </a:cubicBezTo>
                    <a:cubicBezTo>
                      <a:pt x="17" y="9"/>
                      <a:pt x="18" y="9"/>
                      <a:pt x="19" y="10"/>
                    </a:cubicBezTo>
                    <a:cubicBezTo>
                      <a:pt x="20" y="11"/>
                      <a:pt x="21" y="12"/>
                      <a:pt x="21" y="13"/>
                    </a:cubicBezTo>
                    <a:cubicBezTo>
                      <a:pt x="21" y="13"/>
                      <a:pt x="21" y="13"/>
                      <a:pt x="21" y="13"/>
                    </a:cubicBezTo>
                    <a:cubicBezTo>
                      <a:pt x="18" y="13"/>
                      <a:pt x="18" y="13"/>
                      <a:pt x="18" y="13"/>
                    </a:cubicBezTo>
                    <a:cubicBezTo>
                      <a:pt x="18" y="12"/>
                      <a:pt x="17" y="11"/>
                      <a:pt x="16" y="11"/>
                    </a:cubicBezTo>
                    <a:cubicBezTo>
                      <a:pt x="16" y="11"/>
                      <a:pt x="16" y="11"/>
                      <a:pt x="16" y="11"/>
                    </a:cubicBezTo>
                    <a:cubicBezTo>
                      <a:pt x="16" y="15"/>
                      <a:pt x="16" y="15"/>
                      <a:pt x="16" y="15"/>
                    </a:cubicBezTo>
                    <a:cubicBezTo>
                      <a:pt x="17" y="15"/>
                      <a:pt x="17" y="15"/>
                      <a:pt x="18" y="15"/>
                    </a:cubicBezTo>
                    <a:cubicBezTo>
                      <a:pt x="19" y="15"/>
                      <a:pt x="20" y="16"/>
                      <a:pt x="20" y="17"/>
                    </a:cubicBezTo>
                    <a:cubicBezTo>
                      <a:pt x="21" y="17"/>
                      <a:pt x="21" y="18"/>
                      <a:pt x="21" y="19"/>
                    </a:cubicBezTo>
                    <a:cubicBezTo>
                      <a:pt x="21" y="19"/>
                      <a:pt x="21" y="19"/>
                      <a:pt x="21" y="19"/>
                    </a:cubicBezTo>
                    <a:cubicBezTo>
                      <a:pt x="21" y="20"/>
                      <a:pt x="20" y="21"/>
                      <a:pt x="19" y="22"/>
                    </a:cubicBezTo>
                    <a:cubicBezTo>
                      <a:pt x="18" y="22"/>
                      <a:pt x="17" y="23"/>
                      <a:pt x="16" y="23"/>
                    </a:cubicBezTo>
                    <a:cubicBezTo>
                      <a:pt x="16" y="23"/>
                      <a:pt x="16" y="23"/>
                      <a:pt x="16" y="23"/>
                    </a:cubicBezTo>
                    <a:cubicBezTo>
                      <a:pt x="16" y="26"/>
                      <a:pt x="16" y="26"/>
                      <a:pt x="16" y="26"/>
                    </a:cubicBezTo>
                    <a:cubicBezTo>
                      <a:pt x="14" y="26"/>
                      <a:pt x="14" y="26"/>
                      <a:pt x="14" y="26"/>
                    </a:cubicBezTo>
                    <a:cubicBezTo>
                      <a:pt x="14" y="23"/>
                      <a:pt x="14" y="23"/>
                      <a:pt x="14" y="23"/>
                    </a:cubicBezTo>
                    <a:cubicBezTo>
                      <a:pt x="13" y="23"/>
                      <a:pt x="12" y="22"/>
                      <a:pt x="11" y="22"/>
                    </a:cubicBezTo>
                    <a:cubicBezTo>
                      <a:pt x="10" y="21"/>
                      <a:pt x="10" y="20"/>
                      <a:pt x="10" y="18"/>
                    </a:cubicBezTo>
                    <a:cubicBezTo>
                      <a:pt x="10" y="18"/>
                      <a:pt x="10" y="18"/>
                      <a:pt x="10" y="18"/>
                    </a:cubicBezTo>
                    <a:cubicBezTo>
                      <a:pt x="12" y="18"/>
                      <a:pt x="12" y="18"/>
                      <a:pt x="12" y="18"/>
                    </a:cubicBezTo>
                    <a:cubicBezTo>
                      <a:pt x="12" y="19"/>
                      <a:pt x="13" y="20"/>
                      <a:pt x="14" y="21"/>
                    </a:cubicBezTo>
                    <a:cubicBezTo>
                      <a:pt x="14" y="21"/>
                      <a:pt x="14" y="21"/>
                      <a:pt x="14" y="21"/>
                    </a:cubicBezTo>
                    <a:cubicBezTo>
                      <a:pt x="14" y="17"/>
                      <a:pt x="14" y="17"/>
                      <a:pt x="14" y="17"/>
                    </a:cubicBezTo>
                    <a:cubicBezTo>
                      <a:pt x="13" y="16"/>
                      <a:pt x="13" y="16"/>
                      <a:pt x="13" y="16"/>
                    </a:cubicBezTo>
                    <a:cubicBezTo>
                      <a:pt x="11" y="16"/>
                      <a:pt x="10" y="15"/>
                      <a:pt x="10" y="13"/>
                    </a:cubicBezTo>
                    <a:cubicBezTo>
                      <a:pt x="10" y="13"/>
                      <a:pt x="10" y="13"/>
                      <a:pt x="10" y="13"/>
                    </a:cubicBezTo>
                    <a:cubicBezTo>
                      <a:pt x="10" y="11"/>
                      <a:pt x="11" y="10"/>
                      <a:pt x="12" y="10"/>
                    </a:cubicBezTo>
                    <a:cubicBezTo>
                      <a:pt x="12" y="9"/>
                      <a:pt x="13" y="9"/>
                      <a:pt x="14" y="9"/>
                    </a:cubicBezTo>
                    <a:cubicBezTo>
                      <a:pt x="14" y="9"/>
                      <a:pt x="14" y="9"/>
                      <a:pt x="14" y="9"/>
                    </a:cubicBezTo>
                    <a:cubicBezTo>
                      <a:pt x="14" y="5"/>
                      <a:pt x="14" y="5"/>
                      <a:pt x="14" y="5"/>
                    </a:cubicBezTo>
                    <a:moveTo>
                      <a:pt x="15" y="0"/>
                    </a:moveTo>
                    <a:cubicBezTo>
                      <a:pt x="7" y="0"/>
                      <a:pt x="0" y="7"/>
                      <a:pt x="0" y="16"/>
                    </a:cubicBezTo>
                    <a:cubicBezTo>
                      <a:pt x="0" y="16"/>
                      <a:pt x="0" y="16"/>
                      <a:pt x="0" y="16"/>
                    </a:cubicBezTo>
                    <a:cubicBezTo>
                      <a:pt x="0" y="24"/>
                      <a:pt x="7" y="31"/>
                      <a:pt x="15" y="31"/>
                    </a:cubicBezTo>
                    <a:cubicBezTo>
                      <a:pt x="24" y="31"/>
                      <a:pt x="31" y="24"/>
                      <a:pt x="31" y="16"/>
                    </a:cubicBezTo>
                    <a:cubicBezTo>
                      <a:pt x="31" y="16"/>
                      <a:pt x="31" y="16"/>
                      <a:pt x="31" y="16"/>
                    </a:cubicBezTo>
                    <a:cubicBezTo>
                      <a:pt x="31" y="7"/>
                      <a:pt x="24" y="0"/>
                      <a:pt x="15" y="0"/>
                    </a:cubicBezTo>
                  </a:path>
                </a:pathLst>
              </a:custGeom>
              <a:grpFill/>
              <a:ln w="9525">
                <a:noFill/>
                <a:round/>
                <a:headEnd/>
                <a:tailEnd/>
              </a:ln>
            </p:spPr>
            <p:txBody>
              <a:bodyPr anchor="ctr"/>
              <a:lstStyle/>
              <a:p>
                <a:pPr algn="ctr"/>
                <a:endParaRPr sz="2400"/>
              </a:p>
            </p:txBody>
          </p:sp>
          <p:sp>
            <p:nvSpPr>
              <p:cNvPr id="85" name="i$1îďe">
                <a:extLst>
                  <a:ext uri="{FF2B5EF4-FFF2-40B4-BE49-F238E27FC236}">
                    <a16:creationId xmlns:a16="http://schemas.microsoft.com/office/drawing/2014/main" id="{9170E40C-3E65-4520-876F-EC78BAFECCDA}"/>
                  </a:ext>
                </a:extLst>
              </p:cNvPr>
              <p:cNvSpPr>
                <a:spLocks/>
              </p:cNvSpPr>
              <p:nvPr/>
            </p:nvSpPr>
            <p:spPr bwMode="auto">
              <a:xfrm>
                <a:off x="4357688" y="2324100"/>
                <a:ext cx="196850" cy="195263"/>
              </a:xfrm>
              <a:custGeom>
                <a:avLst/>
                <a:gdLst/>
                <a:ahLst/>
                <a:cxnLst>
                  <a:cxn ang="0">
                    <a:pos x="14" y="59"/>
                  </a:cxn>
                  <a:cxn ang="0">
                    <a:pos x="24" y="65"/>
                  </a:cxn>
                  <a:cxn ang="0">
                    <a:pos x="14" y="59"/>
                  </a:cxn>
                  <a:cxn ang="0">
                    <a:pos x="20" y="52"/>
                  </a:cxn>
                  <a:cxn ang="0">
                    <a:pos x="33" y="66"/>
                  </a:cxn>
                  <a:cxn ang="0">
                    <a:pos x="20" y="52"/>
                  </a:cxn>
                  <a:cxn ang="0">
                    <a:pos x="3" y="37"/>
                  </a:cxn>
                  <a:cxn ang="0">
                    <a:pos x="16" y="51"/>
                  </a:cxn>
                  <a:cxn ang="0">
                    <a:pos x="11" y="56"/>
                  </a:cxn>
                  <a:cxn ang="0">
                    <a:pos x="18" y="37"/>
                  </a:cxn>
                  <a:cxn ang="0">
                    <a:pos x="33" y="37"/>
                  </a:cxn>
                  <a:cxn ang="0">
                    <a:pos x="33" y="46"/>
                  </a:cxn>
                  <a:cxn ang="0">
                    <a:pos x="18" y="37"/>
                  </a:cxn>
                  <a:cxn ang="0">
                    <a:pos x="37" y="23"/>
                  </a:cxn>
                  <a:cxn ang="0">
                    <a:pos x="52" y="34"/>
                  </a:cxn>
                  <a:cxn ang="0">
                    <a:pos x="37" y="34"/>
                  </a:cxn>
                  <a:cxn ang="0">
                    <a:pos x="18" y="34"/>
                  </a:cxn>
                  <a:cxn ang="0">
                    <a:pos x="33" y="23"/>
                  </a:cxn>
                  <a:cxn ang="0">
                    <a:pos x="18" y="34"/>
                  </a:cxn>
                  <a:cxn ang="0">
                    <a:pos x="53" y="20"/>
                  </a:cxn>
                  <a:cxn ang="0">
                    <a:pos x="67" y="34"/>
                  </a:cxn>
                  <a:cxn ang="0">
                    <a:pos x="55" y="34"/>
                  </a:cxn>
                  <a:cxn ang="0">
                    <a:pos x="3" y="34"/>
                  </a:cxn>
                  <a:cxn ang="0">
                    <a:pos x="16" y="19"/>
                  </a:cxn>
                  <a:cxn ang="0">
                    <a:pos x="14" y="34"/>
                  </a:cxn>
                  <a:cxn ang="0">
                    <a:pos x="14" y="11"/>
                  </a:cxn>
                  <a:cxn ang="0">
                    <a:pos x="24" y="5"/>
                  </a:cxn>
                  <a:cxn ang="0">
                    <a:pos x="17" y="16"/>
                  </a:cxn>
                  <a:cxn ang="0">
                    <a:pos x="37" y="5"/>
                  </a:cxn>
                  <a:cxn ang="0">
                    <a:pos x="49" y="18"/>
                  </a:cxn>
                  <a:cxn ang="0">
                    <a:pos x="37" y="20"/>
                  </a:cxn>
                  <a:cxn ang="0">
                    <a:pos x="44" y="4"/>
                  </a:cxn>
                  <a:cxn ang="0">
                    <a:pos x="56" y="11"/>
                  </a:cxn>
                  <a:cxn ang="0">
                    <a:pos x="52" y="16"/>
                  </a:cxn>
                  <a:cxn ang="0">
                    <a:pos x="20" y="17"/>
                  </a:cxn>
                  <a:cxn ang="0">
                    <a:pos x="33" y="4"/>
                  </a:cxn>
                  <a:cxn ang="0">
                    <a:pos x="33" y="20"/>
                  </a:cxn>
                  <a:cxn ang="0">
                    <a:pos x="37" y="0"/>
                  </a:cxn>
                  <a:cxn ang="0">
                    <a:pos x="33" y="0"/>
                  </a:cxn>
                  <a:cxn ang="0">
                    <a:pos x="0" y="35"/>
                  </a:cxn>
                  <a:cxn ang="0">
                    <a:pos x="35" y="70"/>
                  </a:cxn>
                  <a:cxn ang="0">
                    <a:pos x="44" y="69"/>
                  </a:cxn>
                  <a:cxn ang="0">
                    <a:pos x="37" y="66"/>
                  </a:cxn>
                  <a:cxn ang="0">
                    <a:pos x="45" y="51"/>
                  </a:cxn>
                  <a:cxn ang="0">
                    <a:pos x="47" y="48"/>
                  </a:cxn>
                  <a:cxn ang="0">
                    <a:pos x="37" y="37"/>
                  </a:cxn>
                  <a:cxn ang="0">
                    <a:pos x="52" y="37"/>
                  </a:cxn>
                  <a:cxn ang="0">
                    <a:pos x="51" y="46"/>
                  </a:cxn>
                  <a:cxn ang="0">
                    <a:pos x="55" y="37"/>
                  </a:cxn>
                  <a:cxn ang="0">
                    <a:pos x="67" y="37"/>
                  </a:cxn>
                  <a:cxn ang="0">
                    <a:pos x="65" y="46"/>
                  </a:cxn>
                  <a:cxn ang="0">
                    <a:pos x="70" y="35"/>
                  </a:cxn>
                  <a:cxn ang="0">
                    <a:pos x="37" y="0"/>
                  </a:cxn>
                </a:cxnLst>
                <a:rect l="0" t="0" r="r" b="b"/>
                <a:pathLst>
                  <a:path w="70" h="70">
                    <a:moveTo>
                      <a:pt x="14" y="59"/>
                    </a:moveTo>
                    <a:cubicBezTo>
                      <a:pt x="14" y="59"/>
                      <a:pt x="14" y="59"/>
                      <a:pt x="14" y="59"/>
                    </a:cubicBezTo>
                    <a:cubicBezTo>
                      <a:pt x="14" y="57"/>
                      <a:pt x="16" y="55"/>
                      <a:pt x="18" y="54"/>
                    </a:cubicBezTo>
                    <a:cubicBezTo>
                      <a:pt x="19" y="58"/>
                      <a:pt x="21" y="62"/>
                      <a:pt x="24" y="65"/>
                    </a:cubicBezTo>
                    <a:cubicBezTo>
                      <a:pt x="24" y="65"/>
                      <a:pt x="24" y="65"/>
                      <a:pt x="24" y="65"/>
                    </a:cubicBezTo>
                    <a:cubicBezTo>
                      <a:pt x="20" y="63"/>
                      <a:pt x="17" y="61"/>
                      <a:pt x="14" y="59"/>
                    </a:cubicBezTo>
                    <a:moveTo>
                      <a:pt x="20" y="52"/>
                    </a:moveTo>
                    <a:cubicBezTo>
                      <a:pt x="20" y="52"/>
                      <a:pt x="20" y="52"/>
                      <a:pt x="20" y="52"/>
                    </a:cubicBezTo>
                    <a:cubicBezTo>
                      <a:pt x="24" y="51"/>
                      <a:pt x="29" y="50"/>
                      <a:pt x="33" y="50"/>
                    </a:cubicBezTo>
                    <a:cubicBezTo>
                      <a:pt x="33" y="66"/>
                      <a:pt x="33" y="66"/>
                      <a:pt x="33" y="66"/>
                    </a:cubicBezTo>
                    <a:cubicBezTo>
                      <a:pt x="33" y="66"/>
                      <a:pt x="33" y="66"/>
                      <a:pt x="33" y="66"/>
                    </a:cubicBezTo>
                    <a:cubicBezTo>
                      <a:pt x="27" y="65"/>
                      <a:pt x="23" y="59"/>
                      <a:pt x="20" y="52"/>
                    </a:cubicBezTo>
                    <a:moveTo>
                      <a:pt x="3" y="37"/>
                    </a:moveTo>
                    <a:cubicBezTo>
                      <a:pt x="3" y="37"/>
                      <a:pt x="3" y="37"/>
                      <a:pt x="3" y="37"/>
                    </a:cubicBezTo>
                    <a:cubicBezTo>
                      <a:pt x="14" y="37"/>
                      <a:pt x="14" y="37"/>
                      <a:pt x="14" y="37"/>
                    </a:cubicBezTo>
                    <a:cubicBezTo>
                      <a:pt x="14" y="41"/>
                      <a:pt x="15" y="46"/>
                      <a:pt x="16" y="51"/>
                    </a:cubicBezTo>
                    <a:cubicBezTo>
                      <a:pt x="16" y="51"/>
                      <a:pt x="16" y="51"/>
                      <a:pt x="16" y="51"/>
                    </a:cubicBezTo>
                    <a:cubicBezTo>
                      <a:pt x="14" y="52"/>
                      <a:pt x="12" y="54"/>
                      <a:pt x="11" y="56"/>
                    </a:cubicBezTo>
                    <a:cubicBezTo>
                      <a:pt x="7" y="51"/>
                      <a:pt x="4" y="44"/>
                      <a:pt x="3" y="37"/>
                    </a:cubicBezTo>
                    <a:moveTo>
                      <a:pt x="18" y="37"/>
                    </a:moveTo>
                    <a:cubicBezTo>
                      <a:pt x="18" y="37"/>
                      <a:pt x="18" y="37"/>
                      <a:pt x="18" y="37"/>
                    </a:cubicBezTo>
                    <a:cubicBezTo>
                      <a:pt x="33" y="37"/>
                      <a:pt x="33" y="37"/>
                      <a:pt x="33" y="37"/>
                    </a:cubicBezTo>
                    <a:cubicBezTo>
                      <a:pt x="33" y="46"/>
                      <a:pt x="33" y="46"/>
                      <a:pt x="33" y="46"/>
                    </a:cubicBezTo>
                    <a:cubicBezTo>
                      <a:pt x="33" y="46"/>
                      <a:pt x="33" y="46"/>
                      <a:pt x="33" y="46"/>
                    </a:cubicBezTo>
                    <a:cubicBezTo>
                      <a:pt x="29" y="47"/>
                      <a:pt x="24" y="47"/>
                      <a:pt x="19" y="49"/>
                    </a:cubicBezTo>
                    <a:cubicBezTo>
                      <a:pt x="18" y="45"/>
                      <a:pt x="18" y="41"/>
                      <a:pt x="18" y="37"/>
                    </a:cubicBezTo>
                    <a:moveTo>
                      <a:pt x="37" y="23"/>
                    </a:moveTo>
                    <a:cubicBezTo>
                      <a:pt x="37" y="23"/>
                      <a:pt x="37" y="23"/>
                      <a:pt x="37" y="23"/>
                    </a:cubicBezTo>
                    <a:cubicBezTo>
                      <a:pt x="41" y="23"/>
                      <a:pt x="46" y="23"/>
                      <a:pt x="50" y="21"/>
                    </a:cubicBezTo>
                    <a:cubicBezTo>
                      <a:pt x="51" y="25"/>
                      <a:pt x="52" y="30"/>
                      <a:pt x="52" y="34"/>
                    </a:cubicBezTo>
                    <a:cubicBezTo>
                      <a:pt x="52" y="34"/>
                      <a:pt x="52" y="34"/>
                      <a:pt x="52" y="34"/>
                    </a:cubicBezTo>
                    <a:cubicBezTo>
                      <a:pt x="37" y="34"/>
                      <a:pt x="37" y="34"/>
                      <a:pt x="37" y="34"/>
                    </a:cubicBezTo>
                    <a:cubicBezTo>
                      <a:pt x="37" y="23"/>
                      <a:pt x="37" y="23"/>
                      <a:pt x="37" y="23"/>
                    </a:cubicBezTo>
                    <a:moveTo>
                      <a:pt x="18" y="34"/>
                    </a:moveTo>
                    <a:cubicBezTo>
                      <a:pt x="18" y="29"/>
                      <a:pt x="18" y="25"/>
                      <a:pt x="19" y="21"/>
                    </a:cubicBezTo>
                    <a:cubicBezTo>
                      <a:pt x="23" y="22"/>
                      <a:pt x="29" y="23"/>
                      <a:pt x="33" y="23"/>
                    </a:cubicBezTo>
                    <a:cubicBezTo>
                      <a:pt x="33" y="34"/>
                      <a:pt x="33" y="34"/>
                      <a:pt x="33" y="34"/>
                    </a:cubicBezTo>
                    <a:cubicBezTo>
                      <a:pt x="18" y="34"/>
                      <a:pt x="18" y="34"/>
                      <a:pt x="18" y="34"/>
                    </a:cubicBezTo>
                    <a:moveTo>
                      <a:pt x="53" y="20"/>
                    </a:moveTo>
                    <a:cubicBezTo>
                      <a:pt x="53" y="20"/>
                      <a:pt x="53" y="20"/>
                      <a:pt x="53" y="20"/>
                    </a:cubicBezTo>
                    <a:cubicBezTo>
                      <a:pt x="56" y="18"/>
                      <a:pt x="58" y="16"/>
                      <a:pt x="59" y="14"/>
                    </a:cubicBezTo>
                    <a:cubicBezTo>
                      <a:pt x="64" y="19"/>
                      <a:pt x="67" y="26"/>
                      <a:pt x="67" y="34"/>
                    </a:cubicBezTo>
                    <a:cubicBezTo>
                      <a:pt x="67" y="34"/>
                      <a:pt x="67" y="34"/>
                      <a:pt x="67" y="34"/>
                    </a:cubicBezTo>
                    <a:cubicBezTo>
                      <a:pt x="55" y="34"/>
                      <a:pt x="55" y="34"/>
                      <a:pt x="55" y="34"/>
                    </a:cubicBezTo>
                    <a:cubicBezTo>
                      <a:pt x="55" y="29"/>
                      <a:pt x="55" y="24"/>
                      <a:pt x="53" y="20"/>
                    </a:cubicBezTo>
                    <a:moveTo>
                      <a:pt x="3" y="34"/>
                    </a:moveTo>
                    <a:cubicBezTo>
                      <a:pt x="4" y="26"/>
                      <a:pt x="7" y="19"/>
                      <a:pt x="12" y="14"/>
                    </a:cubicBezTo>
                    <a:cubicBezTo>
                      <a:pt x="12" y="16"/>
                      <a:pt x="14" y="18"/>
                      <a:pt x="16" y="19"/>
                    </a:cubicBezTo>
                    <a:cubicBezTo>
                      <a:pt x="16" y="19"/>
                      <a:pt x="16" y="19"/>
                      <a:pt x="16" y="19"/>
                    </a:cubicBezTo>
                    <a:cubicBezTo>
                      <a:pt x="15" y="24"/>
                      <a:pt x="14" y="29"/>
                      <a:pt x="14" y="34"/>
                    </a:cubicBezTo>
                    <a:cubicBezTo>
                      <a:pt x="3" y="34"/>
                      <a:pt x="3" y="34"/>
                      <a:pt x="3" y="34"/>
                    </a:cubicBezTo>
                    <a:moveTo>
                      <a:pt x="14" y="11"/>
                    </a:moveTo>
                    <a:cubicBezTo>
                      <a:pt x="14" y="11"/>
                      <a:pt x="14" y="11"/>
                      <a:pt x="14" y="11"/>
                    </a:cubicBezTo>
                    <a:cubicBezTo>
                      <a:pt x="17" y="8"/>
                      <a:pt x="20" y="6"/>
                      <a:pt x="24" y="5"/>
                    </a:cubicBezTo>
                    <a:cubicBezTo>
                      <a:pt x="24" y="5"/>
                      <a:pt x="24" y="5"/>
                      <a:pt x="24" y="5"/>
                    </a:cubicBezTo>
                    <a:cubicBezTo>
                      <a:pt x="21" y="8"/>
                      <a:pt x="19" y="11"/>
                      <a:pt x="17" y="16"/>
                    </a:cubicBezTo>
                    <a:cubicBezTo>
                      <a:pt x="16" y="14"/>
                      <a:pt x="14" y="13"/>
                      <a:pt x="14" y="11"/>
                    </a:cubicBezTo>
                    <a:moveTo>
                      <a:pt x="37" y="5"/>
                    </a:moveTo>
                    <a:cubicBezTo>
                      <a:pt x="37" y="5"/>
                      <a:pt x="37" y="5"/>
                      <a:pt x="37" y="5"/>
                    </a:cubicBezTo>
                    <a:cubicBezTo>
                      <a:pt x="43" y="5"/>
                      <a:pt x="47" y="11"/>
                      <a:pt x="49" y="18"/>
                    </a:cubicBezTo>
                    <a:cubicBezTo>
                      <a:pt x="49" y="18"/>
                      <a:pt x="49" y="18"/>
                      <a:pt x="49" y="18"/>
                    </a:cubicBezTo>
                    <a:cubicBezTo>
                      <a:pt x="45" y="19"/>
                      <a:pt x="41" y="20"/>
                      <a:pt x="37" y="20"/>
                    </a:cubicBezTo>
                    <a:cubicBezTo>
                      <a:pt x="37" y="5"/>
                      <a:pt x="37" y="5"/>
                      <a:pt x="37" y="5"/>
                    </a:cubicBezTo>
                    <a:moveTo>
                      <a:pt x="44" y="4"/>
                    </a:moveTo>
                    <a:cubicBezTo>
                      <a:pt x="44" y="4"/>
                      <a:pt x="44" y="4"/>
                      <a:pt x="44" y="4"/>
                    </a:cubicBezTo>
                    <a:cubicBezTo>
                      <a:pt x="49" y="6"/>
                      <a:pt x="53" y="8"/>
                      <a:pt x="56" y="11"/>
                    </a:cubicBezTo>
                    <a:cubicBezTo>
                      <a:pt x="56" y="11"/>
                      <a:pt x="56" y="11"/>
                      <a:pt x="56" y="11"/>
                    </a:cubicBezTo>
                    <a:cubicBezTo>
                      <a:pt x="56" y="13"/>
                      <a:pt x="55" y="15"/>
                      <a:pt x="52" y="16"/>
                    </a:cubicBezTo>
                    <a:cubicBezTo>
                      <a:pt x="50" y="11"/>
                      <a:pt x="48" y="7"/>
                      <a:pt x="44" y="4"/>
                    </a:cubicBezTo>
                    <a:moveTo>
                      <a:pt x="20" y="17"/>
                    </a:moveTo>
                    <a:cubicBezTo>
                      <a:pt x="20" y="17"/>
                      <a:pt x="20" y="17"/>
                      <a:pt x="20" y="17"/>
                    </a:cubicBezTo>
                    <a:cubicBezTo>
                      <a:pt x="23" y="10"/>
                      <a:pt x="27" y="5"/>
                      <a:pt x="33" y="4"/>
                    </a:cubicBezTo>
                    <a:cubicBezTo>
                      <a:pt x="33" y="20"/>
                      <a:pt x="33" y="20"/>
                      <a:pt x="33" y="20"/>
                    </a:cubicBezTo>
                    <a:cubicBezTo>
                      <a:pt x="33" y="20"/>
                      <a:pt x="33" y="20"/>
                      <a:pt x="33" y="20"/>
                    </a:cubicBezTo>
                    <a:cubicBezTo>
                      <a:pt x="29" y="20"/>
                      <a:pt x="24" y="19"/>
                      <a:pt x="20" y="17"/>
                    </a:cubicBezTo>
                    <a:moveTo>
                      <a:pt x="37" y="0"/>
                    </a:moveTo>
                    <a:cubicBezTo>
                      <a:pt x="33" y="0"/>
                      <a:pt x="33" y="0"/>
                      <a:pt x="33" y="0"/>
                    </a:cubicBezTo>
                    <a:cubicBezTo>
                      <a:pt x="33" y="0"/>
                      <a:pt x="33" y="0"/>
                      <a:pt x="33" y="0"/>
                    </a:cubicBezTo>
                    <a:cubicBezTo>
                      <a:pt x="33" y="0"/>
                      <a:pt x="33" y="0"/>
                      <a:pt x="33" y="0"/>
                    </a:cubicBezTo>
                    <a:cubicBezTo>
                      <a:pt x="15" y="1"/>
                      <a:pt x="0" y="16"/>
                      <a:pt x="0" y="35"/>
                    </a:cubicBezTo>
                    <a:cubicBezTo>
                      <a:pt x="0" y="35"/>
                      <a:pt x="0" y="35"/>
                      <a:pt x="0" y="35"/>
                    </a:cubicBezTo>
                    <a:cubicBezTo>
                      <a:pt x="0" y="54"/>
                      <a:pt x="16" y="70"/>
                      <a:pt x="35" y="70"/>
                    </a:cubicBezTo>
                    <a:cubicBezTo>
                      <a:pt x="38" y="70"/>
                      <a:pt x="41" y="69"/>
                      <a:pt x="44" y="69"/>
                    </a:cubicBezTo>
                    <a:cubicBezTo>
                      <a:pt x="44" y="69"/>
                      <a:pt x="44" y="69"/>
                      <a:pt x="44" y="69"/>
                    </a:cubicBezTo>
                    <a:cubicBezTo>
                      <a:pt x="43" y="67"/>
                      <a:pt x="42" y="66"/>
                      <a:pt x="42" y="64"/>
                    </a:cubicBezTo>
                    <a:cubicBezTo>
                      <a:pt x="40" y="65"/>
                      <a:pt x="39" y="66"/>
                      <a:pt x="37" y="66"/>
                    </a:cubicBezTo>
                    <a:cubicBezTo>
                      <a:pt x="37" y="50"/>
                      <a:pt x="37" y="50"/>
                      <a:pt x="37" y="50"/>
                    </a:cubicBezTo>
                    <a:cubicBezTo>
                      <a:pt x="39" y="50"/>
                      <a:pt x="42" y="50"/>
                      <a:pt x="45" y="51"/>
                    </a:cubicBezTo>
                    <a:cubicBezTo>
                      <a:pt x="46" y="50"/>
                      <a:pt x="46" y="49"/>
                      <a:pt x="47" y="48"/>
                    </a:cubicBezTo>
                    <a:cubicBezTo>
                      <a:pt x="47" y="48"/>
                      <a:pt x="47" y="48"/>
                      <a:pt x="47" y="48"/>
                    </a:cubicBezTo>
                    <a:cubicBezTo>
                      <a:pt x="44" y="47"/>
                      <a:pt x="40" y="47"/>
                      <a:pt x="37" y="46"/>
                    </a:cubicBezTo>
                    <a:cubicBezTo>
                      <a:pt x="37" y="37"/>
                      <a:pt x="37" y="37"/>
                      <a:pt x="37" y="37"/>
                    </a:cubicBezTo>
                    <a:cubicBezTo>
                      <a:pt x="52" y="37"/>
                      <a:pt x="52" y="37"/>
                      <a:pt x="52" y="37"/>
                    </a:cubicBezTo>
                    <a:cubicBezTo>
                      <a:pt x="52" y="37"/>
                      <a:pt x="52" y="37"/>
                      <a:pt x="52" y="37"/>
                    </a:cubicBezTo>
                    <a:cubicBezTo>
                      <a:pt x="52" y="40"/>
                      <a:pt x="52" y="43"/>
                      <a:pt x="51" y="46"/>
                    </a:cubicBezTo>
                    <a:cubicBezTo>
                      <a:pt x="51" y="46"/>
                      <a:pt x="51" y="46"/>
                      <a:pt x="51" y="46"/>
                    </a:cubicBezTo>
                    <a:cubicBezTo>
                      <a:pt x="52" y="45"/>
                      <a:pt x="53" y="45"/>
                      <a:pt x="55" y="45"/>
                    </a:cubicBezTo>
                    <a:cubicBezTo>
                      <a:pt x="55" y="42"/>
                      <a:pt x="55" y="39"/>
                      <a:pt x="55" y="37"/>
                    </a:cubicBezTo>
                    <a:cubicBezTo>
                      <a:pt x="67" y="37"/>
                      <a:pt x="67" y="37"/>
                      <a:pt x="67" y="37"/>
                    </a:cubicBezTo>
                    <a:cubicBezTo>
                      <a:pt x="67" y="37"/>
                      <a:pt x="67" y="37"/>
                      <a:pt x="67" y="37"/>
                    </a:cubicBezTo>
                    <a:cubicBezTo>
                      <a:pt x="67" y="40"/>
                      <a:pt x="66" y="43"/>
                      <a:pt x="65" y="46"/>
                    </a:cubicBezTo>
                    <a:cubicBezTo>
                      <a:pt x="65" y="46"/>
                      <a:pt x="65" y="46"/>
                      <a:pt x="65" y="46"/>
                    </a:cubicBezTo>
                    <a:cubicBezTo>
                      <a:pt x="66" y="46"/>
                      <a:pt x="67" y="47"/>
                      <a:pt x="68" y="47"/>
                    </a:cubicBezTo>
                    <a:cubicBezTo>
                      <a:pt x="69" y="43"/>
                      <a:pt x="70" y="39"/>
                      <a:pt x="70" y="35"/>
                    </a:cubicBezTo>
                    <a:cubicBezTo>
                      <a:pt x="70" y="35"/>
                      <a:pt x="70" y="35"/>
                      <a:pt x="70" y="35"/>
                    </a:cubicBezTo>
                    <a:cubicBezTo>
                      <a:pt x="70" y="16"/>
                      <a:pt x="55" y="0"/>
                      <a:pt x="37" y="0"/>
                    </a:cubicBezTo>
                    <a:cubicBezTo>
                      <a:pt x="37" y="0"/>
                      <a:pt x="37" y="0"/>
                      <a:pt x="37" y="0"/>
                    </a:cubicBezTo>
                  </a:path>
                </a:pathLst>
              </a:custGeom>
              <a:grpFill/>
              <a:ln w="9525">
                <a:noFill/>
                <a:round/>
                <a:headEnd/>
                <a:tailEnd/>
              </a:ln>
            </p:spPr>
            <p:txBody>
              <a:bodyPr anchor="ctr"/>
              <a:lstStyle/>
              <a:p>
                <a:pPr algn="ctr"/>
                <a:endParaRPr sz="2400"/>
              </a:p>
            </p:txBody>
          </p:sp>
        </p:grpSp>
        <p:grpSp>
          <p:nvGrpSpPr>
            <p:cNvPr id="54" name="îṧḷíḓe">
              <a:extLst>
                <a:ext uri="{FF2B5EF4-FFF2-40B4-BE49-F238E27FC236}">
                  <a16:creationId xmlns:a16="http://schemas.microsoft.com/office/drawing/2014/main" id="{22113A38-B7F3-4C55-9A9D-DE5B56E6A0D7}"/>
                </a:ext>
              </a:extLst>
            </p:cNvPr>
            <p:cNvGrpSpPr/>
            <p:nvPr/>
          </p:nvGrpSpPr>
          <p:grpSpPr>
            <a:xfrm>
              <a:off x="2710644" y="3317516"/>
              <a:ext cx="317741" cy="334339"/>
              <a:chOff x="2854325" y="2497138"/>
              <a:chExt cx="212725" cy="223837"/>
            </a:xfrm>
            <a:solidFill>
              <a:schemeClr val="bg1"/>
            </a:solidFill>
          </p:grpSpPr>
          <p:sp>
            <p:nvSpPr>
              <p:cNvPr id="69" name="iṣlíḋé">
                <a:extLst>
                  <a:ext uri="{FF2B5EF4-FFF2-40B4-BE49-F238E27FC236}">
                    <a16:creationId xmlns:a16="http://schemas.microsoft.com/office/drawing/2014/main" id="{DB88060A-1E97-4D5F-A723-EB4D0CADA00E}"/>
                  </a:ext>
                </a:extLst>
              </p:cNvPr>
              <p:cNvSpPr>
                <a:spLocks/>
              </p:cNvSpPr>
              <p:nvPr/>
            </p:nvSpPr>
            <p:spPr bwMode="auto">
              <a:xfrm>
                <a:off x="2854325" y="2613025"/>
                <a:ext cx="212725" cy="107950"/>
              </a:xfrm>
              <a:custGeom>
                <a:avLst/>
                <a:gdLst/>
                <a:ahLst/>
                <a:cxnLst>
                  <a:cxn ang="0">
                    <a:pos x="15" y="26"/>
                  </a:cxn>
                  <a:cxn ang="0">
                    <a:pos x="27" y="33"/>
                  </a:cxn>
                  <a:cxn ang="0">
                    <a:pos x="15" y="26"/>
                  </a:cxn>
                  <a:cxn ang="0">
                    <a:pos x="57" y="21"/>
                  </a:cxn>
                  <a:cxn ang="0">
                    <a:pos x="61" y="27"/>
                  </a:cxn>
                  <a:cxn ang="0">
                    <a:pos x="50" y="33"/>
                  </a:cxn>
                  <a:cxn ang="0">
                    <a:pos x="22" y="20"/>
                  </a:cxn>
                  <a:cxn ang="0">
                    <a:pos x="36" y="34"/>
                  </a:cxn>
                  <a:cxn ang="0">
                    <a:pos x="22" y="20"/>
                  </a:cxn>
                  <a:cxn ang="0">
                    <a:pos x="40" y="17"/>
                  </a:cxn>
                  <a:cxn ang="0">
                    <a:pos x="54" y="20"/>
                  </a:cxn>
                  <a:cxn ang="0">
                    <a:pos x="40" y="17"/>
                  </a:cxn>
                  <a:cxn ang="0">
                    <a:pos x="4" y="3"/>
                  </a:cxn>
                  <a:cxn ang="0">
                    <a:pos x="18" y="18"/>
                  </a:cxn>
                  <a:cxn ang="0">
                    <a:pos x="13" y="24"/>
                  </a:cxn>
                  <a:cxn ang="0">
                    <a:pos x="19" y="3"/>
                  </a:cxn>
                  <a:cxn ang="0">
                    <a:pos x="36" y="3"/>
                  </a:cxn>
                  <a:cxn ang="0">
                    <a:pos x="36" y="13"/>
                  </a:cxn>
                  <a:cxn ang="0">
                    <a:pos x="19" y="3"/>
                  </a:cxn>
                  <a:cxn ang="0">
                    <a:pos x="40" y="3"/>
                  </a:cxn>
                  <a:cxn ang="0">
                    <a:pos x="57" y="3"/>
                  </a:cxn>
                  <a:cxn ang="0">
                    <a:pos x="40" y="13"/>
                  </a:cxn>
                  <a:cxn ang="0">
                    <a:pos x="58" y="18"/>
                  </a:cxn>
                  <a:cxn ang="0">
                    <a:pos x="60" y="3"/>
                  </a:cxn>
                  <a:cxn ang="0">
                    <a:pos x="73" y="3"/>
                  </a:cxn>
                  <a:cxn ang="0">
                    <a:pos x="58" y="18"/>
                  </a:cxn>
                  <a:cxn ang="0">
                    <a:pos x="0" y="0"/>
                  </a:cxn>
                  <a:cxn ang="0">
                    <a:pos x="0" y="1"/>
                  </a:cxn>
                  <a:cxn ang="0">
                    <a:pos x="76" y="1"/>
                  </a:cxn>
                  <a:cxn ang="0">
                    <a:pos x="76" y="1"/>
                  </a:cxn>
                  <a:cxn ang="0">
                    <a:pos x="76" y="0"/>
                  </a:cxn>
                  <a:cxn ang="0">
                    <a:pos x="76" y="0"/>
                  </a:cxn>
                </a:cxnLst>
                <a:rect l="0" t="0" r="r" b="b"/>
                <a:pathLst>
                  <a:path w="76" h="39">
                    <a:moveTo>
                      <a:pt x="15" y="26"/>
                    </a:moveTo>
                    <a:cubicBezTo>
                      <a:pt x="15" y="26"/>
                      <a:pt x="15" y="26"/>
                      <a:pt x="15" y="26"/>
                    </a:cubicBezTo>
                    <a:cubicBezTo>
                      <a:pt x="16" y="24"/>
                      <a:pt x="17" y="23"/>
                      <a:pt x="19" y="21"/>
                    </a:cubicBezTo>
                    <a:cubicBezTo>
                      <a:pt x="21" y="26"/>
                      <a:pt x="23" y="30"/>
                      <a:pt x="27" y="33"/>
                    </a:cubicBezTo>
                    <a:cubicBezTo>
                      <a:pt x="27" y="33"/>
                      <a:pt x="27" y="33"/>
                      <a:pt x="27" y="33"/>
                    </a:cubicBezTo>
                    <a:cubicBezTo>
                      <a:pt x="22" y="32"/>
                      <a:pt x="19" y="29"/>
                      <a:pt x="15" y="26"/>
                    </a:cubicBezTo>
                    <a:moveTo>
                      <a:pt x="50" y="33"/>
                    </a:moveTo>
                    <a:cubicBezTo>
                      <a:pt x="53" y="30"/>
                      <a:pt x="56" y="26"/>
                      <a:pt x="57" y="21"/>
                    </a:cubicBezTo>
                    <a:cubicBezTo>
                      <a:pt x="59" y="23"/>
                      <a:pt x="61" y="25"/>
                      <a:pt x="61" y="27"/>
                    </a:cubicBezTo>
                    <a:cubicBezTo>
                      <a:pt x="61" y="27"/>
                      <a:pt x="61" y="27"/>
                      <a:pt x="61" y="27"/>
                    </a:cubicBezTo>
                    <a:cubicBezTo>
                      <a:pt x="58" y="29"/>
                      <a:pt x="54" y="32"/>
                      <a:pt x="50" y="33"/>
                    </a:cubicBezTo>
                    <a:cubicBezTo>
                      <a:pt x="50" y="33"/>
                      <a:pt x="50" y="33"/>
                      <a:pt x="50" y="33"/>
                    </a:cubicBezTo>
                    <a:moveTo>
                      <a:pt x="22" y="20"/>
                    </a:moveTo>
                    <a:cubicBezTo>
                      <a:pt x="22" y="20"/>
                      <a:pt x="22" y="20"/>
                      <a:pt x="22" y="20"/>
                    </a:cubicBezTo>
                    <a:cubicBezTo>
                      <a:pt x="26" y="18"/>
                      <a:pt x="32" y="17"/>
                      <a:pt x="36" y="17"/>
                    </a:cubicBezTo>
                    <a:cubicBezTo>
                      <a:pt x="36" y="34"/>
                      <a:pt x="36" y="34"/>
                      <a:pt x="36" y="34"/>
                    </a:cubicBezTo>
                    <a:cubicBezTo>
                      <a:pt x="36" y="34"/>
                      <a:pt x="36" y="34"/>
                      <a:pt x="36" y="34"/>
                    </a:cubicBezTo>
                    <a:cubicBezTo>
                      <a:pt x="29" y="33"/>
                      <a:pt x="25" y="27"/>
                      <a:pt x="22" y="20"/>
                    </a:cubicBezTo>
                    <a:moveTo>
                      <a:pt x="40" y="17"/>
                    </a:moveTo>
                    <a:cubicBezTo>
                      <a:pt x="40" y="17"/>
                      <a:pt x="40" y="17"/>
                      <a:pt x="40" y="17"/>
                    </a:cubicBezTo>
                    <a:cubicBezTo>
                      <a:pt x="44" y="17"/>
                      <a:pt x="50" y="18"/>
                      <a:pt x="54" y="20"/>
                    </a:cubicBezTo>
                    <a:cubicBezTo>
                      <a:pt x="54" y="20"/>
                      <a:pt x="54" y="20"/>
                      <a:pt x="54" y="20"/>
                    </a:cubicBezTo>
                    <a:cubicBezTo>
                      <a:pt x="51" y="27"/>
                      <a:pt x="47" y="34"/>
                      <a:pt x="40" y="35"/>
                    </a:cubicBezTo>
                    <a:cubicBezTo>
                      <a:pt x="40" y="17"/>
                      <a:pt x="40" y="17"/>
                      <a:pt x="40" y="17"/>
                    </a:cubicBezTo>
                    <a:moveTo>
                      <a:pt x="4" y="3"/>
                    </a:moveTo>
                    <a:cubicBezTo>
                      <a:pt x="4" y="3"/>
                      <a:pt x="4" y="3"/>
                      <a:pt x="4" y="3"/>
                    </a:cubicBezTo>
                    <a:cubicBezTo>
                      <a:pt x="16" y="3"/>
                      <a:pt x="16" y="3"/>
                      <a:pt x="16" y="3"/>
                    </a:cubicBezTo>
                    <a:cubicBezTo>
                      <a:pt x="16" y="8"/>
                      <a:pt x="17" y="13"/>
                      <a:pt x="18" y="18"/>
                    </a:cubicBezTo>
                    <a:cubicBezTo>
                      <a:pt x="18" y="18"/>
                      <a:pt x="18" y="18"/>
                      <a:pt x="18" y="18"/>
                    </a:cubicBezTo>
                    <a:cubicBezTo>
                      <a:pt x="16" y="19"/>
                      <a:pt x="14" y="21"/>
                      <a:pt x="13" y="24"/>
                    </a:cubicBezTo>
                    <a:cubicBezTo>
                      <a:pt x="8" y="18"/>
                      <a:pt x="4" y="11"/>
                      <a:pt x="4" y="3"/>
                    </a:cubicBezTo>
                    <a:moveTo>
                      <a:pt x="19" y="3"/>
                    </a:moveTo>
                    <a:cubicBezTo>
                      <a:pt x="19" y="3"/>
                      <a:pt x="19" y="3"/>
                      <a:pt x="19" y="3"/>
                    </a:cubicBezTo>
                    <a:cubicBezTo>
                      <a:pt x="36" y="3"/>
                      <a:pt x="36" y="3"/>
                      <a:pt x="36" y="3"/>
                    </a:cubicBezTo>
                    <a:cubicBezTo>
                      <a:pt x="36" y="13"/>
                      <a:pt x="36" y="13"/>
                      <a:pt x="36" y="13"/>
                    </a:cubicBezTo>
                    <a:cubicBezTo>
                      <a:pt x="36" y="13"/>
                      <a:pt x="36" y="13"/>
                      <a:pt x="36" y="13"/>
                    </a:cubicBezTo>
                    <a:cubicBezTo>
                      <a:pt x="31" y="13"/>
                      <a:pt x="26" y="14"/>
                      <a:pt x="21" y="16"/>
                    </a:cubicBezTo>
                    <a:cubicBezTo>
                      <a:pt x="20" y="12"/>
                      <a:pt x="19" y="7"/>
                      <a:pt x="19" y="3"/>
                    </a:cubicBezTo>
                    <a:moveTo>
                      <a:pt x="40" y="3"/>
                    </a:moveTo>
                    <a:cubicBezTo>
                      <a:pt x="40" y="3"/>
                      <a:pt x="40" y="3"/>
                      <a:pt x="40" y="3"/>
                    </a:cubicBezTo>
                    <a:cubicBezTo>
                      <a:pt x="57" y="3"/>
                      <a:pt x="57" y="3"/>
                      <a:pt x="57" y="3"/>
                    </a:cubicBezTo>
                    <a:cubicBezTo>
                      <a:pt x="57" y="3"/>
                      <a:pt x="57" y="3"/>
                      <a:pt x="57" y="3"/>
                    </a:cubicBezTo>
                    <a:cubicBezTo>
                      <a:pt x="57" y="7"/>
                      <a:pt x="56" y="12"/>
                      <a:pt x="55" y="16"/>
                    </a:cubicBezTo>
                    <a:cubicBezTo>
                      <a:pt x="51" y="14"/>
                      <a:pt x="45" y="13"/>
                      <a:pt x="40" y="13"/>
                    </a:cubicBezTo>
                    <a:cubicBezTo>
                      <a:pt x="40" y="3"/>
                      <a:pt x="40" y="3"/>
                      <a:pt x="40" y="3"/>
                    </a:cubicBezTo>
                    <a:moveTo>
                      <a:pt x="58" y="18"/>
                    </a:moveTo>
                    <a:cubicBezTo>
                      <a:pt x="58" y="18"/>
                      <a:pt x="58" y="18"/>
                      <a:pt x="58" y="18"/>
                    </a:cubicBezTo>
                    <a:cubicBezTo>
                      <a:pt x="60" y="13"/>
                      <a:pt x="60" y="7"/>
                      <a:pt x="60" y="3"/>
                    </a:cubicBezTo>
                    <a:cubicBezTo>
                      <a:pt x="73" y="3"/>
                      <a:pt x="73" y="3"/>
                      <a:pt x="73" y="3"/>
                    </a:cubicBezTo>
                    <a:cubicBezTo>
                      <a:pt x="73" y="3"/>
                      <a:pt x="73" y="3"/>
                      <a:pt x="73" y="3"/>
                    </a:cubicBezTo>
                    <a:cubicBezTo>
                      <a:pt x="72" y="11"/>
                      <a:pt x="69" y="18"/>
                      <a:pt x="64" y="24"/>
                    </a:cubicBezTo>
                    <a:cubicBezTo>
                      <a:pt x="63" y="21"/>
                      <a:pt x="61" y="19"/>
                      <a:pt x="58" y="18"/>
                    </a:cubicBezTo>
                    <a:moveTo>
                      <a:pt x="76" y="0"/>
                    </a:moveTo>
                    <a:cubicBezTo>
                      <a:pt x="0" y="0"/>
                      <a:pt x="0" y="0"/>
                      <a:pt x="0" y="0"/>
                    </a:cubicBezTo>
                    <a:cubicBezTo>
                      <a:pt x="0" y="1"/>
                      <a:pt x="0" y="1"/>
                      <a:pt x="0" y="1"/>
                    </a:cubicBezTo>
                    <a:cubicBezTo>
                      <a:pt x="0" y="1"/>
                      <a:pt x="0" y="1"/>
                      <a:pt x="0" y="1"/>
                    </a:cubicBezTo>
                    <a:cubicBezTo>
                      <a:pt x="1" y="22"/>
                      <a:pt x="18" y="39"/>
                      <a:pt x="38" y="39"/>
                    </a:cubicBezTo>
                    <a:cubicBezTo>
                      <a:pt x="59" y="39"/>
                      <a:pt x="76" y="22"/>
                      <a:pt x="76" y="1"/>
                    </a:cubicBezTo>
                    <a:cubicBezTo>
                      <a:pt x="76" y="1"/>
                      <a:pt x="76" y="1"/>
                      <a:pt x="76" y="1"/>
                    </a:cubicBezTo>
                    <a:cubicBezTo>
                      <a:pt x="76" y="1"/>
                      <a:pt x="76" y="1"/>
                      <a:pt x="76" y="1"/>
                    </a:cubicBezTo>
                    <a:cubicBezTo>
                      <a:pt x="76" y="1"/>
                      <a:pt x="76" y="1"/>
                      <a:pt x="76" y="1"/>
                    </a:cubicBezTo>
                    <a:cubicBezTo>
                      <a:pt x="76" y="0"/>
                      <a:pt x="76" y="0"/>
                      <a:pt x="76" y="0"/>
                    </a:cubicBezTo>
                    <a:cubicBezTo>
                      <a:pt x="76" y="0"/>
                      <a:pt x="76" y="0"/>
                      <a:pt x="76" y="0"/>
                    </a:cubicBezTo>
                    <a:cubicBezTo>
                      <a:pt x="76" y="0"/>
                      <a:pt x="76" y="0"/>
                      <a:pt x="76" y="0"/>
                    </a:cubicBezTo>
                  </a:path>
                </a:pathLst>
              </a:custGeom>
              <a:grpFill/>
              <a:ln w="9525">
                <a:noFill/>
                <a:round/>
                <a:headEnd/>
                <a:tailEnd/>
              </a:ln>
            </p:spPr>
            <p:txBody>
              <a:bodyPr anchor="ctr"/>
              <a:lstStyle/>
              <a:p>
                <a:pPr algn="ctr"/>
                <a:endParaRPr sz="2400"/>
              </a:p>
            </p:txBody>
          </p:sp>
          <p:sp>
            <p:nvSpPr>
              <p:cNvPr id="70" name="ïṣḷîďê">
                <a:extLst>
                  <a:ext uri="{FF2B5EF4-FFF2-40B4-BE49-F238E27FC236}">
                    <a16:creationId xmlns:a16="http://schemas.microsoft.com/office/drawing/2014/main" id="{3B785475-3564-4A22-8CA7-7D20F24773E6}"/>
                  </a:ext>
                </a:extLst>
              </p:cNvPr>
              <p:cNvSpPr>
                <a:spLocks/>
              </p:cNvSpPr>
              <p:nvPr/>
            </p:nvSpPr>
            <p:spPr bwMode="auto">
              <a:xfrm>
                <a:off x="2941638" y="2497138"/>
                <a:ext cx="39688" cy="47625"/>
              </a:xfrm>
              <a:custGeom>
                <a:avLst/>
                <a:gdLst/>
                <a:ahLst/>
                <a:cxnLst>
                  <a:cxn ang="0">
                    <a:pos x="7" y="0"/>
                  </a:cxn>
                  <a:cxn ang="0">
                    <a:pos x="0" y="8"/>
                  </a:cxn>
                  <a:cxn ang="0">
                    <a:pos x="0" y="8"/>
                  </a:cxn>
                  <a:cxn ang="0">
                    <a:pos x="7" y="17"/>
                  </a:cxn>
                  <a:cxn ang="0">
                    <a:pos x="14" y="8"/>
                  </a:cxn>
                  <a:cxn ang="0">
                    <a:pos x="14" y="8"/>
                  </a:cxn>
                  <a:cxn ang="0">
                    <a:pos x="7" y="0"/>
                  </a:cxn>
                </a:cxnLst>
                <a:rect l="0" t="0" r="r" b="b"/>
                <a:pathLst>
                  <a:path w="14" h="17">
                    <a:moveTo>
                      <a:pt x="7" y="0"/>
                    </a:moveTo>
                    <a:cubicBezTo>
                      <a:pt x="3" y="0"/>
                      <a:pt x="0" y="4"/>
                      <a:pt x="0" y="8"/>
                    </a:cubicBezTo>
                    <a:cubicBezTo>
                      <a:pt x="0" y="8"/>
                      <a:pt x="0" y="8"/>
                      <a:pt x="0" y="8"/>
                    </a:cubicBezTo>
                    <a:cubicBezTo>
                      <a:pt x="0" y="13"/>
                      <a:pt x="3" y="17"/>
                      <a:pt x="7" y="17"/>
                    </a:cubicBezTo>
                    <a:cubicBezTo>
                      <a:pt x="11" y="17"/>
                      <a:pt x="14" y="13"/>
                      <a:pt x="14" y="8"/>
                    </a:cubicBezTo>
                    <a:cubicBezTo>
                      <a:pt x="14" y="8"/>
                      <a:pt x="14" y="8"/>
                      <a:pt x="14" y="8"/>
                    </a:cubicBezTo>
                    <a:cubicBezTo>
                      <a:pt x="14" y="4"/>
                      <a:pt x="11" y="0"/>
                      <a:pt x="7" y="0"/>
                    </a:cubicBezTo>
                  </a:path>
                </a:pathLst>
              </a:custGeom>
              <a:grpFill/>
              <a:ln w="9525">
                <a:noFill/>
                <a:round/>
                <a:headEnd/>
                <a:tailEnd/>
              </a:ln>
            </p:spPr>
            <p:txBody>
              <a:bodyPr anchor="ctr"/>
              <a:lstStyle/>
              <a:p>
                <a:pPr algn="ctr"/>
                <a:endParaRPr sz="2400"/>
              </a:p>
            </p:txBody>
          </p:sp>
          <p:sp>
            <p:nvSpPr>
              <p:cNvPr id="71" name="ïṥľíďe">
                <a:extLst>
                  <a:ext uri="{FF2B5EF4-FFF2-40B4-BE49-F238E27FC236}">
                    <a16:creationId xmlns:a16="http://schemas.microsoft.com/office/drawing/2014/main" id="{AF348639-3609-445E-B14C-71776BE8BE18}"/>
                  </a:ext>
                </a:extLst>
              </p:cNvPr>
              <p:cNvSpPr>
                <a:spLocks/>
              </p:cNvSpPr>
              <p:nvPr/>
            </p:nvSpPr>
            <p:spPr bwMode="auto">
              <a:xfrm>
                <a:off x="2922588" y="2547938"/>
                <a:ext cx="77788" cy="55563"/>
              </a:xfrm>
              <a:custGeom>
                <a:avLst/>
                <a:gdLst/>
                <a:ahLst/>
                <a:cxnLst>
                  <a:cxn ang="0">
                    <a:pos x="23" y="0"/>
                  </a:cxn>
                  <a:cxn ang="0">
                    <a:pos x="19" y="0"/>
                  </a:cxn>
                  <a:cxn ang="0">
                    <a:pos x="16" y="15"/>
                  </a:cxn>
                  <a:cxn ang="0">
                    <a:pos x="14" y="3"/>
                  </a:cxn>
                  <a:cxn ang="0">
                    <a:pos x="12" y="15"/>
                  </a:cxn>
                  <a:cxn ang="0">
                    <a:pos x="8" y="0"/>
                  </a:cxn>
                  <a:cxn ang="0">
                    <a:pos x="5" y="0"/>
                  </a:cxn>
                  <a:cxn ang="0">
                    <a:pos x="0" y="7"/>
                  </a:cxn>
                  <a:cxn ang="0">
                    <a:pos x="0" y="20"/>
                  </a:cxn>
                  <a:cxn ang="0">
                    <a:pos x="28" y="20"/>
                  </a:cxn>
                  <a:cxn ang="0">
                    <a:pos x="28" y="7"/>
                  </a:cxn>
                  <a:cxn ang="0">
                    <a:pos x="23" y="0"/>
                  </a:cxn>
                </a:cxnLst>
                <a:rect l="0" t="0" r="r" b="b"/>
                <a:pathLst>
                  <a:path w="28" h="20">
                    <a:moveTo>
                      <a:pt x="23" y="0"/>
                    </a:moveTo>
                    <a:cubicBezTo>
                      <a:pt x="19" y="0"/>
                      <a:pt x="19" y="0"/>
                      <a:pt x="19" y="0"/>
                    </a:cubicBezTo>
                    <a:cubicBezTo>
                      <a:pt x="16" y="15"/>
                      <a:pt x="16" y="15"/>
                      <a:pt x="16" y="15"/>
                    </a:cubicBezTo>
                    <a:cubicBezTo>
                      <a:pt x="14" y="3"/>
                      <a:pt x="14" y="3"/>
                      <a:pt x="14" y="3"/>
                    </a:cubicBezTo>
                    <a:cubicBezTo>
                      <a:pt x="12" y="15"/>
                      <a:pt x="12" y="15"/>
                      <a:pt x="12" y="15"/>
                    </a:cubicBezTo>
                    <a:cubicBezTo>
                      <a:pt x="8" y="0"/>
                      <a:pt x="8" y="0"/>
                      <a:pt x="8" y="0"/>
                    </a:cubicBezTo>
                    <a:cubicBezTo>
                      <a:pt x="5" y="0"/>
                      <a:pt x="5" y="0"/>
                      <a:pt x="5" y="0"/>
                    </a:cubicBezTo>
                    <a:cubicBezTo>
                      <a:pt x="2" y="0"/>
                      <a:pt x="0" y="3"/>
                      <a:pt x="0" y="7"/>
                    </a:cubicBezTo>
                    <a:cubicBezTo>
                      <a:pt x="0" y="20"/>
                      <a:pt x="0" y="20"/>
                      <a:pt x="0" y="20"/>
                    </a:cubicBezTo>
                    <a:cubicBezTo>
                      <a:pt x="28" y="20"/>
                      <a:pt x="28" y="20"/>
                      <a:pt x="28" y="20"/>
                    </a:cubicBezTo>
                    <a:cubicBezTo>
                      <a:pt x="28" y="7"/>
                      <a:pt x="28" y="7"/>
                      <a:pt x="28" y="7"/>
                    </a:cubicBezTo>
                    <a:cubicBezTo>
                      <a:pt x="28" y="3"/>
                      <a:pt x="26" y="0"/>
                      <a:pt x="23" y="0"/>
                    </a:cubicBezTo>
                  </a:path>
                </a:pathLst>
              </a:custGeom>
              <a:grpFill/>
              <a:ln w="9525">
                <a:noFill/>
                <a:round/>
                <a:headEnd/>
                <a:tailEnd/>
              </a:ln>
            </p:spPr>
            <p:txBody>
              <a:bodyPr anchor="ctr"/>
              <a:lstStyle/>
              <a:p>
                <a:pPr algn="ctr"/>
                <a:endParaRPr sz="2400"/>
              </a:p>
            </p:txBody>
          </p:sp>
          <p:sp>
            <p:nvSpPr>
              <p:cNvPr id="72" name="ïṡ1íḑé">
                <a:extLst>
                  <a:ext uri="{FF2B5EF4-FFF2-40B4-BE49-F238E27FC236}">
                    <a16:creationId xmlns:a16="http://schemas.microsoft.com/office/drawing/2014/main" id="{F98D8721-DF59-4B74-8F8B-A175A650C145}"/>
                  </a:ext>
                </a:extLst>
              </p:cNvPr>
              <p:cNvSpPr>
                <a:spLocks/>
              </p:cNvSpPr>
              <p:nvPr/>
            </p:nvSpPr>
            <p:spPr bwMode="auto">
              <a:xfrm>
                <a:off x="2955925" y="2547938"/>
                <a:ext cx="11113" cy="7938"/>
              </a:xfrm>
              <a:custGeom>
                <a:avLst/>
                <a:gdLst/>
                <a:ahLst/>
                <a:cxnLst>
                  <a:cxn ang="0">
                    <a:pos x="5" y="0"/>
                  </a:cxn>
                  <a:cxn ang="0">
                    <a:pos x="3" y="0"/>
                  </a:cxn>
                  <a:cxn ang="0">
                    <a:pos x="2" y="0"/>
                  </a:cxn>
                  <a:cxn ang="0">
                    <a:pos x="0" y="2"/>
                  </a:cxn>
                  <a:cxn ang="0">
                    <a:pos x="3" y="5"/>
                  </a:cxn>
                  <a:cxn ang="0">
                    <a:pos x="7" y="2"/>
                  </a:cxn>
                  <a:cxn ang="0">
                    <a:pos x="5" y="0"/>
                  </a:cxn>
                </a:cxnLst>
                <a:rect l="0" t="0" r="r" b="b"/>
                <a:pathLst>
                  <a:path w="7" h="5">
                    <a:moveTo>
                      <a:pt x="5" y="0"/>
                    </a:moveTo>
                    <a:lnTo>
                      <a:pt x="3" y="0"/>
                    </a:lnTo>
                    <a:lnTo>
                      <a:pt x="2" y="0"/>
                    </a:lnTo>
                    <a:lnTo>
                      <a:pt x="0" y="2"/>
                    </a:lnTo>
                    <a:lnTo>
                      <a:pt x="3" y="5"/>
                    </a:lnTo>
                    <a:lnTo>
                      <a:pt x="7" y="2"/>
                    </a:lnTo>
                    <a:lnTo>
                      <a:pt x="5" y="0"/>
                    </a:lnTo>
                    <a:close/>
                  </a:path>
                </a:pathLst>
              </a:custGeom>
              <a:grpFill/>
              <a:ln w="9525">
                <a:noFill/>
                <a:round/>
                <a:headEnd/>
                <a:tailEnd/>
              </a:ln>
            </p:spPr>
            <p:txBody>
              <a:bodyPr anchor="ctr"/>
              <a:lstStyle/>
              <a:p>
                <a:pPr algn="ctr"/>
                <a:endParaRPr sz="2400"/>
              </a:p>
            </p:txBody>
          </p:sp>
          <p:sp>
            <p:nvSpPr>
              <p:cNvPr id="73" name="ïṧḷiḑê">
                <a:extLst>
                  <a:ext uri="{FF2B5EF4-FFF2-40B4-BE49-F238E27FC236}">
                    <a16:creationId xmlns:a16="http://schemas.microsoft.com/office/drawing/2014/main" id="{2D5C9639-6A31-46E0-AD1A-0A4E9DDE2C37}"/>
                  </a:ext>
                </a:extLst>
              </p:cNvPr>
              <p:cNvSpPr>
                <a:spLocks/>
              </p:cNvSpPr>
              <p:nvPr/>
            </p:nvSpPr>
            <p:spPr bwMode="auto">
              <a:xfrm>
                <a:off x="2955925" y="2547938"/>
                <a:ext cx="11113" cy="7938"/>
              </a:xfrm>
              <a:custGeom>
                <a:avLst/>
                <a:gdLst/>
                <a:ahLst/>
                <a:cxnLst>
                  <a:cxn ang="0">
                    <a:pos x="5" y="0"/>
                  </a:cxn>
                  <a:cxn ang="0">
                    <a:pos x="3" y="0"/>
                  </a:cxn>
                  <a:cxn ang="0">
                    <a:pos x="2" y="0"/>
                  </a:cxn>
                  <a:cxn ang="0">
                    <a:pos x="0" y="2"/>
                  </a:cxn>
                  <a:cxn ang="0">
                    <a:pos x="3" y="5"/>
                  </a:cxn>
                  <a:cxn ang="0">
                    <a:pos x="7" y="2"/>
                  </a:cxn>
                  <a:cxn ang="0">
                    <a:pos x="5" y="0"/>
                  </a:cxn>
                </a:cxnLst>
                <a:rect l="0" t="0" r="r" b="b"/>
                <a:pathLst>
                  <a:path w="7" h="5">
                    <a:moveTo>
                      <a:pt x="5" y="0"/>
                    </a:moveTo>
                    <a:lnTo>
                      <a:pt x="3" y="0"/>
                    </a:lnTo>
                    <a:lnTo>
                      <a:pt x="2" y="0"/>
                    </a:lnTo>
                    <a:lnTo>
                      <a:pt x="0" y="2"/>
                    </a:lnTo>
                    <a:lnTo>
                      <a:pt x="3" y="5"/>
                    </a:lnTo>
                    <a:lnTo>
                      <a:pt x="7" y="2"/>
                    </a:lnTo>
                    <a:lnTo>
                      <a:pt x="5" y="0"/>
                    </a:lnTo>
                  </a:path>
                </a:pathLst>
              </a:custGeom>
              <a:grpFill/>
              <a:ln w="9525">
                <a:noFill/>
                <a:round/>
                <a:headEnd/>
                <a:tailEnd/>
              </a:ln>
            </p:spPr>
            <p:txBody>
              <a:bodyPr anchor="ctr"/>
              <a:lstStyle/>
              <a:p>
                <a:pPr algn="ctr"/>
                <a:endParaRPr sz="2400"/>
              </a:p>
            </p:txBody>
          </p:sp>
          <p:sp>
            <p:nvSpPr>
              <p:cNvPr id="74" name="iṥḻíḑé">
                <a:extLst>
                  <a:ext uri="{FF2B5EF4-FFF2-40B4-BE49-F238E27FC236}">
                    <a16:creationId xmlns:a16="http://schemas.microsoft.com/office/drawing/2014/main" id="{AC7FFE1D-F69D-4CBF-801B-5F991200A753}"/>
                  </a:ext>
                </a:extLst>
              </p:cNvPr>
              <p:cNvSpPr>
                <a:spLocks/>
              </p:cNvSpPr>
              <p:nvPr/>
            </p:nvSpPr>
            <p:spPr bwMode="auto">
              <a:xfrm>
                <a:off x="3006725" y="2505075"/>
                <a:ext cx="36513" cy="46038"/>
              </a:xfrm>
              <a:custGeom>
                <a:avLst/>
                <a:gdLst/>
                <a:ahLst/>
                <a:cxnLst>
                  <a:cxn ang="0">
                    <a:pos x="6" y="0"/>
                  </a:cxn>
                  <a:cxn ang="0">
                    <a:pos x="0" y="8"/>
                  </a:cxn>
                  <a:cxn ang="0">
                    <a:pos x="0" y="8"/>
                  </a:cxn>
                  <a:cxn ang="0">
                    <a:pos x="6" y="16"/>
                  </a:cxn>
                  <a:cxn ang="0">
                    <a:pos x="13" y="8"/>
                  </a:cxn>
                  <a:cxn ang="0">
                    <a:pos x="13" y="8"/>
                  </a:cxn>
                  <a:cxn ang="0">
                    <a:pos x="6" y="0"/>
                  </a:cxn>
                </a:cxnLst>
                <a:rect l="0" t="0" r="r" b="b"/>
                <a:pathLst>
                  <a:path w="13" h="16">
                    <a:moveTo>
                      <a:pt x="6" y="0"/>
                    </a:moveTo>
                    <a:cubicBezTo>
                      <a:pt x="3" y="0"/>
                      <a:pt x="0" y="4"/>
                      <a:pt x="0" y="8"/>
                    </a:cubicBezTo>
                    <a:cubicBezTo>
                      <a:pt x="0" y="8"/>
                      <a:pt x="0" y="8"/>
                      <a:pt x="0" y="8"/>
                    </a:cubicBezTo>
                    <a:cubicBezTo>
                      <a:pt x="0" y="12"/>
                      <a:pt x="3" y="16"/>
                      <a:pt x="6" y="16"/>
                    </a:cubicBezTo>
                    <a:cubicBezTo>
                      <a:pt x="10" y="16"/>
                      <a:pt x="13" y="12"/>
                      <a:pt x="13" y="8"/>
                    </a:cubicBezTo>
                    <a:cubicBezTo>
                      <a:pt x="13" y="8"/>
                      <a:pt x="13" y="8"/>
                      <a:pt x="13" y="8"/>
                    </a:cubicBezTo>
                    <a:cubicBezTo>
                      <a:pt x="13" y="4"/>
                      <a:pt x="10" y="0"/>
                      <a:pt x="6" y="0"/>
                    </a:cubicBezTo>
                  </a:path>
                </a:pathLst>
              </a:custGeom>
              <a:grpFill/>
              <a:ln w="9525">
                <a:noFill/>
                <a:round/>
                <a:headEnd/>
                <a:tailEnd/>
              </a:ln>
            </p:spPr>
            <p:txBody>
              <a:bodyPr anchor="ctr"/>
              <a:lstStyle/>
              <a:p>
                <a:pPr algn="ctr"/>
                <a:endParaRPr sz="2400"/>
              </a:p>
            </p:txBody>
          </p:sp>
          <p:sp>
            <p:nvSpPr>
              <p:cNvPr id="75" name="íslïḋé">
                <a:extLst>
                  <a:ext uri="{FF2B5EF4-FFF2-40B4-BE49-F238E27FC236}">
                    <a16:creationId xmlns:a16="http://schemas.microsoft.com/office/drawing/2014/main" id="{0340B9D8-315F-4C9F-842E-CC011290C1FE}"/>
                  </a:ext>
                </a:extLst>
              </p:cNvPr>
              <p:cNvSpPr>
                <a:spLocks/>
              </p:cNvSpPr>
              <p:nvPr/>
            </p:nvSpPr>
            <p:spPr bwMode="auto">
              <a:xfrm>
                <a:off x="3021013" y="2552700"/>
                <a:ext cx="7938" cy="6350"/>
              </a:xfrm>
              <a:custGeom>
                <a:avLst/>
                <a:gdLst/>
                <a:ahLst/>
                <a:cxnLst>
                  <a:cxn ang="0">
                    <a:pos x="3" y="0"/>
                  </a:cxn>
                  <a:cxn ang="0">
                    <a:pos x="1" y="0"/>
                  </a:cxn>
                  <a:cxn ang="0">
                    <a:pos x="0" y="0"/>
                  </a:cxn>
                  <a:cxn ang="0">
                    <a:pos x="0" y="0"/>
                  </a:cxn>
                  <a:cxn ang="0">
                    <a:pos x="1" y="4"/>
                  </a:cxn>
                  <a:cxn ang="0">
                    <a:pos x="5" y="0"/>
                  </a:cxn>
                  <a:cxn ang="0">
                    <a:pos x="3" y="0"/>
                  </a:cxn>
                </a:cxnLst>
                <a:rect l="0" t="0" r="r" b="b"/>
                <a:pathLst>
                  <a:path w="5" h="4">
                    <a:moveTo>
                      <a:pt x="3" y="0"/>
                    </a:moveTo>
                    <a:lnTo>
                      <a:pt x="1" y="0"/>
                    </a:lnTo>
                    <a:lnTo>
                      <a:pt x="0" y="0"/>
                    </a:lnTo>
                    <a:lnTo>
                      <a:pt x="0" y="0"/>
                    </a:lnTo>
                    <a:lnTo>
                      <a:pt x="1" y="4"/>
                    </a:lnTo>
                    <a:lnTo>
                      <a:pt x="5" y="0"/>
                    </a:lnTo>
                    <a:lnTo>
                      <a:pt x="3" y="0"/>
                    </a:lnTo>
                    <a:close/>
                  </a:path>
                </a:pathLst>
              </a:custGeom>
              <a:grpFill/>
              <a:ln w="9525">
                <a:noFill/>
                <a:round/>
                <a:headEnd/>
                <a:tailEnd/>
              </a:ln>
            </p:spPr>
            <p:txBody>
              <a:bodyPr anchor="ctr"/>
              <a:lstStyle/>
              <a:p>
                <a:pPr algn="ctr"/>
                <a:endParaRPr sz="2400"/>
              </a:p>
            </p:txBody>
          </p:sp>
          <p:sp>
            <p:nvSpPr>
              <p:cNvPr id="76" name="íŝḷîďê">
                <a:extLst>
                  <a:ext uri="{FF2B5EF4-FFF2-40B4-BE49-F238E27FC236}">
                    <a16:creationId xmlns:a16="http://schemas.microsoft.com/office/drawing/2014/main" id="{9D51B80A-8405-4845-8539-91CC25DCC9F8}"/>
                  </a:ext>
                </a:extLst>
              </p:cNvPr>
              <p:cNvSpPr>
                <a:spLocks/>
              </p:cNvSpPr>
              <p:nvPr/>
            </p:nvSpPr>
            <p:spPr bwMode="auto">
              <a:xfrm>
                <a:off x="3021013" y="2552700"/>
                <a:ext cx="7938" cy="6350"/>
              </a:xfrm>
              <a:custGeom>
                <a:avLst/>
                <a:gdLst/>
                <a:ahLst/>
                <a:cxnLst>
                  <a:cxn ang="0">
                    <a:pos x="3" y="0"/>
                  </a:cxn>
                  <a:cxn ang="0">
                    <a:pos x="1" y="0"/>
                  </a:cxn>
                  <a:cxn ang="0">
                    <a:pos x="0" y="0"/>
                  </a:cxn>
                  <a:cxn ang="0">
                    <a:pos x="0" y="0"/>
                  </a:cxn>
                  <a:cxn ang="0">
                    <a:pos x="1" y="4"/>
                  </a:cxn>
                  <a:cxn ang="0">
                    <a:pos x="5" y="0"/>
                  </a:cxn>
                  <a:cxn ang="0">
                    <a:pos x="3" y="0"/>
                  </a:cxn>
                </a:cxnLst>
                <a:rect l="0" t="0" r="r" b="b"/>
                <a:pathLst>
                  <a:path w="5" h="4">
                    <a:moveTo>
                      <a:pt x="3" y="0"/>
                    </a:moveTo>
                    <a:lnTo>
                      <a:pt x="1" y="0"/>
                    </a:lnTo>
                    <a:lnTo>
                      <a:pt x="0" y="0"/>
                    </a:lnTo>
                    <a:lnTo>
                      <a:pt x="0" y="0"/>
                    </a:lnTo>
                    <a:lnTo>
                      <a:pt x="1" y="4"/>
                    </a:lnTo>
                    <a:lnTo>
                      <a:pt x="5" y="0"/>
                    </a:lnTo>
                    <a:lnTo>
                      <a:pt x="3" y="0"/>
                    </a:lnTo>
                  </a:path>
                </a:pathLst>
              </a:custGeom>
              <a:grpFill/>
              <a:ln w="9525">
                <a:noFill/>
                <a:round/>
                <a:headEnd/>
                <a:tailEnd/>
              </a:ln>
            </p:spPr>
            <p:txBody>
              <a:bodyPr anchor="ctr"/>
              <a:lstStyle/>
              <a:p>
                <a:pPr algn="ctr"/>
                <a:endParaRPr sz="2400"/>
              </a:p>
            </p:txBody>
          </p:sp>
          <p:sp>
            <p:nvSpPr>
              <p:cNvPr id="77" name="íŝlïďé">
                <a:extLst>
                  <a:ext uri="{FF2B5EF4-FFF2-40B4-BE49-F238E27FC236}">
                    <a16:creationId xmlns:a16="http://schemas.microsoft.com/office/drawing/2014/main" id="{825DF685-2BB8-4288-AC44-E8AD41E42764}"/>
                  </a:ext>
                </a:extLst>
              </p:cNvPr>
              <p:cNvSpPr>
                <a:spLocks/>
              </p:cNvSpPr>
              <p:nvPr/>
            </p:nvSpPr>
            <p:spPr bwMode="auto">
              <a:xfrm>
                <a:off x="3000375" y="2552700"/>
                <a:ext cx="58738" cy="50800"/>
              </a:xfrm>
              <a:custGeom>
                <a:avLst/>
                <a:gdLst/>
                <a:ahLst/>
                <a:cxnLst>
                  <a:cxn ang="0">
                    <a:pos x="17" y="0"/>
                  </a:cxn>
                  <a:cxn ang="0">
                    <a:pos x="13" y="0"/>
                  </a:cxn>
                  <a:cxn ang="0">
                    <a:pos x="10" y="14"/>
                  </a:cxn>
                  <a:cxn ang="0">
                    <a:pos x="8" y="2"/>
                  </a:cxn>
                  <a:cxn ang="0">
                    <a:pos x="6" y="14"/>
                  </a:cxn>
                  <a:cxn ang="0">
                    <a:pos x="3" y="0"/>
                  </a:cxn>
                  <a:cxn ang="0">
                    <a:pos x="0" y="0"/>
                  </a:cxn>
                  <a:cxn ang="0">
                    <a:pos x="0" y="0"/>
                  </a:cxn>
                  <a:cxn ang="0">
                    <a:pos x="1" y="5"/>
                  </a:cxn>
                  <a:cxn ang="0">
                    <a:pos x="1" y="18"/>
                  </a:cxn>
                  <a:cxn ang="0">
                    <a:pos x="21" y="18"/>
                  </a:cxn>
                  <a:cxn ang="0">
                    <a:pos x="21" y="6"/>
                  </a:cxn>
                  <a:cxn ang="0">
                    <a:pos x="17" y="0"/>
                  </a:cxn>
                </a:cxnLst>
                <a:rect l="0" t="0" r="r" b="b"/>
                <a:pathLst>
                  <a:path w="21" h="18">
                    <a:moveTo>
                      <a:pt x="17" y="0"/>
                    </a:moveTo>
                    <a:cubicBezTo>
                      <a:pt x="13" y="0"/>
                      <a:pt x="13" y="0"/>
                      <a:pt x="13" y="0"/>
                    </a:cubicBezTo>
                    <a:cubicBezTo>
                      <a:pt x="10" y="14"/>
                      <a:pt x="10" y="14"/>
                      <a:pt x="10" y="14"/>
                    </a:cubicBezTo>
                    <a:cubicBezTo>
                      <a:pt x="8" y="2"/>
                      <a:pt x="8" y="2"/>
                      <a:pt x="8" y="2"/>
                    </a:cubicBezTo>
                    <a:cubicBezTo>
                      <a:pt x="6" y="14"/>
                      <a:pt x="6" y="14"/>
                      <a:pt x="6" y="14"/>
                    </a:cubicBezTo>
                    <a:cubicBezTo>
                      <a:pt x="3" y="0"/>
                      <a:pt x="3" y="0"/>
                      <a:pt x="3" y="0"/>
                    </a:cubicBezTo>
                    <a:cubicBezTo>
                      <a:pt x="0" y="0"/>
                      <a:pt x="0" y="0"/>
                      <a:pt x="0" y="0"/>
                    </a:cubicBezTo>
                    <a:cubicBezTo>
                      <a:pt x="0" y="0"/>
                      <a:pt x="0" y="0"/>
                      <a:pt x="0" y="0"/>
                    </a:cubicBezTo>
                    <a:cubicBezTo>
                      <a:pt x="1" y="1"/>
                      <a:pt x="1" y="3"/>
                      <a:pt x="1" y="5"/>
                    </a:cubicBezTo>
                    <a:cubicBezTo>
                      <a:pt x="1" y="18"/>
                      <a:pt x="1" y="18"/>
                      <a:pt x="1" y="18"/>
                    </a:cubicBezTo>
                    <a:cubicBezTo>
                      <a:pt x="21" y="18"/>
                      <a:pt x="21" y="18"/>
                      <a:pt x="21" y="18"/>
                    </a:cubicBezTo>
                    <a:cubicBezTo>
                      <a:pt x="21" y="6"/>
                      <a:pt x="21" y="6"/>
                      <a:pt x="21" y="6"/>
                    </a:cubicBezTo>
                    <a:cubicBezTo>
                      <a:pt x="21" y="2"/>
                      <a:pt x="19" y="0"/>
                      <a:pt x="17" y="0"/>
                    </a:cubicBezTo>
                  </a:path>
                </a:pathLst>
              </a:custGeom>
              <a:grpFill/>
              <a:ln w="9525">
                <a:noFill/>
                <a:round/>
                <a:headEnd/>
                <a:tailEnd/>
              </a:ln>
            </p:spPr>
            <p:txBody>
              <a:bodyPr anchor="ctr"/>
              <a:lstStyle/>
              <a:p>
                <a:pPr algn="ctr"/>
                <a:endParaRPr sz="2400"/>
              </a:p>
            </p:txBody>
          </p:sp>
          <p:sp>
            <p:nvSpPr>
              <p:cNvPr id="78" name="iŝ1îḍé">
                <a:extLst>
                  <a:ext uri="{FF2B5EF4-FFF2-40B4-BE49-F238E27FC236}">
                    <a16:creationId xmlns:a16="http://schemas.microsoft.com/office/drawing/2014/main" id="{CF8F490B-4E46-4EEA-904A-95E0FE087079}"/>
                  </a:ext>
                </a:extLst>
              </p:cNvPr>
              <p:cNvSpPr>
                <a:spLocks/>
              </p:cNvSpPr>
              <p:nvPr/>
            </p:nvSpPr>
            <p:spPr bwMode="auto">
              <a:xfrm>
                <a:off x="2879725" y="2505075"/>
                <a:ext cx="36513" cy="46038"/>
              </a:xfrm>
              <a:custGeom>
                <a:avLst/>
                <a:gdLst/>
                <a:ahLst/>
                <a:cxnLst>
                  <a:cxn ang="0">
                    <a:pos x="6" y="0"/>
                  </a:cxn>
                  <a:cxn ang="0">
                    <a:pos x="0" y="8"/>
                  </a:cxn>
                  <a:cxn ang="0">
                    <a:pos x="0" y="8"/>
                  </a:cxn>
                  <a:cxn ang="0">
                    <a:pos x="6" y="16"/>
                  </a:cxn>
                  <a:cxn ang="0">
                    <a:pos x="13" y="8"/>
                  </a:cxn>
                  <a:cxn ang="0">
                    <a:pos x="13" y="8"/>
                  </a:cxn>
                  <a:cxn ang="0">
                    <a:pos x="6" y="0"/>
                  </a:cxn>
                </a:cxnLst>
                <a:rect l="0" t="0" r="r" b="b"/>
                <a:pathLst>
                  <a:path w="13" h="16">
                    <a:moveTo>
                      <a:pt x="6" y="0"/>
                    </a:moveTo>
                    <a:cubicBezTo>
                      <a:pt x="3" y="0"/>
                      <a:pt x="0" y="4"/>
                      <a:pt x="0" y="8"/>
                    </a:cubicBezTo>
                    <a:cubicBezTo>
                      <a:pt x="0" y="8"/>
                      <a:pt x="0" y="8"/>
                      <a:pt x="0" y="8"/>
                    </a:cubicBezTo>
                    <a:cubicBezTo>
                      <a:pt x="0" y="12"/>
                      <a:pt x="3" y="16"/>
                      <a:pt x="6" y="16"/>
                    </a:cubicBezTo>
                    <a:cubicBezTo>
                      <a:pt x="10" y="16"/>
                      <a:pt x="13" y="12"/>
                      <a:pt x="13" y="8"/>
                    </a:cubicBezTo>
                    <a:cubicBezTo>
                      <a:pt x="13" y="8"/>
                      <a:pt x="13" y="8"/>
                      <a:pt x="13" y="8"/>
                    </a:cubicBezTo>
                    <a:cubicBezTo>
                      <a:pt x="13" y="4"/>
                      <a:pt x="10" y="0"/>
                      <a:pt x="6" y="0"/>
                    </a:cubicBezTo>
                  </a:path>
                </a:pathLst>
              </a:custGeom>
              <a:grpFill/>
              <a:ln w="9525">
                <a:noFill/>
                <a:round/>
                <a:headEnd/>
                <a:tailEnd/>
              </a:ln>
            </p:spPr>
            <p:txBody>
              <a:bodyPr anchor="ctr"/>
              <a:lstStyle/>
              <a:p>
                <a:pPr algn="ctr"/>
                <a:endParaRPr sz="2400"/>
              </a:p>
            </p:txBody>
          </p:sp>
          <p:sp>
            <p:nvSpPr>
              <p:cNvPr id="79" name="ïşḻîḍè">
                <a:extLst>
                  <a:ext uri="{FF2B5EF4-FFF2-40B4-BE49-F238E27FC236}">
                    <a16:creationId xmlns:a16="http://schemas.microsoft.com/office/drawing/2014/main" id="{EE5C3B18-73D1-4351-AA37-F71E57AD4328}"/>
                  </a:ext>
                </a:extLst>
              </p:cNvPr>
              <p:cNvSpPr>
                <a:spLocks/>
              </p:cNvSpPr>
              <p:nvPr/>
            </p:nvSpPr>
            <p:spPr bwMode="auto">
              <a:xfrm>
                <a:off x="2890838" y="2552700"/>
                <a:ext cx="11113" cy="6350"/>
              </a:xfrm>
              <a:custGeom>
                <a:avLst/>
                <a:gdLst/>
                <a:ahLst/>
                <a:cxnLst>
                  <a:cxn ang="0">
                    <a:pos x="6" y="0"/>
                  </a:cxn>
                  <a:cxn ang="0">
                    <a:pos x="4" y="0"/>
                  </a:cxn>
                  <a:cxn ang="0">
                    <a:pos x="2" y="0"/>
                  </a:cxn>
                  <a:cxn ang="0">
                    <a:pos x="0" y="2"/>
                  </a:cxn>
                  <a:cxn ang="0">
                    <a:pos x="4" y="4"/>
                  </a:cxn>
                  <a:cxn ang="0">
                    <a:pos x="7" y="2"/>
                  </a:cxn>
                  <a:cxn ang="0">
                    <a:pos x="6" y="0"/>
                  </a:cxn>
                </a:cxnLst>
                <a:rect l="0" t="0" r="r" b="b"/>
                <a:pathLst>
                  <a:path w="7" h="4">
                    <a:moveTo>
                      <a:pt x="6" y="0"/>
                    </a:moveTo>
                    <a:lnTo>
                      <a:pt x="4" y="0"/>
                    </a:lnTo>
                    <a:lnTo>
                      <a:pt x="2" y="0"/>
                    </a:lnTo>
                    <a:lnTo>
                      <a:pt x="0" y="2"/>
                    </a:lnTo>
                    <a:lnTo>
                      <a:pt x="4" y="4"/>
                    </a:lnTo>
                    <a:lnTo>
                      <a:pt x="7" y="2"/>
                    </a:lnTo>
                    <a:lnTo>
                      <a:pt x="6" y="0"/>
                    </a:lnTo>
                    <a:close/>
                  </a:path>
                </a:pathLst>
              </a:custGeom>
              <a:grpFill/>
              <a:ln w="9525">
                <a:noFill/>
                <a:round/>
                <a:headEnd/>
                <a:tailEnd/>
              </a:ln>
            </p:spPr>
            <p:txBody>
              <a:bodyPr anchor="ctr"/>
              <a:lstStyle/>
              <a:p>
                <a:pPr algn="ctr"/>
                <a:endParaRPr sz="2400"/>
              </a:p>
            </p:txBody>
          </p:sp>
          <p:sp>
            <p:nvSpPr>
              <p:cNvPr id="80" name="ïṩḻîḓê">
                <a:extLst>
                  <a:ext uri="{FF2B5EF4-FFF2-40B4-BE49-F238E27FC236}">
                    <a16:creationId xmlns:a16="http://schemas.microsoft.com/office/drawing/2014/main" id="{53970E72-2C2D-41DD-AEF9-C08C23EAC5AC}"/>
                  </a:ext>
                </a:extLst>
              </p:cNvPr>
              <p:cNvSpPr>
                <a:spLocks/>
              </p:cNvSpPr>
              <p:nvPr/>
            </p:nvSpPr>
            <p:spPr bwMode="auto">
              <a:xfrm>
                <a:off x="2890838" y="2552700"/>
                <a:ext cx="11113" cy="6350"/>
              </a:xfrm>
              <a:custGeom>
                <a:avLst/>
                <a:gdLst/>
                <a:ahLst/>
                <a:cxnLst>
                  <a:cxn ang="0">
                    <a:pos x="6" y="0"/>
                  </a:cxn>
                  <a:cxn ang="0">
                    <a:pos x="4" y="0"/>
                  </a:cxn>
                  <a:cxn ang="0">
                    <a:pos x="2" y="0"/>
                  </a:cxn>
                  <a:cxn ang="0">
                    <a:pos x="0" y="2"/>
                  </a:cxn>
                  <a:cxn ang="0">
                    <a:pos x="4" y="4"/>
                  </a:cxn>
                  <a:cxn ang="0">
                    <a:pos x="7" y="2"/>
                  </a:cxn>
                  <a:cxn ang="0">
                    <a:pos x="6" y="0"/>
                  </a:cxn>
                </a:cxnLst>
                <a:rect l="0" t="0" r="r" b="b"/>
                <a:pathLst>
                  <a:path w="7" h="4">
                    <a:moveTo>
                      <a:pt x="6" y="0"/>
                    </a:moveTo>
                    <a:lnTo>
                      <a:pt x="4" y="0"/>
                    </a:lnTo>
                    <a:lnTo>
                      <a:pt x="2" y="0"/>
                    </a:lnTo>
                    <a:lnTo>
                      <a:pt x="0" y="2"/>
                    </a:lnTo>
                    <a:lnTo>
                      <a:pt x="4" y="4"/>
                    </a:lnTo>
                    <a:lnTo>
                      <a:pt x="7" y="2"/>
                    </a:lnTo>
                    <a:lnTo>
                      <a:pt x="6" y="0"/>
                    </a:lnTo>
                  </a:path>
                </a:pathLst>
              </a:custGeom>
              <a:grpFill/>
              <a:ln w="9525">
                <a:noFill/>
                <a:round/>
                <a:headEnd/>
                <a:tailEnd/>
              </a:ln>
            </p:spPr>
            <p:txBody>
              <a:bodyPr anchor="ctr"/>
              <a:lstStyle/>
              <a:p>
                <a:pPr algn="ctr"/>
                <a:endParaRPr sz="2400"/>
              </a:p>
            </p:txBody>
          </p:sp>
          <p:sp>
            <p:nvSpPr>
              <p:cNvPr id="81" name="ïş1ídê">
                <a:extLst>
                  <a:ext uri="{FF2B5EF4-FFF2-40B4-BE49-F238E27FC236}">
                    <a16:creationId xmlns:a16="http://schemas.microsoft.com/office/drawing/2014/main" id="{6E881E04-53BD-46C6-884B-04A1C24862ED}"/>
                  </a:ext>
                </a:extLst>
              </p:cNvPr>
              <p:cNvSpPr>
                <a:spLocks/>
              </p:cNvSpPr>
              <p:nvPr/>
            </p:nvSpPr>
            <p:spPr bwMode="auto">
              <a:xfrm>
                <a:off x="2860675" y="2552700"/>
                <a:ext cx="61913" cy="53975"/>
              </a:xfrm>
              <a:custGeom>
                <a:avLst/>
                <a:gdLst/>
                <a:ahLst/>
                <a:cxnLst>
                  <a:cxn ang="0">
                    <a:pos x="22" y="0"/>
                  </a:cxn>
                  <a:cxn ang="0">
                    <a:pos x="18" y="0"/>
                  </a:cxn>
                  <a:cxn ang="0">
                    <a:pos x="15" y="14"/>
                  </a:cxn>
                  <a:cxn ang="0">
                    <a:pos x="13" y="2"/>
                  </a:cxn>
                  <a:cxn ang="0">
                    <a:pos x="11" y="14"/>
                  </a:cxn>
                  <a:cxn ang="0">
                    <a:pos x="8" y="0"/>
                  </a:cxn>
                  <a:cxn ang="0">
                    <a:pos x="5" y="0"/>
                  </a:cxn>
                  <a:cxn ang="0">
                    <a:pos x="0" y="6"/>
                  </a:cxn>
                  <a:cxn ang="0">
                    <a:pos x="0" y="6"/>
                  </a:cxn>
                  <a:cxn ang="0">
                    <a:pos x="0" y="19"/>
                  </a:cxn>
                  <a:cxn ang="0">
                    <a:pos x="20" y="19"/>
                  </a:cxn>
                  <a:cxn ang="0">
                    <a:pos x="20" y="5"/>
                  </a:cxn>
                  <a:cxn ang="0">
                    <a:pos x="22" y="0"/>
                  </a:cxn>
                  <a:cxn ang="0">
                    <a:pos x="22" y="0"/>
                  </a:cxn>
                </a:cxnLst>
                <a:rect l="0" t="0" r="r" b="b"/>
                <a:pathLst>
                  <a:path w="22" h="19">
                    <a:moveTo>
                      <a:pt x="22" y="0"/>
                    </a:moveTo>
                    <a:cubicBezTo>
                      <a:pt x="18" y="0"/>
                      <a:pt x="18" y="0"/>
                      <a:pt x="18" y="0"/>
                    </a:cubicBezTo>
                    <a:cubicBezTo>
                      <a:pt x="15" y="14"/>
                      <a:pt x="15" y="14"/>
                      <a:pt x="15" y="14"/>
                    </a:cubicBezTo>
                    <a:cubicBezTo>
                      <a:pt x="13" y="2"/>
                      <a:pt x="13" y="2"/>
                      <a:pt x="13" y="2"/>
                    </a:cubicBezTo>
                    <a:cubicBezTo>
                      <a:pt x="11" y="14"/>
                      <a:pt x="11" y="14"/>
                      <a:pt x="11" y="14"/>
                    </a:cubicBezTo>
                    <a:cubicBezTo>
                      <a:pt x="8" y="0"/>
                      <a:pt x="8" y="0"/>
                      <a:pt x="8" y="0"/>
                    </a:cubicBezTo>
                    <a:cubicBezTo>
                      <a:pt x="5" y="0"/>
                      <a:pt x="5" y="0"/>
                      <a:pt x="5" y="0"/>
                    </a:cubicBezTo>
                    <a:cubicBezTo>
                      <a:pt x="2" y="0"/>
                      <a:pt x="0" y="3"/>
                      <a:pt x="0" y="6"/>
                    </a:cubicBezTo>
                    <a:cubicBezTo>
                      <a:pt x="0" y="6"/>
                      <a:pt x="0" y="6"/>
                      <a:pt x="0" y="6"/>
                    </a:cubicBezTo>
                    <a:cubicBezTo>
                      <a:pt x="0" y="19"/>
                      <a:pt x="0" y="19"/>
                      <a:pt x="0" y="19"/>
                    </a:cubicBezTo>
                    <a:cubicBezTo>
                      <a:pt x="20" y="19"/>
                      <a:pt x="20" y="19"/>
                      <a:pt x="20" y="19"/>
                    </a:cubicBezTo>
                    <a:cubicBezTo>
                      <a:pt x="20" y="5"/>
                      <a:pt x="20" y="5"/>
                      <a:pt x="20" y="5"/>
                    </a:cubicBezTo>
                    <a:cubicBezTo>
                      <a:pt x="20" y="3"/>
                      <a:pt x="21" y="1"/>
                      <a:pt x="22" y="0"/>
                    </a:cubicBezTo>
                    <a:cubicBezTo>
                      <a:pt x="22" y="0"/>
                      <a:pt x="22" y="0"/>
                      <a:pt x="22" y="0"/>
                    </a:cubicBezTo>
                  </a:path>
                </a:pathLst>
              </a:custGeom>
              <a:grpFill/>
              <a:ln w="9525">
                <a:noFill/>
                <a:round/>
                <a:headEnd/>
                <a:tailEnd/>
              </a:ln>
            </p:spPr>
            <p:txBody>
              <a:bodyPr anchor="ctr"/>
              <a:lstStyle/>
              <a:p>
                <a:pPr algn="ctr"/>
                <a:endParaRPr sz="2400"/>
              </a:p>
            </p:txBody>
          </p:sp>
        </p:grpSp>
        <p:grpSp>
          <p:nvGrpSpPr>
            <p:cNvPr id="55" name="i$lïďe">
              <a:extLst>
                <a:ext uri="{FF2B5EF4-FFF2-40B4-BE49-F238E27FC236}">
                  <a16:creationId xmlns:a16="http://schemas.microsoft.com/office/drawing/2014/main" id="{6EA8E1C7-00FA-456A-9571-BDBB639FFB30}"/>
                </a:ext>
              </a:extLst>
            </p:cNvPr>
            <p:cNvGrpSpPr/>
            <p:nvPr/>
          </p:nvGrpSpPr>
          <p:grpSpPr>
            <a:xfrm>
              <a:off x="3765553" y="2845605"/>
              <a:ext cx="322492" cy="320109"/>
              <a:chOff x="3605213" y="2220913"/>
              <a:chExt cx="215900" cy="214313"/>
            </a:xfrm>
            <a:solidFill>
              <a:schemeClr val="bg1"/>
            </a:solidFill>
          </p:grpSpPr>
          <p:sp>
            <p:nvSpPr>
              <p:cNvPr id="62" name="ï$ḻïḑê">
                <a:extLst>
                  <a:ext uri="{FF2B5EF4-FFF2-40B4-BE49-F238E27FC236}">
                    <a16:creationId xmlns:a16="http://schemas.microsoft.com/office/drawing/2014/main" id="{435CBB0F-97B6-4649-81B9-B04CA8F4B55B}"/>
                  </a:ext>
                </a:extLst>
              </p:cNvPr>
              <p:cNvSpPr>
                <a:spLocks/>
              </p:cNvSpPr>
              <p:nvPr/>
            </p:nvSpPr>
            <p:spPr bwMode="auto">
              <a:xfrm>
                <a:off x="3722688" y="2316163"/>
                <a:ext cx="7938" cy="11113"/>
              </a:xfrm>
              <a:custGeom>
                <a:avLst/>
                <a:gdLst/>
                <a:ahLst/>
                <a:cxnLst>
                  <a:cxn ang="0">
                    <a:pos x="0" y="0"/>
                  </a:cxn>
                  <a:cxn ang="0">
                    <a:pos x="0" y="0"/>
                  </a:cxn>
                  <a:cxn ang="0">
                    <a:pos x="0" y="0"/>
                  </a:cxn>
                  <a:cxn ang="0">
                    <a:pos x="0" y="1"/>
                  </a:cxn>
                  <a:cxn ang="0">
                    <a:pos x="2" y="1"/>
                  </a:cxn>
                  <a:cxn ang="0">
                    <a:pos x="2" y="1"/>
                  </a:cxn>
                  <a:cxn ang="0">
                    <a:pos x="4" y="3"/>
                  </a:cxn>
                  <a:cxn ang="0">
                    <a:pos x="4" y="3"/>
                  </a:cxn>
                  <a:cxn ang="0">
                    <a:pos x="4" y="5"/>
                  </a:cxn>
                  <a:cxn ang="0">
                    <a:pos x="4" y="5"/>
                  </a:cxn>
                  <a:cxn ang="0">
                    <a:pos x="4" y="7"/>
                  </a:cxn>
                  <a:cxn ang="0">
                    <a:pos x="2" y="7"/>
                  </a:cxn>
                  <a:cxn ang="0">
                    <a:pos x="4" y="7"/>
                  </a:cxn>
                  <a:cxn ang="0">
                    <a:pos x="4" y="7"/>
                  </a:cxn>
                  <a:cxn ang="0">
                    <a:pos x="4" y="7"/>
                  </a:cxn>
                  <a:cxn ang="0">
                    <a:pos x="4" y="5"/>
                  </a:cxn>
                  <a:cxn ang="0">
                    <a:pos x="5" y="5"/>
                  </a:cxn>
                  <a:cxn ang="0">
                    <a:pos x="5" y="5"/>
                  </a:cxn>
                  <a:cxn ang="0">
                    <a:pos x="5" y="5"/>
                  </a:cxn>
                  <a:cxn ang="0">
                    <a:pos x="5" y="3"/>
                  </a:cxn>
                  <a:cxn ang="0">
                    <a:pos x="5" y="3"/>
                  </a:cxn>
                  <a:cxn ang="0">
                    <a:pos x="5" y="1"/>
                  </a:cxn>
                  <a:cxn ang="0">
                    <a:pos x="5" y="1"/>
                  </a:cxn>
                  <a:cxn ang="0">
                    <a:pos x="5" y="1"/>
                  </a:cxn>
                  <a:cxn ang="0">
                    <a:pos x="5" y="0"/>
                  </a:cxn>
                  <a:cxn ang="0">
                    <a:pos x="5" y="0"/>
                  </a:cxn>
                  <a:cxn ang="0">
                    <a:pos x="4" y="0"/>
                  </a:cxn>
                  <a:cxn ang="0">
                    <a:pos x="2" y="0"/>
                  </a:cxn>
                  <a:cxn ang="0">
                    <a:pos x="2" y="0"/>
                  </a:cxn>
                  <a:cxn ang="0">
                    <a:pos x="2" y="0"/>
                  </a:cxn>
                  <a:cxn ang="0">
                    <a:pos x="2" y="0"/>
                  </a:cxn>
                  <a:cxn ang="0">
                    <a:pos x="0" y="0"/>
                  </a:cxn>
                </a:cxnLst>
                <a:rect l="0" t="0" r="r" b="b"/>
                <a:pathLst>
                  <a:path w="5" h="7">
                    <a:moveTo>
                      <a:pt x="0" y="0"/>
                    </a:moveTo>
                    <a:lnTo>
                      <a:pt x="0" y="0"/>
                    </a:lnTo>
                    <a:lnTo>
                      <a:pt x="0" y="0"/>
                    </a:lnTo>
                    <a:lnTo>
                      <a:pt x="0" y="1"/>
                    </a:lnTo>
                    <a:lnTo>
                      <a:pt x="2" y="1"/>
                    </a:lnTo>
                    <a:lnTo>
                      <a:pt x="2" y="1"/>
                    </a:lnTo>
                    <a:lnTo>
                      <a:pt x="4" y="3"/>
                    </a:lnTo>
                    <a:lnTo>
                      <a:pt x="4" y="3"/>
                    </a:lnTo>
                    <a:lnTo>
                      <a:pt x="4" y="5"/>
                    </a:lnTo>
                    <a:lnTo>
                      <a:pt x="4" y="5"/>
                    </a:lnTo>
                    <a:lnTo>
                      <a:pt x="4" y="7"/>
                    </a:lnTo>
                    <a:lnTo>
                      <a:pt x="2" y="7"/>
                    </a:lnTo>
                    <a:lnTo>
                      <a:pt x="4" y="7"/>
                    </a:lnTo>
                    <a:lnTo>
                      <a:pt x="4" y="7"/>
                    </a:lnTo>
                    <a:lnTo>
                      <a:pt x="4" y="7"/>
                    </a:lnTo>
                    <a:lnTo>
                      <a:pt x="4" y="5"/>
                    </a:lnTo>
                    <a:lnTo>
                      <a:pt x="5" y="5"/>
                    </a:lnTo>
                    <a:lnTo>
                      <a:pt x="5" y="5"/>
                    </a:lnTo>
                    <a:lnTo>
                      <a:pt x="5" y="5"/>
                    </a:lnTo>
                    <a:lnTo>
                      <a:pt x="5" y="3"/>
                    </a:lnTo>
                    <a:lnTo>
                      <a:pt x="5" y="3"/>
                    </a:lnTo>
                    <a:lnTo>
                      <a:pt x="5" y="1"/>
                    </a:lnTo>
                    <a:lnTo>
                      <a:pt x="5" y="1"/>
                    </a:lnTo>
                    <a:lnTo>
                      <a:pt x="5" y="1"/>
                    </a:lnTo>
                    <a:lnTo>
                      <a:pt x="5" y="0"/>
                    </a:lnTo>
                    <a:lnTo>
                      <a:pt x="5" y="0"/>
                    </a:lnTo>
                    <a:lnTo>
                      <a:pt x="4" y="0"/>
                    </a:lnTo>
                    <a:lnTo>
                      <a:pt x="2" y="0"/>
                    </a:lnTo>
                    <a:lnTo>
                      <a:pt x="2" y="0"/>
                    </a:lnTo>
                    <a:lnTo>
                      <a:pt x="2" y="0"/>
                    </a:lnTo>
                    <a:lnTo>
                      <a:pt x="2" y="0"/>
                    </a:lnTo>
                    <a:lnTo>
                      <a:pt x="0" y="0"/>
                    </a:lnTo>
                    <a:close/>
                  </a:path>
                </a:pathLst>
              </a:custGeom>
              <a:grpFill/>
              <a:ln w="9525">
                <a:noFill/>
                <a:round/>
                <a:headEnd/>
                <a:tailEnd/>
              </a:ln>
            </p:spPr>
            <p:txBody>
              <a:bodyPr anchor="ctr"/>
              <a:lstStyle/>
              <a:p>
                <a:pPr algn="ctr"/>
                <a:endParaRPr sz="2400"/>
              </a:p>
            </p:txBody>
          </p:sp>
          <p:sp>
            <p:nvSpPr>
              <p:cNvPr id="63" name="îsļiḋê">
                <a:extLst>
                  <a:ext uri="{FF2B5EF4-FFF2-40B4-BE49-F238E27FC236}">
                    <a16:creationId xmlns:a16="http://schemas.microsoft.com/office/drawing/2014/main" id="{9F2DBA43-58F8-41E5-B091-B8500BDA523A}"/>
                  </a:ext>
                </a:extLst>
              </p:cNvPr>
              <p:cNvSpPr>
                <a:spLocks/>
              </p:cNvSpPr>
              <p:nvPr/>
            </p:nvSpPr>
            <p:spPr bwMode="auto">
              <a:xfrm>
                <a:off x="3722688" y="2316163"/>
                <a:ext cx="7938" cy="11113"/>
              </a:xfrm>
              <a:custGeom>
                <a:avLst/>
                <a:gdLst/>
                <a:ahLst/>
                <a:cxnLst>
                  <a:cxn ang="0">
                    <a:pos x="0" y="0"/>
                  </a:cxn>
                  <a:cxn ang="0">
                    <a:pos x="0" y="0"/>
                  </a:cxn>
                  <a:cxn ang="0">
                    <a:pos x="0" y="0"/>
                  </a:cxn>
                  <a:cxn ang="0">
                    <a:pos x="0" y="1"/>
                  </a:cxn>
                  <a:cxn ang="0">
                    <a:pos x="2" y="1"/>
                  </a:cxn>
                  <a:cxn ang="0">
                    <a:pos x="2" y="1"/>
                  </a:cxn>
                  <a:cxn ang="0">
                    <a:pos x="4" y="3"/>
                  </a:cxn>
                  <a:cxn ang="0">
                    <a:pos x="4" y="3"/>
                  </a:cxn>
                  <a:cxn ang="0">
                    <a:pos x="4" y="5"/>
                  </a:cxn>
                  <a:cxn ang="0">
                    <a:pos x="4" y="5"/>
                  </a:cxn>
                  <a:cxn ang="0">
                    <a:pos x="4" y="7"/>
                  </a:cxn>
                  <a:cxn ang="0">
                    <a:pos x="2" y="7"/>
                  </a:cxn>
                  <a:cxn ang="0">
                    <a:pos x="4" y="7"/>
                  </a:cxn>
                  <a:cxn ang="0">
                    <a:pos x="4" y="7"/>
                  </a:cxn>
                  <a:cxn ang="0">
                    <a:pos x="4" y="7"/>
                  </a:cxn>
                  <a:cxn ang="0">
                    <a:pos x="4" y="5"/>
                  </a:cxn>
                  <a:cxn ang="0">
                    <a:pos x="5" y="5"/>
                  </a:cxn>
                  <a:cxn ang="0">
                    <a:pos x="5" y="5"/>
                  </a:cxn>
                  <a:cxn ang="0">
                    <a:pos x="5" y="5"/>
                  </a:cxn>
                  <a:cxn ang="0">
                    <a:pos x="5" y="3"/>
                  </a:cxn>
                  <a:cxn ang="0">
                    <a:pos x="5" y="3"/>
                  </a:cxn>
                  <a:cxn ang="0">
                    <a:pos x="5" y="1"/>
                  </a:cxn>
                  <a:cxn ang="0">
                    <a:pos x="5" y="1"/>
                  </a:cxn>
                  <a:cxn ang="0">
                    <a:pos x="5" y="1"/>
                  </a:cxn>
                  <a:cxn ang="0">
                    <a:pos x="5" y="0"/>
                  </a:cxn>
                  <a:cxn ang="0">
                    <a:pos x="5" y="0"/>
                  </a:cxn>
                  <a:cxn ang="0">
                    <a:pos x="4" y="0"/>
                  </a:cxn>
                  <a:cxn ang="0">
                    <a:pos x="2" y="0"/>
                  </a:cxn>
                  <a:cxn ang="0">
                    <a:pos x="2" y="0"/>
                  </a:cxn>
                  <a:cxn ang="0">
                    <a:pos x="2" y="0"/>
                  </a:cxn>
                  <a:cxn ang="0">
                    <a:pos x="2" y="0"/>
                  </a:cxn>
                  <a:cxn ang="0">
                    <a:pos x="0" y="0"/>
                  </a:cxn>
                </a:cxnLst>
                <a:rect l="0" t="0" r="r" b="b"/>
                <a:pathLst>
                  <a:path w="5" h="7">
                    <a:moveTo>
                      <a:pt x="0" y="0"/>
                    </a:moveTo>
                    <a:lnTo>
                      <a:pt x="0" y="0"/>
                    </a:lnTo>
                    <a:lnTo>
                      <a:pt x="0" y="0"/>
                    </a:lnTo>
                    <a:lnTo>
                      <a:pt x="0" y="1"/>
                    </a:lnTo>
                    <a:lnTo>
                      <a:pt x="2" y="1"/>
                    </a:lnTo>
                    <a:lnTo>
                      <a:pt x="2" y="1"/>
                    </a:lnTo>
                    <a:lnTo>
                      <a:pt x="4" y="3"/>
                    </a:lnTo>
                    <a:lnTo>
                      <a:pt x="4" y="3"/>
                    </a:lnTo>
                    <a:lnTo>
                      <a:pt x="4" y="5"/>
                    </a:lnTo>
                    <a:lnTo>
                      <a:pt x="4" y="5"/>
                    </a:lnTo>
                    <a:lnTo>
                      <a:pt x="4" y="7"/>
                    </a:lnTo>
                    <a:lnTo>
                      <a:pt x="2" y="7"/>
                    </a:lnTo>
                    <a:lnTo>
                      <a:pt x="4" y="7"/>
                    </a:lnTo>
                    <a:lnTo>
                      <a:pt x="4" y="7"/>
                    </a:lnTo>
                    <a:lnTo>
                      <a:pt x="4" y="7"/>
                    </a:lnTo>
                    <a:lnTo>
                      <a:pt x="4" y="5"/>
                    </a:lnTo>
                    <a:lnTo>
                      <a:pt x="5" y="5"/>
                    </a:lnTo>
                    <a:lnTo>
                      <a:pt x="5" y="5"/>
                    </a:lnTo>
                    <a:lnTo>
                      <a:pt x="5" y="5"/>
                    </a:lnTo>
                    <a:lnTo>
                      <a:pt x="5" y="3"/>
                    </a:lnTo>
                    <a:lnTo>
                      <a:pt x="5" y="3"/>
                    </a:lnTo>
                    <a:lnTo>
                      <a:pt x="5" y="1"/>
                    </a:lnTo>
                    <a:lnTo>
                      <a:pt x="5" y="1"/>
                    </a:lnTo>
                    <a:lnTo>
                      <a:pt x="5" y="1"/>
                    </a:lnTo>
                    <a:lnTo>
                      <a:pt x="5" y="0"/>
                    </a:lnTo>
                    <a:lnTo>
                      <a:pt x="5" y="0"/>
                    </a:lnTo>
                    <a:lnTo>
                      <a:pt x="4" y="0"/>
                    </a:lnTo>
                    <a:lnTo>
                      <a:pt x="2" y="0"/>
                    </a:lnTo>
                    <a:lnTo>
                      <a:pt x="2" y="0"/>
                    </a:lnTo>
                    <a:lnTo>
                      <a:pt x="2" y="0"/>
                    </a:lnTo>
                    <a:lnTo>
                      <a:pt x="2" y="0"/>
                    </a:lnTo>
                    <a:lnTo>
                      <a:pt x="0" y="0"/>
                    </a:lnTo>
                  </a:path>
                </a:pathLst>
              </a:custGeom>
              <a:grpFill/>
              <a:ln w="9525">
                <a:noFill/>
                <a:round/>
                <a:headEnd/>
                <a:tailEnd/>
              </a:ln>
            </p:spPr>
            <p:txBody>
              <a:bodyPr anchor="ctr"/>
              <a:lstStyle/>
              <a:p>
                <a:pPr algn="ctr"/>
                <a:endParaRPr sz="2400"/>
              </a:p>
            </p:txBody>
          </p:sp>
          <p:sp>
            <p:nvSpPr>
              <p:cNvPr id="64" name="îṧļîďè">
                <a:extLst>
                  <a:ext uri="{FF2B5EF4-FFF2-40B4-BE49-F238E27FC236}">
                    <a16:creationId xmlns:a16="http://schemas.microsoft.com/office/drawing/2014/main" id="{9FFB9417-DF1E-4741-9A80-CCD640430C60}"/>
                  </a:ext>
                </a:extLst>
              </p:cNvPr>
              <p:cNvSpPr>
                <a:spLocks/>
              </p:cNvSpPr>
              <p:nvPr/>
            </p:nvSpPr>
            <p:spPr bwMode="auto">
              <a:xfrm>
                <a:off x="3705225" y="2312988"/>
                <a:ext cx="17463" cy="3175"/>
              </a:xfrm>
              <a:custGeom>
                <a:avLst/>
                <a:gdLst/>
                <a:ahLst/>
                <a:cxnLst>
                  <a:cxn ang="0">
                    <a:pos x="3" y="0"/>
                  </a:cxn>
                  <a:cxn ang="0">
                    <a:pos x="2" y="0"/>
                  </a:cxn>
                  <a:cxn ang="0">
                    <a:pos x="1" y="0"/>
                  </a:cxn>
                  <a:cxn ang="0">
                    <a:pos x="1" y="0"/>
                  </a:cxn>
                  <a:cxn ang="0">
                    <a:pos x="1" y="0"/>
                  </a:cxn>
                  <a:cxn ang="0">
                    <a:pos x="1" y="1"/>
                  </a:cxn>
                  <a:cxn ang="0">
                    <a:pos x="1" y="1"/>
                  </a:cxn>
                  <a:cxn ang="0">
                    <a:pos x="0" y="1"/>
                  </a:cxn>
                  <a:cxn ang="0">
                    <a:pos x="0" y="1"/>
                  </a:cxn>
                  <a:cxn ang="0">
                    <a:pos x="0" y="1"/>
                  </a:cxn>
                  <a:cxn ang="0">
                    <a:pos x="0" y="1"/>
                  </a:cxn>
                  <a:cxn ang="0">
                    <a:pos x="1" y="1"/>
                  </a:cxn>
                  <a:cxn ang="0">
                    <a:pos x="2" y="1"/>
                  </a:cxn>
                  <a:cxn ang="0">
                    <a:pos x="3" y="1"/>
                  </a:cxn>
                  <a:cxn ang="0">
                    <a:pos x="4" y="1"/>
                  </a:cxn>
                  <a:cxn ang="0">
                    <a:pos x="4" y="1"/>
                  </a:cxn>
                  <a:cxn ang="0">
                    <a:pos x="4" y="1"/>
                  </a:cxn>
                  <a:cxn ang="0">
                    <a:pos x="5" y="1"/>
                  </a:cxn>
                  <a:cxn ang="0">
                    <a:pos x="5" y="1"/>
                  </a:cxn>
                  <a:cxn ang="0">
                    <a:pos x="6" y="1"/>
                  </a:cxn>
                  <a:cxn ang="0">
                    <a:pos x="5" y="1"/>
                  </a:cxn>
                  <a:cxn ang="0">
                    <a:pos x="5" y="0"/>
                  </a:cxn>
                  <a:cxn ang="0">
                    <a:pos x="5" y="0"/>
                  </a:cxn>
                  <a:cxn ang="0">
                    <a:pos x="4" y="0"/>
                  </a:cxn>
                  <a:cxn ang="0">
                    <a:pos x="4" y="0"/>
                  </a:cxn>
                  <a:cxn ang="0">
                    <a:pos x="4" y="0"/>
                  </a:cxn>
                  <a:cxn ang="0">
                    <a:pos x="3" y="0"/>
                  </a:cxn>
                </a:cxnLst>
                <a:rect l="0" t="0" r="r" b="b"/>
                <a:pathLst>
                  <a:path w="6" h="1">
                    <a:moveTo>
                      <a:pt x="3" y="0"/>
                    </a:moveTo>
                    <a:cubicBezTo>
                      <a:pt x="3" y="0"/>
                      <a:pt x="2" y="0"/>
                      <a:pt x="2" y="0"/>
                    </a:cubicBezTo>
                    <a:cubicBezTo>
                      <a:pt x="1" y="0"/>
                      <a:pt x="1" y="0"/>
                      <a:pt x="1" y="0"/>
                    </a:cubicBezTo>
                    <a:cubicBezTo>
                      <a:pt x="1" y="0"/>
                      <a:pt x="1" y="0"/>
                      <a:pt x="1" y="0"/>
                    </a:cubicBezTo>
                    <a:cubicBezTo>
                      <a:pt x="1" y="0"/>
                      <a:pt x="1" y="0"/>
                      <a:pt x="1" y="0"/>
                    </a:cubicBezTo>
                    <a:cubicBezTo>
                      <a:pt x="1" y="1"/>
                      <a:pt x="1" y="1"/>
                      <a:pt x="1" y="1"/>
                    </a:cubicBezTo>
                    <a:cubicBezTo>
                      <a:pt x="1" y="1"/>
                      <a:pt x="1" y="1"/>
                      <a:pt x="1" y="1"/>
                    </a:cubicBezTo>
                    <a:cubicBezTo>
                      <a:pt x="1" y="1"/>
                      <a:pt x="0" y="1"/>
                      <a:pt x="0" y="1"/>
                    </a:cubicBezTo>
                    <a:cubicBezTo>
                      <a:pt x="0" y="1"/>
                      <a:pt x="0" y="1"/>
                      <a:pt x="0" y="1"/>
                    </a:cubicBezTo>
                    <a:cubicBezTo>
                      <a:pt x="0" y="1"/>
                      <a:pt x="0" y="1"/>
                      <a:pt x="0" y="1"/>
                    </a:cubicBezTo>
                    <a:cubicBezTo>
                      <a:pt x="0" y="1"/>
                      <a:pt x="0" y="1"/>
                      <a:pt x="0" y="1"/>
                    </a:cubicBezTo>
                    <a:cubicBezTo>
                      <a:pt x="0" y="1"/>
                      <a:pt x="1" y="1"/>
                      <a:pt x="1" y="1"/>
                    </a:cubicBezTo>
                    <a:cubicBezTo>
                      <a:pt x="1" y="1"/>
                      <a:pt x="2" y="1"/>
                      <a:pt x="2" y="1"/>
                    </a:cubicBezTo>
                    <a:cubicBezTo>
                      <a:pt x="2" y="1"/>
                      <a:pt x="3" y="1"/>
                      <a:pt x="3" y="1"/>
                    </a:cubicBezTo>
                    <a:cubicBezTo>
                      <a:pt x="4" y="1"/>
                      <a:pt x="4" y="1"/>
                      <a:pt x="4" y="1"/>
                    </a:cubicBezTo>
                    <a:cubicBezTo>
                      <a:pt x="4" y="1"/>
                      <a:pt x="4" y="1"/>
                      <a:pt x="4" y="1"/>
                    </a:cubicBezTo>
                    <a:cubicBezTo>
                      <a:pt x="4" y="1"/>
                      <a:pt x="4" y="1"/>
                      <a:pt x="4" y="1"/>
                    </a:cubicBezTo>
                    <a:cubicBezTo>
                      <a:pt x="5" y="1"/>
                      <a:pt x="5" y="1"/>
                      <a:pt x="5" y="1"/>
                    </a:cubicBezTo>
                    <a:cubicBezTo>
                      <a:pt x="5" y="1"/>
                      <a:pt x="5" y="1"/>
                      <a:pt x="5" y="1"/>
                    </a:cubicBezTo>
                    <a:cubicBezTo>
                      <a:pt x="6" y="1"/>
                      <a:pt x="6" y="1"/>
                      <a:pt x="6" y="1"/>
                    </a:cubicBezTo>
                    <a:cubicBezTo>
                      <a:pt x="5" y="1"/>
                      <a:pt x="5" y="1"/>
                      <a:pt x="5" y="1"/>
                    </a:cubicBezTo>
                    <a:cubicBezTo>
                      <a:pt x="5" y="0"/>
                      <a:pt x="5" y="0"/>
                      <a:pt x="5" y="0"/>
                    </a:cubicBezTo>
                    <a:cubicBezTo>
                      <a:pt x="5" y="0"/>
                      <a:pt x="5" y="0"/>
                      <a:pt x="5" y="0"/>
                    </a:cubicBezTo>
                    <a:cubicBezTo>
                      <a:pt x="4" y="0"/>
                      <a:pt x="4" y="0"/>
                      <a:pt x="4" y="0"/>
                    </a:cubicBezTo>
                    <a:cubicBezTo>
                      <a:pt x="4" y="0"/>
                      <a:pt x="4" y="0"/>
                      <a:pt x="4" y="0"/>
                    </a:cubicBezTo>
                    <a:cubicBezTo>
                      <a:pt x="4" y="0"/>
                      <a:pt x="4" y="0"/>
                      <a:pt x="4" y="0"/>
                    </a:cubicBezTo>
                    <a:cubicBezTo>
                      <a:pt x="3" y="0"/>
                      <a:pt x="3" y="0"/>
                      <a:pt x="3" y="0"/>
                    </a:cubicBezTo>
                  </a:path>
                </a:pathLst>
              </a:custGeom>
              <a:grpFill/>
              <a:ln w="9525">
                <a:noFill/>
                <a:round/>
                <a:headEnd/>
                <a:tailEnd/>
              </a:ln>
            </p:spPr>
            <p:txBody>
              <a:bodyPr anchor="ctr"/>
              <a:lstStyle/>
              <a:p>
                <a:pPr algn="ctr"/>
                <a:endParaRPr sz="2400"/>
              </a:p>
            </p:txBody>
          </p:sp>
          <p:sp>
            <p:nvSpPr>
              <p:cNvPr id="65" name="îṣlíḓè">
                <a:extLst>
                  <a:ext uri="{FF2B5EF4-FFF2-40B4-BE49-F238E27FC236}">
                    <a16:creationId xmlns:a16="http://schemas.microsoft.com/office/drawing/2014/main" id="{B52E9667-1BD6-46EC-B0F2-2C1099FF6C1A}"/>
                  </a:ext>
                </a:extLst>
              </p:cNvPr>
              <p:cNvSpPr>
                <a:spLocks/>
              </p:cNvSpPr>
              <p:nvPr/>
            </p:nvSpPr>
            <p:spPr bwMode="auto">
              <a:xfrm>
                <a:off x="3700463" y="2316163"/>
                <a:ext cx="3175" cy="1588"/>
              </a:xfrm>
              <a:custGeom>
                <a:avLst/>
                <a:gdLst/>
                <a:ahLst/>
                <a:cxnLst>
                  <a:cxn ang="0">
                    <a:pos x="0" y="0"/>
                  </a:cxn>
                  <a:cxn ang="0">
                    <a:pos x="0" y="0"/>
                  </a:cxn>
                  <a:cxn ang="0">
                    <a:pos x="0" y="0"/>
                  </a:cxn>
                  <a:cxn ang="0">
                    <a:pos x="0" y="1"/>
                  </a:cxn>
                  <a:cxn ang="0">
                    <a:pos x="2" y="1"/>
                  </a:cxn>
                  <a:cxn ang="0">
                    <a:pos x="2" y="0"/>
                  </a:cxn>
                  <a:cxn ang="0">
                    <a:pos x="0" y="0"/>
                  </a:cxn>
                </a:cxnLst>
                <a:rect l="0" t="0" r="r" b="b"/>
                <a:pathLst>
                  <a:path w="2" h="1">
                    <a:moveTo>
                      <a:pt x="0" y="0"/>
                    </a:moveTo>
                    <a:lnTo>
                      <a:pt x="0" y="0"/>
                    </a:lnTo>
                    <a:lnTo>
                      <a:pt x="0" y="0"/>
                    </a:lnTo>
                    <a:lnTo>
                      <a:pt x="0" y="1"/>
                    </a:lnTo>
                    <a:lnTo>
                      <a:pt x="2" y="1"/>
                    </a:lnTo>
                    <a:lnTo>
                      <a:pt x="2" y="0"/>
                    </a:lnTo>
                    <a:lnTo>
                      <a:pt x="0" y="0"/>
                    </a:lnTo>
                    <a:close/>
                  </a:path>
                </a:pathLst>
              </a:custGeom>
              <a:grpFill/>
              <a:ln w="9525">
                <a:noFill/>
                <a:round/>
                <a:headEnd/>
                <a:tailEnd/>
              </a:ln>
            </p:spPr>
            <p:txBody>
              <a:bodyPr anchor="ctr"/>
              <a:lstStyle/>
              <a:p>
                <a:pPr algn="ctr"/>
                <a:endParaRPr sz="2400"/>
              </a:p>
            </p:txBody>
          </p:sp>
          <p:sp>
            <p:nvSpPr>
              <p:cNvPr id="66" name="ïṧḻíďê">
                <a:extLst>
                  <a:ext uri="{FF2B5EF4-FFF2-40B4-BE49-F238E27FC236}">
                    <a16:creationId xmlns:a16="http://schemas.microsoft.com/office/drawing/2014/main" id="{D440A906-F2A7-493B-836A-E239B6FFD3D6}"/>
                  </a:ext>
                </a:extLst>
              </p:cNvPr>
              <p:cNvSpPr>
                <a:spLocks/>
              </p:cNvSpPr>
              <p:nvPr/>
            </p:nvSpPr>
            <p:spPr bwMode="auto">
              <a:xfrm>
                <a:off x="3700463" y="2316163"/>
                <a:ext cx="3175" cy="1588"/>
              </a:xfrm>
              <a:custGeom>
                <a:avLst/>
                <a:gdLst/>
                <a:ahLst/>
                <a:cxnLst>
                  <a:cxn ang="0">
                    <a:pos x="0" y="0"/>
                  </a:cxn>
                  <a:cxn ang="0">
                    <a:pos x="0" y="0"/>
                  </a:cxn>
                  <a:cxn ang="0">
                    <a:pos x="0" y="0"/>
                  </a:cxn>
                  <a:cxn ang="0">
                    <a:pos x="0" y="1"/>
                  </a:cxn>
                  <a:cxn ang="0">
                    <a:pos x="2" y="1"/>
                  </a:cxn>
                  <a:cxn ang="0">
                    <a:pos x="2" y="0"/>
                  </a:cxn>
                  <a:cxn ang="0">
                    <a:pos x="0" y="0"/>
                  </a:cxn>
                </a:cxnLst>
                <a:rect l="0" t="0" r="r" b="b"/>
                <a:pathLst>
                  <a:path w="2" h="1">
                    <a:moveTo>
                      <a:pt x="0" y="0"/>
                    </a:moveTo>
                    <a:lnTo>
                      <a:pt x="0" y="0"/>
                    </a:lnTo>
                    <a:lnTo>
                      <a:pt x="0" y="0"/>
                    </a:lnTo>
                    <a:lnTo>
                      <a:pt x="0" y="1"/>
                    </a:lnTo>
                    <a:lnTo>
                      <a:pt x="2" y="1"/>
                    </a:lnTo>
                    <a:lnTo>
                      <a:pt x="2" y="0"/>
                    </a:lnTo>
                    <a:lnTo>
                      <a:pt x="0" y="0"/>
                    </a:lnTo>
                  </a:path>
                </a:pathLst>
              </a:custGeom>
              <a:grpFill/>
              <a:ln w="9525">
                <a:noFill/>
                <a:round/>
                <a:headEnd/>
                <a:tailEnd/>
              </a:ln>
            </p:spPr>
            <p:txBody>
              <a:bodyPr anchor="ctr"/>
              <a:lstStyle/>
              <a:p>
                <a:pPr algn="ctr"/>
                <a:endParaRPr sz="2400"/>
              </a:p>
            </p:txBody>
          </p:sp>
          <p:sp>
            <p:nvSpPr>
              <p:cNvPr id="67" name="îšļiďè">
                <a:extLst>
                  <a:ext uri="{FF2B5EF4-FFF2-40B4-BE49-F238E27FC236}">
                    <a16:creationId xmlns:a16="http://schemas.microsoft.com/office/drawing/2014/main" id="{F387BE1A-DCA5-47EC-8A85-F2005F4512F9}"/>
                  </a:ext>
                </a:extLst>
              </p:cNvPr>
              <p:cNvSpPr>
                <a:spLocks/>
              </p:cNvSpPr>
              <p:nvPr/>
            </p:nvSpPr>
            <p:spPr bwMode="auto">
              <a:xfrm>
                <a:off x="3686175" y="2306638"/>
                <a:ext cx="22225" cy="9525"/>
              </a:xfrm>
              <a:custGeom>
                <a:avLst/>
                <a:gdLst/>
                <a:ahLst/>
                <a:cxnLst>
                  <a:cxn ang="0">
                    <a:pos x="4" y="0"/>
                  </a:cxn>
                  <a:cxn ang="0">
                    <a:pos x="3" y="0"/>
                  </a:cxn>
                  <a:cxn ang="0">
                    <a:pos x="3" y="0"/>
                  </a:cxn>
                  <a:cxn ang="0">
                    <a:pos x="1" y="1"/>
                  </a:cxn>
                  <a:cxn ang="0">
                    <a:pos x="0" y="1"/>
                  </a:cxn>
                  <a:cxn ang="0">
                    <a:pos x="0" y="1"/>
                  </a:cxn>
                  <a:cxn ang="0">
                    <a:pos x="0" y="1"/>
                  </a:cxn>
                  <a:cxn ang="0">
                    <a:pos x="1" y="2"/>
                  </a:cxn>
                  <a:cxn ang="0">
                    <a:pos x="1" y="2"/>
                  </a:cxn>
                  <a:cxn ang="0">
                    <a:pos x="2" y="1"/>
                  </a:cxn>
                  <a:cxn ang="0">
                    <a:pos x="3" y="1"/>
                  </a:cxn>
                  <a:cxn ang="0">
                    <a:pos x="3" y="1"/>
                  </a:cxn>
                  <a:cxn ang="0">
                    <a:pos x="5" y="2"/>
                  </a:cxn>
                  <a:cxn ang="0">
                    <a:pos x="6" y="2"/>
                  </a:cxn>
                  <a:cxn ang="0">
                    <a:pos x="6" y="3"/>
                  </a:cxn>
                  <a:cxn ang="0">
                    <a:pos x="7" y="3"/>
                  </a:cxn>
                  <a:cxn ang="0">
                    <a:pos x="7" y="2"/>
                  </a:cxn>
                  <a:cxn ang="0">
                    <a:pos x="7" y="2"/>
                  </a:cxn>
                  <a:cxn ang="0">
                    <a:pos x="7" y="2"/>
                  </a:cxn>
                  <a:cxn ang="0">
                    <a:pos x="8" y="1"/>
                  </a:cxn>
                  <a:cxn ang="0">
                    <a:pos x="8" y="1"/>
                  </a:cxn>
                  <a:cxn ang="0">
                    <a:pos x="7" y="1"/>
                  </a:cxn>
                  <a:cxn ang="0">
                    <a:pos x="7" y="1"/>
                  </a:cxn>
                  <a:cxn ang="0">
                    <a:pos x="7" y="1"/>
                  </a:cxn>
                  <a:cxn ang="0">
                    <a:pos x="6" y="1"/>
                  </a:cxn>
                  <a:cxn ang="0">
                    <a:pos x="5" y="1"/>
                  </a:cxn>
                  <a:cxn ang="0">
                    <a:pos x="5" y="1"/>
                  </a:cxn>
                  <a:cxn ang="0">
                    <a:pos x="4" y="0"/>
                  </a:cxn>
                </a:cxnLst>
                <a:rect l="0" t="0" r="r" b="b"/>
                <a:pathLst>
                  <a:path w="8" h="3">
                    <a:moveTo>
                      <a:pt x="4" y="0"/>
                    </a:moveTo>
                    <a:cubicBezTo>
                      <a:pt x="4" y="0"/>
                      <a:pt x="3" y="0"/>
                      <a:pt x="3" y="0"/>
                    </a:cubicBezTo>
                    <a:cubicBezTo>
                      <a:pt x="3" y="0"/>
                      <a:pt x="3" y="0"/>
                      <a:pt x="3" y="0"/>
                    </a:cubicBezTo>
                    <a:cubicBezTo>
                      <a:pt x="2" y="0"/>
                      <a:pt x="2" y="1"/>
                      <a:pt x="1" y="1"/>
                    </a:cubicBezTo>
                    <a:cubicBezTo>
                      <a:pt x="0" y="1"/>
                      <a:pt x="0" y="1"/>
                      <a:pt x="0" y="1"/>
                    </a:cubicBezTo>
                    <a:cubicBezTo>
                      <a:pt x="0" y="1"/>
                      <a:pt x="0" y="1"/>
                      <a:pt x="0" y="1"/>
                    </a:cubicBezTo>
                    <a:cubicBezTo>
                      <a:pt x="0" y="1"/>
                      <a:pt x="0" y="1"/>
                      <a:pt x="0" y="1"/>
                    </a:cubicBezTo>
                    <a:cubicBezTo>
                      <a:pt x="0" y="1"/>
                      <a:pt x="0" y="1"/>
                      <a:pt x="1" y="2"/>
                    </a:cubicBezTo>
                    <a:cubicBezTo>
                      <a:pt x="1" y="2"/>
                      <a:pt x="1" y="2"/>
                      <a:pt x="1" y="2"/>
                    </a:cubicBezTo>
                    <a:cubicBezTo>
                      <a:pt x="1" y="2"/>
                      <a:pt x="2" y="2"/>
                      <a:pt x="2" y="1"/>
                    </a:cubicBezTo>
                    <a:cubicBezTo>
                      <a:pt x="2" y="1"/>
                      <a:pt x="3" y="1"/>
                      <a:pt x="3" y="1"/>
                    </a:cubicBezTo>
                    <a:cubicBezTo>
                      <a:pt x="3" y="1"/>
                      <a:pt x="3" y="1"/>
                      <a:pt x="3" y="1"/>
                    </a:cubicBezTo>
                    <a:cubicBezTo>
                      <a:pt x="4" y="2"/>
                      <a:pt x="5" y="2"/>
                      <a:pt x="5" y="2"/>
                    </a:cubicBezTo>
                    <a:cubicBezTo>
                      <a:pt x="5" y="2"/>
                      <a:pt x="5" y="2"/>
                      <a:pt x="6" y="2"/>
                    </a:cubicBezTo>
                    <a:cubicBezTo>
                      <a:pt x="6" y="3"/>
                      <a:pt x="6" y="3"/>
                      <a:pt x="6" y="3"/>
                    </a:cubicBezTo>
                    <a:cubicBezTo>
                      <a:pt x="7" y="3"/>
                      <a:pt x="7" y="3"/>
                      <a:pt x="7" y="3"/>
                    </a:cubicBezTo>
                    <a:cubicBezTo>
                      <a:pt x="7" y="2"/>
                      <a:pt x="7" y="2"/>
                      <a:pt x="7" y="2"/>
                    </a:cubicBezTo>
                    <a:cubicBezTo>
                      <a:pt x="7" y="2"/>
                      <a:pt x="7" y="2"/>
                      <a:pt x="7" y="2"/>
                    </a:cubicBezTo>
                    <a:cubicBezTo>
                      <a:pt x="7" y="2"/>
                      <a:pt x="7" y="2"/>
                      <a:pt x="7" y="2"/>
                    </a:cubicBezTo>
                    <a:cubicBezTo>
                      <a:pt x="8" y="1"/>
                      <a:pt x="8" y="1"/>
                      <a:pt x="8" y="1"/>
                    </a:cubicBezTo>
                    <a:cubicBezTo>
                      <a:pt x="8" y="1"/>
                      <a:pt x="8" y="1"/>
                      <a:pt x="8" y="1"/>
                    </a:cubicBezTo>
                    <a:cubicBezTo>
                      <a:pt x="7" y="1"/>
                      <a:pt x="7" y="1"/>
                      <a:pt x="7" y="1"/>
                    </a:cubicBezTo>
                    <a:cubicBezTo>
                      <a:pt x="7" y="1"/>
                      <a:pt x="7" y="1"/>
                      <a:pt x="7" y="1"/>
                    </a:cubicBezTo>
                    <a:cubicBezTo>
                      <a:pt x="7" y="1"/>
                      <a:pt x="7" y="1"/>
                      <a:pt x="7" y="1"/>
                    </a:cubicBezTo>
                    <a:cubicBezTo>
                      <a:pt x="6" y="1"/>
                      <a:pt x="6" y="1"/>
                      <a:pt x="6" y="1"/>
                    </a:cubicBezTo>
                    <a:cubicBezTo>
                      <a:pt x="5" y="1"/>
                      <a:pt x="5" y="1"/>
                      <a:pt x="5" y="1"/>
                    </a:cubicBezTo>
                    <a:cubicBezTo>
                      <a:pt x="5" y="1"/>
                      <a:pt x="5" y="1"/>
                      <a:pt x="5" y="1"/>
                    </a:cubicBezTo>
                    <a:cubicBezTo>
                      <a:pt x="4" y="0"/>
                      <a:pt x="4" y="0"/>
                      <a:pt x="4" y="0"/>
                    </a:cubicBezTo>
                  </a:path>
                </a:pathLst>
              </a:custGeom>
              <a:grpFill/>
              <a:ln w="9525">
                <a:noFill/>
                <a:round/>
                <a:headEnd/>
                <a:tailEnd/>
              </a:ln>
            </p:spPr>
            <p:txBody>
              <a:bodyPr anchor="ctr"/>
              <a:lstStyle/>
              <a:p>
                <a:pPr algn="ctr"/>
                <a:endParaRPr sz="2400"/>
              </a:p>
            </p:txBody>
          </p:sp>
          <p:sp>
            <p:nvSpPr>
              <p:cNvPr id="68" name="î$ľidè">
                <a:extLst>
                  <a:ext uri="{FF2B5EF4-FFF2-40B4-BE49-F238E27FC236}">
                    <a16:creationId xmlns:a16="http://schemas.microsoft.com/office/drawing/2014/main" id="{08AF9DF0-B1D7-40AD-850B-F7FA96DA58B1}"/>
                  </a:ext>
                </a:extLst>
              </p:cNvPr>
              <p:cNvSpPr>
                <a:spLocks/>
              </p:cNvSpPr>
              <p:nvPr/>
            </p:nvSpPr>
            <p:spPr bwMode="auto">
              <a:xfrm>
                <a:off x="3605213" y="2220913"/>
                <a:ext cx="215900" cy="214313"/>
              </a:xfrm>
              <a:custGeom>
                <a:avLst/>
                <a:gdLst/>
                <a:ahLst/>
                <a:cxnLst>
                  <a:cxn ang="0">
                    <a:pos x="16" y="17"/>
                  </a:cxn>
                  <a:cxn ang="0">
                    <a:pos x="14" y="22"/>
                  </a:cxn>
                  <a:cxn ang="0">
                    <a:pos x="12" y="28"/>
                  </a:cxn>
                  <a:cxn ang="0">
                    <a:pos x="13" y="31"/>
                  </a:cxn>
                  <a:cxn ang="0">
                    <a:pos x="14" y="31"/>
                  </a:cxn>
                  <a:cxn ang="0">
                    <a:pos x="15" y="31"/>
                  </a:cxn>
                  <a:cxn ang="0">
                    <a:pos x="17" y="35"/>
                  </a:cxn>
                  <a:cxn ang="0">
                    <a:pos x="24" y="38"/>
                  </a:cxn>
                  <a:cxn ang="0">
                    <a:pos x="28" y="40"/>
                  </a:cxn>
                  <a:cxn ang="0">
                    <a:pos x="31" y="41"/>
                  </a:cxn>
                  <a:cxn ang="0">
                    <a:pos x="31" y="45"/>
                  </a:cxn>
                  <a:cxn ang="0">
                    <a:pos x="31" y="51"/>
                  </a:cxn>
                  <a:cxn ang="0">
                    <a:pos x="38" y="59"/>
                  </a:cxn>
                  <a:cxn ang="0">
                    <a:pos x="38" y="66"/>
                  </a:cxn>
                  <a:cxn ang="0">
                    <a:pos x="40" y="71"/>
                  </a:cxn>
                  <a:cxn ang="0">
                    <a:pos x="3" y="39"/>
                  </a:cxn>
                  <a:cxn ang="0">
                    <a:pos x="13" y="17"/>
                  </a:cxn>
                  <a:cxn ang="0">
                    <a:pos x="47" y="6"/>
                  </a:cxn>
                  <a:cxn ang="0">
                    <a:pos x="54" y="8"/>
                  </a:cxn>
                  <a:cxn ang="0">
                    <a:pos x="57" y="14"/>
                  </a:cxn>
                  <a:cxn ang="0">
                    <a:pos x="72" y="29"/>
                  </a:cxn>
                  <a:cxn ang="0">
                    <a:pos x="43" y="70"/>
                  </a:cxn>
                  <a:cxn ang="0">
                    <a:pos x="47" y="66"/>
                  </a:cxn>
                  <a:cxn ang="0">
                    <a:pos x="51" y="61"/>
                  </a:cxn>
                  <a:cxn ang="0">
                    <a:pos x="55" y="56"/>
                  </a:cxn>
                  <a:cxn ang="0">
                    <a:pos x="58" y="50"/>
                  </a:cxn>
                  <a:cxn ang="0">
                    <a:pos x="51" y="46"/>
                  </a:cxn>
                  <a:cxn ang="0">
                    <a:pos x="44" y="41"/>
                  </a:cxn>
                  <a:cxn ang="0">
                    <a:pos x="39" y="39"/>
                  </a:cxn>
                  <a:cxn ang="0">
                    <a:pos x="31" y="40"/>
                  </a:cxn>
                  <a:cxn ang="0">
                    <a:pos x="26" y="36"/>
                  </a:cxn>
                  <a:cxn ang="0">
                    <a:pos x="22" y="34"/>
                  </a:cxn>
                  <a:cxn ang="0">
                    <a:pos x="27" y="28"/>
                  </a:cxn>
                  <a:cxn ang="0">
                    <a:pos x="32" y="31"/>
                  </a:cxn>
                  <a:cxn ang="0">
                    <a:pos x="33" y="30"/>
                  </a:cxn>
                  <a:cxn ang="0">
                    <a:pos x="36" y="24"/>
                  </a:cxn>
                  <a:cxn ang="0">
                    <a:pos x="43" y="20"/>
                  </a:cxn>
                  <a:cxn ang="0">
                    <a:pos x="46" y="18"/>
                  </a:cxn>
                  <a:cxn ang="0">
                    <a:pos x="49" y="19"/>
                  </a:cxn>
                  <a:cxn ang="0">
                    <a:pos x="50" y="15"/>
                  </a:cxn>
                  <a:cxn ang="0">
                    <a:pos x="45" y="11"/>
                  </a:cxn>
                  <a:cxn ang="0">
                    <a:pos x="40" y="14"/>
                  </a:cxn>
                  <a:cxn ang="0">
                    <a:pos x="37" y="13"/>
                  </a:cxn>
                  <a:cxn ang="0">
                    <a:pos x="40" y="10"/>
                  </a:cxn>
                  <a:cxn ang="0">
                    <a:pos x="44" y="8"/>
                  </a:cxn>
                  <a:cxn ang="0">
                    <a:pos x="45" y="9"/>
                  </a:cxn>
                  <a:cxn ang="0">
                    <a:pos x="48" y="11"/>
                  </a:cxn>
                  <a:cxn ang="0">
                    <a:pos x="49" y="8"/>
                  </a:cxn>
                  <a:cxn ang="0">
                    <a:pos x="46" y="5"/>
                  </a:cxn>
                  <a:cxn ang="0">
                    <a:pos x="43" y="5"/>
                  </a:cxn>
                  <a:cxn ang="0">
                    <a:pos x="41" y="6"/>
                  </a:cxn>
                  <a:cxn ang="0">
                    <a:pos x="38" y="7"/>
                  </a:cxn>
                  <a:cxn ang="0">
                    <a:pos x="37" y="7"/>
                  </a:cxn>
                  <a:cxn ang="0">
                    <a:pos x="33" y="6"/>
                  </a:cxn>
                  <a:cxn ang="0">
                    <a:pos x="31" y="8"/>
                  </a:cxn>
                  <a:cxn ang="0">
                    <a:pos x="24" y="9"/>
                  </a:cxn>
                  <a:cxn ang="0">
                    <a:pos x="16" y="12"/>
                  </a:cxn>
                  <a:cxn ang="0">
                    <a:pos x="72" y="57"/>
                  </a:cxn>
                </a:cxnLst>
                <a:rect l="0" t="0" r="r" b="b"/>
                <a:pathLst>
                  <a:path w="77" h="77">
                    <a:moveTo>
                      <a:pt x="15" y="16"/>
                    </a:moveTo>
                    <a:cubicBezTo>
                      <a:pt x="16" y="15"/>
                      <a:pt x="16" y="15"/>
                      <a:pt x="16" y="15"/>
                    </a:cubicBezTo>
                    <a:cubicBezTo>
                      <a:pt x="16" y="16"/>
                      <a:pt x="16" y="16"/>
                      <a:pt x="16" y="16"/>
                    </a:cubicBezTo>
                    <a:cubicBezTo>
                      <a:pt x="16" y="16"/>
                      <a:pt x="16" y="16"/>
                      <a:pt x="16" y="16"/>
                    </a:cubicBezTo>
                    <a:cubicBezTo>
                      <a:pt x="16" y="16"/>
                      <a:pt x="16" y="16"/>
                      <a:pt x="16" y="16"/>
                    </a:cubicBezTo>
                    <a:cubicBezTo>
                      <a:pt x="16" y="16"/>
                      <a:pt x="16" y="16"/>
                      <a:pt x="16" y="16"/>
                    </a:cubicBezTo>
                    <a:cubicBezTo>
                      <a:pt x="16" y="17"/>
                      <a:pt x="16" y="17"/>
                      <a:pt x="16" y="17"/>
                    </a:cubicBezTo>
                    <a:cubicBezTo>
                      <a:pt x="16" y="17"/>
                      <a:pt x="16" y="17"/>
                      <a:pt x="16" y="17"/>
                    </a:cubicBezTo>
                    <a:cubicBezTo>
                      <a:pt x="16" y="17"/>
                      <a:pt x="16" y="17"/>
                      <a:pt x="16" y="17"/>
                    </a:cubicBezTo>
                    <a:cubicBezTo>
                      <a:pt x="16" y="17"/>
                      <a:pt x="16" y="17"/>
                      <a:pt x="16" y="17"/>
                    </a:cubicBezTo>
                    <a:cubicBezTo>
                      <a:pt x="16" y="17"/>
                      <a:pt x="16" y="17"/>
                      <a:pt x="16" y="17"/>
                    </a:cubicBezTo>
                    <a:cubicBezTo>
                      <a:pt x="16" y="18"/>
                      <a:pt x="16" y="18"/>
                      <a:pt x="16" y="18"/>
                    </a:cubicBezTo>
                    <a:cubicBezTo>
                      <a:pt x="16" y="19"/>
                      <a:pt x="16" y="19"/>
                      <a:pt x="16" y="19"/>
                    </a:cubicBezTo>
                    <a:cubicBezTo>
                      <a:pt x="16" y="19"/>
                      <a:pt x="16" y="19"/>
                      <a:pt x="16" y="19"/>
                    </a:cubicBezTo>
                    <a:cubicBezTo>
                      <a:pt x="15" y="19"/>
                      <a:pt x="15" y="19"/>
                      <a:pt x="15" y="19"/>
                    </a:cubicBezTo>
                    <a:cubicBezTo>
                      <a:pt x="15" y="20"/>
                      <a:pt x="15" y="20"/>
                      <a:pt x="15" y="20"/>
                    </a:cubicBezTo>
                    <a:cubicBezTo>
                      <a:pt x="16" y="20"/>
                      <a:pt x="16" y="20"/>
                      <a:pt x="16" y="20"/>
                    </a:cubicBezTo>
                    <a:cubicBezTo>
                      <a:pt x="16" y="20"/>
                      <a:pt x="16" y="20"/>
                      <a:pt x="16" y="20"/>
                    </a:cubicBezTo>
                    <a:cubicBezTo>
                      <a:pt x="15" y="20"/>
                      <a:pt x="15" y="20"/>
                      <a:pt x="15" y="20"/>
                    </a:cubicBezTo>
                    <a:cubicBezTo>
                      <a:pt x="15" y="21"/>
                      <a:pt x="15" y="21"/>
                      <a:pt x="15" y="21"/>
                    </a:cubicBezTo>
                    <a:cubicBezTo>
                      <a:pt x="15" y="22"/>
                      <a:pt x="15" y="22"/>
                      <a:pt x="15" y="22"/>
                    </a:cubicBezTo>
                    <a:cubicBezTo>
                      <a:pt x="14" y="22"/>
                      <a:pt x="14" y="22"/>
                      <a:pt x="14" y="22"/>
                    </a:cubicBezTo>
                    <a:cubicBezTo>
                      <a:pt x="13" y="23"/>
                      <a:pt x="13" y="23"/>
                      <a:pt x="13" y="23"/>
                    </a:cubicBezTo>
                    <a:cubicBezTo>
                      <a:pt x="13" y="23"/>
                      <a:pt x="13" y="23"/>
                      <a:pt x="13" y="23"/>
                    </a:cubicBezTo>
                    <a:cubicBezTo>
                      <a:pt x="12" y="24"/>
                      <a:pt x="12" y="24"/>
                      <a:pt x="12" y="24"/>
                    </a:cubicBezTo>
                    <a:cubicBezTo>
                      <a:pt x="12" y="25"/>
                      <a:pt x="12" y="25"/>
                      <a:pt x="12" y="25"/>
                    </a:cubicBezTo>
                    <a:cubicBezTo>
                      <a:pt x="12" y="25"/>
                      <a:pt x="12" y="25"/>
                      <a:pt x="12" y="25"/>
                    </a:cubicBezTo>
                    <a:cubicBezTo>
                      <a:pt x="12" y="25"/>
                      <a:pt x="12" y="25"/>
                      <a:pt x="12" y="25"/>
                    </a:cubicBezTo>
                    <a:cubicBezTo>
                      <a:pt x="12" y="26"/>
                      <a:pt x="12" y="26"/>
                      <a:pt x="12" y="26"/>
                    </a:cubicBezTo>
                    <a:cubicBezTo>
                      <a:pt x="12" y="26"/>
                      <a:pt x="12" y="26"/>
                      <a:pt x="12" y="26"/>
                    </a:cubicBezTo>
                    <a:cubicBezTo>
                      <a:pt x="12" y="27"/>
                      <a:pt x="12" y="27"/>
                      <a:pt x="12" y="27"/>
                    </a:cubicBezTo>
                    <a:cubicBezTo>
                      <a:pt x="12" y="27"/>
                      <a:pt x="12" y="27"/>
                      <a:pt x="12" y="27"/>
                    </a:cubicBezTo>
                    <a:cubicBezTo>
                      <a:pt x="12" y="28"/>
                      <a:pt x="12" y="28"/>
                      <a:pt x="12" y="28"/>
                    </a:cubicBezTo>
                    <a:cubicBezTo>
                      <a:pt x="13" y="28"/>
                      <a:pt x="13" y="28"/>
                      <a:pt x="13" y="28"/>
                    </a:cubicBezTo>
                    <a:cubicBezTo>
                      <a:pt x="13" y="28"/>
                      <a:pt x="13" y="28"/>
                      <a:pt x="13" y="28"/>
                    </a:cubicBezTo>
                    <a:cubicBezTo>
                      <a:pt x="13" y="29"/>
                      <a:pt x="13" y="29"/>
                      <a:pt x="13" y="29"/>
                    </a:cubicBezTo>
                    <a:cubicBezTo>
                      <a:pt x="13" y="29"/>
                      <a:pt x="13" y="29"/>
                      <a:pt x="13" y="29"/>
                    </a:cubicBezTo>
                    <a:cubicBezTo>
                      <a:pt x="13" y="29"/>
                      <a:pt x="13" y="29"/>
                      <a:pt x="13" y="29"/>
                    </a:cubicBezTo>
                    <a:cubicBezTo>
                      <a:pt x="13" y="30"/>
                      <a:pt x="13" y="30"/>
                      <a:pt x="13" y="30"/>
                    </a:cubicBezTo>
                    <a:cubicBezTo>
                      <a:pt x="13" y="30"/>
                      <a:pt x="13" y="30"/>
                      <a:pt x="13" y="30"/>
                    </a:cubicBezTo>
                    <a:cubicBezTo>
                      <a:pt x="13" y="31"/>
                      <a:pt x="13" y="31"/>
                      <a:pt x="13" y="31"/>
                    </a:cubicBezTo>
                    <a:cubicBezTo>
                      <a:pt x="13" y="31"/>
                      <a:pt x="13" y="31"/>
                      <a:pt x="13" y="31"/>
                    </a:cubicBezTo>
                    <a:cubicBezTo>
                      <a:pt x="13" y="31"/>
                      <a:pt x="13" y="31"/>
                      <a:pt x="13" y="31"/>
                    </a:cubicBezTo>
                    <a:cubicBezTo>
                      <a:pt x="13" y="31"/>
                      <a:pt x="13" y="31"/>
                      <a:pt x="13" y="31"/>
                    </a:cubicBezTo>
                    <a:cubicBezTo>
                      <a:pt x="13" y="32"/>
                      <a:pt x="13" y="32"/>
                      <a:pt x="13" y="32"/>
                    </a:cubicBezTo>
                    <a:cubicBezTo>
                      <a:pt x="14" y="32"/>
                      <a:pt x="14" y="32"/>
                      <a:pt x="14" y="32"/>
                    </a:cubicBezTo>
                    <a:cubicBezTo>
                      <a:pt x="14" y="32"/>
                      <a:pt x="14" y="32"/>
                      <a:pt x="14" y="32"/>
                    </a:cubicBezTo>
                    <a:cubicBezTo>
                      <a:pt x="14" y="33"/>
                      <a:pt x="14" y="33"/>
                      <a:pt x="14" y="33"/>
                    </a:cubicBezTo>
                    <a:cubicBezTo>
                      <a:pt x="14" y="33"/>
                      <a:pt x="14" y="33"/>
                      <a:pt x="14" y="33"/>
                    </a:cubicBezTo>
                    <a:cubicBezTo>
                      <a:pt x="15" y="33"/>
                      <a:pt x="15" y="33"/>
                      <a:pt x="15" y="33"/>
                    </a:cubicBezTo>
                    <a:cubicBezTo>
                      <a:pt x="15" y="32"/>
                      <a:pt x="15" y="32"/>
                      <a:pt x="15" y="32"/>
                    </a:cubicBezTo>
                    <a:cubicBezTo>
                      <a:pt x="15" y="32"/>
                      <a:pt x="15" y="32"/>
                      <a:pt x="15" y="32"/>
                    </a:cubicBezTo>
                    <a:cubicBezTo>
                      <a:pt x="14" y="32"/>
                      <a:pt x="14" y="32"/>
                      <a:pt x="14" y="32"/>
                    </a:cubicBezTo>
                    <a:cubicBezTo>
                      <a:pt x="14" y="31"/>
                      <a:pt x="14" y="31"/>
                      <a:pt x="14" y="31"/>
                    </a:cubicBezTo>
                    <a:cubicBezTo>
                      <a:pt x="14" y="31"/>
                      <a:pt x="14" y="31"/>
                      <a:pt x="14" y="31"/>
                    </a:cubicBezTo>
                    <a:cubicBezTo>
                      <a:pt x="14" y="30"/>
                      <a:pt x="14" y="30"/>
                      <a:pt x="14" y="30"/>
                    </a:cubicBezTo>
                    <a:cubicBezTo>
                      <a:pt x="14" y="30"/>
                      <a:pt x="14" y="30"/>
                      <a:pt x="14" y="30"/>
                    </a:cubicBezTo>
                    <a:cubicBezTo>
                      <a:pt x="14" y="29"/>
                      <a:pt x="14" y="29"/>
                      <a:pt x="14" y="29"/>
                    </a:cubicBezTo>
                    <a:cubicBezTo>
                      <a:pt x="14" y="29"/>
                      <a:pt x="14" y="29"/>
                      <a:pt x="14" y="29"/>
                    </a:cubicBezTo>
                    <a:cubicBezTo>
                      <a:pt x="14" y="29"/>
                      <a:pt x="14" y="29"/>
                      <a:pt x="14" y="29"/>
                    </a:cubicBezTo>
                    <a:cubicBezTo>
                      <a:pt x="14" y="29"/>
                      <a:pt x="14" y="29"/>
                      <a:pt x="14" y="29"/>
                    </a:cubicBezTo>
                    <a:cubicBezTo>
                      <a:pt x="14" y="29"/>
                      <a:pt x="14" y="29"/>
                      <a:pt x="14" y="29"/>
                    </a:cubicBezTo>
                    <a:cubicBezTo>
                      <a:pt x="15" y="29"/>
                      <a:pt x="15" y="29"/>
                      <a:pt x="15" y="29"/>
                    </a:cubicBezTo>
                    <a:cubicBezTo>
                      <a:pt x="14" y="30"/>
                      <a:pt x="14" y="30"/>
                      <a:pt x="14" y="30"/>
                    </a:cubicBezTo>
                    <a:cubicBezTo>
                      <a:pt x="15" y="30"/>
                      <a:pt x="15" y="30"/>
                      <a:pt x="15" y="30"/>
                    </a:cubicBezTo>
                    <a:cubicBezTo>
                      <a:pt x="15" y="31"/>
                      <a:pt x="15" y="31"/>
                      <a:pt x="15" y="31"/>
                    </a:cubicBezTo>
                    <a:cubicBezTo>
                      <a:pt x="15" y="31"/>
                      <a:pt x="15" y="31"/>
                      <a:pt x="15" y="31"/>
                    </a:cubicBezTo>
                    <a:cubicBezTo>
                      <a:pt x="15" y="32"/>
                      <a:pt x="15" y="32"/>
                      <a:pt x="15" y="32"/>
                    </a:cubicBezTo>
                    <a:cubicBezTo>
                      <a:pt x="16" y="32"/>
                      <a:pt x="16" y="32"/>
                      <a:pt x="16" y="32"/>
                    </a:cubicBezTo>
                    <a:cubicBezTo>
                      <a:pt x="16" y="32"/>
                      <a:pt x="16" y="32"/>
                      <a:pt x="16" y="32"/>
                    </a:cubicBezTo>
                    <a:cubicBezTo>
                      <a:pt x="16" y="33"/>
                      <a:pt x="16" y="33"/>
                      <a:pt x="16" y="33"/>
                    </a:cubicBezTo>
                    <a:cubicBezTo>
                      <a:pt x="16" y="33"/>
                      <a:pt x="16" y="33"/>
                      <a:pt x="16" y="33"/>
                    </a:cubicBezTo>
                    <a:cubicBezTo>
                      <a:pt x="16" y="33"/>
                      <a:pt x="16" y="33"/>
                      <a:pt x="16" y="33"/>
                    </a:cubicBezTo>
                    <a:cubicBezTo>
                      <a:pt x="16" y="34"/>
                      <a:pt x="16" y="34"/>
                      <a:pt x="16" y="34"/>
                    </a:cubicBezTo>
                    <a:cubicBezTo>
                      <a:pt x="16" y="34"/>
                      <a:pt x="16" y="34"/>
                      <a:pt x="16" y="34"/>
                    </a:cubicBezTo>
                    <a:cubicBezTo>
                      <a:pt x="17" y="35"/>
                      <a:pt x="17" y="35"/>
                      <a:pt x="17" y="35"/>
                    </a:cubicBezTo>
                    <a:cubicBezTo>
                      <a:pt x="17" y="35"/>
                      <a:pt x="17" y="35"/>
                      <a:pt x="17" y="35"/>
                    </a:cubicBezTo>
                    <a:cubicBezTo>
                      <a:pt x="18" y="35"/>
                      <a:pt x="18" y="35"/>
                      <a:pt x="18" y="35"/>
                    </a:cubicBezTo>
                    <a:cubicBezTo>
                      <a:pt x="19" y="36"/>
                      <a:pt x="19" y="36"/>
                      <a:pt x="19" y="36"/>
                    </a:cubicBezTo>
                    <a:cubicBezTo>
                      <a:pt x="19" y="36"/>
                      <a:pt x="19" y="36"/>
                      <a:pt x="19" y="36"/>
                    </a:cubicBezTo>
                    <a:cubicBezTo>
                      <a:pt x="20" y="36"/>
                      <a:pt x="20" y="36"/>
                      <a:pt x="20" y="36"/>
                    </a:cubicBezTo>
                    <a:cubicBezTo>
                      <a:pt x="20" y="36"/>
                      <a:pt x="20" y="36"/>
                      <a:pt x="20" y="36"/>
                    </a:cubicBezTo>
                    <a:cubicBezTo>
                      <a:pt x="21" y="37"/>
                      <a:pt x="21" y="37"/>
                      <a:pt x="21" y="37"/>
                    </a:cubicBezTo>
                    <a:cubicBezTo>
                      <a:pt x="22" y="36"/>
                      <a:pt x="22" y="36"/>
                      <a:pt x="22" y="36"/>
                    </a:cubicBezTo>
                    <a:cubicBezTo>
                      <a:pt x="22" y="36"/>
                      <a:pt x="22" y="36"/>
                      <a:pt x="22" y="36"/>
                    </a:cubicBezTo>
                    <a:cubicBezTo>
                      <a:pt x="23" y="37"/>
                      <a:pt x="23" y="37"/>
                      <a:pt x="23" y="37"/>
                    </a:cubicBezTo>
                    <a:cubicBezTo>
                      <a:pt x="23" y="37"/>
                      <a:pt x="23" y="37"/>
                      <a:pt x="23" y="37"/>
                    </a:cubicBezTo>
                    <a:cubicBezTo>
                      <a:pt x="24" y="38"/>
                      <a:pt x="24" y="38"/>
                      <a:pt x="24" y="38"/>
                    </a:cubicBezTo>
                    <a:cubicBezTo>
                      <a:pt x="25" y="38"/>
                      <a:pt x="25" y="38"/>
                      <a:pt x="25" y="38"/>
                    </a:cubicBezTo>
                    <a:cubicBezTo>
                      <a:pt x="25" y="38"/>
                      <a:pt x="25" y="38"/>
                      <a:pt x="25" y="38"/>
                    </a:cubicBezTo>
                    <a:cubicBezTo>
                      <a:pt x="25" y="38"/>
                      <a:pt x="25" y="38"/>
                      <a:pt x="25" y="38"/>
                    </a:cubicBezTo>
                    <a:cubicBezTo>
                      <a:pt x="26" y="38"/>
                      <a:pt x="26" y="38"/>
                      <a:pt x="26" y="38"/>
                    </a:cubicBezTo>
                    <a:cubicBezTo>
                      <a:pt x="26" y="38"/>
                      <a:pt x="26" y="38"/>
                      <a:pt x="26" y="38"/>
                    </a:cubicBezTo>
                    <a:cubicBezTo>
                      <a:pt x="26" y="39"/>
                      <a:pt x="26" y="39"/>
                      <a:pt x="26" y="39"/>
                    </a:cubicBezTo>
                    <a:cubicBezTo>
                      <a:pt x="27" y="39"/>
                      <a:pt x="27" y="39"/>
                      <a:pt x="27" y="39"/>
                    </a:cubicBezTo>
                    <a:cubicBezTo>
                      <a:pt x="27" y="39"/>
                      <a:pt x="27" y="39"/>
                      <a:pt x="27" y="39"/>
                    </a:cubicBezTo>
                    <a:cubicBezTo>
                      <a:pt x="27" y="40"/>
                      <a:pt x="27" y="40"/>
                      <a:pt x="27" y="40"/>
                    </a:cubicBezTo>
                    <a:cubicBezTo>
                      <a:pt x="27" y="40"/>
                      <a:pt x="27" y="40"/>
                      <a:pt x="27" y="40"/>
                    </a:cubicBezTo>
                    <a:cubicBezTo>
                      <a:pt x="28" y="40"/>
                      <a:pt x="28" y="40"/>
                      <a:pt x="28" y="40"/>
                    </a:cubicBezTo>
                    <a:cubicBezTo>
                      <a:pt x="28" y="41"/>
                      <a:pt x="28" y="41"/>
                      <a:pt x="28" y="41"/>
                    </a:cubicBezTo>
                    <a:cubicBezTo>
                      <a:pt x="28" y="41"/>
                      <a:pt x="28" y="41"/>
                      <a:pt x="28" y="41"/>
                    </a:cubicBezTo>
                    <a:cubicBezTo>
                      <a:pt x="29" y="41"/>
                      <a:pt x="29" y="41"/>
                      <a:pt x="29" y="41"/>
                    </a:cubicBezTo>
                    <a:cubicBezTo>
                      <a:pt x="29" y="41"/>
                      <a:pt x="29" y="41"/>
                      <a:pt x="29" y="41"/>
                    </a:cubicBezTo>
                    <a:cubicBezTo>
                      <a:pt x="29" y="41"/>
                      <a:pt x="29" y="41"/>
                      <a:pt x="29" y="41"/>
                    </a:cubicBezTo>
                    <a:cubicBezTo>
                      <a:pt x="30" y="41"/>
                      <a:pt x="30" y="41"/>
                      <a:pt x="30" y="41"/>
                    </a:cubicBezTo>
                    <a:cubicBezTo>
                      <a:pt x="30" y="41"/>
                      <a:pt x="30" y="41"/>
                      <a:pt x="30" y="41"/>
                    </a:cubicBezTo>
                    <a:cubicBezTo>
                      <a:pt x="30" y="41"/>
                      <a:pt x="30" y="41"/>
                      <a:pt x="30" y="41"/>
                    </a:cubicBezTo>
                    <a:cubicBezTo>
                      <a:pt x="31" y="41"/>
                      <a:pt x="31" y="41"/>
                      <a:pt x="31" y="41"/>
                    </a:cubicBezTo>
                    <a:cubicBezTo>
                      <a:pt x="31" y="41"/>
                      <a:pt x="31" y="41"/>
                      <a:pt x="31" y="41"/>
                    </a:cubicBezTo>
                    <a:cubicBezTo>
                      <a:pt x="31" y="41"/>
                      <a:pt x="31" y="41"/>
                      <a:pt x="31" y="41"/>
                    </a:cubicBezTo>
                    <a:cubicBezTo>
                      <a:pt x="31" y="41"/>
                      <a:pt x="31" y="41"/>
                      <a:pt x="31" y="41"/>
                    </a:cubicBezTo>
                    <a:cubicBezTo>
                      <a:pt x="31" y="41"/>
                      <a:pt x="31" y="41"/>
                      <a:pt x="31" y="41"/>
                    </a:cubicBezTo>
                    <a:cubicBezTo>
                      <a:pt x="32" y="41"/>
                      <a:pt x="32" y="41"/>
                      <a:pt x="32" y="41"/>
                    </a:cubicBezTo>
                    <a:cubicBezTo>
                      <a:pt x="32" y="41"/>
                      <a:pt x="32" y="41"/>
                      <a:pt x="32" y="41"/>
                    </a:cubicBezTo>
                    <a:cubicBezTo>
                      <a:pt x="32" y="42"/>
                      <a:pt x="32" y="42"/>
                      <a:pt x="32" y="42"/>
                    </a:cubicBezTo>
                    <a:cubicBezTo>
                      <a:pt x="32" y="42"/>
                      <a:pt x="32" y="42"/>
                      <a:pt x="32" y="42"/>
                    </a:cubicBezTo>
                    <a:cubicBezTo>
                      <a:pt x="32" y="42"/>
                      <a:pt x="32" y="42"/>
                      <a:pt x="32" y="42"/>
                    </a:cubicBezTo>
                    <a:cubicBezTo>
                      <a:pt x="32" y="43"/>
                      <a:pt x="32" y="43"/>
                      <a:pt x="32" y="43"/>
                    </a:cubicBezTo>
                    <a:cubicBezTo>
                      <a:pt x="32" y="44"/>
                      <a:pt x="32" y="44"/>
                      <a:pt x="32" y="44"/>
                    </a:cubicBezTo>
                    <a:cubicBezTo>
                      <a:pt x="32" y="44"/>
                      <a:pt x="32" y="44"/>
                      <a:pt x="32" y="44"/>
                    </a:cubicBezTo>
                    <a:cubicBezTo>
                      <a:pt x="31" y="45"/>
                      <a:pt x="31" y="45"/>
                      <a:pt x="31" y="45"/>
                    </a:cubicBezTo>
                    <a:cubicBezTo>
                      <a:pt x="31" y="45"/>
                      <a:pt x="31" y="45"/>
                      <a:pt x="31" y="45"/>
                    </a:cubicBezTo>
                    <a:cubicBezTo>
                      <a:pt x="30" y="46"/>
                      <a:pt x="30" y="46"/>
                      <a:pt x="30" y="46"/>
                    </a:cubicBezTo>
                    <a:cubicBezTo>
                      <a:pt x="30" y="46"/>
                      <a:pt x="30" y="46"/>
                      <a:pt x="30" y="46"/>
                    </a:cubicBezTo>
                    <a:cubicBezTo>
                      <a:pt x="30" y="47"/>
                      <a:pt x="30" y="47"/>
                      <a:pt x="30" y="47"/>
                    </a:cubicBezTo>
                    <a:cubicBezTo>
                      <a:pt x="30" y="48"/>
                      <a:pt x="30" y="48"/>
                      <a:pt x="30" y="48"/>
                    </a:cubicBezTo>
                    <a:cubicBezTo>
                      <a:pt x="30" y="48"/>
                      <a:pt x="30" y="48"/>
                      <a:pt x="30" y="48"/>
                    </a:cubicBezTo>
                    <a:cubicBezTo>
                      <a:pt x="30" y="48"/>
                      <a:pt x="30" y="48"/>
                      <a:pt x="30" y="48"/>
                    </a:cubicBezTo>
                    <a:cubicBezTo>
                      <a:pt x="30" y="49"/>
                      <a:pt x="30" y="49"/>
                      <a:pt x="30" y="49"/>
                    </a:cubicBezTo>
                    <a:cubicBezTo>
                      <a:pt x="30" y="50"/>
                      <a:pt x="30" y="50"/>
                      <a:pt x="30" y="50"/>
                    </a:cubicBezTo>
                    <a:cubicBezTo>
                      <a:pt x="31" y="50"/>
                      <a:pt x="31" y="50"/>
                      <a:pt x="31" y="50"/>
                    </a:cubicBezTo>
                    <a:cubicBezTo>
                      <a:pt x="31" y="51"/>
                      <a:pt x="31" y="51"/>
                      <a:pt x="31" y="51"/>
                    </a:cubicBezTo>
                    <a:cubicBezTo>
                      <a:pt x="31" y="51"/>
                      <a:pt x="32" y="51"/>
                      <a:pt x="32" y="52"/>
                    </a:cubicBezTo>
                    <a:cubicBezTo>
                      <a:pt x="32" y="53"/>
                      <a:pt x="32" y="53"/>
                      <a:pt x="32" y="53"/>
                    </a:cubicBezTo>
                    <a:cubicBezTo>
                      <a:pt x="33" y="53"/>
                      <a:pt x="33" y="53"/>
                      <a:pt x="33" y="53"/>
                    </a:cubicBezTo>
                    <a:cubicBezTo>
                      <a:pt x="33" y="54"/>
                      <a:pt x="33" y="54"/>
                      <a:pt x="34" y="54"/>
                    </a:cubicBezTo>
                    <a:cubicBezTo>
                      <a:pt x="34" y="55"/>
                      <a:pt x="34" y="55"/>
                      <a:pt x="35" y="55"/>
                    </a:cubicBezTo>
                    <a:cubicBezTo>
                      <a:pt x="35" y="56"/>
                      <a:pt x="36" y="56"/>
                      <a:pt x="37" y="56"/>
                    </a:cubicBezTo>
                    <a:cubicBezTo>
                      <a:pt x="37" y="57"/>
                      <a:pt x="37" y="57"/>
                      <a:pt x="38" y="57"/>
                    </a:cubicBezTo>
                    <a:cubicBezTo>
                      <a:pt x="38" y="58"/>
                      <a:pt x="38" y="58"/>
                      <a:pt x="38" y="58"/>
                    </a:cubicBezTo>
                    <a:cubicBezTo>
                      <a:pt x="38" y="58"/>
                      <a:pt x="38" y="58"/>
                      <a:pt x="38" y="58"/>
                    </a:cubicBezTo>
                    <a:cubicBezTo>
                      <a:pt x="38" y="58"/>
                      <a:pt x="38" y="59"/>
                      <a:pt x="38" y="59"/>
                    </a:cubicBezTo>
                    <a:cubicBezTo>
                      <a:pt x="38" y="59"/>
                      <a:pt x="38" y="59"/>
                      <a:pt x="38" y="59"/>
                    </a:cubicBezTo>
                    <a:cubicBezTo>
                      <a:pt x="38" y="60"/>
                      <a:pt x="38" y="60"/>
                      <a:pt x="38" y="60"/>
                    </a:cubicBezTo>
                    <a:cubicBezTo>
                      <a:pt x="38" y="61"/>
                      <a:pt x="38" y="61"/>
                      <a:pt x="38" y="61"/>
                    </a:cubicBezTo>
                    <a:cubicBezTo>
                      <a:pt x="38" y="61"/>
                      <a:pt x="38" y="61"/>
                      <a:pt x="38" y="61"/>
                    </a:cubicBezTo>
                    <a:cubicBezTo>
                      <a:pt x="38" y="61"/>
                      <a:pt x="38" y="61"/>
                      <a:pt x="38" y="61"/>
                    </a:cubicBezTo>
                    <a:cubicBezTo>
                      <a:pt x="38" y="61"/>
                      <a:pt x="38" y="62"/>
                      <a:pt x="38" y="62"/>
                    </a:cubicBezTo>
                    <a:cubicBezTo>
                      <a:pt x="38" y="62"/>
                      <a:pt x="38" y="63"/>
                      <a:pt x="38" y="63"/>
                    </a:cubicBezTo>
                    <a:cubicBezTo>
                      <a:pt x="38" y="63"/>
                      <a:pt x="38" y="64"/>
                      <a:pt x="38" y="64"/>
                    </a:cubicBezTo>
                    <a:cubicBezTo>
                      <a:pt x="38" y="64"/>
                      <a:pt x="38" y="64"/>
                      <a:pt x="38" y="64"/>
                    </a:cubicBezTo>
                    <a:cubicBezTo>
                      <a:pt x="38" y="65"/>
                      <a:pt x="38" y="65"/>
                      <a:pt x="38" y="65"/>
                    </a:cubicBezTo>
                    <a:cubicBezTo>
                      <a:pt x="38" y="66"/>
                      <a:pt x="38" y="66"/>
                      <a:pt x="38" y="66"/>
                    </a:cubicBezTo>
                    <a:cubicBezTo>
                      <a:pt x="38" y="66"/>
                      <a:pt x="38" y="66"/>
                      <a:pt x="38" y="66"/>
                    </a:cubicBezTo>
                    <a:cubicBezTo>
                      <a:pt x="38" y="66"/>
                      <a:pt x="38" y="66"/>
                      <a:pt x="38" y="66"/>
                    </a:cubicBezTo>
                    <a:cubicBezTo>
                      <a:pt x="38" y="66"/>
                      <a:pt x="38" y="67"/>
                      <a:pt x="38" y="67"/>
                    </a:cubicBezTo>
                    <a:cubicBezTo>
                      <a:pt x="38" y="67"/>
                      <a:pt x="38" y="67"/>
                      <a:pt x="38" y="67"/>
                    </a:cubicBezTo>
                    <a:cubicBezTo>
                      <a:pt x="38" y="68"/>
                      <a:pt x="38" y="68"/>
                      <a:pt x="38" y="68"/>
                    </a:cubicBezTo>
                    <a:cubicBezTo>
                      <a:pt x="39" y="69"/>
                      <a:pt x="39" y="69"/>
                      <a:pt x="39" y="69"/>
                    </a:cubicBezTo>
                    <a:cubicBezTo>
                      <a:pt x="39" y="69"/>
                      <a:pt x="39" y="69"/>
                      <a:pt x="39" y="69"/>
                    </a:cubicBezTo>
                    <a:cubicBezTo>
                      <a:pt x="39" y="70"/>
                      <a:pt x="39" y="70"/>
                      <a:pt x="39" y="70"/>
                    </a:cubicBezTo>
                    <a:cubicBezTo>
                      <a:pt x="39" y="70"/>
                      <a:pt x="39" y="70"/>
                      <a:pt x="39" y="70"/>
                    </a:cubicBezTo>
                    <a:cubicBezTo>
                      <a:pt x="40" y="70"/>
                      <a:pt x="40" y="70"/>
                      <a:pt x="40" y="70"/>
                    </a:cubicBezTo>
                    <a:cubicBezTo>
                      <a:pt x="40" y="71"/>
                      <a:pt x="40" y="71"/>
                      <a:pt x="40" y="71"/>
                    </a:cubicBezTo>
                    <a:cubicBezTo>
                      <a:pt x="40" y="71"/>
                      <a:pt x="40" y="71"/>
                      <a:pt x="40" y="71"/>
                    </a:cubicBezTo>
                    <a:cubicBezTo>
                      <a:pt x="39" y="71"/>
                      <a:pt x="39" y="71"/>
                      <a:pt x="39" y="71"/>
                    </a:cubicBezTo>
                    <a:cubicBezTo>
                      <a:pt x="39" y="71"/>
                      <a:pt x="39" y="71"/>
                      <a:pt x="39" y="71"/>
                    </a:cubicBezTo>
                    <a:cubicBezTo>
                      <a:pt x="40" y="72"/>
                      <a:pt x="40" y="72"/>
                      <a:pt x="40" y="72"/>
                    </a:cubicBezTo>
                    <a:cubicBezTo>
                      <a:pt x="40" y="72"/>
                      <a:pt x="40" y="72"/>
                      <a:pt x="40" y="72"/>
                    </a:cubicBezTo>
                    <a:cubicBezTo>
                      <a:pt x="40" y="73"/>
                      <a:pt x="40" y="73"/>
                      <a:pt x="40" y="73"/>
                    </a:cubicBezTo>
                    <a:cubicBezTo>
                      <a:pt x="41" y="73"/>
                      <a:pt x="41" y="73"/>
                      <a:pt x="41" y="73"/>
                    </a:cubicBezTo>
                    <a:cubicBezTo>
                      <a:pt x="41" y="74"/>
                      <a:pt x="41" y="74"/>
                      <a:pt x="41" y="74"/>
                    </a:cubicBezTo>
                    <a:cubicBezTo>
                      <a:pt x="41" y="74"/>
                      <a:pt x="41" y="74"/>
                      <a:pt x="41" y="74"/>
                    </a:cubicBezTo>
                    <a:cubicBezTo>
                      <a:pt x="40" y="74"/>
                      <a:pt x="39" y="74"/>
                      <a:pt x="38" y="74"/>
                    </a:cubicBezTo>
                    <a:cubicBezTo>
                      <a:pt x="23" y="74"/>
                      <a:pt x="9" y="63"/>
                      <a:pt x="5" y="49"/>
                    </a:cubicBezTo>
                    <a:cubicBezTo>
                      <a:pt x="4" y="45"/>
                      <a:pt x="3" y="42"/>
                      <a:pt x="3" y="39"/>
                    </a:cubicBezTo>
                    <a:cubicBezTo>
                      <a:pt x="3" y="32"/>
                      <a:pt x="6" y="25"/>
                      <a:pt x="10" y="19"/>
                    </a:cubicBezTo>
                    <a:cubicBezTo>
                      <a:pt x="10" y="19"/>
                      <a:pt x="10" y="19"/>
                      <a:pt x="10" y="19"/>
                    </a:cubicBezTo>
                    <a:cubicBezTo>
                      <a:pt x="10" y="18"/>
                      <a:pt x="10" y="18"/>
                      <a:pt x="10" y="18"/>
                    </a:cubicBezTo>
                    <a:cubicBezTo>
                      <a:pt x="10" y="18"/>
                      <a:pt x="10" y="18"/>
                      <a:pt x="10" y="18"/>
                    </a:cubicBezTo>
                    <a:cubicBezTo>
                      <a:pt x="11" y="18"/>
                      <a:pt x="11" y="18"/>
                      <a:pt x="11" y="18"/>
                    </a:cubicBezTo>
                    <a:cubicBezTo>
                      <a:pt x="11" y="18"/>
                      <a:pt x="11" y="18"/>
                      <a:pt x="11" y="18"/>
                    </a:cubicBezTo>
                    <a:cubicBezTo>
                      <a:pt x="11" y="17"/>
                      <a:pt x="11" y="17"/>
                      <a:pt x="11" y="17"/>
                    </a:cubicBezTo>
                    <a:cubicBezTo>
                      <a:pt x="12" y="17"/>
                      <a:pt x="12" y="17"/>
                      <a:pt x="12" y="17"/>
                    </a:cubicBezTo>
                    <a:cubicBezTo>
                      <a:pt x="12" y="17"/>
                      <a:pt x="12" y="17"/>
                      <a:pt x="12" y="17"/>
                    </a:cubicBezTo>
                    <a:cubicBezTo>
                      <a:pt x="12" y="17"/>
                      <a:pt x="12" y="17"/>
                      <a:pt x="12" y="17"/>
                    </a:cubicBezTo>
                    <a:cubicBezTo>
                      <a:pt x="13" y="17"/>
                      <a:pt x="13" y="17"/>
                      <a:pt x="13" y="17"/>
                    </a:cubicBezTo>
                    <a:cubicBezTo>
                      <a:pt x="14" y="16"/>
                      <a:pt x="14" y="16"/>
                      <a:pt x="14" y="16"/>
                    </a:cubicBezTo>
                    <a:cubicBezTo>
                      <a:pt x="14" y="16"/>
                      <a:pt x="14" y="16"/>
                      <a:pt x="14" y="16"/>
                    </a:cubicBezTo>
                    <a:cubicBezTo>
                      <a:pt x="14" y="16"/>
                      <a:pt x="14" y="16"/>
                      <a:pt x="14" y="16"/>
                    </a:cubicBezTo>
                    <a:cubicBezTo>
                      <a:pt x="15" y="16"/>
                      <a:pt x="15" y="16"/>
                      <a:pt x="15" y="16"/>
                    </a:cubicBezTo>
                    <a:cubicBezTo>
                      <a:pt x="15" y="16"/>
                      <a:pt x="15" y="16"/>
                      <a:pt x="15" y="16"/>
                    </a:cubicBezTo>
                    <a:moveTo>
                      <a:pt x="13" y="14"/>
                    </a:moveTo>
                    <a:cubicBezTo>
                      <a:pt x="14" y="14"/>
                      <a:pt x="14" y="14"/>
                      <a:pt x="14" y="14"/>
                    </a:cubicBezTo>
                    <a:cubicBezTo>
                      <a:pt x="14" y="14"/>
                      <a:pt x="14" y="14"/>
                      <a:pt x="14" y="14"/>
                    </a:cubicBezTo>
                    <a:cubicBezTo>
                      <a:pt x="13" y="14"/>
                      <a:pt x="13" y="14"/>
                      <a:pt x="13" y="14"/>
                    </a:cubicBezTo>
                    <a:moveTo>
                      <a:pt x="46" y="6"/>
                    </a:moveTo>
                    <a:cubicBezTo>
                      <a:pt x="47" y="6"/>
                      <a:pt x="47" y="6"/>
                      <a:pt x="47" y="6"/>
                    </a:cubicBezTo>
                    <a:cubicBezTo>
                      <a:pt x="47" y="6"/>
                      <a:pt x="47" y="6"/>
                      <a:pt x="47" y="6"/>
                    </a:cubicBezTo>
                    <a:cubicBezTo>
                      <a:pt x="48" y="6"/>
                      <a:pt x="48" y="6"/>
                      <a:pt x="48" y="6"/>
                    </a:cubicBezTo>
                    <a:cubicBezTo>
                      <a:pt x="48" y="6"/>
                      <a:pt x="48" y="6"/>
                      <a:pt x="48" y="6"/>
                    </a:cubicBezTo>
                    <a:cubicBezTo>
                      <a:pt x="49" y="6"/>
                      <a:pt x="49" y="6"/>
                      <a:pt x="49" y="6"/>
                    </a:cubicBezTo>
                    <a:cubicBezTo>
                      <a:pt x="49" y="6"/>
                      <a:pt x="50" y="6"/>
                      <a:pt x="50" y="6"/>
                    </a:cubicBezTo>
                    <a:cubicBezTo>
                      <a:pt x="50" y="6"/>
                      <a:pt x="50" y="6"/>
                      <a:pt x="50" y="6"/>
                    </a:cubicBezTo>
                    <a:cubicBezTo>
                      <a:pt x="51" y="7"/>
                      <a:pt x="51" y="7"/>
                      <a:pt x="51" y="7"/>
                    </a:cubicBezTo>
                    <a:cubicBezTo>
                      <a:pt x="51" y="7"/>
                      <a:pt x="51" y="7"/>
                      <a:pt x="51" y="7"/>
                    </a:cubicBezTo>
                    <a:cubicBezTo>
                      <a:pt x="52" y="7"/>
                      <a:pt x="52" y="7"/>
                      <a:pt x="52" y="7"/>
                    </a:cubicBezTo>
                    <a:cubicBezTo>
                      <a:pt x="53" y="7"/>
                      <a:pt x="53" y="7"/>
                      <a:pt x="53" y="7"/>
                    </a:cubicBezTo>
                    <a:cubicBezTo>
                      <a:pt x="54" y="8"/>
                      <a:pt x="54" y="8"/>
                      <a:pt x="54" y="8"/>
                    </a:cubicBezTo>
                    <a:cubicBezTo>
                      <a:pt x="54" y="9"/>
                      <a:pt x="54" y="9"/>
                      <a:pt x="54" y="9"/>
                    </a:cubicBezTo>
                    <a:cubicBezTo>
                      <a:pt x="55" y="10"/>
                      <a:pt x="55" y="10"/>
                      <a:pt x="55" y="10"/>
                    </a:cubicBezTo>
                    <a:cubicBezTo>
                      <a:pt x="55" y="10"/>
                      <a:pt x="55" y="10"/>
                      <a:pt x="55" y="10"/>
                    </a:cubicBezTo>
                    <a:cubicBezTo>
                      <a:pt x="55" y="10"/>
                      <a:pt x="55" y="10"/>
                      <a:pt x="55" y="10"/>
                    </a:cubicBezTo>
                    <a:cubicBezTo>
                      <a:pt x="54" y="10"/>
                      <a:pt x="54" y="10"/>
                      <a:pt x="54" y="10"/>
                    </a:cubicBezTo>
                    <a:cubicBezTo>
                      <a:pt x="54" y="11"/>
                      <a:pt x="54" y="11"/>
                      <a:pt x="54" y="11"/>
                    </a:cubicBezTo>
                    <a:cubicBezTo>
                      <a:pt x="54" y="11"/>
                      <a:pt x="54" y="11"/>
                      <a:pt x="54" y="11"/>
                    </a:cubicBezTo>
                    <a:cubicBezTo>
                      <a:pt x="54" y="12"/>
                      <a:pt x="54" y="12"/>
                      <a:pt x="54" y="12"/>
                    </a:cubicBezTo>
                    <a:cubicBezTo>
                      <a:pt x="55" y="13"/>
                      <a:pt x="55" y="13"/>
                      <a:pt x="55" y="13"/>
                    </a:cubicBezTo>
                    <a:cubicBezTo>
                      <a:pt x="55" y="13"/>
                      <a:pt x="56" y="14"/>
                      <a:pt x="56" y="14"/>
                    </a:cubicBezTo>
                    <a:cubicBezTo>
                      <a:pt x="57" y="14"/>
                      <a:pt x="57" y="14"/>
                      <a:pt x="57" y="14"/>
                    </a:cubicBezTo>
                    <a:cubicBezTo>
                      <a:pt x="57" y="14"/>
                      <a:pt x="57" y="14"/>
                      <a:pt x="57" y="14"/>
                    </a:cubicBezTo>
                    <a:cubicBezTo>
                      <a:pt x="57" y="13"/>
                      <a:pt x="57" y="13"/>
                      <a:pt x="57" y="13"/>
                    </a:cubicBezTo>
                    <a:cubicBezTo>
                      <a:pt x="58" y="13"/>
                      <a:pt x="58" y="13"/>
                      <a:pt x="58" y="13"/>
                    </a:cubicBezTo>
                    <a:cubicBezTo>
                      <a:pt x="59" y="13"/>
                      <a:pt x="59" y="13"/>
                      <a:pt x="59" y="13"/>
                    </a:cubicBezTo>
                    <a:cubicBezTo>
                      <a:pt x="59" y="13"/>
                      <a:pt x="59" y="13"/>
                      <a:pt x="59" y="13"/>
                    </a:cubicBezTo>
                    <a:cubicBezTo>
                      <a:pt x="60" y="13"/>
                      <a:pt x="60" y="13"/>
                      <a:pt x="60" y="13"/>
                    </a:cubicBezTo>
                    <a:cubicBezTo>
                      <a:pt x="61" y="13"/>
                      <a:pt x="61" y="13"/>
                      <a:pt x="61" y="13"/>
                    </a:cubicBezTo>
                    <a:cubicBezTo>
                      <a:pt x="61" y="13"/>
                      <a:pt x="61" y="13"/>
                      <a:pt x="61" y="13"/>
                    </a:cubicBezTo>
                    <a:cubicBezTo>
                      <a:pt x="61" y="13"/>
                      <a:pt x="62" y="13"/>
                      <a:pt x="62" y="14"/>
                    </a:cubicBezTo>
                    <a:cubicBezTo>
                      <a:pt x="62" y="14"/>
                      <a:pt x="62" y="14"/>
                      <a:pt x="62" y="14"/>
                    </a:cubicBezTo>
                    <a:cubicBezTo>
                      <a:pt x="67" y="18"/>
                      <a:pt x="70" y="23"/>
                      <a:pt x="72" y="29"/>
                    </a:cubicBezTo>
                    <a:cubicBezTo>
                      <a:pt x="73" y="32"/>
                      <a:pt x="73" y="36"/>
                      <a:pt x="73" y="39"/>
                    </a:cubicBezTo>
                    <a:cubicBezTo>
                      <a:pt x="73" y="54"/>
                      <a:pt x="63" y="68"/>
                      <a:pt x="48" y="72"/>
                    </a:cubicBezTo>
                    <a:cubicBezTo>
                      <a:pt x="46" y="73"/>
                      <a:pt x="45" y="73"/>
                      <a:pt x="43" y="73"/>
                    </a:cubicBezTo>
                    <a:cubicBezTo>
                      <a:pt x="43" y="73"/>
                      <a:pt x="43" y="73"/>
                      <a:pt x="43" y="73"/>
                    </a:cubicBezTo>
                    <a:cubicBezTo>
                      <a:pt x="43" y="73"/>
                      <a:pt x="43" y="73"/>
                      <a:pt x="43" y="73"/>
                    </a:cubicBezTo>
                    <a:cubicBezTo>
                      <a:pt x="43" y="72"/>
                      <a:pt x="43" y="72"/>
                      <a:pt x="43" y="72"/>
                    </a:cubicBezTo>
                    <a:cubicBezTo>
                      <a:pt x="44" y="72"/>
                      <a:pt x="44" y="72"/>
                      <a:pt x="44" y="72"/>
                    </a:cubicBezTo>
                    <a:cubicBezTo>
                      <a:pt x="44" y="71"/>
                      <a:pt x="44" y="71"/>
                      <a:pt x="44" y="71"/>
                    </a:cubicBezTo>
                    <a:cubicBezTo>
                      <a:pt x="43" y="71"/>
                      <a:pt x="43" y="71"/>
                      <a:pt x="43" y="71"/>
                    </a:cubicBezTo>
                    <a:cubicBezTo>
                      <a:pt x="43" y="70"/>
                      <a:pt x="43" y="70"/>
                      <a:pt x="43" y="70"/>
                    </a:cubicBezTo>
                    <a:cubicBezTo>
                      <a:pt x="43" y="70"/>
                      <a:pt x="43" y="70"/>
                      <a:pt x="43" y="70"/>
                    </a:cubicBezTo>
                    <a:cubicBezTo>
                      <a:pt x="44" y="70"/>
                      <a:pt x="44" y="70"/>
                      <a:pt x="44" y="70"/>
                    </a:cubicBezTo>
                    <a:cubicBezTo>
                      <a:pt x="44" y="69"/>
                      <a:pt x="44" y="69"/>
                      <a:pt x="44" y="69"/>
                    </a:cubicBezTo>
                    <a:cubicBezTo>
                      <a:pt x="43" y="69"/>
                      <a:pt x="43" y="69"/>
                      <a:pt x="43" y="69"/>
                    </a:cubicBezTo>
                    <a:cubicBezTo>
                      <a:pt x="44" y="69"/>
                      <a:pt x="44" y="69"/>
                      <a:pt x="44" y="69"/>
                    </a:cubicBezTo>
                    <a:cubicBezTo>
                      <a:pt x="44" y="69"/>
                      <a:pt x="44" y="69"/>
                      <a:pt x="44" y="69"/>
                    </a:cubicBezTo>
                    <a:cubicBezTo>
                      <a:pt x="44" y="68"/>
                      <a:pt x="44" y="68"/>
                      <a:pt x="44" y="68"/>
                    </a:cubicBezTo>
                    <a:cubicBezTo>
                      <a:pt x="45" y="67"/>
                      <a:pt x="45" y="67"/>
                      <a:pt x="45" y="67"/>
                    </a:cubicBezTo>
                    <a:cubicBezTo>
                      <a:pt x="45" y="67"/>
                      <a:pt x="45" y="67"/>
                      <a:pt x="46" y="67"/>
                    </a:cubicBezTo>
                    <a:cubicBezTo>
                      <a:pt x="46" y="67"/>
                      <a:pt x="46" y="67"/>
                      <a:pt x="46" y="67"/>
                    </a:cubicBezTo>
                    <a:cubicBezTo>
                      <a:pt x="47" y="67"/>
                      <a:pt x="47" y="67"/>
                      <a:pt x="47" y="67"/>
                    </a:cubicBezTo>
                    <a:cubicBezTo>
                      <a:pt x="47" y="66"/>
                      <a:pt x="47" y="66"/>
                      <a:pt x="47" y="66"/>
                    </a:cubicBezTo>
                    <a:cubicBezTo>
                      <a:pt x="47" y="66"/>
                      <a:pt x="46" y="65"/>
                      <a:pt x="46" y="65"/>
                    </a:cubicBezTo>
                    <a:cubicBezTo>
                      <a:pt x="46" y="65"/>
                      <a:pt x="46" y="65"/>
                      <a:pt x="46" y="65"/>
                    </a:cubicBezTo>
                    <a:cubicBezTo>
                      <a:pt x="47" y="65"/>
                      <a:pt x="47" y="65"/>
                      <a:pt x="47" y="65"/>
                    </a:cubicBezTo>
                    <a:cubicBezTo>
                      <a:pt x="48" y="65"/>
                      <a:pt x="48" y="65"/>
                      <a:pt x="48" y="65"/>
                    </a:cubicBezTo>
                    <a:cubicBezTo>
                      <a:pt x="48" y="64"/>
                      <a:pt x="48" y="64"/>
                      <a:pt x="48" y="64"/>
                    </a:cubicBezTo>
                    <a:cubicBezTo>
                      <a:pt x="49" y="64"/>
                      <a:pt x="49" y="64"/>
                      <a:pt x="49" y="63"/>
                    </a:cubicBezTo>
                    <a:cubicBezTo>
                      <a:pt x="50" y="63"/>
                      <a:pt x="50" y="63"/>
                      <a:pt x="50" y="63"/>
                    </a:cubicBezTo>
                    <a:cubicBezTo>
                      <a:pt x="50" y="62"/>
                      <a:pt x="50" y="62"/>
                      <a:pt x="50" y="62"/>
                    </a:cubicBezTo>
                    <a:cubicBezTo>
                      <a:pt x="50" y="62"/>
                      <a:pt x="50" y="62"/>
                      <a:pt x="50" y="62"/>
                    </a:cubicBezTo>
                    <a:cubicBezTo>
                      <a:pt x="50" y="61"/>
                      <a:pt x="50" y="61"/>
                      <a:pt x="50" y="61"/>
                    </a:cubicBezTo>
                    <a:cubicBezTo>
                      <a:pt x="51" y="61"/>
                      <a:pt x="51" y="61"/>
                      <a:pt x="51" y="61"/>
                    </a:cubicBezTo>
                    <a:cubicBezTo>
                      <a:pt x="50" y="60"/>
                      <a:pt x="50" y="60"/>
                      <a:pt x="50" y="60"/>
                    </a:cubicBezTo>
                    <a:cubicBezTo>
                      <a:pt x="51" y="59"/>
                      <a:pt x="51" y="59"/>
                      <a:pt x="51" y="59"/>
                    </a:cubicBezTo>
                    <a:cubicBezTo>
                      <a:pt x="51" y="59"/>
                      <a:pt x="51" y="59"/>
                      <a:pt x="52" y="59"/>
                    </a:cubicBezTo>
                    <a:cubicBezTo>
                      <a:pt x="52" y="59"/>
                      <a:pt x="52" y="59"/>
                      <a:pt x="53" y="58"/>
                    </a:cubicBezTo>
                    <a:cubicBezTo>
                      <a:pt x="53" y="58"/>
                      <a:pt x="53" y="58"/>
                      <a:pt x="53" y="58"/>
                    </a:cubicBezTo>
                    <a:cubicBezTo>
                      <a:pt x="54" y="58"/>
                      <a:pt x="54" y="58"/>
                      <a:pt x="54" y="58"/>
                    </a:cubicBezTo>
                    <a:cubicBezTo>
                      <a:pt x="54" y="57"/>
                      <a:pt x="54" y="57"/>
                      <a:pt x="54" y="57"/>
                    </a:cubicBezTo>
                    <a:cubicBezTo>
                      <a:pt x="55" y="57"/>
                      <a:pt x="55" y="57"/>
                      <a:pt x="55" y="57"/>
                    </a:cubicBezTo>
                    <a:cubicBezTo>
                      <a:pt x="55" y="57"/>
                      <a:pt x="55" y="57"/>
                      <a:pt x="55" y="57"/>
                    </a:cubicBezTo>
                    <a:cubicBezTo>
                      <a:pt x="55" y="56"/>
                      <a:pt x="55" y="56"/>
                      <a:pt x="55" y="56"/>
                    </a:cubicBezTo>
                    <a:cubicBezTo>
                      <a:pt x="55" y="56"/>
                      <a:pt x="55" y="56"/>
                      <a:pt x="55" y="56"/>
                    </a:cubicBezTo>
                    <a:cubicBezTo>
                      <a:pt x="55" y="55"/>
                      <a:pt x="55" y="55"/>
                      <a:pt x="55" y="55"/>
                    </a:cubicBezTo>
                    <a:cubicBezTo>
                      <a:pt x="55" y="55"/>
                      <a:pt x="55" y="55"/>
                      <a:pt x="55" y="55"/>
                    </a:cubicBezTo>
                    <a:cubicBezTo>
                      <a:pt x="56" y="55"/>
                      <a:pt x="56" y="55"/>
                      <a:pt x="56" y="55"/>
                    </a:cubicBezTo>
                    <a:cubicBezTo>
                      <a:pt x="56" y="54"/>
                      <a:pt x="56" y="54"/>
                      <a:pt x="56" y="54"/>
                    </a:cubicBezTo>
                    <a:cubicBezTo>
                      <a:pt x="56" y="53"/>
                      <a:pt x="56" y="53"/>
                      <a:pt x="56" y="53"/>
                    </a:cubicBezTo>
                    <a:cubicBezTo>
                      <a:pt x="57" y="52"/>
                      <a:pt x="57" y="52"/>
                      <a:pt x="57" y="52"/>
                    </a:cubicBezTo>
                    <a:cubicBezTo>
                      <a:pt x="57" y="51"/>
                      <a:pt x="57" y="51"/>
                      <a:pt x="57" y="51"/>
                    </a:cubicBezTo>
                    <a:cubicBezTo>
                      <a:pt x="58" y="51"/>
                      <a:pt x="58" y="51"/>
                      <a:pt x="58" y="51"/>
                    </a:cubicBezTo>
                    <a:cubicBezTo>
                      <a:pt x="58" y="50"/>
                      <a:pt x="58" y="50"/>
                      <a:pt x="58" y="50"/>
                    </a:cubicBezTo>
                    <a:cubicBezTo>
                      <a:pt x="58" y="50"/>
                      <a:pt x="58" y="50"/>
                      <a:pt x="58" y="50"/>
                    </a:cubicBezTo>
                    <a:cubicBezTo>
                      <a:pt x="58" y="50"/>
                      <a:pt x="58" y="50"/>
                      <a:pt x="58" y="50"/>
                    </a:cubicBezTo>
                    <a:cubicBezTo>
                      <a:pt x="58" y="49"/>
                      <a:pt x="58" y="49"/>
                      <a:pt x="59" y="49"/>
                    </a:cubicBezTo>
                    <a:cubicBezTo>
                      <a:pt x="59" y="49"/>
                      <a:pt x="59" y="49"/>
                      <a:pt x="59" y="49"/>
                    </a:cubicBezTo>
                    <a:cubicBezTo>
                      <a:pt x="58" y="48"/>
                      <a:pt x="58" y="48"/>
                      <a:pt x="58" y="48"/>
                    </a:cubicBezTo>
                    <a:cubicBezTo>
                      <a:pt x="58" y="48"/>
                      <a:pt x="57" y="48"/>
                      <a:pt x="57" y="48"/>
                    </a:cubicBezTo>
                    <a:cubicBezTo>
                      <a:pt x="56" y="48"/>
                      <a:pt x="56" y="47"/>
                      <a:pt x="56" y="47"/>
                    </a:cubicBezTo>
                    <a:cubicBezTo>
                      <a:pt x="55" y="47"/>
                      <a:pt x="55" y="47"/>
                      <a:pt x="55" y="47"/>
                    </a:cubicBezTo>
                    <a:cubicBezTo>
                      <a:pt x="54" y="47"/>
                      <a:pt x="54" y="47"/>
                      <a:pt x="54" y="47"/>
                    </a:cubicBezTo>
                    <a:cubicBezTo>
                      <a:pt x="54" y="47"/>
                      <a:pt x="54" y="47"/>
                      <a:pt x="53" y="47"/>
                    </a:cubicBezTo>
                    <a:cubicBezTo>
                      <a:pt x="53" y="46"/>
                      <a:pt x="53" y="46"/>
                      <a:pt x="53" y="46"/>
                    </a:cubicBezTo>
                    <a:cubicBezTo>
                      <a:pt x="52" y="46"/>
                      <a:pt x="52" y="46"/>
                      <a:pt x="52" y="46"/>
                    </a:cubicBezTo>
                    <a:cubicBezTo>
                      <a:pt x="51" y="46"/>
                      <a:pt x="51" y="46"/>
                      <a:pt x="51" y="46"/>
                    </a:cubicBezTo>
                    <a:cubicBezTo>
                      <a:pt x="51" y="46"/>
                      <a:pt x="51" y="46"/>
                      <a:pt x="50" y="46"/>
                    </a:cubicBezTo>
                    <a:cubicBezTo>
                      <a:pt x="50" y="45"/>
                      <a:pt x="50" y="45"/>
                      <a:pt x="50" y="45"/>
                    </a:cubicBezTo>
                    <a:cubicBezTo>
                      <a:pt x="49" y="45"/>
                      <a:pt x="49" y="45"/>
                      <a:pt x="49" y="45"/>
                    </a:cubicBezTo>
                    <a:cubicBezTo>
                      <a:pt x="49" y="44"/>
                      <a:pt x="49" y="44"/>
                      <a:pt x="49" y="44"/>
                    </a:cubicBezTo>
                    <a:cubicBezTo>
                      <a:pt x="49" y="43"/>
                      <a:pt x="49" y="43"/>
                      <a:pt x="49" y="43"/>
                    </a:cubicBezTo>
                    <a:cubicBezTo>
                      <a:pt x="48" y="43"/>
                      <a:pt x="48" y="43"/>
                      <a:pt x="48" y="43"/>
                    </a:cubicBezTo>
                    <a:cubicBezTo>
                      <a:pt x="48" y="42"/>
                      <a:pt x="48" y="42"/>
                      <a:pt x="47" y="42"/>
                    </a:cubicBezTo>
                    <a:cubicBezTo>
                      <a:pt x="47" y="42"/>
                      <a:pt x="47" y="42"/>
                      <a:pt x="47" y="42"/>
                    </a:cubicBezTo>
                    <a:cubicBezTo>
                      <a:pt x="46" y="42"/>
                      <a:pt x="46" y="42"/>
                      <a:pt x="45" y="42"/>
                    </a:cubicBezTo>
                    <a:cubicBezTo>
                      <a:pt x="45" y="42"/>
                      <a:pt x="45" y="42"/>
                      <a:pt x="45" y="42"/>
                    </a:cubicBezTo>
                    <a:cubicBezTo>
                      <a:pt x="45" y="41"/>
                      <a:pt x="45" y="41"/>
                      <a:pt x="44" y="41"/>
                    </a:cubicBezTo>
                    <a:cubicBezTo>
                      <a:pt x="44" y="41"/>
                      <a:pt x="44" y="41"/>
                      <a:pt x="44" y="41"/>
                    </a:cubicBezTo>
                    <a:cubicBezTo>
                      <a:pt x="43" y="40"/>
                      <a:pt x="43" y="40"/>
                      <a:pt x="43" y="40"/>
                    </a:cubicBezTo>
                    <a:cubicBezTo>
                      <a:pt x="43" y="40"/>
                      <a:pt x="43" y="40"/>
                      <a:pt x="43" y="40"/>
                    </a:cubicBezTo>
                    <a:cubicBezTo>
                      <a:pt x="43" y="39"/>
                      <a:pt x="43" y="39"/>
                      <a:pt x="43" y="39"/>
                    </a:cubicBezTo>
                    <a:cubicBezTo>
                      <a:pt x="44" y="39"/>
                      <a:pt x="44" y="39"/>
                      <a:pt x="44" y="39"/>
                    </a:cubicBezTo>
                    <a:cubicBezTo>
                      <a:pt x="43" y="39"/>
                      <a:pt x="43" y="39"/>
                      <a:pt x="43" y="39"/>
                    </a:cubicBezTo>
                    <a:cubicBezTo>
                      <a:pt x="43" y="39"/>
                      <a:pt x="43" y="39"/>
                      <a:pt x="43" y="39"/>
                    </a:cubicBezTo>
                    <a:cubicBezTo>
                      <a:pt x="42" y="39"/>
                      <a:pt x="42" y="39"/>
                      <a:pt x="42" y="39"/>
                    </a:cubicBezTo>
                    <a:cubicBezTo>
                      <a:pt x="42" y="39"/>
                      <a:pt x="42" y="39"/>
                      <a:pt x="41" y="39"/>
                    </a:cubicBezTo>
                    <a:cubicBezTo>
                      <a:pt x="40" y="39"/>
                      <a:pt x="40" y="39"/>
                      <a:pt x="40" y="39"/>
                    </a:cubicBezTo>
                    <a:cubicBezTo>
                      <a:pt x="40" y="39"/>
                      <a:pt x="39" y="39"/>
                      <a:pt x="39" y="39"/>
                    </a:cubicBezTo>
                    <a:cubicBezTo>
                      <a:pt x="38" y="39"/>
                      <a:pt x="38" y="39"/>
                      <a:pt x="38" y="39"/>
                    </a:cubicBezTo>
                    <a:cubicBezTo>
                      <a:pt x="38" y="39"/>
                      <a:pt x="38" y="39"/>
                      <a:pt x="38" y="39"/>
                    </a:cubicBezTo>
                    <a:cubicBezTo>
                      <a:pt x="37" y="39"/>
                      <a:pt x="37" y="39"/>
                      <a:pt x="37" y="39"/>
                    </a:cubicBezTo>
                    <a:cubicBezTo>
                      <a:pt x="36" y="39"/>
                      <a:pt x="36" y="38"/>
                      <a:pt x="36" y="38"/>
                    </a:cubicBezTo>
                    <a:cubicBezTo>
                      <a:pt x="35" y="39"/>
                      <a:pt x="35" y="39"/>
                      <a:pt x="35" y="39"/>
                    </a:cubicBezTo>
                    <a:cubicBezTo>
                      <a:pt x="35" y="39"/>
                      <a:pt x="35" y="39"/>
                      <a:pt x="35" y="39"/>
                    </a:cubicBezTo>
                    <a:cubicBezTo>
                      <a:pt x="34" y="39"/>
                      <a:pt x="34" y="39"/>
                      <a:pt x="34" y="39"/>
                    </a:cubicBezTo>
                    <a:cubicBezTo>
                      <a:pt x="33" y="40"/>
                      <a:pt x="33" y="40"/>
                      <a:pt x="33" y="40"/>
                    </a:cubicBezTo>
                    <a:cubicBezTo>
                      <a:pt x="33" y="40"/>
                      <a:pt x="33" y="40"/>
                      <a:pt x="32" y="40"/>
                    </a:cubicBezTo>
                    <a:cubicBezTo>
                      <a:pt x="32" y="40"/>
                      <a:pt x="32" y="40"/>
                      <a:pt x="32" y="40"/>
                    </a:cubicBezTo>
                    <a:cubicBezTo>
                      <a:pt x="31" y="40"/>
                      <a:pt x="31" y="40"/>
                      <a:pt x="31" y="40"/>
                    </a:cubicBezTo>
                    <a:cubicBezTo>
                      <a:pt x="30" y="40"/>
                      <a:pt x="30" y="40"/>
                      <a:pt x="30" y="40"/>
                    </a:cubicBezTo>
                    <a:cubicBezTo>
                      <a:pt x="30" y="40"/>
                      <a:pt x="30" y="40"/>
                      <a:pt x="30" y="40"/>
                    </a:cubicBezTo>
                    <a:cubicBezTo>
                      <a:pt x="29" y="39"/>
                      <a:pt x="29" y="39"/>
                      <a:pt x="29" y="39"/>
                    </a:cubicBezTo>
                    <a:cubicBezTo>
                      <a:pt x="29" y="39"/>
                      <a:pt x="29" y="39"/>
                      <a:pt x="29" y="39"/>
                    </a:cubicBezTo>
                    <a:cubicBezTo>
                      <a:pt x="29" y="38"/>
                      <a:pt x="29" y="38"/>
                      <a:pt x="29" y="38"/>
                    </a:cubicBezTo>
                    <a:cubicBezTo>
                      <a:pt x="29" y="38"/>
                      <a:pt x="29" y="38"/>
                      <a:pt x="29" y="38"/>
                    </a:cubicBezTo>
                    <a:cubicBezTo>
                      <a:pt x="29" y="37"/>
                      <a:pt x="29" y="37"/>
                      <a:pt x="29" y="37"/>
                    </a:cubicBezTo>
                    <a:cubicBezTo>
                      <a:pt x="29" y="36"/>
                      <a:pt x="29" y="36"/>
                      <a:pt x="29" y="36"/>
                    </a:cubicBezTo>
                    <a:cubicBezTo>
                      <a:pt x="28" y="36"/>
                      <a:pt x="28" y="36"/>
                      <a:pt x="28" y="36"/>
                    </a:cubicBezTo>
                    <a:cubicBezTo>
                      <a:pt x="27" y="36"/>
                      <a:pt x="27" y="36"/>
                      <a:pt x="26" y="36"/>
                    </a:cubicBezTo>
                    <a:cubicBezTo>
                      <a:pt x="26" y="36"/>
                      <a:pt x="26" y="36"/>
                      <a:pt x="26" y="36"/>
                    </a:cubicBezTo>
                    <a:cubicBezTo>
                      <a:pt x="26" y="36"/>
                      <a:pt x="26" y="36"/>
                      <a:pt x="27" y="35"/>
                    </a:cubicBezTo>
                    <a:cubicBezTo>
                      <a:pt x="27" y="34"/>
                      <a:pt x="27" y="34"/>
                      <a:pt x="27" y="34"/>
                    </a:cubicBezTo>
                    <a:cubicBezTo>
                      <a:pt x="27" y="33"/>
                      <a:pt x="27" y="33"/>
                      <a:pt x="27" y="33"/>
                    </a:cubicBezTo>
                    <a:cubicBezTo>
                      <a:pt x="27" y="33"/>
                      <a:pt x="27" y="33"/>
                      <a:pt x="27" y="33"/>
                    </a:cubicBezTo>
                    <a:cubicBezTo>
                      <a:pt x="26" y="33"/>
                      <a:pt x="26" y="33"/>
                      <a:pt x="26" y="33"/>
                    </a:cubicBezTo>
                    <a:cubicBezTo>
                      <a:pt x="26" y="33"/>
                      <a:pt x="26" y="33"/>
                      <a:pt x="26" y="33"/>
                    </a:cubicBezTo>
                    <a:cubicBezTo>
                      <a:pt x="25" y="34"/>
                      <a:pt x="25" y="34"/>
                      <a:pt x="25" y="34"/>
                    </a:cubicBezTo>
                    <a:cubicBezTo>
                      <a:pt x="25" y="34"/>
                      <a:pt x="25" y="34"/>
                      <a:pt x="25" y="34"/>
                    </a:cubicBezTo>
                    <a:cubicBezTo>
                      <a:pt x="24" y="34"/>
                      <a:pt x="24" y="34"/>
                      <a:pt x="24" y="34"/>
                    </a:cubicBezTo>
                    <a:cubicBezTo>
                      <a:pt x="23" y="34"/>
                      <a:pt x="23" y="34"/>
                      <a:pt x="23" y="34"/>
                    </a:cubicBezTo>
                    <a:cubicBezTo>
                      <a:pt x="22" y="34"/>
                      <a:pt x="22" y="34"/>
                      <a:pt x="22" y="34"/>
                    </a:cubicBezTo>
                    <a:cubicBezTo>
                      <a:pt x="22" y="34"/>
                      <a:pt x="22" y="34"/>
                      <a:pt x="22" y="34"/>
                    </a:cubicBezTo>
                    <a:cubicBezTo>
                      <a:pt x="22" y="33"/>
                      <a:pt x="22" y="33"/>
                      <a:pt x="22" y="33"/>
                    </a:cubicBezTo>
                    <a:cubicBezTo>
                      <a:pt x="21" y="32"/>
                      <a:pt x="21" y="32"/>
                      <a:pt x="21" y="32"/>
                    </a:cubicBezTo>
                    <a:cubicBezTo>
                      <a:pt x="22" y="32"/>
                      <a:pt x="22" y="32"/>
                      <a:pt x="22" y="31"/>
                    </a:cubicBezTo>
                    <a:cubicBezTo>
                      <a:pt x="22" y="30"/>
                      <a:pt x="22" y="30"/>
                      <a:pt x="22" y="30"/>
                    </a:cubicBezTo>
                    <a:cubicBezTo>
                      <a:pt x="22" y="30"/>
                      <a:pt x="23" y="30"/>
                      <a:pt x="23" y="29"/>
                    </a:cubicBezTo>
                    <a:cubicBezTo>
                      <a:pt x="23" y="29"/>
                      <a:pt x="24" y="29"/>
                      <a:pt x="24" y="29"/>
                    </a:cubicBezTo>
                    <a:cubicBezTo>
                      <a:pt x="25" y="29"/>
                      <a:pt x="25" y="29"/>
                      <a:pt x="25" y="28"/>
                    </a:cubicBezTo>
                    <a:cubicBezTo>
                      <a:pt x="26" y="28"/>
                      <a:pt x="26" y="28"/>
                      <a:pt x="26" y="28"/>
                    </a:cubicBezTo>
                    <a:cubicBezTo>
                      <a:pt x="27" y="29"/>
                      <a:pt x="27" y="29"/>
                      <a:pt x="27" y="29"/>
                    </a:cubicBezTo>
                    <a:cubicBezTo>
                      <a:pt x="27" y="28"/>
                      <a:pt x="27" y="28"/>
                      <a:pt x="27" y="28"/>
                    </a:cubicBezTo>
                    <a:cubicBezTo>
                      <a:pt x="28" y="28"/>
                      <a:pt x="28" y="28"/>
                      <a:pt x="28" y="28"/>
                    </a:cubicBezTo>
                    <a:cubicBezTo>
                      <a:pt x="28" y="28"/>
                      <a:pt x="28" y="28"/>
                      <a:pt x="28" y="28"/>
                    </a:cubicBezTo>
                    <a:cubicBezTo>
                      <a:pt x="29" y="28"/>
                      <a:pt x="29" y="28"/>
                      <a:pt x="29" y="28"/>
                    </a:cubicBezTo>
                    <a:cubicBezTo>
                      <a:pt x="30" y="28"/>
                      <a:pt x="30" y="28"/>
                      <a:pt x="30" y="28"/>
                    </a:cubicBezTo>
                    <a:cubicBezTo>
                      <a:pt x="30" y="28"/>
                      <a:pt x="30" y="28"/>
                      <a:pt x="31" y="28"/>
                    </a:cubicBezTo>
                    <a:cubicBezTo>
                      <a:pt x="31" y="29"/>
                      <a:pt x="31" y="29"/>
                      <a:pt x="31" y="29"/>
                    </a:cubicBezTo>
                    <a:cubicBezTo>
                      <a:pt x="31" y="29"/>
                      <a:pt x="31" y="29"/>
                      <a:pt x="31" y="29"/>
                    </a:cubicBezTo>
                    <a:cubicBezTo>
                      <a:pt x="31" y="30"/>
                      <a:pt x="31" y="30"/>
                      <a:pt x="31" y="30"/>
                    </a:cubicBezTo>
                    <a:cubicBezTo>
                      <a:pt x="31" y="31"/>
                      <a:pt x="31" y="31"/>
                      <a:pt x="31" y="31"/>
                    </a:cubicBezTo>
                    <a:cubicBezTo>
                      <a:pt x="32" y="31"/>
                      <a:pt x="32" y="31"/>
                      <a:pt x="32" y="31"/>
                    </a:cubicBezTo>
                    <a:cubicBezTo>
                      <a:pt x="32" y="31"/>
                      <a:pt x="32" y="31"/>
                      <a:pt x="32" y="31"/>
                    </a:cubicBezTo>
                    <a:cubicBezTo>
                      <a:pt x="33" y="31"/>
                      <a:pt x="33" y="31"/>
                      <a:pt x="33" y="31"/>
                    </a:cubicBezTo>
                    <a:cubicBezTo>
                      <a:pt x="33" y="31"/>
                      <a:pt x="33" y="31"/>
                      <a:pt x="33" y="31"/>
                    </a:cubicBezTo>
                    <a:cubicBezTo>
                      <a:pt x="33" y="31"/>
                      <a:pt x="33" y="31"/>
                      <a:pt x="33" y="31"/>
                    </a:cubicBezTo>
                    <a:cubicBezTo>
                      <a:pt x="33" y="31"/>
                      <a:pt x="33" y="31"/>
                      <a:pt x="33" y="31"/>
                    </a:cubicBezTo>
                    <a:cubicBezTo>
                      <a:pt x="34" y="31"/>
                      <a:pt x="34" y="31"/>
                      <a:pt x="34" y="31"/>
                    </a:cubicBezTo>
                    <a:cubicBezTo>
                      <a:pt x="34" y="30"/>
                      <a:pt x="34" y="30"/>
                      <a:pt x="34" y="30"/>
                    </a:cubicBezTo>
                    <a:cubicBezTo>
                      <a:pt x="35" y="30"/>
                      <a:pt x="35" y="30"/>
                      <a:pt x="35" y="30"/>
                    </a:cubicBezTo>
                    <a:cubicBezTo>
                      <a:pt x="35" y="29"/>
                      <a:pt x="35" y="29"/>
                      <a:pt x="35" y="29"/>
                    </a:cubicBezTo>
                    <a:cubicBezTo>
                      <a:pt x="34" y="29"/>
                      <a:pt x="34" y="29"/>
                      <a:pt x="34" y="29"/>
                    </a:cubicBezTo>
                    <a:cubicBezTo>
                      <a:pt x="33" y="29"/>
                      <a:pt x="33" y="29"/>
                      <a:pt x="33" y="29"/>
                    </a:cubicBezTo>
                    <a:cubicBezTo>
                      <a:pt x="33" y="30"/>
                      <a:pt x="33" y="30"/>
                      <a:pt x="33" y="30"/>
                    </a:cubicBezTo>
                    <a:cubicBezTo>
                      <a:pt x="32" y="29"/>
                      <a:pt x="32" y="29"/>
                      <a:pt x="32" y="29"/>
                    </a:cubicBezTo>
                    <a:cubicBezTo>
                      <a:pt x="32" y="29"/>
                      <a:pt x="32" y="29"/>
                      <a:pt x="32" y="28"/>
                    </a:cubicBezTo>
                    <a:cubicBezTo>
                      <a:pt x="32" y="28"/>
                      <a:pt x="32" y="28"/>
                      <a:pt x="32" y="28"/>
                    </a:cubicBezTo>
                    <a:cubicBezTo>
                      <a:pt x="32" y="28"/>
                      <a:pt x="32" y="28"/>
                      <a:pt x="32" y="28"/>
                    </a:cubicBezTo>
                    <a:cubicBezTo>
                      <a:pt x="33" y="27"/>
                      <a:pt x="33" y="27"/>
                      <a:pt x="33" y="27"/>
                    </a:cubicBezTo>
                    <a:cubicBezTo>
                      <a:pt x="33" y="27"/>
                      <a:pt x="33" y="26"/>
                      <a:pt x="34" y="26"/>
                    </a:cubicBezTo>
                    <a:cubicBezTo>
                      <a:pt x="34" y="26"/>
                      <a:pt x="34" y="26"/>
                      <a:pt x="34" y="26"/>
                    </a:cubicBezTo>
                    <a:cubicBezTo>
                      <a:pt x="35" y="25"/>
                      <a:pt x="35" y="25"/>
                      <a:pt x="35" y="25"/>
                    </a:cubicBezTo>
                    <a:cubicBezTo>
                      <a:pt x="36" y="25"/>
                      <a:pt x="36" y="25"/>
                      <a:pt x="36" y="25"/>
                    </a:cubicBezTo>
                    <a:cubicBezTo>
                      <a:pt x="36" y="25"/>
                      <a:pt x="36" y="25"/>
                      <a:pt x="36" y="25"/>
                    </a:cubicBezTo>
                    <a:cubicBezTo>
                      <a:pt x="36" y="24"/>
                      <a:pt x="36" y="24"/>
                      <a:pt x="36" y="24"/>
                    </a:cubicBezTo>
                    <a:cubicBezTo>
                      <a:pt x="37" y="23"/>
                      <a:pt x="37" y="23"/>
                      <a:pt x="37" y="23"/>
                    </a:cubicBezTo>
                    <a:cubicBezTo>
                      <a:pt x="37" y="23"/>
                      <a:pt x="37" y="23"/>
                      <a:pt x="37" y="23"/>
                    </a:cubicBezTo>
                    <a:cubicBezTo>
                      <a:pt x="37" y="23"/>
                      <a:pt x="37" y="23"/>
                      <a:pt x="37" y="23"/>
                    </a:cubicBezTo>
                    <a:cubicBezTo>
                      <a:pt x="38" y="22"/>
                      <a:pt x="38" y="22"/>
                      <a:pt x="38" y="22"/>
                    </a:cubicBezTo>
                    <a:cubicBezTo>
                      <a:pt x="38" y="22"/>
                      <a:pt x="38" y="22"/>
                      <a:pt x="38" y="22"/>
                    </a:cubicBezTo>
                    <a:cubicBezTo>
                      <a:pt x="39" y="22"/>
                      <a:pt x="39" y="22"/>
                      <a:pt x="39" y="22"/>
                    </a:cubicBezTo>
                    <a:cubicBezTo>
                      <a:pt x="39" y="22"/>
                      <a:pt x="39" y="22"/>
                      <a:pt x="39" y="22"/>
                    </a:cubicBezTo>
                    <a:cubicBezTo>
                      <a:pt x="40" y="21"/>
                      <a:pt x="40" y="21"/>
                      <a:pt x="40" y="21"/>
                    </a:cubicBezTo>
                    <a:cubicBezTo>
                      <a:pt x="40" y="21"/>
                      <a:pt x="40" y="21"/>
                      <a:pt x="41" y="21"/>
                    </a:cubicBezTo>
                    <a:cubicBezTo>
                      <a:pt x="42" y="20"/>
                      <a:pt x="42" y="20"/>
                      <a:pt x="42" y="20"/>
                    </a:cubicBezTo>
                    <a:cubicBezTo>
                      <a:pt x="43" y="20"/>
                      <a:pt x="43" y="20"/>
                      <a:pt x="43" y="20"/>
                    </a:cubicBezTo>
                    <a:cubicBezTo>
                      <a:pt x="44" y="20"/>
                      <a:pt x="44" y="20"/>
                      <a:pt x="44" y="20"/>
                    </a:cubicBezTo>
                    <a:cubicBezTo>
                      <a:pt x="43" y="20"/>
                      <a:pt x="43" y="20"/>
                      <a:pt x="43" y="20"/>
                    </a:cubicBezTo>
                    <a:cubicBezTo>
                      <a:pt x="44" y="20"/>
                      <a:pt x="44" y="20"/>
                      <a:pt x="44" y="20"/>
                    </a:cubicBezTo>
                    <a:cubicBezTo>
                      <a:pt x="45" y="20"/>
                      <a:pt x="45" y="20"/>
                      <a:pt x="45" y="20"/>
                    </a:cubicBezTo>
                    <a:cubicBezTo>
                      <a:pt x="45" y="20"/>
                      <a:pt x="45" y="20"/>
                      <a:pt x="46" y="20"/>
                    </a:cubicBezTo>
                    <a:cubicBezTo>
                      <a:pt x="46" y="20"/>
                      <a:pt x="47" y="20"/>
                      <a:pt x="47" y="19"/>
                    </a:cubicBezTo>
                    <a:cubicBezTo>
                      <a:pt x="47" y="19"/>
                      <a:pt x="47" y="19"/>
                      <a:pt x="47" y="19"/>
                    </a:cubicBezTo>
                    <a:cubicBezTo>
                      <a:pt x="47" y="19"/>
                      <a:pt x="47" y="19"/>
                      <a:pt x="47" y="19"/>
                    </a:cubicBezTo>
                    <a:cubicBezTo>
                      <a:pt x="46" y="19"/>
                      <a:pt x="46" y="19"/>
                      <a:pt x="46" y="19"/>
                    </a:cubicBezTo>
                    <a:cubicBezTo>
                      <a:pt x="45" y="19"/>
                      <a:pt x="45" y="19"/>
                      <a:pt x="45" y="19"/>
                    </a:cubicBezTo>
                    <a:cubicBezTo>
                      <a:pt x="46" y="18"/>
                      <a:pt x="46" y="18"/>
                      <a:pt x="46" y="18"/>
                    </a:cubicBezTo>
                    <a:cubicBezTo>
                      <a:pt x="45" y="17"/>
                      <a:pt x="45" y="17"/>
                      <a:pt x="45" y="17"/>
                    </a:cubicBezTo>
                    <a:cubicBezTo>
                      <a:pt x="45" y="17"/>
                      <a:pt x="45" y="17"/>
                      <a:pt x="45" y="17"/>
                    </a:cubicBezTo>
                    <a:cubicBezTo>
                      <a:pt x="46" y="17"/>
                      <a:pt x="46" y="17"/>
                      <a:pt x="46" y="17"/>
                    </a:cubicBezTo>
                    <a:cubicBezTo>
                      <a:pt x="46" y="17"/>
                      <a:pt x="46" y="17"/>
                      <a:pt x="46" y="17"/>
                    </a:cubicBezTo>
                    <a:cubicBezTo>
                      <a:pt x="47" y="17"/>
                      <a:pt x="47" y="17"/>
                      <a:pt x="47" y="17"/>
                    </a:cubicBezTo>
                    <a:cubicBezTo>
                      <a:pt x="48" y="17"/>
                      <a:pt x="48" y="17"/>
                      <a:pt x="48" y="17"/>
                    </a:cubicBezTo>
                    <a:cubicBezTo>
                      <a:pt x="49" y="17"/>
                      <a:pt x="49" y="17"/>
                      <a:pt x="49" y="17"/>
                    </a:cubicBezTo>
                    <a:cubicBezTo>
                      <a:pt x="49" y="17"/>
                      <a:pt x="49" y="17"/>
                      <a:pt x="49" y="17"/>
                    </a:cubicBezTo>
                    <a:cubicBezTo>
                      <a:pt x="48" y="18"/>
                      <a:pt x="48" y="18"/>
                      <a:pt x="48" y="18"/>
                    </a:cubicBezTo>
                    <a:cubicBezTo>
                      <a:pt x="48" y="18"/>
                      <a:pt x="48" y="18"/>
                      <a:pt x="48" y="18"/>
                    </a:cubicBezTo>
                    <a:cubicBezTo>
                      <a:pt x="49" y="19"/>
                      <a:pt x="49" y="19"/>
                      <a:pt x="49" y="19"/>
                    </a:cubicBezTo>
                    <a:cubicBezTo>
                      <a:pt x="50" y="19"/>
                      <a:pt x="50" y="19"/>
                      <a:pt x="50" y="19"/>
                    </a:cubicBezTo>
                    <a:cubicBezTo>
                      <a:pt x="51" y="19"/>
                      <a:pt x="51" y="19"/>
                      <a:pt x="51" y="19"/>
                    </a:cubicBezTo>
                    <a:cubicBezTo>
                      <a:pt x="51" y="19"/>
                      <a:pt x="51" y="19"/>
                      <a:pt x="51" y="19"/>
                    </a:cubicBezTo>
                    <a:cubicBezTo>
                      <a:pt x="51" y="18"/>
                      <a:pt x="51" y="18"/>
                      <a:pt x="51" y="18"/>
                    </a:cubicBezTo>
                    <a:cubicBezTo>
                      <a:pt x="50" y="18"/>
                      <a:pt x="50" y="18"/>
                      <a:pt x="50" y="18"/>
                    </a:cubicBezTo>
                    <a:cubicBezTo>
                      <a:pt x="50" y="17"/>
                      <a:pt x="50" y="17"/>
                      <a:pt x="50" y="17"/>
                    </a:cubicBezTo>
                    <a:cubicBezTo>
                      <a:pt x="50" y="16"/>
                      <a:pt x="50" y="16"/>
                      <a:pt x="50" y="16"/>
                    </a:cubicBezTo>
                    <a:cubicBezTo>
                      <a:pt x="51" y="16"/>
                      <a:pt x="51" y="16"/>
                      <a:pt x="51" y="16"/>
                    </a:cubicBezTo>
                    <a:cubicBezTo>
                      <a:pt x="51" y="16"/>
                      <a:pt x="51" y="16"/>
                      <a:pt x="51" y="16"/>
                    </a:cubicBezTo>
                    <a:cubicBezTo>
                      <a:pt x="50" y="15"/>
                      <a:pt x="50" y="15"/>
                      <a:pt x="50" y="15"/>
                    </a:cubicBezTo>
                    <a:cubicBezTo>
                      <a:pt x="50" y="15"/>
                      <a:pt x="50" y="15"/>
                      <a:pt x="50" y="15"/>
                    </a:cubicBezTo>
                    <a:cubicBezTo>
                      <a:pt x="49" y="15"/>
                      <a:pt x="49" y="15"/>
                      <a:pt x="49" y="15"/>
                    </a:cubicBezTo>
                    <a:cubicBezTo>
                      <a:pt x="49" y="13"/>
                      <a:pt x="49" y="13"/>
                      <a:pt x="49" y="13"/>
                    </a:cubicBezTo>
                    <a:cubicBezTo>
                      <a:pt x="48" y="13"/>
                      <a:pt x="48" y="13"/>
                      <a:pt x="48" y="13"/>
                    </a:cubicBezTo>
                    <a:cubicBezTo>
                      <a:pt x="48" y="12"/>
                      <a:pt x="48" y="12"/>
                      <a:pt x="48" y="12"/>
                    </a:cubicBezTo>
                    <a:cubicBezTo>
                      <a:pt x="47" y="12"/>
                      <a:pt x="47" y="12"/>
                      <a:pt x="47" y="12"/>
                    </a:cubicBezTo>
                    <a:cubicBezTo>
                      <a:pt x="47" y="13"/>
                      <a:pt x="47" y="13"/>
                      <a:pt x="47" y="13"/>
                    </a:cubicBezTo>
                    <a:cubicBezTo>
                      <a:pt x="47" y="13"/>
                      <a:pt x="47" y="13"/>
                      <a:pt x="47" y="13"/>
                    </a:cubicBezTo>
                    <a:cubicBezTo>
                      <a:pt x="46" y="13"/>
                      <a:pt x="46" y="13"/>
                      <a:pt x="46" y="13"/>
                    </a:cubicBezTo>
                    <a:cubicBezTo>
                      <a:pt x="46" y="12"/>
                      <a:pt x="46" y="12"/>
                      <a:pt x="46" y="12"/>
                    </a:cubicBezTo>
                    <a:cubicBezTo>
                      <a:pt x="46" y="11"/>
                      <a:pt x="46" y="11"/>
                      <a:pt x="46" y="11"/>
                    </a:cubicBezTo>
                    <a:cubicBezTo>
                      <a:pt x="45" y="11"/>
                      <a:pt x="45" y="11"/>
                      <a:pt x="45" y="11"/>
                    </a:cubicBezTo>
                    <a:cubicBezTo>
                      <a:pt x="45" y="11"/>
                      <a:pt x="45" y="11"/>
                      <a:pt x="45" y="11"/>
                    </a:cubicBezTo>
                    <a:cubicBezTo>
                      <a:pt x="44" y="11"/>
                      <a:pt x="44" y="11"/>
                      <a:pt x="44" y="11"/>
                    </a:cubicBezTo>
                    <a:cubicBezTo>
                      <a:pt x="43" y="11"/>
                      <a:pt x="43" y="11"/>
                      <a:pt x="43" y="11"/>
                    </a:cubicBezTo>
                    <a:cubicBezTo>
                      <a:pt x="43" y="11"/>
                      <a:pt x="43" y="11"/>
                      <a:pt x="43" y="11"/>
                    </a:cubicBezTo>
                    <a:cubicBezTo>
                      <a:pt x="43" y="11"/>
                      <a:pt x="43" y="11"/>
                      <a:pt x="43" y="11"/>
                    </a:cubicBezTo>
                    <a:cubicBezTo>
                      <a:pt x="42" y="12"/>
                      <a:pt x="42" y="12"/>
                      <a:pt x="42" y="12"/>
                    </a:cubicBezTo>
                    <a:cubicBezTo>
                      <a:pt x="42" y="12"/>
                      <a:pt x="42" y="12"/>
                      <a:pt x="42" y="12"/>
                    </a:cubicBezTo>
                    <a:cubicBezTo>
                      <a:pt x="42" y="13"/>
                      <a:pt x="42" y="13"/>
                      <a:pt x="42" y="13"/>
                    </a:cubicBezTo>
                    <a:cubicBezTo>
                      <a:pt x="42" y="13"/>
                      <a:pt x="42" y="13"/>
                      <a:pt x="42" y="13"/>
                    </a:cubicBezTo>
                    <a:cubicBezTo>
                      <a:pt x="41" y="14"/>
                      <a:pt x="41" y="14"/>
                      <a:pt x="41" y="14"/>
                    </a:cubicBezTo>
                    <a:cubicBezTo>
                      <a:pt x="40" y="14"/>
                      <a:pt x="40" y="14"/>
                      <a:pt x="40" y="14"/>
                    </a:cubicBezTo>
                    <a:cubicBezTo>
                      <a:pt x="40" y="14"/>
                      <a:pt x="40" y="14"/>
                      <a:pt x="40" y="14"/>
                    </a:cubicBezTo>
                    <a:cubicBezTo>
                      <a:pt x="40" y="15"/>
                      <a:pt x="40" y="15"/>
                      <a:pt x="40" y="15"/>
                    </a:cubicBezTo>
                    <a:cubicBezTo>
                      <a:pt x="39" y="16"/>
                      <a:pt x="39" y="16"/>
                      <a:pt x="39" y="16"/>
                    </a:cubicBezTo>
                    <a:cubicBezTo>
                      <a:pt x="38" y="16"/>
                      <a:pt x="38" y="16"/>
                      <a:pt x="38" y="16"/>
                    </a:cubicBezTo>
                    <a:cubicBezTo>
                      <a:pt x="38" y="15"/>
                      <a:pt x="38" y="15"/>
                      <a:pt x="38" y="15"/>
                    </a:cubicBezTo>
                    <a:cubicBezTo>
                      <a:pt x="38" y="15"/>
                      <a:pt x="38" y="15"/>
                      <a:pt x="38" y="15"/>
                    </a:cubicBezTo>
                    <a:cubicBezTo>
                      <a:pt x="39" y="14"/>
                      <a:pt x="39" y="14"/>
                      <a:pt x="39" y="14"/>
                    </a:cubicBezTo>
                    <a:cubicBezTo>
                      <a:pt x="38" y="14"/>
                      <a:pt x="38" y="14"/>
                      <a:pt x="38" y="14"/>
                    </a:cubicBezTo>
                    <a:cubicBezTo>
                      <a:pt x="38" y="14"/>
                      <a:pt x="38" y="14"/>
                      <a:pt x="38" y="14"/>
                    </a:cubicBezTo>
                    <a:cubicBezTo>
                      <a:pt x="37" y="13"/>
                      <a:pt x="37" y="13"/>
                      <a:pt x="37" y="13"/>
                    </a:cubicBezTo>
                    <a:cubicBezTo>
                      <a:pt x="37" y="13"/>
                      <a:pt x="37" y="13"/>
                      <a:pt x="37" y="13"/>
                    </a:cubicBezTo>
                    <a:cubicBezTo>
                      <a:pt x="36" y="13"/>
                      <a:pt x="36" y="13"/>
                      <a:pt x="36" y="13"/>
                    </a:cubicBezTo>
                    <a:cubicBezTo>
                      <a:pt x="35" y="12"/>
                      <a:pt x="35" y="12"/>
                      <a:pt x="35" y="12"/>
                    </a:cubicBezTo>
                    <a:cubicBezTo>
                      <a:pt x="35" y="12"/>
                      <a:pt x="35" y="12"/>
                      <a:pt x="35" y="12"/>
                    </a:cubicBezTo>
                    <a:cubicBezTo>
                      <a:pt x="35" y="12"/>
                      <a:pt x="35" y="12"/>
                      <a:pt x="35" y="12"/>
                    </a:cubicBezTo>
                    <a:cubicBezTo>
                      <a:pt x="36" y="11"/>
                      <a:pt x="36" y="11"/>
                      <a:pt x="36" y="11"/>
                    </a:cubicBezTo>
                    <a:cubicBezTo>
                      <a:pt x="37" y="11"/>
                      <a:pt x="37" y="11"/>
                      <a:pt x="37" y="11"/>
                    </a:cubicBezTo>
                    <a:cubicBezTo>
                      <a:pt x="37" y="11"/>
                      <a:pt x="37" y="11"/>
                      <a:pt x="38" y="11"/>
                    </a:cubicBezTo>
                    <a:cubicBezTo>
                      <a:pt x="38" y="10"/>
                      <a:pt x="38" y="10"/>
                      <a:pt x="38" y="10"/>
                    </a:cubicBezTo>
                    <a:cubicBezTo>
                      <a:pt x="39" y="10"/>
                      <a:pt x="39" y="10"/>
                      <a:pt x="39" y="10"/>
                    </a:cubicBezTo>
                    <a:cubicBezTo>
                      <a:pt x="40" y="10"/>
                      <a:pt x="40" y="10"/>
                      <a:pt x="40" y="10"/>
                    </a:cubicBezTo>
                    <a:cubicBezTo>
                      <a:pt x="40" y="10"/>
                      <a:pt x="40" y="10"/>
                      <a:pt x="40" y="10"/>
                    </a:cubicBezTo>
                    <a:cubicBezTo>
                      <a:pt x="41" y="10"/>
                      <a:pt x="41" y="10"/>
                      <a:pt x="41" y="10"/>
                    </a:cubicBezTo>
                    <a:cubicBezTo>
                      <a:pt x="42" y="10"/>
                      <a:pt x="42" y="10"/>
                      <a:pt x="42" y="10"/>
                    </a:cubicBezTo>
                    <a:cubicBezTo>
                      <a:pt x="42" y="10"/>
                      <a:pt x="42" y="10"/>
                      <a:pt x="42" y="10"/>
                    </a:cubicBezTo>
                    <a:cubicBezTo>
                      <a:pt x="43" y="10"/>
                      <a:pt x="43" y="10"/>
                      <a:pt x="43" y="10"/>
                    </a:cubicBezTo>
                    <a:cubicBezTo>
                      <a:pt x="43" y="10"/>
                      <a:pt x="43" y="10"/>
                      <a:pt x="43" y="10"/>
                    </a:cubicBezTo>
                    <a:cubicBezTo>
                      <a:pt x="42" y="9"/>
                      <a:pt x="42" y="9"/>
                      <a:pt x="42" y="9"/>
                    </a:cubicBezTo>
                    <a:cubicBezTo>
                      <a:pt x="42" y="9"/>
                      <a:pt x="42" y="9"/>
                      <a:pt x="42" y="9"/>
                    </a:cubicBezTo>
                    <a:cubicBezTo>
                      <a:pt x="43" y="9"/>
                      <a:pt x="43" y="9"/>
                      <a:pt x="43" y="9"/>
                    </a:cubicBezTo>
                    <a:cubicBezTo>
                      <a:pt x="43" y="9"/>
                      <a:pt x="43" y="9"/>
                      <a:pt x="43" y="9"/>
                    </a:cubicBezTo>
                    <a:cubicBezTo>
                      <a:pt x="44" y="9"/>
                      <a:pt x="44" y="9"/>
                      <a:pt x="44" y="9"/>
                    </a:cubicBezTo>
                    <a:cubicBezTo>
                      <a:pt x="44" y="8"/>
                      <a:pt x="44" y="8"/>
                      <a:pt x="44" y="8"/>
                    </a:cubicBezTo>
                    <a:cubicBezTo>
                      <a:pt x="44" y="8"/>
                      <a:pt x="44" y="8"/>
                      <a:pt x="44" y="8"/>
                    </a:cubicBezTo>
                    <a:cubicBezTo>
                      <a:pt x="44" y="8"/>
                      <a:pt x="44" y="8"/>
                      <a:pt x="44" y="8"/>
                    </a:cubicBezTo>
                    <a:cubicBezTo>
                      <a:pt x="45" y="8"/>
                      <a:pt x="45" y="8"/>
                      <a:pt x="45" y="8"/>
                    </a:cubicBezTo>
                    <a:cubicBezTo>
                      <a:pt x="45" y="8"/>
                      <a:pt x="45" y="8"/>
                      <a:pt x="45" y="8"/>
                    </a:cubicBezTo>
                    <a:cubicBezTo>
                      <a:pt x="46" y="8"/>
                      <a:pt x="46" y="8"/>
                      <a:pt x="46" y="8"/>
                    </a:cubicBezTo>
                    <a:cubicBezTo>
                      <a:pt x="47" y="9"/>
                      <a:pt x="47" y="9"/>
                      <a:pt x="47" y="9"/>
                    </a:cubicBezTo>
                    <a:cubicBezTo>
                      <a:pt x="47" y="9"/>
                      <a:pt x="47" y="9"/>
                      <a:pt x="47" y="9"/>
                    </a:cubicBezTo>
                    <a:cubicBezTo>
                      <a:pt x="47" y="9"/>
                      <a:pt x="47" y="9"/>
                      <a:pt x="47" y="9"/>
                    </a:cubicBezTo>
                    <a:cubicBezTo>
                      <a:pt x="46" y="9"/>
                      <a:pt x="46" y="9"/>
                      <a:pt x="46" y="9"/>
                    </a:cubicBezTo>
                    <a:cubicBezTo>
                      <a:pt x="46" y="9"/>
                      <a:pt x="46" y="9"/>
                      <a:pt x="46" y="9"/>
                    </a:cubicBezTo>
                    <a:cubicBezTo>
                      <a:pt x="45" y="9"/>
                      <a:pt x="45" y="9"/>
                      <a:pt x="45" y="9"/>
                    </a:cubicBezTo>
                    <a:cubicBezTo>
                      <a:pt x="44" y="9"/>
                      <a:pt x="44" y="9"/>
                      <a:pt x="44" y="9"/>
                    </a:cubicBezTo>
                    <a:cubicBezTo>
                      <a:pt x="44" y="10"/>
                      <a:pt x="44" y="10"/>
                      <a:pt x="44" y="10"/>
                    </a:cubicBezTo>
                    <a:cubicBezTo>
                      <a:pt x="44" y="10"/>
                      <a:pt x="44" y="10"/>
                      <a:pt x="44" y="10"/>
                    </a:cubicBezTo>
                    <a:cubicBezTo>
                      <a:pt x="45" y="10"/>
                      <a:pt x="45" y="10"/>
                      <a:pt x="45" y="10"/>
                    </a:cubicBezTo>
                    <a:cubicBezTo>
                      <a:pt x="45" y="10"/>
                      <a:pt x="45" y="10"/>
                      <a:pt x="45" y="10"/>
                    </a:cubicBezTo>
                    <a:cubicBezTo>
                      <a:pt x="46" y="10"/>
                      <a:pt x="46" y="10"/>
                      <a:pt x="46" y="10"/>
                    </a:cubicBezTo>
                    <a:cubicBezTo>
                      <a:pt x="46" y="11"/>
                      <a:pt x="46" y="11"/>
                      <a:pt x="46" y="11"/>
                    </a:cubicBezTo>
                    <a:cubicBezTo>
                      <a:pt x="47" y="11"/>
                      <a:pt x="47" y="11"/>
                      <a:pt x="47" y="11"/>
                    </a:cubicBezTo>
                    <a:cubicBezTo>
                      <a:pt x="47" y="11"/>
                      <a:pt x="47" y="11"/>
                      <a:pt x="48" y="12"/>
                    </a:cubicBezTo>
                    <a:cubicBezTo>
                      <a:pt x="48" y="11"/>
                      <a:pt x="48" y="11"/>
                      <a:pt x="48" y="11"/>
                    </a:cubicBezTo>
                    <a:cubicBezTo>
                      <a:pt x="48" y="11"/>
                      <a:pt x="48" y="11"/>
                      <a:pt x="48" y="11"/>
                    </a:cubicBezTo>
                    <a:cubicBezTo>
                      <a:pt x="49" y="11"/>
                      <a:pt x="49" y="11"/>
                      <a:pt x="49" y="11"/>
                    </a:cubicBezTo>
                    <a:cubicBezTo>
                      <a:pt x="49" y="11"/>
                      <a:pt x="49" y="11"/>
                      <a:pt x="49" y="11"/>
                    </a:cubicBezTo>
                    <a:cubicBezTo>
                      <a:pt x="49" y="11"/>
                      <a:pt x="49" y="11"/>
                      <a:pt x="49" y="11"/>
                    </a:cubicBezTo>
                    <a:cubicBezTo>
                      <a:pt x="49" y="10"/>
                      <a:pt x="49" y="10"/>
                      <a:pt x="49" y="10"/>
                    </a:cubicBezTo>
                    <a:cubicBezTo>
                      <a:pt x="49" y="10"/>
                      <a:pt x="49" y="10"/>
                      <a:pt x="49" y="10"/>
                    </a:cubicBezTo>
                    <a:cubicBezTo>
                      <a:pt x="50" y="10"/>
                      <a:pt x="50" y="10"/>
                      <a:pt x="50" y="10"/>
                    </a:cubicBezTo>
                    <a:cubicBezTo>
                      <a:pt x="50" y="10"/>
                      <a:pt x="50" y="10"/>
                      <a:pt x="50" y="10"/>
                    </a:cubicBezTo>
                    <a:cubicBezTo>
                      <a:pt x="50" y="10"/>
                      <a:pt x="50" y="10"/>
                      <a:pt x="50" y="10"/>
                    </a:cubicBezTo>
                    <a:cubicBezTo>
                      <a:pt x="50" y="10"/>
                      <a:pt x="50" y="10"/>
                      <a:pt x="50" y="10"/>
                    </a:cubicBezTo>
                    <a:cubicBezTo>
                      <a:pt x="49" y="9"/>
                      <a:pt x="49" y="9"/>
                      <a:pt x="49" y="9"/>
                    </a:cubicBezTo>
                    <a:cubicBezTo>
                      <a:pt x="49" y="8"/>
                      <a:pt x="49" y="8"/>
                      <a:pt x="49" y="8"/>
                    </a:cubicBezTo>
                    <a:cubicBezTo>
                      <a:pt x="49" y="8"/>
                      <a:pt x="49" y="8"/>
                      <a:pt x="49" y="8"/>
                    </a:cubicBezTo>
                    <a:cubicBezTo>
                      <a:pt x="48" y="8"/>
                      <a:pt x="48" y="8"/>
                      <a:pt x="48" y="8"/>
                    </a:cubicBezTo>
                    <a:cubicBezTo>
                      <a:pt x="48" y="7"/>
                      <a:pt x="48" y="7"/>
                      <a:pt x="48" y="7"/>
                    </a:cubicBezTo>
                    <a:cubicBezTo>
                      <a:pt x="47" y="7"/>
                      <a:pt x="47" y="7"/>
                      <a:pt x="47" y="7"/>
                    </a:cubicBezTo>
                    <a:cubicBezTo>
                      <a:pt x="46" y="7"/>
                      <a:pt x="46" y="7"/>
                      <a:pt x="46" y="7"/>
                    </a:cubicBezTo>
                    <a:cubicBezTo>
                      <a:pt x="46" y="6"/>
                      <a:pt x="46" y="6"/>
                      <a:pt x="46" y="6"/>
                    </a:cubicBezTo>
                    <a:cubicBezTo>
                      <a:pt x="46" y="6"/>
                      <a:pt x="46" y="6"/>
                      <a:pt x="46" y="6"/>
                    </a:cubicBezTo>
                    <a:moveTo>
                      <a:pt x="15" y="13"/>
                    </a:moveTo>
                    <a:cubicBezTo>
                      <a:pt x="18" y="10"/>
                      <a:pt x="23" y="7"/>
                      <a:pt x="28" y="5"/>
                    </a:cubicBezTo>
                    <a:cubicBezTo>
                      <a:pt x="32" y="4"/>
                      <a:pt x="35" y="4"/>
                      <a:pt x="38" y="4"/>
                    </a:cubicBezTo>
                    <a:cubicBezTo>
                      <a:pt x="41" y="4"/>
                      <a:pt x="43" y="4"/>
                      <a:pt x="46" y="5"/>
                    </a:cubicBezTo>
                    <a:cubicBezTo>
                      <a:pt x="46" y="5"/>
                      <a:pt x="46" y="5"/>
                      <a:pt x="46" y="5"/>
                    </a:cubicBezTo>
                    <a:cubicBezTo>
                      <a:pt x="46" y="5"/>
                      <a:pt x="46" y="5"/>
                      <a:pt x="46" y="5"/>
                    </a:cubicBezTo>
                    <a:cubicBezTo>
                      <a:pt x="45" y="5"/>
                      <a:pt x="45" y="5"/>
                      <a:pt x="45" y="5"/>
                    </a:cubicBezTo>
                    <a:cubicBezTo>
                      <a:pt x="45" y="5"/>
                      <a:pt x="45" y="5"/>
                      <a:pt x="45" y="5"/>
                    </a:cubicBezTo>
                    <a:cubicBezTo>
                      <a:pt x="45" y="5"/>
                      <a:pt x="45" y="5"/>
                      <a:pt x="45" y="5"/>
                    </a:cubicBezTo>
                    <a:cubicBezTo>
                      <a:pt x="45" y="5"/>
                      <a:pt x="45" y="5"/>
                      <a:pt x="45" y="5"/>
                    </a:cubicBezTo>
                    <a:cubicBezTo>
                      <a:pt x="45" y="5"/>
                      <a:pt x="45" y="5"/>
                      <a:pt x="45" y="5"/>
                    </a:cubicBezTo>
                    <a:cubicBezTo>
                      <a:pt x="44" y="5"/>
                      <a:pt x="44" y="5"/>
                      <a:pt x="44" y="5"/>
                    </a:cubicBezTo>
                    <a:cubicBezTo>
                      <a:pt x="44" y="5"/>
                      <a:pt x="44" y="5"/>
                      <a:pt x="44" y="5"/>
                    </a:cubicBezTo>
                    <a:cubicBezTo>
                      <a:pt x="43" y="5"/>
                      <a:pt x="43" y="5"/>
                      <a:pt x="43" y="5"/>
                    </a:cubicBezTo>
                    <a:cubicBezTo>
                      <a:pt x="43" y="5"/>
                      <a:pt x="43" y="5"/>
                      <a:pt x="43" y="5"/>
                    </a:cubicBezTo>
                    <a:cubicBezTo>
                      <a:pt x="43" y="5"/>
                      <a:pt x="43" y="5"/>
                      <a:pt x="43" y="5"/>
                    </a:cubicBezTo>
                    <a:cubicBezTo>
                      <a:pt x="43" y="6"/>
                      <a:pt x="43" y="6"/>
                      <a:pt x="43" y="6"/>
                    </a:cubicBezTo>
                    <a:cubicBezTo>
                      <a:pt x="43" y="6"/>
                      <a:pt x="43" y="6"/>
                      <a:pt x="43" y="6"/>
                    </a:cubicBezTo>
                    <a:cubicBezTo>
                      <a:pt x="43" y="6"/>
                      <a:pt x="43" y="6"/>
                      <a:pt x="43" y="6"/>
                    </a:cubicBezTo>
                    <a:cubicBezTo>
                      <a:pt x="43" y="6"/>
                      <a:pt x="43" y="6"/>
                      <a:pt x="43" y="6"/>
                    </a:cubicBezTo>
                    <a:cubicBezTo>
                      <a:pt x="43" y="6"/>
                      <a:pt x="43" y="6"/>
                      <a:pt x="43" y="6"/>
                    </a:cubicBezTo>
                    <a:cubicBezTo>
                      <a:pt x="42" y="6"/>
                      <a:pt x="42" y="6"/>
                      <a:pt x="42" y="6"/>
                    </a:cubicBezTo>
                    <a:cubicBezTo>
                      <a:pt x="42" y="5"/>
                      <a:pt x="42" y="5"/>
                      <a:pt x="42" y="5"/>
                    </a:cubicBezTo>
                    <a:cubicBezTo>
                      <a:pt x="42" y="5"/>
                      <a:pt x="42" y="5"/>
                      <a:pt x="42" y="5"/>
                    </a:cubicBezTo>
                    <a:cubicBezTo>
                      <a:pt x="41" y="6"/>
                      <a:pt x="41" y="6"/>
                      <a:pt x="41" y="6"/>
                    </a:cubicBezTo>
                    <a:cubicBezTo>
                      <a:pt x="41" y="6"/>
                      <a:pt x="41" y="6"/>
                      <a:pt x="41" y="6"/>
                    </a:cubicBezTo>
                    <a:cubicBezTo>
                      <a:pt x="40" y="6"/>
                      <a:pt x="40" y="6"/>
                      <a:pt x="40" y="6"/>
                    </a:cubicBezTo>
                    <a:cubicBezTo>
                      <a:pt x="40" y="6"/>
                      <a:pt x="40" y="6"/>
                      <a:pt x="40" y="6"/>
                    </a:cubicBezTo>
                    <a:cubicBezTo>
                      <a:pt x="39" y="6"/>
                      <a:pt x="39" y="6"/>
                      <a:pt x="39" y="6"/>
                    </a:cubicBezTo>
                    <a:cubicBezTo>
                      <a:pt x="39" y="6"/>
                      <a:pt x="39" y="6"/>
                      <a:pt x="39" y="6"/>
                    </a:cubicBezTo>
                    <a:cubicBezTo>
                      <a:pt x="38" y="6"/>
                      <a:pt x="38" y="6"/>
                      <a:pt x="38" y="6"/>
                    </a:cubicBezTo>
                    <a:cubicBezTo>
                      <a:pt x="38" y="6"/>
                      <a:pt x="38" y="6"/>
                      <a:pt x="38" y="6"/>
                    </a:cubicBezTo>
                    <a:cubicBezTo>
                      <a:pt x="38" y="7"/>
                      <a:pt x="38" y="7"/>
                      <a:pt x="38" y="7"/>
                    </a:cubicBezTo>
                    <a:cubicBezTo>
                      <a:pt x="39" y="7"/>
                      <a:pt x="39" y="7"/>
                      <a:pt x="39" y="7"/>
                    </a:cubicBezTo>
                    <a:cubicBezTo>
                      <a:pt x="39" y="7"/>
                      <a:pt x="39" y="7"/>
                      <a:pt x="39" y="7"/>
                    </a:cubicBezTo>
                    <a:cubicBezTo>
                      <a:pt x="39" y="7"/>
                      <a:pt x="39" y="7"/>
                      <a:pt x="39" y="7"/>
                    </a:cubicBezTo>
                    <a:cubicBezTo>
                      <a:pt x="38" y="7"/>
                      <a:pt x="38" y="7"/>
                      <a:pt x="38" y="7"/>
                    </a:cubicBezTo>
                    <a:cubicBezTo>
                      <a:pt x="38" y="7"/>
                      <a:pt x="38" y="7"/>
                      <a:pt x="38" y="7"/>
                    </a:cubicBezTo>
                    <a:cubicBezTo>
                      <a:pt x="37" y="7"/>
                      <a:pt x="37" y="7"/>
                      <a:pt x="37" y="7"/>
                    </a:cubicBezTo>
                    <a:cubicBezTo>
                      <a:pt x="37" y="8"/>
                      <a:pt x="37" y="8"/>
                      <a:pt x="37" y="8"/>
                    </a:cubicBezTo>
                    <a:cubicBezTo>
                      <a:pt x="37" y="8"/>
                      <a:pt x="37" y="8"/>
                      <a:pt x="37" y="8"/>
                    </a:cubicBezTo>
                    <a:cubicBezTo>
                      <a:pt x="36" y="8"/>
                      <a:pt x="36" y="8"/>
                      <a:pt x="36" y="8"/>
                    </a:cubicBezTo>
                    <a:cubicBezTo>
                      <a:pt x="36" y="8"/>
                      <a:pt x="36" y="8"/>
                      <a:pt x="36" y="8"/>
                    </a:cubicBezTo>
                    <a:cubicBezTo>
                      <a:pt x="37" y="7"/>
                      <a:pt x="37" y="7"/>
                      <a:pt x="37" y="7"/>
                    </a:cubicBezTo>
                    <a:cubicBezTo>
                      <a:pt x="37" y="7"/>
                      <a:pt x="37" y="7"/>
                      <a:pt x="37" y="7"/>
                    </a:cubicBezTo>
                    <a:cubicBezTo>
                      <a:pt x="37" y="7"/>
                      <a:pt x="37" y="7"/>
                      <a:pt x="37" y="7"/>
                    </a:cubicBezTo>
                    <a:cubicBezTo>
                      <a:pt x="37" y="7"/>
                      <a:pt x="37" y="7"/>
                      <a:pt x="37" y="7"/>
                    </a:cubicBezTo>
                    <a:cubicBezTo>
                      <a:pt x="37" y="7"/>
                      <a:pt x="37" y="7"/>
                      <a:pt x="37" y="7"/>
                    </a:cubicBezTo>
                    <a:cubicBezTo>
                      <a:pt x="37" y="6"/>
                      <a:pt x="37" y="6"/>
                      <a:pt x="37" y="6"/>
                    </a:cubicBezTo>
                    <a:cubicBezTo>
                      <a:pt x="37" y="6"/>
                      <a:pt x="37" y="6"/>
                      <a:pt x="37" y="6"/>
                    </a:cubicBezTo>
                    <a:cubicBezTo>
                      <a:pt x="37" y="6"/>
                      <a:pt x="37" y="6"/>
                      <a:pt x="37" y="6"/>
                    </a:cubicBezTo>
                    <a:cubicBezTo>
                      <a:pt x="36" y="6"/>
                      <a:pt x="36" y="6"/>
                      <a:pt x="36" y="6"/>
                    </a:cubicBezTo>
                    <a:cubicBezTo>
                      <a:pt x="36" y="6"/>
                      <a:pt x="36" y="6"/>
                      <a:pt x="36" y="6"/>
                    </a:cubicBezTo>
                    <a:cubicBezTo>
                      <a:pt x="35" y="6"/>
                      <a:pt x="35" y="6"/>
                      <a:pt x="35" y="6"/>
                    </a:cubicBezTo>
                    <a:cubicBezTo>
                      <a:pt x="35" y="6"/>
                      <a:pt x="35" y="6"/>
                      <a:pt x="35" y="6"/>
                    </a:cubicBezTo>
                    <a:cubicBezTo>
                      <a:pt x="34" y="6"/>
                      <a:pt x="34" y="6"/>
                      <a:pt x="34" y="6"/>
                    </a:cubicBezTo>
                    <a:cubicBezTo>
                      <a:pt x="34" y="6"/>
                      <a:pt x="34" y="6"/>
                      <a:pt x="34" y="6"/>
                    </a:cubicBezTo>
                    <a:cubicBezTo>
                      <a:pt x="33" y="6"/>
                      <a:pt x="33" y="6"/>
                      <a:pt x="33" y="6"/>
                    </a:cubicBezTo>
                    <a:cubicBezTo>
                      <a:pt x="33" y="6"/>
                      <a:pt x="33" y="6"/>
                      <a:pt x="33" y="6"/>
                    </a:cubicBezTo>
                    <a:cubicBezTo>
                      <a:pt x="32" y="6"/>
                      <a:pt x="32" y="6"/>
                      <a:pt x="32" y="6"/>
                    </a:cubicBezTo>
                    <a:cubicBezTo>
                      <a:pt x="32" y="6"/>
                      <a:pt x="31" y="6"/>
                      <a:pt x="31" y="6"/>
                    </a:cubicBezTo>
                    <a:cubicBezTo>
                      <a:pt x="30" y="7"/>
                      <a:pt x="30" y="7"/>
                      <a:pt x="30" y="7"/>
                    </a:cubicBezTo>
                    <a:cubicBezTo>
                      <a:pt x="30" y="7"/>
                      <a:pt x="30" y="7"/>
                      <a:pt x="30" y="7"/>
                    </a:cubicBezTo>
                    <a:cubicBezTo>
                      <a:pt x="30" y="7"/>
                      <a:pt x="30" y="7"/>
                      <a:pt x="30" y="7"/>
                    </a:cubicBezTo>
                    <a:cubicBezTo>
                      <a:pt x="30" y="7"/>
                      <a:pt x="30" y="7"/>
                      <a:pt x="30" y="7"/>
                    </a:cubicBezTo>
                    <a:cubicBezTo>
                      <a:pt x="31" y="7"/>
                      <a:pt x="31" y="7"/>
                      <a:pt x="31" y="7"/>
                    </a:cubicBezTo>
                    <a:cubicBezTo>
                      <a:pt x="31" y="7"/>
                      <a:pt x="31" y="7"/>
                      <a:pt x="31" y="7"/>
                    </a:cubicBezTo>
                    <a:cubicBezTo>
                      <a:pt x="32" y="7"/>
                      <a:pt x="32" y="7"/>
                      <a:pt x="32" y="7"/>
                    </a:cubicBezTo>
                    <a:cubicBezTo>
                      <a:pt x="31" y="8"/>
                      <a:pt x="31" y="8"/>
                      <a:pt x="31" y="8"/>
                    </a:cubicBezTo>
                    <a:cubicBezTo>
                      <a:pt x="31" y="8"/>
                      <a:pt x="31" y="8"/>
                      <a:pt x="31" y="8"/>
                    </a:cubicBezTo>
                    <a:cubicBezTo>
                      <a:pt x="31" y="8"/>
                      <a:pt x="31" y="8"/>
                      <a:pt x="31" y="8"/>
                    </a:cubicBezTo>
                    <a:cubicBezTo>
                      <a:pt x="30" y="8"/>
                      <a:pt x="30" y="8"/>
                      <a:pt x="30" y="8"/>
                    </a:cubicBezTo>
                    <a:cubicBezTo>
                      <a:pt x="30" y="8"/>
                      <a:pt x="30" y="8"/>
                      <a:pt x="30" y="8"/>
                    </a:cubicBezTo>
                    <a:cubicBezTo>
                      <a:pt x="29" y="8"/>
                      <a:pt x="29" y="8"/>
                      <a:pt x="29" y="8"/>
                    </a:cubicBezTo>
                    <a:cubicBezTo>
                      <a:pt x="29" y="8"/>
                      <a:pt x="29" y="8"/>
                      <a:pt x="28" y="8"/>
                    </a:cubicBezTo>
                    <a:cubicBezTo>
                      <a:pt x="28" y="8"/>
                      <a:pt x="28" y="8"/>
                      <a:pt x="28" y="8"/>
                    </a:cubicBezTo>
                    <a:cubicBezTo>
                      <a:pt x="27" y="8"/>
                      <a:pt x="27" y="8"/>
                      <a:pt x="27" y="8"/>
                    </a:cubicBezTo>
                    <a:cubicBezTo>
                      <a:pt x="26" y="9"/>
                      <a:pt x="26" y="9"/>
                      <a:pt x="26" y="9"/>
                    </a:cubicBezTo>
                    <a:cubicBezTo>
                      <a:pt x="25" y="9"/>
                      <a:pt x="25" y="9"/>
                      <a:pt x="25" y="9"/>
                    </a:cubicBezTo>
                    <a:cubicBezTo>
                      <a:pt x="24" y="9"/>
                      <a:pt x="24" y="9"/>
                      <a:pt x="24" y="9"/>
                    </a:cubicBezTo>
                    <a:cubicBezTo>
                      <a:pt x="24" y="9"/>
                      <a:pt x="24" y="9"/>
                      <a:pt x="24" y="9"/>
                    </a:cubicBezTo>
                    <a:cubicBezTo>
                      <a:pt x="23" y="9"/>
                      <a:pt x="23" y="9"/>
                      <a:pt x="23" y="9"/>
                    </a:cubicBezTo>
                    <a:cubicBezTo>
                      <a:pt x="22" y="10"/>
                      <a:pt x="22" y="10"/>
                      <a:pt x="22" y="10"/>
                    </a:cubicBezTo>
                    <a:cubicBezTo>
                      <a:pt x="22" y="10"/>
                      <a:pt x="22" y="10"/>
                      <a:pt x="22" y="10"/>
                    </a:cubicBezTo>
                    <a:cubicBezTo>
                      <a:pt x="21" y="10"/>
                      <a:pt x="21" y="10"/>
                      <a:pt x="21" y="10"/>
                    </a:cubicBezTo>
                    <a:cubicBezTo>
                      <a:pt x="21" y="10"/>
                      <a:pt x="21" y="10"/>
                      <a:pt x="21" y="10"/>
                    </a:cubicBezTo>
                    <a:cubicBezTo>
                      <a:pt x="20" y="10"/>
                      <a:pt x="20" y="10"/>
                      <a:pt x="20" y="10"/>
                    </a:cubicBezTo>
                    <a:cubicBezTo>
                      <a:pt x="20" y="10"/>
                      <a:pt x="19" y="10"/>
                      <a:pt x="19" y="11"/>
                    </a:cubicBezTo>
                    <a:cubicBezTo>
                      <a:pt x="19" y="11"/>
                      <a:pt x="18" y="11"/>
                      <a:pt x="18" y="11"/>
                    </a:cubicBezTo>
                    <a:cubicBezTo>
                      <a:pt x="17" y="11"/>
                      <a:pt x="17" y="11"/>
                      <a:pt x="17" y="11"/>
                    </a:cubicBezTo>
                    <a:cubicBezTo>
                      <a:pt x="17" y="12"/>
                      <a:pt x="17" y="12"/>
                      <a:pt x="17" y="12"/>
                    </a:cubicBezTo>
                    <a:cubicBezTo>
                      <a:pt x="16" y="12"/>
                      <a:pt x="16" y="12"/>
                      <a:pt x="16" y="12"/>
                    </a:cubicBezTo>
                    <a:cubicBezTo>
                      <a:pt x="16" y="12"/>
                      <a:pt x="16" y="12"/>
                      <a:pt x="16" y="12"/>
                    </a:cubicBezTo>
                    <a:cubicBezTo>
                      <a:pt x="15" y="13"/>
                      <a:pt x="15" y="13"/>
                      <a:pt x="15" y="13"/>
                    </a:cubicBezTo>
                    <a:cubicBezTo>
                      <a:pt x="15" y="13"/>
                      <a:pt x="15" y="13"/>
                      <a:pt x="15" y="13"/>
                    </a:cubicBezTo>
                    <a:moveTo>
                      <a:pt x="38" y="0"/>
                    </a:moveTo>
                    <a:cubicBezTo>
                      <a:pt x="35" y="0"/>
                      <a:pt x="31" y="1"/>
                      <a:pt x="27" y="2"/>
                    </a:cubicBezTo>
                    <a:cubicBezTo>
                      <a:pt x="11" y="7"/>
                      <a:pt x="0" y="22"/>
                      <a:pt x="0" y="39"/>
                    </a:cubicBezTo>
                    <a:cubicBezTo>
                      <a:pt x="0" y="42"/>
                      <a:pt x="0" y="46"/>
                      <a:pt x="1" y="49"/>
                    </a:cubicBezTo>
                    <a:cubicBezTo>
                      <a:pt x="6" y="66"/>
                      <a:pt x="21" y="77"/>
                      <a:pt x="38" y="77"/>
                    </a:cubicBezTo>
                    <a:cubicBezTo>
                      <a:pt x="38" y="77"/>
                      <a:pt x="38" y="77"/>
                      <a:pt x="38" y="77"/>
                    </a:cubicBezTo>
                    <a:cubicBezTo>
                      <a:pt x="42" y="77"/>
                      <a:pt x="45" y="77"/>
                      <a:pt x="49" y="76"/>
                    </a:cubicBezTo>
                    <a:cubicBezTo>
                      <a:pt x="59" y="73"/>
                      <a:pt x="67" y="66"/>
                      <a:pt x="72" y="57"/>
                    </a:cubicBezTo>
                    <a:cubicBezTo>
                      <a:pt x="75" y="52"/>
                      <a:pt x="77" y="45"/>
                      <a:pt x="77" y="39"/>
                    </a:cubicBezTo>
                    <a:cubicBezTo>
                      <a:pt x="77" y="35"/>
                      <a:pt x="76" y="32"/>
                      <a:pt x="75" y="28"/>
                    </a:cubicBezTo>
                    <a:cubicBezTo>
                      <a:pt x="70" y="12"/>
                      <a:pt x="55" y="0"/>
                      <a:pt x="38" y="0"/>
                    </a:cubicBezTo>
                  </a:path>
                </a:pathLst>
              </a:custGeom>
              <a:grpFill/>
              <a:ln w="9525">
                <a:noFill/>
                <a:round/>
                <a:headEnd/>
                <a:tailEnd/>
              </a:ln>
            </p:spPr>
            <p:txBody>
              <a:bodyPr anchor="ctr"/>
              <a:lstStyle/>
              <a:p>
                <a:pPr algn="ctr"/>
                <a:endParaRPr sz="2400"/>
              </a:p>
            </p:txBody>
          </p:sp>
        </p:grpSp>
        <p:sp>
          <p:nvSpPr>
            <p:cNvPr id="56" name="ïṣlide">
              <a:extLst>
                <a:ext uri="{FF2B5EF4-FFF2-40B4-BE49-F238E27FC236}">
                  <a16:creationId xmlns:a16="http://schemas.microsoft.com/office/drawing/2014/main" id="{041719F7-B19A-4E22-AD99-E43CE6AAEC74}"/>
                </a:ext>
              </a:extLst>
            </p:cNvPr>
            <p:cNvSpPr>
              <a:spLocks/>
            </p:cNvSpPr>
            <p:nvPr/>
          </p:nvSpPr>
          <p:spPr bwMode="auto">
            <a:xfrm>
              <a:off x="1628036" y="3727732"/>
              <a:ext cx="373132" cy="300912"/>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chemeClr val="bg1"/>
            </a:solidFill>
            <a:ln w="9525">
              <a:noFill/>
              <a:round/>
              <a:headEnd/>
              <a:tailEnd/>
            </a:ln>
          </p:spPr>
          <p:txBody>
            <a:bodyPr anchor="ctr"/>
            <a:lstStyle/>
            <a:p>
              <a:pPr algn="ctr"/>
              <a:endParaRPr sz="2400"/>
            </a:p>
          </p:txBody>
        </p:sp>
        <p:sp>
          <p:nvSpPr>
            <p:cNvPr id="57" name="iśḻîḑè">
              <a:extLst>
                <a:ext uri="{FF2B5EF4-FFF2-40B4-BE49-F238E27FC236}">
                  <a16:creationId xmlns:a16="http://schemas.microsoft.com/office/drawing/2014/main" id="{1A02BAFC-FB60-45F4-AD7A-243C4B04DCE9}"/>
                </a:ext>
              </a:extLst>
            </p:cNvPr>
            <p:cNvSpPr/>
            <p:nvPr/>
          </p:nvSpPr>
          <p:spPr>
            <a:xfrm rot="16200000">
              <a:off x="1056037" y="4902455"/>
              <a:ext cx="1517128" cy="373132"/>
            </a:xfrm>
            <a:prstGeom prst="rect">
              <a:avLst/>
            </a:prstGeom>
          </p:spPr>
          <p:txBody>
            <a:bodyPr wrap="none">
              <a:noAutofit/>
            </a:bodyPr>
            <a:lstStyle/>
            <a:p>
              <a:pPr lvl="0"/>
              <a:r>
                <a:rPr lang="zh-CN" altLang="en-US" sz="2400" b="1" dirty="0">
                  <a:solidFill>
                    <a:srgbClr val="FFFFFF"/>
                  </a:solidFill>
                </a:rPr>
                <a:t>次级债务</a:t>
              </a:r>
            </a:p>
          </p:txBody>
        </p:sp>
        <p:sp>
          <p:nvSpPr>
            <p:cNvPr id="58" name="îṥľíďê">
              <a:extLst>
                <a:ext uri="{FF2B5EF4-FFF2-40B4-BE49-F238E27FC236}">
                  <a16:creationId xmlns:a16="http://schemas.microsoft.com/office/drawing/2014/main" id="{E751FDBA-ABE6-4DE5-ABB9-5F382065C6D1}"/>
                </a:ext>
              </a:extLst>
            </p:cNvPr>
            <p:cNvSpPr/>
            <p:nvPr/>
          </p:nvSpPr>
          <p:spPr>
            <a:xfrm rot="16200000">
              <a:off x="2143626" y="4902455"/>
              <a:ext cx="1517128" cy="373132"/>
            </a:xfrm>
            <a:prstGeom prst="rect">
              <a:avLst/>
            </a:prstGeom>
          </p:spPr>
          <p:txBody>
            <a:bodyPr wrap="none">
              <a:noAutofit/>
            </a:bodyPr>
            <a:lstStyle/>
            <a:p>
              <a:pPr lvl="0"/>
              <a:r>
                <a:rPr lang="zh-CN" altLang="en-US" sz="2400" b="1" dirty="0">
                  <a:solidFill>
                    <a:srgbClr val="FFFFFF"/>
                  </a:solidFill>
                </a:rPr>
                <a:t>次优债务</a:t>
              </a:r>
            </a:p>
          </p:txBody>
        </p:sp>
        <p:sp>
          <p:nvSpPr>
            <p:cNvPr id="59" name="ï$lîḑè">
              <a:extLst>
                <a:ext uri="{FF2B5EF4-FFF2-40B4-BE49-F238E27FC236}">
                  <a16:creationId xmlns:a16="http://schemas.microsoft.com/office/drawing/2014/main" id="{5FB84084-063F-41D1-A3E4-1F0D62AA8AF0}"/>
                </a:ext>
              </a:extLst>
            </p:cNvPr>
            <p:cNvSpPr/>
            <p:nvPr/>
          </p:nvSpPr>
          <p:spPr>
            <a:xfrm rot="16200000">
              <a:off x="3226858" y="4902455"/>
              <a:ext cx="1517128" cy="373132"/>
            </a:xfrm>
            <a:prstGeom prst="rect">
              <a:avLst/>
            </a:prstGeom>
          </p:spPr>
          <p:txBody>
            <a:bodyPr wrap="none">
              <a:noAutofit/>
            </a:bodyPr>
            <a:lstStyle/>
            <a:p>
              <a:pPr lvl="0"/>
              <a:r>
                <a:rPr lang="zh-CN" altLang="en-US" sz="2400" b="1" dirty="0">
                  <a:solidFill>
                    <a:srgbClr val="FFFFFF"/>
                  </a:solidFill>
                </a:rPr>
                <a:t>优先级债务</a:t>
              </a:r>
            </a:p>
          </p:txBody>
        </p:sp>
        <p:sp>
          <p:nvSpPr>
            <p:cNvPr id="60" name="íṥḻídê">
              <a:extLst>
                <a:ext uri="{FF2B5EF4-FFF2-40B4-BE49-F238E27FC236}">
                  <a16:creationId xmlns:a16="http://schemas.microsoft.com/office/drawing/2014/main" id="{8388C2E3-5285-4A84-99F6-81ACBCFA3043}"/>
                </a:ext>
              </a:extLst>
            </p:cNvPr>
            <p:cNvSpPr/>
            <p:nvPr/>
          </p:nvSpPr>
          <p:spPr>
            <a:xfrm rot="16200000">
              <a:off x="4245152" y="4902455"/>
              <a:ext cx="1517128" cy="373132"/>
            </a:xfrm>
            <a:prstGeom prst="rect">
              <a:avLst/>
            </a:prstGeom>
          </p:spPr>
          <p:txBody>
            <a:bodyPr wrap="none">
              <a:noAutofit/>
            </a:bodyPr>
            <a:lstStyle/>
            <a:p>
              <a:pPr lvl="0"/>
              <a:r>
                <a:rPr lang="zh-CN" altLang="en-US" sz="2400" b="1" dirty="0">
                  <a:solidFill>
                    <a:srgbClr val="FFFFFF"/>
                  </a:solidFill>
                </a:rPr>
                <a:t>流动性贷款</a:t>
              </a:r>
            </a:p>
          </p:txBody>
        </p:sp>
        <p:sp>
          <p:nvSpPr>
            <p:cNvPr id="61" name="ïṣļïḍe">
              <a:extLst>
                <a:ext uri="{FF2B5EF4-FFF2-40B4-BE49-F238E27FC236}">
                  <a16:creationId xmlns:a16="http://schemas.microsoft.com/office/drawing/2014/main" id="{F7E9CDFF-B93A-4A3E-8F02-F741AB76A007}"/>
                </a:ext>
              </a:extLst>
            </p:cNvPr>
            <p:cNvSpPr/>
            <p:nvPr/>
          </p:nvSpPr>
          <p:spPr>
            <a:xfrm rot="16200000">
              <a:off x="4904473" y="4223743"/>
              <a:ext cx="2558444" cy="646554"/>
            </a:xfrm>
            <a:prstGeom prst="rect">
              <a:avLst/>
            </a:prstGeom>
          </p:spPr>
          <p:txBody>
            <a:bodyPr wrap="none">
              <a:noAutofit/>
            </a:bodyPr>
            <a:lstStyle/>
            <a:p>
              <a:pPr lvl="0"/>
              <a:r>
                <a:rPr lang="zh-CN" altLang="en-US" sz="2400" b="1" dirty="0">
                  <a:solidFill>
                    <a:srgbClr val="FFFFFF"/>
                  </a:solidFill>
                </a:rPr>
                <a:t>银行中长期贷款</a:t>
              </a:r>
            </a:p>
          </p:txBody>
        </p:sp>
      </p:grpSp>
      <p:sp>
        <p:nvSpPr>
          <p:cNvPr id="106" name="文本框 105">
            <a:extLst>
              <a:ext uri="{FF2B5EF4-FFF2-40B4-BE49-F238E27FC236}">
                <a16:creationId xmlns:a16="http://schemas.microsoft.com/office/drawing/2014/main" id="{7AFD764D-EC3F-4C1E-B9A6-A48C7BBE8A3F}"/>
              </a:ext>
            </a:extLst>
          </p:cNvPr>
          <p:cNvSpPr txBox="1"/>
          <p:nvPr/>
        </p:nvSpPr>
        <p:spPr>
          <a:xfrm rot="20508394">
            <a:off x="10537422" y="2032228"/>
            <a:ext cx="1962957" cy="523220"/>
          </a:xfrm>
          <a:prstGeom prst="rect">
            <a:avLst/>
          </a:prstGeom>
          <a:noFill/>
        </p:spPr>
        <p:txBody>
          <a:bodyPr wrap="square" rtlCol="0">
            <a:spAutoFit/>
          </a:bodyPr>
          <a:lstStyle/>
          <a:p>
            <a:r>
              <a:rPr lang="zh-CN" altLang="en-US" sz="2800" b="1" dirty="0">
                <a:solidFill>
                  <a:schemeClr val="tx1">
                    <a:lumMod val="50000"/>
                    <a:lumOff val="50000"/>
                  </a:schemeClr>
                </a:solidFill>
              </a:rPr>
              <a:t>优先级递增</a:t>
            </a:r>
          </a:p>
        </p:txBody>
      </p:sp>
      <p:grpSp>
        <p:nvGrpSpPr>
          <p:cNvPr id="107" name="6074dae5-03b0-4812-a51b-6a8d2a43eead" descr="pwUAAB+LCAAAAAAABADNVE1P4zAQ/S9muVUorcqy5EapChULiyiCA+rBJNNkhONUzgQVqvz3HSdxm6jhozeUS/TmTd688XPW4he9LUH4YpZIQ2OUkZHJlCARPTENha9zpXpihDpEHV2YNF9mwn9ab9qalUek+DxVqbG9GgmlepAqZ9oO39F26v8WCwzgDgLQ5Eh30bPw+4OT36fD02MexuRZzNSDyWR8Mv5zPmDKfdndLwqrHMJK+J4DhftMLW3NdXqwhaaFGr6VvBEgMB02Wi1bYs/ayIDOgq0N3zvyHD4yGMWkIctquJrUKzais1gu4YY/ZycVIxm8lIiY77hiVdZogUXv53kbfOStTMA9rOib3uYd7jbpq+L0Zfoc7Ro1JnlS08ppr+WqAfW9CsQwVNCkTTXv4nWj0LdY+T4jwwKT1CSSWHDtFYfbmA+HR15XQt08303obZoRpnq/c6ybmif5AIYwkOpMYaQTXrX9D5ABCmKuXqYG31NN7fpfWBAXrwCW9fpm+M5yC6kycEtwJ+y8VeHlmwxKEr62CC1MfBSTNqup08jNdi+t5FTr/eRWlPHba5m2o7nJrmPfJ/H1BF1jz/n5D+K84EynBQAA">
            <a:extLst>
              <a:ext uri="{FF2B5EF4-FFF2-40B4-BE49-F238E27FC236}">
                <a16:creationId xmlns:a16="http://schemas.microsoft.com/office/drawing/2014/main" id="{0DC8B53C-C0F1-4854-8F68-F17790D6A615}"/>
              </a:ext>
            </a:extLst>
          </p:cNvPr>
          <p:cNvGrpSpPr>
            <a:grpSpLocks noChangeAspect="1"/>
          </p:cNvGrpSpPr>
          <p:nvPr/>
        </p:nvGrpSpPr>
        <p:grpSpPr>
          <a:xfrm>
            <a:off x="9471844" y="6427670"/>
            <a:ext cx="6704723" cy="747152"/>
            <a:chOff x="3718555" y="1177799"/>
            <a:chExt cx="6531735" cy="844438"/>
          </a:xfrm>
        </p:grpSpPr>
        <p:sp>
          <p:nvSpPr>
            <p:cNvPr id="108" name="BackShape">
              <a:extLst>
                <a:ext uri="{FF2B5EF4-FFF2-40B4-BE49-F238E27FC236}">
                  <a16:creationId xmlns:a16="http://schemas.microsoft.com/office/drawing/2014/main" id="{62A8F891-21A0-4633-9270-E6D87BBAC75A}"/>
                </a:ext>
              </a:extLst>
            </p:cNvPr>
            <p:cNvSpPr/>
            <p:nvPr/>
          </p:nvSpPr>
          <p:spPr>
            <a:xfrm>
              <a:off x="3718557" y="1582115"/>
              <a:ext cx="5638549" cy="440122"/>
            </a:xfrm>
            <a:prstGeom prst="roundRect">
              <a:avLst>
                <a:gd name="adj" fmla="val 50000"/>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rgbClr val="C00000"/>
                </a:solidFill>
              </a:endParaRPr>
            </a:p>
          </p:txBody>
        </p:sp>
        <p:sp>
          <p:nvSpPr>
            <p:cNvPr id="109" name="RelativeShape">
              <a:extLst>
                <a:ext uri="{FF2B5EF4-FFF2-40B4-BE49-F238E27FC236}">
                  <a16:creationId xmlns:a16="http://schemas.microsoft.com/office/drawing/2014/main" id="{46F663A3-890B-4720-817E-280A283DE4BB}"/>
                </a:ext>
              </a:extLst>
            </p:cNvPr>
            <p:cNvSpPr/>
            <p:nvPr/>
          </p:nvSpPr>
          <p:spPr>
            <a:xfrm>
              <a:off x="3836215" y="1665535"/>
              <a:ext cx="5403233" cy="273283"/>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rgbClr val="C00000"/>
                </a:solidFill>
              </a:endParaRPr>
            </a:p>
          </p:txBody>
        </p:sp>
        <p:sp>
          <p:nvSpPr>
            <p:cNvPr id="110" name="ValueShape">
              <a:extLst>
                <a:ext uri="{FF2B5EF4-FFF2-40B4-BE49-F238E27FC236}">
                  <a16:creationId xmlns:a16="http://schemas.microsoft.com/office/drawing/2014/main" id="{6CDE5250-278A-40FE-A35F-CFC5180FC60A}"/>
                </a:ext>
              </a:extLst>
            </p:cNvPr>
            <p:cNvSpPr/>
            <p:nvPr/>
          </p:nvSpPr>
          <p:spPr>
            <a:xfrm>
              <a:off x="3836215" y="1665536"/>
              <a:ext cx="2377422" cy="27328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rgbClr val="C00000"/>
                </a:solidFill>
              </a:endParaRPr>
            </a:p>
          </p:txBody>
        </p:sp>
        <p:sp>
          <p:nvSpPr>
            <p:cNvPr id="111" name="ValueText">
              <a:extLst>
                <a:ext uri="{FF2B5EF4-FFF2-40B4-BE49-F238E27FC236}">
                  <a16:creationId xmlns:a16="http://schemas.microsoft.com/office/drawing/2014/main" id="{D7821D43-4347-47A2-AD98-459397DE8152}"/>
                </a:ext>
              </a:extLst>
            </p:cNvPr>
            <p:cNvSpPr txBox="1"/>
            <p:nvPr/>
          </p:nvSpPr>
          <p:spPr>
            <a:xfrm>
              <a:off x="9567993" y="1582115"/>
              <a:ext cx="682297" cy="437086"/>
            </a:xfrm>
            <a:prstGeom prst="rect">
              <a:avLst/>
            </a:prstGeom>
            <a:noFill/>
          </p:spPr>
          <p:txBody>
            <a:bodyPr wrap="square" anchor="ctr" anchorCtr="1">
              <a:prstTxWarp prst="textPlain">
                <a:avLst/>
              </a:prstTxWarp>
              <a:normAutofit fontScale="92500" lnSpcReduction="20000"/>
            </a:bodyPr>
            <a:lstStyle/>
            <a:p>
              <a:r>
                <a:rPr lang="en-US" altLang="zh-CN" sz="2400" dirty="0">
                  <a:solidFill>
                    <a:schemeClr val="accent5"/>
                  </a:solidFill>
                  <a:latin typeface="Impact" panose="020B0806030902050204" pitchFamily="34" charset="0"/>
                </a:rPr>
                <a:t>44%</a:t>
              </a:r>
            </a:p>
          </p:txBody>
        </p:sp>
        <p:sp>
          <p:nvSpPr>
            <p:cNvPr id="112" name="CustomText1">
              <a:extLst>
                <a:ext uri="{FF2B5EF4-FFF2-40B4-BE49-F238E27FC236}">
                  <a16:creationId xmlns:a16="http://schemas.microsoft.com/office/drawing/2014/main" id="{233E1DA0-5F7B-4164-8A8C-9B63AD1B8491}"/>
                </a:ext>
              </a:extLst>
            </p:cNvPr>
            <p:cNvSpPr/>
            <p:nvPr/>
          </p:nvSpPr>
          <p:spPr>
            <a:xfrm>
              <a:off x="3718555" y="1177799"/>
              <a:ext cx="5638549" cy="320897"/>
            </a:xfrm>
            <a:prstGeom prst="rect">
              <a:avLst/>
            </a:prstGeom>
            <a:noFill/>
          </p:spPr>
          <p:txBody>
            <a:bodyPr wrap="none" lIns="0" tIns="0" rIns="0" bIns="0">
              <a:normAutofit fontScale="85000" lnSpcReduction="20000"/>
            </a:bodyPr>
            <a:lstStyle/>
            <a:p>
              <a:r>
                <a:rPr lang="en-US" altLang="zh-CN" b="1" dirty="0">
                  <a:solidFill>
                    <a:schemeClr val="accent5"/>
                  </a:solidFill>
                </a:rPr>
                <a:t>1 </a:t>
              </a:r>
              <a:r>
                <a:rPr lang="zh-CN" altLang="en-US" b="1" dirty="0">
                  <a:solidFill>
                    <a:schemeClr val="accent5"/>
                  </a:solidFill>
                </a:rPr>
                <a:t>分析债务的结构分布，评估稳健性</a:t>
              </a:r>
              <a:endParaRPr lang="en-US" altLang="zh-CN" b="1" dirty="0">
                <a:solidFill>
                  <a:schemeClr val="accent5"/>
                </a:solidFill>
              </a:endParaRPr>
            </a:p>
          </p:txBody>
        </p:sp>
      </p:grpSp>
      <p:grpSp>
        <p:nvGrpSpPr>
          <p:cNvPr id="113" name="6074dae5-03b0-4812-a51b-6a8d2a43eead" descr="pwUAAB+LCAAAAAAABADNVE1P4zAQ/S9muVUorcqy5EapChULiyiCA+rBJNNkhONUzgQVqvz3HSdxm6jhozeUS/TmTd688XPW4he9LUH4YpZIQ2OUkZHJlCARPTENha9zpXpihDpEHV2YNF9mwn9ab9qalUek+DxVqbG9GgmlepAqZ9oO39F26v8WCwzgDgLQ5Eh30bPw+4OT36fD02MexuRZzNSDyWR8Mv5zPmDKfdndLwqrHMJK+J4DhftMLW3NdXqwhaaFGr6VvBEgMB02Wi1bYs/ayIDOgq0N3zvyHD4yGMWkIctquJrUKzais1gu4YY/ZycVIxm8lIiY77hiVdZogUXv53kbfOStTMA9rOib3uYd7jbpq+L0Zfoc7Ro1JnlS08ppr+WqAfW9CsQwVNCkTTXv4nWj0LdY+T4jwwKT1CSSWHDtFYfbmA+HR15XQt08303obZoRpnq/c6ybmif5AIYwkOpMYaQTXrX9D5ABCmKuXqYG31NN7fpfWBAXrwCW9fpm+M5yC6kycEtwJ+y8VeHlmwxKEr62CC1MfBSTNqup08jNdi+t5FTr/eRWlPHba5m2o7nJrmPfJ/H1BF1jz/n5D+K84EynBQAA">
            <a:extLst>
              <a:ext uri="{FF2B5EF4-FFF2-40B4-BE49-F238E27FC236}">
                <a16:creationId xmlns:a16="http://schemas.microsoft.com/office/drawing/2014/main" id="{115E94C2-8701-4C27-BDFF-716D43840894}"/>
              </a:ext>
            </a:extLst>
          </p:cNvPr>
          <p:cNvGrpSpPr>
            <a:grpSpLocks noChangeAspect="1"/>
          </p:cNvGrpSpPr>
          <p:nvPr/>
        </p:nvGrpSpPr>
        <p:grpSpPr>
          <a:xfrm>
            <a:off x="9471844" y="7525379"/>
            <a:ext cx="6704723" cy="747152"/>
            <a:chOff x="3718555" y="1177799"/>
            <a:chExt cx="6531735" cy="844438"/>
          </a:xfrm>
        </p:grpSpPr>
        <p:sp>
          <p:nvSpPr>
            <p:cNvPr id="114" name="BackShape">
              <a:extLst>
                <a:ext uri="{FF2B5EF4-FFF2-40B4-BE49-F238E27FC236}">
                  <a16:creationId xmlns:a16="http://schemas.microsoft.com/office/drawing/2014/main" id="{1574ED81-E7E4-46DD-9421-0027B49ACEFE}"/>
                </a:ext>
              </a:extLst>
            </p:cNvPr>
            <p:cNvSpPr/>
            <p:nvPr/>
          </p:nvSpPr>
          <p:spPr>
            <a:xfrm>
              <a:off x="3718557" y="1582115"/>
              <a:ext cx="5638549" cy="440122"/>
            </a:xfrm>
            <a:prstGeom prst="roundRect">
              <a:avLst>
                <a:gd name="adj" fmla="val 50000"/>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accent4">
                    <a:lumMod val="75000"/>
                  </a:schemeClr>
                </a:solidFill>
              </a:endParaRPr>
            </a:p>
          </p:txBody>
        </p:sp>
        <p:sp>
          <p:nvSpPr>
            <p:cNvPr id="115" name="RelativeShape">
              <a:extLst>
                <a:ext uri="{FF2B5EF4-FFF2-40B4-BE49-F238E27FC236}">
                  <a16:creationId xmlns:a16="http://schemas.microsoft.com/office/drawing/2014/main" id="{CA6D07D7-DB56-4BE8-843F-81692EE225AB}"/>
                </a:ext>
              </a:extLst>
            </p:cNvPr>
            <p:cNvSpPr/>
            <p:nvPr/>
          </p:nvSpPr>
          <p:spPr>
            <a:xfrm>
              <a:off x="3836215" y="1665535"/>
              <a:ext cx="5403233" cy="273283"/>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accent4">
                    <a:lumMod val="75000"/>
                  </a:schemeClr>
                </a:solidFill>
              </a:endParaRPr>
            </a:p>
          </p:txBody>
        </p:sp>
        <p:sp>
          <p:nvSpPr>
            <p:cNvPr id="116" name="ValueShape">
              <a:extLst>
                <a:ext uri="{FF2B5EF4-FFF2-40B4-BE49-F238E27FC236}">
                  <a16:creationId xmlns:a16="http://schemas.microsoft.com/office/drawing/2014/main" id="{C3249291-EC09-4D47-A17C-9F29BC174AC2}"/>
                </a:ext>
              </a:extLst>
            </p:cNvPr>
            <p:cNvSpPr/>
            <p:nvPr/>
          </p:nvSpPr>
          <p:spPr>
            <a:xfrm>
              <a:off x="3836214" y="1665535"/>
              <a:ext cx="3543621" cy="273285"/>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accent4">
                    <a:lumMod val="75000"/>
                  </a:schemeClr>
                </a:solidFill>
              </a:endParaRPr>
            </a:p>
          </p:txBody>
        </p:sp>
        <p:sp>
          <p:nvSpPr>
            <p:cNvPr id="117" name="ValueText">
              <a:extLst>
                <a:ext uri="{FF2B5EF4-FFF2-40B4-BE49-F238E27FC236}">
                  <a16:creationId xmlns:a16="http://schemas.microsoft.com/office/drawing/2014/main" id="{C79AD6E9-C03E-42A6-9578-FBFBF924CFE3}"/>
                </a:ext>
              </a:extLst>
            </p:cNvPr>
            <p:cNvSpPr txBox="1"/>
            <p:nvPr/>
          </p:nvSpPr>
          <p:spPr>
            <a:xfrm>
              <a:off x="9567993" y="1582115"/>
              <a:ext cx="682297" cy="437086"/>
            </a:xfrm>
            <a:prstGeom prst="rect">
              <a:avLst/>
            </a:prstGeom>
            <a:noFill/>
          </p:spPr>
          <p:txBody>
            <a:bodyPr wrap="square" anchor="ctr" anchorCtr="1">
              <a:prstTxWarp prst="textPlain">
                <a:avLst/>
              </a:prstTxWarp>
              <a:normAutofit fontScale="92500" lnSpcReduction="20000"/>
            </a:bodyPr>
            <a:lstStyle/>
            <a:p>
              <a:r>
                <a:rPr lang="en-US" altLang="zh-CN" sz="2400" dirty="0">
                  <a:solidFill>
                    <a:schemeClr val="accent4">
                      <a:lumMod val="75000"/>
                    </a:schemeClr>
                  </a:solidFill>
                  <a:latin typeface="Impact" panose="020B0806030902050204" pitchFamily="34" charset="0"/>
                </a:rPr>
                <a:t>67%</a:t>
              </a:r>
            </a:p>
          </p:txBody>
        </p:sp>
        <p:sp>
          <p:nvSpPr>
            <p:cNvPr id="118" name="CustomText1">
              <a:extLst>
                <a:ext uri="{FF2B5EF4-FFF2-40B4-BE49-F238E27FC236}">
                  <a16:creationId xmlns:a16="http://schemas.microsoft.com/office/drawing/2014/main" id="{27B2F3D3-F093-487B-AE39-920A17A3839B}"/>
                </a:ext>
              </a:extLst>
            </p:cNvPr>
            <p:cNvSpPr/>
            <p:nvPr/>
          </p:nvSpPr>
          <p:spPr>
            <a:xfrm>
              <a:off x="3718555" y="1177799"/>
              <a:ext cx="5638549" cy="320897"/>
            </a:xfrm>
            <a:prstGeom prst="rect">
              <a:avLst/>
            </a:prstGeom>
            <a:noFill/>
          </p:spPr>
          <p:txBody>
            <a:bodyPr wrap="none" lIns="0" tIns="0" rIns="0" bIns="0">
              <a:normAutofit fontScale="85000" lnSpcReduction="20000"/>
            </a:bodyPr>
            <a:lstStyle/>
            <a:p>
              <a:r>
                <a:rPr lang="en-US" altLang="zh-CN" b="1" dirty="0">
                  <a:solidFill>
                    <a:schemeClr val="accent4">
                      <a:lumMod val="75000"/>
                    </a:schemeClr>
                  </a:solidFill>
                </a:rPr>
                <a:t>2 </a:t>
              </a:r>
              <a:r>
                <a:rPr lang="zh-CN" altLang="en-US" b="1" dirty="0">
                  <a:solidFill>
                    <a:schemeClr val="accent4">
                      <a:lumMod val="75000"/>
                    </a:schemeClr>
                  </a:solidFill>
                </a:rPr>
                <a:t>评估各层债务的再融资风险</a:t>
              </a:r>
              <a:endParaRPr lang="en-US" altLang="zh-CN" b="1" dirty="0">
                <a:solidFill>
                  <a:schemeClr val="accent4">
                    <a:lumMod val="75000"/>
                  </a:schemeClr>
                </a:solidFill>
              </a:endParaRPr>
            </a:p>
          </p:txBody>
        </p:sp>
      </p:grpSp>
      <p:grpSp>
        <p:nvGrpSpPr>
          <p:cNvPr id="119" name="6074dae5-03b0-4812-a51b-6a8d2a43eead" descr="pwUAAB+LCAAAAAAABADNVE1P4zAQ/S9muVUorcqy5EapChULiyiCA+rBJNNkhONUzgQVqvz3HSdxm6jhozeUS/TmTd688XPW4he9LUH4YpZIQ2OUkZHJlCARPTENha9zpXpihDpEHV2YNF9mwn9ab9qalUek+DxVqbG9GgmlepAqZ9oO39F26v8WCwzgDgLQ5Eh30bPw+4OT36fD02MexuRZzNSDyWR8Mv5zPmDKfdndLwqrHMJK+J4DhftMLW3NdXqwhaaFGr6VvBEgMB02Wi1bYs/ayIDOgq0N3zvyHD4yGMWkIctquJrUKzais1gu4YY/ZycVIxm8lIiY77hiVdZogUXv53kbfOStTMA9rOib3uYd7jbpq+L0Zfoc7Ro1JnlS08ppr+WqAfW9CsQwVNCkTTXv4nWj0LdY+T4jwwKT1CSSWHDtFYfbmA+HR15XQt08303obZoRpnq/c6ybmif5AIYwkOpMYaQTXrX9D5ABCmKuXqYG31NN7fpfWBAXrwCW9fpm+M5yC6kycEtwJ+y8VeHlmwxKEr62CC1MfBSTNqup08jNdi+t5FTr/eRWlPHba5m2o7nJrmPfJ/H1BF1jz/n5D+K84EynBQAA">
            <a:extLst>
              <a:ext uri="{FF2B5EF4-FFF2-40B4-BE49-F238E27FC236}">
                <a16:creationId xmlns:a16="http://schemas.microsoft.com/office/drawing/2014/main" id="{86193F4A-DF85-4361-87D8-1F4690A06237}"/>
              </a:ext>
            </a:extLst>
          </p:cNvPr>
          <p:cNvGrpSpPr>
            <a:grpSpLocks noChangeAspect="1"/>
          </p:cNvGrpSpPr>
          <p:nvPr/>
        </p:nvGrpSpPr>
        <p:grpSpPr>
          <a:xfrm>
            <a:off x="9471844" y="8615997"/>
            <a:ext cx="6704723" cy="747152"/>
            <a:chOff x="3718555" y="1177799"/>
            <a:chExt cx="6531735" cy="844438"/>
          </a:xfrm>
        </p:grpSpPr>
        <p:sp>
          <p:nvSpPr>
            <p:cNvPr id="120" name="BackShape">
              <a:extLst>
                <a:ext uri="{FF2B5EF4-FFF2-40B4-BE49-F238E27FC236}">
                  <a16:creationId xmlns:a16="http://schemas.microsoft.com/office/drawing/2014/main" id="{607E4164-68EE-40E6-B9E5-0874A6C802FA}"/>
                </a:ext>
              </a:extLst>
            </p:cNvPr>
            <p:cNvSpPr/>
            <p:nvPr/>
          </p:nvSpPr>
          <p:spPr>
            <a:xfrm>
              <a:off x="3718557" y="1582115"/>
              <a:ext cx="5638549" cy="44012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rgbClr val="C00000"/>
                </a:solidFill>
              </a:endParaRPr>
            </a:p>
          </p:txBody>
        </p:sp>
        <p:sp>
          <p:nvSpPr>
            <p:cNvPr id="121" name="RelativeShape">
              <a:extLst>
                <a:ext uri="{FF2B5EF4-FFF2-40B4-BE49-F238E27FC236}">
                  <a16:creationId xmlns:a16="http://schemas.microsoft.com/office/drawing/2014/main" id="{95190E22-8E8C-43ED-848C-150FADE01A02}"/>
                </a:ext>
              </a:extLst>
            </p:cNvPr>
            <p:cNvSpPr/>
            <p:nvPr/>
          </p:nvSpPr>
          <p:spPr>
            <a:xfrm>
              <a:off x="3836215" y="1665535"/>
              <a:ext cx="5403233" cy="273283"/>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rgbClr val="C00000"/>
                </a:solidFill>
              </a:endParaRPr>
            </a:p>
          </p:txBody>
        </p:sp>
        <p:sp>
          <p:nvSpPr>
            <p:cNvPr id="122" name="ValueShape">
              <a:extLst>
                <a:ext uri="{FF2B5EF4-FFF2-40B4-BE49-F238E27FC236}">
                  <a16:creationId xmlns:a16="http://schemas.microsoft.com/office/drawing/2014/main" id="{E99A1C46-321C-4FC0-B451-9B6E74761EB4}"/>
                </a:ext>
              </a:extLst>
            </p:cNvPr>
            <p:cNvSpPr/>
            <p:nvPr/>
          </p:nvSpPr>
          <p:spPr>
            <a:xfrm>
              <a:off x="3836214" y="1652554"/>
              <a:ext cx="4580190" cy="28626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rgbClr val="C00000"/>
                </a:solidFill>
              </a:endParaRPr>
            </a:p>
          </p:txBody>
        </p:sp>
        <p:sp>
          <p:nvSpPr>
            <p:cNvPr id="123" name="ValueText">
              <a:extLst>
                <a:ext uri="{FF2B5EF4-FFF2-40B4-BE49-F238E27FC236}">
                  <a16:creationId xmlns:a16="http://schemas.microsoft.com/office/drawing/2014/main" id="{483B18E6-EB7A-42C0-B42B-6AB2CD212432}"/>
                </a:ext>
              </a:extLst>
            </p:cNvPr>
            <p:cNvSpPr txBox="1"/>
            <p:nvPr/>
          </p:nvSpPr>
          <p:spPr>
            <a:xfrm>
              <a:off x="9567993" y="1582115"/>
              <a:ext cx="682297" cy="437086"/>
            </a:xfrm>
            <a:prstGeom prst="rect">
              <a:avLst/>
            </a:prstGeom>
            <a:noFill/>
          </p:spPr>
          <p:txBody>
            <a:bodyPr wrap="square" anchor="ctr" anchorCtr="1">
              <a:prstTxWarp prst="textPlain">
                <a:avLst/>
              </a:prstTxWarp>
              <a:normAutofit fontScale="92500" lnSpcReduction="20000"/>
            </a:bodyPr>
            <a:lstStyle/>
            <a:p>
              <a:r>
                <a:rPr lang="en-US" altLang="zh-CN" sz="2400" dirty="0">
                  <a:solidFill>
                    <a:srgbClr val="C00000"/>
                  </a:solidFill>
                  <a:latin typeface="Impact" panose="020B0806030902050204" pitchFamily="34" charset="0"/>
                </a:rPr>
                <a:t>83%</a:t>
              </a:r>
            </a:p>
          </p:txBody>
        </p:sp>
        <p:sp>
          <p:nvSpPr>
            <p:cNvPr id="124" name="CustomText1">
              <a:extLst>
                <a:ext uri="{FF2B5EF4-FFF2-40B4-BE49-F238E27FC236}">
                  <a16:creationId xmlns:a16="http://schemas.microsoft.com/office/drawing/2014/main" id="{A55FE91E-763F-49E3-AECF-73B894A8C6B8}"/>
                </a:ext>
              </a:extLst>
            </p:cNvPr>
            <p:cNvSpPr/>
            <p:nvPr/>
          </p:nvSpPr>
          <p:spPr>
            <a:xfrm>
              <a:off x="3718555" y="1177799"/>
              <a:ext cx="5638549" cy="320897"/>
            </a:xfrm>
            <a:prstGeom prst="rect">
              <a:avLst/>
            </a:prstGeom>
            <a:noFill/>
          </p:spPr>
          <p:txBody>
            <a:bodyPr wrap="none" lIns="0" tIns="0" rIns="0" bIns="0">
              <a:normAutofit fontScale="85000" lnSpcReduction="20000"/>
            </a:bodyPr>
            <a:lstStyle/>
            <a:p>
              <a:r>
                <a:rPr lang="en-US" altLang="zh-CN" b="1" dirty="0">
                  <a:solidFill>
                    <a:srgbClr val="C00000"/>
                  </a:solidFill>
                </a:rPr>
                <a:t>3 </a:t>
              </a:r>
              <a:r>
                <a:rPr lang="zh-CN" altLang="en-US" b="1" dirty="0">
                  <a:solidFill>
                    <a:srgbClr val="C00000"/>
                  </a:solidFill>
                </a:rPr>
                <a:t>评估票息调整和延期兑付风险</a:t>
              </a:r>
              <a:endParaRPr lang="en-US" altLang="zh-CN" b="1" dirty="0">
                <a:solidFill>
                  <a:srgbClr val="C00000"/>
                </a:solidFill>
              </a:endParaRPr>
            </a:p>
          </p:txBody>
        </p:sp>
      </p:grpSp>
    </p:spTree>
    <p:extLst>
      <p:ext uri="{BB962C8B-B14F-4D97-AF65-F5344CB8AC3E}">
        <p14:creationId xmlns:p14="http://schemas.microsoft.com/office/powerpoint/2010/main" val="19765386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834141-0750-4ABE-8934-0197F4CD8030}"/>
              </a:ext>
            </a:extLst>
          </p:cNvPr>
          <p:cNvSpPr>
            <a:spLocks noGrp="1"/>
          </p:cNvSpPr>
          <p:nvPr>
            <p:ph type="title"/>
          </p:nvPr>
        </p:nvSpPr>
        <p:spPr/>
        <p:txBody>
          <a:bodyPr/>
          <a:lstStyle/>
          <a:p>
            <a:r>
              <a:rPr lang="zh-CN" altLang="en-US" dirty="0"/>
              <a:t>偿债指标</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98BCBA2-0C19-488F-981A-C7C3D99E1EB3}"/>
                  </a:ext>
                </a:extLst>
              </p:cNvPr>
              <p:cNvSpPr>
                <a:spLocks noGrp="1"/>
              </p:cNvSpPr>
              <p:nvPr>
                <p:ph idx="1"/>
              </p:nvPr>
            </p:nvSpPr>
            <p:spPr/>
            <p:txBody>
              <a:bodyPr>
                <a:normAutofit fontScale="92500"/>
              </a:bodyPr>
              <a:lstStyle/>
              <a:p>
                <a:r>
                  <a:rPr lang="zh-CN" altLang="en-US" b="1"/>
                  <a:t>债务覆盖率（基本</a:t>
                </a:r>
                <a:r>
                  <a:rPr lang="zh-CN" altLang="en-US" b="1" dirty="0"/>
                  <a:t>覆盖率）</a:t>
                </a:r>
                <a:endParaRPr lang="en-US" altLang="zh-CN" b="1" dirty="0"/>
              </a:p>
              <a:p>
                <a:pPr lvl="1"/>
                <a14:m>
                  <m:oMath xmlns:m="http://schemas.openxmlformats.org/officeDocument/2006/math">
                    <m:r>
                      <a:rPr lang="zh-CN" altLang="en-US" i="1" dirty="0" smtClean="0">
                        <a:latin typeface="Cambria Math" panose="02040503050406030204" pitchFamily="18" charset="0"/>
                      </a:rPr>
                      <m:t>息税前</m:t>
                    </m:r>
                    <m:r>
                      <a:rPr lang="zh-CN" altLang="en-US" i="1" dirty="0">
                        <a:latin typeface="Cambria Math" panose="02040503050406030204" pitchFamily="18" charset="0"/>
                      </a:rPr>
                      <m:t>利润</m:t>
                    </m:r>
                    <m:r>
                      <a:rPr lang="zh-CN" altLang="en-US" i="1" dirty="0" smtClean="0">
                        <a:latin typeface="Cambria Math" panose="02040503050406030204" pitchFamily="18" charset="0"/>
                      </a:rPr>
                      <m:t>的</m:t>
                    </m:r>
                    <m:r>
                      <a:rPr lang="zh-CN" altLang="en-US" i="1" dirty="0">
                        <a:latin typeface="Cambria Math" panose="02040503050406030204" pitchFamily="18" charset="0"/>
                      </a:rPr>
                      <m:t>利息覆盖率</m:t>
                    </m:r>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zh-CN" altLang="en-US" i="1" dirty="0">
                            <a:latin typeface="Cambria Math" panose="02040503050406030204" pitchFamily="18" charset="0"/>
                          </a:rPr>
                          <m:t>息税前</m:t>
                        </m:r>
                        <m:r>
                          <a:rPr lang="zh-CN" altLang="en-US" i="1" dirty="0" smtClean="0">
                            <a:latin typeface="Cambria Math" panose="02040503050406030204" pitchFamily="18" charset="0"/>
                          </a:rPr>
                          <m:t>利润</m:t>
                        </m:r>
                      </m:num>
                      <m:den>
                        <m:r>
                          <a:rPr lang="zh-CN" altLang="en-US" i="1" dirty="0">
                            <a:latin typeface="Cambria Math" panose="02040503050406030204" pitchFamily="18" charset="0"/>
                          </a:rPr>
                          <m:t>年度</m:t>
                        </m:r>
                        <m:r>
                          <a:rPr lang="zh-CN" altLang="en-US" i="1" dirty="0" smtClean="0">
                            <a:latin typeface="Cambria Math" panose="02040503050406030204" pitchFamily="18" charset="0"/>
                          </a:rPr>
                          <m:t>利息支出</m:t>
                        </m:r>
                      </m:den>
                    </m:f>
                  </m:oMath>
                </a14:m>
                <a:endParaRPr lang="en-US" altLang="zh-CN" dirty="0"/>
              </a:p>
              <a:p>
                <a:pPr lvl="1"/>
                <a14:m>
                  <m:oMath xmlns:m="http://schemas.openxmlformats.org/officeDocument/2006/math">
                    <m:r>
                      <a:rPr lang="zh-CN" altLang="en-US" i="1" dirty="0">
                        <a:latin typeface="Cambria Math" panose="02040503050406030204" pitchFamily="18" charset="0"/>
                      </a:rPr>
                      <m:t>税息折旧及摊销前利润的利息覆盖率</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zh-CN" altLang="en-US" i="1" dirty="0">
                            <a:latin typeface="Cambria Math" panose="02040503050406030204" pitchFamily="18" charset="0"/>
                          </a:rPr>
                          <m:t>税息折旧及摊销前利润</m:t>
                        </m:r>
                      </m:num>
                      <m:den>
                        <m:r>
                          <a:rPr lang="zh-CN" altLang="en-US" i="1" dirty="0">
                            <a:latin typeface="Cambria Math" panose="02040503050406030204" pitchFamily="18" charset="0"/>
                          </a:rPr>
                          <m:t>年度利息支出</m:t>
                        </m:r>
                      </m:den>
                    </m:f>
                  </m:oMath>
                </a14:m>
                <a:endParaRPr lang="en-US" altLang="zh-CN" dirty="0"/>
              </a:p>
              <a:p>
                <a:r>
                  <a:rPr lang="zh-CN" altLang="en-US" b="1" dirty="0"/>
                  <a:t>现金流</a:t>
                </a:r>
                <a:r>
                  <a:rPr lang="zh-CN" altLang="en-US" dirty="0"/>
                  <a:t>比盈利能力重要：偿债资金的主要来源，现金流较难操控。</a:t>
                </a:r>
                <a:endParaRPr lang="en-US" altLang="zh-CN" dirty="0"/>
              </a:p>
              <a:p>
                <a:pPr lvl="1"/>
                <a:r>
                  <a:rPr lang="zh-CN" altLang="en-US" dirty="0"/>
                  <a:t>速动比率、已获利息倍数：表明单位债务偿付所带来的收益贡献</a:t>
                </a:r>
                <a:endParaRPr lang="en-US" altLang="zh-CN" dirty="0"/>
              </a:p>
              <a:p>
                <a:pPr lvl="1"/>
                <a14:m>
                  <m:oMath xmlns:m="http://schemas.openxmlformats.org/officeDocument/2006/math">
                    <m:r>
                      <a:rPr lang="zh-CN" altLang="en-US" i="1" dirty="0">
                        <a:latin typeface="Cambria Math" panose="02040503050406030204" pitchFamily="18" charset="0"/>
                      </a:rPr>
                      <m:t>可支配</m:t>
                    </m:r>
                  </m:oMath>
                </a14:m>
                <a:r>
                  <a:rPr lang="zh-CN" altLang="en-US" dirty="0"/>
                  <a:t>现</a:t>
                </a:r>
                <a14:m>
                  <m:oMath xmlns:m="http://schemas.openxmlformats.org/officeDocument/2006/math">
                    <m:r>
                      <a:rPr lang="zh-CN" altLang="en-US" i="1" dirty="0">
                        <a:latin typeface="Cambria Math" panose="02040503050406030204" pitchFamily="18" charset="0"/>
                      </a:rPr>
                      <m:t>可</m:t>
                    </m:r>
                    <m:r>
                      <a:rPr lang="zh-CN" altLang="en-US" i="1" dirty="0" smtClean="0">
                        <a:latin typeface="Cambria Math" panose="02040503050406030204" pitchFamily="18" charset="0"/>
                      </a:rPr>
                      <m:t>支配</m:t>
                    </m:r>
                    <m:r>
                      <a:rPr lang="zh-CN" altLang="en-US" i="1" dirty="0">
                        <a:latin typeface="Cambria Math" panose="02040503050406030204" pitchFamily="18" charset="0"/>
                      </a:rPr>
                      <m:t>现金流</m:t>
                    </m:r>
                    <m:r>
                      <a:rPr lang="en-US" altLang="zh-CN" i="1" dirty="0" smtClean="0">
                        <a:latin typeface="Cambria Math" panose="02040503050406030204" pitchFamily="18" charset="0"/>
                      </a:rPr>
                      <m:t>=</m:t>
                    </m:r>
                    <m:r>
                      <a:rPr lang="zh-CN" altLang="en-US" i="1" dirty="0">
                        <a:latin typeface="Cambria Math" panose="02040503050406030204" pitchFamily="18" charset="0"/>
                      </a:rPr>
                      <m:t>经营现金流</m:t>
                    </m:r>
                    <m:r>
                      <a:rPr lang="en-US" altLang="zh-CN" i="1" dirty="0" smtClean="0">
                        <a:latin typeface="Cambria Math" panose="02040503050406030204" pitchFamily="18" charset="0"/>
                      </a:rPr>
                      <m:t>+</m:t>
                    </m:r>
                    <m:r>
                      <a:rPr lang="zh-CN" altLang="en-US" i="1" dirty="0">
                        <a:latin typeface="Cambria Math" panose="02040503050406030204" pitchFamily="18" charset="0"/>
                      </a:rPr>
                      <m:t>不可支配的资本支出</m:t>
                    </m:r>
                    <m:r>
                      <a:rPr lang="en-US" altLang="zh-CN" i="1" dirty="0" smtClean="0">
                        <a:latin typeface="Cambria Math" panose="02040503050406030204" pitchFamily="18" charset="0"/>
                      </a:rPr>
                      <m:t>+</m:t>
                    </m:r>
                    <m:r>
                      <a:rPr lang="zh-CN" altLang="en-US" i="1" dirty="0">
                        <a:latin typeface="Cambria Math" panose="02040503050406030204" pitchFamily="18" charset="0"/>
                      </a:rPr>
                      <m:t>不可支配的</m:t>
                    </m:r>
                    <m:r>
                      <a:rPr lang="zh-CN" altLang="en-US" i="1" dirty="0" smtClean="0">
                        <a:latin typeface="Cambria Math" panose="02040503050406030204" pitchFamily="18" charset="0"/>
                      </a:rPr>
                      <m:t>运营</m:t>
                    </m:r>
                    <m:r>
                      <a:rPr lang="zh-CN" altLang="en-US" i="1" dirty="0">
                        <a:latin typeface="Cambria Math" panose="02040503050406030204" pitchFamily="18" charset="0"/>
                      </a:rPr>
                      <m:t>资本支出</m:t>
                    </m:r>
                  </m:oMath>
                </a14:m>
                <a:endParaRPr lang="en-US" altLang="zh-CN" dirty="0"/>
              </a:p>
              <a:p>
                <a:pPr lvl="1"/>
                <a:r>
                  <a:rPr lang="zh-CN" altLang="en-US" dirty="0"/>
                  <a:t>经营现金流</a:t>
                </a:r>
                <a:r>
                  <a:rPr lang="en-US" altLang="zh-CN" dirty="0"/>
                  <a:t>=</a:t>
                </a:r>
                <a:r>
                  <a:rPr lang="zh-CN" altLang="en-US" dirty="0"/>
                  <a:t>净收入−非现金支出</a:t>
                </a:r>
                <a:r>
                  <a:rPr lang="en-US" altLang="zh-CN" dirty="0"/>
                  <a:t>+</a:t>
                </a:r>
                <a:r>
                  <a:rPr lang="zh-CN" altLang="en-US" dirty="0"/>
                  <a:t>利息支出</a:t>
                </a:r>
                <a:r>
                  <a:rPr lang="en-US" altLang="zh-CN" dirty="0"/>
                  <a:t>+</a:t>
                </a:r>
                <a:r>
                  <a:rPr lang="zh-CN" altLang="en-US" dirty="0"/>
                  <a:t>递延税费−非现金收入</a:t>
                </a:r>
                <a:endParaRPr lang="en-US" altLang="zh-CN" dirty="0"/>
              </a:p>
              <a:p>
                <a:pPr lvl="1"/>
                <a:r>
                  <a:rPr lang="zh-CN" altLang="en-US" dirty="0"/>
                  <a:t>经营净现金流</a:t>
                </a:r>
                <a:r>
                  <a:rPr lang="en-US" altLang="zh-CN" dirty="0"/>
                  <a:t>/</a:t>
                </a:r>
                <a:r>
                  <a:rPr lang="zh-CN" altLang="en-US" dirty="0"/>
                  <a:t>主营业务收入</a:t>
                </a:r>
                <a:endParaRPr lang="en-US" altLang="zh-CN" dirty="0"/>
              </a:p>
              <a:p>
                <a:pPr lvl="1"/>
                <a:r>
                  <a:rPr lang="zh-CN" altLang="en-US" dirty="0"/>
                  <a:t>营业收入中的现金占比</a:t>
                </a:r>
                <a:endParaRPr lang="en-US" altLang="zh-CN" dirty="0"/>
              </a:p>
              <a:p>
                <a:pPr lvl="1"/>
                <a:r>
                  <a:rPr lang="zh-CN" altLang="en-US" dirty="0"/>
                  <a:t>经营活动现金流</a:t>
                </a:r>
                <a:r>
                  <a:rPr lang="en-US" altLang="zh-CN" dirty="0"/>
                  <a:t>/</a:t>
                </a:r>
                <a:r>
                  <a:rPr lang="zh-CN" altLang="en-US" dirty="0"/>
                  <a:t>带息债务</a:t>
                </a:r>
                <a:endParaRPr lang="en-US" altLang="zh-CN" dirty="0"/>
              </a:p>
              <a:p>
                <a:pPr lvl="1"/>
                <a14:m>
                  <m:oMath xmlns:m="http://schemas.openxmlformats.org/officeDocument/2006/math">
                    <m:r>
                      <a:rPr lang="zh-CN" altLang="en-US" i="1" dirty="0">
                        <a:latin typeface="Cambria Math" panose="02040503050406030204" pitchFamily="18" charset="0"/>
                      </a:rPr>
                      <m:t>财务</m:t>
                    </m:r>
                    <m:r>
                      <a:rPr lang="zh-CN" altLang="en-US" i="1" dirty="0" smtClean="0">
                        <a:latin typeface="Cambria Math" panose="02040503050406030204" pitchFamily="18" charset="0"/>
                      </a:rPr>
                      <m:t>弹性</m:t>
                    </m:r>
                    <m:r>
                      <a:rPr lang="en-US" altLang="zh-CN" i="1" dirty="0">
                        <a:latin typeface="Cambria Math" panose="02040503050406030204" pitchFamily="18" charset="0"/>
                      </a:rPr>
                      <m:t>=</m:t>
                    </m:r>
                    <m:f>
                      <m:fPr>
                        <m:ctrlPr>
                          <a:rPr lang="en-US" altLang="zh-CN" i="1" dirty="0" smtClean="0">
                            <a:latin typeface="Cambria Math" panose="02040503050406030204" pitchFamily="18" charset="0"/>
                          </a:rPr>
                        </m:ctrlPr>
                      </m:fPr>
                      <m:num>
                        <m:r>
                          <a:rPr lang="zh-CN" altLang="en-US" i="1" dirty="0">
                            <a:latin typeface="Cambria Math" panose="02040503050406030204" pitchFamily="18" charset="0"/>
                          </a:rPr>
                          <m:t>经营</m:t>
                        </m:r>
                        <m:r>
                          <a:rPr lang="zh-CN" altLang="en-US" i="1" dirty="0" smtClean="0">
                            <a:latin typeface="Cambria Math" panose="02040503050406030204" pitchFamily="18" charset="0"/>
                          </a:rPr>
                          <m:t>现金流</m:t>
                        </m:r>
                      </m:num>
                      <m:den>
                        <m:r>
                          <a:rPr lang="zh-CN" altLang="en-US" i="1" dirty="0">
                            <a:latin typeface="Cambria Math" panose="02040503050406030204" pitchFamily="18" charset="0"/>
                          </a:rPr>
                          <m:t>资本支出</m:t>
                        </m:r>
                      </m:den>
                    </m:f>
                  </m:oMath>
                </a14:m>
                <a:endParaRPr lang="en-US" altLang="zh-CN" dirty="0"/>
              </a:p>
              <a:p>
                <a:pPr lvl="1"/>
                <a:endParaRPr lang="en-US" altLang="zh-CN" dirty="0"/>
              </a:p>
            </p:txBody>
          </p:sp>
        </mc:Choice>
        <mc:Fallback xmlns="">
          <p:sp>
            <p:nvSpPr>
              <p:cNvPr id="3" name="内容占位符 2">
                <a:extLst>
                  <a:ext uri="{FF2B5EF4-FFF2-40B4-BE49-F238E27FC236}">
                    <a16:creationId xmlns:a16="http://schemas.microsoft.com/office/drawing/2014/main" id="{A98BCBA2-0C19-488F-981A-C7C3D99E1EB3}"/>
                  </a:ext>
                </a:extLst>
              </p:cNvPr>
              <p:cNvSpPr>
                <a:spLocks noGrp="1" noRot="1" noChangeAspect="1" noMove="1" noResize="1" noEditPoints="1" noAdjustHandles="1" noChangeArrowheads="1" noChangeShapeType="1" noTextEdit="1"/>
              </p:cNvSpPr>
              <p:nvPr>
                <p:ph idx="1"/>
              </p:nvPr>
            </p:nvSpPr>
            <p:spPr>
              <a:blipFill>
                <a:blip r:embed="rId2"/>
                <a:stretch>
                  <a:fillRect l="-4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974759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C4DCB2-66EC-442D-A045-49B2850B2FCA}"/>
              </a:ext>
            </a:extLst>
          </p:cNvPr>
          <p:cNvSpPr>
            <a:spLocks noGrp="1"/>
          </p:cNvSpPr>
          <p:nvPr>
            <p:ph type="title"/>
          </p:nvPr>
        </p:nvSpPr>
        <p:spPr/>
        <p:txBody>
          <a:bodyPr/>
          <a:lstStyle/>
          <a:p>
            <a:r>
              <a:rPr lang="zh-CN" altLang="en-US" dirty="0"/>
              <a:t> 偿债指标</a:t>
            </a:r>
            <a:r>
              <a:rPr lang="zh-CN" altLang="en-US"/>
              <a:t>等级示例</a:t>
            </a:r>
            <a:r>
              <a:rPr lang="zh-CN" altLang="en-US" sz="2800"/>
              <a:t>（标</a:t>
            </a:r>
            <a:r>
              <a:rPr lang="zh-CN" altLang="en-US" sz="2800" dirty="0"/>
              <a:t>普）</a:t>
            </a:r>
            <a:endParaRPr lang="zh-CN" altLang="en-US" dirty="0"/>
          </a:p>
        </p:txBody>
      </p:sp>
      <p:graphicFrame>
        <p:nvGraphicFramePr>
          <p:cNvPr id="5" name="内容占位符 4">
            <a:extLst>
              <a:ext uri="{FF2B5EF4-FFF2-40B4-BE49-F238E27FC236}">
                <a16:creationId xmlns:a16="http://schemas.microsoft.com/office/drawing/2014/main" id="{82F12530-67AF-4DBD-92E7-4AF2A4942DEB}"/>
              </a:ext>
            </a:extLst>
          </p:cNvPr>
          <p:cNvGraphicFramePr>
            <a:graphicFrameLocks noGrp="1"/>
          </p:cNvGraphicFramePr>
          <p:nvPr>
            <p:ph idx="1"/>
            <p:extLst>
              <p:ext uri="{D42A27DB-BD31-4B8C-83A1-F6EECF244321}">
                <p14:modId xmlns:p14="http://schemas.microsoft.com/office/powerpoint/2010/main" val="679188525"/>
              </p:ext>
            </p:extLst>
          </p:nvPr>
        </p:nvGraphicFramePr>
        <p:xfrm>
          <a:off x="273050" y="1674812"/>
          <a:ext cx="16790902" cy="6035024"/>
        </p:xfrm>
        <a:graphic>
          <a:graphicData uri="http://schemas.openxmlformats.org/drawingml/2006/table">
            <a:tbl>
              <a:tblPr firstRow="1" bandRow="1">
                <a:tableStyleId>{6E25E649-3F16-4E02-A733-19D2CDBF48F0}</a:tableStyleId>
              </a:tblPr>
              <a:tblGrid>
                <a:gridCol w="5271102">
                  <a:extLst>
                    <a:ext uri="{9D8B030D-6E8A-4147-A177-3AD203B41FA5}">
                      <a16:colId xmlns:a16="http://schemas.microsoft.com/office/drawing/2014/main" val="4203102085"/>
                    </a:ext>
                  </a:extLst>
                </a:gridCol>
                <a:gridCol w="2879950">
                  <a:extLst>
                    <a:ext uri="{9D8B030D-6E8A-4147-A177-3AD203B41FA5}">
                      <a16:colId xmlns:a16="http://schemas.microsoft.com/office/drawing/2014/main" val="2060207610"/>
                    </a:ext>
                  </a:extLst>
                </a:gridCol>
                <a:gridCol w="2879950">
                  <a:extLst>
                    <a:ext uri="{9D8B030D-6E8A-4147-A177-3AD203B41FA5}">
                      <a16:colId xmlns:a16="http://schemas.microsoft.com/office/drawing/2014/main" val="4199133150"/>
                    </a:ext>
                  </a:extLst>
                </a:gridCol>
                <a:gridCol w="2879950">
                  <a:extLst>
                    <a:ext uri="{9D8B030D-6E8A-4147-A177-3AD203B41FA5}">
                      <a16:colId xmlns:a16="http://schemas.microsoft.com/office/drawing/2014/main" val="3698983014"/>
                    </a:ext>
                  </a:extLst>
                </a:gridCol>
                <a:gridCol w="2879950">
                  <a:extLst>
                    <a:ext uri="{9D8B030D-6E8A-4147-A177-3AD203B41FA5}">
                      <a16:colId xmlns:a16="http://schemas.microsoft.com/office/drawing/2014/main" val="1402632614"/>
                    </a:ext>
                  </a:extLst>
                </a:gridCol>
              </a:tblGrid>
              <a:tr h="754378">
                <a:tc>
                  <a:txBody>
                    <a:bodyPr/>
                    <a:lstStyle/>
                    <a:p>
                      <a:pPr algn="ctr"/>
                      <a:r>
                        <a:rPr lang="zh-CN" altLang="en-US" sz="2000" dirty="0"/>
                        <a:t>财务指标</a:t>
                      </a:r>
                    </a:p>
                  </a:txBody>
                  <a:tcPr marL="187580" marR="187580" anchor="ctr"/>
                </a:tc>
                <a:tc>
                  <a:txBody>
                    <a:bodyPr/>
                    <a:lstStyle/>
                    <a:p>
                      <a:pPr algn="ctr"/>
                      <a:r>
                        <a:rPr lang="en-US" altLang="zh-CN" sz="2000" dirty="0"/>
                        <a:t>AAA</a:t>
                      </a:r>
                      <a:endParaRPr lang="zh-CN" altLang="en-US" sz="2000" dirty="0"/>
                    </a:p>
                  </a:txBody>
                  <a:tcPr marL="187580" marR="187580" anchor="ctr"/>
                </a:tc>
                <a:tc>
                  <a:txBody>
                    <a:bodyPr/>
                    <a:lstStyle/>
                    <a:p>
                      <a:pPr algn="ctr"/>
                      <a:r>
                        <a:rPr lang="en-US" altLang="zh-CN" sz="2000" dirty="0"/>
                        <a:t>AA</a:t>
                      </a:r>
                      <a:endParaRPr lang="zh-CN" altLang="en-US" sz="2000" dirty="0"/>
                    </a:p>
                  </a:txBody>
                  <a:tcPr marL="187580" marR="187580" anchor="ctr"/>
                </a:tc>
                <a:tc>
                  <a:txBody>
                    <a:bodyPr/>
                    <a:lstStyle/>
                    <a:p>
                      <a:pPr algn="ctr"/>
                      <a:r>
                        <a:rPr lang="en-US" altLang="zh-CN" sz="2000" dirty="0"/>
                        <a:t>A</a:t>
                      </a:r>
                      <a:endParaRPr lang="zh-CN" altLang="en-US" sz="2000" dirty="0"/>
                    </a:p>
                  </a:txBody>
                  <a:tcPr marL="187580" marR="187580" anchor="ctr"/>
                </a:tc>
                <a:tc>
                  <a:txBody>
                    <a:bodyPr/>
                    <a:lstStyle/>
                    <a:p>
                      <a:pPr algn="ctr"/>
                      <a:r>
                        <a:rPr lang="en-US" altLang="zh-CN" sz="2000" dirty="0"/>
                        <a:t>BBB</a:t>
                      </a:r>
                      <a:r>
                        <a:rPr lang="zh-CN" altLang="en-US" sz="2000" dirty="0"/>
                        <a:t>及以下</a:t>
                      </a:r>
                    </a:p>
                  </a:txBody>
                  <a:tcPr marL="187580" marR="187580" anchor="ctr"/>
                </a:tc>
                <a:extLst>
                  <a:ext uri="{0D108BD9-81ED-4DB2-BD59-A6C34878D82A}">
                    <a16:rowId xmlns:a16="http://schemas.microsoft.com/office/drawing/2014/main" val="1015381042"/>
                  </a:ext>
                </a:extLst>
              </a:tr>
              <a:tr h="754378">
                <a:tc>
                  <a:txBody>
                    <a:bodyPr/>
                    <a:lstStyle/>
                    <a:p>
                      <a:pPr algn="ctr"/>
                      <a:r>
                        <a:rPr lang="en-US" altLang="zh-CN" sz="2000" dirty="0"/>
                        <a:t>EBIT</a:t>
                      </a:r>
                      <a:r>
                        <a:rPr lang="zh-CN" altLang="en-US" sz="2000" dirty="0"/>
                        <a:t>利息保障倍数</a:t>
                      </a:r>
                    </a:p>
                  </a:txBody>
                  <a:tcPr marL="187580" marR="187580" anchor="ctr"/>
                </a:tc>
                <a:tc>
                  <a:txBody>
                    <a:bodyPr/>
                    <a:lstStyle/>
                    <a:p>
                      <a:pPr algn="ctr"/>
                      <a:r>
                        <a:rPr lang="en-US" altLang="zh-CN" sz="2000" dirty="0"/>
                        <a:t>23.4</a:t>
                      </a:r>
                      <a:endParaRPr lang="zh-CN" altLang="en-US" sz="2000" dirty="0"/>
                    </a:p>
                  </a:txBody>
                  <a:tcPr marL="187580" marR="187580" anchor="ctr"/>
                </a:tc>
                <a:tc>
                  <a:txBody>
                    <a:bodyPr/>
                    <a:lstStyle/>
                    <a:p>
                      <a:pPr algn="ctr"/>
                      <a:r>
                        <a:rPr lang="en-US" altLang="zh-CN" sz="2000" dirty="0"/>
                        <a:t>13.3</a:t>
                      </a:r>
                      <a:endParaRPr lang="zh-CN" altLang="en-US" sz="2000" dirty="0"/>
                    </a:p>
                  </a:txBody>
                  <a:tcPr marL="187580" marR="187580" anchor="ctr"/>
                </a:tc>
                <a:tc>
                  <a:txBody>
                    <a:bodyPr/>
                    <a:lstStyle/>
                    <a:p>
                      <a:pPr algn="ctr"/>
                      <a:r>
                        <a:rPr lang="en-US" altLang="zh-CN" sz="2000" dirty="0"/>
                        <a:t>6.3</a:t>
                      </a:r>
                      <a:endParaRPr lang="zh-CN" altLang="en-US" sz="2000" dirty="0"/>
                    </a:p>
                  </a:txBody>
                  <a:tcPr marL="187580" marR="187580" anchor="ctr"/>
                </a:tc>
                <a:tc>
                  <a:txBody>
                    <a:bodyPr/>
                    <a:lstStyle/>
                    <a:p>
                      <a:pPr algn="ctr"/>
                      <a:r>
                        <a:rPr lang="en-US" altLang="zh-CN" sz="2000" dirty="0"/>
                        <a:t>3.9</a:t>
                      </a:r>
                      <a:endParaRPr lang="zh-CN" altLang="en-US" sz="2000" dirty="0"/>
                    </a:p>
                  </a:txBody>
                  <a:tcPr marL="187580" marR="187580" anchor="ctr"/>
                </a:tc>
                <a:extLst>
                  <a:ext uri="{0D108BD9-81ED-4DB2-BD59-A6C34878D82A}">
                    <a16:rowId xmlns:a16="http://schemas.microsoft.com/office/drawing/2014/main" val="263578440"/>
                  </a:ext>
                </a:extLst>
              </a:tr>
              <a:tr h="754378">
                <a:tc>
                  <a:txBody>
                    <a:bodyPr/>
                    <a:lstStyle/>
                    <a:p>
                      <a:pPr algn="ctr"/>
                      <a:r>
                        <a:rPr lang="en-US" altLang="zh-CN" sz="2000" dirty="0"/>
                        <a:t>EBITDA</a:t>
                      </a:r>
                      <a:r>
                        <a:rPr lang="zh-CN" altLang="en-US" sz="2000" dirty="0"/>
                        <a:t>利息保障倍数</a:t>
                      </a:r>
                    </a:p>
                  </a:txBody>
                  <a:tcPr marL="187580" marR="187580" anchor="ctr"/>
                </a:tc>
                <a:tc>
                  <a:txBody>
                    <a:bodyPr/>
                    <a:lstStyle/>
                    <a:p>
                      <a:pPr algn="ctr"/>
                      <a:r>
                        <a:rPr lang="en-US" altLang="zh-CN" sz="2000" dirty="0"/>
                        <a:t>25.3</a:t>
                      </a:r>
                      <a:endParaRPr lang="zh-CN" altLang="en-US" sz="2000" dirty="0"/>
                    </a:p>
                  </a:txBody>
                  <a:tcPr marL="187580" marR="187580" anchor="ctr"/>
                </a:tc>
                <a:tc>
                  <a:txBody>
                    <a:bodyPr/>
                    <a:lstStyle/>
                    <a:p>
                      <a:pPr algn="ctr"/>
                      <a:r>
                        <a:rPr lang="en-US" altLang="zh-CN" sz="2000" dirty="0"/>
                        <a:t>16.9</a:t>
                      </a:r>
                      <a:endParaRPr lang="zh-CN" altLang="en-US" sz="2000" dirty="0"/>
                    </a:p>
                  </a:txBody>
                  <a:tcPr marL="187580" marR="187580" anchor="ctr"/>
                </a:tc>
                <a:tc>
                  <a:txBody>
                    <a:bodyPr/>
                    <a:lstStyle/>
                    <a:p>
                      <a:pPr algn="ctr"/>
                      <a:r>
                        <a:rPr lang="en-US" altLang="zh-CN" sz="2000" dirty="0"/>
                        <a:t>8.5</a:t>
                      </a:r>
                      <a:endParaRPr lang="zh-CN" altLang="en-US" sz="2000" dirty="0"/>
                    </a:p>
                  </a:txBody>
                  <a:tcPr marL="187580" marR="187580" anchor="ctr"/>
                </a:tc>
                <a:tc>
                  <a:txBody>
                    <a:bodyPr/>
                    <a:lstStyle/>
                    <a:p>
                      <a:pPr algn="ctr"/>
                      <a:r>
                        <a:rPr lang="en-US" altLang="zh-CN" sz="2000" dirty="0"/>
                        <a:t>5.4</a:t>
                      </a:r>
                      <a:endParaRPr lang="zh-CN" altLang="en-US" sz="2000" dirty="0"/>
                    </a:p>
                  </a:txBody>
                  <a:tcPr marL="187580" marR="187580" anchor="ctr"/>
                </a:tc>
                <a:extLst>
                  <a:ext uri="{0D108BD9-81ED-4DB2-BD59-A6C34878D82A}">
                    <a16:rowId xmlns:a16="http://schemas.microsoft.com/office/drawing/2014/main" val="3861865077"/>
                  </a:ext>
                </a:extLst>
              </a:tr>
              <a:tr h="754378">
                <a:tc>
                  <a:txBody>
                    <a:bodyPr/>
                    <a:lstStyle/>
                    <a:p>
                      <a:pPr algn="ctr"/>
                      <a:r>
                        <a:rPr lang="en-US" altLang="zh-CN" sz="2000" dirty="0"/>
                        <a:t>FFO/</a:t>
                      </a:r>
                      <a:r>
                        <a:rPr lang="zh-CN" altLang="en-US" sz="2000" dirty="0"/>
                        <a:t>总负债</a:t>
                      </a:r>
                      <a:endParaRPr lang="en-US" altLang="zh-CN" sz="2000" dirty="0"/>
                    </a:p>
                  </a:txBody>
                  <a:tcPr marL="187580" marR="187580" anchor="ctr"/>
                </a:tc>
                <a:tc>
                  <a:txBody>
                    <a:bodyPr/>
                    <a:lstStyle/>
                    <a:p>
                      <a:pPr algn="ctr"/>
                      <a:r>
                        <a:rPr lang="en-US" altLang="zh-CN" sz="2000" dirty="0"/>
                        <a:t>214.2</a:t>
                      </a:r>
                      <a:endParaRPr lang="zh-CN" altLang="en-US" sz="2000" dirty="0"/>
                    </a:p>
                  </a:txBody>
                  <a:tcPr marL="187580" marR="187580" anchor="ctr"/>
                </a:tc>
                <a:tc>
                  <a:txBody>
                    <a:bodyPr/>
                    <a:lstStyle/>
                    <a:p>
                      <a:pPr algn="ctr"/>
                      <a:r>
                        <a:rPr lang="en-US" altLang="zh-CN" sz="2000" dirty="0"/>
                        <a:t>65.7</a:t>
                      </a:r>
                      <a:endParaRPr lang="zh-CN" altLang="en-US" sz="2000" dirty="0"/>
                    </a:p>
                  </a:txBody>
                  <a:tcPr marL="187580" marR="187580" anchor="ctr"/>
                </a:tc>
                <a:tc>
                  <a:txBody>
                    <a:bodyPr/>
                    <a:lstStyle/>
                    <a:p>
                      <a:pPr algn="ctr"/>
                      <a:r>
                        <a:rPr lang="en-US" altLang="zh-CN" sz="2000" dirty="0"/>
                        <a:t>42.2</a:t>
                      </a:r>
                      <a:endParaRPr lang="zh-CN" altLang="en-US" sz="2000" dirty="0"/>
                    </a:p>
                  </a:txBody>
                  <a:tcPr marL="187580" marR="187580" anchor="ctr"/>
                </a:tc>
                <a:tc>
                  <a:txBody>
                    <a:bodyPr/>
                    <a:lstStyle/>
                    <a:p>
                      <a:pPr algn="ctr"/>
                      <a:r>
                        <a:rPr lang="en-US" altLang="zh-CN" sz="2000" dirty="0"/>
                        <a:t>30.6</a:t>
                      </a:r>
                      <a:endParaRPr lang="zh-CN" altLang="en-US" sz="2000" dirty="0"/>
                    </a:p>
                  </a:txBody>
                  <a:tcPr marL="187580" marR="187580" anchor="ctr"/>
                </a:tc>
                <a:extLst>
                  <a:ext uri="{0D108BD9-81ED-4DB2-BD59-A6C34878D82A}">
                    <a16:rowId xmlns:a16="http://schemas.microsoft.com/office/drawing/2014/main" val="1837013322"/>
                  </a:ext>
                </a:extLst>
              </a:tr>
              <a:tr h="754378">
                <a:tc>
                  <a:txBody>
                    <a:bodyPr/>
                    <a:lstStyle/>
                    <a:p>
                      <a:pPr algn="ctr"/>
                      <a:r>
                        <a:rPr lang="zh-CN" altLang="en-US" sz="2000" dirty="0"/>
                        <a:t>自由运营现金流</a:t>
                      </a:r>
                      <a:r>
                        <a:rPr lang="en-US" altLang="zh-CN" sz="2000" dirty="0"/>
                        <a:t>/</a:t>
                      </a:r>
                      <a:r>
                        <a:rPr lang="zh-CN" altLang="en-US" sz="2000" dirty="0"/>
                        <a:t>总负债</a:t>
                      </a:r>
                    </a:p>
                  </a:txBody>
                  <a:tcPr marL="187580" marR="187580" anchor="ctr"/>
                </a:tc>
                <a:tc>
                  <a:txBody>
                    <a:bodyPr/>
                    <a:lstStyle/>
                    <a:p>
                      <a:pPr algn="ctr"/>
                      <a:r>
                        <a:rPr lang="en-US" altLang="zh-CN" sz="2000" dirty="0"/>
                        <a:t>156.6</a:t>
                      </a:r>
                      <a:endParaRPr lang="zh-CN" altLang="en-US" sz="2000" dirty="0"/>
                    </a:p>
                  </a:txBody>
                  <a:tcPr marL="187580" marR="187580" anchor="ctr"/>
                </a:tc>
                <a:tc>
                  <a:txBody>
                    <a:bodyPr/>
                    <a:lstStyle/>
                    <a:p>
                      <a:pPr algn="ctr"/>
                      <a:r>
                        <a:rPr lang="en-US" altLang="zh-CN" sz="2000" dirty="0"/>
                        <a:t>33.6</a:t>
                      </a:r>
                      <a:endParaRPr lang="zh-CN" altLang="en-US" sz="2000" dirty="0"/>
                    </a:p>
                  </a:txBody>
                  <a:tcPr marL="187580" marR="187580" anchor="ctr"/>
                </a:tc>
                <a:tc>
                  <a:txBody>
                    <a:bodyPr/>
                    <a:lstStyle/>
                    <a:p>
                      <a:pPr algn="ctr"/>
                      <a:r>
                        <a:rPr lang="en-US" altLang="zh-CN" sz="2000" dirty="0"/>
                        <a:t>23.3</a:t>
                      </a:r>
                      <a:endParaRPr lang="zh-CN" altLang="en-US" sz="2000" dirty="0"/>
                    </a:p>
                  </a:txBody>
                  <a:tcPr marL="187580" marR="187580" anchor="ctr"/>
                </a:tc>
                <a:tc>
                  <a:txBody>
                    <a:bodyPr/>
                    <a:lstStyle/>
                    <a:p>
                      <a:pPr algn="ctr"/>
                      <a:r>
                        <a:rPr lang="en-US" altLang="zh-CN" sz="2000" dirty="0"/>
                        <a:t>12.8</a:t>
                      </a:r>
                      <a:endParaRPr lang="zh-CN" altLang="en-US" sz="2000" dirty="0"/>
                    </a:p>
                  </a:txBody>
                  <a:tcPr marL="187580" marR="187580" anchor="ctr"/>
                </a:tc>
                <a:extLst>
                  <a:ext uri="{0D108BD9-81ED-4DB2-BD59-A6C34878D82A}">
                    <a16:rowId xmlns:a16="http://schemas.microsoft.com/office/drawing/2014/main" val="981799269"/>
                  </a:ext>
                </a:extLst>
              </a:tr>
              <a:tr h="754378">
                <a:tc>
                  <a:txBody>
                    <a:bodyPr/>
                    <a:lstStyle/>
                    <a:p>
                      <a:pPr algn="ctr"/>
                      <a:r>
                        <a:rPr lang="zh-CN" altLang="en-US" sz="2000" dirty="0"/>
                        <a:t>资本回报率</a:t>
                      </a:r>
                    </a:p>
                  </a:txBody>
                  <a:tcPr marL="187580" marR="187580" anchor="ctr"/>
                </a:tc>
                <a:tc>
                  <a:txBody>
                    <a:bodyPr/>
                    <a:lstStyle/>
                    <a:p>
                      <a:pPr algn="ctr"/>
                      <a:r>
                        <a:rPr lang="en-US" altLang="zh-CN" sz="2000" dirty="0"/>
                        <a:t>35.0</a:t>
                      </a:r>
                      <a:endParaRPr lang="zh-CN" altLang="en-US" sz="2000" dirty="0"/>
                    </a:p>
                  </a:txBody>
                  <a:tcPr marL="187580" marR="187580" anchor="ctr"/>
                </a:tc>
                <a:tc>
                  <a:txBody>
                    <a:bodyPr/>
                    <a:lstStyle/>
                    <a:p>
                      <a:pPr algn="ctr"/>
                      <a:r>
                        <a:rPr lang="en-US" altLang="zh-CN" sz="2000" dirty="0"/>
                        <a:t>26.6</a:t>
                      </a:r>
                      <a:endParaRPr lang="zh-CN" altLang="en-US" sz="2000" dirty="0"/>
                    </a:p>
                  </a:txBody>
                  <a:tcPr marL="187580" marR="187580" anchor="ctr"/>
                </a:tc>
                <a:tc>
                  <a:txBody>
                    <a:bodyPr/>
                    <a:lstStyle/>
                    <a:p>
                      <a:pPr algn="ctr"/>
                      <a:r>
                        <a:rPr lang="en-US" altLang="zh-CN" sz="2000" dirty="0"/>
                        <a:t>18.1</a:t>
                      </a:r>
                      <a:endParaRPr lang="zh-CN" altLang="en-US" sz="2000" dirty="0"/>
                    </a:p>
                  </a:txBody>
                  <a:tcPr marL="187580" marR="187580" anchor="ctr"/>
                </a:tc>
                <a:tc>
                  <a:txBody>
                    <a:bodyPr/>
                    <a:lstStyle/>
                    <a:p>
                      <a:pPr algn="ctr"/>
                      <a:r>
                        <a:rPr lang="en-US" altLang="zh-CN" sz="2000" dirty="0"/>
                        <a:t>13.1</a:t>
                      </a:r>
                      <a:endParaRPr lang="zh-CN" altLang="en-US" sz="2000" dirty="0"/>
                    </a:p>
                  </a:txBody>
                  <a:tcPr marL="187580" marR="187580" anchor="ctr"/>
                </a:tc>
                <a:extLst>
                  <a:ext uri="{0D108BD9-81ED-4DB2-BD59-A6C34878D82A}">
                    <a16:rowId xmlns:a16="http://schemas.microsoft.com/office/drawing/2014/main" val="4002196908"/>
                  </a:ext>
                </a:extLst>
              </a:tr>
              <a:tr h="754378">
                <a:tc>
                  <a:txBody>
                    <a:bodyPr/>
                    <a:lstStyle/>
                    <a:p>
                      <a:pPr algn="ctr"/>
                      <a:r>
                        <a:rPr lang="zh-CN" altLang="en-US" sz="2000" dirty="0"/>
                        <a:t>经营利润</a:t>
                      </a:r>
                      <a:r>
                        <a:rPr lang="en-US" altLang="zh-CN" sz="2000" dirty="0"/>
                        <a:t>/</a:t>
                      </a:r>
                      <a:r>
                        <a:rPr lang="zh-CN" altLang="en-US" sz="2000" dirty="0"/>
                        <a:t>销售收入</a:t>
                      </a:r>
                    </a:p>
                  </a:txBody>
                  <a:tcPr marL="187580" marR="187580" anchor="ctr"/>
                </a:tc>
                <a:tc>
                  <a:txBody>
                    <a:bodyPr/>
                    <a:lstStyle/>
                    <a:p>
                      <a:pPr algn="ctr"/>
                      <a:r>
                        <a:rPr lang="en-US" altLang="zh-CN" sz="2000" dirty="0"/>
                        <a:t>23.4</a:t>
                      </a:r>
                      <a:endParaRPr lang="zh-CN" altLang="en-US" sz="2000" dirty="0"/>
                    </a:p>
                  </a:txBody>
                  <a:tcPr marL="187580" marR="187580" anchor="ctr"/>
                </a:tc>
                <a:tc>
                  <a:txBody>
                    <a:bodyPr/>
                    <a:lstStyle/>
                    <a:p>
                      <a:pPr algn="ctr"/>
                      <a:r>
                        <a:rPr lang="en-US" altLang="zh-CN" sz="2000" dirty="0"/>
                        <a:t>24.0</a:t>
                      </a:r>
                      <a:endParaRPr lang="zh-CN" altLang="en-US" sz="2000" dirty="0"/>
                    </a:p>
                  </a:txBody>
                  <a:tcPr marL="187580" marR="187580" anchor="ctr"/>
                </a:tc>
                <a:tc>
                  <a:txBody>
                    <a:bodyPr/>
                    <a:lstStyle/>
                    <a:p>
                      <a:pPr algn="ctr"/>
                      <a:r>
                        <a:rPr lang="en-US" altLang="zh-CN" sz="2000" dirty="0"/>
                        <a:t>18.1</a:t>
                      </a:r>
                      <a:endParaRPr lang="zh-CN" altLang="en-US" sz="2000" dirty="0"/>
                    </a:p>
                  </a:txBody>
                  <a:tcPr marL="187580" marR="187580" anchor="ctr"/>
                </a:tc>
                <a:tc>
                  <a:txBody>
                    <a:bodyPr/>
                    <a:lstStyle/>
                    <a:p>
                      <a:pPr algn="ctr"/>
                      <a:r>
                        <a:rPr lang="en-US" altLang="zh-CN" sz="2000" dirty="0"/>
                        <a:t>15.5</a:t>
                      </a:r>
                      <a:endParaRPr lang="zh-CN" altLang="en-US" sz="2000" dirty="0"/>
                    </a:p>
                  </a:txBody>
                  <a:tcPr marL="187580" marR="187580" anchor="ctr"/>
                </a:tc>
                <a:extLst>
                  <a:ext uri="{0D108BD9-81ED-4DB2-BD59-A6C34878D82A}">
                    <a16:rowId xmlns:a16="http://schemas.microsoft.com/office/drawing/2014/main" val="3668201151"/>
                  </a:ext>
                </a:extLst>
              </a:tr>
              <a:tr h="754378">
                <a:tc>
                  <a:txBody>
                    <a:bodyPr/>
                    <a:lstStyle/>
                    <a:p>
                      <a:pPr algn="ctr"/>
                      <a:r>
                        <a:rPr lang="zh-CN" altLang="en-US" sz="2000" dirty="0"/>
                        <a:t>总债务</a:t>
                      </a:r>
                      <a:r>
                        <a:rPr lang="en-US" altLang="zh-CN" sz="2000" dirty="0"/>
                        <a:t>/</a:t>
                      </a:r>
                      <a:r>
                        <a:rPr lang="zh-CN" altLang="en-US" sz="2000" dirty="0"/>
                        <a:t>资本</a:t>
                      </a:r>
                    </a:p>
                  </a:txBody>
                  <a:tcPr marL="187580" marR="187580" anchor="ctr"/>
                </a:tc>
                <a:tc>
                  <a:txBody>
                    <a:bodyPr/>
                    <a:lstStyle/>
                    <a:p>
                      <a:pPr algn="ctr"/>
                      <a:r>
                        <a:rPr lang="en-US" altLang="zh-CN" sz="2000" dirty="0"/>
                        <a:t>5.0</a:t>
                      </a:r>
                      <a:endParaRPr lang="zh-CN" altLang="en-US" sz="2000" dirty="0"/>
                    </a:p>
                  </a:txBody>
                  <a:tcPr marL="187580" marR="187580" anchor="ctr"/>
                </a:tc>
                <a:tc>
                  <a:txBody>
                    <a:bodyPr/>
                    <a:lstStyle/>
                    <a:p>
                      <a:pPr algn="ctr"/>
                      <a:r>
                        <a:rPr lang="en-US" altLang="zh-CN" sz="2000" dirty="0"/>
                        <a:t>35.9</a:t>
                      </a:r>
                      <a:endParaRPr lang="zh-CN" altLang="en-US" sz="2000" dirty="0"/>
                    </a:p>
                  </a:txBody>
                  <a:tcPr marL="187580" marR="187580" anchor="ctr"/>
                </a:tc>
                <a:tc>
                  <a:txBody>
                    <a:bodyPr/>
                    <a:lstStyle/>
                    <a:p>
                      <a:pPr algn="ctr"/>
                      <a:r>
                        <a:rPr lang="en-US" altLang="zh-CN" sz="2000" dirty="0"/>
                        <a:t>42.6</a:t>
                      </a:r>
                      <a:endParaRPr lang="zh-CN" altLang="en-US" sz="2000" dirty="0"/>
                    </a:p>
                  </a:txBody>
                  <a:tcPr marL="187580" marR="187580" anchor="ctr"/>
                </a:tc>
                <a:tc>
                  <a:txBody>
                    <a:bodyPr/>
                    <a:lstStyle/>
                    <a:p>
                      <a:pPr algn="ctr"/>
                      <a:r>
                        <a:rPr lang="en-US" altLang="zh-CN" sz="2000" dirty="0"/>
                        <a:t>47.0</a:t>
                      </a:r>
                      <a:endParaRPr lang="zh-CN" altLang="en-US" sz="2000" dirty="0"/>
                    </a:p>
                  </a:txBody>
                  <a:tcPr marL="187580" marR="187580" anchor="ctr"/>
                </a:tc>
                <a:extLst>
                  <a:ext uri="{0D108BD9-81ED-4DB2-BD59-A6C34878D82A}">
                    <a16:rowId xmlns:a16="http://schemas.microsoft.com/office/drawing/2014/main" val="3102991128"/>
                  </a:ext>
                </a:extLst>
              </a:tr>
            </a:tbl>
          </a:graphicData>
        </a:graphic>
      </p:graphicFrame>
    </p:spTree>
    <p:extLst>
      <p:ext uri="{BB962C8B-B14F-4D97-AF65-F5344CB8AC3E}">
        <p14:creationId xmlns:p14="http://schemas.microsoft.com/office/powerpoint/2010/main" val="42413660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C4DCB2-66EC-442D-A045-49B2850B2FCA}"/>
              </a:ext>
            </a:extLst>
          </p:cNvPr>
          <p:cNvSpPr>
            <a:spLocks noGrp="1"/>
          </p:cNvSpPr>
          <p:nvPr>
            <p:ph type="title"/>
          </p:nvPr>
        </p:nvSpPr>
        <p:spPr/>
        <p:txBody>
          <a:bodyPr/>
          <a:lstStyle/>
          <a:p>
            <a:r>
              <a:rPr lang="zh-CN" altLang="en-US" dirty="0"/>
              <a:t>资产负债</a:t>
            </a:r>
          </a:p>
        </p:txBody>
      </p:sp>
      <p:sp>
        <p:nvSpPr>
          <p:cNvPr id="3" name="内容占位符 2">
            <a:extLst>
              <a:ext uri="{FF2B5EF4-FFF2-40B4-BE49-F238E27FC236}">
                <a16:creationId xmlns:a16="http://schemas.microsoft.com/office/drawing/2014/main" id="{398E9CF5-DCB5-44C9-BEE2-457337AA743D}"/>
              </a:ext>
            </a:extLst>
          </p:cNvPr>
          <p:cNvSpPr>
            <a:spLocks noGrp="1"/>
          </p:cNvSpPr>
          <p:nvPr>
            <p:ph idx="1"/>
          </p:nvPr>
        </p:nvSpPr>
        <p:spPr/>
        <p:txBody>
          <a:bodyPr>
            <a:normAutofit/>
          </a:bodyPr>
          <a:lstStyle/>
          <a:p>
            <a:r>
              <a:rPr lang="zh-CN" altLang="en-US" b="1" dirty="0"/>
              <a:t>资产价值</a:t>
            </a:r>
            <a:r>
              <a:rPr lang="zh-CN" altLang="en-US" dirty="0"/>
              <a:t>，评估各类资产所产生的现金流的稳定性和价值量，关注大占比</a:t>
            </a:r>
            <a:r>
              <a:rPr lang="zh-CN" altLang="zh-CN" dirty="0"/>
              <a:t>资产</a:t>
            </a:r>
            <a:endParaRPr lang="en-US" altLang="zh-CN" dirty="0"/>
          </a:p>
          <a:p>
            <a:pPr lvl="1"/>
            <a:r>
              <a:rPr lang="zh-CN" altLang="zh-CN" dirty="0"/>
              <a:t>流动资产</a:t>
            </a:r>
            <a:r>
              <a:rPr lang="zh-CN" altLang="en-US" dirty="0"/>
              <a:t>：</a:t>
            </a:r>
            <a:r>
              <a:rPr lang="zh-CN" altLang="zh-CN" dirty="0"/>
              <a:t>变现能力</a:t>
            </a:r>
            <a:endParaRPr lang="en-US" altLang="zh-CN" dirty="0"/>
          </a:p>
          <a:p>
            <a:pPr lvl="2"/>
            <a:r>
              <a:rPr lang="zh-CN" altLang="zh-CN" dirty="0"/>
              <a:t>存货</a:t>
            </a:r>
            <a:r>
              <a:rPr lang="zh-CN" altLang="en-US" dirty="0"/>
              <a:t>：</a:t>
            </a:r>
            <a:r>
              <a:rPr lang="zh-CN" altLang="zh-CN" dirty="0"/>
              <a:t>存货构成、市场价值和周转率</a:t>
            </a:r>
            <a:endParaRPr lang="en-US" altLang="zh-CN" dirty="0"/>
          </a:p>
          <a:p>
            <a:pPr lvl="2"/>
            <a:r>
              <a:rPr lang="zh-CN" altLang="zh-CN" dirty="0"/>
              <a:t>应收账款</a:t>
            </a:r>
            <a:r>
              <a:rPr lang="zh-CN" altLang="en-US" dirty="0"/>
              <a:t>：</a:t>
            </a:r>
            <a:r>
              <a:rPr lang="zh-CN" altLang="zh-CN" dirty="0"/>
              <a:t>帐龄、周转率，</a:t>
            </a:r>
            <a:r>
              <a:rPr lang="zh-CN" altLang="en-US" dirty="0"/>
              <a:t>高</a:t>
            </a:r>
            <a:r>
              <a:rPr lang="zh-CN" altLang="zh-CN" dirty="0"/>
              <a:t>集中</a:t>
            </a:r>
            <a:r>
              <a:rPr lang="zh-CN" altLang="en-US" dirty="0"/>
              <a:t>度企业</a:t>
            </a:r>
            <a:r>
              <a:rPr lang="zh-CN" altLang="zh-CN" dirty="0"/>
              <a:t>的经营</a:t>
            </a:r>
            <a:r>
              <a:rPr lang="zh-CN" altLang="en-US" dirty="0"/>
              <a:t>状况和</a:t>
            </a:r>
            <a:r>
              <a:rPr lang="zh-CN" altLang="zh-CN" dirty="0"/>
              <a:t>资信</a:t>
            </a:r>
            <a:endParaRPr lang="en-US" altLang="zh-CN" dirty="0"/>
          </a:p>
          <a:p>
            <a:pPr lvl="2"/>
            <a:r>
              <a:rPr lang="zh-CN" altLang="zh-CN" dirty="0"/>
              <a:t>其它应收款</a:t>
            </a:r>
            <a:r>
              <a:rPr lang="zh-CN" altLang="en-US" dirty="0"/>
              <a:t>：</a:t>
            </a:r>
            <a:r>
              <a:rPr lang="zh-CN" altLang="zh-CN" dirty="0"/>
              <a:t>资金往来</a:t>
            </a:r>
            <a:r>
              <a:rPr lang="zh-CN" altLang="en-US" dirty="0"/>
              <a:t>是否正常</a:t>
            </a:r>
            <a:endParaRPr lang="en-US" altLang="zh-CN" dirty="0"/>
          </a:p>
          <a:p>
            <a:pPr lvl="1"/>
            <a:r>
              <a:rPr lang="zh-CN" altLang="zh-CN" dirty="0"/>
              <a:t>非流动资产</a:t>
            </a:r>
            <a:r>
              <a:rPr lang="zh-CN" altLang="en-US" dirty="0"/>
              <a:t>：估值和折旧政策是否合理</a:t>
            </a:r>
            <a:endParaRPr lang="en-US" altLang="zh-CN" dirty="0"/>
          </a:p>
          <a:p>
            <a:pPr lvl="2"/>
            <a:r>
              <a:rPr lang="zh-CN" altLang="en-US" dirty="0"/>
              <a:t>在建工程：</a:t>
            </a:r>
            <a:r>
              <a:rPr lang="zh-CN" altLang="zh-CN" dirty="0"/>
              <a:t>在建工程实际情况，挂账减少折旧</a:t>
            </a:r>
            <a:endParaRPr lang="en-US" altLang="zh-CN" dirty="0"/>
          </a:p>
          <a:p>
            <a:pPr lvl="2"/>
            <a:r>
              <a:rPr lang="zh-CN" altLang="zh-CN" dirty="0"/>
              <a:t>固定资产</a:t>
            </a:r>
            <a:r>
              <a:rPr lang="zh-CN" altLang="en-US" dirty="0"/>
              <a:t>：</a:t>
            </a:r>
            <a:r>
              <a:rPr lang="zh-CN" altLang="zh-CN" dirty="0"/>
              <a:t>折旧政策</a:t>
            </a:r>
            <a:r>
              <a:rPr lang="zh-CN" altLang="en-US" dirty="0"/>
              <a:t>、</a:t>
            </a:r>
            <a:r>
              <a:rPr lang="zh-CN" altLang="zh-CN" dirty="0"/>
              <a:t>账面价值和实际价值</a:t>
            </a:r>
            <a:r>
              <a:rPr lang="zh-CN" altLang="en-US" dirty="0"/>
              <a:t>差异；高度折旧的资产易被低估</a:t>
            </a:r>
            <a:endParaRPr lang="en-US" altLang="zh-CN" dirty="0"/>
          </a:p>
          <a:p>
            <a:pPr lvl="2"/>
            <a:r>
              <a:rPr lang="zh-CN" altLang="zh-CN" dirty="0"/>
              <a:t>无形资产</a:t>
            </a:r>
            <a:r>
              <a:rPr lang="zh-CN" altLang="en-US" dirty="0"/>
              <a:t>：</a:t>
            </a:r>
            <a:r>
              <a:rPr lang="zh-CN" altLang="zh-CN" dirty="0"/>
              <a:t>价值估算合理</a:t>
            </a:r>
            <a:r>
              <a:rPr lang="zh-CN" altLang="en-US" dirty="0"/>
              <a:t>，商誉资产容易被高估</a:t>
            </a:r>
            <a:endParaRPr lang="en-US" altLang="zh-CN" dirty="0"/>
          </a:p>
          <a:p>
            <a:pPr lvl="2"/>
            <a:endParaRPr lang="en-US" altLang="zh-CN" dirty="0"/>
          </a:p>
          <a:p>
            <a:r>
              <a:rPr lang="zh-CN" altLang="en-US" b="1" dirty="0"/>
              <a:t>权益稳定性</a:t>
            </a:r>
            <a:endParaRPr lang="en-US" altLang="zh-CN" dirty="0"/>
          </a:p>
          <a:p>
            <a:pPr lvl="1"/>
            <a:r>
              <a:rPr lang="zh-CN" altLang="en-US" dirty="0"/>
              <a:t>权益增速，所有者权益、资本公积等结构变动，利润分配政策</a:t>
            </a:r>
            <a:endParaRPr lang="en-US" altLang="zh-CN" dirty="0"/>
          </a:p>
        </p:txBody>
      </p:sp>
    </p:spTree>
    <p:extLst>
      <p:ext uri="{BB962C8B-B14F-4D97-AF65-F5344CB8AC3E}">
        <p14:creationId xmlns:p14="http://schemas.microsoft.com/office/powerpoint/2010/main" val="25732988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5F1109-D3E3-47C8-974E-01399FBE37C4}"/>
              </a:ext>
            </a:extLst>
          </p:cNvPr>
          <p:cNvSpPr>
            <a:spLocks noGrp="1"/>
          </p:cNvSpPr>
          <p:nvPr>
            <p:ph type="title"/>
          </p:nvPr>
        </p:nvSpPr>
        <p:spPr/>
        <p:txBody>
          <a:bodyPr/>
          <a:lstStyle/>
          <a:p>
            <a:r>
              <a:rPr lang="zh-CN" altLang="en-US" dirty="0"/>
              <a:t>资产负债</a:t>
            </a:r>
          </a:p>
        </p:txBody>
      </p:sp>
      <p:sp>
        <p:nvSpPr>
          <p:cNvPr id="3" name="内容占位符 2">
            <a:extLst>
              <a:ext uri="{FF2B5EF4-FFF2-40B4-BE49-F238E27FC236}">
                <a16:creationId xmlns:a16="http://schemas.microsoft.com/office/drawing/2014/main" id="{DD389970-BE4A-4302-8488-62EDE31B4A1E}"/>
              </a:ext>
            </a:extLst>
          </p:cNvPr>
          <p:cNvSpPr>
            <a:spLocks noGrp="1"/>
          </p:cNvSpPr>
          <p:nvPr>
            <p:ph idx="1"/>
          </p:nvPr>
        </p:nvSpPr>
        <p:spPr/>
        <p:txBody>
          <a:bodyPr>
            <a:normAutofit/>
          </a:bodyPr>
          <a:lstStyle/>
          <a:p>
            <a:r>
              <a:rPr lang="zh-CN" altLang="en-US" dirty="0"/>
              <a:t>任何确定的偿付期限、固定的利息流、不可延期或取消的强制性支付，都应被视为负债</a:t>
            </a:r>
            <a:endParaRPr lang="en-US" altLang="zh-CN" dirty="0"/>
          </a:p>
          <a:p>
            <a:r>
              <a:rPr lang="zh-CN" altLang="en-US" b="1" dirty="0"/>
              <a:t>表内负债</a:t>
            </a:r>
            <a:r>
              <a:rPr lang="zh-CN" altLang="en-US" dirty="0"/>
              <a:t>，通过分析资产负债表的确认和记账准则，来评估运营管理的激进</a:t>
            </a:r>
            <a:r>
              <a:rPr lang="en-US" altLang="zh-CN" dirty="0"/>
              <a:t>/</a:t>
            </a:r>
            <a:r>
              <a:rPr lang="zh-CN" altLang="en-US" dirty="0"/>
              <a:t>保守程度</a:t>
            </a:r>
            <a:endParaRPr lang="en-US" altLang="zh-CN" dirty="0"/>
          </a:p>
          <a:p>
            <a:pPr lvl="1"/>
            <a:r>
              <a:rPr lang="zh-CN" altLang="en-US" dirty="0"/>
              <a:t>评估债务质量，当前债务水平，债务杠杆和偿债压力</a:t>
            </a:r>
            <a:endParaRPr lang="en-US" altLang="zh-CN" dirty="0"/>
          </a:p>
          <a:p>
            <a:pPr lvl="1"/>
            <a:r>
              <a:rPr lang="zh-CN" altLang="en-US" dirty="0"/>
              <a:t>债务期限结构，演变趋势和可持续性</a:t>
            </a:r>
            <a:endParaRPr lang="en-US" altLang="zh-CN" dirty="0"/>
          </a:p>
          <a:p>
            <a:pPr lvl="1"/>
            <a:endParaRPr lang="en-US" altLang="zh-CN" dirty="0"/>
          </a:p>
          <a:p>
            <a:r>
              <a:rPr lang="zh-CN" altLang="en-US" b="1" dirty="0"/>
              <a:t>表外负债：</a:t>
            </a:r>
            <a:r>
              <a:rPr lang="zh-CN" altLang="en-US" dirty="0"/>
              <a:t>完整全面的识别所有形式的债务，评估主体按时、足额偿付债务的能力</a:t>
            </a:r>
            <a:endParaRPr lang="en-US" altLang="zh-CN" dirty="0"/>
          </a:p>
          <a:p>
            <a:pPr lvl="1"/>
            <a:r>
              <a:rPr lang="zh-CN" altLang="en-US" dirty="0"/>
              <a:t>租赁费、担保、诉讼赔偿、保理或证券化的各种应收账款</a:t>
            </a:r>
            <a:endParaRPr lang="en-US" altLang="zh-CN" dirty="0"/>
          </a:p>
          <a:p>
            <a:pPr lvl="1"/>
            <a:r>
              <a:rPr lang="zh-CN" altLang="en-US" dirty="0"/>
              <a:t>含有赔偿条款的供货合同，承诺支付的采购合同，以及合资公司债务和未合并的子公司债务</a:t>
            </a:r>
            <a:endParaRPr lang="en-US" altLang="zh-CN" dirty="0"/>
          </a:p>
          <a:p>
            <a:pPr lvl="1"/>
            <a:r>
              <a:rPr lang="zh-CN" altLang="en-US" dirty="0"/>
              <a:t>债务融资工具的多样性，从票据、信贷和债券</a:t>
            </a:r>
            <a:r>
              <a:rPr lang="en-US" altLang="zh-CN" dirty="0"/>
              <a:t>--- </a:t>
            </a:r>
            <a:r>
              <a:rPr lang="zh-CN" altLang="en-US" dirty="0"/>
              <a:t>混合债股证券</a:t>
            </a:r>
            <a:r>
              <a:rPr lang="en-US" altLang="zh-CN" dirty="0"/>
              <a:t>--- </a:t>
            </a:r>
            <a:r>
              <a:rPr lang="zh-CN" altLang="en-US"/>
              <a:t>结构化融资（项目</a:t>
            </a:r>
            <a:r>
              <a:rPr lang="zh-CN" altLang="en-US" dirty="0"/>
              <a:t>融资、多资产证券化、应收账款证券化等）</a:t>
            </a:r>
            <a:endParaRPr lang="en-US" altLang="zh-CN" dirty="0"/>
          </a:p>
        </p:txBody>
      </p:sp>
    </p:spTree>
    <p:extLst>
      <p:ext uri="{BB962C8B-B14F-4D97-AF65-F5344CB8AC3E}">
        <p14:creationId xmlns:p14="http://schemas.microsoft.com/office/powerpoint/2010/main" val="12021915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5F1109-D3E3-47C8-974E-01399FBE37C4}"/>
              </a:ext>
            </a:extLst>
          </p:cNvPr>
          <p:cNvSpPr>
            <a:spLocks noGrp="1"/>
          </p:cNvSpPr>
          <p:nvPr>
            <p:ph type="title"/>
          </p:nvPr>
        </p:nvSpPr>
        <p:spPr/>
        <p:txBody>
          <a:bodyPr/>
          <a:lstStyle/>
          <a:p>
            <a:r>
              <a:rPr lang="zh-CN" altLang="en-US" dirty="0"/>
              <a:t>资产负债</a:t>
            </a:r>
          </a:p>
        </p:txBody>
      </p:sp>
      <p:sp>
        <p:nvSpPr>
          <p:cNvPr id="3" name="内容占位符 2">
            <a:extLst>
              <a:ext uri="{FF2B5EF4-FFF2-40B4-BE49-F238E27FC236}">
                <a16:creationId xmlns:a16="http://schemas.microsoft.com/office/drawing/2014/main" id="{DD389970-BE4A-4302-8488-62EDE31B4A1E}"/>
              </a:ext>
            </a:extLst>
          </p:cNvPr>
          <p:cNvSpPr>
            <a:spLocks noGrp="1"/>
          </p:cNvSpPr>
          <p:nvPr>
            <p:ph idx="1"/>
          </p:nvPr>
        </p:nvSpPr>
        <p:spPr/>
        <p:txBody>
          <a:bodyPr>
            <a:normAutofit/>
          </a:bodyPr>
          <a:lstStyle/>
          <a:p>
            <a:r>
              <a:rPr lang="zh-CN" altLang="en-US" b="1" dirty="0"/>
              <a:t>资产负债率</a:t>
            </a:r>
            <a:r>
              <a:rPr lang="zh-CN" altLang="en-US" dirty="0"/>
              <a:t>：企业债务杠杆比率</a:t>
            </a:r>
            <a:endParaRPr lang="en-US" altLang="zh-CN" dirty="0"/>
          </a:p>
          <a:p>
            <a:pPr lvl="1"/>
            <a:r>
              <a:rPr lang="zh-CN" altLang="en-US" dirty="0"/>
              <a:t>清算时，债权人利益的受保护程度</a:t>
            </a:r>
            <a:endParaRPr lang="en-US" altLang="zh-CN" dirty="0"/>
          </a:p>
          <a:p>
            <a:pPr lvl="1"/>
            <a:r>
              <a:rPr lang="zh-CN" altLang="en-US" dirty="0"/>
              <a:t>负债的口径分为表内负债和表外负债，所有者权益可使用账面或市值</a:t>
            </a:r>
            <a:endParaRPr lang="en-US" altLang="zh-CN" dirty="0"/>
          </a:p>
          <a:p>
            <a:pPr lvl="1"/>
            <a:r>
              <a:rPr lang="zh-CN" altLang="en-US" dirty="0"/>
              <a:t>如，表内负债 </a:t>
            </a:r>
            <a:r>
              <a:rPr lang="en-US" altLang="zh-CN" dirty="0"/>
              <a:t>/【</a:t>
            </a:r>
            <a:r>
              <a:rPr lang="zh-CN" altLang="en-US" dirty="0"/>
              <a:t>表内负债</a:t>
            </a:r>
            <a:r>
              <a:rPr lang="en-US" altLang="zh-CN" dirty="0"/>
              <a:t>+</a:t>
            </a:r>
            <a:r>
              <a:rPr lang="zh-CN" altLang="en-US" dirty="0"/>
              <a:t>账面所有者权益</a:t>
            </a:r>
            <a:r>
              <a:rPr lang="en-US" altLang="zh-CN" dirty="0"/>
              <a:t>】</a:t>
            </a:r>
            <a:r>
              <a:rPr lang="zh-CN" altLang="en-US" dirty="0"/>
              <a:t>或</a:t>
            </a:r>
            <a:r>
              <a:rPr lang="en-US" altLang="zh-CN" dirty="0"/>
              <a:t>【</a:t>
            </a:r>
            <a:r>
              <a:rPr lang="zh-CN" altLang="en-US" dirty="0"/>
              <a:t>表内负债</a:t>
            </a:r>
            <a:r>
              <a:rPr lang="en-US" altLang="zh-CN" dirty="0"/>
              <a:t>+</a:t>
            </a:r>
            <a:r>
              <a:rPr lang="zh-CN" altLang="en-US" dirty="0"/>
              <a:t>表外负债</a:t>
            </a:r>
            <a:r>
              <a:rPr lang="en-US" altLang="zh-CN" dirty="0"/>
              <a:t>】/【</a:t>
            </a:r>
            <a:r>
              <a:rPr lang="zh-CN" altLang="en-US" dirty="0"/>
              <a:t>表内负债</a:t>
            </a:r>
            <a:r>
              <a:rPr lang="en-US" altLang="zh-CN" dirty="0"/>
              <a:t>+</a:t>
            </a:r>
            <a:r>
              <a:rPr lang="zh-CN" altLang="en-US" dirty="0"/>
              <a:t>表外负债</a:t>
            </a:r>
            <a:r>
              <a:rPr lang="en-US" altLang="zh-CN" dirty="0"/>
              <a:t>+</a:t>
            </a:r>
            <a:r>
              <a:rPr lang="zh-CN" altLang="en-US" dirty="0"/>
              <a:t>账面所有者权益</a:t>
            </a:r>
            <a:r>
              <a:rPr lang="en-US" altLang="zh-CN" dirty="0"/>
              <a:t>】</a:t>
            </a:r>
          </a:p>
          <a:p>
            <a:endParaRPr lang="en-US" altLang="zh-CN" dirty="0"/>
          </a:p>
          <a:p>
            <a:r>
              <a:rPr lang="zh-CN" altLang="en-US" b="1" dirty="0"/>
              <a:t>债务测试</a:t>
            </a:r>
            <a:r>
              <a:rPr lang="zh-CN" altLang="en-US" dirty="0"/>
              <a:t>：测试资产负债的承压能力</a:t>
            </a:r>
            <a:endParaRPr lang="en-US" altLang="zh-CN" dirty="0"/>
          </a:p>
          <a:p>
            <a:pPr lvl="1"/>
            <a:r>
              <a:rPr lang="zh-CN" altLang="en-US" dirty="0"/>
              <a:t>可维持：维持最低的利息保障倍数</a:t>
            </a:r>
            <a:endParaRPr lang="en-US" altLang="zh-CN" dirty="0"/>
          </a:p>
          <a:p>
            <a:pPr lvl="1"/>
            <a:r>
              <a:rPr lang="zh-CN" altLang="en-US" dirty="0"/>
              <a:t>债务压力：若利息保障倍数通过了可维持测试，则不会发生新债务</a:t>
            </a:r>
            <a:endParaRPr lang="en-US" altLang="zh-CN" dirty="0"/>
          </a:p>
          <a:p>
            <a:pPr lvl="1"/>
            <a:r>
              <a:rPr lang="zh-CN" altLang="en-US" dirty="0"/>
              <a:t>现金流：维持最低现金流水平</a:t>
            </a:r>
            <a:endParaRPr lang="en-US" altLang="zh-CN" dirty="0"/>
          </a:p>
          <a:p>
            <a:pPr lvl="1"/>
            <a:r>
              <a:rPr lang="zh-CN" altLang="en-US" dirty="0"/>
              <a:t>运营资本：维持最低运营资本水平</a:t>
            </a:r>
            <a:endParaRPr lang="en-US" altLang="zh-CN" dirty="0"/>
          </a:p>
          <a:p>
            <a:pPr lvl="1"/>
            <a:r>
              <a:rPr lang="zh-CN" altLang="en-US" dirty="0"/>
              <a:t>审慎管理：限制现金分红和股票回购等</a:t>
            </a:r>
          </a:p>
        </p:txBody>
      </p:sp>
    </p:spTree>
    <p:extLst>
      <p:ext uri="{BB962C8B-B14F-4D97-AF65-F5344CB8AC3E}">
        <p14:creationId xmlns:p14="http://schemas.microsoft.com/office/powerpoint/2010/main" val="5201851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796345-4F95-4AC0-B0E0-FDBA8821A491}"/>
              </a:ext>
            </a:extLst>
          </p:cNvPr>
          <p:cNvSpPr>
            <a:spLocks noGrp="1"/>
          </p:cNvSpPr>
          <p:nvPr>
            <p:ph type="title"/>
          </p:nvPr>
        </p:nvSpPr>
        <p:spPr/>
        <p:txBody>
          <a:bodyPr>
            <a:normAutofit/>
          </a:bodyPr>
          <a:lstStyle/>
          <a:p>
            <a:r>
              <a:rPr lang="zh-CN" altLang="en-US" dirty="0"/>
              <a:t>营运能力</a:t>
            </a:r>
          </a:p>
        </p:txBody>
      </p:sp>
      <p:sp>
        <p:nvSpPr>
          <p:cNvPr id="3" name="内容占位符 2">
            <a:extLst>
              <a:ext uri="{FF2B5EF4-FFF2-40B4-BE49-F238E27FC236}">
                <a16:creationId xmlns:a16="http://schemas.microsoft.com/office/drawing/2014/main" id="{AEE51A06-E26D-4FD0-8F7A-D9FCBC888596}"/>
              </a:ext>
            </a:extLst>
          </p:cNvPr>
          <p:cNvSpPr>
            <a:spLocks noGrp="1"/>
          </p:cNvSpPr>
          <p:nvPr>
            <p:ph idx="1"/>
          </p:nvPr>
        </p:nvSpPr>
        <p:spPr/>
        <p:txBody>
          <a:bodyPr/>
          <a:lstStyle/>
          <a:p>
            <a:r>
              <a:rPr lang="zh-CN" altLang="en-US" dirty="0"/>
              <a:t>反应企业各项主要投入向销售、利润的转化效率</a:t>
            </a:r>
            <a:endParaRPr lang="en-US" altLang="zh-CN" dirty="0"/>
          </a:p>
          <a:p>
            <a:pPr lvl="1"/>
            <a:endParaRPr lang="en-US" altLang="zh-CN" dirty="0"/>
          </a:p>
          <a:p>
            <a:pPr lvl="1"/>
            <a:r>
              <a:rPr lang="zh-CN" altLang="en-US" dirty="0"/>
              <a:t>总资产周转率：企业整体资产运用效率</a:t>
            </a:r>
            <a:endParaRPr lang="en-US" altLang="zh-CN" dirty="0"/>
          </a:p>
          <a:p>
            <a:pPr lvl="1"/>
            <a:r>
              <a:rPr lang="zh-CN" altLang="en-US" dirty="0"/>
              <a:t>流动资产周转率：评价短期资产运用效率</a:t>
            </a:r>
            <a:endParaRPr lang="en-US" altLang="zh-CN" dirty="0"/>
          </a:p>
          <a:p>
            <a:pPr lvl="1"/>
            <a:r>
              <a:rPr lang="zh-CN" altLang="en-US" dirty="0"/>
              <a:t>存货周转率：单位存货分摊的销售成本，由此评估企业的销售能力和存货管理水平</a:t>
            </a:r>
            <a:endParaRPr lang="en-US" altLang="zh-CN" dirty="0"/>
          </a:p>
          <a:p>
            <a:pPr lvl="1"/>
            <a:r>
              <a:rPr lang="zh-CN" altLang="en-US" dirty="0"/>
              <a:t>存货占总资产比：反应盈利状况和资产使用状况</a:t>
            </a:r>
            <a:endParaRPr lang="en-US" altLang="zh-CN" dirty="0"/>
          </a:p>
          <a:p>
            <a:pPr lvl="1"/>
            <a:r>
              <a:rPr lang="zh-CN" altLang="en-US" dirty="0"/>
              <a:t>应收账款周转率、占总资产比：销售政策、产品积压和销售收入回款之间的流畅度</a:t>
            </a:r>
            <a:endParaRPr lang="en-US" altLang="zh-CN" dirty="0"/>
          </a:p>
          <a:p>
            <a:pPr lvl="1"/>
            <a:endParaRPr lang="zh-CN" altLang="en-US" dirty="0"/>
          </a:p>
        </p:txBody>
      </p:sp>
    </p:spTree>
    <p:extLst>
      <p:ext uri="{BB962C8B-B14F-4D97-AF65-F5344CB8AC3E}">
        <p14:creationId xmlns:p14="http://schemas.microsoft.com/office/powerpoint/2010/main" val="16330312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13DCC81-0CCF-404F-B18A-B0BA29BE7C98}"/>
              </a:ext>
            </a:extLst>
          </p:cNvPr>
          <p:cNvSpPr>
            <a:spLocks noGrp="1"/>
          </p:cNvSpPr>
          <p:nvPr>
            <p:ph type="title"/>
          </p:nvPr>
        </p:nvSpPr>
        <p:spPr/>
        <p:txBody>
          <a:bodyPr/>
          <a:lstStyle/>
          <a:p>
            <a:r>
              <a:rPr lang="zh-CN" altLang="en-US" dirty="0"/>
              <a:t>盈利能力</a:t>
            </a:r>
          </a:p>
        </p:txBody>
      </p:sp>
      <p:sp>
        <p:nvSpPr>
          <p:cNvPr id="7" name="内容占位符 6">
            <a:extLst>
              <a:ext uri="{FF2B5EF4-FFF2-40B4-BE49-F238E27FC236}">
                <a16:creationId xmlns:a16="http://schemas.microsoft.com/office/drawing/2014/main" id="{E33DA0AE-394B-41BE-B7A0-EFB139B6B5E1}"/>
              </a:ext>
            </a:extLst>
          </p:cNvPr>
          <p:cNvSpPr>
            <a:spLocks noGrp="1"/>
          </p:cNvSpPr>
          <p:nvPr>
            <p:ph idx="1"/>
          </p:nvPr>
        </p:nvSpPr>
        <p:spPr/>
        <p:txBody>
          <a:bodyPr>
            <a:normAutofit fontScale="92500" lnSpcReduction="20000"/>
          </a:bodyPr>
          <a:lstStyle/>
          <a:p>
            <a:r>
              <a:rPr lang="zh-CN" altLang="en-US" dirty="0"/>
              <a:t>盈利能力是决定公司价值的重要指标，股东偏好盈利和股值，但债权人更关注边际利润率和投资回报率。</a:t>
            </a:r>
            <a:endParaRPr lang="en-US" altLang="zh-CN" dirty="0"/>
          </a:p>
          <a:p>
            <a:endParaRPr lang="en-US" altLang="zh-CN" dirty="0"/>
          </a:p>
          <a:p>
            <a:r>
              <a:rPr lang="zh-CN" altLang="en-US" b="1" dirty="0"/>
              <a:t>盈利比率</a:t>
            </a:r>
            <a:r>
              <a:rPr lang="zh-CN" altLang="en-US" dirty="0"/>
              <a:t>：采取可横向比较的简单处理方法，排除不稳定的科目</a:t>
            </a:r>
            <a:endParaRPr lang="en-US" altLang="zh-CN" dirty="0"/>
          </a:p>
          <a:p>
            <a:pPr lvl="1"/>
            <a:r>
              <a:rPr lang="zh-CN" altLang="en-US" dirty="0"/>
              <a:t>利润率：经营效率，销售收入转为利润的比例</a:t>
            </a:r>
            <a:endParaRPr lang="en-US" altLang="zh-CN" dirty="0"/>
          </a:p>
          <a:p>
            <a:pPr lvl="2"/>
            <a:r>
              <a:rPr lang="zh-CN" altLang="en-US" dirty="0"/>
              <a:t>净利润</a:t>
            </a:r>
            <a:r>
              <a:rPr lang="en-US" altLang="zh-CN" dirty="0"/>
              <a:t>/</a:t>
            </a:r>
            <a:r>
              <a:rPr lang="zh-CN" altLang="en-US" dirty="0"/>
              <a:t>销售收入；息税前利润</a:t>
            </a:r>
            <a:r>
              <a:rPr lang="en-US" altLang="zh-CN" dirty="0"/>
              <a:t>/</a:t>
            </a:r>
            <a:r>
              <a:rPr lang="zh-CN" altLang="en-US" dirty="0"/>
              <a:t>销售收入；净利润</a:t>
            </a:r>
            <a:r>
              <a:rPr lang="en-US" altLang="zh-CN" dirty="0"/>
              <a:t>/</a:t>
            </a:r>
            <a:r>
              <a:rPr lang="zh-CN" altLang="zh-CN" dirty="0"/>
              <a:t>总资产</a:t>
            </a:r>
            <a:endParaRPr lang="en-US" altLang="zh-CN" dirty="0"/>
          </a:p>
          <a:p>
            <a:pPr lvl="2"/>
            <a:r>
              <a:rPr lang="zh-CN" altLang="en-US" dirty="0"/>
              <a:t>息税折旧摊销前利润</a:t>
            </a:r>
            <a:r>
              <a:rPr lang="en-US" altLang="zh-CN" dirty="0"/>
              <a:t>/</a:t>
            </a:r>
            <a:r>
              <a:rPr lang="zh-CN" altLang="en-US" dirty="0"/>
              <a:t>销售收入；</a:t>
            </a:r>
            <a:r>
              <a:rPr lang="en-US" altLang="zh-CN" dirty="0"/>
              <a:t>FFO/</a:t>
            </a:r>
            <a:r>
              <a:rPr lang="zh-CN" altLang="en-US" dirty="0"/>
              <a:t>销售收入</a:t>
            </a:r>
            <a:endParaRPr lang="en-US" altLang="zh-CN" dirty="0"/>
          </a:p>
          <a:p>
            <a:pPr lvl="2"/>
            <a:r>
              <a:rPr lang="zh-CN" altLang="zh-CN" dirty="0"/>
              <a:t>期间费用的占比</a:t>
            </a:r>
            <a:r>
              <a:rPr lang="zh-CN" altLang="en-US" dirty="0"/>
              <a:t>；</a:t>
            </a:r>
            <a:r>
              <a:rPr lang="zh-CN" altLang="zh-CN" dirty="0"/>
              <a:t>投资收益、营业外收支</a:t>
            </a:r>
            <a:r>
              <a:rPr lang="zh-CN" altLang="en-US" dirty="0"/>
              <a:t>占比</a:t>
            </a:r>
            <a:endParaRPr lang="en-US" altLang="zh-CN" dirty="0"/>
          </a:p>
          <a:p>
            <a:pPr lvl="2"/>
            <a:endParaRPr lang="en-US" altLang="zh-CN" dirty="0"/>
          </a:p>
          <a:p>
            <a:pPr lvl="1"/>
            <a:r>
              <a:rPr lang="zh-CN" altLang="en-US" b="1" dirty="0"/>
              <a:t>投资回报</a:t>
            </a:r>
            <a:r>
              <a:rPr lang="zh-CN" altLang="en-US" dirty="0"/>
              <a:t>：投资决策利润率</a:t>
            </a:r>
            <a:endParaRPr lang="en-US" altLang="zh-CN" dirty="0"/>
          </a:p>
          <a:p>
            <a:pPr lvl="2"/>
            <a:r>
              <a:rPr lang="zh-CN" altLang="en-US" dirty="0"/>
              <a:t>净利润</a:t>
            </a:r>
            <a:r>
              <a:rPr lang="en-US" altLang="zh-CN" dirty="0"/>
              <a:t>/</a:t>
            </a:r>
            <a:r>
              <a:rPr lang="zh-CN" altLang="en-US" dirty="0"/>
              <a:t>股东权益；净利润</a:t>
            </a:r>
            <a:r>
              <a:rPr lang="en-US" altLang="zh-CN" dirty="0"/>
              <a:t>/</a:t>
            </a:r>
            <a:r>
              <a:rPr lang="zh-CN" altLang="en-US" dirty="0"/>
              <a:t>总资产</a:t>
            </a:r>
            <a:endParaRPr lang="en-US" altLang="zh-CN" dirty="0"/>
          </a:p>
          <a:p>
            <a:pPr lvl="1"/>
            <a:endParaRPr lang="en-US" altLang="zh-CN" dirty="0"/>
          </a:p>
          <a:p>
            <a:pPr lvl="1"/>
            <a:r>
              <a:rPr lang="zh-CN" altLang="en-US" b="1" dirty="0"/>
              <a:t>销售收入</a:t>
            </a:r>
            <a:r>
              <a:rPr lang="zh-CN" altLang="en-US" dirty="0"/>
              <a:t>和利润增长</a:t>
            </a:r>
            <a:endParaRPr lang="en-US" altLang="zh-CN" dirty="0"/>
          </a:p>
          <a:p>
            <a:pPr lvl="2"/>
            <a:r>
              <a:rPr lang="zh-CN" altLang="en-US" dirty="0"/>
              <a:t>销售收入、</a:t>
            </a:r>
            <a:r>
              <a:rPr lang="en-US" altLang="zh-CN" dirty="0"/>
              <a:t>EBIT</a:t>
            </a:r>
            <a:r>
              <a:rPr lang="zh-CN" altLang="en-US" dirty="0"/>
              <a:t>、净利润的同比增长率</a:t>
            </a:r>
            <a:endParaRPr lang="en-US" altLang="zh-CN" dirty="0"/>
          </a:p>
          <a:p>
            <a:pPr lvl="2"/>
            <a:r>
              <a:rPr lang="zh-CN" altLang="en-US" dirty="0"/>
              <a:t>销售毛利率：主营业务盈利能力</a:t>
            </a:r>
            <a:endParaRPr lang="en-US" altLang="zh-CN" dirty="0"/>
          </a:p>
          <a:p>
            <a:pPr lvl="2"/>
            <a:r>
              <a:rPr lang="en-US" altLang="zh-CN" dirty="0"/>
              <a:t>EBIT/</a:t>
            </a:r>
            <a:r>
              <a:rPr lang="zh-CN" altLang="en-US" dirty="0"/>
              <a:t>营业总收入：不考虑财务费用下的盈利能力</a:t>
            </a:r>
            <a:endParaRPr lang="en-US" altLang="zh-CN" dirty="0"/>
          </a:p>
          <a:p>
            <a:pPr lvl="2"/>
            <a:endParaRPr lang="en-US" altLang="zh-CN" dirty="0"/>
          </a:p>
          <a:p>
            <a:pPr lvl="2"/>
            <a:endParaRPr lang="en-US" altLang="zh-CN" dirty="0"/>
          </a:p>
          <a:p>
            <a:pPr lvl="1"/>
            <a:endParaRPr lang="zh-CN" altLang="en-US" dirty="0"/>
          </a:p>
        </p:txBody>
      </p:sp>
    </p:spTree>
    <p:extLst>
      <p:ext uri="{BB962C8B-B14F-4D97-AF65-F5344CB8AC3E}">
        <p14:creationId xmlns:p14="http://schemas.microsoft.com/office/powerpoint/2010/main" val="7452695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13DCC81-0CCF-404F-B18A-B0BA29BE7C98}"/>
              </a:ext>
            </a:extLst>
          </p:cNvPr>
          <p:cNvSpPr>
            <a:spLocks noGrp="1"/>
          </p:cNvSpPr>
          <p:nvPr>
            <p:ph type="title"/>
          </p:nvPr>
        </p:nvSpPr>
        <p:spPr/>
        <p:txBody>
          <a:bodyPr/>
          <a:lstStyle/>
          <a:p>
            <a:r>
              <a:rPr lang="zh-CN" altLang="en-US" dirty="0"/>
              <a:t>盈利能力</a:t>
            </a:r>
          </a:p>
        </p:txBody>
      </p:sp>
      <p:sp>
        <p:nvSpPr>
          <p:cNvPr id="7" name="内容占位符 6">
            <a:extLst>
              <a:ext uri="{FF2B5EF4-FFF2-40B4-BE49-F238E27FC236}">
                <a16:creationId xmlns:a16="http://schemas.microsoft.com/office/drawing/2014/main" id="{E33DA0AE-394B-41BE-B7A0-EFB139B6B5E1}"/>
              </a:ext>
            </a:extLst>
          </p:cNvPr>
          <p:cNvSpPr>
            <a:spLocks noGrp="1"/>
          </p:cNvSpPr>
          <p:nvPr>
            <p:ph idx="1"/>
          </p:nvPr>
        </p:nvSpPr>
        <p:spPr/>
        <p:txBody>
          <a:bodyPr/>
          <a:lstStyle/>
          <a:p>
            <a:r>
              <a:rPr lang="zh-CN" altLang="en-US" b="1" dirty="0"/>
              <a:t>行业趋势和经济前景</a:t>
            </a:r>
            <a:endParaRPr lang="en-US" altLang="zh-CN" b="1" dirty="0"/>
          </a:p>
          <a:p>
            <a:pPr lvl="1"/>
            <a:r>
              <a:rPr lang="zh-CN" altLang="en-US" dirty="0"/>
              <a:t>判断所处的商业周期和行业周期</a:t>
            </a:r>
            <a:endParaRPr lang="en-US" altLang="zh-CN" dirty="0"/>
          </a:p>
          <a:p>
            <a:pPr lvl="1"/>
            <a:r>
              <a:rPr lang="zh-CN" altLang="en-US" dirty="0"/>
              <a:t>对财务指标的定性判断，应以相同行业的主体作为参照</a:t>
            </a:r>
            <a:endParaRPr lang="en-US" altLang="zh-CN" dirty="0"/>
          </a:p>
          <a:p>
            <a:pPr lvl="1"/>
            <a:r>
              <a:rPr lang="zh-CN" altLang="en-US" dirty="0"/>
              <a:t>行业趋势对个体的影响</a:t>
            </a:r>
            <a:endParaRPr lang="en-US" altLang="zh-CN" dirty="0"/>
          </a:p>
          <a:p>
            <a:pPr lvl="1"/>
            <a:endParaRPr lang="en-US" altLang="zh-CN" dirty="0"/>
          </a:p>
          <a:p>
            <a:r>
              <a:rPr lang="zh-CN" altLang="en-US" b="1" dirty="0"/>
              <a:t>管理战略评估</a:t>
            </a:r>
            <a:r>
              <a:rPr lang="zh-CN" altLang="en-US" dirty="0"/>
              <a:t>：成长战略、资本投入、收购计划；资产剥离、竞争状况</a:t>
            </a:r>
            <a:endParaRPr lang="en-US" altLang="zh-CN" dirty="0"/>
          </a:p>
          <a:p>
            <a:pPr lvl="1"/>
            <a:r>
              <a:rPr lang="zh-CN" altLang="en-US" dirty="0"/>
              <a:t>根据管理层所承受的风险程度和管理政策、以往执行情况等信息合理预估其应对措施，进行不同的场景分析，包括基础场景、压力场景和违约场景</a:t>
            </a:r>
            <a:endParaRPr lang="en-US" altLang="zh-CN" dirty="0"/>
          </a:p>
          <a:p>
            <a:pPr lvl="1"/>
            <a:r>
              <a:rPr lang="zh-CN" altLang="en-US" dirty="0"/>
              <a:t>不同的管理风格会导致不同的政策，激进的管理者会在行业衰退阶段，积极并购扩张；保守的管理者则会减少支出和资金，准备过冬</a:t>
            </a:r>
            <a:endParaRPr lang="en-US" altLang="zh-CN" dirty="0"/>
          </a:p>
          <a:p>
            <a:endParaRPr lang="en-US" altLang="zh-CN" dirty="0"/>
          </a:p>
          <a:p>
            <a:r>
              <a:rPr lang="zh-CN" altLang="en-US" dirty="0"/>
              <a:t>在不同场景下，使用绝对水平、趋势、预测和比较等</a:t>
            </a:r>
            <a:r>
              <a:rPr lang="zh-CN" altLang="en-US" b="1" dirty="0"/>
              <a:t>数据分析</a:t>
            </a:r>
            <a:r>
              <a:rPr lang="zh-CN" altLang="en-US" dirty="0"/>
              <a:t>技术进行效果评价</a:t>
            </a:r>
            <a:endParaRPr lang="en-US" altLang="zh-CN" dirty="0"/>
          </a:p>
        </p:txBody>
      </p:sp>
    </p:spTree>
    <p:extLst>
      <p:ext uri="{BB962C8B-B14F-4D97-AF65-F5344CB8AC3E}">
        <p14:creationId xmlns:p14="http://schemas.microsoft.com/office/powerpoint/2010/main" val="41025062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13DCC81-0CCF-404F-B18A-B0BA29BE7C98}"/>
              </a:ext>
            </a:extLst>
          </p:cNvPr>
          <p:cNvSpPr>
            <a:spLocks noGrp="1"/>
          </p:cNvSpPr>
          <p:nvPr>
            <p:ph type="title"/>
          </p:nvPr>
        </p:nvSpPr>
        <p:spPr/>
        <p:txBody>
          <a:bodyPr/>
          <a:lstStyle/>
          <a:p>
            <a:r>
              <a:rPr lang="zh-CN" altLang="en-US" dirty="0"/>
              <a:t>现金流</a:t>
            </a:r>
          </a:p>
        </p:txBody>
      </p:sp>
      <mc:AlternateContent xmlns:mc="http://schemas.openxmlformats.org/markup-compatibility/2006" xmlns:a14="http://schemas.microsoft.com/office/drawing/2010/main">
        <mc:Choice Requires="a14">
          <p:sp>
            <p:nvSpPr>
              <p:cNvPr id="7" name="内容占位符 6">
                <a:extLst>
                  <a:ext uri="{FF2B5EF4-FFF2-40B4-BE49-F238E27FC236}">
                    <a16:creationId xmlns:a16="http://schemas.microsoft.com/office/drawing/2014/main" id="{E33DA0AE-394B-41BE-B7A0-EFB139B6B5E1}"/>
                  </a:ext>
                </a:extLst>
              </p:cNvPr>
              <p:cNvSpPr>
                <a:spLocks noGrp="1"/>
              </p:cNvSpPr>
              <p:nvPr>
                <p:ph idx="1"/>
              </p:nvPr>
            </p:nvSpPr>
            <p:spPr/>
            <p:txBody>
              <a:bodyPr>
                <a:normAutofit/>
              </a:bodyPr>
              <a:lstStyle/>
              <a:p>
                <a:r>
                  <a:rPr lang="zh-CN" altLang="en-US" dirty="0"/>
                  <a:t>现金流分析是上述各类定性因素、定量因素的直接作用结果，通过设定行业和个体层面的各类参数后，就可以推导出对应的现金流。由此得出偿付能力的判断。</a:t>
                </a:r>
                <a:endParaRPr lang="en-US" altLang="zh-CN" dirty="0"/>
              </a:p>
              <a:p>
                <a:endParaRPr lang="en-US" altLang="zh-CN" dirty="0"/>
              </a:p>
              <a:p>
                <a:r>
                  <a:rPr lang="zh-CN" altLang="en-US" b="1" dirty="0"/>
                  <a:t>定义现金流</a:t>
                </a:r>
                <a:endParaRPr lang="en-US" altLang="zh-CN" b="1" dirty="0"/>
              </a:p>
              <a:p>
                <a:pPr lvl="1"/>
                <a:r>
                  <a:rPr lang="zh-CN" altLang="en-US" dirty="0"/>
                  <a:t>常用定义：</a:t>
                </a:r>
                <a14:m>
                  <m:oMath xmlns:m="http://schemas.openxmlformats.org/officeDocument/2006/math">
                    <m:r>
                      <m:rPr>
                        <m:nor/>
                      </m:rPr>
                      <a:rPr lang="en-US" altLang="zh-CN" dirty="0" smtClean="0">
                        <a:solidFill>
                          <a:srgbClr val="C00000"/>
                        </a:solidFill>
                      </a:rPr>
                      <m:t>FFO</m:t>
                    </m:r>
                    <m:r>
                      <a:rPr lang="en-US" altLang="zh-CN" b="1" i="1" dirty="0">
                        <a:solidFill>
                          <a:srgbClr val="C00000"/>
                        </a:solidFill>
                        <a:latin typeface="Cambria Math" panose="02040503050406030204" pitchFamily="18" charset="0"/>
                      </a:rPr>
                      <m:t>=</m:t>
                    </m:r>
                    <m:r>
                      <m:rPr>
                        <m:nor/>
                      </m:rPr>
                      <a:rPr lang="zh-CN" altLang="en-US" dirty="0" smtClean="0">
                        <a:solidFill>
                          <a:srgbClr val="C00000"/>
                        </a:solidFill>
                      </a:rPr>
                      <m:t>本期净利润</m:t>
                    </m:r>
                    <m:r>
                      <a:rPr lang="en-US" altLang="zh-CN" dirty="0">
                        <a:solidFill>
                          <a:srgbClr val="C00000"/>
                        </a:solidFill>
                        <a:latin typeface="Cambria Math" panose="02040503050406030204" pitchFamily="18" charset="0"/>
                      </a:rPr>
                      <m:t>−</m:t>
                    </m:r>
                    <m:r>
                      <m:rPr>
                        <m:nor/>
                      </m:rPr>
                      <a:rPr lang="zh-CN" altLang="en-US" dirty="0" smtClean="0">
                        <a:solidFill>
                          <a:srgbClr val="C00000"/>
                        </a:solidFill>
                      </a:rPr>
                      <m:t>非现金项目调整</m:t>
                    </m:r>
                  </m:oMath>
                </a14:m>
                <a:endParaRPr lang="en-US" altLang="zh-CN" dirty="0">
                  <a:solidFill>
                    <a:srgbClr val="C00000"/>
                  </a:solidFill>
                </a:endParaRPr>
              </a:p>
              <a:p>
                <a:pPr lvl="2"/>
                <a:r>
                  <a:rPr lang="zh-CN" altLang="en-US" dirty="0"/>
                  <a:t>其中，非现金项目调整包括折旧和摊销、递延税费、坏账损失、特别费用、资产处置损益、汇兑损益、合资公司权益的损益</a:t>
                </a:r>
                <a:endParaRPr lang="en-US" altLang="zh-CN" dirty="0"/>
              </a:p>
              <a:p>
                <a:pPr lvl="1"/>
                <a:endParaRPr lang="en-US" altLang="zh-CN" dirty="0"/>
              </a:p>
              <a:p>
                <a:pPr lvl="1"/>
                <a:r>
                  <a:rPr lang="en-US" altLang="zh-CN" dirty="0"/>
                  <a:t>EBITDA</a:t>
                </a:r>
                <a:r>
                  <a:rPr lang="zh-CN" altLang="en-US" dirty="0"/>
                  <a:t>也可以作为</a:t>
                </a:r>
                <a:r>
                  <a:rPr lang="en-US" altLang="zh-CN" dirty="0"/>
                  <a:t>FFO</a:t>
                </a:r>
                <a:r>
                  <a:rPr lang="zh-CN" altLang="en-US" dirty="0"/>
                  <a:t>的代理指标</a:t>
                </a:r>
                <a:endParaRPr lang="en-US" altLang="zh-CN" dirty="0"/>
              </a:p>
              <a:p>
                <a:pPr lvl="2"/>
                <a:endParaRPr lang="en-US" altLang="zh-CN" dirty="0"/>
              </a:p>
              <a:p>
                <a:pPr lvl="1"/>
                <a:endParaRPr lang="en-US" altLang="zh-CN" dirty="0"/>
              </a:p>
              <a:p>
                <a:pPr lvl="1"/>
                <a:endParaRPr lang="en-US" altLang="zh-CN" dirty="0"/>
              </a:p>
              <a:p>
                <a:pPr lvl="1"/>
                <a:endParaRPr lang="zh-CN" altLang="en-US" dirty="0"/>
              </a:p>
            </p:txBody>
          </p:sp>
        </mc:Choice>
        <mc:Fallback xmlns="">
          <p:sp>
            <p:nvSpPr>
              <p:cNvPr id="7" name="内容占位符 6">
                <a:extLst>
                  <a:ext uri="{FF2B5EF4-FFF2-40B4-BE49-F238E27FC236}">
                    <a16:creationId xmlns:a16="http://schemas.microsoft.com/office/drawing/2014/main" id="{E33DA0AE-394B-41BE-B7A0-EFB139B6B5E1}"/>
                  </a:ext>
                </a:extLst>
              </p:cNvPr>
              <p:cNvSpPr>
                <a:spLocks noGrp="1" noRot="1" noChangeAspect="1" noMove="1" noResize="1" noEditPoints="1" noAdjustHandles="1" noChangeArrowheads="1" noChangeShapeType="1" noTextEdit="1"/>
              </p:cNvSpPr>
              <p:nvPr>
                <p:ph idx="1"/>
              </p:nvPr>
            </p:nvSpPr>
            <p:spPr>
              <a:blipFill>
                <a:blip r:embed="rId2"/>
                <a:stretch>
                  <a:fillRect l="-555" r="-3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919568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A1FE4F-F205-4252-8894-DA103516B10B}"/>
              </a:ext>
            </a:extLst>
          </p:cNvPr>
          <p:cNvSpPr>
            <a:spLocks noGrp="1"/>
          </p:cNvSpPr>
          <p:nvPr>
            <p:ph type="title"/>
          </p:nvPr>
        </p:nvSpPr>
        <p:spPr/>
        <p:txBody>
          <a:bodyPr/>
          <a:lstStyle/>
          <a:p>
            <a:r>
              <a:rPr lang="zh-CN" altLang="en-US" dirty="0"/>
              <a:t> 现金流量表</a:t>
            </a:r>
          </a:p>
        </p:txBody>
      </p:sp>
      <p:graphicFrame>
        <p:nvGraphicFramePr>
          <p:cNvPr id="4" name="内容占位符 3">
            <a:extLst>
              <a:ext uri="{FF2B5EF4-FFF2-40B4-BE49-F238E27FC236}">
                <a16:creationId xmlns:a16="http://schemas.microsoft.com/office/drawing/2014/main" id="{1BE53B7A-B08C-4D29-9CCB-0A12AEF9E9D3}"/>
              </a:ext>
            </a:extLst>
          </p:cNvPr>
          <p:cNvGraphicFramePr>
            <a:graphicFrameLocks noGrp="1"/>
          </p:cNvGraphicFramePr>
          <p:nvPr>
            <p:ph idx="1"/>
            <p:extLst>
              <p:ext uri="{D42A27DB-BD31-4B8C-83A1-F6EECF244321}">
                <p14:modId xmlns:p14="http://schemas.microsoft.com/office/powerpoint/2010/main" val="2561266692"/>
              </p:ext>
            </p:extLst>
          </p:nvPr>
        </p:nvGraphicFramePr>
        <p:xfrm>
          <a:off x="273051" y="1674811"/>
          <a:ext cx="8366917" cy="7767576"/>
        </p:xfrm>
        <a:graphic>
          <a:graphicData uri="http://schemas.openxmlformats.org/drawingml/2006/table">
            <a:tbl>
              <a:tblPr firstRow="1" bandRow="1">
                <a:tableStyleId>{6E25E649-3F16-4E02-A733-19D2CDBF48F0}</a:tableStyleId>
              </a:tblPr>
              <a:tblGrid>
                <a:gridCol w="2545471">
                  <a:extLst>
                    <a:ext uri="{9D8B030D-6E8A-4147-A177-3AD203B41FA5}">
                      <a16:colId xmlns:a16="http://schemas.microsoft.com/office/drawing/2014/main" val="3663448537"/>
                    </a:ext>
                  </a:extLst>
                </a:gridCol>
                <a:gridCol w="3370385">
                  <a:extLst>
                    <a:ext uri="{9D8B030D-6E8A-4147-A177-3AD203B41FA5}">
                      <a16:colId xmlns:a16="http://schemas.microsoft.com/office/drawing/2014/main" val="1948672693"/>
                    </a:ext>
                  </a:extLst>
                </a:gridCol>
                <a:gridCol w="1261047">
                  <a:extLst>
                    <a:ext uri="{9D8B030D-6E8A-4147-A177-3AD203B41FA5}">
                      <a16:colId xmlns:a16="http://schemas.microsoft.com/office/drawing/2014/main" val="2516099897"/>
                    </a:ext>
                  </a:extLst>
                </a:gridCol>
                <a:gridCol w="1190014">
                  <a:extLst>
                    <a:ext uri="{9D8B030D-6E8A-4147-A177-3AD203B41FA5}">
                      <a16:colId xmlns:a16="http://schemas.microsoft.com/office/drawing/2014/main" val="2727866915"/>
                    </a:ext>
                  </a:extLst>
                </a:gridCol>
              </a:tblGrid>
              <a:tr h="726411">
                <a:tc gridSpan="2">
                  <a:txBody>
                    <a:bodyPr/>
                    <a:lstStyle/>
                    <a:p>
                      <a:pPr algn="ctr"/>
                      <a:r>
                        <a:rPr lang="zh-CN" altLang="en-US" sz="2000" dirty="0"/>
                        <a:t>科目</a:t>
                      </a:r>
                    </a:p>
                  </a:txBody>
                  <a:tcPr marL="214020" marR="214020" anchor="ctr"/>
                </a:tc>
                <a:tc hMerge="1">
                  <a:txBody>
                    <a:bodyPr/>
                    <a:lstStyle/>
                    <a:p>
                      <a:pPr algn="ctr"/>
                      <a:endParaRPr lang="zh-CN" altLang="en-US" dirty="0"/>
                    </a:p>
                  </a:txBody>
                  <a:tcPr/>
                </a:tc>
                <a:tc gridSpan="2">
                  <a:txBody>
                    <a:bodyPr/>
                    <a:lstStyle/>
                    <a:p>
                      <a:pPr algn="ctr"/>
                      <a:r>
                        <a:rPr lang="en-US" altLang="zh-CN" sz="2000" dirty="0"/>
                        <a:t>XXXX</a:t>
                      </a:r>
                      <a:r>
                        <a:rPr lang="zh-CN" altLang="en-US" sz="2000" dirty="0"/>
                        <a:t>年</a:t>
                      </a:r>
                    </a:p>
                  </a:txBody>
                  <a:tcPr marL="214020" marR="214020" anchor="ctr"/>
                </a:tc>
                <a:tc hMerge="1">
                  <a:txBody>
                    <a:bodyPr/>
                    <a:lstStyle/>
                    <a:p>
                      <a:endParaRPr lang="zh-CN" altLang="en-US" dirty="0"/>
                    </a:p>
                  </a:txBody>
                  <a:tcPr/>
                </a:tc>
                <a:extLst>
                  <a:ext uri="{0D108BD9-81ED-4DB2-BD59-A6C34878D82A}">
                    <a16:rowId xmlns:a16="http://schemas.microsoft.com/office/drawing/2014/main" val="3264522757"/>
                  </a:ext>
                </a:extLst>
              </a:tr>
              <a:tr h="598269">
                <a:tc>
                  <a:txBody>
                    <a:bodyPr/>
                    <a:lstStyle/>
                    <a:p>
                      <a:r>
                        <a:rPr lang="zh-CN" altLang="en-US" sz="2000" dirty="0"/>
                        <a:t>净利润</a:t>
                      </a:r>
                    </a:p>
                  </a:txBody>
                  <a:tcPr marL="214020" marR="214020" anchor="ctr"/>
                </a:tc>
                <a:tc>
                  <a:txBody>
                    <a:bodyPr/>
                    <a:lstStyle/>
                    <a:p>
                      <a:endParaRPr lang="zh-CN" altLang="en-US" sz="2000" dirty="0"/>
                    </a:p>
                  </a:txBody>
                  <a:tcPr marL="214020" marR="214020" anchor="ctr"/>
                </a:tc>
                <a:tc>
                  <a:txBody>
                    <a:bodyPr/>
                    <a:lstStyle/>
                    <a:p>
                      <a:pPr algn="r"/>
                      <a:r>
                        <a:rPr lang="en-US" altLang="zh-CN" sz="2000" dirty="0"/>
                        <a:t>59.7</a:t>
                      </a:r>
                      <a:endParaRPr lang="zh-CN" altLang="en-US" sz="2000" dirty="0"/>
                    </a:p>
                  </a:txBody>
                  <a:tcPr marL="214020" marR="214020" anchor="ctr"/>
                </a:tc>
                <a:tc>
                  <a:txBody>
                    <a:bodyPr/>
                    <a:lstStyle/>
                    <a:p>
                      <a:pPr algn="r"/>
                      <a:endParaRPr lang="zh-CN" altLang="en-US" sz="2000" dirty="0"/>
                    </a:p>
                  </a:txBody>
                  <a:tcPr marL="214020" marR="214020" anchor="ctr"/>
                </a:tc>
                <a:extLst>
                  <a:ext uri="{0D108BD9-81ED-4DB2-BD59-A6C34878D82A}">
                    <a16:rowId xmlns:a16="http://schemas.microsoft.com/office/drawing/2014/main" val="2506490954"/>
                  </a:ext>
                </a:extLst>
              </a:tr>
              <a:tr h="598269">
                <a:tc>
                  <a:txBody>
                    <a:bodyPr/>
                    <a:lstStyle/>
                    <a:p>
                      <a:endParaRPr lang="zh-CN" altLang="en-US" sz="2000" dirty="0"/>
                    </a:p>
                  </a:txBody>
                  <a:tcPr marL="214020" marR="214020" anchor="ctr"/>
                </a:tc>
                <a:tc>
                  <a:txBody>
                    <a:bodyPr/>
                    <a:lstStyle/>
                    <a:p>
                      <a:r>
                        <a:rPr lang="zh-CN" altLang="en-US" sz="2000" dirty="0"/>
                        <a:t>折旧和摊销</a:t>
                      </a:r>
                    </a:p>
                  </a:txBody>
                  <a:tcPr marL="214020" marR="214020" anchor="ctr"/>
                </a:tc>
                <a:tc>
                  <a:txBody>
                    <a:bodyPr/>
                    <a:lstStyle/>
                    <a:p>
                      <a:pPr algn="r"/>
                      <a:endParaRPr lang="zh-CN" altLang="en-US" sz="2000"/>
                    </a:p>
                  </a:txBody>
                  <a:tcPr marL="214020" marR="214020" anchor="ctr"/>
                </a:tc>
                <a:tc>
                  <a:txBody>
                    <a:bodyPr/>
                    <a:lstStyle/>
                    <a:p>
                      <a:pPr algn="r"/>
                      <a:r>
                        <a:rPr lang="en-US" altLang="zh-CN" sz="2000" dirty="0"/>
                        <a:t>18.8</a:t>
                      </a:r>
                      <a:endParaRPr lang="zh-CN" altLang="en-US" sz="2000" dirty="0"/>
                    </a:p>
                  </a:txBody>
                  <a:tcPr marL="214020" marR="214020" anchor="ctr"/>
                </a:tc>
                <a:extLst>
                  <a:ext uri="{0D108BD9-81ED-4DB2-BD59-A6C34878D82A}">
                    <a16:rowId xmlns:a16="http://schemas.microsoft.com/office/drawing/2014/main" val="1630223773"/>
                  </a:ext>
                </a:extLst>
              </a:tr>
              <a:tr h="598269">
                <a:tc>
                  <a:txBody>
                    <a:bodyPr/>
                    <a:lstStyle/>
                    <a:p>
                      <a:endParaRPr lang="zh-CN" altLang="en-US" sz="2000"/>
                    </a:p>
                  </a:txBody>
                  <a:tcPr marL="214020" marR="214020" anchor="ctr"/>
                </a:tc>
                <a:tc>
                  <a:txBody>
                    <a:bodyPr/>
                    <a:lstStyle/>
                    <a:p>
                      <a:r>
                        <a:rPr lang="zh-CN" altLang="en-US" sz="2000" dirty="0"/>
                        <a:t>递延税款</a:t>
                      </a:r>
                    </a:p>
                  </a:txBody>
                  <a:tcPr marL="214020" marR="214020" anchor="ctr"/>
                </a:tc>
                <a:tc>
                  <a:txBody>
                    <a:bodyPr/>
                    <a:lstStyle/>
                    <a:p>
                      <a:pPr algn="r"/>
                      <a:endParaRPr lang="zh-CN" altLang="en-US" sz="2000" dirty="0"/>
                    </a:p>
                  </a:txBody>
                  <a:tcPr marL="214020" marR="214020" anchor="ctr"/>
                </a:tc>
                <a:tc>
                  <a:txBody>
                    <a:bodyPr/>
                    <a:lstStyle/>
                    <a:p>
                      <a:pPr algn="r"/>
                      <a:r>
                        <a:rPr lang="en-US" altLang="zh-CN" sz="2000" dirty="0"/>
                        <a:t>11.6</a:t>
                      </a:r>
                      <a:endParaRPr lang="zh-CN" altLang="en-US" sz="2000" dirty="0"/>
                    </a:p>
                  </a:txBody>
                  <a:tcPr marL="214020" marR="214020" anchor="ctr"/>
                </a:tc>
                <a:extLst>
                  <a:ext uri="{0D108BD9-81ED-4DB2-BD59-A6C34878D82A}">
                    <a16:rowId xmlns:a16="http://schemas.microsoft.com/office/drawing/2014/main" val="1793933450"/>
                  </a:ext>
                </a:extLst>
              </a:tr>
              <a:tr h="598269">
                <a:tc>
                  <a:txBody>
                    <a:bodyPr/>
                    <a:lstStyle/>
                    <a:p>
                      <a:endParaRPr lang="zh-CN" altLang="en-US" sz="2000" dirty="0"/>
                    </a:p>
                  </a:txBody>
                  <a:tcPr marL="214020" marR="214020" anchor="ctr"/>
                </a:tc>
                <a:tc>
                  <a:txBody>
                    <a:bodyPr/>
                    <a:lstStyle/>
                    <a:p>
                      <a:r>
                        <a:rPr lang="zh-CN" altLang="en-US" sz="2000" dirty="0"/>
                        <a:t>其他非现金项目</a:t>
                      </a:r>
                    </a:p>
                  </a:txBody>
                  <a:tcPr marL="214020" marR="214020" anchor="ctr"/>
                </a:tc>
                <a:tc>
                  <a:txBody>
                    <a:bodyPr/>
                    <a:lstStyle/>
                    <a:p>
                      <a:pPr algn="r"/>
                      <a:endParaRPr lang="zh-CN" altLang="en-US" sz="2000" dirty="0"/>
                    </a:p>
                  </a:txBody>
                  <a:tcPr marL="214020" marR="214020" anchor="ctr"/>
                </a:tc>
                <a:tc>
                  <a:txBody>
                    <a:bodyPr/>
                    <a:lstStyle/>
                    <a:p>
                      <a:pPr algn="r"/>
                      <a:r>
                        <a:rPr lang="en-US" altLang="zh-CN" sz="2000" dirty="0"/>
                        <a:t>2.2</a:t>
                      </a:r>
                      <a:endParaRPr lang="zh-CN" altLang="en-US" sz="2000" dirty="0"/>
                    </a:p>
                  </a:txBody>
                  <a:tcPr marL="214020" marR="214020" anchor="ctr"/>
                </a:tc>
                <a:extLst>
                  <a:ext uri="{0D108BD9-81ED-4DB2-BD59-A6C34878D82A}">
                    <a16:rowId xmlns:a16="http://schemas.microsoft.com/office/drawing/2014/main" val="1399880248"/>
                  </a:ext>
                </a:extLst>
              </a:tr>
              <a:tr h="598269">
                <a:tc>
                  <a:txBody>
                    <a:bodyPr/>
                    <a:lstStyle/>
                    <a:p>
                      <a:r>
                        <a:rPr lang="zh-CN" altLang="en-US" sz="2000" dirty="0"/>
                        <a:t>运营资金</a:t>
                      </a:r>
                      <a:r>
                        <a:rPr lang="en-US" altLang="zh-CN" sz="2000" dirty="0"/>
                        <a:t>FFO</a:t>
                      </a:r>
                      <a:endParaRPr lang="zh-CN" altLang="en-US" sz="2000" dirty="0"/>
                    </a:p>
                  </a:txBody>
                  <a:tcPr marL="214020" marR="214020" anchor="ctr"/>
                </a:tc>
                <a:tc>
                  <a:txBody>
                    <a:bodyPr/>
                    <a:lstStyle/>
                    <a:p>
                      <a:endParaRPr lang="zh-CN" altLang="en-US" sz="2000" dirty="0"/>
                    </a:p>
                  </a:txBody>
                  <a:tcPr marL="214020" marR="214020" anchor="ctr"/>
                </a:tc>
                <a:tc>
                  <a:txBody>
                    <a:bodyPr/>
                    <a:lstStyle/>
                    <a:p>
                      <a:pPr algn="r"/>
                      <a:r>
                        <a:rPr lang="en-US" altLang="zh-CN" sz="2000" dirty="0"/>
                        <a:t>92.3</a:t>
                      </a:r>
                      <a:endParaRPr lang="zh-CN" altLang="en-US" sz="2000" dirty="0"/>
                    </a:p>
                  </a:txBody>
                  <a:tcPr marL="214020" marR="214020" anchor="ctr"/>
                </a:tc>
                <a:tc>
                  <a:txBody>
                    <a:bodyPr/>
                    <a:lstStyle/>
                    <a:p>
                      <a:pPr algn="r"/>
                      <a:endParaRPr lang="zh-CN" altLang="en-US" sz="2000" dirty="0"/>
                    </a:p>
                  </a:txBody>
                  <a:tcPr marL="214020" marR="214020" anchor="ctr"/>
                </a:tc>
                <a:extLst>
                  <a:ext uri="{0D108BD9-81ED-4DB2-BD59-A6C34878D82A}">
                    <a16:rowId xmlns:a16="http://schemas.microsoft.com/office/drawing/2014/main" val="2641635263"/>
                  </a:ext>
                </a:extLst>
              </a:tr>
              <a:tr h="598269">
                <a:tc>
                  <a:txBody>
                    <a:bodyPr/>
                    <a:lstStyle/>
                    <a:p>
                      <a:endParaRPr lang="zh-CN" altLang="en-US" sz="2000"/>
                    </a:p>
                  </a:txBody>
                  <a:tcPr marL="214020" marR="214020" anchor="ctr"/>
                </a:tc>
                <a:tc>
                  <a:txBody>
                    <a:bodyPr/>
                    <a:lstStyle/>
                    <a:p>
                      <a:r>
                        <a:rPr lang="zh-CN" altLang="en-US" sz="2000" dirty="0"/>
                        <a:t>非现金类流动资产的增减</a:t>
                      </a:r>
                    </a:p>
                  </a:txBody>
                  <a:tcPr marL="214020" marR="214020" anchor="ctr"/>
                </a:tc>
                <a:tc>
                  <a:txBody>
                    <a:bodyPr/>
                    <a:lstStyle/>
                    <a:p>
                      <a:pPr algn="r"/>
                      <a:endParaRPr lang="zh-CN" altLang="en-US" sz="2000" dirty="0"/>
                    </a:p>
                  </a:txBody>
                  <a:tcPr marL="214020" marR="214020" anchor="ctr"/>
                </a:tc>
                <a:tc>
                  <a:txBody>
                    <a:bodyPr/>
                    <a:lstStyle/>
                    <a:p>
                      <a:pPr algn="r"/>
                      <a:r>
                        <a:rPr lang="en-US" altLang="zh-CN" sz="2000" dirty="0"/>
                        <a:t>-8.5</a:t>
                      </a:r>
                      <a:endParaRPr lang="zh-CN" altLang="en-US" sz="2000" dirty="0"/>
                    </a:p>
                  </a:txBody>
                  <a:tcPr marL="214020" marR="214020" anchor="ctr"/>
                </a:tc>
                <a:extLst>
                  <a:ext uri="{0D108BD9-81ED-4DB2-BD59-A6C34878D82A}">
                    <a16:rowId xmlns:a16="http://schemas.microsoft.com/office/drawing/2014/main" val="1505567753"/>
                  </a:ext>
                </a:extLst>
              </a:tr>
              <a:tr h="598269">
                <a:tc>
                  <a:txBody>
                    <a:bodyPr/>
                    <a:lstStyle/>
                    <a:p>
                      <a:endParaRPr lang="zh-CN" altLang="en-US" sz="2000" dirty="0"/>
                    </a:p>
                  </a:txBody>
                  <a:tcPr marL="214020" marR="214020" anchor="ctr"/>
                </a:tc>
                <a:tc>
                  <a:txBody>
                    <a:bodyPr/>
                    <a:lstStyle/>
                    <a:p>
                      <a:r>
                        <a:rPr lang="zh-CN" altLang="en-US" sz="2000" dirty="0"/>
                        <a:t>非现金类流动负债的增减</a:t>
                      </a:r>
                    </a:p>
                  </a:txBody>
                  <a:tcPr marL="214020" marR="214020" anchor="ctr"/>
                </a:tc>
                <a:tc>
                  <a:txBody>
                    <a:bodyPr/>
                    <a:lstStyle/>
                    <a:p>
                      <a:pPr algn="r"/>
                      <a:endParaRPr lang="zh-CN" altLang="en-US" sz="2000" dirty="0"/>
                    </a:p>
                  </a:txBody>
                  <a:tcPr marL="214020" marR="214020" anchor="ctr"/>
                </a:tc>
                <a:tc>
                  <a:txBody>
                    <a:bodyPr/>
                    <a:lstStyle/>
                    <a:p>
                      <a:pPr algn="r"/>
                      <a:r>
                        <a:rPr lang="en-US" altLang="zh-CN" sz="2000" dirty="0"/>
                        <a:t>13.7</a:t>
                      </a:r>
                      <a:endParaRPr lang="zh-CN" altLang="en-US" sz="2000" dirty="0"/>
                    </a:p>
                  </a:txBody>
                  <a:tcPr marL="214020" marR="214020" anchor="ctr"/>
                </a:tc>
                <a:extLst>
                  <a:ext uri="{0D108BD9-81ED-4DB2-BD59-A6C34878D82A}">
                    <a16:rowId xmlns:a16="http://schemas.microsoft.com/office/drawing/2014/main" val="2821962732"/>
                  </a:ext>
                </a:extLst>
              </a:tr>
              <a:tr h="598269">
                <a:tc>
                  <a:txBody>
                    <a:bodyPr/>
                    <a:lstStyle/>
                    <a:p>
                      <a:r>
                        <a:rPr lang="zh-CN" altLang="en-US" sz="2000" dirty="0"/>
                        <a:t>运营现金流量</a:t>
                      </a:r>
                    </a:p>
                  </a:txBody>
                  <a:tcPr marL="214020" marR="214020" anchor="ctr"/>
                </a:tc>
                <a:tc>
                  <a:txBody>
                    <a:bodyPr/>
                    <a:lstStyle/>
                    <a:p>
                      <a:endParaRPr lang="zh-CN" altLang="en-US" sz="2000" dirty="0"/>
                    </a:p>
                  </a:txBody>
                  <a:tcPr marL="214020" marR="214020" anchor="ctr"/>
                </a:tc>
                <a:tc>
                  <a:txBody>
                    <a:bodyPr/>
                    <a:lstStyle/>
                    <a:p>
                      <a:pPr algn="r"/>
                      <a:r>
                        <a:rPr lang="en-US" altLang="zh-CN" sz="2000" dirty="0"/>
                        <a:t>97.5</a:t>
                      </a:r>
                      <a:endParaRPr lang="zh-CN" altLang="en-US" sz="2000" dirty="0"/>
                    </a:p>
                  </a:txBody>
                  <a:tcPr marL="214020" marR="214020" anchor="ctr"/>
                </a:tc>
                <a:tc>
                  <a:txBody>
                    <a:bodyPr/>
                    <a:lstStyle/>
                    <a:p>
                      <a:pPr algn="r"/>
                      <a:endParaRPr lang="zh-CN" altLang="en-US" sz="2000" dirty="0"/>
                    </a:p>
                  </a:txBody>
                  <a:tcPr marL="214020" marR="214020" anchor="ctr"/>
                </a:tc>
                <a:extLst>
                  <a:ext uri="{0D108BD9-81ED-4DB2-BD59-A6C34878D82A}">
                    <a16:rowId xmlns:a16="http://schemas.microsoft.com/office/drawing/2014/main" val="3596367675"/>
                  </a:ext>
                </a:extLst>
              </a:tr>
              <a:tr h="1058475">
                <a:tc>
                  <a:txBody>
                    <a:bodyPr/>
                    <a:lstStyle/>
                    <a:p>
                      <a:endParaRPr lang="zh-CN" altLang="en-US" sz="2000" dirty="0"/>
                    </a:p>
                  </a:txBody>
                  <a:tcPr marL="214020" marR="214020" anchor="ctr"/>
                </a:tc>
                <a:tc>
                  <a:txBody>
                    <a:bodyPr/>
                    <a:lstStyle/>
                    <a:p>
                      <a:pPr marL="0" marR="0" lvl="0" indent="0" algn="l" defTabSz="914397" rtl="0" eaLnBrk="1" fontAlgn="auto" latinLnBrk="0" hangingPunct="1">
                        <a:lnSpc>
                          <a:spcPct val="100000"/>
                        </a:lnSpc>
                        <a:spcBef>
                          <a:spcPts val="0"/>
                        </a:spcBef>
                        <a:spcAft>
                          <a:spcPts val="0"/>
                        </a:spcAft>
                        <a:buClrTx/>
                        <a:buSzTx/>
                        <a:buFontTx/>
                        <a:buNone/>
                        <a:tabLst/>
                        <a:defRPr/>
                      </a:pPr>
                      <a:r>
                        <a:rPr lang="zh-CN" altLang="en-US" sz="2000" dirty="0"/>
                        <a:t>资本支出</a:t>
                      </a:r>
                    </a:p>
                  </a:txBody>
                  <a:tcPr marL="214020" marR="214020" anchor="ctr"/>
                </a:tc>
                <a:tc>
                  <a:txBody>
                    <a:bodyPr/>
                    <a:lstStyle/>
                    <a:p>
                      <a:pPr algn="r"/>
                      <a:endParaRPr lang="zh-CN" altLang="en-US" sz="2000" dirty="0"/>
                    </a:p>
                  </a:txBody>
                  <a:tcPr marL="214020" marR="214020" anchor="ctr"/>
                </a:tc>
                <a:tc>
                  <a:txBody>
                    <a:bodyPr/>
                    <a:lstStyle/>
                    <a:p>
                      <a:pPr algn="r"/>
                      <a:r>
                        <a:rPr lang="en-US" altLang="zh-CN" sz="2000" dirty="0"/>
                        <a:t>-26.3</a:t>
                      </a:r>
                      <a:endParaRPr lang="zh-CN" altLang="en-US" sz="2000" dirty="0"/>
                    </a:p>
                  </a:txBody>
                  <a:tcPr marL="214020" marR="214020" anchor="ctr"/>
                </a:tc>
                <a:extLst>
                  <a:ext uri="{0D108BD9-81ED-4DB2-BD59-A6C34878D82A}">
                    <a16:rowId xmlns:a16="http://schemas.microsoft.com/office/drawing/2014/main" val="2184118162"/>
                  </a:ext>
                </a:extLst>
              </a:tr>
              <a:tr h="598269">
                <a:tc>
                  <a:txBody>
                    <a:bodyPr/>
                    <a:lstStyle/>
                    <a:p>
                      <a:r>
                        <a:rPr lang="zh-CN" altLang="en-US" sz="2000" dirty="0"/>
                        <a:t>自由运营现金流量</a:t>
                      </a:r>
                    </a:p>
                  </a:txBody>
                  <a:tcPr marL="214020" marR="214020" anchor="ctr"/>
                </a:tc>
                <a:tc>
                  <a:txBody>
                    <a:bodyPr/>
                    <a:lstStyle/>
                    <a:p>
                      <a:endParaRPr lang="zh-CN" altLang="en-US" sz="2000" dirty="0"/>
                    </a:p>
                  </a:txBody>
                  <a:tcPr marL="214020" marR="214020" anchor="ctr"/>
                </a:tc>
                <a:tc>
                  <a:txBody>
                    <a:bodyPr/>
                    <a:lstStyle/>
                    <a:p>
                      <a:pPr algn="r"/>
                      <a:r>
                        <a:rPr lang="en-US" altLang="zh-CN" sz="2000" dirty="0"/>
                        <a:t>71.2</a:t>
                      </a:r>
                      <a:endParaRPr lang="zh-CN" altLang="en-US" sz="2000" dirty="0"/>
                    </a:p>
                  </a:txBody>
                  <a:tcPr marL="214020" marR="214020" anchor="ctr"/>
                </a:tc>
                <a:tc>
                  <a:txBody>
                    <a:bodyPr/>
                    <a:lstStyle/>
                    <a:p>
                      <a:pPr algn="r"/>
                      <a:endParaRPr lang="zh-CN" altLang="en-US" sz="2000" dirty="0"/>
                    </a:p>
                  </a:txBody>
                  <a:tcPr marL="214020" marR="214020" anchor="ctr"/>
                </a:tc>
                <a:extLst>
                  <a:ext uri="{0D108BD9-81ED-4DB2-BD59-A6C34878D82A}">
                    <a16:rowId xmlns:a16="http://schemas.microsoft.com/office/drawing/2014/main" val="3882608351"/>
                  </a:ext>
                </a:extLst>
              </a:tr>
              <a:tr h="598269">
                <a:tc>
                  <a:txBody>
                    <a:bodyPr/>
                    <a:lstStyle/>
                    <a:p>
                      <a:endParaRPr lang="zh-CN" altLang="en-US" sz="2000" dirty="0"/>
                    </a:p>
                  </a:txBody>
                  <a:tcPr marL="214020" marR="214020" anchor="ctr"/>
                </a:tc>
                <a:tc>
                  <a:txBody>
                    <a:bodyPr/>
                    <a:lstStyle/>
                    <a:p>
                      <a:pPr marL="0" marR="0" lvl="0" indent="0" algn="l" defTabSz="914397" rtl="0" eaLnBrk="1" fontAlgn="auto" latinLnBrk="0" hangingPunct="1">
                        <a:lnSpc>
                          <a:spcPct val="100000"/>
                        </a:lnSpc>
                        <a:spcBef>
                          <a:spcPts val="0"/>
                        </a:spcBef>
                        <a:spcAft>
                          <a:spcPts val="0"/>
                        </a:spcAft>
                        <a:buClrTx/>
                        <a:buSzTx/>
                        <a:buFontTx/>
                        <a:buNone/>
                        <a:tabLst/>
                        <a:defRPr/>
                      </a:pPr>
                      <a:r>
                        <a:rPr lang="zh-CN" altLang="en-US" sz="2000" dirty="0"/>
                        <a:t>现金股利</a:t>
                      </a:r>
                    </a:p>
                  </a:txBody>
                  <a:tcPr marL="214020" marR="214020" anchor="ctr"/>
                </a:tc>
                <a:tc>
                  <a:txBody>
                    <a:bodyPr/>
                    <a:lstStyle/>
                    <a:p>
                      <a:pPr algn="r"/>
                      <a:endParaRPr lang="zh-CN" altLang="en-US" sz="2000" dirty="0"/>
                    </a:p>
                  </a:txBody>
                  <a:tcPr marL="214020" marR="214020" anchor="ctr"/>
                </a:tc>
                <a:tc>
                  <a:txBody>
                    <a:bodyPr/>
                    <a:lstStyle/>
                    <a:p>
                      <a:pPr algn="r"/>
                      <a:r>
                        <a:rPr lang="en-US" altLang="zh-CN" sz="2000" dirty="0"/>
                        <a:t>3.5</a:t>
                      </a:r>
                      <a:endParaRPr lang="zh-CN" altLang="en-US" sz="2000" dirty="0"/>
                    </a:p>
                  </a:txBody>
                  <a:tcPr marL="214020" marR="214020" anchor="ctr"/>
                </a:tc>
                <a:extLst>
                  <a:ext uri="{0D108BD9-81ED-4DB2-BD59-A6C34878D82A}">
                    <a16:rowId xmlns:a16="http://schemas.microsoft.com/office/drawing/2014/main" val="1579665059"/>
                  </a:ext>
                </a:extLst>
              </a:tr>
            </a:tbl>
          </a:graphicData>
        </a:graphic>
      </p:graphicFrame>
      <p:graphicFrame>
        <p:nvGraphicFramePr>
          <p:cNvPr id="6" name="内容占位符 5">
            <a:extLst>
              <a:ext uri="{FF2B5EF4-FFF2-40B4-BE49-F238E27FC236}">
                <a16:creationId xmlns:a16="http://schemas.microsoft.com/office/drawing/2014/main" id="{EE7EDDA2-4F17-456D-A2A0-8989CBE24E76}"/>
              </a:ext>
            </a:extLst>
          </p:cNvPr>
          <p:cNvGraphicFramePr>
            <a:graphicFrameLocks noGrp="1"/>
          </p:cNvGraphicFramePr>
          <p:nvPr>
            <p:ph sz="half" idx="4294967295"/>
            <p:extLst>
              <p:ext uri="{D42A27DB-BD31-4B8C-83A1-F6EECF244321}">
                <p14:modId xmlns:p14="http://schemas.microsoft.com/office/powerpoint/2010/main" val="462701633"/>
              </p:ext>
            </p:extLst>
          </p:nvPr>
        </p:nvGraphicFramePr>
        <p:xfrm>
          <a:off x="8912458" y="1674811"/>
          <a:ext cx="7927742" cy="7767565"/>
        </p:xfrm>
        <a:graphic>
          <a:graphicData uri="http://schemas.openxmlformats.org/drawingml/2006/table">
            <a:tbl>
              <a:tblPr firstRow="1" bandRow="1">
                <a:tableStyleId>{6E25E649-3F16-4E02-A733-19D2CDBF48F0}</a:tableStyleId>
              </a:tblPr>
              <a:tblGrid>
                <a:gridCol w="2585302">
                  <a:extLst>
                    <a:ext uri="{9D8B030D-6E8A-4147-A177-3AD203B41FA5}">
                      <a16:colId xmlns:a16="http://schemas.microsoft.com/office/drawing/2014/main" val="4195390139"/>
                    </a:ext>
                  </a:extLst>
                </a:gridCol>
                <a:gridCol w="2576435">
                  <a:extLst>
                    <a:ext uri="{9D8B030D-6E8A-4147-A177-3AD203B41FA5}">
                      <a16:colId xmlns:a16="http://schemas.microsoft.com/office/drawing/2014/main" val="359308519"/>
                    </a:ext>
                  </a:extLst>
                </a:gridCol>
                <a:gridCol w="1399328">
                  <a:extLst>
                    <a:ext uri="{9D8B030D-6E8A-4147-A177-3AD203B41FA5}">
                      <a16:colId xmlns:a16="http://schemas.microsoft.com/office/drawing/2014/main" val="508244753"/>
                    </a:ext>
                  </a:extLst>
                </a:gridCol>
                <a:gridCol w="1366677">
                  <a:extLst>
                    <a:ext uri="{9D8B030D-6E8A-4147-A177-3AD203B41FA5}">
                      <a16:colId xmlns:a16="http://schemas.microsoft.com/office/drawing/2014/main" val="1267164407"/>
                    </a:ext>
                  </a:extLst>
                </a:gridCol>
              </a:tblGrid>
              <a:tr h="746839">
                <a:tc gridSpan="2">
                  <a:txBody>
                    <a:bodyPr/>
                    <a:lstStyle/>
                    <a:p>
                      <a:pPr algn="ctr"/>
                      <a:r>
                        <a:rPr lang="zh-CN" altLang="en-US" sz="2000" dirty="0"/>
                        <a:t>科目</a:t>
                      </a:r>
                    </a:p>
                  </a:txBody>
                  <a:tcPr marL="98036" marR="98036" anchor="ctr"/>
                </a:tc>
                <a:tc hMerge="1">
                  <a:txBody>
                    <a:bodyPr/>
                    <a:lstStyle/>
                    <a:p>
                      <a:pPr algn="ctr"/>
                      <a:endParaRPr lang="zh-CN" altLang="en-US" dirty="0"/>
                    </a:p>
                  </a:txBody>
                  <a:tcPr/>
                </a:tc>
                <a:tc gridSpan="2">
                  <a:txBody>
                    <a:bodyPr/>
                    <a:lstStyle/>
                    <a:p>
                      <a:pPr algn="ctr"/>
                      <a:r>
                        <a:rPr lang="en-US" altLang="zh-CN" sz="2000" dirty="0"/>
                        <a:t>XXXX</a:t>
                      </a:r>
                      <a:r>
                        <a:rPr lang="zh-CN" altLang="en-US" sz="2000" dirty="0"/>
                        <a:t>年</a:t>
                      </a:r>
                    </a:p>
                  </a:txBody>
                  <a:tcPr marL="98036" marR="98036" anchor="ctr"/>
                </a:tc>
                <a:tc hMerge="1">
                  <a:txBody>
                    <a:bodyPr/>
                    <a:lstStyle/>
                    <a:p>
                      <a:endParaRPr lang="zh-CN" altLang="en-US" dirty="0"/>
                    </a:p>
                  </a:txBody>
                  <a:tcPr/>
                </a:tc>
                <a:extLst>
                  <a:ext uri="{0D108BD9-81ED-4DB2-BD59-A6C34878D82A}">
                    <a16:rowId xmlns:a16="http://schemas.microsoft.com/office/drawing/2014/main" val="3579986144"/>
                  </a:ext>
                </a:extLst>
              </a:tr>
              <a:tr h="746839">
                <a:tc>
                  <a:txBody>
                    <a:bodyPr/>
                    <a:lstStyle/>
                    <a:p>
                      <a:r>
                        <a:rPr lang="zh-CN" altLang="en-US" sz="2000" dirty="0"/>
                        <a:t>可支配现金流量</a:t>
                      </a:r>
                    </a:p>
                  </a:txBody>
                  <a:tcPr anchor="ctr"/>
                </a:tc>
                <a:tc>
                  <a:txBody>
                    <a:bodyPr/>
                    <a:lstStyle/>
                    <a:p>
                      <a:endParaRPr lang="zh-CN" altLang="en-US" sz="2000" dirty="0"/>
                    </a:p>
                  </a:txBody>
                  <a:tcPr anchor="ctr"/>
                </a:tc>
                <a:tc>
                  <a:txBody>
                    <a:bodyPr/>
                    <a:lstStyle/>
                    <a:p>
                      <a:pPr algn="r"/>
                      <a:r>
                        <a:rPr lang="en-US" altLang="zh-CN" sz="2000" dirty="0"/>
                        <a:t>74.7</a:t>
                      </a:r>
                      <a:endParaRPr lang="zh-CN" altLang="en-US" sz="2000" dirty="0"/>
                    </a:p>
                  </a:txBody>
                  <a:tcPr anchor="ctr"/>
                </a:tc>
                <a:tc>
                  <a:txBody>
                    <a:bodyPr/>
                    <a:lstStyle/>
                    <a:p>
                      <a:pPr algn="r"/>
                      <a:endParaRPr lang="zh-CN" altLang="en-US" sz="2000" dirty="0"/>
                    </a:p>
                  </a:txBody>
                  <a:tcPr anchor="ctr"/>
                </a:tc>
                <a:extLst>
                  <a:ext uri="{0D108BD9-81ED-4DB2-BD59-A6C34878D82A}">
                    <a16:rowId xmlns:a16="http://schemas.microsoft.com/office/drawing/2014/main" val="3156817058"/>
                  </a:ext>
                </a:extLst>
              </a:tr>
              <a:tr h="690881">
                <a:tc>
                  <a:txBody>
                    <a:bodyPr/>
                    <a:lstStyle/>
                    <a:p>
                      <a:endParaRPr lang="zh-CN" altLang="en-US" sz="2000" dirty="0"/>
                    </a:p>
                  </a:txBody>
                  <a:tcPr anchor="ctr"/>
                </a:tc>
                <a:tc>
                  <a:txBody>
                    <a:bodyPr/>
                    <a:lstStyle/>
                    <a:p>
                      <a:r>
                        <a:rPr lang="zh-CN" altLang="en-US" sz="2000" dirty="0"/>
                        <a:t>收购</a:t>
                      </a:r>
                    </a:p>
                  </a:txBody>
                  <a:tcPr anchor="ctr"/>
                </a:tc>
                <a:tc>
                  <a:txBody>
                    <a:bodyPr/>
                    <a:lstStyle/>
                    <a:p>
                      <a:pPr algn="r"/>
                      <a:endParaRPr lang="zh-CN" altLang="en-US" sz="2000" dirty="0"/>
                    </a:p>
                  </a:txBody>
                  <a:tcPr anchor="ctr"/>
                </a:tc>
                <a:tc>
                  <a:txBody>
                    <a:bodyPr/>
                    <a:lstStyle/>
                    <a:p>
                      <a:pPr algn="r"/>
                      <a:r>
                        <a:rPr lang="en-US" altLang="zh-CN" sz="2000" dirty="0"/>
                        <a:t>-33.5</a:t>
                      </a:r>
                      <a:endParaRPr lang="zh-CN" altLang="en-US" sz="2000" dirty="0"/>
                    </a:p>
                  </a:txBody>
                  <a:tcPr anchor="ctr"/>
                </a:tc>
                <a:extLst>
                  <a:ext uri="{0D108BD9-81ED-4DB2-BD59-A6C34878D82A}">
                    <a16:rowId xmlns:a16="http://schemas.microsoft.com/office/drawing/2014/main" val="1094749015"/>
                  </a:ext>
                </a:extLst>
              </a:tr>
              <a:tr h="690881">
                <a:tc>
                  <a:txBody>
                    <a:bodyPr/>
                    <a:lstStyle/>
                    <a:p>
                      <a:endParaRPr lang="zh-CN" altLang="en-US" sz="2000" dirty="0"/>
                    </a:p>
                  </a:txBody>
                  <a:tcPr anchor="ctr"/>
                </a:tc>
                <a:tc>
                  <a:txBody>
                    <a:bodyPr/>
                    <a:lstStyle/>
                    <a:p>
                      <a:r>
                        <a:rPr lang="zh-CN" altLang="en-US" sz="2000" dirty="0"/>
                        <a:t>资产处置</a:t>
                      </a:r>
                    </a:p>
                  </a:txBody>
                  <a:tcPr anchor="ctr"/>
                </a:tc>
                <a:tc>
                  <a:txBody>
                    <a:bodyPr/>
                    <a:lstStyle/>
                    <a:p>
                      <a:pPr algn="r"/>
                      <a:endParaRPr lang="zh-CN" altLang="en-US" sz="2000" dirty="0"/>
                    </a:p>
                  </a:txBody>
                  <a:tcPr anchor="ctr"/>
                </a:tc>
                <a:tc>
                  <a:txBody>
                    <a:bodyPr/>
                    <a:lstStyle/>
                    <a:p>
                      <a:pPr algn="r"/>
                      <a:r>
                        <a:rPr lang="en-US" altLang="zh-CN" sz="2000" dirty="0"/>
                        <a:t>16.2</a:t>
                      </a:r>
                      <a:endParaRPr lang="zh-CN" altLang="en-US" sz="2000" dirty="0"/>
                    </a:p>
                  </a:txBody>
                  <a:tcPr anchor="ctr"/>
                </a:tc>
                <a:extLst>
                  <a:ext uri="{0D108BD9-81ED-4DB2-BD59-A6C34878D82A}">
                    <a16:rowId xmlns:a16="http://schemas.microsoft.com/office/drawing/2014/main" val="3234072134"/>
                  </a:ext>
                </a:extLst>
              </a:tr>
              <a:tr h="690881">
                <a:tc>
                  <a:txBody>
                    <a:bodyPr/>
                    <a:lstStyle/>
                    <a:p>
                      <a:endParaRPr lang="zh-CN" altLang="en-US" sz="2000" dirty="0"/>
                    </a:p>
                  </a:txBody>
                  <a:tcPr anchor="ctr"/>
                </a:tc>
                <a:tc>
                  <a:txBody>
                    <a:bodyPr/>
                    <a:lstStyle/>
                    <a:p>
                      <a:r>
                        <a:rPr lang="zh-CN" altLang="en-US" sz="2000" dirty="0"/>
                        <a:t>其他来源的现金</a:t>
                      </a:r>
                    </a:p>
                  </a:txBody>
                  <a:tcPr anchor="ctr"/>
                </a:tc>
                <a:tc>
                  <a:txBody>
                    <a:bodyPr/>
                    <a:lstStyle/>
                    <a:p>
                      <a:pPr algn="r"/>
                      <a:endParaRPr lang="zh-CN" altLang="en-US" sz="2000" dirty="0"/>
                    </a:p>
                  </a:txBody>
                  <a:tcPr anchor="ctr"/>
                </a:tc>
                <a:tc>
                  <a:txBody>
                    <a:bodyPr/>
                    <a:lstStyle/>
                    <a:p>
                      <a:pPr algn="r"/>
                      <a:r>
                        <a:rPr lang="en-US" altLang="zh-CN" sz="2000" dirty="0"/>
                        <a:t>-7.7</a:t>
                      </a:r>
                      <a:endParaRPr lang="zh-CN" altLang="en-US" sz="2000" dirty="0"/>
                    </a:p>
                  </a:txBody>
                  <a:tcPr anchor="ctr"/>
                </a:tc>
                <a:extLst>
                  <a:ext uri="{0D108BD9-81ED-4DB2-BD59-A6C34878D82A}">
                    <a16:rowId xmlns:a16="http://schemas.microsoft.com/office/drawing/2014/main" val="235280302"/>
                  </a:ext>
                </a:extLst>
              </a:tr>
              <a:tr h="746839">
                <a:tc>
                  <a:txBody>
                    <a:bodyPr/>
                    <a:lstStyle/>
                    <a:p>
                      <a:r>
                        <a:rPr lang="zh-CN" altLang="en-US" sz="2000" dirty="0"/>
                        <a:t>融资前的现金流量</a:t>
                      </a:r>
                    </a:p>
                  </a:txBody>
                  <a:tcPr anchor="ctr"/>
                </a:tc>
                <a:tc>
                  <a:txBody>
                    <a:bodyPr/>
                    <a:lstStyle/>
                    <a:p>
                      <a:endParaRPr lang="zh-CN" altLang="en-US" sz="2000" dirty="0"/>
                    </a:p>
                  </a:txBody>
                  <a:tcPr anchor="ctr"/>
                </a:tc>
                <a:tc>
                  <a:txBody>
                    <a:bodyPr/>
                    <a:lstStyle/>
                    <a:p>
                      <a:pPr algn="r"/>
                      <a:r>
                        <a:rPr lang="en-US" altLang="zh-CN" sz="2000" dirty="0"/>
                        <a:t>49.7</a:t>
                      </a:r>
                      <a:endParaRPr lang="zh-CN" altLang="en-US" sz="2000" dirty="0"/>
                    </a:p>
                  </a:txBody>
                  <a:tcPr anchor="ctr"/>
                </a:tc>
                <a:tc>
                  <a:txBody>
                    <a:bodyPr/>
                    <a:lstStyle/>
                    <a:p>
                      <a:pPr algn="r"/>
                      <a:endParaRPr lang="zh-CN" altLang="en-US" sz="2000" dirty="0"/>
                    </a:p>
                  </a:txBody>
                  <a:tcPr anchor="ctr"/>
                </a:tc>
                <a:extLst>
                  <a:ext uri="{0D108BD9-81ED-4DB2-BD59-A6C34878D82A}">
                    <a16:rowId xmlns:a16="http://schemas.microsoft.com/office/drawing/2014/main" val="1285002891"/>
                  </a:ext>
                </a:extLst>
              </a:tr>
              <a:tr h="690881">
                <a:tc>
                  <a:txBody>
                    <a:bodyPr/>
                    <a:lstStyle/>
                    <a:p>
                      <a:endParaRPr lang="zh-CN" altLang="en-US" sz="2000"/>
                    </a:p>
                  </a:txBody>
                  <a:tcPr anchor="ctr"/>
                </a:tc>
                <a:tc>
                  <a:txBody>
                    <a:bodyPr/>
                    <a:lstStyle/>
                    <a:p>
                      <a:r>
                        <a:rPr lang="zh-CN" altLang="en-US" sz="2000" dirty="0"/>
                        <a:t>短期负债的增减</a:t>
                      </a:r>
                    </a:p>
                  </a:txBody>
                  <a:tcPr anchor="ctr"/>
                </a:tc>
                <a:tc>
                  <a:txBody>
                    <a:bodyPr/>
                    <a:lstStyle/>
                    <a:p>
                      <a:pPr algn="r"/>
                      <a:endParaRPr lang="zh-CN" altLang="en-US" sz="2000" dirty="0"/>
                    </a:p>
                  </a:txBody>
                  <a:tcPr anchor="ctr"/>
                </a:tc>
                <a:tc>
                  <a:txBody>
                    <a:bodyPr/>
                    <a:lstStyle/>
                    <a:p>
                      <a:pPr algn="r"/>
                      <a:r>
                        <a:rPr lang="en-US" altLang="zh-CN" sz="2000" dirty="0"/>
                        <a:t>9.7</a:t>
                      </a:r>
                      <a:endParaRPr lang="zh-CN" altLang="en-US" sz="2000" dirty="0"/>
                    </a:p>
                  </a:txBody>
                  <a:tcPr anchor="ctr"/>
                </a:tc>
                <a:extLst>
                  <a:ext uri="{0D108BD9-81ED-4DB2-BD59-A6C34878D82A}">
                    <a16:rowId xmlns:a16="http://schemas.microsoft.com/office/drawing/2014/main" val="553762443"/>
                  </a:ext>
                </a:extLst>
              </a:tr>
              <a:tr h="690881">
                <a:tc>
                  <a:txBody>
                    <a:bodyPr/>
                    <a:lstStyle/>
                    <a:p>
                      <a:endParaRPr lang="zh-CN" altLang="en-US" sz="2000"/>
                    </a:p>
                  </a:txBody>
                  <a:tcPr anchor="ctr"/>
                </a:tc>
                <a:tc>
                  <a:txBody>
                    <a:bodyPr/>
                    <a:lstStyle/>
                    <a:p>
                      <a:r>
                        <a:rPr lang="zh-CN" altLang="en-US" sz="2000" dirty="0"/>
                        <a:t>长期负债的增减</a:t>
                      </a:r>
                    </a:p>
                  </a:txBody>
                  <a:tcPr anchor="ctr"/>
                </a:tc>
                <a:tc>
                  <a:txBody>
                    <a:bodyPr/>
                    <a:lstStyle/>
                    <a:p>
                      <a:pPr algn="r"/>
                      <a:endParaRPr lang="zh-CN" altLang="en-US" sz="2000" dirty="0"/>
                    </a:p>
                  </a:txBody>
                  <a:tcPr anchor="ctr"/>
                </a:tc>
                <a:tc>
                  <a:txBody>
                    <a:bodyPr/>
                    <a:lstStyle/>
                    <a:p>
                      <a:pPr algn="r"/>
                      <a:r>
                        <a:rPr lang="en-US" altLang="zh-CN" sz="2000" dirty="0"/>
                        <a:t>-26.6</a:t>
                      </a:r>
                      <a:endParaRPr lang="zh-CN" altLang="en-US" sz="2000" dirty="0"/>
                    </a:p>
                  </a:txBody>
                  <a:tcPr anchor="ctr"/>
                </a:tc>
                <a:extLst>
                  <a:ext uri="{0D108BD9-81ED-4DB2-BD59-A6C34878D82A}">
                    <a16:rowId xmlns:a16="http://schemas.microsoft.com/office/drawing/2014/main" val="1192712512"/>
                  </a:ext>
                </a:extLst>
              </a:tr>
              <a:tr h="690881">
                <a:tc>
                  <a:txBody>
                    <a:bodyPr/>
                    <a:lstStyle/>
                    <a:p>
                      <a:endParaRPr lang="zh-CN" altLang="en-US" sz="2000" dirty="0"/>
                    </a:p>
                  </a:txBody>
                  <a:tcPr anchor="ctr"/>
                </a:tc>
                <a:tc>
                  <a:txBody>
                    <a:bodyPr/>
                    <a:lstStyle/>
                    <a:p>
                      <a:r>
                        <a:rPr lang="zh-CN" altLang="en-US" sz="2000" dirty="0"/>
                        <a:t>普通股净出售</a:t>
                      </a:r>
                      <a:r>
                        <a:rPr lang="en-US" altLang="zh-CN" sz="2000" dirty="0"/>
                        <a:t>/</a:t>
                      </a:r>
                      <a:r>
                        <a:rPr lang="zh-CN" altLang="en-US" sz="2000" dirty="0"/>
                        <a:t>回购</a:t>
                      </a:r>
                    </a:p>
                  </a:txBody>
                  <a:tcPr anchor="ctr"/>
                </a:tc>
                <a:tc>
                  <a:txBody>
                    <a:bodyPr/>
                    <a:lstStyle/>
                    <a:p>
                      <a:pPr algn="r"/>
                      <a:endParaRPr lang="zh-CN" altLang="en-US" sz="2000" dirty="0"/>
                    </a:p>
                  </a:txBody>
                  <a:tcPr anchor="ctr"/>
                </a:tc>
                <a:tc>
                  <a:txBody>
                    <a:bodyPr/>
                    <a:lstStyle/>
                    <a:p>
                      <a:pPr algn="r"/>
                      <a:r>
                        <a:rPr lang="en-US" altLang="zh-CN" sz="2000" dirty="0"/>
                        <a:t>-35.4</a:t>
                      </a:r>
                      <a:endParaRPr lang="zh-CN" altLang="en-US" sz="2000" dirty="0"/>
                    </a:p>
                  </a:txBody>
                  <a:tcPr anchor="ctr"/>
                </a:tc>
                <a:extLst>
                  <a:ext uri="{0D108BD9-81ED-4DB2-BD59-A6C34878D82A}">
                    <a16:rowId xmlns:a16="http://schemas.microsoft.com/office/drawing/2014/main" val="3973763922"/>
                  </a:ext>
                </a:extLst>
              </a:tr>
              <a:tr h="690881">
                <a:tc>
                  <a:txBody>
                    <a:bodyPr/>
                    <a:lstStyle/>
                    <a:p>
                      <a:endParaRPr lang="zh-CN" altLang="en-US" sz="2000" dirty="0"/>
                    </a:p>
                  </a:txBody>
                  <a:tcPr anchor="ctr"/>
                </a:tc>
                <a:tc>
                  <a:txBody>
                    <a:bodyPr/>
                    <a:lstStyle/>
                    <a:p>
                      <a:pPr marL="0" marR="0" lvl="0" indent="0" algn="l" defTabSz="914397" rtl="0" eaLnBrk="1" fontAlgn="auto" latinLnBrk="0" hangingPunct="1">
                        <a:lnSpc>
                          <a:spcPct val="100000"/>
                        </a:lnSpc>
                        <a:spcBef>
                          <a:spcPts val="0"/>
                        </a:spcBef>
                        <a:spcAft>
                          <a:spcPts val="0"/>
                        </a:spcAft>
                        <a:buClrTx/>
                        <a:buSzTx/>
                        <a:buFontTx/>
                        <a:buNone/>
                        <a:tabLst/>
                        <a:defRPr/>
                      </a:pPr>
                      <a:r>
                        <a:rPr lang="zh-CN" altLang="en-US" sz="2000" dirty="0"/>
                        <a:t>净融资</a:t>
                      </a:r>
                    </a:p>
                  </a:txBody>
                  <a:tcPr anchor="ctr"/>
                </a:tc>
                <a:tc>
                  <a:txBody>
                    <a:bodyPr/>
                    <a:lstStyle/>
                    <a:p>
                      <a:pPr algn="r"/>
                      <a:endParaRPr lang="zh-CN" altLang="en-US" sz="2000" dirty="0"/>
                    </a:p>
                  </a:txBody>
                  <a:tcPr anchor="ctr"/>
                </a:tc>
                <a:tc>
                  <a:txBody>
                    <a:bodyPr/>
                    <a:lstStyle/>
                    <a:p>
                      <a:pPr marL="0" marR="0" lvl="0" indent="0" algn="r" defTabSz="914397" rtl="0" eaLnBrk="1" fontAlgn="auto" latinLnBrk="0" hangingPunct="1">
                        <a:lnSpc>
                          <a:spcPct val="100000"/>
                        </a:lnSpc>
                        <a:spcBef>
                          <a:spcPts val="0"/>
                        </a:spcBef>
                        <a:spcAft>
                          <a:spcPts val="0"/>
                        </a:spcAft>
                        <a:buClrTx/>
                        <a:buSzTx/>
                        <a:buFontTx/>
                        <a:buNone/>
                        <a:tabLst/>
                        <a:defRPr/>
                      </a:pPr>
                      <a:r>
                        <a:rPr lang="en-US" altLang="zh-CN" sz="2000" dirty="0"/>
                        <a:t>-52.3</a:t>
                      </a:r>
                      <a:endParaRPr lang="zh-CN" altLang="en-US" sz="2000" dirty="0"/>
                    </a:p>
                  </a:txBody>
                  <a:tcPr anchor="ctr"/>
                </a:tc>
                <a:extLst>
                  <a:ext uri="{0D108BD9-81ED-4DB2-BD59-A6C34878D82A}">
                    <a16:rowId xmlns:a16="http://schemas.microsoft.com/office/drawing/2014/main" val="785840199"/>
                  </a:ext>
                </a:extLst>
              </a:tr>
              <a:tr h="690881">
                <a:tc>
                  <a:txBody>
                    <a:bodyPr/>
                    <a:lstStyle/>
                    <a:p>
                      <a:endParaRPr lang="zh-CN" altLang="en-US" sz="2000" dirty="0"/>
                    </a:p>
                  </a:txBody>
                  <a:tcPr anchor="ctr"/>
                </a:tc>
                <a:tc>
                  <a:txBody>
                    <a:bodyPr/>
                    <a:lstStyle/>
                    <a:p>
                      <a:pPr marL="0" marR="0" lvl="0" indent="0" algn="l" defTabSz="914397" rtl="0" eaLnBrk="1" fontAlgn="auto" latinLnBrk="0" hangingPunct="1">
                        <a:lnSpc>
                          <a:spcPct val="100000"/>
                        </a:lnSpc>
                        <a:spcBef>
                          <a:spcPts val="0"/>
                        </a:spcBef>
                        <a:spcAft>
                          <a:spcPts val="0"/>
                        </a:spcAft>
                        <a:buClrTx/>
                        <a:buSzTx/>
                        <a:buFontTx/>
                        <a:buNone/>
                        <a:tabLst/>
                        <a:defRPr/>
                      </a:pPr>
                      <a:r>
                        <a:rPr lang="zh-CN" altLang="en-US" sz="2000" dirty="0"/>
                        <a:t>现金及等价物的增减</a:t>
                      </a:r>
                    </a:p>
                  </a:txBody>
                  <a:tcPr anchor="ctr"/>
                </a:tc>
                <a:tc>
                  <a:txBody>
                    <a:bodyPr/>
                    <a:lstStyle/>
                    <a:p>
                      <a:pPr algn="r"/>
                      <a:endParaRPr lang="zh-CN" altLang="en-US" sz="2000" dirty="0"/>
                    </a:p>
                  </a:txBody>
                  <a:tcPr anchor="ctr"/>
                </a:tc>
                <a:tc>
                  <a:txBody>
                    <a:bodyPr/>
                    <a:lstStyle/>
                    <a:p>
                      <a:pPr algn="r"/>
                      <a:r>
                        <a:rPr lang="en-US" altLang="zh-CN" sz="2000" dirty="0"/>
                        <a:t>-2.6</a:t>
                      </a:r>
                      <a:endParaRPr lang="zh-CN" altLang="en-US" sz="2000" dirty="0"/>
                    </a:p>
                  </a:txBody>
                  <a:tcPr anchor="ctr"/>
                </a:tc>
                <a:extLst>
                  <a:ext uri="{0D108BD9-81ED-4DB2-BD59-A6C34878D82A}">
                    <a16:rowId xmlns:a16="http://schemas.microsoft.com/office/drawing/2014/main" val="2418837111"/>
                  </a:ext>
                </a:extLst>
              </a:tr>
            </a:tbl>
          </a:graphicData>
        </a:graphic>
      </p:graphicFrame>
    </p:spTree>
    <p:extLst>
      <p:ext uri="{BB962C8B-B14F-4D97-AF65-F5344CB8AC3E}">
        <p14:creationId xmlns:p14="http://schemas.microsoft.com/office/powerpoint/2010/main" val="23644150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A1FE4F-F205-4252-8894-DA103516B10B}"/>
              </a:ext>
            </a:extLst>
          </p:cNvPr>
          <p:cNvSpPr>
            <a:spLocks noGrp="1"/>
          </p:cNvSpPr>
          <p:nvPr>
            <p:ph type="title"/>
          </p:nvPr>
        </p:nvSpPr>
        <p:spPr/>
        <p:txBody>
          <a:bodyPr/>
          <a:lstStyle/>
          <a:p>
            <a:r>
              <a:rPr lang="en-US" altLang="zh-CN" dirty="0"/>
              <a:t> EBITDA</a:t>
            </a:r>
            <a:r>
              <a:rPr lang="zh-CN" altLang="en-US" dirty="0"/>
              <a:t>代替</a:t>
            </a:r>
            <a:r>
              <a:rPr lang="en-US" altLang="zh-CN" dirty="0"/>
              <a:t>FFO</a:t>
            </a:r>
            <a:endParaRPr lang="zh-CN" altLang="en-US" dirty="0"/>
          </a:p>
        </p:txBody>
      </p:sp>
      <p:sp>
        <p:nvSpPr>
          <p:cNvPr id="3" name="内容占位符 2">
            <a:extLst>
              <a:ext uri="{FF2B5EF4-FFF2-40B4-BE49-F238E27FC236}">
                <a16:creationId xmlns:a16="http://schemas.microsoft.com/office/drawing/2014/main" id="{B4776C39-B5A5-4304-A538-58D64351B808}"/>
              </a:ext>
            </a:extLst>
          </p:cNvPr>
          <p:cNvSpPr>
            <a:spLocks noGrp="1"/>
          </p:cNvSpPr>
          <p:nvPr>
            <p:ph idx="1"/>
          </p:nvPr>
        </p:nvSpPr>
        <p:spPr/>
        <p:txBody>
          <a:bodyPr/>
          <a:lstStyle/>
          <a:p>
            <a:r>
              <a:rPr lang="zh-CN" altLang="en-US" dirty="0"/>
              <a:t>适用于发展激进的主体、经济周期底部时期的低等级主体、资产寿命比较长的主体</a:t>
            </a:r>
          </a:p>
          <a:p>
            <a:r>
              <a:rPr lang="zh-CN" altLang="en-US" dirty="0"/>
              <a:t>不适用中高等级主体，在经济周期恢复和顶部时期</a:t>
            </a:r>
          </a:p>
          <a:p>
            <a:r>
              <a:rPr lang="en-US" altLang="zh-CN" dirty="0"/>
              <a:t>EBITDA</a:t>
            </a:r>
            <a:r>
              <a:rPr lang="zh-CN" altLang="en-US" dirty="0"/>
              <a:t>应拆分为</a:t>
            </a:r>
            <a:r>
              <a:rPr lang="en-US" altLang="zh-CN" dirty="0"/>
              <a:t>EBIT</a:t>
            </a:r>
            <a:r>
              <a:rPr lang="zh-CN" altLang="en-US" dirty="0"/>
              <a:t>、折旧、摊销分别评估，</a:t>
            </a:r>
            <a:r>
              <a:rPr lang="en-US" altLang="zh-CN" dirty="0"/>
              <a:t>EBIT</a:t>
            </a:r>
            <a:r>
              <a:rPr lang="zh-CN" altLang="en-US" dirty="0"/>
              <a:t>占比反映了现金流占比</a:t>
            </a:r>
          </a:p>
          <a:p>
            <a:r>
              <a:rPr lang="en-US" altLang="zh-CN" dirty="0"/>
              <a:t>EBITDA</a:t>
            </a:r>
            <a:r>
              <a:rPr lang="zh-CN" altLang="en-US" dirty="0"/>
              <a:t>易被激进的会计政策操纵</a:t>
            </a:r>
          </a:p>
          <a:p>
            <a:r>
              <a:rPr lang="zh-CN" altLang="en-US" dirty="0"/>
              <a:t>不是所有收入都是现金，不是所有收入都来自主营业务</a:t>
            </a:r>
          </a:p>
          <a:p>
            <a:r>
              <a:rPr lang="zh-CN" altLang="en-US" dirty="0"/>
              <a:t>折旧和摊销会夸大运营资本增长期间的现金流量</a:t>
            </a:r>
          </a:p>
          <a:p>
            <a:r>
              <a:rPr lang="zh-CN" altLang="en-US" dirty="0"/>
              <a:t>未考虑行业特性，容易忽视资产重置支出的影响，尤其对资产寿命较短的主体</a:t>
            </a:r>
          </a:p>
          <a:p>
            <a:r>
              <a:rPr lang="zh-CN" altLang="en-US" dirty="0"/>
              <a:t>不同会计准则下的可比性较差</a:t>
            </a:r>
          </a:p>
        </p:txBody>
      </p:sp>
    </p:spTree>
    <p:extLst>
      <p:ext uri="{BB962C8B-B14F-4D97-AF65-F5344CB8AC3E}">
        <p14:creationId xmlns:p14="http://schemas.microsoft.com/office/powerpoint/2010/main" val="19528285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13DCC81-0CCF-404F-B18A-B0BA29BE7C98}"/>
              </a:ext>
            </a:extLst>
          </p:cNvPr>
          <p:cNvSpPr>
            <a:spLocks noGrp="1"/>
          </p:cNvSpPr>
          <p:nvPr>
            <p:ph type="title"/>
          </p:nvPr>
        </p:nvSpPr>
        <p:spPr/>
        <p:txBody>
          <a:bodyPr/>
          <a:lstStyle/>
          <a:p>
            <a:r>
              <a:rPr lang="zh-CN" altLang="en-US" dirty="0"/>
              <a:t>现金流</a:t>
            </a:r>
          </a:p>
        </p:txBody>
      </p:sp>
      <mc:AlternateContent xmlns:mc="http://schemas.openxmlformats.org/markup-compatibility/2006" xmlns:a14="http://schemas.microsoft.com/office/drawing/2010/main">
        <mc:Choice Requires="a14">
          <p:sp>
            <p:nvSpPr>
              <p:cNvPr id="7" name="内容占位符 6">
                <a:extLst>
                  <a:ext uri="{FF2B5EF4-FFF2-40B4-BE49-F238E27FC236}">
                    <a16:creationId xmlns:a16="http://schemas.microsoft.com/office/drawing/2014/main" id="{E33DA0AE-394B-41BE-B7A0-EFB139B6B5E1}"/>
                  </a:ext>
                </a:extLst>
              </p:cNvPr>
              <p:cNvSpPr>
                <a:spLocks noGrp="1"/>
              </p:cNvSpPr>
              <p:nvPr>
                <p:ph idx="1"/>
              </p:nvPr>
            </p:nvSpPr>
            <p:spPr>
              <a:xfrm>
                <a:off x="949497" y="1593045"/>
                <a:ext cx="15378696" cy="7828747"/>
              </a:xfrm>
            </p:spPr>
            <p:txBody>
              <a:bodyPr>
                <a:normAutofit/>
              </a:bodyPr>
              <a:lstStyle/>
              <a:p>
                <a:r>
                  <a:rPr lang="zh-CN" altLang="en-US" b="1" dirty="0"/>
                  <a:t>自由运营现金流</a:t>
                </a:r>
                <a:r>
                  <a:rPr lang="zh-CN" altLang="en-US" dirty="0"/>
                  <a:t>，准确评估可自由支配的现金流和外部融资需求，据此测算未来的各项财务指标</a:t>
                </a:r>
                <a:endParaRPr lang="en-US" altLang="zh-CN" dirty="0"/>
              </a:p>
              <a:p>
                <a:pPr marL="0" indent="0">
                  <a:buNone/>
                </a:pPr>
                <a14:m>
                  <m:oMathPara xmlns:m="http://schemas.openxmlformats.org/officeDocument/2006/math">
                    <m:oMathParaPr>
                      <m:jc m:val="center"/>
                    </m:oMathParaPr>
                    <m:oMath xmlns:m="http://schemas.openxmlformats.org/officeDocument/2006/math">
                      <m:r>
                        <m:rPr>
                          <m:nor/>
                        </m:rPr>
                        <a:rPr lang="en-US" altLang="zh-CN" dirty="0">
                          <a:solidFill>
                            <a:srgbClr val="C00000"/>
                          </a:solidFill>
                        </a:rPr>
                        <m:t>FFFO</m:t>
                      </m:r>
                      <m:r>
                        <a:rPr lang="en-US" altLang="zh-CN" i="1">
                          <a:solidFill>
                            <a:srgbClr val="C00000"/>
                          </a:solidFill>
                          <a:latin typeface="Cambria Math" panose="02040503050406030204" pitchFamily="18" charset="0"/>
                        </a:rPr>
                        <m:t>=</m:t>
                      </m:r>
                      <m:r>
                        <m:rPr>
                          <m:nor/>
                        </m:rPr>
                        <a:rPr lang="zh-CN" altLang="en-US" dirty="0">
                          <a:solidFill>
                            <a:srgbClr val="C00000"/>
                          </a:solidFill>
                        </a:rPr>
                        <m:t>运营现金流</m:t>
                      </m:r>
                      <m:r>
                        <a:rPr lang="zh-CN" altLang="en-US" i="1" dirty="0" smtClean="0">
                          <a:solidFill>
                            <a:srgbClr val="C00000"/>
                          </a:solidFill>
                          <a:latin typeface="Cambria Math" panose="02040503050406030204" pitchFamily="18" charset="0"/>
                        </a:rPr>
                        <m:t>量</m:t>
                      </m:r>
                      <m:r>
                        <a:rPr lang="en-US" altLang="zh-CN" dirty="0">
                          <a:solidFill>
                            <a:srgbClr val="C00000"/>
                          </a:solidFill>
                          <a:latin typeface="Cambria Math" panose="02040503050406030204" pitchFamily="18" charset="0"/>
                        </a:rPr>
                        <m:t>−</m:t>
                      </m:r>
                      <m:r>
                        <m:rPr>
                          <m:nor/>
                        </m:rPr>
                        <a:rPr lang="zh-CN" altLang="en-US" dirty="0">
                          <a:solidFill>
                            <a:srgbClr val="C00000"/>
                          </a:solidFill>
                        </a:rPr>
                        <m:t>资本支出</m:t>
                      </m:r>
                      <m:r>
                        <a:rPr lang="en-US" altLang="zh-CN" dirty="0">
                          <a:solidFill>
                            <a:srgbClr val="C00000"/>
                          </a:solidFill>
                          <a:latin typeface="Cambria Math" panose="02040503050406030204" pitchFamily="18" charset="0"/>
                        </a:rPr>
                        <m:t>=</m:t>
                      </m:r>
                      <m:r>
                        <a:rPr lang="en-US" altLang="zh-CN" i="1" dirty="0">
                          <a:solidFill>
                            <a:srgbClr val="C00000"/>
                          </a:solidFill>
                          <a:latin typeface="Cambria Math" panose="02040503050406030204" pitchFamily="18" charset="0"/>
                        </a:rPr>
                        <m:t>【</m:t>
                      </m:r>
                      <m:r>
                        <m:rPr>
                          <m:nor/>
                        </m:rPr>
                        <a:rPr lang="zh-CN" altLang="en-US" dirty="0">
                          <a:solidFill>
                            <a:srgbClr val="C00000"/>
                          </a:solidFill>
                        </a:rPr>
                        <m:t>运营资金</m:t>
                      </m:r>
                      <m:r>
                        <a:rPr lang="en-US" altLang="zh-CN" dirty="0">
                          <a:solidFill>
                            <a:srgbClr val="C00000"/>
                          </a:solidFill>
                          <a:latin typeface="Cambria Math" panose="02040503050406030204" pitchFamily="18" charset="0"/>
                        </a:rPr>
                        <m:t>−</m:t>
                      </m:r>
                      <m:r>
                        <m:rPr>
                          <m:nor/>
                        </m:rPr>
                        <a:rPr lang="zh-CN" altLang="en-US" dirty="0">
                          <a:solidFill>
                            <a:srgbClr val="C00000"/>
                          </a:solidFill>
                        </a:rPr>
                        <m:t>运营资本变动</m:t>
                      </m:r>
                      <m:r>
                        <a:rPr lang="en-US" altLang="zh-CN" i="1" dirty="0" smtClean="0">
                          <a:solidFill>
                            <a:srgbClr val="C00000"/>
                          </a:solidFill>
                          <a:latin typeface="Cambria Math" panose="02040503050406030204" pitchFamily="18" charset="0"/>
                        </a:rPr>
                        <m:t>】</m:t>
                      </m:r>
                      <m:r>
                        <a:rPr lang="en-US" altLang="zh-CN" dirty="0">
                          <a:solidFill>
                            <a:srgbClr val="C00000"/>
                          </a:solidFill>
                          <a:latin typeface="Cambria Math" panose="02040503050406030204" pitchFamily="18" charset="0"/>
                        </a:rPr>
                        <m:t>−</m:t>
                      </m:r>
                      <m:r>
                        <m:rPr>
                          <m:nor/>
                        </m:rPr>
                        <a:rPr lang="zh-CN" altLang="en-US" dirty="0" smtClean="0">
                          <a:solidFill>
                            <a:srgbClr val="C00000"/>
                          </a:solidFill>
                        </a:rPr>
                        <m:t>资</m:t>
                      </m:r>
                      <m:r>
                        <m:rPr>
                          <m:nor/>
                        </m:rPr>
                        <a:rPr lang="zh-CN" altLang="en-US" dirty="0">
                          <a:solidFill>
                            <a:srgbClr val="C00000"/>
                          </a:solidFill>
                        </a:rPr>
                        <m:t>本支出</m:t>
                      </m:r>
                    </m:oMath>
                  </m:oMathPara>
                </a14:m>
                <a:endParaRPr lang="zh-CN" altLang="en-US" dirty="0">
                  <a:solidFill>
                    <a:srgbClr val="C00000"/>
                  </a:solidFill>
                </a:endParaRPr>
              </a:p>
              <a:p>
                <a:endParaRPr lang="en-US" altLang="zh-CN" dirty="0"/>
              </a:p>
              <a:p>
                <a:r>
                  <a:rPr lang="zh-CN" altLang="en-US" dirty="0"/>
                  <a:t>运营现金流量，指从运营资金中扣除运营资本变动，运营资本变动包括短期现金占用、应收账款的实现，应付账款的预付、存货积累或销售等。运营资本变动的因素会以不显著但持续的方式影响运营现金流。</a:t>
                </a:r>
                <a:endParaRPr lang="en-US" altLang="zh-CN" dirty="0"/>
              </a:p>
              <a:p>
                <a:r>
                  <a:rPr lang="zh-CN" altLang="en-US" dirty="0"/>
                  <a:t>资本支出，指为维持公司运营的资本投入，包括运营资本和长期资本投资</a:t>
                </a:r>
                <a:endParaRPr lang="en-US" altLang="zh-CN" dirty="0"/>
              </a:p>
              <a:p>
                <a:r>
                  <a:rPr lang="zh-CN" altLang="en-US" dirty="0"/>
                  <a:t>灵活调整：未来的现金股利、预计的资本支出、潜在的利息支付和优先股息等</a:t>
                </a:r>
                <a:endParaRPr lang="en-US" altLang="zh-CN" dirty="0"/>
              </a:p>
              <a:p>
                <a:pPr lvl="2"/>
                <a:endParaRPr lang="en-US" altLang="zh-CN" dirty="0"/>
              </a:p>
              <a:p>
                <a:pPr lvl="2"/>
                <a:r>
                  <a:rPr lang="zh-CN" altLang="zh-CN" dirty="0"/>
                  <a:t>经营现金流</a:t>
                </a:r>
                <a:r>
                  <a:rPr lang="zh-CN" altLang="en-US" dirty="0"/>
                  <a:t>：</a:t>
                </a:r>
                <a:r>
                  <a:rPr lang="zh-CN" altLang="zh-CN" dirty="0"/>
                  <a:t>经营性总现金流量、经营性净现金流的规模及波动</a:t>
                </a:r>
                <a:r>
                  <a:rPr lang="zh-CN" altLang="en-US" dirty="0"/>
                  <a:t>，</a:t>
                </a:r>
                <a:r>
                  <a:rPr lang="zh-CN" altLang="zh-CN" dirty="0"/>
                  <a:t>分析具体原因；</a:t>
                </a:r>
                <a:endParaRPr lang="en-US" altLang="zh-CN" dirty="0"/>
              </a:p>
              <a:p>
                <a:pPr lvl="2"/>
                <a:r>
                  <a:rPr lang="zh-CN" altLang="zh-CN" dirty="0"/>
                  <a:t>投资现金流</a:t>
                </a:r>
                <a:r>
                  <a:rPr lang="zh-CN" altLang="en-US" dirty="0"/>
                  <a:t>：</a:t>
                </a:r>
                <a:r>
                  <a:rPr lang="zh-CN" altLang="zh-CN" dirty="0"/>
                  <a:t>考察资本支出计划，结合资金安排、筹资能力判断资金缺口</a:t>
                </a:r>
                <a:endParaRPr lang="en-US" altLang="zh-CN" dirty="0"/>
              </a:p>
              <a:p>
                <a:pPr lvl="2"/>
                <a:r>
                  <a:rPr lang="zh-CN" altLang="zh-CN" dirty="0"/>
                  <a:t>筹资现金流</a:t>
                </a:r>
                <a:r>
                  <a:rPr lang="zh-CN" altLang="en-US" dirty="0"/>
                  <a:t>：</a:t>
                </a:r>
                <a:r>
                  <a:rPr lang="zh-CN" altLang="zh-CN" dirty="0"/>
                  <a:t>筹资活动现金流净额变化</a:t>
                </a:r>
                <a:endParaRPr lang="en-US" altLang="zh-CN" dirty="0"/>
              </a:p>
            </p:txBody>
          </p:sp>
        </mc:Choice>
        <mc:Fallback xmlns="">
          <p:sp>
            <p:nvSpPr>
              <p:cNvPr id="7" name="内容占位符 6">
                <a:extLst>
                  <a:ext uri="{FF2B5EF4-FFF2-40B4-BE49-F238E27FC236}">
                    <a16:creationId xmlns:a16="http://schemas.microsoft.com/office/drawing/2014/main" id="{E33DA0AE-394B-41BE-B7A0-EFB139B6B5E1}"/>
                  </a:ext>
                </a:extLst>
              </p:cNvPr>
              <p:cNvSpPr>
                <a:spLocks noGrp="1" noRot="1" noChangeAspect="1" noMove="1" noResize="1" noEditPoints="1" noAdjustHandles="1" noChangeArrowheads="1" noChangeShapeType="1" noTextEdit="1"/>
              </p:cNvSpPr>
              <p:nvPr>
                <p:ph idx="1"/>
              </p:nvPr>
            </p:nvSpPr>
            <p:spPr>
              <a:xfrm>
                <a:off x="949497" y="1593045"/>
                <a:ext cx="15378696" cy="7828747"/>
              </a:xfrm>
              <a:blipFill>
                <a:blip r:embed="rId2"/>
                <a:stretch>
                  <a:fillRect l="-555" r="-3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156388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13DCC81-0CCF-404F-B18A-B0BA29BE7C98}"/>
              </a:ext>
            </a:extLst>
          </p:cNvPr>
          <p:cNvSpPr>
            <a:spLocks noGrp="1"/>
          </p:cNvSpPr>
          <p:nvPr>
            <p:ph type="title"/>
          </p:nvPr>
        </p:nvSpPr>
        <p:spPr/>
        <p:txBody>
          <a:bodyPr/>
          <a:lstStyle/>
          <a:p>
            <a:r>
              <a:rPr lang="zh-CN" altLang="en-US" dirty="0"/>
              <a:t>现金流</a:t>
            </a:r>
          </a:p>
        </p:txBody>
      </p:sp>
      <p:sp>
        <p:nvSpPr>
          <p:cNvPr id="7" name="内容占位符 6">
            <a:extLst>
              <a:ext uri="{FF2B5EF4-FFF2-40B4-BE49-F238E27FC236}">
                <a16:creationId xmlns:a16="http://schemas.microsoft.com/office/drawing/2014/main" id="{E33DA0AE-394B-41BE-B7A0-EFB139B6B5E1}"/>
              </a:ext>
            </a:extLst>
          </p:cNvPr>
          <p:cNvSpPr>
            <a:spLocks noGrp="1"/>
          </p:cNvSpPr>
          <p:nvPr>
            <p:ph idx="1"/>
          </p:nvPr>
        </p:nvSpPr>
        <p:spPr/>
        <p:txBody>
          <a:bodyPr>
            <a:normAutofit/>
          </a:bodyPr>
          <a:lstStyle/>
          <a:p>
            <a:r>
              <a:rPr lang="zh-CN" altLang="en-US" b="1" dirty="0"/>
              <a:t>现金流比率</a:t>
            </a:r>
            <a:r>
              <a:rPr lang="zh-CN" altLang="en-US" dirty="0"/>
              <a:t>，用于显示公司偿付长期债务、兑付短期利息和承担资本支出的能力</a:t>
            </a:r>
            <a:endParaRPr lang="en-US" altLang="zh-CN" dirty="0"/>
          </a:p>
          <a:p>
            <a:pPr lvl="1"/>
            <a:r>
              <a:rPr lang="zh-CN" altLang="en-US" dirty="0"/>
              <a:t>负债还本比率，对总负债的偿付能力</a:t>
            </a:r>
            <a:endParaRPr lang="en-US" altLang="zh-CN" dirty="0"/>
          </a:p>
          <a:p>
            <a:pPr lvl="2"/>
            <a:r>
              <a:rPr lang="en-US" altLang="zh-CN" dirty="0"/>
              <a:t>FFO / </a:t>
            </a:r>
            <a:r>
              <a:rPr lang="zh-CN" altLang="en-US" dirty="0"/>
              <a:t>总负债；运营现金流量 </a:t>
            </a:r>
            <a:r>
              <a:rPr lang="en-US" altLang="zh-CN" dirty="0"/>
              <a:t>/ </a:t>
            </a:r>
            <a:r>
              <a:rPr lang="zh-CN" altLang="en-US" dirty="0"/>
              <a:t>总负债</a:t>
            </a:r>
            <a:endParaRPr lang="en-US" altLang="zh-CN" dirty="0"/>
          </a:p>
          <a:p>
            <a:pPr lvl="2"/>
            <a:r>
              <a:rPr lang="zh-CN" altLang="en-US" dirty="0"/>
              <a:t>总负债 </a:t>
            </a:r>
            <a:r>
              <a:rPr lang="en-US" altLang="zh-CN" dirty="0"/>
              <a:t>/ FFFO</a:t>
            </a:r>
            <a:r>
              <a:rPr lang="zh-CN" altLang="en-US" dirty="0"/>
              <a:t>；总负债 </a:t>
            </a:r>
            <a:r>
              <a:rPr lang="en-US" altLang="zh-CN" dirty="0"/>
              <a:t>/ EBITDA</a:t>
            </a:r>
          </a:p>
          <a:p>
            <a:pPr lvl="1"/>
            <a:endParaRPr lang="en-US" altLang="zh-CN" dirty="0"/>
          </a:p>
          <a:p>
            <a:r>
              <a:rPr lang="zh-CN" altLang="en-US" b="1" dirty="0"/>
              <a:t>偿付比率</a:t>
            </a:r>
            <a:r>
              <a:rPr lang="zh-CN" altLang="en-US" dirty="0"/>
              <a:t>，对利息和短期债务的偿付能力</a:t>
            </a:r>
            <a:endParaRPr lang="en-US" altLang="zh-CN" dirty="0"/>
          </a:p>
          <a:p>
            <a:pPr lvl="1"/>
            <a:r>
              <a:rPr lang="en-US" altLang="zh-CN" dirty="0"/>
              <a:t>EBITDA / </a:t>
            </a:r>
            <a:r>
              <a:rPr lang="zh-CN" altLang="en-US" dirty="0"/>
              <a:t>利息费用；</a:t>
            </a:r>
            <a:r>
              <a:rPr lang="en-US" altLang="zh-CN" dirty="0"/>
              <a:t>【 FFFO + </a:t>
            </a:r>
            <a:r>
              <a:rPr lang="zh-CN" altLang="en-US" dirty="0"/>
              <a:t>利息费用</a:t>
            </a:r>
            <a:r>
              <a:rPr lang="en-US" altLang="zh-CN" dirty="0"/>
              <a:t>】</a:t>
            </a:r>
            <a:r>
              <a:rPr lang="zh-CN" altLang="en-US" dirty="0"/>
              <a:t> </a:t>
            </a:r>
            <a:r>
              <a:rPr lang="en-US" altLang="zh-CN" dirty="0"/>
              <a:t>/ </a:t>
            </a:r>
            <a:r>
              <a:rPr lang="zh-CN" altLang="en-US" dirty="0"/>
              <a:t>利息费用</a:t>
            </a:r>
            <a:endParaRPr lang="en-US" altLang="zh-CN" dirty="0"/>
          </a:p>
          <a:p>
            <a:pPr lvl="1"/>
            <a:r>
              <a:rPr lang="en-US" altLang="zh-CN" dirty="0"/>
              <a:t>【 FFFO + </a:t>
            </a:r>
            <a:r>
              <a:rPr lang="zh-CN" altLang="en-US" dirty="0"/>
              <a:t>利息费用</a:t>
            </a:r>
            <a:r>
              <a:rPr lang="en-US" altLang="zh-CN" dirty="0"/>
              <a:t>】/ 【 </a:t>
            </a:r>
            <a:r>
              <a:rPr lang="zh-CN" altLang="en-US" dirty="0"/>
              <a:t>利息费用 </a:t>
            </a:r>
            <a:r>
              <a:rPr lang="en-US" altLang="zh-CN" dirty="0"/>
              <a:t>+ </a:t>
            </a:r>
            <a:r>
              <a:rPr lang="zh-CN" altLang="en-US" dirty="0"/>
              <a:t>当年到期债务</a:t>
            </a:r>
            <a:r>
              <a:rPr lang="en-US" altLang="zh-CN" dirty="0"/>
              <a:t>】</a:t>
            </a:r>
          </a:p>
          <a:p>
            <a:pPr lvl="1"/>
            <a:endParaRPr lang="en-US" altLang="zh-CN" dirty="0"/>
          </a:p>
          <a:p>
            <a:r>
              <a:rPr lang="zh-CN" altLang="en-US" b="1" dirty="0"/>
              <a:t>资本支出覆盖率</a:t>
            </a:r>
            <a:r>
              <a:rPr lang="zh-CN" altLang="en-US" dirty="0"/>
              <a:t>，评估对资本支出的支持能力</a:t>
            </a:r>
            <a:endParaRPr lang="en-US" altLang="zh-CN" dirty="0"/>
          </a:p>
          <a:p>
            <a:pPr lvl="1"/>
            <a:r>
              <a:rPr lang="en-US" altLang="zh-CN" dirty="0"/>
              <a:t>FFO / </a:t>
            </a:r>
            <a:r>
              <a:rPr lang="zh-CN" altLang="en-US" dirty="0"/>
              <a:t>资本支出；运营现金流量 </a:t>
            </a:r>
            <a:r>
              <a:rPr lang="en-US" altLang="zh-CN" dirty="0"/>
              <a:t>/ </a:t>
            </a:r>
            <a:r>
              <a:rPr lang="zh-CN" altLang="en-US" dirty="0"/>
              <a:t>资本支出</a:t>
            </a:r>
          </a:p>
        </p:txBody>
      </p:sp>
    </p:spTree>
    <p:extLst>
      <p:ext uri="{BB962C8B-B14F-4D97-AF65-F5344CB8AC3E}">
        <p14:creationId xmlns:p14="http://schemas.microsoft.com/office/powerpoint/2010/main" val="21962799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80F204-079F-4253-89CF-A7A28089B7D7}"/>
              </a:ext>
            </a:extLst>
          </p:cNvPr>
          <p:cNvSpPr>
            <a:spLocks noGrp="1"/>
          </p:cNvSpPr>
          <p:nvPr>
            <p:ph type="title"/>
          </p:nvPr>
        </p:nvSpPr>
        <p:spPr/>
        <p:txBody>
          <a:bodyPr/>
          <a:lstStyle/>
          <a:p>
            <a:r>
              <a:rPr lang="en-US" altLang="zh-CN" dirty="0"/>
              <a:t> </a:t>
            </a:r>
            <a:r>
              <a:rPr lang="zh-CN" altLang="en-US" dirty="0"/>
              <a:t>各类潜在的债务来源</a:t>
            </a:r>
          </a:p>
        </p:txBody>
      </p:sp>
      <p:sp>
        <p:nvSpPr>
          <p:cNvPr id="3" name="内容占位符 2">
            <a:extLst>
              <a:ext uri="{FF2B5EF4-FFF2-40B4-BE49-F238E27FC236}">
                <a16:creationId xmlns:a16="http://schemas.microsoft.com/office/drawing/2014/main" id="{F88360EB-002B-4CF9-8A81-298747CB9835}"/>
              </a:ext>
            </a:extLst>
          </p:cNvPr>
          <p:cNvSpPr>
            <a:spLocks noGrp="1"/>
          </p:cNvSpPr>
          <p:nvPr>
            <p:ph idx="1"/>
          </p:nvPr>
        </p:nvSpPr>
        <p:spPr/>
        <p:txBody>
          <a:bodyPr>
            <a:normAutofit/>
          </a:bodyPr>
          <a:lstStyle/>
          <a:p>
            <a:r>
              <a:rPr lang="zh-CN" altLang="en-US" dirty="0"/>
              <a:t>负债情况</a:t>
            </a:r>
            <a:endParaRPr lang="en-US" altLang="zh-CN" dirty="0"/>
          </a:p>
          <a:p>
            <a:pPr lvl="1"/>
            <a:r>
              <a:rPr lang="zh-CN" altLang="en-US" dirty="0"/>
              <a:t>短期和长期债务期限、未偿付票据</a:t>
            </a:r>
            <a:endParaRPr lang="en-US" altLang="zh-CN" dirty="0"/>
          </a:p>
          <a:p>
            <a:endParaRPr lang="en-US" altLang="zh-CN" dirty="0"/>
          </a:p>
          <a:p>
            <a:r>
              <a:rPr lang="zh-CN" altLang="en-US" dirty="0"/>
              <a:t>银行授信</a:t>
            </a:r>
            <a:endParaRPr lang="en-US" altLang="zh-CN" dirty="0"/>
          </a:p>
          <a:p>
            <a:pPr lvl="1"/>
            <a:r>
              <a:rPr lang="zh-CN" altLang="en-US" dirty="0"/>
              <a:t>总额、可用额度、贷款期限、实质性的不利变化条款、触发条款、限制性条款等</a:t>
            </a:r>
            <a:endParaRPr lang="en-US" altLang="zh-CN" dirty="0"/>
          </a:p>
          <a:p>
            <a:endParaRPr lang="en-US" altLang="zh-CN" dirty="0"/>
          </a:p>
          <a:p>
            <a:r>
              <a:rPr lang="zh-CN" altLang="en-US" dirty="0"/>
              <a:t>表外负债</a:t>
            </a:r>
            <a:endParaRPr lang="en-US" altLang="zh-CN" dirty="0"/>
          </a:p>
          <a:p>
            <a:pPr lvl="1"/>
            <a:r>
              <a:rPr lang="zh-CN" altLang="en-US" dirty="0"/>
              <a:t>子公司担保、合资公司、承诺付款的采购合同、或有负债</a:t>
            </a:r>
            <a:endParaRPr lang="en-US" altLang="zh-CN" dirty="0"/>
          </a:p>
          <a:p>
            <a:endParaRPr lang="en-US" altLang="zh-CN" dirty="0"/>
          </a:p>
          <a:p>
            <a:r>
              <a:rPr lang="zh-CN" altLang="en-US" dirty="0"/>
              <a:t>其他来源</a:t>
            </a:r>
            <a:endParaRPr lang="en-US" altLang="zh-CN" dirty="0"/>
          </a:p>
          <a:p>
            <a:pPr lvl="1"/>
            <a:r>
              <a:rPr lang="en-US" altLang="zh-CN" dirty="0"/>
              <a:t>FFFO</a:t>
            </a:r>
            <a:r>
              <a:rPr lang="zh-CN" altLang="en-US" dirty="0"/>
              <a:t>、现金 </a:t>
            </a:r>
            <a:r>
              <a:rPr lang="en-US" altLang="zh-CN" dirty="0"/>
              <a:t>/ </a:t>
            </a:r>
            <a:r>
              <a:rPr lang="zh-CN" altLang="en-US" dirty="0"/>
              <a:t>流动资产、资产处置、股利分配减少、缩减资本开支、母公司支持</a:t>
            </a:r>
          </a:p>
        </p:txBody>
      </p:sp>
    </p:spTree>
    <p:extLst>
      <p:ext uri="{BB962C8B-B14F-4D97-AF65-F5344CB8AC3E}">
        <p14:creationId xmlns:p14="http://schemas.microsoft.com/office/powerpoint/2010/main" val="29072160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13DCC81-0CCF-404F-B18A-B0BA29BE7C98}"/>
              </a:ext>
            </a:extLst>
          </p:cNvPr>
          <p:cNvSpPr>
            <a:spLocks noGrp="1"/>
          </p:cNvSpPr>
          <p:nvPr>
            <p:ph type="title"/>
          </p:nvPr>
        </p:nvSpPr>
        <p:spPr/>
        <p:txBody>
          <a:bodyPr/>
          <a:lstStyle/>
          <a:p>
            <a:r>
              <a:rPr lang="zh-CN" altLang="en-US" dirty="0"/>
              <a:t>财务灵活性</a:t>
            </a:r>
          </a:p>
        </p:txBody>
      </p:sp>
      <p:sp>
        <p:nvSpPr>
          <p:cNvPr id="7" name="内容占位符 6">
            <a:extLst>
              <a:ext uri="{FF2B5EF4-FFF2-40B4-BE49-F238E27FC236}">
                <a16:creationId xmlns:a16="http://schemas.microsoft.com/office/drawing/2014/main" id="{E33DA0AE-394B-41BE-B7A0-EFB139B6B5E1}"/>
              </a:ext>
            </a:extLst>
          </p:cNvPr>
          <p:cNvSpPr>
            <a:spLocks noGrp="1"/>
          </p:cNvSpPr>
          <p:nvPr>
            <p:ph idx="1"/>
          </p:nvPr>
        </p:nvSpPr>
        <p:spPr/>
        <p:txBody>
          <a:bodyPr>
            <a:normAutofit lnSpcReduction="10000"/>
          </a:bodyPr>
          <a:lstStyle/>
          <a:p>
            <a:r>
              <a:rPr lang="zh-CN" altLang="en-US" dirty="0"/>
              <a:t>何时需要流动性</a:t>
            </a:r>
            <a:endParaRPr lang="en-US" altLang="zh-CN" dirty="0"/>
          </a:p>
          <a:p>
            <a:pPr lvl="1"/>
            <a:r>
              <a:rPr lang="zh-CN" altLang="en-US" dirty="0"/>
              <a:t>主体信用等级主导流动性的获取难易程度</a:t>
            </a:r>
            <a:endParaRPr lang="en-US" altLang="zh-CN" dirty="0"/>
          </a:p>
          <a:p>
            <a:pPr lvl="1"/>
            <a:r>
              <a:rPr lang="zh-CN" altLang="en-US" dirty="0"/>
              <a:t>流动性分析也可用于评估管理层投机程度</a:t>
            </a:r>
            <a:endParaRPr lang="en-US" altLang="zh-CN" dirty="0"/>
          </a:p>
          <a:p>
            <a:pPr lvl="1"/>
            <a:r>
              <a:rPr lang="zh-CN" altLang="en-US" dirty="0"/>
              <a:t>定性分析为主，现金流具有高度的时间敏感度，因此需要建立在切合公司实际情况的基础上进行分析</a:t>
            </a:r>
            <a:endParaRPr lang="en-US" altLang="zh-CN" dirty="0"/>
          </a:p>
          <a:p>
            <a:pPr lvl="1"/>
            <a:r>
              <a:rPr lang="zh-CN" altLang="en-US" dirty="0"/>
              <a:t>意外事件、或有债务、表外负债等都会触发流动性危机</a:t>
            </a:r>
            <a:endParaRPr lang="en-US" altLang="zh-CN" dirty="0"/>
          </a:p>
          <a:p>
            <a:r>
              <a:rPr lang="zh-CN" altLang="en-US" dirty="0"/>
              <a:t>流动性来源</a:t>
            </a:r>
            <a:endParaRPr lang="en-US" altLang="zh-CN" dirty="0"/>
          </a:p>
          <a:p>
            <a:pPr lvl="1"/>
            <a:r>
              <a:rPr lang="zh-CN" altLang="en-US" dirty="0"/>
              <a:t>运营产生的资金流量，包括可用的剩余现金、短期可出售证券和经营现金流量，注意分析资本支出和股利政策的任意性；</a:t>
            </a:r>
            <a:endParaRPr lang="en-US" altLang="zh-CN" dirty="0"/>
          </a:p>
          <a:p>
            <a:pPr lvl="1"/>
            <a:r>
              <a:rPr lang="zh-CN" altLang="en-US" dirty="0"/>
              <a:t>节约现金支付，使用银行授信支持的商业票据、资产处置</a:t>
            </a:r>
            <a:endParaRPr lang="en-US" altLang="zh-CN" dirty="0"/>
          </a:p>
          <a:p>
            <a:pPr lvl="1"/>
            <a:r>
              <a:rPr lang="zh-CN" altLang="en-US" dirty="0"/>
              <a:t>外部融资，包括债券、股票等证券融资</a:t>
            </a:r>
            <a:endParaRPr lang="en-US" altLang="zh-CN" dirty="0"/>
          </a:p>
          <a:p>
            <a:r>
              <a:rPr lang="zh-CN" altLang="en-US" dirty="0"/>
              <a:t>财务政策的前瞻性，流动性是经营战略和财务政策的反映</a:t>
            </a:r>
            <a:endParaRPr lang="en-US" altLang="zh-CN" dirty="0"/>
          </a:p>
          <a:p>
            <a:pPr lvl="1"/>
            <a:r>
              <a:rPr lang="zh-CN" altLang="en-US" dirty="0"/>
              <a:t>在适当流动性假设下，考虑评估管理水平和能力，包括：避免过度依赖短期的、信心敏感的债务；债务到期结构应清晰、易管理和分布良好；与银行的业务关系良好，信贷合同中留有实质性的缓冲空间</a:t>
            </a:r>
          </a:p>
        </p:txBody>
      </p:sp>
    </p:spTree>
    <p:extLst>
      <p:ext uri="{BB962C8B-B14F-4D97-AF65-F5344CB8AC3E}">
        <p14:creationId xmlns:p14="http://schemas.microsoft.com/office/powerpoint/2010/main" val="12520591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DC1FE53-5521-4EAA-AD9B-5C2B889F5F5E}"/>
              </a:ext>
            </a:extLst>
          </p:cNvPr>
          <p:cNvSpPr>
            <a:spLocks noGrp="1"/>
          </p:cNvSpPr>
          <p:nvPr>
            <p:ph type="title"/>
          </p:nvPr>
        </p:nvSpPr>
        <p:spPr/>
        <p:txBody>
          <a:bodyPr/>
          <a:lstStyle/>
          <a:p>
            <a:r>
              <a:rPr lang="zh-CN" altLang="en-US" dirty="0"/>
              <a:t>外部支持</a:t>
            </a:r>
          </a:p>
        </p:txBody>
      </p:sp>
      <p:sp>
        <p:nvSpPr>
          <p:cNvPr id="6" name="文本占位符 5">
            <a:extLst>
              <a:ext uri="{FF2B5EF4-FFF2-40B4-BE49-F238E27FC236}">
                <a16:creationId xmlns:a16="http://schemas.microsoft.com/office/drawing/2014/main" id="{3683F076-1EF3-40D9-B1DA-1360914FAD76}"/>
              </a:ext>
            </a:extLst>
          </p:cNvPr>
          <p:cNvSpPr>
            <a:spLocks noGrp="1"/>
          </p:cNvSpPr>
          <p:nvPr>
            <p:ph type="body" idx="10"/>
          </p:nvPr>
        </p:nvSpPr>
        <p:spPr/>
        <p:txBody>
          <a:bodyPr/>
          <a:lstStyle/>
          <a:p>
            <a:r>
              <a:rPr lang="zh-CN" altLang="en-US" sz="2400" dirty="0"/>
              <a:t>信用增进措施：发行人用自有资产进行抵押和质押，或者引入第三方担保增信。</a:t>
            </a:r>
          </a:p>
        </p:txBody>
      </p:sp>
      <p:grpSp>
        <p:nvGrpSpPr>
          <p:cNvPr id="22" name="组合 21">
            <a:extLst>
              <a:ext uri="{FF2B5EF4-FFF2-40B4-BE49-F238E27FC236}">
                <a16:creationId xmlns:a16="http://schemas.microsoft.com/office/drawing/2014/main" id="{A32CFE0B-6898-42DC-84FF-C94915008BEC}"/>
              </a:ext>
            </a:extLst>
          </p:cNvPr>
          <p:cNvGrpSpPr/>
          <p:nvPr/>
        </p:nvGrpSpPr>
        <p:grpSpPr>
          <a:xfrm>
            <a:off x="949497" y="3608594"/>
            <a:ext cx="15582196" cy="5015642"/>
            <a:chOff x="949497" y="3595688"/>
            <a:chExt cx="15582196" cy="4045622"/>
          </a:xfrm>
        </p:grpSpPr>
        <p:grpSp>
          <p:nvGrpSpPr>
            <p:cNvPr id="23" name="组合 22">
              <a:extLst>
                <a:ext uri="{FF2B5EF4-FFF2-40B4-BE49-F238E27FC236}">
                  <a16:creationId xmlns:a16="http://schemas.microsoft.com/office/drawing/2014/main" id="{2CC60696-6CE9-4C1B-AB1E-BD781D758668}"/>
                </a:ext>
              </a:extLst>
            </p:cNvPr>
            <p:cNvGrpSpPr/>
            <p:nvPr/>
          </p:nvGrpSpPr>
          <p:grpSpPr>
            <a:xfrm>
              <a:off x="949497" y="3595688"/>
              <a:ext cx="15123204" cy="2256930"/>
              <a:chOff x="949497" y="2852738"/>
              <a:chExt cx="15123204" cy="2256930"/>
            </a:xfrm>
          </p:grpSpPr>
          <p:sp>
            <p:nvSpPr>
              <p:cNvPr id="32" name="AutoShape 442">
                <a:extLst>
                  <a:ext uri="{FF2B5EF4-FFF2-40B4-BE49-F238E27FC236}">
                    <a16:creationId xmlns:a16="http://schemas.microsoft.com/office/drawing/2014/main" id="{0B00A2E3-8D4E-4342-8054-6A0519B1DCD3}"/>
                  </a:ext>
                </a:extLst>
              </p:cNvPr>
              <p:cNvSpPr>
                <a:spLocks noChangeArrowheads="1"/>
              </p:cNvSpPr>
              <p:nvPr/>
            </p:nvSpPr>
            <p:spPr bwMode="auto">
              <a:xfrm>
                <a:off x="949497" y="3111813"/>
                <a:ext cx="2366306" cy="1784756"/>
              </a:xfrm>
              <a:prstGeom prst="roundRect">
                <a:avLst>
                  <a:gd name="adj" fmla="val 16667"/>
                </a:avLst>
              </a:prstGeom>
              <a:solidFill>
                <a:srgbClr val="C00000"/>
              </a:solidFill>
              <a:ln w="9525">
                <a:no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zh-CN" altLang="en-US" sz="2400" b="1" dirty="0">
                    <a:solidFill>
                      <a:schemeClr val="bg1"/>
                    </a:solidFill>
                    <a:latin typeface="微软雅黑" panose="020B0503020204020204" pitchFamily="34" charset="-122"/>
                    <a:ea typeface="微软雅黑" panose="020B0503020204020204" pitchFamily="34" charset="-122"/>
                    <a:cs typeface="Times New Roman" pitchFamily="18" charset="0"/>
                  </a:rPr>
                  <a:t>有担保债券的信用等级</a:t>
                </a:r>
                <a:endParaRPr lang="zh-CN" altLang="en-US" sz="24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sp>
            <p:nvSpPr>
              <p:cNvPr id="33" name="等号 32">
                <a:extLst>
                  <a:ext uri="{FF2B5EF4-FFF2-40B4-BE49-F238E27FC236}">
                    <a16:creationId xmlns:a16="http://schemas.microsoft.com/office/drawing/2014/main" id="{8F08858B-8EB9-4887-A4FC-C384B2B195BC}"/>
                  </a:ext>
                </a:extLst>
              </p:cNvPr>
              <p:cNvSpPr/>
              <p:nvPr/>
            </p:nvSpPr>
            <p:spPr>
              <a:xfrm>
                <a:off x="3464300" y="3973967"/>
                <a:ext cx="715052" cy="622448"/>
              </a:xfrm>
              <a:prstGeom prst="mathEqual">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 name="AutoShape 442">
                <a:extLst>
                  <a:ext uri="{FF2B5EF4-FFF2-40B4-BE49-F238E27FC236}">
                    <a16:creationId xmlns:a16="http://schemas.microsoft.com/office/drawing/2014/main" id="{E329453D-DAEE-42CE-8523-7BDB49A088E0}"/>
                  </a:ext>
                </a:extLst>
              </p:cNvPr>
              <p:cNvSpPr>
                <a:spLocks noChangeArrowheads="1"/>
              </p:cNvSpPr>
              <p:nvPr/>
            </p:nvSpPr>
            <p:spPr bwMode="auto">
              <a:xfrm>
                <a:off x="4327849" y="3681900"/>
                <a:ext cx="1375507" cy="944738"/>
              </a:xfrm>
              <a:prstGeom prst="roundRect">
                <a:avLst>
                  <a:gd name="adj" fmla="val 16667"/>
                </a:avLst>
              </a:prstGeom>
              <a:solidFill>
                <a:schemeClr val="accent2"/>
              </a:solidFill>
              <a:ln w="9525">
                <a:solidFill>
                  <a:schemeClr val="accent1"/>
                </a:solid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en-US" altLang="zh-CN" sz="2400" b="1" dirty="0">
                    <a:solidFill>
                      <a:schemeClr val="bg1"/>
                    </a:solidFill>
                    <a:latin typeface="微软雅黑" panose="020B0503020204020204" pitchFamily="34" charset="-122"/>
                    <a:ea typeface="微软雅黑" panose="020B0503020204020204" pitchFamily="34" charset="-122"/>
                    <a:cs typeface="Times New Roman" pitchFamily="18" charset="0"/>
                  </a:rPr>
                  <a:t>MAX</a:t>
                </a:r>
                <a:endParaRPr lang="zh-CN" altLang="en-US" sz="24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sp>
            <p:nvSpPr>
              <p:cNvPr id="35" name="AutoShape 442">
                <a:extLst>
                  <a:ext uri="{FF2B5EF4-FFF2-40B4-BE49-F238E27FC236}">
                    <a16:creationId xmlns:a16="http://schemas.microsoft.com/office/drawing/2014/main" id="{DEFDB8D5-7270-4165-9BCE-9BA914851505}"/>
                  </a:ext>
                </a:extLst>
              </p:cNvPr>
              <p:cNvSpPr>
                <a:spLocks noChangeArrowheads="1"/>
              </p:cNvSpPr>
              <p:nvPr/>
            </p:nvSpPr>
            <p:spPr bwMode="auto">
              <a:xfrm>
                <a:off x="7695563" y="3111813"/>
                <a:ext cx="1589447" cy="1784756"/>
              </a:xfrm>
              <a:prstGeom prst="roundRect">
                <a:avLst>
                  <a:gd name="adj" fmla="val 16667"/>
                </a:avLst>
              </a:prstGeom>
              <a:solidFill>
                <a:srgbClr val="92D050"/>
              </a:solidFill>
              <a:ln w="9525">
                <a:no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zh-CN" altLang="en-US" sz="2000" b="1" dirty="0">
                    <a:solidFill>
                      <a:schemeClr val="bg1"/>
                    </a:solidFill>
                    <a:latin typeface="微软雅黑" panose="020B0503020204020204" pitchFamily="34" charset="-122"/>
                    <a:ea typeface="微软雅黑" panose="020B0503020204020204" pitchFamily="34" charset="-122"/>
                    <a:cs typeface="Times New Roman" pitchFamily="18" charset="0"/>
                  </a:rPr>
                  <a:t>担保人的信用等级</a:t>
                </a:r>
                <a:endParaRPr lang="zh-CN" altLang="en-US" sz="20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sp>
            <p:nvSpPr>
              <p:cNvPr id="36" name="AutoShape 442">
                <a:extLst>
                  <a:ext uri="{FF2B5EF4-FFF2-40B4-BE49-F238E27FC236}">
                    <a16:creationId xmlns:a16="http://schemas.microsoft.com/office/drawing/2014/main" id="{1F7CEEA3-FC19-4608-B682-0C1762967F23}"/>
                  </a:ext>
                </a:extLst>
              </p:cNvPr>
              <p:cNvSpPr>
                <a:spLocks noChangeArrowheads="1"/>
              </p:cNvSpPr>
              <p:nvPr/>
            </p:nvSpPr>
            <p:spPr bwMode="auto">
              <a:xfrm>
                <a:off x="9416221" y="3111813"/>
                <a:ext cx="1654550" cy="1784756"/>
              </a:xfrm>
              <a:prstGeom prst="roundRect">
                <a:avLst>
                  <a:gd name="adj" fmla="val 16667"/>
                </a:avLst>
              </a:prstGeom>
              <a:solidFill>
                <a:srgbClr val="009900"/>
              </a:solidFill>
              <a:ln w="9525">
                <a:no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zh-CN" altLang="en-US" sz="2000" b="1" dirty="0">
                    <a:solidFill>
                      <a:schemeClr val="bg1"/>
                    </a:solidFill>
                    <a:latin typeface="微软雅黑" panose="020B0503020204020204" pitchFamily="34" charset="-122"/>
                    <a:ea typeface="微软雅黑" panose="020B0503020204020204" pitchFamily="34" charset="-122"/>
                    <a:cs typeface="Times New Roman" pitchFamily="18" charset="0"/>
                  </a:rPr>
                  <a:t>第三方担保人的信用等级</a:t>
                </a:r>
                <a:endParaRPr lang="zh-CN" altLang="en-US" sz="20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sp>
            <p:nvSpPr>
              <p:cNvPr id="37" name="AutoShape 442">
                <a:extLst>
                  <a:ext uri="{FF2B5EF4-FFF2-40B4-BE49-F238E27FC236}">
                    <a16:creationId xmlns:a16="http://schemas.microsoft.com/office/drawing/2014/main" id="{BD7E09AC-192C-4395-AC81-06CBF891759B}"/>
                  </a:ext>
                </a:extLst>
              </p:cNvPr>
              <p:cNvSpPr>
                <a:spLocks noChangeArrowheads="1"/>
              </p:cNvSpPr>
              <p:nvPr/>
            </p:nvSpPr>
            <p:spPr bwMode="auto">
              <a:xfrm>
                <a:off x="6048919" y="3111813"/>
                <a:ext cx="1515433" cy="1784756"/>
              </a:xfrm>
              <a:prstGeom prst="roundRect">
                <a:avLst>
                  <a:gd name="adj" fmla="val 16667"/>
                </a:avLst>
              </a:prstGeom>
              <a:solidFill>
                <a:srgbClr val="00B050"/>
              </a:solidFill>
              <a:ln w="9525">
                <a:no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zh-CN" altLang="en-US" sz="2000" b="1" dirty="0">
                    <a:solidFill>
                      <a:schemeClr val="bg1"/>
                    </a:solidFill>
                    <a:latin typeface="微软雅黑" panose="020B0503020204020204" pitchFamily="34" charset="-122"/>
                    <a:ea typeface="微软雅黑" panose="020B0503020204020204" pitchFamily="34" charset="-122"/>
                    <a:cs typeface="Times New Roman" pitchFamily="18" charset="0"/>
                  </a:rPr>
                  <a:t>发行人的信用等级</a:t>
                </a:r>
                <a:endParaRPr lang="zh-CN" altLang="en-US" sz="20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sp>
            <p:nvSpPr>
              <p:cNvPr id="38" name="双括号 37">
                <a:extLst>
                  <a:ext uri="{FF2B5EF4-FFF2-40B4-BE49-F238E27FC236}">
                    <a16:creationId xmlns:a16="http://schemas.microsoft.com/office/drawing/2014/main" id="{698C020A-4F6B-4072-A725-D75D330C8202}"/>
                  </a:ext>
                </a:extLst>
              </p:cNvPr>
              <p:cNvSpPr/>
              <p:nvPr/>
            </p:nvSpPr>
            <p:spPr>
              <a:xfrm>
                <a:off x="5857666" y="2852738"/>
                <a:ext cx="5387222" cy="2256930"/>
              </a:xfrm>
              <a:prstGeom prst="bracketPair">
                <a:avLst/>
              </a:prstGeom>
              <a:ln w="1016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十字形 38">
                <a:extLst>
                  <a:ext uri="{FF2B5EF4-FFF2-40B4-BE49-F238E27FC236}">
                    <a16:creationId xmlns:a16="http://schemas.microsoft.com/office/drawing/2014/main" id="{2B7F21B1-3241-4BA3-BEB9-3CB24CEAAC6B}"/>
                  </a:ext>
                </a:extLst>
              </p:cNvPr>
              <p:cNvSpPr/>
              <p:nvPr/>
            </p:nvSpPr>
            <p:spPr>
              <a:xfrm>
                <a:off x="11922493" y="3712124"/>
                <a:ext cx="894572" cy="773263"/>
              </a:xfrm>
              <a:prstGeom prst="plus">
                <a:avLst>
                  <a:gd name="adj" fmla="val 39907"/>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AutoShape 442">
                <a:extLst>
                  <a:ext uri="{FF2B5EF4-FFF2-40B4-BE49-F238E27FC236}">
                    <a16:creationId xmlns:a16="http://schemas.microsoft.com/office/drawing/2014/main" id="{3CB88A0D-9CDC-49C5-B5F9-69669AB93D1E}"/>
                  </a:ext>
                </a:extLst>
              </p:cNvPr>
              <p:cNvSpPr>
                <a:spLocks noChangeArrowheads="1"/>
              </p:cNvSpPr>
              <p:nvPr/>
            </p:nvSpPr>
            <p:spPr bwMode="auto">
              <a:xfrm>
                <a:off x="13426570" y="3111813"/>
                <a:ext cx="2646131" cy="1784756"/>
              </a:xfrm>
              <a:prstGeom prst="roundRect">
                <a:avLst>
                  <a:gd name="adj" fmla="val 16667"/>
                </a:avLst>
              </a:prstGeom>
              <a:solidFill>
                <a:srgbClr val="00B0F0"/>
              </a:solidFill>
              <a:ln w="9525">
                <a:no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zh-CN" altLang="en-US" sz="2400" b="1" dirty="0">
                    <a:solidFill>
                      <a:schemeClr val="bg1"/>
                    </a:solidFill>
                    <a:latin typeface="微软雅黑" panose="020B0503020204020204" pitchFamily="34" charset="-122"/>
                    <a:ea typeface="微软雅黑" panose="020B0503020204020204" pitchFamily="34" charset="-122"/>
                    <a:cs typeface="Times New Roman" pitchFamily="18" charset="0"/>
                  </a:rPr>
                  <a:t>抵押</a:t>
                </a:r>
                <a:r>
                  <a:rPr lang="en-US" altLang="zh-CN" sz="2400" b="1" dirty="0">
                    <a:solidFill>
                      <a:schemeClr val="bg1"/>
                    </a:solidFill>
                    <a:latin typeface="微软雅黑" panose="020B0503020204020204" pitchFamily="34" charset="-122"/>
                    <a:ea typeface="微软雅黑" panose="020B0503020204020204" pitchFamily="34" charset="-122"/>
                    <a:cs typeface="Times New Roman" pitchFamily="18" charset="0"/>
                  </a:rPr>
                  <a:t>/</a:t>
                </a:r>
                <a:r>
                  <a:rPr lang="zh-CN" altLang="en-US" sz="2400" b="1" dirty="0">
                    <a:solidFill>
                      <a:schemeClr val="bg1"/>
                    </a:solidFill>
                    <a:latin typeface="微软雅黑" panose="020B0503020204020204" pitchFamily="34" charset="-122"/>
                    <a:ea typeface="微软雅黑" panose="020B0503020204020204" pitchFamily="34" charset="-122"/>
                    <a:cs typeface="Times New Roman" pitchFamily="18" charset="0"/>
                  </a:rPr>
                  <a:t>质押资产</a:t>
                </a:r>
                <a:endParaRPr lang="en-US" altLang="zh-CN" sz="2400" b="1" dirty="0">
                  <a:solidFill>
                    <a:schemeClr val="bg1"/>
                  </a:solidFill>
                  <a:latin typeface="微软雅黑" panose="020B0503020204020204" pitchFamily="34" charset="-122"/>
                  <a:ea typeface="微软雅黑" panose="020B0503020204020204" pitchFamily="34" charset="-122"/>
                  <a:cs typeface="Times New Roman" pitchFamily="18" charset="0"/>
                </a:endParaRPr>
              </a:p>
              <a:p>
                <a:pPr algn="ctr" defTabSz="1296071" fontAlgn="base">
                  <a:spcBef>
                    <a:spcPct val="0"/>
                  </a:spcBef>
                  <a:spcAft>
                    <a:spcPct val="0"/>
                  </a:spcAft>
                </a:pPr>
                <a:r>
                  <a:rPr lang="zh-CN" altLang="en-US" sz="2400" b="1" dirty="0">
                    <a:solidFill>
                      <a:schemeClr val="bg1"/>
                    </a:solidFill>
                    <a:latin typeface="微软雅黑" panose="020B0503020204020204" pitchFamily="34" charset="-122"/>
                    <a:ea typeface="微软雅黑" panose="020B0503020204020204" pitchFamily="34" charset="-122"/>
                    <a:cs typeface="Times New Roman" pitchFamily="18" charset="0"/>
                  </a:rPr>
                  <a:t>的增信等级</a:t>
                </a:r>
                <a:endParaRPr lang="zh-CN" altLang="en-US" sz="24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grpSp>
        <p:grpSp>
          <p:nvGrpSpPr>
            <p:cNvPr id="24" name="组合 23">
              <a:extLst>
                <a:ext uri="{FF2B5EF4-FFF2-40B4-BE49-F238E27FC236}">
                  <a16:creationId xmlns:a16="http://schemas.microsoft.com/office/drawing/2014/main" id="{4AC77EB9-A46E-4093-9968-F6CF63D5EDEC}"/>
                </a:ext>
              </a:extLst>
            </p:cNvPr>
            <p:cNvGrpSpPr/>
            <p:nvPr/>
          </p:nvGrpSpPr>
          <p:grpSpPr>
            <a:xfrm>
              <a:off x="13426570" y="6015938"/>
              <a:ext cx="3105123" cy="1625372"/>
              <a:chOff x="12817065" y="7095873"/>
              <a:chExt cx="3840340" cy="1858254"/>
            </a:xfrm>
          </p:grpSpPr>
          <p:sp>
            <p:nvSpPr>
              <p:cNvPr id="29" name="标注: 上箭头 28">
                <a:extLst>
                  <a:ext uri="{FF2B5EF4-FFF2-40B4-BE49-F238E27FC236}">
                    <a16:creationId xmlns:a16="http://schemas.microsoft.com/office/drawing/2014/main" id="{6D2DBA94-08E3-4EC5-9365-5164072B8A5C}"/>
                  </a:ext>
                </a:extLst>
              </p:cNvPr>
              <p:cNvSpPr/>
              <p:nvPr/>
            </p:nvSpPr>
            <p:spPr>
              <a:xfrm>
                <a:off x="12817065" y="7095873"/>
                <a:ext cx="3840340" cy="1858254"/>
              </a:xfrm>
              <a:prstGeom prst="upArrowCallout">
                <a:avLst>
                  <a:gd name="adj1" fmla="val 13962"/>
                  <a:gd name="adj2" fmla="val 19296"/>
                  <a:gd name="adj3" fmla="val 25000"/>
                  <a:gd name="adj4" fmla="val 63394"/>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A1A94E7C-C3FF-422F-AC4A-3A46026982CD}"/>
                  </a:ext>
                </a:extLst>
              </p:cNvPr>
              <p:cNvSpPr txBox="1"/>
              <p:nvPr/>
            </p:nvSpPr>
            <p:spPr>
              <a:xfrm>
                <a:off x="12935766" y="7904525"/>
                <a:ext cx="1714245" cy="936614"/>
              </a:xfrm>
              <a:prstGeom prst="rect">
                <a:avLst/>
              </a:prstGeom>
              <a:solidFill>
                <a:schemeClr val="bg1"/>
              </a:solidFill>
              <a:ln>
                <a:noFill/>
              </a:ln>
            </p:spPr>
            <p:txBody>
              <a:bodyPr wrap="square" rtlCol="0">
                <a:spAutoFit/>
              </a:bodyPr>
              <a:lstStyle/>
              <a:p>
                <a:pPr algn="ctr"/>
                <a:r>
                  <a:rPr lang="zh-CN" altLang="en-US" sz="2000" dirty="0">
                    <a:solidFill>
                      <a:srgbClr val="0070C0"/>
                    </a:solidFill>
                  </a:rPr>
                  <a:t>资产对债务的</a:t>
                </a:r>
                <a:r>
                  <a:rPr lang="zh-CN" altLang="en-US" sz="2000" b="1" dirty="0">
                    <a:solidFill>
                      <a:srgbClr val="0070C0"/>
                    </a:solidFill>
                  </a:rPr>
                  <a:t>覆盖率</a:t>
                </a:r>
              </a:p>
            </p:txBody>
          </p:sp>
          <p:sp>
            <p:nvSpPr>
              <p:cNvPr id="31" name="文本框 30">
                <a:extLst>
                  <a:ext uri="{FF2B5EF4-FFF2-40B4-BE49-F238E27FC236}">
                    <a16:creationId xmlns:a16="http://schemas.microsoft.com/office/drawing/2014/main" id="{332F270C-19C1-432C-909B-438723D88E64}"/>
                  </a:ext>
                </a:extLst>
              </p:cNvPr>
              <p:cNvSpPr txBox="1"/>
              <p:nvPr/>
            </p:nvSpPr>
            <p:spPr>
              <a:xfrm>
                <a:off x="14775427" y="7904525"/>
                <a:ext cx="1791104" cy="936614"/>
              </a:xfrm>
              <a:prstGeom prst="rect">
                <a:avLst/>
              </a:prstGeom>
              <a:solidFill>
                <a:schemeClr val="bg1"/>
              </a:solidFill>
              <a:ln>
                <a:noFill/>
              </a:ln>
            </p:spPr>
            <p:txBody>
              <a:bodyPr wrap="square" rtlCol="0">
                <a:spAutoFit/>
              </a:bodyPr>
              <a:lstStyle/>
              <a:p>
                <a:pPr algn="ctr"/>
                <a:r>
                  <a:rPr lang="zh-CN" altLang="en-US" sz="2000" dirty="0">
                    <a:solidFill>
                      <a:srgbClr val="0070C0"/>
                    </a:solidFill>
                  </a:rPr>
                  <a:t>增信资产到期日的</a:t>
                </a:r>
                <a:r>
                  <a:rPr lang="zh-CN" altLang="en-US" sz="2000" b="1" dirty="0">
                    <a:solidFill>
                      <a:srgbClr val="0070C0"/>
                    </a:solidFill>
                  </a:rPr>
                  <a:t>折旧率</a:t>
                </a:r>
              </a:p>
            </p:txBody>
          </p:sp>
        </p:grpSp>
        <p:grpSp>
          <p:nvGrpSpPr>
            <p:cNvPr id="26" name="组合 25">
              <a:extLst>
                <a:ext uri="{FF2B5EF4-FFF2-40B4-BE49-F238E27FC236}">
                  <a16:creationId xmlns:a16="http://schemas.microsoft.com/office/drawing/2014/main" id="{7F70C43E-E56D-4B69-826D-C07638A7F63E}"/>
                </a:ext>
              </a:extLst>
            </p:cNvPr>
            <p:cNvGrpSpPr/>
            <p:nvPr/>
          </p:nvGrpSpPr>
          <p:grpSpPr>
            <a:xfrm>
              <a:off x="7344610" y="6165671"/>
              <a:ext cx="2116656" cy="1203908"/>
              <a:chOff x="6882494" y="6858002"/>
              <a:chExt cx="3385907" cy="1203908"/>
            </a:xfrm>
          </p:grpSpPr>
          <p:sp>
            <p:nvSpPr>
              <p:cNvPr id="27" name="标注: 上箭头 26">
                <a:extLst>
                  <a:ext uri="{FF2B5EF4-FFF2-40B4-BE49-F238E27FC236}">
                    <a16:creationId xmlns:a16="http://schemas.microsoft.com/office/drawing/2014/main" id="{AA9A68CC-1A64-47B2-B1A8-7B96BD8A5033}"/>
                  </a:ext>
                </a:extLst>
              </p:cNvPr>
              <p:cNvSpPr/>
              <p:nvPr/>
            </p:nvSpPr>
            <p:spPr>
              <a:xfrm>
                <a:off x="6882494" y="6858002"/>
                <a:ext cx="3385907" cy="1203908"/>
              </a:xfrm>
              <a:prstGeom prst="upArrowCallout">
                <a:avLst>
                  <a:gd name="adj1" fmla="val 19850"/>
                  <a:gd name="adj2" fmla="val 23712"/>
                  <a:gd name="adj3" fmla="val 25000"/>
                  <a:gd name="adj4" fmla="val 62411"/>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91035F12-3B0F-481E-9100-F35977F51E06}"/>
                  </a:ext>
                </a:extLst>
              </p:cNvPr>
              <p:cNvSpPr txBox="1"/>
              <p:nvPr/>
            </p:nvSpPr>
            <p:spPr>
              <a:xfrm>
                <a:off x="7006996" y="7403114"/>
                <a:ext cx="3185884" cy="570982"/>
              </a:xfrm>
              <a:prstGeom prst="rect">
                <a:avLst/>
              </a:prstGeom>
              <a:solidFill>
                <a:schemeClr val="bg1"/>
              </a:solidFill>
              <a:ln>
                <a:noFill/>
              </a:ln>
            </p:spPr>
            <p:txBody>
              <a:bodyPr wrap="square" rtlCol="0">
                <a:spAutoFit/>
              </a:bodyPr>
              <a:lstStyle/>
              <a:p>
                <a:pPr algn="ctr"/>
                <a:r>
                  <a:rPr lang="zh-CN" altLang="en-US" sz="2000" dirty="0">
                    <a:solidFill>
                      <a:srgbClr val="0070C0"/>
                    </a:solidFill>
                  </a:rPr>
                  <a:t>关联主体的</a:t>
                </a:r>
                <a:endParaRPr lang="en-US" altLang="zh-CN" sz="2000" dirty="0">
                  <a:solidFill>
                    <a:srgbClr val="0070C0"/>
                  </a:solidFill>
                </a:endParaRPr>
              </a:p>
              <a:p>
                <a:pPr algn="ctr"/>
                <a:r>
                  <a:rPr lang="zh-CN" altLang="en-US" sz="2000" b="1" dirty="0">
                    <a:solidFill>
                      <a:srgbClr val="0070C0"/>
                    </a:solidFill>
                  </a:rPr>
                  <a:t>联合违约概率</a:t>
                </a:r>
              </a:p>
            </p:txBody>
          </p:sp>
        </p:grpSp>
      </p:grpSp>
    </p:spTree>
    <p:extLst>
      <p:ext uri="{BB962C8B-B14F-4D97-AF65-F5344CB8AC3E}">
        <p14:creationId xmlns:p14="http://schemas.microsoft.com/office/powerpoint/2010/main" val="41012797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4EEFA7-DF75-41FD-A540-2739F4388169}"/>
              </a:ext>
            </a:extLst>
          </p:cNvPr>
          <p:cNvSpPr>
            <a:spLocks noGrp="1"/>
          </p:cNvSpPr>
          <p:nvPr>
            <p:ph type="title"/>
          </p:nvPr>
        </p:nvSpPr>
        <p:spPr/>
        <p:txBody>
          <a:bodyPr/>
          <a:lstStyle/>
          <a:p>
            <a:r>
              <a:rPr lang="zh-CN" altLang="en-US" dirty="0"/>
              <a:t>（六）债项资质</a:t>
            </a:r>
          </a:p>
        </p:txBody>
      </p:sp>
      <p:sp>
        <p:nvSpPr>
          <p:cNvPr id="3" name="文本占位符 2">
            <a:extLst>
              <a:ext uri="{FF2B5EF4-FFF2-40B4-BE49-F238E27FC236}">
                <a16:creationId xmlns:a16="http://schemas.microsoft.com/office/drawing/2014/main" id="{0F1400DC-3473-47A6-903E-86F1F222204D}"/>
              </a:ext>
            </a:extLst>
          </p:cNvPr>
          <p:cNvSpPr>
            <a:spLocks noGrp="1"/>
          </p:cNvSpPr>
          <p:nvPr>
            <p:ph type="body" idx="1"/>
          </p:nvPr>
        </p:nvSpPr>
        <p:spPr/>
        <p:txBody>
          <a:bodyPr>
            <a:normAutofit/>
          </a:bodyPr>
          <a:lstStyle/>
          <a:p>
            <a:r>
              <a:rPr lang="zh-CN" altLang="en-US" dirty="0"/>
              <a:t>债务工具所承担的风险有一部分与主体无关，而是取决于债务工具种类、增信措施等。</a:t>
            </a:r>
          </a:p>
        </p:txBody>
      </p:sp>
    </p:spTree>
    <p:extLst>
      <p:ext uri="{BB962C8B-B14F-4D97-AF65-F5344CB8AC3E}">
        <p14:creationId xmlns:p14="http://schemas.microsoft.com/office/powerpoint/2010/main" val="18815581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13DCC81-0CCF-404F-B18A-B0BA29BE7C98}"/>
              </a:ext>
            </a:extLst>
          </p:cNvPr>
          <p:cNvSpPr>
            <a:spLocks noGrp="1"/>
          </p:cNvSpPr>
          <p:nvPr>
            <p:ph type="title"/>
          </p:nvPr>
        </p:nvSpPr>
        <p:spPr/>
        <p:txBody>
          <a:bodyPr/>
          <a:lstStyle/>
          <a:p>
            <a:r>
              <a:rPr lang="zh-CN" altLang="en-US" dirty="0"/>
              <a:t>关注点</a:t>
            </a:r>
          </a:p>
        </p:txBody>
      </p:sp>
      <p:sp>
        <p:nvSpPr>
          <p:cNvPr id="7" name="内容占位符 6">
            <a:extLst>
              <a:ext uri="{FF2B5EF4-FFF2-40B4-BE49-F238E27FC236}">
                <a16:creationId xmlns:a16="http://schemas.microsoft.com/office/drawing/2014/main" id="{E33DA0AE-394B-41BE-B7A0-EFB139B6B5E1}"/>
              </a:ext>
            </a:extLst>
          </p:cNvPr>
          <p:cNvSpPr>
            <a:spLocks noGrp="1"/>
          </p:cNvSpPr>
          <p:nvPr>
            <p:ph idx="1"/>
          </p:nvPr>
        </p:nvSpPr>
        <p:spPr>
          <a:xfrm>
            <a:off x="949497" y="1593045"/>
            <a:ext cx="15378696" cy="7828747"/>
          </a:xfrm>
        </p:spPr>
        <p:txBody>
          <a:bodyPr>
            <a:normAutofit/>
          </a:bodyPr>
          <a:lstStyle/>
          <a:p>
            <a:r>
              <a:rPr lang="zh-CN" altLang="en-US" dirty="0"/>
              <a:t>债项，专指信用债发行人所</a:t>
            </a:r>
            <a:r>
              <a:rPr lang="zh-CN" altLang="zh-CN" dirty="0"/>
              <a:t>发行的有价债券</a:t>
            </a:r>
            <a:endParaRPr lang="en-US" altLang="zh-CN" dirty="0"/>
          </a:p>
          <a:p>
            <a:endParaRPr lang="en-US" altLang="zh-CN" dirty="0"/>
          </a:p>
          <a:p>
            <a:r>
              <a:rPr lang="zh-CN" altLang="en-US" dirty="0"/>
              <a:t>主要关注点</a:t>
            </a:r>
            <a:endParaRPr lang="en-US" altLang="zh-CN" dirty="0"/>
          </a:p>
          <a:p>
            <a:pPr lvl="1"/>
            <a:r>
              <a:rPr lang="zh-CN" altLang="zh-CN" dirty="0"/>
              <a:t>破产</a:t>
            </a:r>
            <a:r>
              <a:rPr lang="zh-CN" altLang="en-US" dirty="0"/>
              <a:t>处置</a:t>
            </a:r>
            <a:r>
              <a:rPr lang="zh-CN" altLang="zh-CN" dirty="0"/>
              <a:t>价值、债务存量和各债权的</a:t>
            </a:r>
            <a:r>
              <a:rPr lang="zh-CN" altLang="zh-CN" b="1" dirty="0"/>
              <a:t>优先</a:t>
            </a:r>
            <a:r>
              <a:rPr lang="zh-CN" altLang="en-US" b="1" dirty="0"/>
              <a:t>顺序</a:t>
            </a:r>
            <a:endParaRPr lang="en-US" altLang="zh-CN" b="1" dirty="0"/>
          </a:p>
          <a:p>
            <a:pPr lvl="1"/>
            <a:r>
              <a:rPr lang="zh-CN" altLang="zh-CN" dirty="0"/>
              <a:t>外部</a:t>
            </a:r>
            <a:r>
              <a:rPr lang="zh-CN" altLang="zh-CN" b="1" dirty="0"/>
              <a:t>增信措施</a:t>
            </a:r>
            <a:r>
              <a:rPr lang="zh-CN" altLang="zh-CN" dirty="0"/>
              <a:t>对该债项回收率的影响</a:t>
            </a:r>
            <a:endParaRPr lang="en-US" altLang="zh-CN" dirty="0"/>
          </a:p>
          <a:p>
            <a:pPr lvl="1"/>
            <a:r>
              <a:rPr lang="zh-CN" altLang="en-US" dirty="0"/>
              <a:t>根据</a:t>
            </a:r>
            <a:r>
              <a:rPr lang="zh-CN" altLang="zh-CN" b="1" dirty="0"/>
              <a:t>债项回收率</a:t>
            </a:r>
            <a:r>
              <a:rPr lang="zh-CN" altLang="zh-CN" dirty="0"/>
              <a:t>得出信用等级</a:t>
            </a:r>
            <a:endParaRPr lang="en-US" altLang="zh-CN" dirty="0"/>
          </a:p>
          <a:p>
            <a:pPr lvl="1"/>
            <a:r>
              <a:rPr lang="zh-CN" altLang="en-US" dirty="0"/>
              <a:t>债务工具</a:t>
            </a:r>
            <a:r>
              <a:rPr lang="zh-CN" altLang="en-US" b="1" dirty="0"/>
              <a:t>合约</a:t>
            </a:r>
            <a:r>
              <a:rPr lang="zh-CN" altLang="en-US" dirty="0"/>
              <a:t>的详细阐述</a:t>
            </a:r>
            <a:endParaRPr lang="en-US" altLang="zh-CN" dirty="0"/>
          </a:p>
        </p:txBody>
      </p:sp>
    </p:spTree>
    <p:extLst>
      <p:ext uri="{BB962C8B-B14F-4D97-AF65-F5344CB8AC3E}">
        <p14:creationId xmlns:p14="http://schemas.microsoft.com/office/powerpoint/2010/main" val="19897018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13DCC81-0CCF-404F-B18A-B0BA29BE7C98}"/>
              </a:ext>
            </a:extLst>
          </p:cNvPr>
          <p:cNvSpPr>
            <a:spLocks noGrp="1"/>
          </p:cNvSpPr>
          <p:nvPr>
            <p:ph type="title"/>
          </p:nvPr>
        </p:nvSpPr>
        <p:spPr/>
        <p:txBody>
          <a:bodyPr/>
          <a:lstStyle/>
          <a:p>
            <a:r>
              <a:rPr lang="zh-CN" altLang="en-US" dirty="0"/>
              <a:t>破产制度</a:t>
            </a:r>
          </a:p>
        </p:txBody>
      </p:sp>
      <p:sp>
        <p:nvSpPr>
          <p:cNvPr id="7" name="内容占位符 6">
            <a:extLst>
              <a:ext uri="{FF2B5EF4-FFF2-40B4-BE49-F238E27FC236}">
                <a16:creationId xmlns:a16="http://schemas.microsoft.com/office/drawing/2014/main" id="{E33DA0AE-394B-41BE-B7A0-EFB139B6B5E1}"/>
              </a:ext>
            </a:extLst>
          </p:cNvPr>
          <p:cNvSpPr>
            <a:spLocks noGrp="1"/>
          </p:cNvSpPr>
          <p:nvPr>
            <p:ph idx="1"/>
          </p:nvPr>
        </p:nvSpPr>
        <p:spPr/>
        <p:txBody>
          <a:bodyPr>
            <a:normAutofit lnSpcReduction="10000"/>
          </a:bodyPr>
          <a:lstStyle/>
          <a:p>
            <a:r>
              <a:rPr lang="zh-CN" altLang="en-US" b="1" dirty="0"/>
              <a:t>破产制度</a:t>
            </a:r>
            <a:r>
              <a:rPr lang="zh-CN" altLang="en-US" dirty="0"/>
              <a:t>实质上平衡债权人和债务人之间的利益关系</a:t>
            </a:r>
            <a:endParaRPr lang="en-US" altLang="zh-CN" dirty="0"/>
          </a:p>
          <a:p>
            <a:pPr lvl="1"/>
            <a:r>
              <a:rPr lang="zh-CN" altLang="en-US" dirty="0"/>
              <a:t>债务人处于困境中，需要保护以防止激进的债权人过度寻求优先受偿</a:t>
            </a:r>
            <a:endParaRPr lang="en-US" altLang="zh-CN" dirty="0"/>
          </a:p>
          <a:p>
            <a:pPr lvl="1"/>
            <a:r>
              <a:rPr lang="zh-CN" altLang="en-US" dirty="0"/>
              <a:t>债权人需要确定的程序提高投资回收的确定性、处置公平性和透明度</a:t>
            </a:r>
            <a:endParaRPr lang="en-US" altLang="zh-CN" dirty="0"/>
          </a:p>
          <a:p>
            <a:pPr lvl="1"/>
            <a:endParaRPr lang="en-US" altLang="zh-CN" dirty="0"/>
          </a:p>
          <a:p>
            <a:r>
              <a:rPr lang="zh-CN" altLang="en-US" b="1" dirty="0"/>
              <a:t>破产程序</a:t>
            </a:r>
            <a:endParaRPr lang="en-US" altLang="zh-CN" b="1" dirty="0"/>
          </a:p>
          <a:p>
            <a:pPr lvl="1"/>
            <a:r>
              <a:rPr lang="zh-CN" altLang="en-US" dirty="0"/>
              <a:t>破产前，在司法或接管机构的监督下，选择或被引导获取外部帮助</a:t>
            </a:r>
            <a:endParaRPr lang="en-US" altLang="zh-CN" dirty="0"/>
          </a:p>
          <a:p>
            <a:pPr lvl="1"/>
            <a:r>
              <a:rPr lang="zh-CN" altLang="en-US" dirty="0"/>
              <a:t>资产清算，司法裁决清算后，根据债权人等次，将清算收益进行分配。小公司为主</a:t>
            </a:r>
            <a:endParaRPr lang="en-US" altLang="zh-CN" dirty="0"/>
          </a:p>
          <a:p>
            <a:pPr lvl="1"/>
            <a:r>
              <a:rPr lang="zh-CN" altLang="en-US" dirty="0"/>
              <a:t>资产出售，由其他公司进行收购，大公司为主</a:t>
            </a:r>
            <a:endParaRPr lang="en-US" altLang="zh-CN" dirty="0"/>
          </a:p>
          <a:p>
            <a:pPr lvl="1"/>
            <a:r>
              <a:rPr lang="zh-CN" altLang="en-US" dirty="0"/>
              <a:t>资产重组，由于大公司破产会影响就业和社会秩序，因此通过强制或表决的方式制定重组计划，包括消减成本、战略调整、资产出售和债转股等细节</a:t>
            </a:r>
            <a:endParaRPr lang="en-US" altLang="zh-CN" dirty="0"/>
          </a:p>
          <a:p>
            <a:pPr lvl="1"/>
            <a:endParaRPr lang="en-US" altLang="zh-CN" dirty="0"/>
          </a:p>
          <a:p>
            <a:r>
              <a:rPr lang="zh-CN" altLang="en-US" b="1" dirty="0"/>
              <a:t>评估破产制度下债权人的权益影响</a:t>
            </a:r>
            <a:endParaRPr lang="en-US" altLang="zh-CN" b="1" dirty="0"/>
          </a:p>
          <a:p>
            <a:pPr lvl="1"/>
            <a:r>
              <a:rPr lang="zh-CN" altLang="en-US" dirty="0"/>
              <a:t>债权人对处置程序的影响；担保物可执行性；偿债优先级排序；资产重组</a:t>
            </a:r>
          </a:p>
          <a:p>
            <a:endParaRPr lang="en-US" altLang="zh-CN" dirty="0"/>
          </a:p>
        </p:txBody>
      </p:sp>
    </p:spTree>
    <p:extLst>
      <p:ext uri="{BB962C8B-B14F-4D97-AF65-F5344CB8AC3E}">
        <p14:creationId xmlns:p14="http://schemas.microsoft.com/office/powerpoint/2010/main" val="21361168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a:extLst>
              <a:ext uri="{FF2B5EF4-FFF2-40B4-BE49-F238E27FC236}">
                <a16:creationId xmlns:a16="http://schemas.microsoft.com/office/drawing/2014/main" id="{E40F29CF-511E-47C7-BBCE-D13F7B916BDA}"/>
              </a:ext>
            </a:extLst>
          </p:cNvPr>
          <p:cNvSpPr>
            <a:spLocks noGrp="1"/>
          </p:cNvSpPr>
          <p:nvPr>
            <p:ph type="title"/>
          </p:nvPr>
        </p:nvSpPr>
        <p:spPr/>
        <p:txBody>
          <a:bodyPr/>
          <a:lstStyle/>
          <a:p>
            <a:r>
              <a:rPr lang="zh-CN" altLang="en-US"/>
              <a:t>破产制度</a:t>
            </a:r>
            <a:endParaRPr lang="zh-CN" altLang="en-US" dirty="0"/>
          </a:p>
        </p:txBody>
      </p:sp>
      <p:graphicFrame>
        <p:nvGraphicFramePr>
          <p:cNvPr id="4" name="内容占位符 3">
            <a:extLst>
              <a:ext uri="{FF2B5EF4-FFF2-40B4-BE49-F238E27FC236}">
                <a16:creationId xmlns:a16="http://schemas.microsoft.com/office/drawing/2014/main" id="{A69463AA-4AD6-427D-B0E1-64D80B0E9560}"/>
              </a:ext>
            </a:extLst>
          </p:cNvPr>
          <p:cNvGraphicFramePr>
            <a:graphicFrameLocks noGrp="1"/>
          </p:cNvGraphicFramePr>
          <p:nvPr>
            <p:ph idx="1"/>
            <p:extLst>
              <p:ext uri="{D42A27DB-BD31-4B8C-83A1-F6EECF244321}">
                <p14:modId xmlns:p14="http://schemas.microsoft.com/office/powerpoint/2010/main" val="3529564154"/>
              </p:ext>
            </p:extLst>
          </p:nvPr>
        </p:nvGraphicFramePr>
        <p:xfrm>
          <a:off x="949325" y="2581275"/>
          <a:ext cx="16001896" cy="6076535"/>
        </p:xfrm>
        <a:graphic>
          <a:graphicData uri="http://schemas.openxmlformats.org/drawingml/2006/table">
            <a:tbl>
              <a:tblPr firstRow="1" bandRow="1">
                <a:tableStyleId>{6E25E649-3F16-4E02-A733-19D2CDBF48F0}</a:tableStyleId>
              </a:tblPr>
              <a:tblGrid>
                <a:gridCol w="2949226">
                  <a:extLst>
                    <a:ext uri="{9D8B030D-6E8A-4147-A177-3AD203B41FA5}">
                      <a16:colId xmlns:a16="http://schemas.microsoft.com/office/drawing/2014/main" val="1100824758"/>
                    </a:ext>
                  </a:extLst>
                </a:gridCol>
                <a:gridCol w="13052670">
                  <a:extLst>
                    <a:ext uri="{9D8B030D-6E8A-4147-A177-3AD203B41FA5}">
                      <a16:colId xmlns:a16="http://schemas.microsoft.com/office/drawing/2014/main" val="2982221252"/>
                    </a:ext>
                  </a:extLst>
                </a:gridCol>
              </a:tblGrid>
              <a:tr h="659216">
                <a:tc>
                  <a:txBody>
                    <a:bodyPr/>
                    <a:lstStyle/>
                    <a:p>
                      <a:pPr algn="ctr">
                        <a:spcAft>
                          <a:spcPts val="0"/>
                        </a:spcAft>
                      </a:pPr>
                      <a:r>
                        <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债券类型</a:t>
                      </a:r>
                    </a:p>
                  </a:txBody>
                  <a:tcPr marL="299085" marR="299085" marT="9525" marB="0" anchor="ctr"/>
                </a:tc>
                <a:tc>
                  <a:txBody>
                    <a:bodyPr/>
                    <a:lstStyle/>
                    <a:p>
                      <a:pPr algn="ctr">
                        <a:spcAft>
                          <a:spcPts val="0"/>
                        </a:spcAft>
                      </a:pPr>
                      <a:r>
                        <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债项评级考虑的因素</a:t>
                      </a:r>
                    </a:p>
                  </a:txBody>
                  <a:tcPr marL="299085" marR="299085" marT="9525" marB="0" anchor="ctr"/>
                </a:tc>
                <a:extLst>
                  <a:ext uri="{0D108BD9-81ED-4DB2-BD59-A6C34878D82A}">
                    <a16:rowId xmlns:a16="http://schemas.microsoft.com/office/drawing/2014/main" val="221501003"/>
                  </a:ext>
                </a:extLst>
              </a:tr>
              <a:tr h="659216">
                <a:tc>
                  <a:txBody>
                    <a:bodyPr/>
                    <a:lstStyle/>
                    <a:p>
                      <a:pPr algn="just">
                        <a:spcAft>
                          <a:spcPts val="0"/>
                        </a:spcAft>
                      </a:pPr>
                      <a:r>
                        <a:rPr lang="zh-CN" sz="20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短期融资券</a:t>
                      </a:r>
                    </a:p>
                  </a:txBody>
                  <a:tcPr marL="299085" marR="299085" marT="9525" marB="0" anchor="ctr"/>
                </a:tc>
                <a:tc>
                  <a:txBody>
                    <a:bodyPr/>
                    <a:lstStyle/>
                    <a:p>
                      <a:pPr algn="just">
                        <a:spcAft>
                          <a:spcPts val="0"/>
                        </a:spcAft>
                      </a:pPr>
                      <a:r>
                        <a:rPr lang="zh-CN" sz="20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主体信用状况、短期流动性、债券对主体信用影响</a:t>
                      </a:r>
                    </a:p>
                  </a:txBody>
                  <a:tcPr marL="299085" marR="299085" marT="9525" marB="0" anchor="ctr"/>
                </a:tc>
                <a:extLst>
                  <a:ext uri="{0D108BD9-81ED-4DB2-BD59-A6C34878D82A}">
                    <a16:rowId xmlns:a16="http://schemas.microsoft.com/office/drawing/2014/main" val="3218545989"/>
                  </a:ext>
                </a:extLst>
              </a:tr>
              <a:tr h="659216">
                <a:tc>
                  <a:txBody>
                    <a:bodyPr/>
                    <a:lstStyle/>
                    <a:p>
                      <a:pPr algn="just">
                        <a:spcAft>
                          <a:spcPts val="0"/>
                        </a:spcAft>
                      </a:pPr>
                      <a:r>
                        <a:rPr lang="zh-CN" sz="20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中长期债券</a:t>
                      </a:r>
                    </a:p>
                  </a:txBody>
                  <a:tcPr marL="299085" marR="299085" marT="9525" marB="0" anchor="ctr"/>
                </a:tc>
                <a:tc>
                  <a:txBody>
                    <a:bodyPr/>
                    <a:lstStyle/>
                    <a:p>
                      <a:pPr algn="just">
                        <a:spcAft>
                          <a:spcPts val="0"/>
                        </a:spcAft>
                      </a:pPr>
                      <a:r>
                        <a:rPr lang="zh-CN" sz="20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主体信用评价、债项对主体信用的影响、偿债保障措施的增信效果</a:t>
                      </a:r>
                    </a:p>
                  </a:txBody>
                  <a:tcPr marL="299085" marR="299085" marT="9525" marB="0" anchor="ctr"/>
                </a:tc>
                <a:extLst>
                  <a:ext uri="{0D108BD9-81ED-4DB2-BD59-A6C34878D82A}">
                    <a16:rowId xmlns:a16="http://schemas.microsoft.com/office/drawing/2014/main" val="472199236"/>
                  </a:ext>
                </a:extLst>
              </a:tr>
              <a:tr h="659216">
                <a:tc>
                  <a:txBody>
                    <a:bodyPr/>
                    <a:lstStyle/>
                    <a:p>
                      <a:pPr algn="just">
                        <a:spcAft>
                          <a:spcPts val="0"/>
                        </a:spcAft>
                      </a:pPr>
                      <a:r>
                        <a:rPr lang="zh-CN" sz="20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第三方担保债券</a:t>
                      </a:r>
                    </a:p>
                  </a:txBody>
                  <a:tcPr marL="299085" marR="299085" marT="9525" marB="0" anchor="ctr"/>
                </a:tc>
                <a:tc>
                  <a:txBody>
                    <a:bodyPr/>
                    <a:lstStyle/>
                    <a:p>
                      <a:pPr algn="just">
                        <a:spcAft>
                          <a:spcPts val="0"/>
                        </a:spcAft>
                      </a:pPr>
                      <a:r>
                        <a:rPr lang="zh-CN" sz="20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主体信用状况和担保效果</a:t>
                      </a:r>
                    </a:p>
                  </a:txBody>
                  <a:tcPr marL="299085" marR="299085" marT="9525" marB="0" anchor="ctr"/>
                </a:tc>
                <a:extLst>
                  <a:ext uri="{0D108BD9-81ED-4DB2-BD59-A6C34878D82A}">
                    <a16:rowId xmlns:a16="http://schemas.microsoft.com/office/drawing/2014/main" val="959637001"/>
                  </a:ext>
                </a:extLst>
              </a:tr>
              <a:tr h="659216">
                <a:tc>
                  <a:txBody>
                    <a:bodyPr/>
                    <a:lstStyle/>
                    <a:p>
                      <a:pPr algn="just">
                        <a:spcAft>
                          <a:spcPts val="0"/>
                        </a:spcAft>
                      </a:pPr>
                      <a:r>
                        <a:rPr lang="zh-CN" sz="20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抵押债券</a:t>
                      </a:r>
                    </a:p>
                  </a:txBody>
                  <a:tcPr marL="299085" marR="299085" marT="9525" marB="0" anchor="ctr"/>
                </a:tc>
                <a:tc>
                  <a:txBody>
                    <a:bodyPr/>
                    <a:lstStyle/>
                    <a:p>
                      <a:pPr algn="just">
                        <a:spcAft>
                          <a:spcPts val="0"/>
                        </a:spcAft>
                      </a:pPr>
                      <a:r>
                        <a:rPr lang="zh-CN" sz="20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主体信用状况和抵质押资产回收率</a:t>
                      </a:r>
                    </a:p>
                  </a:txBody>
                  <a:tcPr marL="299085" marR="299085" marT="9525" marB="0" anchor="ctr"/>
                </a:tc>
                <a:extLst>
                  <a:ext uri="{0D108BD9-81ED-4DB2-BD59-A6C34878D82A}">
                    <a16:rowId xmlns:a16="http://schemas.microsoft.com/office/drawing/2014/main" val="2126360123"/>
                  </a:ext>
                </a:extLst>
              </a:tr>
              <a:tr h="659216">
                <a:tc>
                  <a:txBody>
                    <a:bodyPr/>
                    <a:lstStyle/>
                    <a:p>
                      <a:pPr algn="just">
                        <a:spcAft>
                          <a:spcPts val="0"/>
                        </a:spcAft>
                      </a:pPr>
                      <a:r>
                        <a:rPr lang="zh-CN" sz="20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回购债券</a:t>
                      </a:r>
                    </a:p>
                  </a:txBody>
                  <a:tcPr marL="299085" marR="299085" marT="9525" marB="0" anchor="ctr"/>
                </a:tc>
                <a:tc>
                  <a:txBody>
                    <a:bodyPr/>
                    <a:lstStyle/>
                    <a:p>
                      <a:pPr algn="just">
                        <a:spcAft>
                          <a:spcPts val="0"/>
                        </a:spcAft>
                      </a:pPr>
                      <a:r>
                        <a:rPr lang="zh-CN" sz="20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主体信用状况、回购方的信用等级、相关性</a:t>
                      </a:r>
                    </a:p>
                  </a:txBody>
                  <a:tcPr marL="299085" marR="299085" marT="9525" marB="0" anchor="ctr"/>
                </a:tc>
                <a:extLst>
                  <a:ext uri="{0D108BD9-81ED-4DB2-BD59-A6C34878D82A}">
                    <a16:rowId xmlns:a16="http://schemas.microsoft.com/office/drawing/2014/main" val="3945237723"/>
                  </a:ext>
                </a:extLst>
              </a:tr>
              <a:tr h="659216">
                <a:tc>
                  <a:txBody>
                    <a:bodyPr/>
                    <a:lstStyle/>
                    <a:p>
                      <a:pPr algn="just">
                        <a:spcAft>
                          <a:spcPts val="0"/>
                        </a:spcAft>
                      </a:pPr>
                      <a:r>
                        <a:rPr lang="zh-CN" sz="20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可转换债券</a:t>
                      </a:r>
                    </a:p>
                  </a:txBody>
                  <a:tcPr marL="299085" marR="299085" marT="9525" marB="0" anchor="ctr"/>
                </a:tc>
                <a:tc>
                  <a:txBody>
                    <a:bodyPr/>
                    <a:lstStyle/>
                    <a:p>
                      <a:pPr algn="just">
                        <a:spcAft>
                          <a:spcPts val="0"/>
                        </a:spcAft>
                      </a:pPr>
                      <a:r>
                        <a:rPr lang="zh-CN" sz="20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综合考虑将可转换债券当成一般债券的基础评级，以及转股可能性及其影响分析</a:t>
                      </a:r>
                    </a:p>
                  </a:txBody>
                  <a:tcPr marL="299085" marR="299085" marT="9525" marB="0" anchor="ctr"/>
                </a:tc>
                <a:extLst>
                  <a:ext uri="{0D108BD9-81ED-4DB2-BD59-A6C34878D82A}">
                    <a16:rowId xmlns:a16="http://schemas.microsoft.com/office/drawing/2014/main" val="930510185"/>
                  </a:ext>
                </a:extLst>
              </a:tr>
              <a:tr h="802807">
                <a:tc>
                  <a:txBody>
                    <a:bodyPr/>
                    <a:lstStyle/>
                    <a:p>
                      <a:pPr algn="just">
                        <a:spcAft>
                          <a:spcPts val="0"/>
                        </a:spcAft>
                      </a:pPr>
                      <a:r>
                        <a:rPr lang="zh-CN" sz="20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集合债券</a:t>
                      </a:r>
                    </a:p>
                  </a:txBody>
                  <a:tcPr marL="299085" marR="299085" marT="9525" marB="0" anchor="ctr"/>
                </a:tc>
                <a:tc>
                  <a:txBody>
                    <a:bodyPr/>
                    <a:lstStyle/>
                    <a:p>
                      <a:pPr algn="just">
                        <a:spcAft>
                          <a:spcPts val="0"/>
                        </a:spcAft>
                      </a:pPr>
                      <a:r>
                        <a:rPr lang="zh-CN" sz="20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主体信用状况、发行人相关性、发行方案、偿债保障措施（结构化设计、第三方担保、风险准备金等）</a:t>
                      </a:r>
                    </a:p>
                  </a:txBody>
                  <a:tcPr marL="299085" marR="299085" marT="9525" marB="0" anchor="ctr"/>
                </a:tc>
                <a:extLst>
                  <a:ext uri="{0D108BD9-81ED-4DB2-BD59-A6C34878D82A}">
                    <a16:rowId xmlns:a16="http://schemas.microsoft.com/office/drawing/2014/main" val="3258953363"/>
                  </a:ext>
                </a:extLst>
              </a:tr>
              <a:tr h="659216">
                <a:tc>
                  <a:txBody>
                    <a:bodyPr/>
                    <a:lstStyle/>
                    <a:p>
                      <a:pPr algn="just">
                        <a:spcAft>
                          <a:spcPts val="0"/>
                        </a:spcAft>
                      </a:pPr>
                      <a:r>
                        <a:rPr lang="zh-CN" sz="2000" kern="10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结构融资债券</a:t>
                      </a:r>
                    </a:p>
                  </a:txBody>
                  <a:tcPr marL="299085" marR="299085" marT="9525" marB="0" anchor="ctr"/>
                </a:tc>
                <a:tc>
                  <a:txBody>
                    <a:bodyPr/>
                    <a:lstStyle/>
                    <a:p>
                      <a:pPr algn="just">
                        <a:spcAft>
                          <a:spcPts val="0"/>
                        </a:spcAft>
                      </a:pPr>
                      <a:r>
                        <a:rPr lang="zh-CN" sz="2000"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基础资产池特征、证券化产品现金流、交易结构与法律风险、信用增级以及资产管理机构等</a:t>
                      </a:r>
                    </a:p>
                  </a:txBody>
                  <a:tcPr marL="299085" marR="299085" marT="9525" marB="0" anchor="ctr"/>
                </a:tc>
                <a:extLst>
                  <a:ext uri="{0D108BD9-81ED-4DB2-BD59-A6C34878D82A}">
                    <a16:rowId xmlns:a16="http://schemas.microsoft.com/office/drawing/2014/main" val="3260752270"/>
                  </a:ext>
                </a:extLst>
              </a:tr>
            </a:tbl>
          </a:graphicData>
        </a:graphic>
      </p:graphicFrame>
      <p:sp>
        <p:nvSpPr>
          <p:cNvPr id="6" name="文本占位符 5">
            <a:extLst>
              <a:ext uri="{FF2B5EF4-FFF2-40B4-BE49-F238E27FC236}">
                <a16:creationId xmlns:a16="http://schemas.microsoft.com/office/drawing/2014/main" id="{37AF2E96-1604-46A5-8780-A659CA734BD6}"/>
              </a:ext>
            </a:extLst>
          </p:cNvPr>
          <p:cNvSpPr>
            <a:spLocks noGrp="1"/>
          </p:cNvSpPr>
          <p:nvPr>
            <p:ph type="body" idx="10"/>
          </p:nvPr>
        </p:nvSpPr>
        <p:spPr/>
        <p:txBody>
          <a:bodyPr/>
          <a:lstStyle/>
          <a:p>
            <a:r>
              <a:rPr lang="zh-CN" altLang="en-US" dirty="0"/>
              <a:t>我国</a:t>
            </a:r>
            <a:r>
              <a:rPr lang="zh-CN" altLang="zh-CN" dirty="0"/>
              <a:t>破产流程长、程序复杂、时间跨度难确定</a:t>
            </a:r>
            <a:r>
              <a:rPr lang="zh-CN" altLang="en-US" dirty="0"/>
              <a:t>，定量测算困难，主要采取关键因素分析法</a:t>
            </a:r>
            <a:endParaRPr lang="en-US" altLang="zh-CN" dirty="0"/>
          </a:p>
        </p:txBody>
      </p:sp>
    </p:spTree>
    <p:extLst>
      <p:ext uri="{BB962C8B-B14F-4D97-AF65-F5344CB8AC3E}">
        <p14:creationId xmlns:p14="http://schemas.microsoft.com/office/powerpoint/2010/main" val="13552210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0AC808-C36A-4953-A8CB-2EE275FB8CF4}"/>
              </a:ext>
            </a:extLst>
          </p:cNvPr>
          <p:cNvSpPr>
            <a:spLocks noGrp="1"/>
          </p:cNvSpPr>
          <p:nvPr>
            <p:ph type="title"/>
          </p:nvPr>
        </p:nvSpPr>
        <p:spPr/>
        <p:txBody>
          <a:bodyPr/>
          <a:lstStyle/>
          <a:p>
            <a:r>
              <a:rPr lang="zh-CN" altLang="en-US" dirty="0"/>
              <a:t>偿付优序</a:t>
            </a:r>
          </a:p>
        </p:txBody>
      </p:sp>
      <p:grpSp>
        <p:nvGrpSpPr>
          <p:cNvPr id="44" name="组合 43">
            <a:extLst>
              <a:ext uri="{FF2B5EF4-FFF2-40B4-BE49-F238E27FC236}">
                <a16:creationId xmlns:a16="http://schemas.microsoft.com/office/drawing/2014/main" id="{2FD10941-054C-4DA6-B9EC-228E7AD6BA10}"/>
              </a:ext>
            </a:extLst>
          </p:cNvPr>
          <p:cNvGrpSpPr/>
          <p:nvPr/>
        </p:nvGrpSpPr>
        <p:grpSpPr>
          <a:xfrm>
            <a:off x="1429802" y="2080959"/>
            <a:ext cx="1117075" cy="6838221"/>
            <a:chOff x="1313691" y="2155778"/>
            <a:chExt cx="1117075" cy="6838221"/>
          </a:xfrm>
        </p:grpSpPr>
        <p:sp>
          <p:nvSpPr>
            <p:cNvPr id="40" name="箭头: 上下 39">
              <a:extLst>
                <a:ext uri="{FF2B5EF4-FFF2-40B4-BE49-F238E27FC236}">
                  <a16:creationId xmlns:a16="http://schemas.microsoft.com/office/drawing/2014/main" id="{219676E3-FF1C-4460-B57E-03422AE22EAE}"/>
                </a:ext>
              </a:extLst>
            </p:cNvPr>
            <p:cNvSpPr/>
            <p:nvPr/>
          </p:nvSpPr>
          <p:spPr>
            <a:xfrm>
              <a:off x="1853725" y="2690257"/>
              <a:ext cx="531203" cy="5865786"/>
            </a:xfrm>
            <a:prstGeom prst="upDownArrow">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íSḷíḓè">
              <a:extLst>
                <a:ext uri="{FF2B5EF4-FFF2-40B4-BE49-F238E27FC236}">
                  <a16:creationId xmlns:a16="http://schemas.microsoft.com/office/drawing/2014/main" id="{7B69BD7A-E32A-4EE2-A498-36C044AC11F2}"/>
                </a:ext>
              </a:extLst>
            </p:cNvPr>
            <p:cNvSpPr txBox="1"/>
            <p:nvPr/>
          </p:nvSpPr>
          <p:spPr>
            <a:xfrm>
              <a:off x="1607506" y="2155778"/>
              <a:ext cx="823260" cy="496776"/>
            </a:xfrm>
            <a:prstGeom prst="rect">
              <a:avLst/>
            </a:prstGeom>
            <a:noFill/>
          </p:spPr>
          <p:txBody>
            <a:bodyPr wrap="none" lIns="360000" tIns="0" rIns="0" bIns="0" anchor="b" anchorCtr="0">
              <a:noAutofit/>
            </a:bodyPr>
            <a:lstStyle/>
            <a:p>
              <a:r>
                <a:rPr lang="zh-CN" altLang="en-US" sz="2400" b="1" dirty="0">
                  <a:solidFill>
                    <a:schemeClr val="accent1">
                      <a:lumMod val="100000"/>
                    </a:schemeClr>
                  </a:solidFill>
                </a:rPr>
                <a:t>高</a:t>
              </a:r>
            </a:p>
          </p:txBody>
        </p:sp>
        <p:sp>
          <p:nvSpPr>
            <p:cNvPr id="42" name="íSḷíḓè">
              <a:extLst>
                <a:ext uri="{FF2B5EF4-FFF2-40B4-BE49-F238E27FC236}">
                  <a16:creationId xmlns:a16="http://schemas.microsoft.com/office/drawing/2014/main" id="{1A807F9F-C108-44A6-9BA6-C8D269154028}"/>
                </a:ext>
              </a:extLst>
            </p:cNvPr>
            <p:cNvSpPr txBox="1"/>
            <p:nvPr/>
          </p:nvSpPr>
          <p:spPr>
            <a:xfrm>
              <a:off x="1637987" y="8667976"/>
              <a:ext cx="746941" cy="326023"/>
            </a:xfrm>
            <a:prstGeom prst="rect">
              <a:avLst/>
            </a:prstGeom>
            <a:noFill/>
          </p:spPr>
          <p:txBody>
            <a:bodyPr wrap="none" lIns="360000" tIns="0" rIns="0" bIns="0" anchor="b" anchorCtr="0">
              <a:noAutofit/>
            </a:bodyPr>
            <a:lstStyle/>
            <a:p>
              <a:r>
                <a:rPr lang="zh-CN" altLang="en-US" sz="2400" b="1" dirty="0">
                  <a:solidFill>
                    <a:schemeClr val="accent1">
                      <a:lumMod val="100000"/>
                    </a:schemeClr>
                  </a:solidFill>
                </a:rPr>
                <a:t>低</a:t>
              </a:r>
            </a:p>
          </p:txBody>
        </p:sp>
        <p:sp>
          <p:nvSpPr>
            <p:cNvPr id="43" name="矩形 42">
              <a:extLst>
                <a:ext uri="{FF2B5EF4-FFF2-40B4-BE49-F238E27FC236}">
                  <a16:creationId xmlns:a16="http://schemas.microsoft.com/office/drawing/2014/main" id="{480D0662-518D-48CF-AFF7-0DF5B7388690}"/>
                </a:ext>
              </a:extLst>
            </p:cNvPr>
            <p:cNvSpPr/>
            <p:nvPr/>
          </p:nvSpPr>
          <p:spPr>
            <a:xfrm>
              <a:off x="1313691" y="4248027"/>
              <a:ext cx="446710" cy="1815882"/>
            </a:xfrm>
            <a:prstGeom prst="rect">
              <a:avLst/>
            </a:prstGeom>
          </p:spPr>
          <p:txBody>
            <a:bodyPr wrap="square">
              <a:spAutoFit/>
            </a:bodyPr>
            <a:lstStyle/>
            <a:p>
              <a:r>
                <a:rPr lang="zh-CN" altLang="en-US" sz="2800" b="1" dirty="0">
                  <a:solidFill>
                    <a:schemeClr val="accent1">
                      <a:lumMod val="100000"/>
                    </a:schemeClr>
                  </a:solidFill>
                </a:rPr>
                <a:t>回收期望</a:t>
              </a:r>
              <a:endParaRPr lang="zh-CN" altLang="en-US" dirty="0"/>
            </a:p>
          </p:txBody>
        </p:sp>
      </p:grpSp>
      <p:grpSp>
        <p:nvGrpSpPr>
          <p:cNvPr id="46" name="组合 45">
            <a:extLst>
              <a:ext uri="{FF2B5EF4-FFF2-40B4-BE49-F238E27FC236}">
                <a16:creationId xmlns:a16="http://schemas.microsoft.com/office/drawing/2014/main" id="{551806DB-178A-4724-8125-965E7670A446}"/>
              </a:ext>
            </a:extLst>
          </p:cNvPr>
          <p:cNvGrpSpPr/>
          <p:nvPr/>
        </p:nvGrpSpPr>
        <p:grpSpPr>
          <a:xfrm>
            <a:off x="12802508" y="1832571"/>
            <a:ext cx="1641525" cy="6760586"/>
            <a:chOff x="3169920" y="2155778"/>
            <a:chExt cx="1641525" cy="6760586"/>
          </a:xfrm>
        </p:grpSpPr>
        <p:sp>
          <p:nvSpPr>
            <p:cNvPr id="36" name="箭头: 上下 35">
              <a:extLst>
                <a:ext uri="{FF2B5EF4-FFF2-40B4-BE49-F238E27FC236}">
                  <a16:creationId xmlns:a16="http://schemas.microsoft.com/office/drawing/2014/main" id="{648E5C35-8899-4346-A65D-16B9FE8C076F}"/>
                </a:ext>
              </a:extLst>
            </p:cNvPr>
            <p:cNvSpPr/>
            <p:nvPr/>
          </p:nvSpPr>
          <p:spPr>
            <a:xfrm>
              <a:off x="3749039" y="2690257"/>
              <a:ext cx="531203" cy="5865786"/>
            </a:xfrm>
            <a:prstGeom prst="up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38" name="íSḷíḓè">
              <a:extLst>
                <a:ext uri="{FF2B5EF4-FFF2-40B4-BE49-F238E27FC236}">
                  <a16:creationId xmlns:a16="http://schemas.microsoft.com/office/drawing/2014/main" id="{B1B22853-BFF7-486E-ABBF-662C06CBCCED}"/>
                </a:ext>
              </a:extLst>
            </p:cNvPr>
            <p:cNvSpPr txBox="1"/>
            <p:nvPr/>
          </p:nvSpPr>
          <p:spPr>
            <a:xfrm>
              <a:off x="3337560" y="2155778"/>
              <a:ext cx="942682" cy="496776"/>
            </a:xfrm>
            <a:prstGeom prst="rect">
              <a:avLst/>
            </a:prstGeom>
            <a:noFill/>
          </p:spPr>
          <p:txBody>
            <a:bodyPr wrap="none" lIns="360000" tIns="0" rIns="0" bIns="0" anchor="b" anchorCtr="0">
              <a:noAutofit/>
            </a:bodyPr>
            <a:lstStyle/>
            <a:p>
              <a:pPr algn="ctr"/>
              <a:r>
                <a:rPr lang="zh-CN" altLang="en-US" sz="2400" b="1" dirty="0">
                  <a:solidFill>
                    <a:schemeClr val="tx1">
                      <a:lumMod val="75000"/>
                      <a:lumOff val="25000"/>
                    </a:schemeClr>
                  </a:solidFill>
                </a:rPr>
                <a:t>高</a:t>
              </a:r>
              <a:endParaRPr lang="en-US" altLang="zh-CN" sz="2400" b="1" dirty="0">
                <a:solidFill>
                  <a:schemeClr val="tx1">
                    <a:lumMod val="75000"/>
                    <a:lumOff val="25000"/>
                  </a:schemeClr>
                </a:solidFill>
              </a:endParaRPr>
            </a:p>
          </p:txBody>
        </p:sp>
        <p:sp>
          <p:nvSpPr>
            <p:cNvPr id="39" name="íSḷíḓè">
              <a:extLst>
                <a:ext uri="{FF2B5EF4-FFF2-40B4-BE49-F238E27FC236}">
                  <a16:creationId xmlns:a16="http://schemas.microsoft.com/office/drawing/2014/main" id="{B8B96CBE-2B0A-4D3E-AD2E-36C7D38214FE}"/>
                </a:ext>
              </a:extLst>
            </p:cNvPr>
            <p:cNvSpPr txBox="1"/>
            <p:nvPr/>
          </p:nvSpPr>
          <p:spPr>
            <a:xfrm>
              <a:off x="3169920" y="8419588"/>
              <a:ext cx="1280160" cy="496776"/>
            </a:xfrm>
            <a:prstGeom prst="rect">
              <a:avLst/>
            </a:prstGeom>
            <a:noFill/>
          </p:spPr>
          <p:txBody>
            <a:bodyPr wrap="none" lIns="360000" tIns="0" rIns="0" bIns="0" anchor="b" anchorCtr="0">
              <a:noAutofit/>
            </a:bodyPr>
            <a:lstStyle/>
            <a:p>
              <a:pPr algn="ctr"/>
              <a:r>
                <a:rPr lang="zh-CN" altLang="en-US" sz="2400" b="1" dirty="0">
                  <a:solidFill>
                    <a:schemeClr val="tx1">
                      <a:lumMod val="75000"/>
                      <a:lumOff val="25000"/>
                    </a:schemeClr>
                  </a:solidFill>
                </a:rPr>
                <a:t>低</a:t>
              </a:r>
            </a:p>
          </p:txBody>
        </p:sp>
        <p:sp>
          <p:nvSpPr>
            <p:cNvPr id="45" name="矩形 44">
              <a:extLst>
                <a:ext uri="{FF2B5EF4-FFF2-40B4-BE49-F238E27FC236}">
                  <a16:creationId xmlns:a16="http://schemas.microsoft.com/office/drawing/2014/main" id="{24B5CCA3-E621-43A9-802E-27DD9ACF1BE5}"/>
                </a:ext>
              </a:extLst>
            </p:cNvPr>
            <p:cNvSpPr/>
            <p:nvPr/>
          </p:nvSpPr>
          <p:spPr>
            <a:xfrm>
              <a:off x="4280242" y="4629595"/>
              <a:ext cx="531203" cy="1384995"/>
            </a:xfrm>
            <a:prstGeom prst="rect">
              <a:avLst/>
            </a:prstGeom>
          </p:spPr>
          <p:txBody>
            <a:bodyPr wrap="square">
              <a:spAutoFit/>
            </a:bodyPr>
            <a:lstStyle/>
            <a:p>
              <a:r>
                <a:rPr lang="zh-CN" altLang="en-US" sz="2800" b="1" dirty="0">
                  <a:solidFill>
                    <a:schemeClr val="tx1">
                      <a:lumMod val="75000"/>
                      <a:lumOff val="25000"/>
                    </a:schemeClr>
                  </a:solidFill>
                </a:rPr>
                <a:t>优先级</a:t>
              </a:r>
              <a:endParaRPr lang="zh-CN" altLang="en-US" dirty="0">
                <a:solidFill>
                  <a:schemeClr val="tx1">
                    <a:lumMod val="75000"/>
                    <a:lumOff val="25000"/>
                  </a:schemeClr>
                </a:solidFill>
              </a:endParaRPr>
            </a:p>
          </p:txBody>
        </p:sp>
      </p:grpSp>
      <p:grpSp>
        <p:nvGrpSpPr>
          <p:cNvPr id="48" name="组合 47">
            <a:extLst>
              <a:ext uri="{FF2B5EF4-FFF2-40B4-BE49-F238E27FC236}">
                <a16:creationId xmlns:a16="http://schemas.microsoft.com/office/drawing/2014/main" id="{382F045D-0239-4B39-8A94-697F89A46A87}"/>
              </a:ext>
            </a:extLst>
          </p:cNvPr>
          <p:cNvGrpSpPr/>
          <p:nvPr/>
        </p:nvGrpSpPr>
        <p:grpSpPr>
          <a:xfrm>
            <a:off x="4039428" y="2411563"/>
            <a:ext cx="8930720" cy="5865786"/>
            <a:chOff x="3516184" y="2404166"/>
            <a:chExt cx="8930720" cy="5865786"/>
          </a:xfrm>
        </p:grpSpPr>
        <p:sp>
          <p:nvSpPr>
            <p:cNvPr id="8" name="íş1íḓé">
              <a:extLst>
                <a:ext uri="{FF2B5EF4-FFF2-40B4-BE49-F238E27FC236}">
                  <a16:creationId xmlns:a16="http://schemas.microsoft.com/office/drawing/2014/main" id="{DDEED2E5-CFA8-4726-89B1-C7B33DE7C4ED}"/>
                </a:ext>
              </a:extLst>
            </p:cNvPr>
            <p:cNvSpPr/>
            <p:nvPr/>
          </p:nvSpPr>
          <p:spPr>
            <a:xfrm>
              <a:off x="3516184" y="7385051"/>
              <a:ext cx="884901" cy="88490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a:solidFill>
                    <a:schemeClr val="bg1"/>
                  </a:solidFill>
                  <a:latin typeface="Impact" panose="020B0806030902050204" pitchFamily="34" charset="0"/>
                </a:rPr>
                <a:t>05</a:t>
              </a:r>
            </a:p>
          </p:txBody>
        </p:sp>
        <p:sp>
          <p:nvSpPr>
            <p:cNvPr id="10" name="íSľïďé">
              <a:extLst>
                <a:ext uri="{FF2B5EF4-FFF2-40B4-BE49-F238E27FC236}">
                  <a16:creationId xmlns:a16="http://schemas.microsoft.com/office/drawing/2014/main" id="{01349816-2FAA-4010-B6BF-8C91D903C494}"/>
                </a:ext>
              </a:extLst>
            </p:cNvPr>
            <p:cNvSpPr/>
            <p:nvPr/>
          </p:nvSpPr>
          <p:spPr>
            <a:xfrm>
              <a:off x="3523893" y="6139830"/>
              <a:ext cx="884901" cy="88490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a:solidFill>
                    <a:schemeClr val="bg1"/>
                  </a:solidFill>
                  <a:latin typeface="Impact" panose="020B0806030902050204" pitchFamily="34" charset="0"/>
                </a:rPr>
                <a:t>04</a:t>
              </a:r>
            </a:p>
          </p:txBody>
        </p:sp>
        <p:sp>
          <p:nvSpPr>
            <p:cNvPr id="12" name="î$ḷidê">
              <a:extLst>
                <a:ext uri="{FF2B5EF4-FFF2-40B4-BE49-F238E27FC236}">
                  <a16:creationId xmlns:a16="http://schemas.microsoft.com/office/drawing/2014/main" id="{E32E0A98-A287-4025-B036-00859EE2DE93}"/>
                </a:ext>
              </a:extLst>
            </p:cNvPr>
            <p:cNvSpPr/>
            <p:nvPr/>
          </p:nvSpPr>
          <p:spPr>
            <a:xfrm>
              <a:off x="3523893" y="4894609"/>
              <a:ext cx="884901" cy="8849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a:solidFill>
                    <a:schemeClr val="bg1"/>
                  </a:solidFill>
                  <a:latin typeface="Impact" panose="020B0806030902050204" pitchFamily="34" charset="0"/>
                </a:rPr>
                <a:t>03</a:t>
              </a:r>
            </a:p>
          </p:txBody>
        </p:sp>
        <p:sp>
          <p:nvSpPr>
            <p:cNvPr id="14" name="iṥ1íḓè">
              <a:extLst>
                <a:ext uri="{FF2B5EF4-FFF2-40B4-BE49-F238E27FC236}">
                  <a16:creationId xmlns:a16="http://schemas.microsoft.com/office/drawing/2014/main" id="{1465B328-523E-40EA-A8EC-62634E12E601}"/>
                </a:ext>
              </a:extLst>
            </p:cNvPr>
            <p:cNvSpPr/>
            <p:nvPr/>
          </p:nvSpPr>
          <p:spPr>
            <a:xfrm>
              <a:off x="3523893" y="3649387"/>
              <a:ext cx="884901" cy="88490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a:solidFill>
                    <a:schemeClr val="bg1"/>
                  </a:solidFill>
                  <a:latin typeface="Impact" panose="020B0806030902050204" pitchFamily="34" charset="0"/>
                </a:rPr>
                <a:t>02</a:t>
              </a:r>
            </a:p>
          </p:txBody>
        </p:sp>
        <p:sp>
          <p:nvSpPr>
            <p:cNvPr id="16" name="îśḻîḑê">
              <a:extLst>
                <a:ext uri="{FF2B5EF4-FFF2-40B4-BE49-F238E27FC236}">
                  <a16:creationId xmlns:a16="http://schemas.microsoft.com/office/drawing/2014/main" id="{A4E143E1-BFB3-45FC-ACDB-3DDD7183DAA0}"/>
                </a:ext>
              </a:extLst>
            </p:cNvPr>
            <p:cNvSpPr/>
            <p:nvPr/>
          </p:nvSpPr>
          <p:spPr>
            <a:xfrm>
              <a:off x="3523896" y="2404166"/>
              <a:ext cx="884901" cy="88490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a:solidFill>
                    <a:schemeClr val="bg1"/>
                  </a:solidFill>
                  <a:latin typeface="Impact" panose="020B0806030902050204" pitchFamily="34" charset="0"/>
                </a:rPr>
                <a:t>01</a:t>
              </a:r>
            </a:p>
          </p:txBody>
        </p:sp>
        <p:sp>
          <p:nvSpPr>
            <p:cNvPr id="28" name="ïṡliḍe">
              <a:extLst>
                <a:ext uri="{FF2B5EF4-FFF2-40B4-BE49-F238E27FC236}">
                  <a16:creationId xmlns:a16="http://schemas.microsoft.com/office/drawing/2014/main" id="{A114577C-9AF2-48FB-88DF-C94330D051C0}"/>
                </a:ext>
              </a:extLst>
            </p:cNvPr>
            <p:cNvSpPr txBox="1"/>
            <p:nvPr/>
          </p:nvSpPr>
          <p:spPr>
            <a:xfrm>
              <a:off x="4297657" y="7201476"/>
              <a:ext cx="6692699" cy="938731"/>
            </a:xfrm>
            <a:prstGeom prst="rect">
              <a:avLst/>
            </a:prstGeom>
            <a:noFill/>
          </p:spPr>
          <p:txBody>
            <a:bodyPr wrap="none" lIns="360000" tIns="0" rIns="0" bIns="0" anchor="b" anchorCtr="0">
              <a:noAutofit/>
            </a:bodyPr>
            <a:lstStyle/>
            <a:p>
              <a:r>
                <a:rPr lang="zh-CN" altLang="en-US" sz="2400" b="1" dirty="0">
                  <a:solidFill>
                    <a:schemeClr val="tx1">
                      <a:lumMod val="75000"/>
                      <a:lumOff val="25000"/>
                    </a:schemeClr>
                  </a:solidFill>
                </a:rPr>
                <a:t>股东</a:t>
              </a:r>
              <a:endParaRPr lang="en-US" altLang="zh-CN" sz="2400" b="1" dirty="0">
                <a:solidFill>
                  <a:schemeClr val="tx1">
                    <a:lumMod val="75000"/>
                    <a:lumOff val="25000"/>
                  </a:schemeClr>
                </a:solidFill>
              </a:endParaRPr>
            </a:p>
            <a:p>
              <a:r>
                <a:rPr lang="zh-CN" altLang="en-US" sz="2400" dirty="0">
                  <a:solidFill>
                    <a:schemeClr val="tx1">
                      <a:lumMod val="75000"/>
                      <a:lumOff val="25000"/>
                    </a:schemeClr>
                  </a:solidFill>
                </a:rPr>
                <a:t>公司主体的所有者</a:t>
              </a:r>
            </a:p>
          </p:txBody>
        </p:sp>
        <p:sp>
          <p:nvSpPr>
            <p:cNvPr id="29" name="îṩľïḍê">
              <a:extLst>
                <a:ext uri="{FF2B5EF4-FFF2-40B4-BE49-F238E27FC236}">
                  <a16:creationId xmlns:a16="http://schemas.microsoft.com/office/drawing/2014/main" id="{93298AFF-2B3C-428B-8FE8-46519953B549}"/>
                </a:ext>
              </a:extLst>
            </p:cNvPr>
            <p:cNvSpPr txBox="1"/>
            <p:nvPr/>
          </p:nvSpPr>
          <p:spPr>
            <a:xfrm>
              <a:off x="4297658" y="6038124"/>
              <a:ext cx="8149246" cy="904738"/>
            </a:xfrm>
            <a:prstGeom prst="rect">
              <a:avLst/>
            </a:prstGeom>
            <a:noFill/>
          </p:spPr>
          <p:txBody>
            <a:bodyPr wrap="none" lIns="360000" tIns="0" rIns="0" bIns="0" anchor="b" anchorCtr="0">
              <a:noAutofit/>
            </a:bodyPr>
            <a:lstStyle/>
            <a:p>
              <a:r>
                <a:rPr lang="zh-CN" altLang="en-US" sz="2400" b="1" dirty="0">
                  <a:solidFill>
                    <a:schemeClr val="accent4">
                      <a:lumMod val="100000"/>
                    </a:schemeClr>
                  </a:solidFill>
                </a:rPr>
                <a:t>次级的债权人</a:t>
              </a:r>
              <a:endParaRPr lang="en-US" altLang="zh-CN" sz="2400" b="1" dirty="0">
                <a:solidFill>
                  <a:schemeClr val="accent4">
                    <a:lumMod val="100000"/>
                  </a:schemeClr>
                </a:solidFill>
              </a:endParaRPr>
            </a:p>
            <a:p>
              <a:r>
                <a:rPr lang="zh-CN" altLang="en-US" dirty="0"/>
                <a:t>已经正式同意在其他债权人之后受偿的债权人</a:t>
              </a:r>
              <a:endParaRPr lang="zh-CN" altLang="en-US" sz="2400" b="1" dirty="0">
                <a:solidFill>
                  <a:schemeClr val="accent4">
                    <a:lumMod val="100000"/>
                  </a:schemeClr>
                </a:solidFill>
              </a:endParaRPr>
            </a:p>
          </p:txBody>
        </p:sp>
        <p:sp>
          <p:nvSpPr>
            <p:cNvPr id="30" name="iS1îḓê">
              <a:extLst>
                <a:ext uri="{FF2B5EF4-FFF2-40B4-BE49-F238E27FC236}">
                  <a16:creationId xmlns:a16="http://schemas.microsoft.com/office/drawing/2014/main" id="{09751D11-1885-4E98-90C4-DF4A3D26E841}"/>
                </a:ext>
              </a:extLst>
            </p:cNvPr>
            <p:cNvSpPr txBox="1"/>
            <p:nvPr/>
          </p:nvSpPr>
          <p:spPr>
            <a:xfrm>
              <a:off x="4297658" y="4812739"/>
              <a:ext cx="8012086" cy="928209"/>
            </a:xfrm>
            <a:prstGeom prst="rect">
              <a:avLst/>
            </a:prstGeom>
            <a:noFill/>
          </p:spPr>
          <p:txBody>
            <a:bodyPr wrap="none" lIns="360000" tIns="0" rIns="0" bIns="0" anchor="b" anchorCtr="0">
              <a:noAutofit/>
            </a:bodyPr>
            <a:lstStyle/>
            <a:p>
              <a:r>
                <a:rPr lang="zh-CN" altLang="en-US" sz="2400" b="1" dirty="0">
                  <a:solidFill>
                    <a:schemeClr val="accent3">
                      <a:lumMod val="100000"/>
                    </a:schemeClr>
                  </a:solidFill>
                </a:rPr>
                <a:t>无担保的债权人</a:t>
              </a:r>
              <a:endParaRPr lang="en-US" altLang="zh-CN" sz="2400" b="1" dirty="0">
                <a:solidFill>
                  <a:schemeClr val="accent3">
                    <a:lumMod val="100000"/>
                  </a:schemeClr>
                </a:solidFill>
              </a:endParaRPr>
            </a:p>
            <a:p>
              <a:r>
                <a:rPr lang="zh-CN" altLang="en-US" dirty="0"/>
                <a:t>财务债权人、大部分供应商和工资</a:t>
              </a:r>
              <a:endParaRPr lang="zh-CN" altLang="en-US" sz="2400" b="1" dirty="0">
                <a:solidFill>
                  <a:schemeClr val="accent3">
                    <a:lumMod val="100000"/>
                  </a:schemeClr>
                </a:solidFill>
              </a:endParaRPr>
            </a:p>
          </p:txBody>
        </p:sp>
        <p:sp>
          <p:nvSpPr>
            <p:cNvPr id="31" name="iSḻíḑê">
              <a:extLst>
                <a:ext uri="{FF2B5EF4-FFF2-40B4-BE49-F238E27FC236}">
                  <a16:creationId xmlns:a16="http://schemas.microsoft.com/office/drawing/2014/main" id="{816D43C8-AA93-4418-A736-4420F49DDF66}"/>
                </a:ext>
              </a:extLst>
            </p:cNvPr>
            <p:cNvSpPr txBox="1"/>
            <p:nvPr/>
          </p:nvSpPr>
          <p:spPr>
            <a:xfrm>
              <a:off x="4297658" y="3522773"/>
              <a:ext cx="7573205" cy="751868"/>
            </a:xfrm>
            <a:prstGeom prst="rect">
              <a:avLst/>
            </a:prstGeom>
            <a:noFill/>
          </p:spPr>
          <p:txBody>
            <a:bodyPr wrap="none" lIns="360000" tIns="0" rIns="0" bIns="0" anchor="b" anchorCtr="0">
              <a:noAutofit/>
            </a:bodyPr>
            <a:lstStyle/>
            <a:p>
              <a:r>
                <a:rPr lang="zh-CN" altLang="en-US" sz="2400" b="1" dirty="0">
                  <a:solidFill>
                    <a:schemeClr val="accent2">
                      <a:lumMod val="100000"/>
                    </a:schemeClr>
                  </a:solidFill>
                </a:rPr>
                <a:t>有担保的债权人</a:t>
              </a:r>
              <a:endParaRPr lang="en-US" altLang="zh-CN" sz="2400" b="1" dirty="0">
                <a:solidFill>
                  <a:schemeClr val="accent2">
                    <a:lumMod val="100000"/>
                  </a:schemeClr>
                </a:solidFill>
              </a:endParaRPr>
            </a:p>
            <a:p>
              <a:r>
                <a:rPr lang="zh-CN" altLang="en-US" dirty="0"/>
                <a:t>少数财务债权人，部分工资和福利、供应商欠款</a:t>
              </a:r>
              <a:endParaRPr lang="zh-CN" altLang="en-US" sz="2400" b="1" dirty="0">
                <a:solidFill>
                  <a:schemeClr val="accent2">
                    <a:lumMod val="100000"/>
                  </a:schemeClr>
                </a:solidFill>
              </a:endParaRPr>
            </a:p>
          </p:txBody>
        </p:sp>
        <p:sp>
          <p:nvSpPr>
            <p:cNvPr id="47" name="矩形 46">
              <a:extLst>
                <a:ext uri="{FF2B5EF4-FFF2-40B4-BE49-F238E27FC236}">
                  <a16:creationId xmlns:a16="http://schemas.microsoft.com/office/drawing/2014/main" id="{DD784BAD-2970-4E97-9620-E1879F7209EA}"/>
                </a:ext>
              </a:extLst>
            </p:cNvPr>
            <p:cNvSpPr/>
            <p:nvPr/>
          </p:nvSpPr>
          <p:spPr>
            <a:xfrm>
              <a:off x="4519933" y="2454696"/>
              <a:ext cx="7350930" cy="854208"/>
            </a:xfrm>
            <a:prstGeom prst="rect">
              <a:avLst/>
            </a:prstGeom>
          </p:spPr>
          <p:txBody>
            <a:bodyPr wrap="square">
              <a:spAutoFit/>
            </a:bodyPr>
            <a:lstStyle/>
            <a:p>
              <a:r>
                <a:rPr lang="zh-CN" altLang="en-US" sz="2400" b="1" dirty="0">
                  <a:solidFill>
                    <a:schemeClr val="accent1">
                      <a:lumMod val="100000"/>
                    </a:schemeClr>
                  </a:solidFill>
                </a:rPr>
                <a:t>优先支付的费用</a:t>
              </a:r>
              <a:endParaRPr lang="en-US" altLang="zh-CN" sz="2400" b="1" dirty="0">
                <a:solidFill>
                  <a:schemeClr val="accent1">
                    <a:lumMod val="100000"/>
                  </a:schemeClr>
                </a:solidFill>
              </a:endParaRPr>
            </a:p>
            <a:p>
              <a:r>
                <a:rPr lang="zh-CN" altLang="en-US" dirty="0"/>
                <a:t>处理破产事宜的专业费用以及法庭费用</a:t>
              </a:r>
              <a:endParaRPr lang="zh-CN" altLang="en-US" sz="2400" b="1" dirty="0">
                <a:solidFill>
                  <a:schemeClr val="accent1">
                    <a:lumMod val="100000"/>
                  </a:schemeClr>
                </a:solidFill>
              </a:endParaRPr>
            </a:p>
          </p:txBody>
        </p:sp>
      </p:grpSp>
    </p:spTree>
    <p:extLst>
      <p:ext uri="{BB962C8B-B14F-4D97-AF65-F5344CB8AC3E}">
        <p14:creationId xmlns:p14="http://schemas.microsoft.com/office/powerpoint/2010/main" val="15519526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13DCC81-0CCF-404F-B18A-B0BA29BE7C98}"/>
              </a:ext>
            </a:extLst>
          </p:cNvPr>
          <p:cNvSpPr>
            <a:spLocks noGrp="1"/>
          </p:cNvSpPr>
          <p:nvPr>
            <p:ph type="title"/>
          </p:nvPr>
        </p:nvSpPr>
        <p:spPr/>
        <p:txBody>
          <a:bodyPr/>
          <a:lstStyle/>
          <a:p>
            <a:r>
              <a:rPr lang="zh-CN" altLang="en-US" dirty="0"/>
              <a:t>偿付优序</a:t>
            </a:r>
          </a:p>
        </p:txBody>
      </p:sp>
      <p:sp>
        <p:nvSpPr>
          <p:cNvPr id="7" name="内容占位符 6">
            <a:extLst>
              <a:ext uri="{FF2B5EF4-FFF2-40B4-BE49-F238E27FC236}">
                <a16:creationId xmlns:a16="http://schemas.microsoft.com/office/drawing/2014/main" id="{E33DA0AE-394B-41BE-B7A0-EFB139B6B5E1}"/>
              </a:ext>
            </a:extLst>
          </p:cNvPr>
          <p:cNvSpPr>
            <a:spLocks noGrp="1"/>
          </p:cNvSpPr>
          <p:nvPr>
            <p:ph idx="1"/>
          </p:nvPr>
        </p:nvSpPr>
        <p:spPr/>
        <p:txBody>
          <a:bodyPr/>
          <a:lstStyle/>
          <a:p>
            <a:r>
              <a:rPr lang="zh-CN" altLang="en-US" b="1" dirty="0"/>
              <a:t>对债权人的影响</a:t>
            </a:r>
            <a:endParaRPr lang="en-US" altLang="zh-CN" b="1" dirty="0"/>
          </a:p>
          <a:p>
            <a:pPr lvl="1"/>
            <a:r>
              <a:rPr lang="zh-CN" altLang="en-US" dirty="0"/>
              <a:t>制度透明和执行，破产法庭的自由裁量空间、破产法的明确性和执行可变性</a:t>
            </a:r>
            <a:endParaRPr lang="en-US" altLang="zh-CN" dirty="0"/>
          </a:p>
          <a:p>
            <a:pPr lvl="1"/>
            <a:r>
              <a:rPr lang="zh-CN" altLang="en-US" dirty="0"/>
              <a:t>担保执行，能否取得担保物、债权人能否拒绝重组、执行成本、担保物的等价替换（充分保护担保人）</a:t>
            </a:r>
            <a:endParaRPr lang="en-US" altLang="zh-CN" dirty="0"/>
          </a:p>
          <a:p>
            <a:pPr lvl="1"/>
            <a:r>
              <a:rPr lang="zh-CN" altLang="en-US" dirty="0"/>
              <a:t>关键法律风险，破产法庭的中止指令，以阻止债权人求偿和担保执行；财务危机时期的合规审查；向上担保的限制性</a:t>
            </a:r>
            <a:endParaRPr lang="en-US" altLang="zh-CN" dirty="0"/>
          </a:p>
          <a:p>
            <a:pPr lvl="1"/>
            <a:endParaRPr lang="en-US" altLang="zh-CN" dirty="0"/>
          </a:p>
          <a:p>
            <a:r>
              <a:rPr lang="zh-CN" altLang="en-US" b="1" dirty="0"/>
              <a:t>次级属性</a:t>
            </a:r>
            <a:endParaRPr lang="en-US" altLang="zh-CN" b="1" dirty="0"/>
          </a:p>
          <a:p>
            <a:pPr lvl="1"/>
            <a:r>
              <a:rPr lang="zh-CN" altLang="en-US" dirty="0"/>
              <a:t>次级债权的偿付优序低于其他债权人，偿付预期低、利息高</a:t>
            </a:r>
            <a:endParaRPr lang="en-US" altLang="zh-CN" dirty="0"/>
          </a:p>
          <a:p>
            <a:pPr lvl="1"/>
            <a:r>
              <a:rPr lang="zh-CN" altLang="en-US" dirty="0"/>
              <a:t>终极的次级属性：若发生违约，其他债权人将获得更多偿付</a:t>
            </a:r>
            <a:endParaRPr lang="en-US" altLang="zh-CN" dirty="0"/>
          </a:p>
          <a:p>
            <a:pPr lvl="1"/>
            <a:r>
              <a:rPr lang="zh-CN" altLang="en-US" dirty="0"/>
              <a:t>持续经营的次级属性：仅当高优先级的债权人受偿后，才进行偿付</a:t>
            </a:r>
            <a:endParaRPr lang="en-US" altLang="zh-CN" dirty="0"/>
          </a:p>
          <a:p>
            <a:pPr lvl="1"/>
            <a:endParaRPr lang="zh-CN" altLang="en-US" dirty="0"/>
          </a:p>
        </p:txBody>
      </p:sp>
    </p:spTree>
    <p:extLst>
      <p:ext uri="{BB962C8B-B14F-4D97-AF65-F5344CB8AC3E}">
        <p14:creationId xmlns:p14="http://schemas.microsoft.com/office/powerpoint/2010/main" val="42428216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BE92DF-E97E-4984-A3E7-31D7A5FBE075}"/>
              </a:ext>
            </a:extLst>
          </p:cNvPr>
          <p:cNvSpPr>
            <a:spLocks noGrp="1"/>
          </p:cNvSpPr>
          <p:nvPr>
            <p:ph type="title"/>
          </p:nvPr>
        </p:nvSpPr>
        <p:spPr/>
        <p:txBody>
          <a:bodyPr/>
          <a:lstStyle/>
          <a:p>
            <a:r>
              <a:rPr lang="zh-CN" altLang="en-US" dirty="0"/>
              <a:t>担保增信</a:t>
            </a:r>
          </a:p>
        </p:txBody>
      </p:sp>
      <p:sp>
        <p:nvSpPr>
          <p:cNvPr id="3" name="内容占位符 2">
            <a:extLst>
              <a:ext uri="{FF2B5EF4-FFF2-40B4-BE49-F238E27FC236}">
                <a16:creationId xmlns:a16="http://schemas.microsoft.com/office/drawing/2014/main" id="{82CDC37B-00F3-4604-A26F-A5FC08A14453}"/>
              </a:ext>
            </a:extLst>
          </p:cNvPr>
          <p:cNvSpPr>
            <a:spLocks noGrp="1"/>
          </p:cNvSpPr>
          <p:nvPr>
            <p:ph idx="1"/>
          </p:nvPr>
        </p:nvSpPr>
        <p:spPr/>
        <p:txBody>
          <a:bodyPr/>
          <a:lstStyle/>
          <a:p>
            <a:r>
              <a:rPr lang="zh-CN" altLang="en-US" b="1" dirty="0"/>
              <a:t>担保公司</a:t>
            </a:r>
            <a:endParaRPr lang="en-US" altLang="zh-CN" b="1" dirty="0"/>
          </a:p>
          <a:p>
            <a:pPr lvl="1"/>
            <a:r>
              <a:rPr lang="zh-CN" altLang="en-US" dirty="0"/>
              <a:t>如中债增信、中投保、三峡担保、江苏信用再担保等</a:t>
            </a:r>
            <a:endParaRPr lang="en-US" altLang="zh-CN" dirty="0"/>
          </a:p>
          <a:p>
            <a:pPr lvl="1"/>
            <a:r>
              <a:rPr lang="zh-CN" altLang="en-US" dirty="0"/>
              <a:t>关注担保公司资质：股东背景、注册资本、经营状况、代偿风险，风险准备</a:t>
            </a:r>
            <a:endParaRPr lang="en-US" altLang="zh-CN" dirty="0"/>
          </a:p>
          <a:p>
            <a:endParaRPr lang="en-US" altLang="zh-CN" dirty="0"/>
          </a:p>
          <a:p>
            <a:r>
              <a:rPr lang="zh-CN" altLang="en-US" b="1" dirty="0"/>
              <a:t>关联担保</a:t>
            </a:r>
            <a:endParaRPr lang="en-US" altLang="zh-CN" b="1" dirty="0"/>
          </a:p>
          <a:p>
            <a:pPr lvl="1"/>
            <a:r>
              <a:rPr lang="zh-CN" altLang="en-US" dirty="0"/>
              <a:t>集团内公司或其他担保方</a:t>
            </a:r>
            <a:endParaRPr lang="en-US" altLang="zh-CN" dirty="0"/>
          </a:p>
          <a:p>
            <a:pPr lvl="1"/>
            <a:r>
              <a:rPr lang="zh-CN" altLang="en-US" dirty="0"/>
              <a:t>关注由于业务关联性所引起的联合违约概率变化</a:t>
            </a:r>
            <a:endParaRPr lang="en-US" altLang="zh-CN" dirty="0"/>
          </a:p>
          <a:p>
            <a:endParaRPr lang="en-US" altLang="zh-CN" dirty="0"/>
          </a:p>
          <a:p>
            <a:r>
              <a:rPr lang="zh-CN" altLang="en-US" b="1" dirty="0"/>
              <a:t>资产质押</a:t>
            </a:r>
            <a:r>
              <a:rPr lang="en-US" altLang="zh-CN" b="1" dirty="0"/>
              <a:t>/</a:t>
            </a:r>
            <a:r>
              <a:rPr lang="zh-CN" altLang="en-US" b="1" dirty="0"/>
              <a:t>抵押</a:t>
            </a:r>
            <a:endParaRPr lang="en-US" altLang="zh-CN" b="1" dirty="0"/>
          </a:p>
          <a:p>
            <a:pPr lvl="1"/>
            <a:r>
              <a:rPr lang="zh-CN" altLang="en-US" dirty="0"/>
              <a:t>到期变现价值</a:t>
            </a:r>
            <a:endParaRPr lang="en-US" altLang="zh-CN" dirty="0"/>
          </a:p>
          <a:p>
            <a:pPr lvl="1"/>
            <a:r>
              <a:rPr lang="zh-CN" altLang="en-US" dirty="0"/>
              <a:t>对所担保债务的覆盖倍数</a:t>
            </a:r>
            <a:endParaRPr lang="en-US" altLang="zh-CN" dirty="0"/>
          </a:p>
          <a:p>
            <a:pPr lvl="1"/>
            <a:endParaRPr lang="en-US" altLang="zh-CN" dirty="0"/>
          </a:p>
          <a:p>
            <a:pPr lvl="1"/>
            <a:endParaRPr lang="en-US" altLang="zh-CN" dirty="0"/>
          </a:p>
          <a:p>
            <a:pPr lvl="1"/>
            <a:endParaRPr lang="zh-CN" altLang="en-US" dirty="0"/>
          </a:p>
        </p:txBody>
      </p:sp>
    </p:spTree>
    <p:extLst>
      <p:ext uri="{BB962C8B-B14F-4D97-AF65-F5344CB8AC3E}">
        <p14:creationId xmlns:p14="http://schemas.microsoft.com/office/powerpoint/2010/main" val="29886822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DC1FE53-5521-4EAA-AD9B-5C2B889F5F5E}"/>
              </a:ext>
            </a:extLst>
          </p:cNvPr>
          <p:cNvSpPr>
            <a:spLocks noGrp="1"/>
          </p:cNvSpPr>
          <p:nvPr>
            <p:ph type="title"/>
          </p:nvPr>
        </p:nvSpPr>
        <p:spPr/>
        <p:txBody>
          <a:bodyPr/>
          <a:lstStyle/>
          <a:p>
            <a:r>
              <a:rPr lang="zh-CN" altLang="en-US" dirty="0"/>
              <a:t>担保增信</a:t>
            </a:r>
          </a:p>
        </p:txBody>
      </p:sp>
      <p:sp>
        <p:nvSpPr>
          <p:cNvPr id="6" name="文本占位符 5">
            <a:extLst>
              <a:ext uri="{FF2B5EF4-FFF2-40B4-BE49-F238E27FC236}">
                <a16:creationId xmlns:a16="http://schemas.microsoft.com/office/drawing/2014/main" id="{3683F076-1EF3-40D9-B1DA-1360914FAD76}"/>
              </a:ext>
            </a:extLst>
          </p:cNvPr>
          <p:cNvSpPr>
            <a:spLocks noGrp="1"/>
          </p:cNvSpPr>
          <p:nvPr>
            <p:ph sz="half" idx="1"/>
          </p:nvPr>
        </p:nvSpPr>
        <p:spPr>
          <a:xfrm>
            <a:off x="949497" y="2398426"/>
            <a:ext cx="15466444" cy="1900533"/>
          </a:xfrm>
        </p:spPr>
        <p:txBody>
          <a:bodyPr/>
          <a:lstStyle/>
          <a:p>
            <a:r>
              <a:rPr lang="zh-CN" altLang="en-US" dirty="0"/>
              <a:t>担保：在发行人和各类担保主体中，取资质最高的主体评级</a:t>
            </a:r>
            <a:endParaRPr lang="en-US" altLang="zh-CN" dirty="0"/>
          </a:p>
          <a:p>
            <a:r>
              <a:rPr lang="zh-CN" altLang="en-US" dirty="0"/>
              <a:t>增信：对资产评分，累计达标后调增；调增最高</a:t>
            </a:r>
            <a:r>
              <a:rPr lang="en-US" altLang="zh-CN" dirty="0"/>
              <a:t>1-2</a:t>
            </a:r>
            <a:r>
              <a:rPr lang="zh-CN" altLang="en-US" dirty="0"/>
              <a:t>档，调降档次不设限</a:t>
            </a:r>
            <a:endParaRPr lang="en-US" altLang="zh-CN" dirty="0"/>
          </a:p>
        </p:txBody>
      </p:sp>
      <p:sp>
        <p:nvSpPr>
          <p:cNvPr id="9" name="内容占位符 8">
            <a:extLst>
              <a:ext uri="{FF2B5EF4-FFF2-40B4-BE49-F238E27FC236}">
                <a16:creationId xmlns:a16="http://schemas.microsoft.com/office/drawing/2014/main" id="{8F66F1C4-A9FB-4EBE-A230-AF85E53FE60D}"/>
              </a:ext>
            </a:extLst>
          </p:cNvPr>
          <p:cNvSpPr>
            <a:spLocks noGrp="1"/>
          </p:cNvSpPr>
          <p:nvPr>
            <p:ph sz="half" idx="13"/>
          </p:nvPr>
        </p:nvSpPr>
        <p:spPr/>
        <p:txBody>
          <a:bodyPr/>
          <a:lstStyle/>
          <a:p>
            <a:endParaRPr lang="zh-CN" altLang="en-US" dirty="0"/>
          </a:p>
        </p:txBody>
      </p:sp>
      <p:grpSp>
        <p:nvGrpSpPr>
          <p:cNvPr id="24" name="组合 23">
            <a:extLst>
              <a:ext uri="{FF2B5EF4-FFF2-40B4-BE49-F238E27FC236}">
                <a16:creationId xmlns:a16="http://schemas.microsoft.com/office/drawing/2014/main" id="{7E17F341-F5DC-4058-BB10-A48CAB974AF8}"/>
              </a:ext>
            </a:extLst>
          </p:cNvPr>
          <p:cNvGrpSpPr/>
          <p:nvPr/>
        </p:nvGrpSpPr>
        <p:grpSpPr>
          <a:xfrm>
            <a:off x="949496" y="4860131"/>
            <a:ext cx="15582196" cy="4754525"/>
            <a:chOff x="949497" y="3595688"/>
            <a:chExt cx="15582196" cy="4220907"/>
          </a:xfrm>
        </p:grpSpPr>
        <p:grpSp>
          <p:nvGrpSpPr>
            <p:cNvPr id="26" name="组合 25">
              <a:extLst>
                <a:ext uri="{FF2B5EF4-FFF2-40B4-BE49-F238E27FC236}">
                  <a16:creationId xmlns:a16="http://schemas.microsoft.com/office/drawing/2014/main" id="{7D023D9B-C276-4E73-81E2-F21D39CA78AA}"/>
                </a:ext>
              </a:extLst>
            </p:cNvPr>
            <p:cNvGrpSpPr/>
            <p:nvPr/>
          </p:nvGrpSpPr>
          <p:grpSpPr>
            <a:xfrm>
              <a:off x="949497" y="3595688"/>
              <a:ext cx="15123204" cy="2256930"/>
              <a:chOff x="949497" y="2852738"/>
              <a:chExt cx="15123204" cy="2256930"/>
            </a:xfrm>
          </p:grpSpPr>
          <p:sp>
            <p:nvSpPr>
              <p:cNvPr id="34" name="AutoShape 442">
                <a:extLst>
                  <a:ext uri="{FF2B5EF4-FFF2-40B4-BE49-F238E27FC236}">
                    <a16:creationId xmlns:a16="http://schemas.microsoft.com/office/drawing/2014/main" id="{91A69B5C-91A4-499D-B4CE-07743790999D}"/>
                  </a:ext>
                </a:extLst>
              </p:cNvPr>
              <p:cNvSpPr>
                <a:spLocks noChangeArrowheads="1"/>
              </p:cNvSpPr>
              <p:nvPr/>
            </p:nvSpPr>
            <p:spPr bwMode="auto">
              <a:xfrm>
                <a:off x="949497" y="3111813"/>
                <a:ext cx="2366306" cy="1784756"/>
              </a:xfrm>
              <a:prstGeom prst="roundRect">
                <a:avLst>
                  <a:gd name="adj" fmla="val 16667"/>
                </a:avLst>
              </a:prstGeom>
              <a:solidFill>
                <a:srgbClr val="C00000"/>
              </a:solidFill>
              <a:ln w="9525">
                <a:no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zh-CN" altLang="en-US" sz="2400" b="1" dirty="0">
                    <a:solidFill>
                      <a:schemeClr val="bg1"/>
                    </a:solidFill>
                    <a:latin typeface="微软雅黑" panose="020B0503020204020204" pitchFamily="34" charset="-122"/>
                    <a:ea typeface="微软雅黑" panose="020B0503020204020204" pitchFamily="34" charset="-122"/>
                    <a:cs typeface="Times New Roman" pitchFamily="18" charset="0"/>
                  </a:rPr>
                  <a:t>有担保债券的信用等级</a:t>
                </a:r>
                <a:endParaRPr lang="zh-CN" altLang="en-US" sz="24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sp>
            <p:nvSpPr>
              <p:cNvPr id="35" name="等号 34">
                <a:extLst>
                  <a:ext uri="{FF2B5EF4-FFF2-40B4-BE49-F238E27FC236}">
                    <a16:creationId xmlns:a16="http://schemas.microsoft.com/office/drawing/2014/main" id="{226BC3B2-1789-41AA-8F6D-667D7A4BE034}"/>
                  </a:ext>
                </a:extLst>
              </p:cNvPr>
              <p:cNvSpPr/>
              <p:nvPr/>
            </p:nvSpPr>
            <p:spPr>
              <a:xfrm>
                <a:off x="3464300" y="3973967"/>
                <a:ext cx="715052" cy="622448"/>
              </a:xfrm>
              <a:prstGeom prst="mathEqual">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AutoShape 442">
                <a:extLst>
                  <a:ext uri="{FF2B5EF4-FFF2-40B4-BE49-F238E27FC236}">
                    <a16:creationId xmlns:a16="http://schemas.microsoft.com/office/drawing/2014/main" id="{AEDF5917-5A9F-4E76-8057-352ECF4C4ED4}"/>
                  </a:ext>
                </a:extLst>
              </p:cNvPr>
              <p:cNvSpPr>
                <a:spLocks noChangeArrowheads="1"/>
              </p:cNvSpPr>
              <p:nvPr/>
            </p:nvSpPr>
            <p:spPr bwMode="auto">
              <a:xfrm>
                <a:off x="4327849" y="3681900"/>
                <a:ext cx="1375507" cy="944738"/>
              </a:xfrm>
              <a:prstGeom prst="roundRect">
                <a:avLst>
                  <a:gd name="adj" fmla="val 16667"/>
                </a:avLst>
              </a:prstGeom>
              <a:solidFill>
                <a:schemeClr val="accent2"/>
              </a:solidFill>
              <a:ln w="9525">
                <a:solidFill>
                  <a:schemeClr val="accent1"/>
                </a:solid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en-US" altLang="zh-CN" sz="2400" b="1" dirty="0">
                    <a:solidFill>
                      <a:schemeClr val="bg1"/>
                    </a:solidFill>
                    <a:latin typeface="微软雅黑" panose="020B0503020204020204" pitchFamily="34" charset="-122"/>
                    <a:ea typeface="微软雅黑" panose="020B0503020204020204" pitchFamily="34" charset="-122"/>
                    <a:cs typeface="Times New Roman" pitchFamily="18" charset="0"/>
                  </a:rPr>
                  <a:t>MAX</a:t>
                </a:r>
                <a:endParaRPr lang="zh-CN" altLang="en-US" sz="24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sp>
            <p:nvSpPr>
              <p:cNvPr id="37" name="AutoShape 442">
                <a:extLst>
                  <a:ext uri="{FF2B5EF4-FFF2-40B4-BE49-F238E27FC236}">
                    <a16:creationId xmlns:a16="http://schemas.microsoft.com/office/drawing/2014/main" id="{F1786E51-AF3E-49F6-AB35-BA32BEF77556}"/>
                  </a:ext>
                </a:extLst>
              </p:cNvPr>
              <p:cNvSpPr>
                <a:spLocks noChangeArrowheads="1"/>
              </p:cNvSpPr>
              <p:nvPr/>
            </p:nvSpPr>
            <p:spPr bwMode="auto">
              <a:xfrm>
                <a:off x="7695563" y="3111813"/>
                <a:ext cx="1589447" cy="1784756"/>
              </a:xfrm>
              <a:prstGeom prst="roundRect">
                <a:avLst>
                  <a:gd name="adj" fmla="val 16667"/>
                </a:avLst>
              </a:prstGeom>
              <a:solidFill>
                <a:srgbClr val="00B050"/>
              </a:solidFill>
              <a:ln w="9525">
                <a:no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zh-CN" altLang="en-US" sz="2000" b="1" dirty="0">
                    <a:solidFill>
                      <a:schemeClr val="bg1"/>
                    </a:solidFill>
                    <a:latin typeface="微软雅黑" panose="020B0503020204020204" pitchFamily="34" charset="-122"/>
                    <a:ea typeface="微软雅黑" panose="020B0503020204020204" pitchFamily="34" charset="-122"/>
                    <a:cs typeface="Times New Roman" pitchFamily="18" charset="0"/>
                  </a:rPr>
                  <a:t>担保人的信用等级</a:t>
                </a:r>
                <a:endParaRPr lang="zh-CN" altLang="en-US" sz="20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sp>
            <p:nvSpPr>
              <p:cNvPr id="38" name="AutoShape 442">
                <a:extLst>
                  <a:ext uri="{FF2B5EF4-FFF2-40B4-BE49-F238E27FC236}">
                    <a16:creationId xmlns:a16="http://schemas.microsoft.com/office/drawing/2014/main" id="{B73F3F92-E855-4047-B363-EBC2515C39DA}"/>
                  </a:ext>
                </a:extLst>
              </p:cNvPr>
              <p:cNvSpPr>
                <a:spLocks noChangeArrowheads="1"/>
              </p:cNvSpPr>
              <p:nvPr/>
            </p:nvSpPr>
            <p:spPr bwMode="auto">
              <a:xfrm>
                <a:off x="9416221" y="3111813"/>
                <a:ext cx="1654550" cy="1784756"/>
              </a:xfrm>
              <a:prstGeom prst="roundRect">
                <a:avLst>
                  <a:gd name="adj" fmla="val 16667"/>
                </a:avLst>
              </a:prstGeom>
              <a:solidFill>
                <a:srgbClr val="00B050"/>
              </a:solidFill>
              <a:ln w="9525">
                <a:no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zh-CN" altLang="en-US" sz="2000" b="1" dirty="0">
                    <a:solidFill>
                      <a:schemeClr val="bg1"/>
                    </a:solidFill>
                    <a:latin typeface="微软雅黑" panose="020B0503020204020204" pitchFamily="34" charset="-122"/>
                    <a:ea typeface="微软雅黑" panose="020B0503020204020204" pitchFamily="34" charset="-122"/>
                    <a:cs typeface="Times New Roman" pitchFamily="18" charset="0"/>
                  </a:rPr>
                  <a:t>第三方担保人的信用等级</a:t>
                </a:r>
                <a:endParaRPr lang="zh-CN" altLang="en-US" sz="20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sp>
            <p:nvSpPr>
              <p:cNvPr id="39" name="AutoShape 442">
                <a:extLst>
                  <a:ext uri="{FF2B5EF4-FFF2-40B4-BE49-F238E27FC236}">
                    <a16:creationId xmlns:a16="http://schemas.microsoft.com/office/drawing/2014/main" id="{ABE6B1D2-6957-4A93-997E-668148546D03}"/>
                  </a:ext>
                </a:extLst>
              </p:cNvPr>
              <p:cNvSpPr>
                <a:spLocks noChangeArrowheads="1"/>
              </p:cNvSpPr>
              <p:nvPr/>
            </p:nvSpPr>
            <p:spPr bwMode="auto">
              <a:xfrm>
                <a:off x="6048919" y="3111813"/>
                <a:ext cx="1515433" cy="1784756"/>
              </a:xfrm>
              <a:prstGeom prst="roundRect">
                <a:avLst>
                  <a:gd name="adj" fmla="val 16667"/>
                </a:avLst>
              </a:prstGeom>
              <a:solidFill>
                <a:srgbClr val="00B050"/>
              </a:solidFill>
              <a:ln w="9525">
                <a:no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zh-CN" altLang="en-US" sz="2000" b="1" dirty="0">
                    <a:solidFill>
                      <a:schemeClr val="bg1"/>
                    </a:solidFill>
                    <a:latin typeface="微软雅黑" panose="020B0503020204020204" pitchFamily="34" charset="-122"/>
                    <a:ea typeface="微软雅黑" panose="020B0503020204020204" pitchFamily="34" charset="-122"/>
                    <a:cs typeface="Times New Roman" pitchFamily="18" charset="0"/>
                  </a:rPr>
                  <a:t>发行人的信用等级</a:t>
                </a:r>
                <a:endParaRPr lang="zh-CN" altLang="en-US" sz="20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sp>
            <p:nvSpPr>
              <p:cNvPr id="40" name="双括号 39">
                <a:extLst>
                  <a:ext uri="{FF2B5EF4-FFF2-40B4-BE49-F238E27FC236}">
                    <a16:creationId xmlns:a16="http://schemas.microsoft.com/office/drawing/2014/main" id="{DB77A7EA-6A7F-4CC4-8924-AA5056D3A7F0}"/>
                  </a:ext>
                </a:extLst>
              </p:cNvPr>
              <p:cNvSpPr/>
              <p:nvPr/>
            </p:nvSpPr>
            <p:spPr>
              <a:xfrm>
                <a:off x="5857666" y="2852738"/>
                <a:ext cx="5387222" cy="2256930"/>
              </a:xfrm>
              <a:prstGeom prst="bracketPair">
                <a:avLst/>
              </a:prstGeom>
              <a:ln w="1016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十字形 40">
                <a:extLst>
                  <a:ext uri="{FF2B5EF4-FFF2-40B4-BE49-F238E27FC236}">
                    <a16:creationId xmlns:a16="http://schemas.microsoft.com/office/drawing/2014/main" id="{F240C4B0-0F84-406C-A05D-63F1CAA870AD}"/>
                  </a:ext>
                </a:extLst>
              </p:cNvPr>
              <p:cNvSpPr/>
              <p:nvPr/>
            </p:nvSpPr>
            <p:spPr>
              <a:xfrm>
                <a:off x="11922493" y="3712124"/>
                <a:ext cx="894572" cy="773263"/>
              </a:xfrm>
              <a:prstGeom prst="plus">
                <a:avLst>
                  <a:gd name="adj" fmla="val 39907"/>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AutoShape 442">
                <a:extLst>
                  <a:ext uri="{FF2B5EF4-FFF2-40B4-BE49-F238E27FC236}">
                    <a16:creationId xmlns:a16="http://schemas.microsoft.com/office/drawing/2014/main" id="{99214E07-F4DB-47DD-B406-4A6E272B1539}"/>
                  </a:ext>
                </a:extLst>
              </p:cNvPr>
              <p:cNvSpPr>
                <a:spLocks noChangeArrowheads="1"/>
              </p:cNvSpPr>
              <p:nvPr/>
            </p:nvSpPr>
            <p:spPr bwMode="auto">
              <a:xfrm>
                <a:off x="13426570" y="3111813"/>
                <a:ext cx="2646131" cy="1784756"/>
              </a:xfrm>
              <a:prstGeom prst="roundRect">
                <a:avLst>
                  <a:gd name="adj" fmla="val 16667"/>
                </a:avLst>
              </a:prstGeom>
              <a:solidFill>
                <a:srgbClr val="00B0F0"/>
              </a:solidFill>
              <a:ln w="9525">
                <a:no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zh-CN" altLang="en-US" sz="2400" b="1" dirty="0">
                    <a:solidFill>
                      <a:schemeClr val="bg1"/>
                    </a:solidFill>
                    <a:latin typeface="微软雅黑" panose="020B0503020204020204" pitchFamily="34" charset="-122"/>
                    <a:ea typeface="微软雅黑" panose="020B0503020204020204" pitchFamily="34" charset="-122"/>
                    <a:cs typeface="Times New Roman" pitchFamily="18" charset="0"/>
                  </a:rPr>
                  <a:t>抵押</a:t>
                </a:r>
                <a:r>
                  <a:rPr lang="en-US" altLang="zh-CN" sz="2400" b="1" dirty="0">
                    <a:solidFill>
                      <a:schemeClr val="bg1"/>
                    </a:solidFill>
                    <a:latin typeface="微软雅黑" panose="020B0503020204020204" pitchFamily="34" charset="-122"/>
                    <a:ea typeface="微软雅黑" panose="020B0503020204020204" pitchFamily="34" charset="-122"/>
                    <a:cs typeface="Times New Roman" pitchFamily="18" charset="0"/>
                  </a:rPr>
                  <a:t>/</a:t>
                </a:r>
                <a:r>
                  <a:rPr lang="zh-CN" altLang="en-US" sz="2400" b="1" dirty="0">
                    <a:solidFill>
                      <a:schemeClr val="bg1"/>
                    </a:solidFill>
                    <a:latin typeface="微软雅黑" panose="020B0503020204020204" pitchFamily="34" charset="-122"/>
                    <a:ea typeface="微软雅黑" panose="020B0503020204020204" pitchFamily="34" charset="-122"/>
                    <a:cs typeface="Times New Roman" pitchFamily="18" charset="0"/>
                  </a:rPr>
                  <a:t>质押资产</a:t>
                </a:r>
                <a:endParaRPr lang="en-US" altLang="zh-CN" sz="2400" b="1" dirty="0">
                  <a:solidFill>
                    <a:schemeClr val="bg1"/>
                  </a:solidFill>
                  <a:latin typeface="微软雅黑" panose="020B0503020204020204" pitchFamily="34" charset="-122"/>
                  <a:ea typeface="微软雅黑" panose="020B0503020204020204" pitchFamily="34" charset="-122"/>
                  <a:cs typeface="Times New Roman" pitchFamily="18" charset="0"/>
                </a:endParaRPr>
              </a:p>
              <a:p>
                <a:pPr algn="ctr" defTabSz="1296071" fontAlgn="base">
                  <a:spcBef>
                    <a:spcPct val="0"/>
                  </a:spcBef>
                  <a:spcAft>
                    <a:spcPct val="0"/>
                  </a:spcAft>
                </a:pPr>
                <a:r>
                  <a:rPr lang="zh-CN" altLang="en-US" sz="2400" b="1" dirty="0">
                    <a:solidFill>
                      <a:schemeClr val="bg1"/>
                    </a:solidFill>
                    <a:latin typeface="微软雅黑" panose="020B0503020204020204" pitchFamily="34" charset="-122"/>
                    <a:ea typeface="微软雅黑" panose="020B0503020204020204" pitchFamily="34" charset="-122"/>
                    <a:cs typeface="Times New Roman" pitchFamily="18" charset="0"/>
                  </a:rPr>
                  <a:t>的增信等级</a:t>
                </a:r>
                <a:endParaRPr lang="zh-CN" altLang="en-US" sz="24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grpSp>
        <p:grpSp>
          <p:nvGrpSpPr>
            <p:cNvPr id="27" name="组合 26">
              <a:extLst>
                <a:ext uri="{FF2B5EF4-FFF2-40B4-BE49-F238E27FC236}">
                  <a16:creationId xmlns:a16="http://schemas.microsoft.com/office/drawing/2014/main" id="{1B75CDE6-6A13-49C5-98B1-FBEC92F2009C}"/>
                </a:ext>
              </a:extLst>
            </p:cNvPr>
            <p:cNvGrpSpPr/>
            <p:nvPr/>
          </p:nvGrpSpPr>
          <p:grpSpPr>
            <a:xfrm>
              <a:off x="13426570" y="5972778"/>
              <a:ext cx="3105123" cy="1843817"/>
              <a:chOff x="12817065" y="7046522"/>
              <a:chExt cx="3840340" cy="2107996"/>
            </a:xfrm>
          </p:grpSpPr>
          <p:sp>
            <p:nvSpPr>
              <p:cNvPr id="31" name="标注: 上箭头 30">
                <a:extLst>
                  <a:ext uri="{FF2B5EF4-FFF2-40B4-BE49-F238E27FC236}">
                    <a16:creationId xmlns:a16="http://schemas.microsoft.com/office/drawing/2014/main" id="{6EAADE92-8CFA-4137-A629-C5C2A670EB6A}"/>
                  </a:ext>
                </a:extLst>
              </p:cNvPr>
              <p:cNvSpPr/>
              <p:nvPr/>
            </p:nvSpPr>
            <p:spPr>
              <a:xfrm>
                <a:off x="12817065" y="7046522"/>
                <a:ext cx="3840340" cy="2107996"/>
              </a:xfrm>
              <a:prstGeom prst="upArrowCallout">
                <a:avLst>
                  <a:gd name="adj1" fmla="val 13962"/>
                  <a:gd name="adj2" fmla="val 19296"/>
                  <a:gd name="adj3" fmla="val 25000"/>
                  <a:gd name="adj4" fmla="val 65458"/>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2" name="文本框 31">
                <a:extLst>
                  <a:ext uri="{FF2B5EF4-FFF2-40B4-BE49-F238E27FC236}">
                    <a16:creationId xmlns:a16="http://schemas.microsoft.com/office/drawing/2014/main" id="{9E6E12EE-E47B-4196-B050-391BAF4AB00B}"/>
                  </a:ext>
                </a:extLst>
              </p:cNvPr>
              <p:cNvSpPr txBox="1"/>
              <p:nvPr/>
            </p:nvSpPr>
            <p:spPr>
              <a:xfrm>
                <a:off x="12935766" y="7904525"/>
                <a:ext cx="1714245" cy="1030862"/>
              </a:xfrm>
              <a:prstGeom prst="rect">
                <a:avLst/>
              </a:prstGeom>
              <a:solidFill>
                <a:schemeClr val="bg1"/>
              </a:solidFill>
              <a:ln>
                <a:noFill/>
              </a:ln>
            </p:spPr>
            <p:txBody>
              <a:bodyPr wrap="square" rtlCol="0">
                <a:spAutoFit/>
              </a:bodyPr>
              <a:lstStyle/>
              <a:p>
                <a:pPr algn="ctr"/>
                <a:r>
                  <a:rPr lang="zh-CN" altLang="en-US" sz="2000" dirty="0">
                    <a:solidFill>
                      <a:srgbClr val="0070C0"/>
                    </a:solidFill>
                  </a:rPr>
                  <a:t>资产对债务的</a:t>
                </a:r>
                <a:r>
                  <a:rPr lang="zh-CN" altLang="en-US" sz="2000" b="1" dirty="0">
                    <a:solidFill>
                      <a:srgbClr val="0070C0"/>
                    </a:solidFill>
                  </a:rPr>
                  <a:t>覆盖率</a:t>
                </a:r>
              </a:p>
            </p:txBody>
          </p:sp>
          <p:sp>
            <p:nvSpPr>
              <p:cNvPr id="33" name="文本框 32">
                <a:extLst>
                  <a:ext uri="{FF2B5EF4-FFF2-40B4-BE49-F238E27FC236}">
                    <a16:creationId xmlns:a16="http://schemas.microsoft.com/office/drawing/2014/main" id="{C2FBC113-2ECE-442B-8711-3FFE975AAED4}"/>
                  </a:ext>
                </a:extLst>
              </p:cNvPr>
              <p:cNvSpPr txBox="1"/>
              <p:nvPr/>
            </p:nvSpPr>
            <p:spPr>
              <a:xfrm>
                <a:off x="14775427" y="7904525"/>
                <a:ext cx="1791104" cy="1030862"/>
              </a:xfrm>
              <a:prstGeom prst="rect">
                <a:avLst/>
              </a:prstGeom>
              <a:solidFill>
                <a:schemeClr val="bg1"/>
              </a:solidFill>
              <a:ln>
                <a:noFill/>
              </a:ln>
            </p:spPr>
            <p:txBody>
              <a:bodyPr wrap="square" rtlCol="0">
                <a:spAutoFit/>
              </a:bodyPr>
              <a:lstStyle/>
              <a:p>
                <a:pPr algn="ctr"/>
                <a:r>
                  <a:rPr lang="zh-CN" altLang="en-US" sz="2000" dirty="0">
                    <a:solidFill>
                      <a:srgbClr val="0070C0"/>
                    </a:solidFill>
                  </a:rPr>
                  <a:t>增信资产到期日的</a:t>
                </a:r>
                <a:r>
                  <a:rPr lang="zh-CN" altLang="en-US" sz="2000" b="1" dirty="0">
                    <a:solidFill>
                      <a:srgbClr val="0070C0"/>
                    </a:solidFill>
                  </a:rPr>
                  <a:t>折旧率</a:t>
                </a:r>
              </a:p>
            </p:txBody>
          </p:sp>
        </p:grpSp>
        <p:grpSp>
          <p:nvGrpSpPr>
            <p:cNvPr id="28" name="组合 27">
              <a:extLst>
                <a:ext uri="{FF2B5EF4-FFF2-40B4-BE49-F238E27FC236}">
                  <a16:creationId xmlns:a16="http://schemas.microsoft.com/office/drawing/2014/main" id="{675251EA-3DA4-4361-8CEB-23C0B8ED9AEC}"/>
                </a:ext>
              </a:extLst>
            </p:cNvPr>
            <p:cNvGrpSpPr/>
            <p:nvPr/>
          </p:nvGrpSpPr>
          <p:grpSpPr>
            <a:xfrm>
              <a:off x="7344610" y="6086746"/>
              <a:ext cx="2116656" cy="1353639"/>
              <a:chOff x="6882494" y="6779077"/>
              <a:chExt cx="3385907" cy="1353639"/>
            </a:xfrm>
          </p:grpSpPr>
          <p:sp>
            <p:nvSpPr>
              <p:cNvPr id="29" name="标注: 上箭头 28">
                <a:extLst>
                  <a:ext uri="{FF2B5EF4-FFF2-40B4-BE49-F238E27FC236}">
                    <a16:creationId xmlns:a16="http://schemas.microsoft.com/office/drawing/2014/main" id="{4718E971-3F2A-446D-8F1F-632A9639575D}"/>
                  </a:ext>
                </a:extLst>
              </p:cNvPr>
              <p:cNvSpPr/>
              <p:nvPr/>
            </p:nvSpPr>
            <p:spPr>
              <a:xfrm>
                <a:off x="6882494" y="6779077"/>
                <a:ext cx="3385907" cy="1353639"/>
              </a:xfrm>
              <a:prstGeom prst="upArrowCallout">
                <a:avLst>
                  <a:gd name="adj1" fmla="val 19850"/>
                  <a:gd name="adj2" fmla="val 23712"/>
                  <a:gd name="adj3" fmla="val 25000"/>
                  <a:gd name="adj4" fmla="val 62411"/>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46DAA7A5-10CA-47E5-93FD-F27B975BC650}"/>
                  </a:ext>
                </a:extLst>
              </p:cNvPr>
              <p:cNvSpPr txBox="1"/>
              <p:nvPr/>
            </p:nvSpPr>
            <p:spPr>
              <a:xfrm>
                <a:off x="7006996" y="7403114"/>
                <a:ext cx="3185884" cy="628437"/>
              </a:xfrm>
              <a:prstGeom prst="rect">
                <a:avLst/>
              </a:prstGeom>
              <a:solidFill>
                <a:schemeClr val="bg1"/>
              </a:solidFill>
              <a:ln>
                <a:noFill/>
              </a:ln>
            </p:spPr>
            <p:txBody>
              <a:bodyPr wrap="square" rtlCol="0">
                <a:spAutoFit/>
              </a:bodyPr>
              <a:lstStyle/>
              <a:p>
                <a:pPr algn="ctr"/>
                <a:r>
                  <a:rPr lang="zh-CN" altLang="en-US" sz="2000" dirty="0">
                    <a:solidFill>
                      <a:srgbClr val="0070C0"/>
                    </a:solidFill>
                  </a:rPr>
                  <a:t>关联主体的</a:t>
                </a:r>
                <a:endParaRPr lang="en-US" altLang="zh-CN" sz="2000" dirty="0">
                  <a:solidFill>
                    <a:srgbClr val="0070C0"/>
                  </a:solidFill>
                </a:endParaRPr>
              </a:p>
              <a:p>
                <a:pPr algn="ctr"/>
                <a:r>
                  <a:rPr lang="zh-CN" altLang="en-US" sz="2000" b="1" dirty="0">
                    <a:solidFill>
                      <a:srgbClr val="0070C0"/>
                    </a:solidFill>
                  </a:rPr>
                  <a:t>联合违约概率</a:t>
                </a:r>
              </a:p>
            </p:txBody>
          </p:sp>
        </p:grpSp>
      </p:grpSp>
    </p:spTree>
    <p:extLst>
      <p:ext uri="{BB962C8B-B14F-4D97-AF65-F5344CB8AC3E}">
        <p14:creationId xmlns:p14="http://schemas.microsoft.com/office/powerpoint/2010/main" val="20319030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违约回收</a:t>
            </a:r>
          </a:p>
        </p:txBody>
      </p:sp>
      <mc:AlternateContent xmlns:mc="http://schemas.openxmlformats.org/markup-compatibility/2006" xmlns:a14="http://schemas.microsoft.com/office/drawing/2010/main">
        <mc:Choice Requires="a14">
          <p:sp>
            <p:nvSpPr>
              <p:cNvPr id="7" name="内容占位符 6">
                <a:extLst>
                  <a:ext uri="{FF2B5EF4-FFF2-40B4-BE49-F238E27FC236}">
                    <a16:creationId xmlns:a16="http://schemas.microsoft.com/office/drawing/2014/main" id="{10C69480-C013-4889-BEBC-4637348A7D17}"/>
                  </a:ext>
                </a:extLst>
              </p:cNvPr>
              <p:cNvSpPr>
                <a:spLocks noGrp="1"/>
              </p:cNvSpPr>
              <p:nvPr>
                <p:ph idx="1"/>
              </p:nvPr>
            </p:nvSpPr>
            <p:spPr/>
            <p:txBody>
              <a:bodyPr>
                <a:normAutofit/>
              </a:bodyPr>
              <a:lstStyle/>
              <a:p>
                <a:r>
                  <a:rPr lang="zh-CN" altLang="en-US" dirty="0"/>
                  <a:t>违约损失的测算</a:t>
                </a:r>
                <a:endParaRPr lang="en-US" altLang="zh-CN" dirty="0"/>
              </a:p>
              <a:p>
                <a:pPr marL="0" indent="0">
                  <a:buNone/>
                </a:pPr>
                <a14:m>
                  <m:oMathPara xmlns:m="http://schemas.openxmlformats.org/officeDocument/2006/math">
                    <m:oMathParaPr>
                      <m:jc m:val="centerGroup"/>
                    </m:oMathParaPr>
                    <m:oMath xmlns:m="http://schemas.openxmlformats.org/officeDocument/2006/math">
                      <m:r>
                        <m:rPr>
                          <m:nor/>
                        </m:rPr>
                        <a:rPr lang="en-US" altLang="zh-CN" sz="2800" dirty="0">
                          <a:solidFill>
                            <a:srgbClr val="C00000"/>
                          </a:solidFill>
                        </a:rPr>
                        <m:t>EL</m:t>
                      </m:r>
                      <m:r>
                        <a:rPr lang="en-US" altLang="zh-CN" sz="2800" dirty="0">
                          <a:solidFill>
                            <a:srgbClr val="C00000"/>
                          </a:solidFill>
                          <a:latin typeface="Cambria Math" panose="02040503050406030204" pitchFamily="18" charset="0"/>
                        </a:rPr>
                        <m:t>=</m:t>
                      </m:r>
                      <m:r>
                        <m:rPr>
                          <m:nor/>
                        </m:rPr>
                        <a:rPr lang="en-US" altLang="zh-CN" sz="2800" dirty="0">
                          <a:solidFill>
                            <a:srgbClr val="C00000"/>
                          </a:solidFill>
                        </a:rPr>
                        <m:t>PD</m:t>
                      </m:r>
                      <m:r>
                        <a:rPr lang="en-US" altLang="zh-CN" sz="2800" dirty="0">
                          <a:solidFill>
                            <a:srgbClr val="C00000"/>
                          </a:solidFill>
                          <a:latin typeface="Cambria Math" panose="02040503050406030204" pitchFamily="18" charset="0"/>
                        </a:rPr>
                        <m:t>×</m:t>
                      </m:r>
                      <m:r>
                        <m:rPr>
                          <m:nor/>
                        </m:rPr>
                        <a:rPr lang="en-US" altLang="zh-CN" sz="2800" dirty="0">
                          <a:solidFill>
                            <a:srgbClr val="C00000"/>
                          </a:solidFill>
                        </a:rPr>
                        <m:t>LGD</m:t>
                      </m:r>
                      <m:r>
                        <a:rPr lang="en-US" altLang="zh-CN" sz="2800" dirty="0">
                          <a:solidFill>
                            <a:srgbClr val="C00000"/>
                          </a:solidFill>
                          <a:latin typeface="Cambria Math" panose="02040503050406030204" pitchFamily="18" charset="0"/>
                        </a:rPr>
                        <m:t>×</m:t>
                      </m:r>
                      <m:r>
                        <m:rPr>
                          <m:nor/>
                        </m:rPr>
                        <a:rPr lang="en-US" altLang="zh-CN" sz="2800" dirty="0">
                          <a:solidFill>
                            <a:srgbClr val="C00000"/>
                          </a:solidFill>
                        </a:rPr>
                        <m:t>EAD</m:t>
                      </m:r>
                    </m:oMath>
                  </m:oMathPara>
                </a14:m>
                <a:endParaRPr lang="en-US" altLang="zh-CN" sz="2800" dirty="0">
                  <a:solidFill>
                    <a:srgbClr val="C00000"/>
                  </a:solidFill>
                </a:endParaRPr>
              </a:p>
              <a:p>
                <a:pPr lvl="1"/>
                <a:endParaRPr lang="en-US" altLang="zh-CN" dirty="0"/>
              </a:p>
              <a:p>
                <a:pPr lvl="1"/>
                <a:r>
                  <a:rPr lang="zh-CN" altLang="en-US" dirty="0"/>
                  <a:t>违约概率（</a:t>
                </a:r>
                <a:r>
                  <a:rPr lang="en-US" altLang="zh-CN" dirty="0"/>
                  <a:t>Probability of Default, PD</a:t>
                </a:r>
                <a:r>
                  <a:rPr lang="zh-CN" altLang="en-US" dirty="0"/>
                  <a:t>），未来一段时期内不能偿还到期债务的可能性</a:t>
                </a:r>
                <a:endParaRPr lang="en-US" altLang="zh-CN" dirty="0"/>
              </a:p>
              <a:p>
                <a:pPr lvl="1"/>
                <a:r>
                  <a:rPr lang="zh-CN" altLang="en-US" dirty="0"/>
                  <a:t>损失率（</a:t>
                </a:r>
                <a:r>
                  <a:rPr lang="en-US" altLang="zh-CN" dirty="0"/>
                  <a:t>Loss Given Default, LGD</a:t>
                </a:r>
                <a:r>
                  <a:rPr lang="zh-CN" altLang="en-US" dirty="0"/>
                  <a:t>），在已违约的前提下，实际损失的金额与风险暴露总额的比率</a:t>
                </a:r>
              </a:p>
              <a:p>
                <a:pPr lvl="1"/>
                <a:r>
                  <a:rPr lang="zh-CN" altLang="en-US" dirty="0"/>
                  <a:t>风险暴露（</a:t>
                </a:r>
                <a:r>
                  <a:rPr lang="en-US" altLang="zh-CN" dirty="0"/>
                  <a:t> Exposure At Default </a:t>
                </a:r>
                <a:r>
                  <a:rPr lang="zh-CN" altLang="en-US" dirty="0"/>
                  <a:t>，</a:t>
                </a:r>
                <a:r>
                  <a:rPr lang="en-US" altLang="zh-CN" dirty="0"/>
                  <a:t>EAD</a:t>
                </a:r>
                <a:r>
                  <a:rPr lang="zh-CN" altLang="en-US" dirty="0"/>
                  <a:t>），可能发生违约风险的金额</a:t>
                </a:r>
              </a:p>
              <a:p>
                <a:pPr lvl="1"/>
                <a:r>
                  <a:rPr lang="zh-CN" altLang="en-US" dirty="0"/>
                  <a:t>预期损失（</a:t>
                </a:r>
                <a:r>
                  <a:rPr lang="en-US" altLang="zh-CN" dirty="0"/>
                  <a:t>Expected Loss</a:t>
                </a:r>
                <a:r>
                  <a:rPr lang="zh-CN" altLang="en-US" dirty="0"/>
                  <a:t>，</a:t>
                </a:r>
                <a:r>
                  <a:rPr lang="en-US" altLang="zh-CN" dirty="0"/>
                  <a:t>EL</a:t>
                </a:r>
                <a:r>
                  <a:rPr lang="zh-CN" altLang="en-US" dirty="0"/>
                  <a:t>），以上三项乘积</a:t>
                </a:r>
                <a:endParaRPr lang="en-US" altLang="zh-CN" dirty="0"/>
              </a:p>
            </p:txBody>
          </p:sp>
        </mc:Choice>
        <mc:Fallback xmlns="">
          <p:sp>
            <p:nvSpPr>
              <p:cNvPr id="7" name="内容占位符 6">
                <a:extLst>
                  <a:ext uri="{FF2B5EF4-FFF2-40B4-BE49-F238E27FC236}">
                    <a16:creationId xmlns:a16="http://schemas.microsoft.com/office/drawing/2014/main" id="{10C69480-C013-4889-BEBC-4637348A7D17}"/>
                  </a:ext>
                </a:extLst>
              </p:cNvPr>
              <p:cNvSpPr>
                <a:spLocks noGrp="1" noRot="1" noChangeAspect="1" noMove="1" noResize="1" noEditPoints="1" noAdjustHandles="1" noChangeArrowheads="1" noChangeShapeType="1" noTextEdit="1"/>
              </p:cNvSpPr>
              <p:nvPr>
                <p:ph idx="1"/>
              </p:nvPr>
            </p:nvSpPr>
            <p:spPr>
              <a:blipFill>
                <a:blip r:embed="rId2"/>
                <a:stretch>
                  <a:fillRect l="-5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513836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834141-0750-4ABE-8934-0197F4CD8030}"/>
              </a:ext>
            </a:extLst>
          </p:cNvPr>
          <p:cNvSpPr>
            <a:spLocks noGrp="1"/>
          </p:cNvSpPr>
          <p:nvPr>
            <p:ph type="title"/>
          </p:nvPr>
        </p:nvSpPr>
        <p:spPr/>
        <p:txBody>
          <a:bodyPr/>
          <a:lstStyle/>
          <a:p>
            <a:r>
              <a:rPr lang="zh-CN" altLang="en-US" dirty="0"/>
              <a:t> 违约回收</a:t>
            </a:r>
          </a:p>
        </p:txBody>
      </p:sp>
      <mc:AlternateContent xmlns:mc="http://schemas.openxmlformats.org/markup-compatibility/2006" xmlns:a14="http://schemas.microsoft.com/office/drawing/2010/main">
        <mc:Choice Requires="a14">
          <p:sp>
            <p:nvSpPr>
              <p:cNvPr id="4" name="文本占位符 3">
                <a:extLst>
                  <a:ext uri="{FF2B5EF4-FFF2-40B4-BE49-F238E27FC236}">
                    <a16:creationId xmlns:a16="http://schemas.microsoft.com/office/drawing/2014/main" id="{21B88E58-FE1D-4FE7-93A6-8B11E7616723}"/>
                  </a:ext>
                </a:extLst>
              </p:cNvPr>
              <p:cNvSpPr>
                <a:spLocks noGrp="1"/>
              </p:cNvSpPr>
              <p:nvPr>
                <p:ph idx="1"/>
              </p:nvPr>
            </p:nvSpPr>
            <p:spPr>
              <a:xfrm>
                <a:off x="695325" y="1674088"/>
                <a:ext cx="8791575" cy="7701430"/>
              </a:xfrm>
            </p:spPr>
            <p:txBody>
              <a:bodyPr>
                <a:normAutofit/>
              </a:bodyPr>
              <a:lstStyle/>
              <a:p>
                <a:r>
                  <a:rPr lang="zh-CN" altLang="en-US" dirty="0"/>
                  <a:t>有两个投资方案</a:t>
                </a:r>
                <a:endParaRPr lang="en-US" altLang="zh-CN" dirty="0"/>
              </a:p>
              <a:p>
                <a:r>
                  <a:rPr lang="zh-CN" altLang="en-US" dirty="0"/>
                  <a:t>方案一：购买信用债，其期末价值为</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𝟏𝟎𝟎</m:t>
                      </m:r>
                      <m:r>
                        <a:rPr lang="en-US" altLang="zh-CN" b="1" i="1" smtClean="0">
                          <a:solidFill>
                            <a:srgbClr val="C00000"/>
                          </a:solidFill>
                          <a:latin typeface="Cambria Math" panose="02040503050406030204" pitchFamily="18" charset="0"/>
                        </a:rPr>
                        <m:t>𝑹</m:t>
                      </m:r>
                      <m:r>
                        <a:rPr lang="en-US" altLang="zh-CN" b="1" i="1" smtClean="0">
                          <a:solidFill>
                            <a:srgbClr val="C00000"/>
                          </a:solidFill>
                          <a:latin typeface="Cambria Math" panose="02040503050406030204" pitchFamily="18" charset="0"/>
                        </a:rPr>
                        <m:t>+</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𝒑</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𝟏𝟎𝟎</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𝒓</m:t>
                          </m:r>
                        </m:e>
                        <m:sub>
                          <m:r>
                            <a:rPr lang="en-US" altLang="zh-CN" b="1" i="1" smtClean="0">
                              <a:solidFill>
                                <a:srgbClr val="C00000"/>
                              </a:solidFill>
                              <a:latin typeface="Cambria Math" panose="02040503050406030204" pitchFamily="18" charset="0"/>
                            </a:rPr>
                            <m:t>𝑭</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𝑫</m:t>
                      </m:r>
                      <m:r>
                        <a:rPr lang="en-US" altLang="zh-CN" b="1" i="1" smtClean="0">
                          <a:solidFill>
                            <a:srgbClr val="C00000"/>
                          </a:solidFill>
                          <a:latin typeface="Cambria Math" panose="02040503050406030204" pitchFamily="18" charset="0"/>
                        </a:rPr>
                        <m:t>)</m:t>
                      </m:r>
                    </m:oMath>
                  </m:oMathPara>
                </a14:m>
                <a:endParaRPr lang="en-US" altLang="zh-CN" b="1" dirty="0">
                  <a:solidFill>
                    <a:srgbClr val="C00000"/>
                  </a:solidFill>
                </a:endParaRPr>
              </a:p>
              <a:p>
                <a:r>
                  <a:rPr lang="zh-CN" altLang="en-US" dirty="0"/>
                  <a:t>方案二：购买国债资产，获得无风险收益，期末价值为</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𝟏𝟎𝟎</m:t>
                      </m:r>
                      <m:r>
                        <a:rPr lang="en-US" altLang="zh-CN" b="1" i="1" smtClean="0">
                          <a:solidFill>
                            <a:srgbClr val="C00000"/>
                          </a:solidFill>
                          <a:latin typeface="Cambria Math" panose="02040503050406030204" pitchFamily="18" charset="0"/>
                        </a:rPr>
                        <m:t>×</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𝒓</m:t>
                              </m:r>
                            </m:e>
                            <m:sub>
                              <m:r>
                                <a:rPr lang="en-US" altLang="zh-CN" b="1" i="1">
                                  <a:solidFill>
                                    <a:srgbClr val="C00000"/>
                                  </a:solidFill>
                                  <a:latin typeface="Cambria Math" panose="02040503050406030204" pitchFamily="18" charset="0"/>
                                </a:rPr>
                                <m:t>𝑭</m:t>
                              </m:r>
                            </m:sub>
                          </m:sSub>
                        </m:e>
                      </m:d>
                    </m:oMath>
                  </m:oMathPara>
                </a14:m>
                <a:endParaRPr lang="en-US" altLang="zh-CN" b="1" dirty="0"/>
              </a:p>
              <a:p>
                <a:endParaRPr lang="en-US" altLang="zh-CN" dirty="0"/>
              </a:p>
              <a:p>
                <a:r>
                  <a:rPr lang="zh-CN" altLang="en-US" dirty="0"/>
                  <a:t>根据无套利原则，两种投资的收益应相等。则有：</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𝟏𝟎𝟎</m:t>
                      </m:r>
                      <m:r>
                        <a:rPr lang="en-US" altLang="zh-CN" b="1" i="1" smtClean="0">
                          <a:solidFill>
                            <a:srgbClr val="C00000"/>
                          </a:solidFill>
                          <a:latin typeface="Cambria Math" panose="02040503050406030204" pitchFamily="18" charset="0"/>
                        </a:rPr>
                        <m:t>𝑹</m:t>
                      </m:r>
                      <m:r>
                        <a:rPr lang="en-US" altLang="zh-CN" b="1" i="1" smtClean="0">
                          <a:solidFill>
                            <a:srgbClr val="C00000"/>
                          </a:solidFill>
                          <a:latin typeface="Cambria Math" panose="02040503050406030204" pitchFamily="18" charset="0"/>
                        </a:rPr>
                        <m:t>+</m:t>
                      </m:r>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𝒑</m:t>
                          </m:r>
                        </m:e>
                      </m:d>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𝟏𝟎𝟎</m:t>
                      </m:r>
                      <m:r>
                        <a:rPr lang="en-US" altLang="zh-CN" b="1" i="1" smtClean="0">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𝒓</m:t>
                          </m:r>
                        </m:e>
                        <m:sub>
                          <m:r>
                            <a:rPr lang="en-US" altLang="zh-CN" b="1" i="1">
                              <a:solidFill>
                                <a:srgbClr val="C00000"/>
                              </a:solidFill>
                              <a:latin typeface="Cambria Math" panose="02040503050406030204" pitchFamily="18" charset="0"/>
                            </a:rPr>
                            <m:t>𝑭</m:t>
                          </m:r>
                        </m:sub>
                      </m:sSub>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𝑫</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𝟏𝟎𝟎</m:t>
                      </m:r>
                      <m:r>
                        <a:rPr lang="en-US" altLang="zh-CN" b="1" i="1">
                          <a:solidFill>
                            <a:srgbClr val="C00000"/>
                          </a:solidFill>
                          <a:latin typeface="Cambria Math" panose="02040503050406030204" pitchFamily="18" charset="0"/>
                        </a:rPr>
                        <m:t>×</m:t>
                      </m:r>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𝟏</m:t>
                          </m:r>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𝒓</m:t>
                              </m:r>
                            </m:e>
                            <m:sub>
                              <m:r>
                                <a:rPr lang="en-US" altLang="zh-CN" b="1" i="1">
                                  <a:solidFill>
                                    <a:srgbClr val="C00000"/>
                                  </a:solidFill>
                                  <a:latin typeface="Cambria Math" panose="02040503050406030204" pitchFamily="18" charset="0"/>
                                </a:rPr>
                                <m:t>𝑭</m:t>
                              </m:r>
                            </m:sub>
                          </m:sSub>
                        </m:e>
                      </m:d>
                    </m:oMath>
                  </m:oMathPara>
                </a14:m>
                <a:endParaRPr lang="en-US" altLang="zh-CN" b="1" dirty="0"/>
              </a:p>
              <a:p>
                <a:r>
                  <a:rPr lang="zh-CN" altLang="en-US" dirty="0"/>
                  <a:t>由此，可求得违约风险的溢价</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sz="2800" b="1" i="1" smtClean="0">
                          <a:solidFill>
                            <a:srgbClr val="C00000"/>
                          </a:solidFill>
                          <a:latin typeface="Cambria Math" panose="02040503050406030204" pitchFamily="18" charset="0"/>
                        </a:rPr>
                        <m:t>𝑫</m:t>
                      </m:r>
                      <m:r>
                        <a:rPr lang="en-US" altLang="zh-CN" sz="2800" b="1" i="1" smtClean="0">
                          <a:solidFill>
                            <a:srgbClr val="C00000"/>
                          </a:solidFill>
                          <a:latin typeface="Cambria Math" panose="02040503050406030204" pitchFamily="18" charset="0"/>
                        </a:rPr>
                        <m:t>=</m:t>
                      </m:r>
                      <m:f>
                        <m:fPr>
                          <m:ctrlPr>
                            <a:rPr lang="en-US" altLang="zh-CN" sz="2800" b="1" i="1" smtClean="0">
                              <a:solidFill>
                                <a:srgbClr val="C00000"/>
                              </a:solidFill>
                              <a:latin typeface="Cambria Math" panose="02040503050406030204" pitchFamily="18" charset="0"/>
                            </a:rPr>
                          </m:ctrlPr>
                        </m:fPr>
                        <m:num>
                          <m:sSub>
                            <m:sSubPr>
                              <m:ctrlPr>
                                <a:rPr lang="en-US" altLang="zh-CN" sz="2800" b="1" i="1" smtClean="0">
                                  <a:solidFill>
                                    <a:srgbClr val="C00000"/>
                                  </a:solidFill>
                                  <a:latin typeface="Cambria Math" panose="02040503050406030204" pitchFamily="18" charset="0"/>
                                </a:rPr>
                              </m:ctrlPr>
                            </m:sSubPr>
                            <m:e>
                              <m:r>
                                <a:rPr lang="en-US" altLang="zh-CN" sz="2800" b="1" i="1" smtClean="0">
                                  <a:solidFill>
                                    <a:srgbClr val="C00000"/>
                                  </a:solidFill>
                                  <a:latin typeface="Cambria Math" panose="02040503050406030204" pitchFamily="18" charset="0"/>
                                </a:rPr>
                                <m:t>𝒓</m:t>
                              </m:r>
                            </m:e>
                            <m:sub>
                              <m:r>
                                <a:rPr lang="en-US" altLang="zh-CN" sz="2800" b="1" i="1" smtClean="0">
                                  <a:solidFill>
                                    <a:srgbClr val="C00000"/>
                                  </a:solidFill>
                                  <a:latin typeface="Cambria Math" panose="02040503050406030204" pitchFamily="18" charset="0"/>
                                </a:rPr>
                                <m:t>𝑭</m:t>
                              </m:r>
                            </m:sub>
                          </m:sSub>
                          <m:r>
                            <a:rPr lang="en-US" altLang="zh-CN" sz="2800" b="1" i="1" smtClean="0">
                              <a:solidFill>
                                <a:srgbClr val="C00000"/>
                              </a:solidFill>
                              <a:latin typeface="Cambria Math" panose="02040503050406030204" pitchFamily="18" charset="0"/>
                            </a:rPr>
                            <m:t>+</m:t>
                          </m:r>
                          <m:r>
                            <a:rPr lang="en-US" altLang="zh-CN" sz="2800" b="1" i="1" smtClean="0">
                              <a:solidFill>
                                <a:srgbClr val="C00000"/>
                              </a:solidFill>
                              <a:latin typeface="Cambria Math" panose="02040503050406030204" pitchFamily="18" charset="0"/>
                            </a:rPr>
                            <m:t>𝒑</m:t>
                          </m:r>
                          <m:r>
                            <a:rPr lang="en-US" altLang="zh-CN" sz="2800" b="1" i="1" smtClean="0">
                              <a:solidFill>
                                <a:srgbClr val="C00000"/>
                              </a:solidFill>
                              <a:latin typeface="Cambria Math" panose="02040503050406030204" pitchFamily="18" charset="0"/>
                            </a:rPr>
                            <m:t>×(</m:t>
                          </m:r>
                          <m:r>
                            <a:rPr lang="en-US" altLang="zh-CN" sz="2800" b="1" i="1" smtClean="0">
                              <a:solidFill>
                                <a:srgbClr val="C00000"/>
                              </a:solidFill>
                              <a:latin typeface="Cambria Math" panose="02040503050406030204" pitchFamily="18" charset="0"/>
                            </a:rPr>
                            <m:t>𝟏</m:t>
                          </m:r>
                          <m:r>
                            <a:rPr lang="en-US" altLang="zh-CN" sz="2800" b="1" i="1" smtClean="0">
                              <a:solidFill>
                                <a:srgbClr val="C00000"/>
                              </a:solidFill>
                              <a:latin typeface="Cambria Math" panose="02040503050406030204" pitchFamily="18" charset="0"/>
                            </a:rPr>
                            <m:t>−</m:t>
                          </m:r>
                          <m:r>
                            <a:rPr lang="en-US" altLang="zh-CN" sz="2800" b="1" i="1" smtClean="0">
                              <a:solidFill>
                                <a:srgbClr val="C00000"/>
                              </a:solidFill>
                              <a:latin typeface="Cambria Math" panose="02040503050406030204" pitchFamily="18" charset="0"/>
                            </a:rPr>
                            <m:t>𝑹</m:t>
                          </m:r>
                          <m:r>
                            <a:rPr lang="en-US" altLang="zh-CN" sz="2800" b="1" i="1" smtClean="0">
                              <a:solidFill>
                                <a:srgbClr val="C00000"/>
                              </a:solidFill>
                              <a:latin typeface="Cambria Math" panose="02040503050406030204" pitchFamily="18" charset="0"/>
                            </a:rPr>
                            <m:t>)</m:t>
                          </m:r>
                        </m:num>
                        <m:den>
                          <m:r>
                            <a:rPr lang="en-US" altLang="zh-CN" sz="2800" b="1" i="1" smtClean="0">
                              <a:solidFill>
                                <a:srgbClr val="C00000"/>
                              </a:solidFill>
                              <a:latin typeface="Cambria Math" panose="02040503050406030204" pitchFamily="18" charset="0"/>
                            </a:rPr>
                            <m:t>𝟏</m:t>
                          </m:r>
                          <m:r>
                            <a:rPr lang="en-US" altLang="zh-CN" sz="2800" b="1" i="1">
                              <a:solidFill>
                                <a:srgbClr val="C00000"/>
                              </a:solidFill>
                              <a:latin typeface="Cambria Math" panose="02040503050406030204" pitchFamily="18" charset="0"/>
                            </a:rPr>
                            <m:t>−</m:t>
                          </m:r>
                          <m:r>
                            <a:rPr lang="en-US" altLang="zh-CN" sz="2800" b="1" i="1" smtClean="0">
                              <a:solidFill>
                                <a:srgbClr val="C00000"/>
                              </a:solidFill>
                              <a:latin typeface="Cambria Math" panose="02040503050406030204" pitchFamily="18" charset="0"/>
                            </a:rPr>
                            <m:t>𝒑</m:t>
                          </m:r>
                        </m:den>
                      </m:f>
                      <m:r>
                        <a:rPr lang="en-US" altLang="zh-CN" sz="2800" b="1" i="1" smtClean="0">
                          <a:solidFill>
                            <a:srgbClr val="C00000"/>
                          </a:solidFill>
                          <a:latin typeface="Cambria Math" panose="02040503050406030204" pitchFamily="18" charset="0"/>
                        </a:rPr>
                        <m:t>−</m:t>
                      </m:r>
                      <m:sSub>
                        <m:sSubPr>
                          <m:ctrlPr>
                            <a:rPr lang="en-US" altLang="zh-CN" sz="2800" b="1" i="1">
                              <a:solidFill>
                                <a:srgbClr val="C00000"/>
                              </a:solidFill>
                              <a:latin typeface="Cambria Math" panose="02040503050406030204" pitchFamily="18" charset="0"/>
                            </a:rPr>
                          </m:ctrlPr>
                        </m:sSubPr>
                        <m:e>
                          <m:r>
                            <a:rPr lang="en-US" altLang="zh-CN" sz="2800" b="1" i="1">
                              <a:solidFill>
                                <a:srgbClr val="C00000"/>
                              </a:solidFill>
                              <a:latin typeface="Cambria Math" panose="02040503050406030204" pitchFamily="18" charset="0"/>
                            </a:rPr>
                            <m:t>𝒓</m:t>
                          </m:r>
                        </m:e>
                        <m:sub>
                          <m:r>
                            <a:rPr lang="en-US" altLang="zh-CN" sz="2800" b="1" i="1">
                              <a:solidFill>
                                <a:srgbClr val="C00000"/>
                              </a:solidFill>
                              <a:latin typeface="Cambria Math" panose="02040503050406030204" pitchFamily="18" charset="0"/>
                            </a:rPr>
                            <m:t>𝑭</m:t>
                          </m:r>
                        </m:sub>
                      </m:sSub>
                    </m:oMath>
                  </m:oMathPara>
                </a14:m>
                <a:endParaRPr lang="zh-CN" altLang="en-US" sz="2800" b="1" dirty="0">
                  <a:solidFill>
                    <a:srgbClr val="C00000"/>
                  </a:solidFill>
                </a:endParaRPr>
              </a:p>
            </p:txBody>
          </p:sp>
        </mc:Choice>
        <mc:Fallback xmlns="">
          <p:sp>
            <p:nvSpPr>
              <p:cNvPr id="4" name="文本占位符 3">
                <a:extLst>
                  <a:ext uri="{FF2B5EF4-FFF2-40B4-BE49-F238E27FC236}">
                    <a16:creationId xmlns:a16="http://schemas.microsoft.com/office/drawing/2014/main" id="{21B88E58-FE1D-4FE7-93A6-8B11E7616723}"/>
                  </a:ext>
                </a:extLst>
              </p:cNvPr>
              <p:cNvSpPr>
                <a:spLocks noGrp="1" noRot="1" noChangeAspect="1" noMove="1" noResize="1" noEditPoints="1" noAdjustHandles="1" noChangeArrowheads="1" noChangeShapeType="1" noTextEdit="1"/>
              </p:cNvSpPr>
              <p:nvPr>
                <p:ph idx="1"/>
              </p:nvPr>
            </p:nvSpPr>
            <p:spPr>
              <a:xfrm>
                <a:off x="695325" y="1674088"/>
                <a:ext cx="8791575" cy="7701430"/>
              </a:xfrm>
              <a:blipFill>
                <a:blip r:embed="rId2"/>
                <a:stretch>
                  <a:fillRect l="-9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内容占位符 15">
                <a:extLst>
                  <a:ext uri="{FF2B5EF4-FFF2-40B4-BE49-F238E27FC236}">
                    <a16:creationId xmlns:a16="http://schemas.microsoft.com/office/drawing/2014/main" id="{7F61C5A0-5F2B-4978-AD3E-34A20DF2551D}"/>
                  </a:ext>
                </a:extLst>
              </p:cNvPr>
              <p:cNvSpPr>
                <a:spLocks noGrp="1"/>
              </p:cNvSpPr>
              <p:nvPr>
                <p:ph sz="quarter" idx="4294967295"/>
              </p:nvPr>
            </p:nvSpPr>
            <p:spPr>
              <a:xfrm>
                <a:off x="10255569" y="6667500"/>
                <a:ext cx="6700838" cy="1870126"/>
              </a:xfrm>
            </p:spPr>
            <p:txBody>
              <a:bodyPr>
                <a:normAutofit/>
              </a:bodyPr>
              <a:lstStyle/>
              <a:p>
                <a:r>
                  <a:rPr lang="zh-CN" altLang="en-US" dirty="0"/>
                  <a:t>其中，损失率为</a:t>
                </a:r>
                <a14:m>
                  <m:oMath xmlns:m="http://schemas.openxmlformats.org/officeDocument/2006/math">
                    <m:r>
                      <a:rPr lang="en-US" altLang="zh-CN" b="1" i="1">
                        <a:solidFill>
                          <a:srgbClr val="C00000"/>
                        </a:solidFill>
                        <a:latin typeface="Cambria Math" panose="02040503050406030204" pitchFamily="18" charset="0"/>
                      </a:rPr>
                      <m:t>𝑳</m:t>
                    </m:r>
                    <m:r>
                      <a:rPr lang="en-US" altLang="zh-CN" b="1" i="1">
                        <a:solidFill>
                          <a:srgbClr val="C00000"/>
                        </a:solidFill>
                        <a:latin typeface="Cambria Math" panose="02040503050406030204" pitchFamily="18" charset="0"/>
                      </a:rPr>
                      <m:t> </m:t>
                    </m:r>
                  </m:oMath>
                </a14:m>
                <a:r>
                  <a:rPr lang="zh-CN" altLang="en-US" dirty="0"/>
                  <a:t>，损失回收率为</a:t>
                </a:r>
                <a14:m>
                  <m:oMath xmlns:m="http://schemas.openxmlformats.org/officeDocument/2006/math">
                    <m:r>
                      <a:rPr lang="en-US" altLang="zh-CN" b="1" i="1">
                        <a:solidFill>
                          <a:srgbClr val="C00000"/>
                        </a:solidFill>
                        <a:latin typeface="Cambria Math" panose="02040503050406030204" pitchFamily="18" charset="0"/>
                      </a:rPr>
                      <m:t>𝑹</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𝑳</m:t>
                    </m:r>
                  </m:oMath>
                </a14:m>
                <a:r>
                  <a:rPr lang="zh-CN" altLang="en-US" dirty="0"/>
                  <a:t>，</a:t>
                </a:r>
                <a:r>
                  <a:rPr lang="en-US" altLang="zh-CN" dirty="0"/>
                  <a:t> </a:t>
                </a:r>
                <a:r>
                  <a:rPr lang="zh-CN" altLang="en-US" dirty="0"/>
                  <a:t>无风险收益率为</a:t>
                </a:r>
                <a14:m>
                  <m:oMath xmlns:m="http://schemas.openxmlformats.org/officeDocument/2006/math">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𝒓</m:t>
                        </m:r>
                      </m:e>
                      <m:sub>
                        <m:r>
                          <a:rPr lang="en-US" altLang="zh-CN" b="1" i="1">
                            <a:solidFill>
                              <a:srgbClr val="C00000"/>
                            </a:solidFill>
                            <a:latin typeface="Cambria Math" panose="02040503050406030204" pitchFamily="18" charset="0"/>
                          </a:rPr>
                          <m:t>𝑭</m:t>
                        </m:r>
                      </m:sub>
                    </m:sSub>
                    <m:r>
                      <a:rPr lang="en-US" altLang="zh-CN" b="1" i="1">
                        <a:solidFill>
                          <a:srgbClr val="C00000"/>
                        </a:solidFill>
                        <a:latin typeface="Cambria Math" panose="02040503050406030204" pitchFamily="18" charset="0"/>
                      </a:rPr>
                      <m:t> </m:t>
                    </m:r>
                  </m:oMath>
                </a14:m>
                <a:r>
                  <a:rPr lang="zh-CN" altLang="en-US" dirty="0"/>
                  <a:t>，信用风险溢价率为</a:t>
                </a:r>
                <a14:m>
                  <m:oMath xmlns:m="http://schemas.openxmlformats.org/officeDocument/2006/math">
                    <m:r>
                      <a:rPr lang="en-US" altLang="zh-CN" b="1" i="1">
                        <a:solidFill>
                          <a:srgbClr val="C00000"/>
                        </a:solidFill>
                        <a:latin typeface="Cambria Math" panose="02040503050406030204" pitchFamily="18" charset="0"/>
                      </a:rPr>
                      <m:t>𝑫</m:t>
                    </m:r>
                  </m:oMath>
                </a14:m>
                <a:endParaRPr lang="en-US" altLang="zh-CN" dirty="0"/>
              </a:p>
              <a:p>
                <a:endParaRPr lang="en-US" altLang="zh-CN" dirty="0"/>
              </a:p>
              <a:p>
                <a:endParaRPr lang="zh-CN" altLang="en-US" dirty="0"/>
              </a:p>
              <a:p>
                <a:endParaRPr lang="zh-CN" altLang="en-US" dirty="0"/>
              </a:p>
            </p:txBody>
          </p:sp>
        </mc:Choice>
        <mc:Fallback xmlns="">
          <p:sp>
            <p:nvSpPr>
              <p:cNvPr id="16" name="内容占位符 15">
                <a:extLst>
                  <a:ext uri="{FF2B5EF4-FFF2-40B4-BE49-F238E27FC236}">
                    <a16:creationId xmlns:a16="http://schemas.microsoft.com/office/drawing/2014/main" id="{7F61C5A0-5F2B-4978-AD3E-34A20DF2551D}"/>
                  </a:ext>
                </a:extLst>
              </p:cNvPr>
              <p:cNvSpPr>
                <a:spLocks noGrp="1" noRot="1" noChangeAspect="1" noMove="1" noResize="1" noEditPoints="1" noAdjustHandles="1" noChangeArrowheads="1" noChangeShapeType="1" noTextEdit="1"/>
              </p:cNvSpPr>
              <p:nvPr>
                <p:ph sz="quarter" idx="4294967295"/>
              </p:nvPr>
            </p:nvSpPr>
            <p:spPr>
              <a:xfrm>
                <a:off x="10255569" y="6667500"/>
                <a:ext cx="6700838" cy="1870126"/>
              </a:xfrm>
              <a:blipFill>
                <a:blip r:embed="rId3"/>
                <a:stretch>
                  <a:fillRect l="-1182"/>
                </a:stretch>
              </a:blipFill>
            </p:spPr>
            <p:txBody>
              <a:bodyPr/>
              <a:lstStyle/>
              <a:p>
                <a:r>
                  <a:rPr lang="zh-CN" altLang="en-US">
                    <a:noFill/>
                  </a:rPr>
                  <a:t> </a:t>
                </a:r>
              </a:p>
            </p:txBody>
          </p:sp>
        </mc:Fallback>
      </mc:AlternateContent>
      <p:grpSp>
        <p:nvGrpSpPr>
          <p:cNvPr id="31" name="组合 30">
            <a:extLst>
              <a:ext uri="{FF2B5EF4-FFF2-40B4-BE49-F238E27FC236}">
                <a16:creationId xmlns:a16="http://schemas.microsoft.com/office/drawing/2014/main" id="{DFA90673-46FE-411F-96D6-82AE97873A55}"/>
              </a:ext>
            </a:extLst>
          </p:cNvPr>
          <p:cNvGrpSpPr/>
          <p:nvPr/>
        </p:nvGrpSpPr>
        <p:grpSpPr>
          <a:xfrm>
            <a:off x="10259511" y="2623576"/>
            <a:ext cx="5857411" cy="3448581"/>
            <a:chOff x="9808098" y="2936092"/>
            <a:chExt cx="5857411" cy="3448581"/>
          </a:xfrm>
        </p:grpSpPr>
        <p:grpSp>
          <p:nvGrpSpPr>
            <p:cNvPr id="18" name="组合 17">
              <a:extLst>
                <a:ext uri="{FF2B5EF4-FFF2-40B4-BE49-F238E27FC236}">
                  <a16:creationId xmlns:a16="http://schemas.microsoft.com/office/drawing/2014/main" id="{A864D889-4B7B-447E-A4A0-C6D7FC2D2C73}"/>
                </a:ext>
              </a:extLst>
            </p:cNvPr>
            <p:cNvGrpSpPr/>
            <p:nvPr/>
          </p:nvGrpSpPr>
          <p:grpSpPr>
            <a:xfrm>
              <a:off x="9808098" y="2936092"/>
              <a:ext cx="5857411" cy="3448581"/>
              <a:chOff x="9095084" y="2749242"/>
              <a:chExt cx="5535744" cy="3265425"/>
            </a:xfrm>
          </p:grpSpPr>
          <p:sp>
            <p:nvSpPr>
              <p:cNvPr id="19" name="文本框 18">
                <a:extLst>
                  <a:ext uri="{FF2B5EF4-FFF2-40B4-BE49-F238E27FC236}">
                    <a16:creationId xmlns:a16="http://schemas.microsoft.com/office/drawing/2014/main" id="{A73B9F36-511C-40E4-A029-D6A9FD49DF7B}"/>
                  </a:ext>
                </a:extLst>
              </p:cNvPr>
              <p:cNvSpPr txBox="1"/>
              <p:nvPr/>
            </p:nvSpPr>
            <p:spPr>
              <a:xfrm>
                <a:off x="9095084" y="3474277"/>
                <a:ext cx="1052779" cy="1136579"/>
              </a:xfrm>
              <a:prstGeom prst="rect">
                <a:avLst/>
              </a:prstGeom>
              <a:solidFill>
                <a:srgbClr val="FFE8E0"/>
              </a:solidFill>
              <a:ln>
                <a:solidFill>
                  <a:schemeClr val="accent1"/>
                </a:solidFill>
              </a:ln>
            </p:spPr>
            <p:txBody>
              <a:bodyPr wrap="square" rtlCol="0" anchor="ctr">
                <a:spAutoFit/>
              </a:bodyPr>
              <a:lstStyle/>
              <a:p>
                <a:pPr algn="ctr"/>
                <a:r>
                  <a:rPr lang="zh-CN" altLang="en-US" sz="2400" b="1" dirty="0">
                    <a:solidFill>
                      <a:schemeClr val="tx1">
                        <a:lumMod val="65000"/>
                        <a:lumOff val="35000"/>
                      </a:schemeClr>
                    </a:solidFill>
                  </a:rPr>
                  <a:t>期初</a:t>
                </a:r>
                <a:endParaRPr lang="en-US" altLang="zh-CN" sz="2400" b="1" dirty="0">
                  <a:solidFill>
                    <a:schemeClr val="tx1">
                      <a:lumMod val="65000"/>
                      <a:lumOff val="35000"/>
                    </a:schemeClr>
                  </a:solidFill>
                </a:endParaRPr>
              </a:p>
              <a:p>
                <a:pPr algn="ctr"/>
                <a:endParaRPr lang="en-US" altLang="zh-CN" sz="2400" b="1" dirty="0">
                  <a:solidFill>
                    <a:schemeClr val="tx1">
                      <a:lumMod val="65000"/>
                      <a:lumOff val="35000"/>
                    </a:schemeClr>
                  </a:solidFill>
                </a:endParaRPr>
              </a:p>
              <a:p>
                <a:pPr algn="ctr"/>
                <a:r>
                  <a:rPr lang="en-US" altLang="zh-CN" sz="2400" b="1" dirty="0">
                    <a:solidFill>
                      <a:schemeClr val="tx1">
                        <a:lumMod val="65000"/>
                        <a:lumOff val="35000"/>
                      </a:schemeClr>
                    </a:solidFill>
                  </a:rPr>
                  <a:t>100</a:t>
                </a:r>
                <a:r>
                  <a:rPr lang="zh-CN" altLang="en-US" sz="2400" b="1" dirty="0">
                    <a:solidFill>
                      <a:schemeClr val="tx1">
                        <a:lumMod val="65000"/>
                        <a:lumOff val="35000"/>
                      </a:schemeClr>
                    </a:solidFill>
                  </a:rPr>
                  <a:t>元</a:t>
                </a:r>
              </a:p>
            </p:txBody>
          </p:sp>
          <p:grpSp>
            <p:nvGrpSpPr>
              <p:cNvPr id="20" name="组合 19">
                <a:extLst>
                  <a:ext uri="{FF2B5EF4-FFF2-40B4-BE49-F238E27FC236}">
                    <a16:creationId xmlns:a16="http://schemas.microsoft.com/office/drawing/2014/main" id="{ACF90FE7-2052-4552-9CD7-AC7CC8758DC6}"/>
                  </a:ext>
                </a:extLst>
              </p:cNvPr>
              <p:cNvGrpSpPr/>
              <p:nvPr/>
            </p:nvGrpSpPr>
            <p:grpSpPr>
              <a:xfrm>
                <a:off x="10291860" y="3399551"/>
                <a:ext cx="1752663" cy="2046825"/>
                <a:chOff x="10310191" y="3362964"/>
                <a:chExt cx="1271096" cy="1045423"/>
              </a:xfrm>
            </p:grpSpPr>
            <p:cxnSp>
              <p:nvCxnSpPr>
                <p:cNvPr id="23" name="直接箭头连接符 22">
                  <a:extLst>
                    <a:ext uri="{FF2B5EF4-FFF2-40B4-BE49-F238E27FC236}">
                      <a16:creationId xmlns:a16="http://schemas.microsoft.com/office/drawing/2014/main" id="{2F1C163A-7CC4-44D6-99C7-621FE1B85786}"/>
                    </a:ext>
                  </a:extLst>
                </p:cNvPr>
                <p:cNvCxnSpPr>
                  <a:cxnSpLocks/>
                </p:cNvCxnSpPr>
                <p:nvPr/>
              </p:nvCxnSpPr>
              <p:spPr>
                <a:xfrm flipV="1">
                  <a:off x="10310191" y="3362964"/>
                  <a:ext cx="1251587" cy="400654"/>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9FA6A613-8091-48FD-8F5D-FA9C8745C7C8}"/>
                    </a:ext>
                  </a:extLst>
                </p:cNvPr>
                <p:cNvCxnSpPr>
                  <a:cxnSpLocks/>
                </p:cNvCxnSpPr>
                <p:nvPr/>
              </p:nvCxnSpPr>
              <p:spPr>
                <a:xfrm>
                  <a:off x="10329700" y="3763617"/>
                  <a:ext cx="1251587" cy="644770"/>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文本框 20">
                <a:extLst>
                  <a:ext uri="{FF2B5EF4-FFF2-40B4-BE49-F238E27FC236}">
                    <a16:creationId xmlns:a16="http://schemas.microsoft.com/office/drawing/2014/main" id="{86D792D9-AB0C-4531-8C82-1C112E27617D}"/>
                  </a:ext>
                </a:extLst>
              </p:cNvPr>
              <p:cNvSpPr txBox="1"/>
              <p:nvPr/>
            </p:nvSpPr>
            <p:spPr>
              <a:xfrm>
                <a:off x="12062025" y="2749242"/>
                <a:ext cx="2568803" cy="1136579"/>
              </a:xfrm>
              <a:prstGeom prst="rect">
                <a:avLst/>
              </a:prstGeom>
              <a:solidFill>
                <a:srgbClr val="FFC000"/>
              </a:solidFill>
              <a:ln>
                <a:noFill/>
              </a:ln>
            </p:spPr>
            <p:txBody>
              <a:bodyPr wrap="square" rtlCol="0" anchor="ctr">
                <a:spAutoFit/>
              </a:bodyPr>
              <a:lstStyle/>
              <a:p>
                <a:pPr algn="ctr"/>
                <a:r>
                  <a:rPr lang="zh-CN" altLang="en-US" sz="2400" b="1" dirty="0">
                    <a:solidFill>
                      <a:schemeClr val="tx1">
                        <a:lumMod val="65000"/>
                        <a:lumOff val="35000"/>
                      </a:schemeClr>
                    </a:solidFill>
                  </a:rPr>
                  <a:t>违约</a:t>
                </a:r>
                <a:endParaRPr lang="en-US" altLang="zh-CN" sz="2400" b="1" dirty="0">
                  <a:solidFill>
                    <a:schemeClr val="tx1">
                      <a:lumMod val="65000"/>
                      <a:lumOff val="35000"/>
                    </a:schemeClr>
                  </a:solidFill>
                </a:endParaRPr>
              </a:p>
              <a:p>
                <a:pPr algn="ctr"/>
                <a:endParaRPr lang="en-US" altLang="zh-CN" sz="2400" b="1" dirty="0">
                  <a:solidFill>
                    <a:schemeClr val="tx1">
                      <a:lumMod val="65000"/>
                      <a:lumOff val="35000"/>
                    </a:schemeClr>
                  </a:solidFill>
                </a:endParaRPr>
              </a:p>
              <a:p>
                <a:pPr algn="ctr"/>
                <a:r>
                  <a:rPr lang="en-US" altLang="zh-CN" sz="2400" b="1" dirty="0">
                    <a:solidFill>
                      <a:schemeClr val="tx1">
                        <a:lumMod val="65000"/>
                        <a:lumOff val="35000"/>
                      </a:schemeClr>
                    </a:solidFill>
                  </a:rPr>
                  <a:t>100*R=</a:t>
                </a:r>
                <a:r>
                  <a:rPr lang="en-US" altLang="zh-CN" sz="2400" b="1">
                    <a:solidFill>
                      <a:schemeClr val="tx1">
                        <a:lumMod val="65000"/>
                        <a:lumOff val="35000"/>
                      </a:schemeClr>
                    </a:solidFill>
                  </a:rPr>
                  <a:t>100*(1-L</a:t>
                </a:r>
                <a:r>
                  <a:rPr lang="en-US" altLang="zh-CN" sz="2400" b="1" dirty="0">
                    <a:solidFill>
                      <a:schemeClr val="tx1">
                        <a:lumMod val="65000"/>
                        <a:lumOff val="35000"/>
                      </a:schemeClr>
                    </a:solidFill>
                  </a:rPr>
                  <a:t>)</a:t>
                </a:r>
              </a:p>
            </p:txBody>
          </p:sp>
          <p:sp>
            <p:nvSpPr>
              <p:cNvPr id="22" name="文本框 21">
                <a:extLst>
                  <a:ext uri="{FF2B5EF4-FFF2-40B4-BE49-F238E27FC236}">
                    <a16:creationId xmlns:a16="http://schemas.microsoft.com/office/drawing/2014/main" id="{1C421AB0-AF5F-4F91-AF06-6B05EA1A1947}"/>
                  </a:ext>
                </a:extLst>
              </p:cNvPr>
              <p:cNvSpPr txBox="1"/>
              <p:nvPr/>
            </p:nvSpPr>
            <p:spPr>
              <a:xfrm>
                <a:off x="12062025" y="4878088"/>
                <a:ext cx="2568803" cy="1136579"/>
              </a:xfrm>
              <a:prstGeom prst="rect">
                <a:avLst/>
              </a:prstGeom>
              <a:solidFill>
                <a:srgbClr val="CCECFF"/>
              </a:solidFill>
              <a:ln>
                <a:noFill/>
              </a:ln>
            </p:spPr>
            <p:txBody>
              <a:bodyPr wrap="square" rtlCol="0" anchor="ctr">
                <a:spAutoFit/>
              </a:bodyPr>
              <a:lstStyle/>
              <a:p>
                <a:pPr algn="ctr"/>
                <a:r>
                  <a:rPr lang="zh-CN" altLang="en-US" sz="2400" b="1" dirty="0">
                    <a:solidFill>
                      <a:schemeClr val="tx1">
                        <a:lumMod val="65000"/>
                        <a:lumOff val="35000"/>
                      </a:schemeClr>
                    </a:solidFill>
                  </a:rPr>
                  <a:t>无违约</a:t>
                </a:r>
                <a:endParaRPr lang="en-US" altLang="zh-CN" sz="2400" b="1" dirty="0">
                  <a:solidFill>
                    <a:schemeClr val="tx1">
                      <a:lumMod val="65000"/>
                      <a:lumOff val="35000"/>
                    </a:schemeClr>
                  </a:solidFill>
                </a:endParaRPr>
              </a:p>
              <a:p>
                <a:pPr algn="ctr"/>
                <a:endParaRPr lang="en-US" altLang="zh-CN" sz="2400" b="1" dirty="0">
                  <a:solidFill>
                    <a:schemeClr val="tx1">
                      <a:lumMod val="65000"/>
                      <a:lumOff val="35000"/>
                    </a:schemeClr>
                  </a:solidFill>
                </a:endParaRPr>
              </a:p>
              <a:p>
                <a:pPr algn="ctr"/>
                <a:r>
                  <a:rPr lang="en-US" altLang="zh-CN" sz="2400" b="1">
                    <a:solidFill>
                      <a:schemeClr val="tx1">
                        <a:lumMod val="65000"/>
                        <a:lumOff val="35000"/>
                      </a:schemeClr>
                    </a:solidFill>
                  </a:rPr>
                  <a:t>100</a:t>
                </a:r>
                <a:r>
                  <a:rPr lang="zh-CN" altLang="en-US" sz="2400" b="1">
                    <a:solidFill>
                      <a:schemeClr val="tx1">
                        <a:lumMod val="65000"/>
                        <a:lumOff val="35000"/>
                      </a:schemeClr>
                    </a:solidFill>
                  </a:rPr>
                  <a:t>*</a:t>
                </a:r>
                <a:r>
                  <a:rPr lang="en-US" altLang="zh-CN" sz="2400" b="1">
                    <a:solidFill>
                      <a:schemeClr val="tx1">
                        <a:lumMod val="65000"/>
                        <a:lumOff val="35000"/>
                      </a:schemeClr>
                    </a:solidFill>
                  </a:rPr>
                  <a:t>(1</a:t>
                </a:r>
                <a:r>
                  <a:rPr lang="en-US" altLang="zh-CN" sz="2400" b="1" dirty="0">
                    <a:solidFill>
                      <a:schemeClr val="tx1">
                        <a:lumMod val="65000"/>
                        <a:lumOff val="35000"/>
                      </a:schemeClr>
                    </a:solidFill>
                  </a:rPr>
                  <a:t>+rF+D)</a:t>
                </a:r>
              </a:p>
            </p:txBody>
          </p:sp>
        </p:grpSp>
        <p:sp>
          <p:nvSpPr>
            <p:cNvPr id="25" name="文本框 24">
              <a:extLst>
                <a:ext uri="{FF2B5EF4-FFF2-40B4-BE49-F238E27FC236}">
                  <a16:creationId xmlns:a16="http://schemas.microsoft.com/office/drawing/2014/main" id="{3C4D0ADA-06B9-4BA5-AE18-49D6F3B2A594}"/>
                </a:ext>
              </a:extLst>
            </p:cNvPr>
            <p:cNvSpPr txBox="1"/>
            <p:nvPr/>
          </p:nvSpPr>
          <p:spPr>
            <a:xfrm>
              <a:off x="11639042" y="3529068"/>
              <a:ext cx="365806" cy="461665"/>
            </a:xfrm>
            <a:prstGeom prst="rect">
              <a:avLst/>
            </a:prstGeom>
            <a:noFill/>
          </p:spPr>
          <p:txBody>
            <a:bodyPr wrap="square" rtlCol="0">
              <a:spAutoFit/>
            </a:bodyPr>
            <a:lstStyle/>
            <a:p>
              <a:r>
                <a:rPr lang="en-US" altLang="zh-CN" sz="2400" b="1" dirty="0">
                  <a:solidFill>
                    <a:srgbClr val="C00000"/>
                  </a:solidFill>
                </a:rPr>
                <a:t>p</a:t>
              </a:r>
              <a:endParaRPr lang="zh-CN" altLang="en-US" sz="2400" b="1" dirty="0">
                <a:solidFill>
                  <a:srgbClr val="C00000"/>
                </a:solidFill>
              </a:endParaRPr>
            </a:p>
          </p:txBody>
        </p:sp>
        <p:sp>
          <p:nvSpPr>
            <p:cNvPr id="26" name="文本框 25">
              <a:extLst>
                <a:ext uri="{FF2B5EF4-FFF2-40B4-BE49-F238E27FC236}">
                  <a16:creationId xmlns:a16="http://schemas.microsoft.com/office/drawing/2014/main" id="{630BE246-2453-4A1C-AF68-BEA262388F90}"/>
                </a:ext>
              </a:extLst>
            </p:cNvPr>
            <p:cNvSpPr txBox="1"/>
            <p:nvPr/>
          </p:nvSpPr>
          <p:spPr>
            <a:xfrm>
              <a:off x="11231820" y="5014159"/>
              <a:ext cx="814444" cy="461665"/>
            </a:xfrm>
            <a:prstGeom prst="rect">
              <a:avLst/>
            </a:prstGeom>
            <a:noFill/>
          </p:spPr>
          <p:txBody>
            <a:bodyPr wrap="square" rtlCol="0">
              <a:spAutoFit/>
            </a:bodyPr>
            <a:lstStyle/>
            <a:p>
              <a:r>
                <a:rPr lang="en-US" altLang="zh-CN" sz="2400" b="1" dirty="0">
                  <a:solidFill>
                    <a:srgbClr val="C00000"/>
                  </a:solidFill>
                </a:rPr>
                <a:t>1-p</a:t>
              </a:r>
              <a:endParaRPr lang="zh-CN" altLang="en-US" sz="2400" b="1" dirty="0">
                <a:solidFill>
                  <a:srgbClr val="C00000"/>
                </a:solidFill>
              </a:endParaRPr>
            </a:p>
          </p:txBody>
        </p:sp>
      </p:grpSp>
    </p:spTree>
    <p:extLst>
      <p:ext uri="{BB962C8B-B14F-4D97-AF65-F5344CB8AC3E}">
        <p14:creationId xmlns:p14="http://schemas.microsoft.com/office/powerpoint/2010/main" val="5793660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7E4D2D78-B737-43A3-A06A-C652C77AF7A2}"/>
              </a:ext>
            </a:extLst>
          </p:cNvPr>
          <p:cNvSpPr>
            <a:spLocks noGrp="1"/>
          </p:cNvSpPr>
          <p:nvPr>
            <p:ph type="title"/>
          </p:nvPr>
        </p:nvSpPr>
        <p:spPr/>
        <p:txBody>
          <a:bodyPr/>
          <a:lstStyle/>
          <a:p>
            <a:r>
              <a:rPr lang="zh-CN" altLang="en-US" dirty="0"/>
              <a:t>（七）条款分析</a:t>
            </a:r>
          </a:p>
        </p:txBody>
      </p:sp>
      <p:sp>
        <p:nvSpPr>
          <p:cNvPr id="7" name="文本占位符 6">
            <a:extLst>
              <a:ext uri="{FF2B5EF4-FFF2-40B4-BE49-F238E27FC236}">
                <a16:creationId xmlns:a16="http://schemas.microsoft.com/office/drawing/2014/main" id="{34A7B5C2-44EE-4558-B7CF-36CBF23B05FE}"/>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359452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债券合约中的主要条款</a:t>
            </a:r>
            <a:endParaRPr lang="en-US" dirty="0"/>
          </a:p>
        </p:txBody>
      </p:sp>
      <p:grpSp>
        <p:nvGrpSpPr>
          <p:cNvPr id="17" name="Group 16"/>
          <p:cNvGrpSpPr/>
          <p:nvPr/>
        </p:nvGrpSpPr>
        <p:grpSpPr>
          <a:xfrm>
            <a:off x="4957317" y="1455626"/>
            <a:ext cx="7992641" cy="7992641"/>
            <a:chOff x="3426620" y="815631"/>
            <a:chExt cx="5529985" cy="5529985"/>
          </a:xfrm>
        </p:grpSpPr>
        <p:sp>
          <p:nvSpPr>
            <p:cNvPr id="21" name="Pie 20"/>
            <p:cNvSpPr/>
            <p:nvPr/>
          </p:nvSpPr>
          <p:spPr>
            <a:xfrm>
              <a:off x="3680251" y="1111819"/>
              <a:ext cx="4920749" cy="4920749"/>
            </a:xfrm>
            <a:prstGeom prst="pie">
              <a:avLst>
                <a:gd name="adj1" fmla="val 16200000"/>
                <a:gd name="adj2" fmla="val 1800000"/>
              </a:avLst>
            </a:prstGeom>
            <a:solidFill>
              <a:srgbClr val="F15628"/>
            </a:solidFill>
            <a:ln w="10795" cap="flat" cmpd="sng" algn="ctr">
              <a:noFill/>
              <a:prstDash val="solid"/>
            </a:ln>
            <a:effectLst/>
          </p:spPr>
          <p:txBody>
            <a:bodyPr/>
            <a:lstStyle/>
            <a:p>
              <a:endParaRPr lang="zh-CN" altLang="en-US" dirty="0"/>
            </a:p>
          </p:txBody>
        </p:sp>
        <p:sp>
          <p:nvSpPr>
            <p:cNvPr id="22" name="Pie 4"/>
            <p:cNvSpPr/>
            <p:nvPr/>
          </p:nvSpPr>
          <p:spPr>
            <a:xfrm>
              <a:off x="6265810" y="1805126"/>
              <a:ext cx="1904568" cy="1832077"/>
            </a:xfrm>
            <a:prstGeom prst="rect">
              <a:avLst/>
            </a:prstGeom>
            <a:noFill/>
            <a:ln>
              <a:noFill/>
            </a:ln>
            <a:effectLst/>
          </p:spPr>
          <p:txBody>
            <a:bodyPr spcFirstLastPara="0" vert="horz" wrap="square" lIns="51396" tIns="51396" rIns="51396" bIns="51396" numCol="1" spcCol="1270" anchor="t" anchorCtr="0">
              <a:noAutofit/>
            </a:bodyPr>
            <a:lstStyle/>
            <a:p>
              <a:pPr defTabSz="1798886">
                <a:lnSpc>
                  <a:spcPct val="90000"/>
                </a:lnSpc>
                <a:spcBef>
                  <a:spcPct val="0"/>
                </a:spcBef>
                <a:spcAft>
                  <a:spcPct val="35000"/>
                </a:spcAft>
                <a:defRPr/>
              </a:pPr>
              <a:r>
                <a:rPr lang="zh-CN" altLang="en-US" sz="3200" b="1" kern="0" dirty="0">
                  <a:solidFill>
                    <a:srgbClr val="FFFFFF"/>
                  </a:solidFill>
                </a:rPr>
                <a:t>权利条款</a:t>
              </a:r>
              <a:endParaRPr lang="en-US" altLang="zh-CN" sz="3200" b="1" kern="0" dirty="0">
                <a:solidFill>
                  <a:srgbClr val="FFFFFF"/>
                </a:solidFill>
              </a:endParaRPr>
            </a:p>
            <a:p>
              <a:pPr defTabSz="1798886">
                <a:lnSpc>
                  <a:spcPct val="90000"/>
                </a:lnSpc>
                <a:spcBef>
                  <a:spcPct val="0"/>
                </a:spcBef>
                <a:spcAft>
                  <a:spcPct val="35000"/>
                </a:spcAft>
                <a:defRPr/>
              </a:pPr>
              <a:r>
                <a:rPr lang="zh-CN" altLang="en-US" sz="2400" kern="0" dirty="0">
                  <a:solidFill>
                    <a:srgbClr val="FFFFFF"/>
                  </a:solidFill>
                </a:rPr>
                <a:t>赋予发行人，或投资人约定的选择权，权利是否行使会在事实上改变一项或多项债券要素</a:t>
              </a:r>
            </a:p>
          </p:txBody>
        </p:sp>
        <p:sp>
          <p:nvSpPr>
            <p:cNvPr id="23" name="Circular Arrow 22"/>
            <p:cNvSpPr/>
            <p:nvPr/>
          </p:nvSpPr>
          <p:spPr>
            <a:xfrm>
              <a:off x="3426620" y="815631"/>
              <a:ext cx="5529985" cy="5529985"/>
            </a:xfrm>
            <a:prstGeom prst="circularArrow">
              <a:avLst>
                <a:gd name="adj1" fmla="val 5085"/>
                <a:gd name="adj2" fmla="val 327528"/>
                <a:gd name="adj3" fmla="val 1472472"/>
                <a:gd name="adj4" fmla="val 16199432"/>
                <a:gd name="adj5" fmla="val 5932"/>
              </a:avLst>
            </a:prstGeom>
            <a:solidFill>
              <a:schemeClr val="accent2">
                <a:lumMod val="20000"/>
                <a:lumOff val="80000"/>
              </a:schemeClr>
            </a:solidFill>
            <a:ln>
              <a:noFill/>
            </a:ln>
            <a:effectLst/>
          </p:spPr>
        </p:sp>
      </p:grpSp>
      <p:grpSp>
        <p:nvGrpSpPr>
          <p:cNvPr id="24" name="Group 23"/>
          <p:cNvGrpSpPr/>
          <p:nvPr/>
        </p:nvGrpSpPr>
        <p:grpSpPr>
          <a:xfrm>
            <a:off x="4810254" y="1709179"/>
            <a:ext cx="7992641" cy="7992641"/>
            <a:chOff x="3324870" y="991061"/>
            <a:chExt cx="5529985" cy="5529985"/>
          </a:xfrm>
        </p:grpSpPr>
        <p:grpSp>
          <p:nvGrpSpPr>
            <p:cNvPr id="25" name="Group 24"/>
            <p:cNvGrpSpPr/>
            <p:nvPr/>
          </p:nvGrpSpPr>
          <p:grpSpPr>
            <a:xfrm>
              <a:off x="3629488" y="1295990"/>
              <a:ext cx="4920749" cy="4920749"/>
              <a:chOff x="2019169" y="556513"/>
              <a:chExt cx="4920749" cy="4920749"/>
            </a:xfrm>
          </p:grpSpPr>
          <p:sp>
            <p:nvSpPr>
              <p:cNvPr id="27" name="Pie 26"/>
              <p:cNvSpPr/>
              <p:nvPr/>
            </p:nvSpPr>
            <p:spPr>
              <a:xfrm>
                <a:off x="2019169" y="556513"/>
                <a:ext cx="4920749" cy="4920749"/>
              </a:xfrm>
              <a:prstGeom prst="pie">
                <a:avLst>
                  <a:gd name="adj1" fmla="val 1800000"/>
                  <a:gd name="adj2" fmla="val 9000000"/>
                </a:avLst>
              </a:prstGeom>
              <a:solidFill>
                <a:srgbClr val="0072C6"/>
              </a:solidFill>
              <a:ln w="10795" cap="flat" cmpd="sng" algn="ctr">
                <a:noFill/>
                <a:prstDash val="solid"/>
              </a:ln>
              <a:effectLst/>
            </p:spPr>
          </p:sp>
          <p:sp>
            <p:nvSpPr>
              <p:cNvPr id="28" name="Pie 6"/>
              <p:cNvSpPr/>
              <p:nvPr/>
            </p:nvSpPr>
            <p:spPr>
              <a:xfrm>
                <a:off x="3421325" y="3655809"/>
                <a:ext cx="2352701" cy="1298270"/>
              </a:xfrm>
              <a:prstGeom prst="rect">
                <a:avLst/>
              </a:prstGeom>
              <a:noFill/>
              <a:ln>
                <a:noFill/>
              </a:ln>
              <a:effectLst/>
            </p:spPr>
            <p:txBody>
              <a:bodyPr spcFirstLastPara="0" vert="horz" wrap="square" lIns="66080" tIns="66080" rIns="66080" bIns="66080" numCol="1" spcCol="1270" anchor="ctr" anchorCtr="0">
                <a:noAutofit/>
              </a:bodyPr>
              <a:lstStyle/>
              <a:p>
                <a:pPr defTabSz="2312853">
                  <a:lnSpc>
                    <a:spcPct val="90000"/>
                  </a:lnSpc>
                  <a:spcBef>
                    <a:spcPct val="0"/>
                  </a:spcBef>
                  <a:spcAft>
                    <a:spcPct val="35000"/>
                  </a:spcAft>
                  <a:defRPr/>
                </a:pPr>
                <a:r>
                  <a:rPr lang="zh-CN" altLang="en-US" sz="3200" b="1" kern="0" dirty="0">
                    <a:solidFill>
                      <a:srgbClr val="FFFFFF"/>
                    </a:solidFill>
                  </a:rPr>
                  <a:t>投资人保护条款</a:t>
                </a:r>
                <a:endParaRPr lang="en-US" altLang="zh-CN" sz="3200" b="1" kern="0" dirty="0">
                  <a:solidFill>
                    <a:srgbClr val="FFFFFF"/>
                  </a:solidFill>
                </a:endParaRPr>
              </a:p>
              <a:p>
                <a:pPr defTabSz="2312853">
                  <a:lnSpc>
                    <a:spcPct val="90000"/>
                  </a:lnSpc>
                  <a:spcBef>
                    <a:spcPct val="0"/>
                  </a:spcBef>
                  <a:spcAft>
                    <a:spcPct val="35000"/>
                  </a:spcAft>
                  <a:defRPr/>
                </a:pPr>
                <a:r>
                  <a:rPr lang="zh-CN" altLang="en-US" sz="2400" dirty="0">
                    <a:solidFill>
                      <a:schemeClr val="bg1"/>
                    </a:solidFill>
                  </a:rPr>
                  <a:t>缓解信用债投资过程中，风险和收益的不对称性，包括交叉保护、事先约束、控制权变更等</a:t>
                </a:r>
                <a:endParaRPr lang="en-US" altLang="zh-CN" sz="2400" dirty="0">
                  <a:solidFill>
                    <a:schemeClr val="bg1"/>
                  </a:solidFill>
                </a:endParaRPr>
              </a:p>
            </p:txBody>
          </p:sp>
        </p:grpSp>
        <p:sp>
          <p:nvSpPr>
            <p:cNvPr id="26" name="Circular Arrow 25"/>
            <p:cNvSpPr/>
            <p:nvPr/>
          </p:nvSpPr>
          <p:spPr>
            <a:xfrm>
              <a:off x="3324870" y="991061"/>
              <a:ext cx="5529985" cy="5529985"/>
            </a:xfrm>
            <a:prstGeom prst="circularArrow">
              <a:avLst>
                <a:gd name="adj1" fmla="val 5085"/>
                <a:gd name="adj2" fmla="val 327528"/>
                <a:gd name="adj3" fmla="val 8671970"/>
                <a:gd name="adj4" fmla="val 1800502"/>
                <a:gd name="adj5" fmla="val 5932"/>
              </a:avLst>
            </a:prstGeom>
            <a:solidFill>
              <a:srgbClr val="CCECFF"/>
            </a:solidFill>
            <a:ln>
              <a:noFill/>
            </a:ln>
            <a:effectLst/>
          </p:spPr>
        </p:sp>
      </p:grpSp>
      <p:grpSp>
        <p:nvGrpSpPr>
          <p:cNvPr id="29" name="Group 28"/>
          <p:cNvGrpSpPr/>
          <p:nvPr/>
        </p:nvGrpSpPr>
        <p:grpSpPr>
          <a:xfrm>
            <a:off x="4663194" y="1455626"/>
            <a:ext cx="7992641" cy="7992641"/>
            <a:chOff x="3223120" y="815631"/>
            <a:chExt cx="5529985" cy="5529985"/>
          </a:xfrm>
          <a:solidFill>
            <a:srgbClr val="258244"/>
          </a:solidFill>
        </p:grpSpPr>
        <p:grpSp>
          <p:nvGrpSpPr>
            <p:cNvPr id="30" name="Group 29"/>
            <p:cNvGrpSpPr/>
            <p:nvPr/>
          </p:nvGrpSpPr>
          <p:grpSpPr>
            <a:xfrm>
              <a:off x="3528144" y="1120249"/>
              <a:ext cx="4920749" cy="4920749"/>
              <a:chOff x="1917825" y="380772"/>
              <a:chExt cx="4920749" cy="4920749"/>
            </a:xfrm>
            <a:grpFill/>
          </p:grpSpPr>
          <p:sp>
            <p:nvSpPr>
              <p:cNvPr id="32" name="Pie 31"/>
              <p:cNvSpPr/>
              <p:nvPr/>
            </p:nvSpPr>
            <p:spPr>
              <a:xfrm>
                <a:off x="1917825" y="380772"/>
                <a:ext cx="4920749" cy="4920749"/>
              </a:xfrm>
              <a:prstGeom prst="pie">
                <a:avLst>
                  <a:gd name="adj1" fmla="val 9000000"/>
                  <a:gd name="adj2" fmla="val 16200000"/>
                </a:avLst>
              </a:prstGeom>
              <a:solidFill>
                <a:schemeClr val="accent4"/>
              </a:solidFill>
              <a:ln w="10795" cap="flat" cmpd="sng" algn="ctr">
                <a:noFill/>
                <a:prstDash val="solid"/>
              </a:ln>
              <a:effectLst/>
            </p:spPr>
          </p:sp>
          <p:sp>
            <p:nvSpPr>
              <p:cNvPr id="33" name="Pie 8"/>
              <p:cNvSpPr/>
              <p:nvPr/>
            </p:nvSpPr>
            <p:spPr>
              <a:xfrm>
                <a:off x="2426492" y="991076"/>
                <a:ext cx="1872436" cy="2011464"/>
              </a:xfrm>
              <a:prstGeom prst="rect">
                <a:avLst/>
              </a:prstGeom>
              <a:noFill/>
              <a:ln>
                <a:noFill/>
              </a:ln>
              <a:effectLst/>
            </p:spPr>
            <p:txBody>
              <a:bodyPr spcFirstLastPara="0" vert="horz" wrap="square" lIns="44054" tIns="44054" rIns="44054" bIns="44054" numCol="1" spcCol="1270" anchor="ctr" anchorCtr="0">
                <a:noAutofit/>
              </a:bodyPr>
              <a:lstStyle/>
              <a:p>
                <a:pPr algn="r" defTabSz="1541902">
                  <a:lnSpc>
                    <a:spcPct val="90000"/>
                  </a:lnSpc>
                  <a:spcBef>
                    <a:spcPct val="0"/>
                  </a:spcBef>
                  <a:spcAft>
                    <a:spcPct val="35000"/>
                  </a:spcAft>
                  <a:defRPr/>
                </a:pPr>
                <a:r>
                  <a:rPr lang="zh-CN" altLang="en-US" sz="3200" b="1" kern="0" dirty="0">
                    <a:solidFill>
                      <a:srgbClr val="FFFFFF"/>
                    </a:solidFill>
                  </a:rPr>
                  <a:t>要素条款</a:t>
                </a:r>
                <a:endParaRPr lang="en-US" altLang="zh-CN" sz="3200" b="1" kern="0" dirty="0">
                  <a:solidFill>
                    <a:srgbClr val="FFFFFF"/>
                  </a:solidFill>
                </a:endParaRPr>
              </a:p>
              <a:p>
                <a:pPr algn="r" defTabSz="1541902">
                  <a:lnSpc>
                    <a:spcPct val="90000"/>
                  </a:lnSpc>
                  <a:spcBef>
                    <a:spcPct val="0"/>
                  </a:spcBef>
                  <a:spcAft>
                    <a:spcPct val="35000"/>
                  </a:spcAft>
                  <a:defRPr/>
                </a:pPr>
                <a:r>
                  <a:rPr lang="zh-CN" altLang="en-US" sz="2400" kern="0" dirty="0">
                    <a:solidFill>
                      <a:srgbClr val="FFFFFF"/>
                    </a:solidFill>
                  </a:rPr>
                  <a:t>债券发行时就已约定的基本信息，包括发行主体、期限金额、票息、付息频率，融资目的，资金使用安排等</a:t>
                </a:r>
              </a:p>
            </p:txBody>
          </p:sp>
        </p:grpSp>
        <p:sp>
          <p:nvSpPr>
            <p:cNvPr id="31" name="Circular Arrow 30"/>
            <p:cNvSpPr/>
            <p:nvPr/>
          </p:nvSpPr>
          <p:spPr>
            <a:xfrm>
              <a:off x="3223120" y="815631"/>
              <a:ext cx="5529985" cy="5529985"/>
            </a:xfrm>
            <a:prstGeom prst="circularArrow">
              <a:avLst>
                <a:gd name="adj1" fmla="val 5085"/>
                <a:gd name="adj2" fmla="val 327528"/>
                <a:gd name="adj3" fmla="val 15873039"/>
                <a:gd name="adj4" fmla="val 9000000"/>
                <a:gd name="adj5" fmla="val 5932"/>
              </a:avLst>
            </a:prstGeom>
            <a:solidFill>
              <a:schemeClr val="accent3">
                <a:lumMod val="20000"/>
                <a:lumOff val="80000"/>
              </a:schemeClr>
            </a:solidFill>
            <a:ln>
              <a:noFill/>
            </a:ln>
            <a:effectLst/>
          </p:spPr>
          <p:txBody>
            <a:bodyPr/>
            <a:lstStyle/>
            <a:p>
              <a:endParaRPr lang="zh-CN" altLang="en-US" dirty="0"/>
            </a:p>
          </p:txBody>
        </p:sp>
      </p:grpSp>
      <p:sp>
        <p:nvSpPr>
          <p:cNvPr id="6" name="标注: 线形(带强调线) 5">
            <a:extLst>
              <a:ext uri="{FF2B5EF4-FFF2-40B4-BE49-F238E27FC236}">
                <a16:creationId xmlns:a16="http://schemas.microsoft.com/office/drawing/2014/main" id="{8586CF3B-317F-4951-B58B-EC74D1F90052}"/>
              </a:ext>
            </a:extLst>
          </p:cNvPr>
          <p:cNvSpPr/>
          <p:nvPr/>
        </p:nvSpPr>
        <p:spPr>
          <a:xfrm>
            <a:off x="2990851" y="2762249"/>
            <a:ext cx="2259090" cy="524985"/>
          </a:xfrm>
          <a:prstGeom prst="accentCallout1">
            <a:avLst>
              <a:gd name="adj1" fmla="val 118421"/>
              <a:gd name="adj2" fmla="val -8052"/>
              <a:gd name="adj3" fmla="val 294242"/>
              <a:gd name="adj4" fmla="val 88488"/>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lumMod val="50000"/>
                    <a:lumOff val="50000"/>
                  </a:schemeClr>
                </a:solidFill>
              </a:rPr>
              <a:t>评估绝对投资价值</a:t>
            </a:r>
          </a:p>
        </p:txBody>
      </p:sp>
      <p:sp>
        <p:nvSpPr>
          <p:cNvPr id="34" name="标注: 线形(带强调线) 33">
            <a:extLst>
              <a:ext uri="{FF2B5EF4-FFF2-40B4-BE49-F238E27FC236}">
                <a16:creationId xmlns:a16="http://schemas.microsoft.com/office/drawing/2014/main" id="{559920FE-24DA-43DD-BE8A-540F50171408}"/>
              </a:ext>
            </a:extLst>
          </p:cNvPr>
          <p:cNvSpPr/>
          <p:nvPr/>
        </p:nvSpPr>
        <p:spPr>
          <a:xfrm>
            <a:off x="13438856" y="2668879"/>
            <a:ext cx="2398698" cy="575457"/>
          </a:xfrm>
          <a:prstGeom prst="accentCallout1">
            <a:avLst>
              <a:gd name="adj1" fmla="val 47144"/>
              <a:gd name="adj2" fmla="val -4875"/>
              <a:gd name="adj3" fmla="val 239813"/>
              <a:gd name="adj4" fmla="val -44307"/>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lumMod val="50000"/>
                    <a:lumOff val="50000"/>
                  </a:schemeClr>
                </a:solidFill>
              </a:rPr>
              <a:t>开展相对价值交易</a:t>
            </a:r>
          </a:p>
        </p:txBody>
      </p:sp>
      <p:sp>
        <p:nvSpPr>
          <p:cNvPr id="35" name="标注: 线形(带强调线) 34">
            <a:extLst>
              <a:ext uri="{FF2B5EF4-FFF2-40B4-BE49-F238E27FC236}">
                <a16:creationId xmlns:a16="http://schemas.microsoft.com/office/drawing/2014/main" id="{45A10AD1-73CA-4336-82ED-93260556505E}"/>
              </a:ext>
            </a:extLst>
          </p:cNvPr>
          <p:cNvSpPr/>
          <p:nvPr/>
        </p:nvSpPr>
        <p:spPr>
          <a:xfrm>
            <a:off x="12785770" y="8769869"/>
            <a:ext cx="3594079" cy="713842"/>
          </a:xfrm>
          <a:prstGeom prst="accentCallout1">
            <a:avLst>
              <a:gd name="adj1" fmla="val 23695"/>
              <a:gd name="adj2" fmla="val -445"/>
              <a:gd name="adj3" fmla="val -38472"/>
              <a:gd name="adj4" fmla="val -39589"/>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2312853">
              <a:lnSpc>
                <a:spcPct val="90000"/>
              </a:lnSpc>
              <a:spcBef>
                <a:spcPct val="0"/>
              </a:spcBef>
              <a:spcAft>
                <a:spcPct val="35000"/>
              </a:spcAft>
              <a:defRPr/>
            </a:pPr>
            <a:r>
              <a:rPr lang="zh-CN" altLang="en-US" sz="2400" dirty="0">
                <a:solidFill>
                  <a:schemeClr val="tx1">
                    <a:lumMod val="50000"/>
                    <a:lumOff val="50000"/>
                  </a:schemeClr>
                </a:solidFill>
              </a:rPr>
              <a:t>开展高收益债券投资、违约回收投资</a:t>
            </a:r>
            <a:endParaRPr lang="en-US" altLang="zh-CN" sz="2400" kern="0" dirty="0">
              <a:solidFill>
                <a:schemeClr val="tx1">
                  <a:lumMod val="50000"/>
                  <a:lumOff val="50000"/>
                </a:schemeClr>
              </a:solidFill>
            </a:endParaRPr>
          </a:p>
        </p:txBody>
      </p:sp>
    </p:spTree>
    <p:extLst>
      <p:ext uri="{BB962C8B-B14F-4D97-AF65-F5344CB8AC3E}">
        <p14:creationId xmlns:p14="http://schemas.microsoft.com/office/powerpoint/2010/main" val="4260371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63" presetClass="path" presetSubtype="0" accel="50000" decel="50000" fill="hold" nodeType="withEffect">
                                  <p:stCondLst>
                                    <p:cond delay="0"/>
                                  </p:stCondLst>
                                  <p:childTnLst>
                                    <p:animMotion origin="layout" path="M -0.04362 -0.03426 L 4.16667E-6 1.48148E-6 " pathEditMode="relative" rAng="0" ptsTypes="AA">
                                      <p:cBhvr>
                                        <p:cTn id="9" dur="750" fill="hold"/>
                                        <p:tgtEl>
                                          <p:spTgt spid="29"/>
                                        </p:tgtEl>
                                        <p:attrNameLst>
                                          <p:attrName>ppt_x</p:attrName>
                                          <p:attrName>ppt_y</p:attrName>
                                        </p:attrNameLst>
                                      </p:cBhvr>
                                      <p:rCtr x="2174" y="1713"/>
                                    </p:animMotion>
                                  </p:childTnLst>
                                </p:cTn>
                              </p:par>
                            </p:childTnLst>
                          </p:cTn>
                        </p:par>
                        <p:par>
                          <p:cTn id="10" fill="hold">
                            <p:stCondLst>
                              <p:cond delay="750"/>
                            </p:stCondLst>
                            <p:childTnLst>
                              <p:par>
                                <p:cTn id="11" presetID="10"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63" presetClass="path" presetSubtype="0" accel="50000" decel="50000" fill="hold" nodeType="withEffect">
                                  <p:stCondLst>
                                    <p:cond delay="0"/>
                                  </p:stCondLst>
                                  <p:childTnLst>
                                    <p:animMotion origin="layout" path="M -2.5E-6 1.48148E-6 L 0.03529 -0.04861 " pathEditMode="relative" rAng="0" ptsTypes="AA">
                                      <p:cBhvr>
                                        <p:cTn id="15" dur="750" spd="-100000" fill="hold"/>
                                        <p:tgtEl>
                                          <p:spTgt spid="17"/>
                                        </p:tgtEl>
                                        <p:attrNameLst>
                                          <p:attrName>ppt_x</p:attrName>
                                          <p:attrName>ppt_y</p:attrName>
                                        </p:attrNameLst>
                                      </p:cBhvr>
                                      <p:rCtr x="1758" y="-2431"/>
                                    </p:animMotion>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par>
                                <p:cTn id="20" presetID="63" presetClass="path" presetSubtype="0" accel="50000" decel="50000" fill="hold" nodeType="withEffect">
                                  <p:stCondLst>
                                    <p:cond delay="0"/>
                                  </p:stCondLst>
                                  <p:childTnLst>
                                    <p:animMotion origin="layout" path="M 0.00091 0.08125 L 8.33333E-7 -2.96296E-6 " pathEditMode="relative" rAng="0" ptsTypes="AA">
                                      <p:cBhvr>
                                        <p:cTn id="21" dur="750" fill="hold"/>
                                        <p:tgtEl>
                                          <p:spTgt spid="24"/>
                                        </p:tgtEl>
                                        <p:attrNameLst>
                                          <p:attrName>ppt_x</p:attrName>
                                          <p:attrName>ppt_y</p:attrName>
                                        </p:attrNameLst>
                                      </p:cBhvr>
                                      <p:rCtr x="-52" y="-407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5" name="Rectangle 5" descr="© INSCALE GmbH, 26.05.2010&#10;http://www.presentationload.com/"/>
          <p:cNvSpPr>
            <a:spLocks noGrp="1" noChangeArrowheads="1"/>
          </p:cNvSpPr>
          <p:nvPr>
            <p:ph type="title"/>
          </p:nvPr>
        </p:nvSpPr>
        <p:spPr/>
        <p:txBody>
          <a:bodyPr/>
          <a:lstStyle/>
          <a:p>
            <a:r>
              <a:rPr lang="zh-CN" altLang="en-US" dirty="0"/>
              <a:t>权利条款</a:t>
            </a:r>
            <a:endParaRPr lang="de-DE" noProof="1"/>
          </a:p>
        </p:txBody>
      </p:sp>
      <p:grpSp>
        <p:nvGrpSpPr>
          <p:cNvPr id="5" name="组合 4">
            <a:extLst>
              <a:ext uri="{FF2B5EF4-FFF2-40B4-BE49-F238E27FC236}">
                <a16:creationId xmlns:a16="http://schemas.microsoft.com/office/drawing/2014/main" id="{256BA919-4F17-462A-ADEB-7660ABD593BB}"/>
              </a:ext>
            </a:extLst>
          </p:cNvPr>
          <p:cNvGrpSpPr/>
          <p:nvPr/>
        </p:nvGrpSpPr>
        <p:grpSpPr>
          <a:xfrm>
            <a:off x="949497" y="2202810"/>
            <a:ext cx="15378696" cy="7293616"/>
            <a:chOff x="2618807" y="2202810"/>
            <a:chExt cx="12042325" cy="6023412"/>
          </a:xfrm>
        </p:grpSpPr>
        <p:sp>
          <p:nvSpPr>
            <p:cNvPr id="297001" name="Freeform 41" descr="© INSCALE GmbH, 26.05.2010&#10;http://www.presentationload.com/"/>
            <p:cNvSpPr>
              <a:spLocks/>
            </p:cNvSpPr>
            <p:nvPr/>
          </p:nvSpPr>
          <p:spPr bwMode="gray">
            <a:xfrm>
              <a:off x="12138815" y="2202810"/>
              <a:ext cx="2522317"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7000" name="Freeform 40" descr="© INSCALE GmbH, 26.05.2010&#10;http://www.presentationload.com/"/>
            <p:cNvSpPr>
              <a:spLocks/>
            </p:cNvSpPr>
            <p:nvPr/>
          </p:nvSpPr>
          <p:spPr bwMode="gray">
            <a:xfrm>
              <a:off x="10244264" y="2202810"/>
              <a:ext cx="2522317"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9" name="Freeform 39" descr="© INSCALE GmbH, 26.05.2010&#10;http://www.presentationload.com/"/>
            <p:cNvSpPr>
              <a:spLocks/>
            </p:cNvSpPr>
            <p:nvPr/>
          </p:nvSpPr>
          <p:spPr bwMode="gray">
            <a:xfrm>
              <a:off x="8333961" y="2202810"/>
              <a:ext cx="2522319"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8" name="Freeform 38" descr="© INSCALE GmbH, 26.05.2010&#10;http://www.presentationload.com/"/>
            <p:cNvSpPr>
              <a:spLocks/>
            </p:cNvSpPr>
            <p:nvPr/>
          </p:nvSpPr>
          <p:spPr bwMode="gray">
            <a:xfrm>
              <a:off x="6428161" y="2202810"/>
              <a:ext cx="2522317"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6" name="Freeform 36" descr="© INSCALE GmbH, 26.05.2010&#10;http://www.presentationload.com/"/>
            <p:cNvSpPr>
              <a:spLocks/>
            </p:cNvSpPr>
            <p:nvPr/>
          </p:nvSpPr>
          <p:spPr bwMode="gray">
            <a:xfrm>
              <a:off x="2623306" y="2202810"/>
              <a:ext cx="2522319"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rgbClr val="00B0F0"/>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7" name="Freeform 37" descr="© INSCALE GmbH, 26.05.2010&#10;http://www.presentationload.com/"/>
            <p:cNvSpPr>
              <a:spLocks/>
            </p:cNvSpPr>
            <p:nvPr/>
          </p:nvSpPr>
          <p:spPr bwMode="gray">
            <a:xfrm>
              <a:off x="4529110" y="2226590"/>
              <a:ext cx="2522317"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chemeClr val="bg1">
                <a:lumMod val="95000"/>
              </a:schemeClr>
            </a:solidFill>
            <a:ln w="9525" cap="flat" cmpd="sng">
              <a:noFill/>
              <a:prstDash val="solid"/>
              <a:round/>
              <a:headEnd/>
              <a:tailEnd/>
            </a:ln>
            <a:effectLst>
              <a:outerShdw blurRad="50800" dist="38100" dir="2700000" algn="tl" rotWithShape="0">
                <a:prstClr val="black">
                  <a:alpha val="40000"/>
                </a:prst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64" name="AutoShape 4" descr="© INSCALE GmbH, 26.05.2010&#10;http://www.presentationload.com/"/>
            <p:cNvSpPr>
              <a:spLocks noChangeArrowheads="1"/>
            </p:cNvSpPr>
            <p:nvPr/>
          </p:nvSpPr>
          <p:spPr bwMode="gray">
            <a:xfrm>
              <a:off x="2618807" y="3228838"/>
              <a:ext cx="12042325" cy="4997384"/>
            </a:xfrm>
            <a:prstGeom prst="roundRect">
              <a:avLst>
                <a:gd name="adj" fmla="val 1838"/>
              </a:avLst>
            </a:prstGeom>
            <a:solidFill>
              <a:schemeClr val="bg1"/>
            </a:solidFill>
            <a:ln w="19050" algn="ctr">
              <a:solidFill>
                <a:srgbClr val="C00000"/>
              </a:solidFill>
              <a:round/>
              <a:headEnd/>
              <a:tailEnd/>
            </a:ln>
            <a:effectLst/>
          </p:spPr>
          <p:txBody>
            <a:bodyPr/>
            <a:lstStyle/>
            <a:p>
              <a:endParaRPr lang="de-DE" sz="2400">
                <a:solidFill>
                  <a:srgbClr val="000000"/>
                </a:solidFill>
              </a:endParaRPr>
            </a:p>
          </p:txBody>
        </p:sp>
        <p:sp>
          <p:nvSpPr>
            <p:cNvPr id="297023" name="Rectangle 63" descr="© INSCALE GmbH, 26.05.2010&#10;http://www.presentationload.com/"/>
            <p:cNvSpPr>
              <a:spLocks noChangeArrowheads="1"/>
            </p:cNvSpPr>
            <p:nvPr/>
          </p:nvSpPr>
          <p:spPr bwMode="gray">
            <a:xfrm>
              <a:off x="10422826" y="3640599"/>
              <a:ext cx="4020050" cy="510765"/>
            </a:xfrm>
            <a:prstGeom prst="rect">
              <a:avLst/>
            </a:prstGeom>
            <a:solidFill>
              <a:srgbClr val="00B050"/>
            </a:solidFill>
            <a:ln w="12700" algn="ctr">
              <a:solidFill>
                <a:srgbClr val="C0C0C0"/>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可能影响</a:t>
              </a:r>
              <a:endParaRPr lang="de-DE" sz="2400" b="1" noProof="1">
                <a:solidFill>
                  <a:schemeClr val="bg1"/>
                </a:solidFill>
                <a:latin typeface="Calibri" pitchFamily="34" charset="0"/>
              </a:endParaRPr>
            </a:p>
          </p:txBody>
        </p:sp>
        <p:sp>
          <p:nvSpPr>
            <p:cNvPr id="297024" name="Rectangle 5" descr="© INSCALE GmbH, 26.05.2010&#10;http://www.presentationload.com/"/>
            <p:cNvSpPr>
              <a:spLocks noChangeArrowheads="1"/>
            </p:cNvSpPr>
            <p:nvPr/>
          </p:nvSpPr>
          <p:spPr bwMode="gray">
            <a:xfrm>
              <a:off x="10422826" y="4151362"/>
              <a:ext cx="4020049" cy="3867854"/>
            </a:xfrm>
            <a:prstGeom prst="rect">
              <a:avLst/>
            </a:prstGeom>
            <a:solidFill>
              <a:schemeClr val="bg1">
                <a:lumMod val="95000"/>
              </a:schemeClr>
            </a:solidFill>
            <a:ln w="12700">
              <a:solidFill>
                <a:srgbClr val="DDDDDD"/>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457200" indent="-457200">
                <a:buFont typeface="Arial" panose="020B0604020202020204" pitchFamily="34" charset="0"/>
                <a:buChar char="•"/>
              </a:pPr>
              <a:r>
                <a:rPr lang="zh-CN" altLang="en-US" sz="2400" dirty="0">
                  <a:latin typeface="+mn-ea"/>
                </a:rPr>
                <a:t>对发行人有利，如市场利率降低，发行人赎回后再融资，降低融资成本</a:t>
              </a:r>
              <a:endParaRPr lang="en-US" altLang="zh-CN" sz="2400" dirty="0">
                <a:latin typeface="+mn-ea"/>
              </a:endParaRPr>
            </a:p>
            <a:p>
              <a:pPr marL="457200" indent="-457200">
                <a:buFont typeface="Arial" panose="020B0604020202020204" pitchFamily="34" charset="0"/>
                <a:buChar char="•"/>
              </a:pPr>
              <a:endParaRPr lang="zh-CN" altLang="en-US" sz="2400" dirty="0">
                <a:latin typeface="+mn-ea"/>
              </a:endParaRPr>
            </a:p>
            <a:p>
              <a:pPr marL="457200" indent="-457200">
                <a:buFont typeface="Arial" panose="020B0604020202020204" pitchFamily="34" charset="0"/>
                <a:buChar char="•"/>
              </a:pPr>
              <a:r>
                <a:rPr lang="zh-CN" altLang="en-US" sz="2400" dirty="0">
                  <a:latin typeface="+mn-ea"/>
                </a:rPr>
                <a:t>对投资者不利，面临再投资风险，需要补偿</a:t>
              </a:r>
            </a:p>
          </p:txBody>
        </p:sp>
        <p:sp>
          <p:nvSpPr>
            <p:cNvPr id="297025" name="Rectangle 65" descr="© INSCALE GmbH, 26.05.2010&#10;http://www.presentationload.com/"/>
            <p:cNvSpPr>
              <a:spLocks noChangeArrowheads="1"/>
            </p:cNvSpPr>
            <p:nvPr/>
          </p:nvSpPr>
          <p:spPr bwMode="gray">
            <a:xfrm>
              <a:off x="2821312" y="3640599"/>
              <a:ext cx="3388591" cy="510765"/>
            </a:xfrm>
            <a:prstGeom prst="rect">
              <a:avLst/>
            </a:prstGeom>
            <a:solidFill>
              <a:schemeClr val="accent5"/>
            </a:solidFill>
            <a:ln w="12700" algn="ctr">
              <a:solidFill>
                <a:srgbClr val="C0C0C0"/>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条款性质</a:t>
              </a:r>
              <a:endParaRPr lang="de-DE" sz="2400" b="1" noProof="1">
                <a:solidFill>
                  <a:schemeClr val="bg1"/>
                </a:solidFill>
                <a:latin typeface="Calibri" pitchFamily="34" charset="0"/>
              </a:endParaRPr>
            </a:p>
          </p:txBody>
        </p:sp>
        <p:sp>
          <p:nvSpPr>
            <p:cNvPr id="297026" name="Rectangle 5" descr="© INSCALE GmbH, 26.05.2010&#10;http://www.presentationload.com/"/>
            <p:cNvSpPr>
              <a:spLocks noChangeArrowheads="1"/>
            </p:cNvSpPr>
            <p:nvPr/>
          </p:nvSpPr>
          <p:spPr bwMode="gray">
            <a:xfrm>
              <a:off x="2821313" y="4151362"/>
              <a:ext cx="3388592" cy="3867854"/>
            </a:xfrm>
            <a:prstGeom prst="rect">
              <a:avLst/>
            </a:prstGeom>
            <a:solidFill>
              <a:schemeClr val="bg1">
                <a:lumMod val="95000"/>
              </a:schemeClr>
            </a:solidFill>
            <a:ln w="12700" algn="ctr">
              <a:solidFill>
                <a:srgbClr val="DDDDDD"/>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342900" indent="-342900">
                <a:buFont typeface="Arial" panose="020B0604020202020204" pitchFamily="34" charset="0"/>
                <a:buChar char="•"/>
              </a:pPr>
              <a:r>
                <a:rPr lang="zh-CN" altLang="en-US" sz="2400" dirty="0">
                  <a:latin typeface="+mn-ea"/>
                </a:rPr>
                <a:t>指债券发行人可在债券到期前，因某些约定事项的发生，以约定赎回价格提前部分</a:t>
              </a:r>
              <a:r>
                <a:rPr lang="en-US" altLang="zh-CN" sz="2400" dirty="0">
                  <a:latin typeface="+mn-ea"/>
                </a:rPr>
                <a:t>/</a:t>
              </a:r>
              <a:r>
                <a:rPr lang="zh-CN" altLang="en-US" sz="2400" dirty="0">
                  <a:latin typeface="+mn-ea"/>
                </a:rPr>
                <a:t>全部偿还本息。</a:t>
              </a:r>
              <a:endParaRPr lang="en-US" altLang="zh-CN" sz="2400" dirty="0">
                <a:latin typeface="+mn-ea"/>
              </a:endParaRPr>
            </a:p>
          </p:txBody>
        </p:sp>
        <p:sp>
          <p:nvSpPr>
            <p:cNvPr id="22" name="Text Box 69" descr="© INSCALE GmbH, 26.05.2010&#10;http://www.presentationload.com/"/>
            <p:cNvSpPr txBox="1">
              <a:spLocks noChangeArrowheads="1"/>
            </p:cNvSpPr>
            <p:nvPr/>
          </p:nvSpPr>
          <p:spPr bwMode="gray">
            <a:xfrm>
              <a:off x="2947315" y="2205060"/>
              <a:ext cx="1769356" cy="1023778"/>
            </a:xfrm>
            <a:prstGeom prst="rect">
              <a:avLst/>
            </a:prstGeom>
            <a:noFill/>
            <a:ln w="9525">
              <a:noFill/>
              <a:miter lim="800000"/>
              <a:headEnd/>
              <a:tailEnd/>
            </a:ln>
            <a:effectLst/>
          </p:spPr>
          <p:txBody>
            <a:bodyPr anchor="ctr"/>
            <a:lstStyle/>
            <a:p>
              <a:pPr algn="ctr">
                <a:spcBef>
                  <a:spcPct val="50000"/>
                </a:spcBef>
              </a:pPr>
              <a:r>
                <a:rPr lang="zh-CN" altLang="en-US" sz="2400" b="1" dirty="0">
                  <a:solidFill>
                    <a:schemeClr val="bg1"/>
                  </a:solidFill>
                </a:rPr>
                <a:t>发行人赎回</a:t>
              </a:r>
              <a:endParaRPr lang="de-DE" sz="2400" b="1" noProof="1">
                <a:solidFill>
                  <a:schemeClr val="bg1"/>
                </a:solidFill>
              </a:endParaRPr>
            </a:p>
          </p:txBody>
        </p:sp>
        <p:sp>
          <p:nvSpPr>
            <p:cNvPr id="23" name="Text Box 71" descr="© INSCALE GmbH, 26.05.2010&#10;http://www.presentationload.com/"/>
            <p:cNvSpPr txBox="1">
              <a:spLocks noChangeArrowheads="1"/>
            </p:cNvSpPr>
            <p:nvPr/>
          </p:nvSpPr>
          <p:spPr bwMode="gray">
            <a:xfrm>
              <a:off x="6758918" y="2205060"/>
              <a:ext cx="1807047" cy="1023778"/>
            </a:xfrm>
            <a:prstGeom prst="rect">
              <a:avLst/>
            </a:prstGeom>
            <a:noFill/>
            <a:ln w="9525">
              <a:noFill/>
              <a:miter lim="800000"/>
              <a:headEnd/>
              <a:tailEnd/>
            </a:ln>
            <a:effectLst/>
          </p:spPr>
          <p:txBody>
            <a:bodyPr anchor="ctr"/>
            <a:lstStyle/>
            <a:p>
              <a:pPr algn="ctr">
                <a:spcBef>
                  <a:spcPct val="50000"/>
                </a:spcBef>
              </a:pPr>
              <a:r>
                <a:rPr lang="zh-CN" altLang="en-US" sz="2400" dirty="0"/>
                <a:t>票面利率调整</a:t>
              </a:r>
              <a:endParaRPr lang="de-DE" sz="2400" noProof="1">
                <a:solidFill>
                  <a:srgbClr val="000000"/>
                </a:solidFill>
              </a:endParaRPr>
            </a:p>
          </p:txBody>
        </p:sp>
        <p:sp>
          <p:nvSpPr>
            <p:cNvPr id="24" name="Text Box 72" descr="© INSCALE GmbH, 26.05.2010&#10;http://www.presentationload.com/"/>
            <p:cNvSpPr txBox="1">
              <a:spLocks noChangeArrowheads="1"/>
            </p:cNvSpPr>
            <p:nvPr/>
          </p:nvSpPr>
          <p:spPr bwMode="gray">
            <a:xfrm>
              <a:off x="8642220"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dirty="0"/>
                <a:t>提前偿还</a:t>
              </a:r>
              <a:endParaRPr lang="de-DE" sz="2400" noProof="1">
                <a:solidFill>
                  <a:srgbClr val="000000"/>
                </a:solidFill>
              </a:endParaRPr>
            </a:p>
          </p:txBody>
        </p:sp>
        <p:sp>
          <p:nvSpPr>
            <p:cNvPr id="25" name="Text Box 73" descr="© INSCALE GmbH, 26.05.2010&#10;http://www.presentationload.com/"/>
            <p:cNvSpPr txBox="1">
              <a:spLocks noChangeArrowheads="1"/>
            </p:cNvSpPr>
            <p:nvPr/>
          </p:nvSpPr>
          <p:spPr bwMode="gray">
            <a:xfrm>
              <a:off x="10570521"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dirty="0"/>
                <a:t>延期支付</a:t>
              </a:r>
              <a:endParaRPr lang="de-DE" sz="2400" noProof="1">
                <a:solidFill>
                  <a:srgbClr val="000000"/>
                </a:solidFill>
              </a:endParaRPr>
            </a:p>
          </p:txBody>
        </p:sp>
        <p:sp>
          <p:nvSpPr>
            <p:cNvPr id="26" name="Text Box 74" descr="© INSCALE GmbH, 26.05.2010&#10;http://www.presentationload.com/"/>
            <p:cNvSpPr txBox="1">
              <a:spLocks noChangeArrowheads="1"/>
            </p:cNvSpPr>
            <p:nvPr/>
          </p:nvSpPr>
          <p:spPr bwMode="gray">
            <a:xfrm>
              <a:off x="12453822"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dirty="0"/>
                <a:t>定向转让</a:t>
              </a:r>
              <a:endParaRPr lang="de-DE" sz="2400" noProof="1">
                <a:solidFill>
                  <a:srgbClr val="000000"/>
                </a:solidFill>
              </a:endParaRPr>
            </a:p>
          </p:txBody>
        </p:sp>
        <p:sp>
          <p:nvSpPr>
            <p:cNvPr id="27" name="Text Box 70" descr="© INSCALE GmbH, 26.05.2010&#10;http://www.presentationload.com/"/>
            <p:cNvSpPr txBox="1">
              <a:spLocks noChangeArrowheads="1"/>
            </p:cNvSpPr>
            <p:nvPr/>
          </p:nvSpPr>
          <p:spPr bwMode="gray">
            <a:xfrm>
              <a:off x="4819366" y="2205060"/>
              <a:ext cx="1807047" cy="999998"/>
            </a:xfrm>
            <a:prstGeom prst="rect">
              <a:avLst/>
            </a:prstGeom>
            <a:noFill/>
            <a:ln w="9525">
              <a:noFill/>
              <a:miter lim="800000"/>
              <a:headEnd/>
              <a:tailEnd/>
            </a:ln>
            <a:effectLst/>
          </p:spPr>
          <p:txBody>
            <a:bodyPr anchor="ctr"/>
            <a:lstStyle/>
            <a:p>
              <a:pPr algn="ctr">
                <a:spcBef>
                  <a:spcPct val="50000"/>
                </a:spcBef>
              </a:pPr>
              <a:r>
                <a:rPr lang="zh-CN" altLang="en-US" sz="2400" dirty="0"/>
                <a:t>投资人回售</a:t>
              </a:r>
              <a:endParaRPr lang="de-DE" sz="2400" noProof="1"/>
            </a:p>
          </p:txBody>
        </p:sp>
        <p:sp>
          <p:nvSpPr>
            <p:cNvPr id="29" name="Rectangle 65" descr="© INSCALE GmbH, 26.05.2010&#10;http://www.presentationload.com/">
              <a:extLst>
                <a:ext uri="{FF2B5EF4-FFF2-40B4-BE49-F238E27FC236}">
                  <a16:creationId xmlns:a16="http://schemas.microsoft.com/office/drawing/2014/main" id="{419319D0-9346-434E-83DF-0982A595F022}"/>
                </a:ext>
              </a:extLst>
            </p:cNvPr>
            <p:cNvSpPr>
              <a:spLocks noChangeArrowheads="1"/>
            </p:cNvSpPr>
            <p:nvPr/>
          </p:nvSpPr>
          <p:spPr bwMode="gray">
            <a:xfrm>
              <a:off x="6428161" y="3640599"/>
              <a:ext cx="3723008" cy="510765"/>
            </a:xfrm>
            <a:prstGeom prst="rect">
              <a:avLst/>
            </a:prstGeom>
            <a:solidFill>
              <a:srgbClr val="00B0F0"/>
            </a:solidFill>
            <a:ln w="12700" algn="ctr">
              <a:solidFill>
                <a:schemeClr val="bg1"/>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条款要素</a:t>
              </a:r>
              <a:endParaRPr lang="de-DE" sz="2400" b="1" noProof="1">
                <a:solidFill>
                  <a:schemeClr val="bg1"/>
                </a:solidFill>
                <a:latin typeface="Calibri" pitchFamily="34" charset="0"/>
              </a:endParaRPr>
            </a:p>
          </p:txBody>
        </p:sp>
        <p:sp>
          <p:nvSpPr>
            <p:cNvPr id="30" name="Rectangle 5" descr="© INSCALE GmbH, 26.05.2010&#10;http://www.presentationload.com/">
              <a:extLst>
                <a:ext uri="{FF2B5EF4-FFF2-40B4-BE49-F238E27FC236}">
                  <a16:creationId xmlns:a16="http://schemas.microsoft.com/office/drawing/2014/main" id="{F9541BC0-D698-4F5D-8C14-ACAC1BA65D63}"/>
                </a:ext>
              </a:extLst>
            </p:cNvPr>
            <p:cNvSpPr>
              <a:spLocks noChangeArrowheads="1"/>
            </p:cNvSpPr>
            <p:nvPr/>
          </p:nvSpPr>
          <p:spPr bwMode="gray">
            <a:xfrm>
              <a:off x="6428161" y="4151362"/>
              <a:ext cx="3723008" cy="3867854"/>
            </a:xfrm>
            <a:prstGeom prst="rect">
              <a:avLst/>
            </a:prstGeom>
            <a:solidFill>
              <a:schemeClr val="bg1">
                <a:lumMod val="95000"/>
              </a:schemeClr>
            </a:solidFill>
            <a:ln w="12700" algn="ctr">
              <a:solidFill>
                <a:schemeClr val="bg1"/>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342900" indent="-342900">
                <a:buFont typeface="Arial" panose="020B0604020202020204" pitchFamily="34" charset="0"/>
                <a:buChar char="•"/>
              </a:pPr>
              <a:r>
                <a:rPr lang="zh-CN" altLang="en-US" sz="2400" dirty="0">
                  <a:latin typeface="+mn-ea"/>
                </a:rPr>
                <a:t>初始赎回价格：通常设定为债券面值加上年利息，略高于面值。</a:t>
              </a:r>
            </a:p>
          </p:txBody>
        </p:sp>
      </p:grpSp>
    </p:spTree>
    <p:extLst>
      <p:ext uri="{BB962C8B-B14F-4D97-AF65-F5344CB8AC3E}">
        <p14:creationId xmlns:p14="http://schemas.microsoft.com/office/powerpoint/2010/main" val="2982511456"/>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5" name="Rectangle 5" descr="© INSCALE GmbH, 26.05.2010&#10;http://www.presentationload.com/"/>
          <p:cNvSpPr>
            <a:spLocks noGrp="1" noChangeArrowheads="1"/>
          </p:cNvSpPr>
          <p:nvPr>
            <p:ph type="title"/>
          </p:nvPr>
        </p:nvSpPr>
        <p:spPr/>
        <p:txBody>
          <a:bodyPr/>
          <a:lstStyle/>
          <a:p>
            <a:r>
              <a:rPr lang="zh-CN" altLang="en-US" dirty="0"/>
              <a:t>权利条款</a:t>
            </a:r>
            <a:endParaRPr lang="de-DE" noProof="1"/>
          </a:p>
        </p:txBody>
      </p:sp>
      <p:grpSp>
        <p:nvGrpSpPr>
          <p:cNvPr id="5" name="组合 4">
            <a:extLst>
              <a:ext uri="{FF2B5EF4-FFF2-40B4-BE49-F238E27FC236}">
                <a16:creationId xmlns:a16="http://schemas.microsoft.com/office/drawing/2014/main" id="{256BA919-4F17-462A-ADEB-7660ABD593BB}"/>
              </a:ext>
            </a:extLst>
          </p:cNvPr>
          <p:cNvGrpSpPr/>
          <p:nvPr/>
        </p:nvGrpSpPr>
        <p:grpSpPr>
          <a:xfrm>
            <a:off x="949497" y="2202810"/>
            <a:ext cx="15378696" cy="7293616"/>
            <a:chOff x="2618807" y="2202810"/>
            <a:chExt cx="12042325" cy="6023412"/>
          </a:xfrm>
        </p:grpSpPr>
        <p:sp>
          <p:nvSpPr>
            <p:cNvPr id="297001" name="Freeform 41" descr="© INSCALE GmbH, 26.05.2010&#10;http://www.presentationload.com/"/>
            <p:cNvSpPr>
              <a:spLocks/>
            </p:cNvSpPr>
            <p:nvPr/>
          </p:nvSpPr>
          <p:spPr bwMode="gray">
            <a:xfrm>
              <a:off x="12138815" y="2202810"/>
              <a:ext cx="2522317"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7000" name="Freeform 40" descr="© INSCALE GmbH, 26.05.2010&#10;http://www.presentationload.com/"/>
            <p:cNvSpPr>
              <a:spLocks/>
            </p:cNvSpPr>
            <p:nvPr/>
          </p:nvSpPr>
          <p:spPr bwMode="gray">
            <a:xfrm>
              <a:off x="10244264" y="2202810"/>
              <a:ext cx="2522317"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9" name="Freeform 39" descr="© INSCALE GmbH, 26.05.2010&#10;http://www.presentationload.com/"/>
            <p:cNvSpPr>
              <a:spLocks/>
            </p:cNvSpPr>
            <p:nvPr/>
          </p:nvSpPr>
          <p:spPr bwMode="gray">
            <a:xfrm>
              <a:off x="8333961" y="2202810"/>
              <a:ext cx="2522319"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8" name="Freeform 38" descr="© INSCALE GmbH, 26.05.2010&#10;http://www.presentationload.com/"/>
            <p:cNvSpPr>
              <a:spLocks/>
            </p:cNvSpPr>
            <p:nvPr/>
          </p:nvSpPr>
          <p:spPr bwMode="gray">
            <a:xfrm>
              <a:off x="6428161" y="2202810"/>
              <a:ext cx="2522317"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6" name="Freeform 36" descr="© INSCALE GmbH, 26.05.2010&#10;http://www.presentationload.com/"/>
            <p:cNvSpPr>
              <a:spLocks/>
            </p:cNvSpPr>
            <p:nvPr/>
          </p:nvSpPr>
          <p:spPr bwMode="gray">
            <a:xfrm>
              <a:off x="2623306" y="2202810"/>
              <a:ext cx="2522319"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7" name="Freeform 37" descr="© INSCALE GmbH, 26.05.2010&#10;http://www.presentationload.com/"/>
            <p:cNvSpPr>
              <a:spLocks/>
            </p:cNvSpPr>
            <p:nvPr/>
          </p:nvSpPr>
          <p:spPr bwMode="gray">
            <a:xfrm>
              <a:off x="4529110" y="2226590"/>
              <a:ext cx="2522317"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rgbClr val="00B0F0"/>
            </a:solidFill>
            <a:ln w="9525" cap="flat" cmpd="sng">
              <a:noFill/>
              <a:prstDash val="solid"/>
              <a:round/>
              <a:headEnd/>
              <a:tailEnd/>
            </a:ln>
            <a:effectLst>
              <a:outerShdw blurRad="50800" dist="38100" dir="2700000" algn="tl" rotWithShape="0">
                <a:prstClr val="black">
                  <a:alpha val="40000"/>
                </a:prst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64" name="AutoShape 4" descr="© INSCALE GmbH, 26.05.2010&#10;http://www.presentationload.com/"/>
            <p:cNvSpPr>
              <a:spLocks noChangeArrowheads="1"/>
            </p:cNvSpPr>
            <p:nvPr/>
          </p:nvSpPr>
          <p:spPr bwMode="gray">
            <a:xfrm>
              <a:off x="2618807" y="3228838"/>
              <a:ext cx="12042325" cy="4997384"/>
            </a:xfrm>
            <a:prstGeom prst="roundRect">
              <a:avLst>
                <a:gd name="adj" fmla="val 1838"/>
              </a:avLst>
            </a:prstGeom>
            <a:solidFill>
              <a:schemeClr val="bg1"/>
            </a:solidFill>
            <a:ln w="19050" algn="ctr">
              <a:solidFill>
                <a:srgbClr val="C00000"/>
              </a:solidFill>
              <a:round/>
              <a:headEnd/>
              <a:tailEnd/>
            </a:ln>
            <a:effectLst/>
          </p:spPr>
          <p:txBody>
            <a:bodyPr/>
            <a:lstStyle/>
            <a:p>
              <a:endParaRPr lang="de-DE" sz="2400">
                <a:solidFill>
                  <a:srgbClr val="000000"/>
                </a:solidFill>
              </a:endParaRPr>
            </a:p>
          </p:txBody>
        </p:sp>
        <p:sp>
          <p:nvSpPr>
            <p:cNvPr id="297023" name="Rectangle 63" descr="© INSCALE GmbH, 26.05.2010&#10;http://www.presentationload.com/"/>
            <p:cNvSpPr>
              <a:spLocks noChangeArrowheads="1"/>
            </p:cNvSpPr>
            <p:nvPr/>
          </p:nvSpPr>
          <p:spPr bwMode="gray">
            <a:xfrm>
              <a:off x="10422826" y="3640599"/>
              <a:ext cx="4020050" cy="510765"/>
            </a:xfrm>
            <a:prstGeom prst="rect">
              <a:avLst/>
            </a:prstGeom>
            <a:solidFill>
              <a:srgbClr val="00B050"/>
            </a:solidFill>
            <a:ln w="12700" algn="ctr">
              <a:solidFill>
                <a:srgbClr val="C0C0C0"/>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可能影响</a:t>
              </a:r>
              <a:endParaRPr lang="de-DE" sz="2400" b="1" noProof="1">
                <a:solidFill>
                  <a:schemeClr val="bg1"/>
                </a:solidFill>
                <a:latin typeface="Calibri" pitchFamily="34" charset="0"/>
              </a:endParaRPr>
            </a:p>
          </p:txBody>
        </p:sp>
        <p:sp>
          <p:nvSpPr>
            <p:cNvPr id="297024" name="Rectangle 5" descr="© INSCALE GmbH, 26.05.2010&#10;http://www.presentationload.com/"/>
            <p:cNvSpPr>
              <a:spLocks noChangeArrowheads="1"/>
            </p:cNvSpPr>
            <p:nvPr/>
          </p:nvSpPr>
          <p:spPr bwMode="gray">
            <a:xfrm>
              <a:off x="10422826" y="4151362"/>
              <a:ext cx="4020049" cy="3867854"/>
            </a:xfrm>
            <a:prstGeom prst="rect">
              <a:avLst/>
            </a:prstGeom>
            <a:solidFill>
              <a:schemeClr val="bg1">
                <a:lumMod val="95000"/>
              </a:schemeClr>
            </a:solidFill>
            <a:ln w="12700">
              <a:solidFill>
                <a:srgbClr val="DDDDDD"/>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457200" indent="-457200">
                <a:buFont typeface="Arial" panose="020B0604020202020204" pitchFamily="34" charset="0"/>
                <a:buChar char="•"/>
              </a:pPr>
              <a:r>
                <a:rPr lang="zh-CN" altLang="en-US" sz="2400" dirty="0">
                  <a:latin typeface="+mn-ea"/>
                </a:rPr>
                <a:t>对发行人不利，即回售通常发生在到期日前，发行人可能面临资金压力。</a:t>
              </a:r>
              <a:endParaRPr lang="en-US" altLang="zh-CN" sz="2400" dirty="0">
                <a:latin typeface="+mn-ea"/>
              </a:endParaRPr>
            </a:p>
            <a:p>
              <a:pPr marL="457200" indent="-457200">
                <a:buFont typeface="Arial" panose="020B0604020202020204" pitchFamily="34" charset="0"/>
                <a:buChar char="•"/>
              </a:pPr>
              <a:endParaRPr lang="zh-CN" altLang="en-US" sz="2400" dirty="0">
                <a:latin typeface="+mn-ea"/>
              </a:endParaRPr>
            </a:p>
            <a:p>
              <a:pPr marL="457200" indent="-457200">
                <a:buFont typeface="Arial" panose="020B0604020202020204" pitchFamily="34" charset="0"/>
                <a:buChar char="•"/>
              </a:pPr>
              <a:r>
                <a:rPr lang="zh-CN" altLang="en-US" sz="2400" dirty="0">
                  <a:latin typeface="+mn-ea"/>
                </a:rPr>
                <a:t>投资人的看跌期权。</a:t>
              </a:r>
            </a:p>
          </p:txBody>
        </p:sp>
        <p:sp>
          <p:nvSpPr>
            <p:cNvPr id="297025" name="Rectangle 65" descr="© INSCALE GmbH, 26.05.2010&#10;http://www.presentationload.com/"/>
            <p:cNvSpPr>
              <a:spLocks noChangeArrowheads="1"/>
            </p:cNvSpPr>
            <p:nvPr/>
          </p:nvSpPr>
          <p:spPr bwMode="gray">
            <a:xfrm>
              <a:off x="2821312" y="3640599"/>
              <a:ext cx="3388591" cy="510765"/>
            </a:xfrm>
            <a:prstGeom prst="rect">
              <a:avLst/>
            </a:prstGeom>
            <a:solidFill>
              <a:schemeClr val="accent5"/>
            </a:solidFill>
            <a:ln w="12700" algn="ctr">
              <a:solidFill>
                <a:srgbClr val="C0C0C0"/>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条款性质</a:t>
              </a:r>
              <a:endParaRPr lang="de-DE" sz="2400" b="1" noProof="1">
                <a:solidFill>
                  <a:schemeClr val="bg1"/>
                </a:solidFill>
                <a:latin typeface="Calibri" pitchFamily="34" charset="0"/>
              </a:endParaRPr>
            </a:p>
          </p:txBody>
        </p:sp>
        <p:sp>
          <p:nvSpPr>
            <p:cNvPr id="297026" name="Rectangle 5" descr="© INSCALE GmbH, 26.05.2010&#10;http://www.presentationload.com/"/>
            <p:cNvSpPr>
              <a:spLocks noChangeArrowheads="1"/>
            </p:cNvSpPr>
            <p:nvPr/>
          </p:nvSpPr>
          <p:spPr bwMode="gray">
            <a:xfrm>
              <a:off x="2821313" y="4151362"/>
              <a:ext cx="3388592" cy="3867854"/>
            </a:xfrm>
            <a:prstGeom prst="rect">
              <a:avLst/>
            </a:prstGeom>
            <a:solidFill>
              <a:schemeClr val="bg1">
                <a:lumMod val="95000"/>
              </a:schemeClr>
            </a:solidFill>
            <a:ln w="12700" algn="ctr">
              <a:solidFill>
                <a:srgbClr val="DDDDDD"/>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342900" indent="-342900">
                <a:buFont typeface="Arial" panose="020B0604020202020204" pitchFamily="34" charset="0"/>
                <a:buChar char="•"/>
              </a:pPr>
              <a:r>
                <a:rPr lang="zh-CN" altLang="en-US" sz="2400" dirty="0">
                  <a:latin typeface="+mn-ea"/>
                </a:rPr>
                <a:t>指投资者在一定条件下，可要求发行人按约定价格通常是以面额加计利息补偿金的价格回售给发行人。</a:t>
              </a:r>
              <a:endParaRPr lang="en-US" altLang="zh-CN" sz="2400" dirty="0">
                <a:latin typeface="+mn-ea"/>
              </a:endParaRPr>
            </a:p>
          </p:txBody>
        </p:sp>
        <p:sp>
          <p:nvSpPr>
            <p:cNvPr id="22" name="Text Box 69" descr="© INSCALE GmbH, 26.05.2010&#10;http://www.presentationload.com/"/>
            <p:cNvSpPr txBox="1">
              <a:spLocks noChangeArrowheads="1"/>
            </p:cNvSpPr>
            <p:nvPr/>
          </p:nvSpPr>
          <p:spPr bwMode="gray">
            <a:xfrm>
              <a:off x="2947315" y="2205060"/>
              <a:ext cx="1769356" cy="1023778"/>
            </a:xfrm>
            <a:prstGeom prst="rect">
              <a:avLst/>
            </a:prstGeom>
            <a:noFill/>
            <a:ln w="9525">
              <a:noFill/>
              <a:miter lim="800000"/>
              <a:headEnd/>
              <a:tailEnd/>
            </a:ln>
            <a:effectLst/>
          </p:spPr>
          <p:txBody>
            <a:bodyPr anchor="ctr"/>
            <a:lstStyle/>
            <a:p>
              <a:pPr algn="ctr">
                <a:spcBef>
                  <a:spcPct val="50000"/>
                </a:spcBef>
              </a:pPr>
              <a:r>
                <a:rPr lang="zh-CN" altLang="en-US" sz="2400" dirty="0"/>
                <a:t>发行人赎回</a:t>
              </a:r>
              <a:endParaRPr lang="de-DE" sz="2400" noProof="1"/>
            </a:p>
          </p:txBody>
        </p:sp>
        <p:sp>
          <p:nvSpPr>
            <p:cNvPr id="23" name="Text Box 71" descr="© INSCALE GmbH, 26.05.2010&#10;http://www.presentationload.com/"/>
            <p:cNvSpPr txBox="1">
              <a:spLocks noChangeArrowheads="1"/>
            </p:cNvSpPr>
            <p:nvPr/>
          </p:nvSpPr>
          <p:spPr bwMode="gray">
            <a:xfrm>
              <a:off x="6758918" y="2205060"/>
              <a:ext cx="1807047" cy="1023778"/>
            </a:xfrm>
            <a:prstGeom prst="rect">
              <a:avLst/>
            </a:prstGeom>
            <a:noFill/>
            <a:ln w="9525">
              <a:noFill/>
              <a:miter lim="800000"/>
              <a:headEnd/>
              <a:tailEnd/>
            </a:ln>
            <a:effectLst/>
          </p:spPr>
          <p:txBody>
            <a:bodyPr anchor="ctr"/>
            <a:lstStyle/>
            <a:p>
              <a:pPr algn="ctr">
                <a:spcBef>
                  <a:spcPct val="50000"/>
                </a:spcBef>
              </a:pPr>
              <a:r>
                <a:rPr lang="zh-CN" altLang="en-US" sz="2400" dirty="0"/>
                <a:t>票面利率调整</a:t>
              </a:r>
              <a:endParaRPr lang="de-DE" sz="2400" noProof="1">
                <a:solidFill>
                  <a:srgbClr val="000000"/>
                </a:solidFill>
              </a:endParaRPr>
            </a:p>
          </p:txBody>
        </p:sp>
        <p:sp>
          <p:nvSpPr>
            <p:cNvPr id="24" name="Text Box 72" descr="© INSCALE GmbH, 26.05.2010&#10;http://www.presentationload.com/"/>
            <p:cNvSpPr txBox="1">
              <a:spLocks noChangeArrowheads="1"/>
            </p:cNvSpPr>
            <p:nvPr/>
          </p:nvSpPr>
          <p:spPr bwMode="gray">
            <a:xfrm>
              <a:off x="8642220"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dirty="0"/>
                <a:t>提前偿还</a:t>
              </a:r>
              <a:endParaRPr lang="de-DE" sz="2400" noProof="1">
                <a:solidFill>
                  <a:srgbClr val="000000"/>
                </a:solidFill>
              </a:endParaRPr>
            </a:p>
          </p:txBody>
        </p:sp>
        <p:sp>
          <p:nvSpPr>
            <p:cNvPr id="25" name="Text Box 73" descr="© INSCALE GmbH, 26.05.2010&#10;http://www.presentationload.com/"/>
            <p:cNvSpPr txBox="1">
              <a:spLocks noChangeArrowheads="1"/>
            </p:cNvSpPr>
            <p:nvPr/>
          </p:nvSpPr>
          <p:spPr bwMode="gray">
            <a:xfrm>
              <a:off x="10570521"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dirty="0"/>
                <a:t>延期支付</a:t>
              </a:r>
              <a:endParaRPr lang="de-DE" sz="2400" noProof="1">
                <a:solidFill>
                  <a:srgbClr val="000000"/>
                </a:solidFill>
              </a:endParaRPr>
            </a:p>
          </p:txBody>
        </p:sp>
        <p:sp>
          <p:nvSpPr>
            <p:cNvPr id="26" name="Text Box 74" descr="© INSCALE GmbH, 26.05.2010&#10;http://www.presentationload.com/"/>
            <p:cNvSpPr txBox="1">
              <a:spLocks noChangeArrowheads="1"/>
            </p:cNvSpPr>
            <p:nvPr/>
          </p:nvSpPr>
          <p:spPr bwMode="gray">
            <a:xfrm>
              <a:off x="12453822"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dirty="0"/>
                <a:t>定向转让</a:t>
              </a:r>
              <a:endParaRPr lang="de-DE" sz="2400" noProof="1">
                <a:solidFill>
                  <a:srgbClr val="000000"/>
                </a:solidFill>
              </a:endParaRPr>
            </a:p>
          </p:txBody>
        </p:sp>
        <p:sp>
          <p:nvSpPr>
            <p:cNvPr id="27" name="Text Box 70" descr="© INSCALE GmbH, 26.05.2010&#10;http://www.presentationload.com/"/>
            <p:cNvSpPr txBox="1">
              <a:spLocks noChangeArrowheads="1"/>
            </p:cNvSpPr>
            <p:nvPr/>
          </p:nvSpPr>
          <p:spPr bwMode="gray">
            <a:xfrm>
              <a:off x="4819366" y="2205060"/>
              <a:ext cx="1807047" cy="999998"/>
            </a:xfrm>
            <a:prstGeom prst="rect">
              <a:avLst/>
            </a:prstGeom>
            <a:noFill/>
            <a:ln w="9525">
              <a:noFill/>
              <a:miter lim="800000"/>
              <a:headEnd/>
              <a:tailEnd/>
            </a:ln>
            <a:effectLst/>
          </p:spPr>
          <p:txBody>
            <a:bodyPr anchor="ctr"/>
            <a:lstStyle/>
            <a:p>
              <a:pPr algn="ctr">
                <a:spcBef>
                  <a:spcPct val="50000"/>
                </a:spcBef>
              </a:pPr>
              <a:r>
                <a:rPr lang="zh-CN" altLang="en-US" sz="2400" b="1" dirty="0">
                  <a:solidFill>
                    <a:schemeClr val="bg1"/>
                  </a:solidFill>
                </a:rPr>
                <a:t>投资人回售</a:t>
              </a:r>
              <a:endParaRPr lang="de-DE" sz="2400" b="1" noProof="1">
                <a:solidFill>
                  <a:schemeClr val="bg1"/>
                </a:solidFill>
              </a:endParaRPr>
            </a:p>
          </p:txBody>
        </p:sp>
        <p:sp>
          <p:nvSpPr>
            <p:cNvPr id="29" name="Rectangle 65" descr="© INSCALE GmbH, 26.05.2010&#10;http://www.presentationload.com/">
              <a:extLst>
                <a:ext uri="{FF2B5EF4-FFF2-40B4-BE49-F238E27FC236}">
                  <a16:creationId xmlns:a16="http://schemas.microsoft.com/office/drawing/2014/main" id="{419319D0-9346-434E-83DF-0982A595F022}"/>
                </a:ext>
              </a:extLst>
            </p:cNvPr>
            <p:cNvSpPr>
              <a:spLocks noChangeArrowheads="1"/>
            </p:cNvSpPr>
            <p:nvPr/>
          </p:nvSpPr>
          <p:spPr bwMode="gray">
            <a:xfrm>
              <a:off x="6428161" y="3640599"/>
              <a:ext cx="3723008" cy="510765"/>
            </a:xfrm>
            <a:prstGeom prst="rect">
              <a:avLst/>
            </a:prstGeom>
            <a:solidFill>
              <a:srgbClr val="00B0F0"/>
            </a:solidFill>
            <a:ln w="12700" algn="ctr">
              <a:solidFill>
                <a:schemeClr val="bg1"/>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条款要素</a:t>
              </a:r>
              <a:endParaRPr lang="de-DE" sz="2400" b="1" noProof="1">
                <a:solidFill>
                  <a:schemeClr val="bg1"/>
                </a:solidFill>
                <a:latin typeface="Calibri" pitchFamily="34" charset="0"/>
              </a:endParaRPr>
            </a:p>
          </p:txBody>
        </p:sp>
        <p:sp>
          <p:nvSpPr>
            <p:cNvPr id="30" name="Rectangle 5" descr="© INSCALE GmbH, 26.05.2010&#10;http://www.presentationload.com/">
              <a:extLst>
                <a:ext uri="{FF2B5EF4-FFF2-40B4-BE49-F238E27FC236}">
                  <a16:creationId xmlns:a16="http://schemas.microsoft.com/office/drawing/2014/main" id="{F9541BC0-D698-4F5D-8C14-ACAC1BA65D63}"/>
                </a:ext>
              </a:extLst>
            </p:cNvPr>
            <p:cNvSpPr>
              <a:spLocks noChangeArrowheads="1"/>
            </p:cNvSpPr>
            <p:nvPr/>
          </p:nvSpPr>
          <p:spPr bwMode="gray">
            <a:xfrm>
              <a:off x="6428161" y="4151362"/>
              <a:ext cx="3723008" cy="3867854"/>
            </a:xfrm>
            <a:prstGeom prst="rect">
              <a:avLst/>
            </a:prstGeom>
            <a:solidFill>
              <a:schemeClr val="bg1">
                <a:lumMod val="95000"/>
              </a:schemeClr>
            </a:solidFill>
            <a:ln w="12700" algn="ctr">
              <a:solidFill>
                <a:schemeClr val="bg1"/>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342900" indent="-342900">
                <a:buFont typeface="Arial" panose="020B0604020202020204" pitchFamily="34" charset="0"/>
                <a:buChar char="•"/>
              </a:pPr>
              <a:r>
                <a:rPr lang="zh-CN" altLang="en-US" sz="2400" dirty="0">
                  <a:latin typeface="+mn-ea"/>
                </a:rPr>
                <a:t>回售条件：无条件回售是指无特别制定原因设定回收；有条件回售是指在一段时间内连续低于约定价格，并达到某一幅度时，按事先约定的价格卖回给发行人。</a:t>
              </a:r>
              <a:endParaRPr lang="en-US" altLang="zh-CN" sz="2400" dirty="0">
                <a:latin typeface="+mn-ea"/>
              </a:endParaRPr>
            </a:p>
            <a:p>
              <a:pPr marL="342900" indent="-342900">
                <a:buFont typeface="Arial" panose="020B0604020202020204" pitchFamily="34" charset="0"/>
                <a:buChar char="•"/>
              </a:pPr>
              <a:endParaRPr lang="zh-CN" altLang="en-US" sz="2400" dirty="0">
                <a:latin typeface="+mn-ea"/>
              </a:endParaRPr>
            </a:p>
            <a:p>
              <a:pPr marL="342900" indent="-342900">
                <a:buFont typeface="Arial" panose="020B0604020202020204" pitchFamily="34" charset="0"/>
                <a:buChar char="•"/>
              </a:pPr>
              <a:r>
                <a:rPr lang="zh-CN" altLang="en-US" sz="2400" dirty="0">
                  <a:latin typeface="+mn-ea"/>
                </a:rPr>
                <a:t>回售时间：一般定在可转债偿还期的</a:t>
              </a:r>
              <a:r>
                <a:rPr lang="en-US" altLang="zh-CN" sz="2400" dirty="0">
                  <a:latin typeface="+mn-ea"/>
                </a:rPr>
                <a:t>1/3</a:t>
              </a:r>
              <a:r>
                <a:rPr lang="zh-CN" altLang="en-US" sz="2400" dirty="0">
                  <a:latin typeface="+mn-ea"/>
                </a:rPr>
                <a:t>或</a:t>
              </a:r>
              <a:r>
                <a:rPr lang="en-US" altLang="zh-CN" sz="2400" dirty="0">
                  <a:latin typeface="+mn-ea"/>
                </a:rPr>
                <a:t>1/2</a:t>
              </a:r>
              <a:r>
                <a:rPr lang="zh-CN" altLang="en-US" sz="2400" dirty="0">
                  <a:latin typeface="+mn-ea"/>
                </a:rPr>
                <a:t>之后</a:t>
              </a:r>
              <a:endParaRPr lang="en-US" altLang="zh-CN" sz="2400" dirty="0">
                <a:latin typeface="+mn-ea"/>
              </a:endParaRPr>
            </a:p>
            <a:p>
              <a:pPr marL="342900" indent="-342900">
                <a:buFont typeface="Arial" panose="020B0604020202020204" pitchFamily="34" charset="0"/>
                <a:buChar char="•"/>
              </a:pPr>
              <a:endParaRPr lang="zh-CN" altLang="en-US" sz="2400" dirty="0">
                <a:latin typeface="+mn-ea"/>
              </a:endParaRPr>
            </a:p>
            <a:p>
              <a:pPr marL="342900" indent="-342900">
                <a:buFont typeface="Arial" panose="020B0604020202020204" pitchFamily="34" charset="0"/>
                <a:buChar char="•"/>
              </a:pPr>
              <a:r>
                <a:rPr lang="zh-CN" altLang="en-US" sz="2400" dirty="0">
                  <a:latin typeface="+mn-ea"/>
                </a:rPr>
                <a:t>回售价格：事先约定，它一般比市场利率稍低</a:t>
              </a:r>
            </a:p>
          </p:txBody>
        </p:sp>
      </p:grpSp>
    </p:spTree>
    <p:extLst>
      <p:ext uri="{BB962C8B-B14F-4D97-AF65-F5344CB8AC3E}">
        <p14:creationId xmlns:p14="http://schemas.microsoft.com/office/powerpoint/2010/main" val="70493323"/>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5" name="Rectangle 5" descr="© INSCALE GmbH, 26.05.2010&#10;http://www.presentationload.com/"/>
          <p:cNvSpPr>
            <a:spLocks noGrp="1" noChangeArrowheads="1"/>
          </p:cNvSpPr>
          <p:nvPr>
            <p:ph type="title"/>
          </p:nvPr>
        </p:nvSpPr>
        <p:spPr/>
        <p:txBody>
          <a:bodyPr/>
          <a:lstStyle/>
          <a:p>
            <a:r>
              <a:rPr lang="zh-CN" altLang="en-US" dirty="0"/>
              <a:t>权利条款</a:t>
            </a:r>
            <a:endParaRPr lang="de-DE" noProof="1"/>
          </a:p>
        </p:txBody>
      </p:sp>
      <p:grpSp>
        <p:nvGrpSpPr>
          <p:cNvPr id="5" name="组合 4">
            <a:extLst>
              <a:ext uri="{FF2B5EF4-FFF2-40B4-BE49-F238E27FC236}">
                <a16:creationId xmlns:a16="http://schemas.microsoft.com/office/drawing/2014/main" id="{256BA919-4F17-462A-ADEB-7660ABD593BB}"/>
              </a:ext>
            </a:extLst>
          </p:cNvPr>
          <p:cNvGrpSpPr/>
          <p:nvPr/>
        </p:nvGrpSpPr>
        <p:grpSpPr>
          <a:xfrm>
            <a:off x="949497" y="2202810"/>
            <a:ext cx="15378696" cy="7293616"/>
            <a:chOff x="2618807" y="2202810"/>
            <a:chExt cx="12042325" cy="6023412"/>
          </a:xfrm>
        </p:grpSpPr>
        <p:sp>
          <p:nvSpPr>
            <p:cNvPr id="297001" name="Freeform 41" descr="© INSCALE GmbH, 26.05.2010&#10;http://www.presentationload.com/"/>
            <p:cNvSpPr>
              <a:spLocks/>
            </p:cNvSpPr>
            <p:nvPr/>
          </p:nvSpPr>
          <p:spPr bwMode="gray">
            <a:xfrm>
              <a:off x="12138815" y="2202810"/>
              <a:ext cx="2522317"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7000" name="Freeform 40" descr="© INSCALE GmbH, 26.05.2010&#10;http://www.presentationload.com/"/>
            <p:cNvSpPr>
              <a:spLocks/>
            </p:cNvSpPr>
            <p:nvPr/>
          </p:nvSpPr>
          <p:spPr bwMode="gray">
            <a:xfrm>
              <a:off x="10244264" y="2202810"/>
              <a:ext cx="2522317"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9" name="Freeform 39" descr="© INSCALE GmbH, 26.05.2010&#10;http://www.presentationload.com/"/>
            <p:cNvSpPr>
              <a:spLocks/>
            </p:cNvSpPr>
            <p:nvPr/>
          </p:nvSpPr>
          <p:spPr bwMode="gray">
            <a:xfrm>
              <a:off x="8333961" y="2202810"/>
              <a:ext cx="2522319"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8" name="Freeform 38" descr="© INSCALE GmbH, 26.05.2010&#10;http://www.presentationload.com/"/>
            <p:cNvSpPr>
              <a:spLocks/>
            </p:cNvSpPr>
            <p:nvPr/>
          </p:nvSpPr>
          <p:spPr bwMode="gray">
            <a:xfrm>
              <a:off x="6428161" y="2202810"/>
              <a:ext cx="2522317"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rgbClr val="00B0F0"/>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6" name="Freeform 36" descr="© INSCALE GmbH, 26.05.2010&#10;http://www.presentationload.com/"/>
            <p:cNvSpPr>
              <a:spLocks/>
            </p:cNvSpPr>
            <p:nvPr/>
          </p:nvSpPr>
          <p:spPr bwMode="gray">
            <a:xfrm>
              <a:off x="2623306" y="2202810"/>
              <a:ext cx="2522319"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7" name="Freeform 37" descr="© INSCALE GmbH, 26.05.2010&#10;http://www.presentationload.com/"/>
            <p:cNvSpPr>
              <a:spLocks/>
            </p:cNvSpPr>
            <p:nvPr/>
          </p:nvSpPr>
          <p:spPr bwMode="gray">
            <a:xfrm>
              <a:off x="4529110" y="2226590"/>
              <a:ext cx="2522317"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chemeClr val="bg1">
                <a:lumMod val="95000"/>
              </a:schemeClr>
            </a:solidFill>
            <a:ln w="9525" cap="flat" cmpd="sng">
              <a:noFill/>
              <a:prstDash val="solid"/>
              <a:round/>
              <a:headEnd/>
              <a:tailEnd/>
            </a:ln>
            <a:effectLst>
              <a:outerShdw blurRad="50800" dist="38100" dir="2700000" algn="tl" rotWithShape="0">
                <a:prstClr val="black">
                  <a:alpha val="40000"/>
                </a:prst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64" name="AutoShape 4" descr="© INSCALE GmbH, 26.05.2010&#10;http://www.presentationload.com/"/>
            <p:cNvSpPr>
              <a:spLocks noChangeArrowheads="1"/>
            </p:cNvSpPr>
            <p:nvPr/>
          </p:nvSpPr>
          <p:spPr bwMode="gray">
            <a:xfrm>
              <a:off x="2618807" y="3228838"/>
              <a:ext cx="12042325" cy="4997384"/>
            </a:xfrm>
            <a:prstGeom prst="roundRect">
              <a:avLst>
                <a:gd name="adj" fmla="val 1838"/>
              </a:avLst>
            </a:prstGeom>
            <a:solidFill>
              <a:schemeClr val="bg1"/>
            </a:solidFill>
            <a:ln w="19050" algn="ctr">
              <a:solidFill>
                <a:srgbClr val="C00000"/>
              </a:solidFill>
              <a:round/>
              <a:headEnd/>
              <a:tailEnd/>
            </a:ln>
            <a:effectLst/>
          </p:spPr>
          <p:txBody>
            <a:bodyPr/>
            <a:lstStyle/>
            <a:p>
              <a:endParaRPr lang="de-DE" sz="2400">
                <a:solidFill>
                  <a:srgbClr val="000000"/>
                </a:solidFill>
              </a:endParaRPr>
            </a:p>
          </p:txBody>
        </p:sp>
        <p:sp>
          <p:nvSpPr>
            <p:cNvPr id="297023" name="Rectangle 63" descr="© INSCALE GmbH, 26.05.2010&#10;http://www.presentationload.com/"/>
            <p:cNvSpPr>
              <a:spLocks noChangeArrowheads="1"/>
            </p:cNvSpPr>
            <p:nvPr/>
          </p:nvSpPr>
          <p:spPr bwMode="gray">
            <a:xfrm>
              <a:off x="10422826" y="3640599"/>
              <a:ext cx="4020050" cy="510765"/>
            </a:xfrm>
            <a:prstGeom prst="rect">
              <a:avLst/>
            </a:prstGeom>
            <a:solidFill>
              <a:srgbClr val="00B050"/>
            </a:solidFill>
            <a:ln w="12700" algn="ctr">
              <a:solidFill>
                <a:srgbClr val="C0C0C0"/>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可能影响</a:t>
              </a:r>
              <a:endParaRPr lang="de-DE" sz="2400" b="1" noProof="1">
                <a:solidFill>
                  <a:schemeClr val="bg1"/>
                </a:solidFill>
                <a:latin typeface="Calibri" pitchFamily="34" charset="0"/>
              </a:endParaRPr>
            </a:p>
          </p:txBody>
        </p:sp>
        <p:sp>
          <p:nvSpPr>
            <p:cNvPr id="297024" name="Rectangle 5" descr="© INSCALE GmbH, 26.05.2010&#10;http://www.presentationload.com/"/>
            <p:cNvSpPr>
              <a:spLocks noChangeArrowheads="1"/>
            </p:cNvSpPr>
            <p:nvPr/>
          </p:nvSpPr>
          <p:spPr bwMode="gray">
            <a:xfrm>
              <a:off x="10422826" y="4151362"/>
              <a:ext cx="4020049" cy="3867854"/>
            </a:xfrm>
            <a:prstGeom prst="rect">
              <a:avLst/>
            </a:prstGeom>
            <a:solidFill>
              <a:schemeClr val="bg1">
                <a:lumMod val="95000"/>
              </a:schemeClr>
            </a:solidFill>
            <a:ln w="12700">
              <a:solidFill>
                <a:srgbClr val="DDDDDD"/>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457200" indent="-457200">
                <a:buFont typeface="Arial" panose="020B0604020202020204" pitchFamily="34" charset="0"/>
                <a:buChar char="•"/>
              </a:pPr>
              <a:r>
                <a:rPr lang="zh-CN" altLang="en-US" sz="2400" dirty="0"/>
                <a:t>票面利率调整通常与回售条款一同出现，通常票面利率调整权在回售权之前，主要利用它来博弈债券的存续期，对发行人有利。</a:t>
              </a:r>
              <a:endParaRPr lang="en-US" altLang="zh-CN" sz="2400" dirty="0"/>
            </a:p>
            <a:p>
              <a:pPr marL="457200" indent="-457200">
                <a:buFont typeface="Arial" panose="020B0604020202020204" pitchFamily="34" charset="0"/>
                <a:buChar char="•"/>
              </a:pPr>
              <a:endParaRPr lang="zh-CN" altLang="en-US" sz="2400" dirty="0"/>
            </a:p>
            <a:p>
              <a:pPr marL="457200" indent="-457200">
                <a:buFont typeface="Arial" panose="020B0604020202020204" pitchFamily="34" charset="0"/>
                <a:buChar char="•"/>
              </a:pPr>
              <a:r>
                <a:rPr lang="zh-CN" altLang="en-US" sz="2400" dirty="0"/>
                <a:t>如发行人仅有上调利率权，则对投资者有利；如发行人同时具有上调或下调利率的权利，则对投资者不利。</a:t>
              </a:r>
            </a:p>
          </p:txBody>
        </p:sp>
        <p:sp>
          <p:nvSpPr>
            <p:cNvPr id="297025" name="Rectangle 65" descr="© INSCALE GmbH, 26.05.2010&#10;http://www.presentationload.com/"/>
            <p:cNvSpPr>
              <a:spLocks noChangeArrowheads="1"/>
            </p:cNvSpPr>
            <p:nvPr/>
          </p:nvSpPr>
          <p:spPr bwMode="gray">
            <a:xfrm>
              <a:off x="2821312" y="3640599"/>
              <a:ext cx="3388591" cy="510765"/>
            </a:xfrm>
            <a:prstGeom prst="rect">
              <a:avLst/>
            </a:prstGeom>
            <a:solidFill>
              <a:schemeClr val="accent5"/>
            </a:solidFill>
            <a:ln w="12700" algn="ctr">
              <a:solidFill>
                <a:srgbClr val="C0C0C0"/>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条款性质</a:t>
              </a:r>
              <a:endParaRPr lang="de-DE" sz="2400" b="1" noProof="1">
                <a:solidFill>
                  <a:schemeClr val="bg1"/>
                </a:solidFill>
                <a:latin typeface="Calibri" pitchFamily="34" charset="0"/>
              </a:endParaRPr>
            </a:p>
          </p:txBody>
        </p:sp>
        <p:sp>
          <p:nvSpPr>
            <p:cNvPr id="297026" name="Rectangle 5" descr="© INSCALE GmbH, 26.05.2010&#10;http://www.presentationload.com/"/>
            <p:cNvSpPr>
              <a:spLocks noChangeArrowheads="1"/>
            </p:cNvSpPr>
            <p:nvPr/>
          </p:nvSpPr>
          <p:spPr bwMode="gray">
            <a:xfrm>
              <a:off x="2821313" y="4151362"/>
              <a:ext cx="3388592" cy="3867854"/>
            </a:xfrm>
            <a:prstGeom prst="rect">
              <a:avLst/>
            </a:prstGeom>
            <a:solidFill>
              <a:schemeClr val="bg1">
                <a:lumMod val="95000"/>
              </a:schemeClr>
            </a:solidFill>
            <a:ln w="12700" algn="ctr">
              <a:solidFill>
                <a:srgbClr val="DDDDDD"/>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342900" indent="-342900">
                <a:buFont typeface="Arial" panose="020B0604020202020204" pitchFamily="34" charset="0"/>
                <a:buChar char="•"/>
              </a:pPr>
              <a:r>
                <a:rPr lang="zh-CN" altLang="en-US" sz="2400" dirty="0"/>
                <a:t>债券发行人在满足一定条件时，上调、下调或者不调整票面利率的选择权。</a:t>
              </a:r>
            </a:p>
          </p:txBody>
        </p:sp>
        <p:sp>
          <p:nvSpPr>
            <p:cNvPr id="22" name="Text Box 69" descr="© INSCALE GmbH, 26.05.2010&#10;http://www.presentationload.com/"/>
            <p:cNvSpPr txBox="1">
              <a:spLocks noChangeArrowheads="1"/>
            </p:cNvSpPr>
            <p:nvPr/>
          </p:nvSpPr>
          <p:spPr bwMode="gray">
            <a:xfrm>
              <a:off x="2947315" y="2205060"/>
              <a:ext cx="1769356" cy="1023778"/>
            </a:xfrm>
            <a:prstGeom prst="rect">
              <a:avLst/>
            </a:prstGeom>
            <a:noFill/>
            <a:ln w="9525">
              <a:noFill/>
              <a:miter lim="800000"/>
              <a:headEnd/>
              <a:tailEnd/>
            </a:ln>
            <a:effectLst/>
          </p:spPr>
          <p:txBody>
            <a:bodyPr anchor="ctr"/>
            <a:lstStyle/>
            <a:p>
              <a:pPr algn="ctr">
                <a:spcBef>
                  <a:spcPct val="50000"/>
                </a:spcBef>
              </a:pPr>
              <a:r>
                <a:rPr lang="zh-CN" altLang="en-US" sz="2400" dirty="0"/>
                <a:t>发行人赎回</a:t>
              </a:r>
              <a:endParaRPr lang="de-DE" sz="2400" noProof="1"/>
            </a:p>
          </p:txBody>
        </p:sp>
        <p:sp>
          <p:nvSpPr>
            <p:cNvPr id="23" name="Text Box 71" descr="© INSCALE GmbH, 26.05.2010&#10;http://www.presentationload.com/"/>
            <p:cNvSpPr txBox="1">
              <a:spLocks noChangeArrowheads="1"/>
            </p:cNvSpPr>
            <p:nvPr/>
          </p:nvSpPr>
          <p:spPr bwMode="gray">
            <a:xfrm>
              <a:off x="6758918" y="2205060"/>
              <a:ext cx="1807047" cy="1023778"/>
            </a:xfrm>
            <a:prstGeom prst="rect">
              <a:avLst/>
            </a:prstGeom>
            <a:noFill/>
            <a:ln w="9525">
              <a:noFill/>
              <a:miter lim="800000"/>
              <a:headEnd/>
              <a:tailEnd/>
            </a:ln>
            <a:effectLst/>
          </p:spPr>
          <p:txBody>
            <a:bodyPr anchor="ctr"/>
            <a:lstStyle/>
            <a:p>
              <a:pPr algn="ctr">
                <a:spcBef>
                  <a:spcPct val="50000"/>
                </a:spcBef>
              </a:pPr>
              <a:r>
                <a:rPr lang="zh-CN" altLang="en-US" sz="2400" b="1" dirty="0">
                  <a:solidFill>
                    <a:schemeClr val="bg1"/>
                  </a:solidFill>
                </a:rPr>
                <a:t>票面利率调整</a:t>
              </a:r>
              <a:endParaRPr lang="de-DE" sz="2400" b="1" noProof="1">
                <a:solidFill>
                  <a:schemeClr val="bg1"/>
                </a:solidFill>
              </a:endParaRPr>
            </a:p>
          </p:txBody>
        </p:sp>
        <p:sp>
          <p:nvSpPr>
            <p:cNvPr id="24" name="Text Box 72" descr="© INSCALE GmbH, 26.05.2010&#10;http://www.presentationload.com/"/>
            <p:cNvSpPr txBox="1">
              <a:spLocks noChangeArrowheads="1"/>
            </p:cNvSpPr>
            <p:nvPr/>
          </p:nvSpPr>
          <p:spPr bwMode="gray">
            <a:xfrm>
              <a:off x="8642220"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dirty="0"/>
                <a:t>提前偿还</a:t>
              </a:r>
              <a:endParaRPr lang="de-DE" sz="2400" noProof="1">
                <a:solidFill>
                  <a:srgbClr val="000000"/>
                </a:solidFill>
              </a:endParaRPr>
            </a:p>
          </p:txBody>
        </p:sp>
        <p:sp>
          <p:nvSpPr>
            <p:cNvPr id="25" name="Text Box 73" descr="© INSCALE GmbH, 26.05.2010&#10;http://www.presentationload.com/"/>
            <p:cNvSpPr txBox="1">
              <a:spLocks noChangeArrowheads="1"/>
            </p:cNvSpPr>
            <p:nvPr/>
          </p:nvSpPr>
          <p:spPr bwMode="gray">
            <a:xfrm>
              <a:off x="10570521"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dirty="0"/>
                <a:t>延期支付</a:t>
              </a:r>
              <a:endParaRPr lang="de-DE" sz="2400" noProof="1">
                <a:solidFill>
                  <a:srgbClr val="000000"/>
                </a:solidFill>
              </a:endParaRPr>
            </a:p>
          </p:txBody>
        </p:sp>
        <p:sp>
          <p:nvSpPr>
            <p:cNvPr id="26" name="Text Box 74" descr="© INSCALE GmbH, 26.05.2010&#10;http://www.presentationload.com/"/>
            <p:cNvSpPr txBox="1">
              <a:spLocks noChangeArrowheads="1"/>
            </p:cNvSpPr>
            <p:nvPr/>
          </p:nvSpPr>
          <p:spPr bwMode="gray">
            <a:xfrm>
              <a:off x="12453822"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dirty="0"/>
                <a:t>定向转让</a:t>
              </a:r>
              <a:endParaRPr lang="de-DE" sz="2400" noProof="1">
                <a:solidFill>
                  <a:srgbClr val="000000"/>
                </a:solidFill>
              </a:endParaRPr>
            </a:p>
          </p:txBody>
        </p:sp>
        <p:sp>
          <p:nvSpPr>
            <p:cNvPr id="27" name="Text Box 70" descr="© INSCALE GmbH, 26.05.2010&#10;http://www.presentationload.com/"/>
            <p:cNvSpPr txBox="1">
              <a:spLocks noChangeArrowheads="1"/>
            </p:cNvSpPr>
            <p:nvPr/>
          </p:nvSpPr>
          <p:spPr bwMode="gray">
            <a:xfrm>
              <a:off x="4819366" y="2205060"/>
              <a:ext cx="1807047" cy="999998"/>
            </a:xfrm>
            <a:prstGeom prst="rect">
              <a:avLst/>
            </a:prstGeom>
            <a:noFill/>
            <a:ln w="9525">
              <a:noFill/>
              <a:miter lim="800000"/>
              <a:headEnd/>
              <a:tailEnd/>
            </a:ln>
            <a:effectLst/>
          </p:spPr>
          <p:txBody>
            <a:bodyPr anchor="ctr"/>
            <a:lstStyle/>
            <a:p>
              <a:pPr algn="ctr">
                <a:spcBef>
                  <a:spcPct val="50000"/>
                </a:spcBef>
              </a:pPr>
              <a:r>
                <a:rPr lang="zh-CN" altLang="en-US" sz="2400" dirty="0"/>
                <a:t>投资人回售</a:t>
              </a:r>
              <a:endParaRPr lang="de-DE" sz="2400" noProof="1"/>
            </a:p>
          </p:txBody>
        </p:sp>
        <p:sp>
          <p:nvSpPr>
            <p:cNvPr id="29" name="Rectangle 65" descr="© INSCALE GmbH, 26.05.2010&#10;http://www.presentationload.com/">
              <a:extLst>
                <a:ext uri="{FF2B5EF4-FFF2-40B4-BE49-F238E27FC236}">
                  <a16:creationId xmlns:a16="http://schemas.microsoft.com/office/drawing/2014/main" id="{419319D0-9346-434E-83DF-0982A595F022}"/>
                </a:ext>
              </a:extLst>
            </p:cNvPr>
            <p:cNvSpPr>
              <a:spLocks noChangeArrowheads="1"/>
            </p:cNvSpPr>
            <p:nvPr/>
          </p:nvSpPr>
          <p:spPr bwMode="gray">
            <a:xfrm>
              <a:off x="6428161" y="3640599"/>
              <a:ext cx="3723008" cy="510765"/>
            </a:xfrm>
            <a:prstGeom prst="rect">
              <a:avLst/>
            </a:prstGeom>
            <a:solidFill>
              <a:srgbClr val="00B0F0"/>
            </a:solidFill>
            <a:ln w="12700" algn="ctr">
              <a:solidFill>
                <a:schemeClr val="bg1"/>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条款要素</a:t>
              </a:r>
              <a:endParaRPr lang="de-DE" sz="2400" b="1" noProof="1">
                <a:solidFill>
                  <a:schemeClr val="bg1"/>
                </a:solidFill>
                <a:latin typeface="Calibri" pitchFamily="34" charset="0"/>
              </a:endParaRPr>
            </a:p>
          </p:txBody>
        </p:sp>
        <p:sp>
          <p:nvSpPr>
            <p:cNvPr id="30" name="Rectangle 5" descr="© INSCALE GmbH, 26.05.2010&#10;http://www.presentationload.com/">
              <a:extLst>
                <a:ext uri="{FF2B5EF4-FFF2-40B4-BE49-F238E27FC236}">
                  <a16:creationId xmlns:a16="http://schemas.microsoft.com/office/drawing/2014/main" id="{F9541BC0-D698-4F5D-8C14-ACAC1BA65D63}"/>
                </a:ext>
              </a:extLst>
            </p:cNvPr>
            <p:cNvSpPr>
              <a:spLocks noChangeArrowheads="1"/>
            </p:cNvSpPr>
            <p:nvPr/>
          </p:nvSpPr>
          <p:spPr bwMode="gray">
            <a:xfrm>
              <a:off x="6428161" y="4151362"/>
              <a:ext cx="3723008" cy="3867854"/>
            </a:xfrm>
            <a:prstGeom prst="rect">
              <a:avLst/>
            </a:prstGeom>
            <a:solidFill>
              <a:schemeClr val="bg1">
                <a:lumMod val="95000"/>
              </a:schemeClr>
            </a:solidFill>
            <a:ln w="12700" algn="ctr">
              <a:solidFill>
                <a:schemeClr val="bg1"/>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342900" indent="-342900">
                <a:buFont typeface="Arial" panose="020B0604020202020204" pitchFamily="34" charset="0"/>
                <a:buChar char="•"/>
              </a:pPr>
              <a:r>
                <a:rPr lang="zh-CN" altLang="en-US" sz="2400" dirty="0"/>
                <a:t>上调利率：当触发回售条款的事件时，发行人提高票面利率来促使理性的投资者放弃回售权</a:t>
              </a:r>
              <a:endParaRPr lang="en-US" altLang="zh-CN" sz="2400" dirty="0"/>
            </a:p>
            <a:p>
              <a:pPr marL="342900" indent="-342900">
                <a:buFont typeface="Arial" panose="020B0604020202020204" pitchFamily="34" charset="0"/>
                <a:buChar char="•"/>
              </a:pPr>
              <a:endParaRPr lang="zh-CN" altLang="en-US" sz="2400" dirty="0"/>
            </a:p>
            <a:p>
              <a:pPr marL="342900" indent="-342900">
                <a:buFont typeface="Arial" panose="020B0604020202020204" pitchFamily="34" charset="0"/>
                <a:buChar char="•"/>
              </a:pPr>
              <a:r>
                <a:rPr lang="zh-CN" altLang="en-US" sz="2400" dirty="0"/>
                <a:t>不调整利率：节约成本考虑倾向于提前还款，不会选择上调利率而增加成本</a:t>
              </a:r>
              <a:endParaRPr lang="en-US" altLang="zh-CN" sz="2400" dirty="0"/>
            </a:p>
            <a:p>
              <a:pPr marL="342900" indent="-342900">
                <a:buFont typeface="Arial" panose="020B0604020202020204" pitchFamily="34" charset="0"/>
                <a:buChar char="•"/>
              </a:pPr>
              <a:endParaRPr lang="zh-CN" altLang="en-US" sz="2400" dirty="0"/>
            </a:p>
            <a:p>
              <a:pPr marL="342900" indent="-342900">
                <a:buFont typeface="Arial" panose="020B0604020202020204" pitchFamily="34" charset="0"/>
                <a:buChar char="•"/>
              </a:pPr>
              <a:r>
                <a:rPr lang="zh-CN" altLang="en-US" sz="2400" dirty="0"/>
                <a:t>下调利率：对于资质好的主体，评级上调，或资产荒等情况，选择下调利率降低成本</a:t>
              </a:r>
            </a:p>
          </p:txBody>
        </p:sp>
      </p:grpSp>
    </p:spTree>
    <p:extLst>
      <p:ext uri="{BB962C8B-B14F-4D97-AF65-F5344CB8AC3E}">
        <p14:creationId xmlns:p14="http://schemas.microsoft.com/office/powerpoint/2010/main" val="1022246143"/>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5" name="Rectangle 5" descr="© INSCALE GmbH, 26.05.2010&#10;http://www.presentationload.com/"/>
          <p:cNvSpPr>
            <a:spLocks noGrp="1" noChangeArrowheads="1"/>
          </p:cNvSpPr>
          <p:nvPr>
            <p:ph type="title"/>
          </p:nvPr>
        </p:nvSpPr>
        <p:spPr/>
        <p:txBody>
          <a:bodyPr/>
          <a:lstStyle/>
          <a:p>
            <a:r>
              <a:rPr lang="zh-CN" altLang="en-US" dirty="0"/>
              <a:t>权利条款</a:t>
            </a:r>
            <a:endParaRPr lang="de-DE" noProof="1"/>
          </a:p>
        </p:txBody>
      </p:sp>
      <p:grpSp>
        <p:nvGrpSpPr>
          <p:cNvPr id="5" name="组合 4">
            <a:extLst>
              <a:ext uri="{FF2B5EF4-FFF2-40B4-BE49-F238E27FC236}">
                <a16:creationId xmlns:a16="http://schemas.microsoft.com/office/drawing/2014/main" id="{256BA919-4F17-462A-ADEB-7660ABD593BB}"/>
              </a:ext>
            </a:extLst>
          </p:cNvPr>
          <p:cNvGrpSpPr/>
          <p:nvPr/>
        </p:nvGrpSpPr>
        <p:grpSpPr>
          <a:xfrm>
            <a:off x="949497" y="2202810"/>
            <a:ext cx="15378696" cy="7293616"/>
            <a:chOff x="2618807" y="2202810"/>
            <a:chExt cx="12042325" cy="6023412"/>
          </a:xfrm>
        </p:grpSpPr>
        <p:sp>
          <p:nvSpPr>
            <p:cNvPr id="297001" name="Freeform 41" descr="© INSCALE GmbH, 26.05.2010&#10;http://www.presentationload.com/"/>
            <p:cNvSpPr>
              <a:spLocks/>
            </p:cNvSpPr>
            <p:nvPr/>
          </p:nvSpPr>
          <p:spPr bwMode="gray">
            <a:xfrm>
              <a:off x="12138815" y="2202810"/>
              <a:ext cx="2522317"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7000" name="Freeform 40" descr="© INSCALE GmbH, 26.05.2010&#10;http://www.presentationload.com/"/>
            <p:cNvSpPr>
              <a:spLocks/>
            </p:cNvSpPr>
            <p:nvPr/>
          </p:nvSpPr>
          <p:spPr bwMode="gray">
            <a:xfrm>
              <a:off x="10244264" y="2202810"/>
              <a:ext cx="2522317"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9" name="Freeform 39" descr="© INSCALE GmbH, 26.05.2010&#10;http://www.presentationload.com/"/>
            <p:cNvSpPr>
              <a:spLocks/>
            </p:cNvSpPr>
            <p:nvPr/>
          </p:nvSpPr>
          <p:spPr bwMode="gray">
            <a:xfrm>
              <a:off x="8282216" y="2202810"/>
              <a:ext cx="2574065"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rgbClr val="00B0F0"/>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8" name="Freeform 38" descr="© INSCALE GmbH, 26.05.2010&#10;http://www.presentationload.com/"/>
            <p:cNvSpPr>
              <a:spLocks/>
            </p:cNvSpPr>
            <p:nvPr/>
          </p:nvSpPr>
          <p:spPr bwMode="gray">
            <a:xfrm>
              <a:off x="6428161" y="2202810"/>
              <a:ext cx="2522317"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6" name="Freeform 36" descr="© INSCALE GmbH, 26.05.2010&#10;http://www.presentationload.com/"/>
            <p:cNvSpPr>
              <a:spLocks/>
            </p:cNvSpPr>
            <p:nvPr/>
          </p:nvSpPr>
          <p:spPr bwMode="gray">
            <a:xfrm>
              <a:off x="2623306" y="2202810"/>
              <a:ext cx="2522319"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7" name="Freeform 37" descr="© INSCALE GmbH, 26.05.2010&#10;http://www.presentationload.com/"/>
            <p:cNvSpPr>
              <a:spLocks/>
            </p:cNvSpPr>
            <p:nvPr/>
          </p:nvSpPr>
          <p:spPr bwMode="gray">
            <a:xfrm>
              <a:off x="4529110" y="2226590"/>
              <a:ext cx="2522317"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chemeClr val="bg1">
                <a:lumMod val="95000"/>
              </a:schemeClr>
            </a:solidFill>
            <a:ln w="9525" cap="flat" cmpd="sng">
              <a:noFill/>
              <a:prstDash val="solid"/>
              <a:round/>
              <a:headEnd/>
              <a:tailEnd/>
            </a:ln>
            <a:effectLst>
              <a:outerShdw blurRad="50800" dist="38100" dir="2700000" algn="tl" rotWithShape="0">
                <a:prstClr val="black">
                  <a:alpha val="40000"/>
                </a:prst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64" name="AutoShape 4" descr="© INSCALE GmbH, 26.05.2010&#10;http://www.presentationload.com/"/>
            <p:cNvSpPr>
              <a:spLocks noChangeArrowheads="1"/>
            </p:cNvSpPr>
            <p:nvPr/>
          </p:nvSpPr>
          <p:spPr bwMode="gray">
            <a:xfrm>
              <a:off x="2618807" y="3228838"/>
              <a:ext cx="12042325" cy="4997384"/>
            </a:xfrm>
            <a:prstGeom prst="roundRect">
              <a:avLst>
                <a:gd name="adj" fmla="val 1838"/>
              </a:avLst>
            </a:prstGeom>
            <a:solidFill>
              <a:schemeClr val="bg1"/>
            </a:solidFill>
            <a:ln w="19050" algn="ctr">
              <a:solidFill>
                <a:srgbClr val="C00000"/>
              </a:solidFill>
              <a:round/>
              <a:headEnd/>
              <a:tailEnd/>
            </a:ln>
            <a:effectLst/>
          </p:spPr>
          <p:txBody>
            <a:bodyPr/>
            <a:lstStyle/>
            <a:p>
              <a:endParaRPr lang="de-DE" sz="2400">
                <a:solidFill>
                  <a:srgbClr val="000000"/>
                </a:solidFill>
              </a:endParaRPr>
            </a:p>
          </p:txBody>
        </p:sp>
        <p:sp>
          <p:nvSpPr>
            <p:cNvPr id="297023" name="Rectangle 63" descr="© INSCALE GmbH, 26.05.2010&#10;http://www.presentationload.com/"/>
            <p:cNvSpPr>
              <a:spLocks noChangeArrowheads="1"/>
            </p:cNvSpPr>
            <p:nvPr/>
          </p:nvSpPr>
          <p:spPr bwMode="gray">
            <a:xfrm>
              <a:off x="10422826" y="3640599"/>
              <a:ext cx="4020050" cy="510765"/>
            </a:xfrm>
            <a:prstGeom prst="rect">
              <a:avLst/>
            </a:prstGeom>
            <a:solidFill>
              <a:srgbClr val="00B050"/>
            </a:solidFill>
            <a:ln w="12700" algn="ctr">
              <a:solidFill>
                <a:srgbClr val="C0C0C0"/>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可能影响</a:t>
              </a:r>
              <a:endParaRPr lang="de-DE" sz="2400" b="1" noProof="1">
                <a:solidFill>
                  <a:schemeClr val="bg1"/>
                </a:solidFill>
                <a:latin typeface="Calibri" pitchFamily="34" charset="0"/>
              </a:endParaRPr>
            </a:p>
          </p:txBody>
        </p:sp>
        <p:sp>
          <p:nvSpPr>
            <p:cNvPr id="297024" name="Rectangle 5" descr="© INSCALE GmbH, 26.05.2010&#10;http://www.presentationload.com/"/>
            <p:cNvSpPr>
              <a:spLocks noChangeArrowheads="1"/>
            </p:cNvSpPr>
            <p:nvPr/>
          </p:nvSpPr>
          <p:spPr bwMode="gray">
            <a:xfrm>
              <a:off x="10422826" y="4151362"/>
              <a:ext cx="4020049" cy="3867854"/>
            </a:xfrm>
            <a:prstGeom prst="rect">
              <a:avLst/>
            </a:prstGeom>
            <a:solidFill>
              <a:schemeClr val="bg1">
                <a:lumMod val="95000"/>
              </a:schemeClr>
            </a:solidFill>
            <a:ln w="12700">
              <a:solidFill>
                <a:srgbClr val="DDDDDD"/>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457200" indent="-457200">
                <a:buFont typeface="Arial" panose="020B0604020202020204" pitchFamily="34" charset="0"/>
                <a:buChar char="•"/>
              </a:pPr>
              <a:r>
                <a:rPr lang="zh-CN" altLang="en-US" sz="2400" dirty="0">
                  <a:latin typeface="+mn-ea"/>
                </a:rPr>
                <a:t>对发行人有利。当预期利率下行时，发行人提前偿还高利率债券，再发行低利率债券，可降低融资成本。同时选择分期偿还债券本金也有利于减轻发行人的偿债压力。</a:t>
              </a:r>
              <a:endParaRPr lang="en-US" altLang="zh-CN" sz="2400" dirty="0">
                <a:latin typeface="+mn-ea"/>
              </a:endParaRPr>
            </a:p>
            <a:p>
              <a:pPr marL="457200" indent="-457200">
                <a:buFont typeface="Arial" panose="020B0604020202020204" pitchFamily="34" charset="0"/>
                <a:buChar char="•"/>
              </a:pPr>
              <a:endParaRPr lang="zh-CN" altLang="en-US" sz="2400" dirty="0">
                <a:latin typeface="+mn-ea"/>
              </a:endParaRPr>
            </a:p>
            <a:p>
              <a:pPr marL="457200" indent="-457200">
                <a:buFont typeface="Arial" panose="020B0604020202020204" pitchFamily="34" charset="0"/>
                <a:buChar char="•"/>
              </a:pPr>
              <a:r>
                <a:rPr lang="zh-CN" altLang="en-US" sz="2400" dirty="0">
                  <a:latin typeface="+mn-ea"/>
                </a:rPr>
                <a:t>对投资者不利。当利率下降时，投资者会面临再投资风险，其次债券的期限可能缩短，也减少了债券资本利得的潜力。</a:t>
              </a:r>
            </a:p>
          </p:txBody>
        </p:sp>
        <p:sp>
          <p:nvSpPr>
            <p:cNvPr id="297025" name="Rectangle 65" descr="© INSCALE GmbH, 26.05.2010&#10;http://www.presentationload.com/"/>
            <p:cNvSpPr>
              <a:spLocks noChangeArrowheads="1"/>
            </p:cNvSpPr>
            <p:nvPr/>
          </p:nvSpPr>
          <p:spPr bwMode="gray">
            <a:xfrm>
              <a:off x="2821312" y="3640599"/>
              <a:ext cx="3388591" cy="510765"/>
            </a:xfrm>
            <a:prstGeom prst="rect">
              <a:avLst/>
            </a:prstGeom>
            <a:solidFill>
              <a:schemeClr val="accent5"/>
            </a:solidFill>
            <a:ln w="12700" algn="ctr">
              <a:solidFill>
                <a:srgbClr val="C0C0C0"/>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条款性质</a:t>
              </a:r>
              <a:endParaRPr lang="de-DE" sz="2400" b="1" noProof="1">
                <a:solidFill>
                  <a:schemeClr val="bg1"/>
                </a:solidFill>
                <a:latin typeface="Calibri" pitchFamily="34" charset="0"/>
              </a:endParaRPr>
            </a:p>
          </p:txBody>
        </p:sp>
        <p:sp>
          <p:nvSpPr>
            <p:cNvPr id="297026" name="Rectangle 5" descr="© INSCALE GmbH, 26.05.2010&#10;http://www.presentationload.com/"/>
            <p:cNvSpPr>
              <a:spLocks noChangeArrowheads="1"/>
            </p:cNvSpPr>
            <p:nvPr/>
          </p:nvSpPr>
          <p:spPr bwMode="gray">
            <a:xfrm>
              <a:off x="2821313" y="4151362"/>
              <a:ext cx="3388592" cy="3867854"/>
            </a:xfrm>
            <a:prstGeom prst="rect">
              <a:avLst/>
            </a:prstGeom>
            <a:solidFill>
              <a:schemeClr val="bg1">
                <a:lumMod val="95000"/>
              </a:schemeClr>
            </a:solidFill>
            <a:ln w="12700" algn="ctr">
              <a:solidFill>
                <a:srgbClr val="DDDDDD"/>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342900" indent="-342900">
                <a:buFont typeface="Arial" panose="020B0604020202020204" pitchFamily="34" charset="0"/>
                <a:buChar char="•"/>
              </a:pPr>
              <a:r>
                <a:rPr lang="zh-CN" altLang="en-US" sz="2400" dirty="0">
                  <a:latin typeface="+mn-ea"/>
                </a:rPr>
                <a:t>指发行人在约定时点至债券到期日之间，每年年末提前偿还一定比例的本金，提前偿还的本金不再计息。</a:t>
              </a:r>
            </a:p>
          </p:txBody>
        </p:sp>
        <p:sp>
          <p:nvSpPr>
            <p:cNvPr id="22" name="Text Box 69" descr="© INSCALE GmbH, 26.05.2010&#10;http://www.presentationload.com/"/>
            <p:cNvSpPr txBox="1">
              <a:spLocks noChangeArrowheads="1"/>
            </p:cNvSpPr>
            <p:nvPr/>
          </p:nvSpPr>
          <p:spPr bwMode="gray">
            <a:xfrm>
              <a:off x="2947315" y="2205060"/>
              <a:ext cx="1769356" cy="1023778"/>
            </a:xfrm>
            <a:prstGeom prst="rect">
              <a:avLst/>
            </a:prstGeom>
            <a:noFill/>
            <a:ln w="9525">
              <a:noFill/>
              <a:miter lim="800000"/>
              <a:headEnd/>
              <a:tailEnd/>
            </a:ln>
            <a:effectLst/>
          </p:spPr>
          <p:txBody>
            <a:bodyPr anchor="ctr"/>
            <a:lstStyle/>
            <a:p>
              <a:pPr algn="ctr">
                <a:spcBef>
                  <a:spcPct val="50000"/>
                </a:spcBef>
              </a:pPr>
              <a:r>
                <a:rPr lang="zh-CN" altLang="en-US" sz="2400" dirty="0"/>
                <a:t>发行人赎回</a:t>
              </a:r>
              <a:endParaRPr lang="de-DE" sz="2400" noProof="1"/>
            </a:p>
          </p:txBody>
        </p:sp>
        <p:sp>
          <p:nvSpPr>
            <p:cNvPr id="23" name="Text Box 71" descr="© INSCALE GmbH, 26.05.2010&#10;http://www.presentationload.com/"/>
            <p:cNvSpPr txBox="1">
              <a:spLocks noChangeArrowheads="1"/>
            </p:cNvSpPr>
            <p:nvPr/>
          </p:nvSpPr>
          <p:spPr bwMode="gray">
            <a:xfrm>
              <a:off x="6758918" y="2205060"/>
              <a:ext cx="1807047" cy="1023778"/>
            </a:xfrm>
            <a:prstGeom prst="rect">
              <a:avLst/>
            </a:prstGeom>
            <a:noFill/>
            <a:ln w="9525">
              <a:noFill/>
              <a:miter lim="800000"/>
              <a:headEnd/>
              <a:tailEnd/>
            </a:ln>
            <a:effectLst/>
          </p:spPr>
          <p:txBody>
            <a:bodyPr anchor="ctr"/>
            <a:lstStyle/>
            <a:p>
              <a:pPr algn="ctr">
                <a:spcBef>
                  <a:spcPct val="50000"/>
                </a:spcBef>
              </a:pPr>
              <a:r>
                <a:rPr lang="zh-CN" altLang="en-US" sz="2400" dirty="0"/>
                <a:t>票面利率调整</a:t>
              </a:r>
              <a:endParaRPr lang="de-DE" sz="2400" noProof="1"/>
            </a:p>
          </p:txBody>
        </p:sp>
        <p:sp>
          <p:nvSpPr>
            <p:cNvPr id="24" name="Text Box 72" descr="© INSCALE GmbH, 26.05.2010&#10;http://www.presentationload.com/"/>
            <p:cNvSpPr txBox="1">
              <a:spLocks noChangeArrowheads="1"/>
            </p:cNvSpPr>
            <p:nvPr/>
          </p:nvSpPr>
          <p:spPr bwMode="gray">
            <a:xfrm>
              <a:off x="8642220"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b="1" dirty="0">
                  <a:solidFill>
                    <a:schemeClr val="bg1"/>
                  </a:solidFill>
                </a:rPr>
                <a:t>提前偿还</a:t>
              </a:r>
              <a:endParaRPr lang="de-DE" sz="2400" b="1" noProof="1">
                <a:solidFill>
                  <a:schemeClr val="bg1"/>
                </a:solidFill>
              </a:endParaRPr>
            </a:p>
          </p:txBody>
        </p:sp>
        <p:sp>
          <p:nvSpPr>
            <p:cNvPr id="25" name="Text Box 73" descr="© INSCALE GmbH, 26.05.2010&#10;http://www.presentationload.com/"/>
            <p:cNvSpPr txBox="1">
              <a:spLocks noChangeArrowheads="1"/>
            </p:cNvSpPr>
            <p:nvPr/>
          </p:nvSpPr>
          <p:spPr bwMode="gray">
            <a:xfrm>
              <a:off x="10570521"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dirty="0"/>
                <a:t>延期支付</a:t>
              </a:r>
              <a:endParaRPr lang="de-DE" sz="2400" noProof="1">
                <a:solidFill>
                  <a:srgbClr val="000000"/>
                </a:solidFill>
              </a:endParaRPr>
            </a:p>
          </p:txBody>
        </p:sp>
        <p:sp>
          <p:nvSpPr>
            <p:cNvPr id="26" name="Text Box 74" descr="© INSCALE GmbH, 26.05.2010&#10;http://www.presentationload.com/"/>
            <p:cNvSpPr txBox="1">
              <a:spLocks noChangeArrowheads="1"/>
            </p:cNvSpPr>
            <p:nvPr/>
          </p:nvSpPr>
          <p:spPr bwMode="gray">
            <a:xfrm>
              <a:off x="12453822"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dirty="0"/>
                <a:t>定向转让</a:t>
              </a:r>
              <a:endParaRPr lang="de-DE" sz="2400" noProof="1">
                <a:solidFill>
                  <a:srgbClr val="000000"/>
                </a:solidFill>
              </a:endParaRPr>
            </a:p>
          </p:txBody>
        </p:sp>
        <p:sp>
          <p:nvSpPr>
            <p:cNvPr id="27" name="Text Box 70" descr="© INSCALE GmbH, 26.05.2010&#10;http://www.presentationload.com/"/>
            <p:cNvSpPr txBox="1">
              <a:spLocks noChangeArrowheads="1"/>
            </p:cNvSpPr>
            <p:nvPr/>
          </p:nvSpPr>
          <p:spPr bwMode="gray">
            <a:xfrm>
              <a:off x="4819366" y="2205060"/>
              <a:ext cx="1807047" cy="999998"/>
            </a:xfrm>
            <a:prstGeom prst="rect">
              <a:avLst/>
            </a:prstGeom>
            <a:noFill/>
            <a:ln w="9525">
              <a:noFill/>
              <a:miter lim="800000"/>
              <a:headEnd/>
              <a:tailEnd/>
            </a:ln>
            <a:effectLst/>
          </p:spPr>
          <p:txBody>
            <a:bodyPr anchor="ctr"/>
            <a:lstStyle/>
            <a:p>
              <a:pPr algn="ctr">
                <a:spcBef>
                  <a:spcPct val="50000"/>
                </a:spcBef>
              </a:pPr>
              <a:r>
                <a:rPr lang="zh-CN" altLang="en-US" sz="2400" dirty="0"/>
                <a:t>投资人回售</a:t>
              </a:r>
              <a:endParaRPr lang="de-DE" sz="2400" noProof="1"/>
            </a:p>
          </p:txBody>
        </p:sp>
        <p:sp>
          <p:nvSpPr>
            <p:cNvPr id="29" name="Rectangle 65" descr="© INSCALE GmbH, 26.05.2010&#10;http://www.presentationload.com/">
              <a:extLst>
                <a:ext uri="{FF2B5EF4-FFF2-40B4-BE49-F238E27FC236}">
                  <a16:creationId xmlns:a16="http://schemas.microsoft.com/office/drawing/2014/main" id="{419319D0-9346-434E-83DF-0982A595F022}"/>
                </a:ext>
              </a:extLst>
            </p:cNvPr>
            <p:cNvSpPr>
              <a:spLocks noChangeArrowheads="1"/>
            </p:cNvSpPr>
            <p:nvPr/>
          </p:nvSpPr>
          <p:spPr bwMode="gray">
            <a:xfrm>
              <a:off x="6428161" y="3640599"/>
              <a:ext cx="3723008" cy="510765"/>
            </a:xfrm>
            <a:prstGeom prst="rect">
              <a:avLst/>
            </a:prstGeom>
            <a:solidFill>
              <a:srgbClr val="00B0F0"/>
            </a:solidFill>
            <a:ln w="12700" algn="ctr">
              <a:solidFill>
                <a:schemeClr val="bg1"/>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条款要素</a:t>
              </a:r>
              <a:endParaRPr lang="de-DE" sz="2400" b="1" noProof="1">
                <a:solidFill>
                  <a:schemeClr val="bg1"/>
                </a:solidFill>
                <a:latin typeface="Calibri" pitchFamily="34" charset="0"/>
              </a:endParaRPr>
            </a:p>
          </p:txBody>
        </p:sp>
        <p:sp>
          <p:nvSpPr>
            <p:cNvPr id="30" name="Rectangle 5" descr="© INSCALE GmbH, 26.05.2010&#10;http://www.presentationload.com/">
              <a:extLst>
                <a:ext uri="{FF2B5EF4-FFF2-40B4-BE49-F238E27FC236}">
                  <a16:creationId xmlns:a16="http://schemas.microsoft.com/office/drawing/2014/main" id="{F9541BC0-D698-4F5D-8C14-ACAC1BA65D63}"/>
                </a:ext>
              </a:extLst>
            </p:cNvPr>
            <p:cNvSpPr>
              <a:spLocks noChangeArrowheads="1"/>
            </p:cNvSpPr>
            <p:nvPr/>
          </p:nvSpPr>
          <p:spPr bwMode="gray">
            <a:xfrm>
              <a:off x="6428161" y="4151362"/>
              <a:ext cx="3723008" cy="3867854"/>
            </a:xfrm>
            <a:prstGeom prst="rect">
              <a:avLst/>
            </a:prstGeom>
            <a:solidFill>
              <a:schemeClr val="bg1">
                <a:lumMod val="95000"/>
              </a:schemeClr>
            </a:solidFill>
            <a:ln w="12700" algn="ctr">
              <a:solidFill>
                <a:schemeClr val="bg1"/>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342900" indent="-342900">
                <a:buFont typeface="Arial" panose="020B0604020202020204" pitchFamily="34" charset="0"/>
                <a:buChar char="•"/>
              </a:pPr>
              <a:r>
                <a:rPr lang="zh-CN" altLang="en-US" sz="2400" dirty="0">
                  <a:latin typeface="+mn-ea"/>
                </a:rPr>
                <a:t>提前偿还的日期</a:t>
              </a:r>
              <a:endParaRPr lang="en-US" altLang="zh-CN" sz="2400" dirty="0">
                <a:latin typeface="+mn-ea"/>
              </a:endParaRPr>
            </a:p>
            <a:p>
              <a:pPr marL="342900" indent="-342900">
                <a:buFont typeface="Arial" panose="020B0604020202020204" pitchFamily="34" charset="0"/>
                <a:buChar char="•"/>
              </a:pPr>
              <a:endParaRPr lang="zh-CN" altLang="en-US" sz="2400" dirty="0">
                <a:latin typeface="+mn-ea"/>
              </a:endParaRPr>
            </a:p>
            <a:p>
              <a:pPr marL="342900" indent="-342900">
                <a:buFont typeface="Arial" panose="020B0604020202020204" pitchFamily="34" charset="0"/>
                <a:buChar char="•"/>
              </a:pPr>
              <a:r>
                <a:rPr lang="zh-CN" altLang="en-US" sz="2400" dirty="0">
                  <a:latin typeface="+mn-ea"/>
                </a:rPr>
                <a:t>提前偿还本金的比例</a:t>
              </a:r>
            </a:p>
          </p:txBody>
        </p:sp>
      </p:grpSp>
    </p:spTree>
    <p:extLst>
      <p:ext uri="{BB962C8B-B14F-4D97-AF65-F5344CB8AC3E}">
        <p14:creationId xmlns:p14="http://schemas.microsoft.com/office/powerpoint/2010/main" val="1530854470"/>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5" name="Rectangle 5" descr="© INSCALE GmbH, 26.05.2010&#10;http://www.presentationload.com/"/>
          <p:cNvSpPr>
            <a:spLocks noGrp="1" noChangeArrowheads="1"/>
          </p:cNvSpPr>
          <p:nvPr>
            <p:ph type="title"/>
          </p:nvPr>
        </p:nvSpPr>
        <p:spPr/>
        <p:txBody>
          <a:bodyPr/>
          <a:lstStyle/>
          <a:p>
            <a:r>
              <a:rPr lang="zh-CN" altLang="en-US" dirty="0"/>
              <a:t>权利条款</a:t>
            </a:r>
            <a:endParaRPr lang="de-DE" noProof="1"/>
          </a:p>
        </p:txBody>
      </p:sp>
      <p:grpSp>
        <p:nvGrpSpPr>
          <p:cNvPr id="5" name="组合 4">
            <a:extLst>
              <a:ext uri="{FF2B5EF4-FFF2-40B4-BE49-F238E27FC236}">
                <a16:creationId xmlns:a16="http://schemas.microsoft.com/office/drawing/2014/main" id="{256BA919-4F17-462A-ADEB-7660ABD593BB}"/>
              </a:ext>
            </a:extLst>
          </p:cNvPr>
          <p:cNvGrpSpPr/>
          <p:nvPr/>
        </p:nvGrpSpPr>
        <p:grpSpPr>
          <a:xfrm>
            <a:off x="949497" y="2202810"/>
            <a:ext cx="15378696" cy="7322412"/>
            <a:chOff x="2618807" y="2202810"/>
            <a:chExt cx="12042325" cy="6047193"/>
          </a:xfrm>
        </p:grpSpPr>
        <p:sp>
          <p:nvSpPr>
            <p:cNvPr id="297001" name="Freeform 41" descr="© INSCALE GmbH, 26.05.2010&#10;http://www.presentationload.com/"/>
            <p:cNvSpPr>
              <a:spLocks/>
            </p:cNvSpPr>
            <p:nvPr/>
          </p:nvSpPr>
          <p:spPr bwMode="gray">
            <a:xfrm>
              <a:off x="12138815" y="2202810"/>
              <a:ext cx="2522317"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7000" name="Freeform 40" descr="© INSCALE GmbH, 26.05.2010&#10;http://www.presentationload.com/"/>
            <p:cNvSpPr>
              <a:spLocks/>
            </p:cNvSpPr>
            <p:nvPr/>
          </p:nvSpPr>
          <p:spPr bwMode="gray">
            <a:xfrm>
              <a:off x="10244264" y="2202810"/>
              <a:ext cx="2522317"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rgbClr val="00B0F0"/>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9" name="Freeform 39" descr="© INSCALE GmbH, 26.05.2010&#10;http://www.presentationload.com/"/>
            <p:cNvSpPr>
              <a:spLocks/>
            </p:cNvSpPr>
            <p:nvPr/>
          </p:nvSpPr>
          <p:spPr bwMode="gray">
            <a:xfrm>
              <a:off x="8282216" y="2202810"/>
              <a:ext cx="2574065"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8" name="Freeform 38" descr="© INSCALE GmbH, 26.05.2010&#10;http://www.presentationload.com/"/>
            <p:cNvSpPr>
              <a:spLocks/>
            </p:cNvSpPr>
            <p:nvPr/>
          </p:nvSpPr>
          <p:spPr bwMode="gray">
            <a:xfrm>
              <a:off x="6428161" y="2202810"/>
              <a:ext cx="2522317"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6" name="Freeform 36" descr="© INSCALE GmbH, 26.05.2010&#10;http://www.presentationload.com/"/>
            <p:cNvSpPr>
              <a:spLocks/>
            </p:cNvSpPr>
            <p:nvPr/>
          </p:nvSpPr>
          <p:spPr bwMode="gray">
            <a:xfrm>
              <a:off x="2623306" y="2202810"/>
              <a:ext cx="2522319"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7" name="Freeform 37" descr="© INSCALE GmbH, 26.05.2010&#10;http://www.presentationload.com/"/>
            <p:cNvSpPr>
              <a:spLocks/>
            </p:cNvSpPr>
            <p:nvPr/>
          </p:nvSpPr>
          <p:spPr bwMode="gray">
            <a:xfrm>
              <a:off x="4529110" y="2226590"/>
              <a:ext cx="2522317"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chemeClr val="bg1">
                <a:lumMod val="95000"/>
              </a:schemeClr>
            </a:solidFill>
            <a:ln w="9525" cap="flat" cmpd="sng">
              <a:noFill/>
              <a:prstDash val="solid"/>
              <a:round/>
              <a:headEnd/>
              <a:tailEnd/>
            </a:ln>
            <a:effectLst>
              <a:outerShdw blurRad="50800" dist="38100" dir="2700000" algn="tl" rotWithShape="0">
                <a:prstClr val="black">
                  <a:alpha val="40000"/>
                </a:prst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64" name="AutoShape 4" descr="© INSCALE GmbH, 26.05.2010&#10;http://www.presentationload.com/"/>
            <p:cNvSpPr>
              <a:spLocks noChangeArrowheads="1"/>
            </p:cNvSpPr>
            <p:nvPr/>
          </p:nvSpPr>
          <p:spPr bwMode="gray">
            <a:xfrm>
              <a:off x="2618807" y="3228838"/>
              <a:ext cx="12042325" cy="4997384"/>
            </a:xfrm>
            <a:prstGeom prst="roundRect">
              <a:avLst>
                <a:gd name="adj" fmla="val 1838"/>
              </a:avLst>
            </a:prstGeom>
            <a:solidFill>
              <a:schemeClr val="bg1"/>
            </a:solidFill>
            <a:ln w="19050" algn="ctr">
              <a:solidFill>
                <a:srgbClr val="C00000"/>
              </a:solidFill>
              <a:round/>
              <a:headEnd/>
              <a:tailEnd/>
            </a:ln>
            <a:effectLst/>
          </p:spPr>
          <p:txBody>
            <a:bodyPr/>
            <a:lstStyle/>
            <a:p>
              <a:endParaRPr lang="de-DE" sz="2400">
                <a:solidFill>
                  <a:srgbClr val="000000"/>
                </a:solidFill>
              </a:endParaRPr>
            </a:p>
          </p:txBody>
        </p:sp>
        <p:sp>
          <p:nvSpPr>
            <p:cNvPr id="297023" name="Rectangle 63" descr="© INSCALE GmbH, 26.05.2010&#10;http://www.presentationload.com/"/>
            <p:cNvSpPr>
              <a:spLocks noChangeArrowheads="1"/>
            </p:cNvSpPr>
            <p:nvPr/>
          </p:nvSpPr>
          <p:spPr bwMode="gray">
            <a:xfrm>
              <a:off x="11784549" y="3640599"/>
              <a:ext cx="2658327" cy="510765"/>
            </a:xfrm>
            <a:prstGeom prst="rect">
              <a:avLst/>
            </a:prstGeom>
            <a:solidFill>
              <a:srgbClr val="00B050"/>
            </a:solidFill>
            <a:ln w="12700" algn="ctr">
              <a:solidFill>
                <a:srgbClr val="C0C0C0"/>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可能影响</a:t>
              </a:r>
              <a:endParaRPr lang="de-DE" sz="2400" b="1" noProof="1">
                <a:solidFill>
                  <a:schemeClr val="bg1"/>
                </a:solidFill>
                <a:latin typeface="Calibri" pitchFamily="34" charset="0"/>
              </a:endParaRPr>
            </a:p>
          </p:txBody>
        </p:sp>
        <p:sp>
          <p:nvSpPr>
            <p:cNvPr id="297024" name="Rectangle 5" descr="© INSCALE GmbH, 26.05.2010&#10;http://www.presentationload.com/"/>
            <p:cNvSpPr>
              <a:spLocks noChangeArrowheads="1"/>
            </p:cNvSpPr>
            <p:nvPr/>
          </p:nvSpPr>
          <p:spPr bwMode="gray">
            <a:xfrm>
              <a:off x="11784550" y="4151362"/>
              <a:ext cx="2658327" cy="3867854"/>
            </a:xfrm>
            <a:prstGeom prst="rect">
              <a:avLst/>
            </a:prstGeom>
            <a:solidFill>
              <a:schemeClr val="bg1">
                <a:lumMod val="95000"/>
              </a:schemeClr>
            </a:solidFill>
            <a:ln w="12700">
              <a:solidFill>
                <a:srgbClr val="DDDDDD"/>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457200" indent="-457200">
                <a:lnSpc>
                  <a:spcPct val="120000"/>
                </a:lnSpc>
                <a:buFont typeface="Arial" panose="020B0604020202020204" pitchFamily="34" charset="0"/>
                <a:buChar char="•"/>
              </a:pPr>
              <a:r>
                <a:rPr lang="zh-CN" altLang="en-US" sz="2400" dirty="0">
                  <a:latin typeface="+mn-ea"/>
                </a:rPr>
                <a:t>获得长期投资资本，从而补充资本金。但可能要承担更高的借款利率，融资成本上升。</a:t>
              </a:r>
              <a:endParaRPr lang="en-US" altLang="zh-CN" sz="2400" dirty="0">
                <a:latin typeface="+mn-ea"/>
              </a:endParaRPr>
            </a:p>
            <a:p>
              <a:pPr marL="457200" indent="-457200">
                <a:lnSpc>
                  <a:spcPct val="120000"/>
                </a:lnSpc>
                <a:buFont typeface="Arial" panose="020B0604020202020204" pitchFamily="34" charset="0"/>
                <a:buChar char="•"/>
              </a:pPr>
              <a:endParaRPr lang="en-US" altLang="zh-CN" sz="2400" dirty="0">
                <a:latin typeface="+mn-ea"/>
              </a:endParaRPr>
            </a:p>
            <a:p>
              <a:pPr marL="457200" indent="-457200">
                <a:lnSpc>
                  <a:spcPct val="120000"/>
                </a:lnSpc>
                <a:buFont typeface="Arial" panose="020B0604020202020204" pitchFamily="34" charset="0"/>
                <a:buChar char="•"/>
              </a:pPr>
              <a:r>
                <a:rPr lang="zh-CN" altLang="en-US" sz="2400" dirty="0">
                  <a:latin typeface="+mn-ea"/>
                </a:rPr>
                <a:t>永续债票面利息较高、久期较长，灵活调整投资组合</a:t>
              </a:r>
            </a:p>
          </p:txBody>
        </p:sp>
        <p:sp>
          <p:nvSpPr>
            <p:cNvPr id="297025" name="Rectangle 65" descr="© INSCALE GmbH, 26.05.2010&#10;http://www.presentationload.com/"/>
            <p:cNvSpPr>
              <a:spLocks noChangeArrowheads="1"/>
            </p:cNvSpPr>
            <p:nvPr/>
          </p:nvSpPr>
          <p:spPr bwMode="gray">
            <a:xfrm>
              <a:off x="2821313" y="3640599"/>
              <a:ext cx="2522317" cy="510765"/>
            </a:xfrm>
            <a:prstGeom prst="rect">
              <a:avLst/>
            </a:prstGeom>
            <a:solidFill>
              <a:schemeClr val="accent5"/>
            </a:solidFill>
            <a:ln w="12700" algn="ctr">
              <a:solidFill>
                <a:srgbClr val="C0C0C0"/>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条款性质</a:t>
              </a:r>
              <a:endParaRPr lang="de-DE" sz="2400" b="1" noProof="1">
                <a:solidFill>
                  <a:schemeClr val="bg1"/>
                </a:solidFill>
                <a:latin typeface="Calibri" pitchFamily="34" charset="0"/>
              </a:endParaRPr>
            </a:p>
          </p:txBody>
        </p:sp>
        <p:sp>
          <p:nvSpPr>
            <p:cNvPr id="297026" name="Rectangle 5" descr="© INSCALE GmbH, 26.05.2010&#10;http://www.presentationload.com/"/>
            <p:cNvSpPr>
              <a:spLocks noChangeArrowheads="1"/>
            </p:cNvSpPr>
            <p:nvPr/>
          </p:nvSpPr>
          <p:spPr bwMode="gray">
            <a:xfrm>
              <a:off x="2821314" y="4151362"/>
              <a:ext cx="2522317" cy="3867854"/>
            </a:xfrm>
            <a:prstGeom prst="rect">
              <a:avLst/>
            </a:prstGeom>
            <a:solidFill>
              <a:schemeClr val="bg1">
                <a:lumMod val="95000"/>
              </a:schemeClr>
            </a:solidFill>
            <a:ln w="12700" algn="ctr">
              <a:solidFill>
                <a:srgbClr val="DDDDDD"/>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342900" indent="-342900">
                <a:buFont typeface="Arial" panose="020B0604020202020204" pitchFamily="34" charset="0"/>
                <a:buChar char="•"/>
              </a:pPr>
              <a:r>
                <a:rPr lang="zh-CN" altLang="en-US" sz="2400" b="1" dirty="0"/>
                <a:t>到期延期支付</a:t>
              </a:r>
              <a:r>
                <a:rPr lang="zh-CN" altLang="en-US" sz="2400" dirty="0"/>
                <a:t>：若到期时发行人无力偿付，又不能借新还旧。征得投资者同意后，可将债券本息偿付予以延期，并调整票息率；</a:t>
              </a:r>
              <a:endParaRPr lang="en-US" altLang="zh-CN" sz="2400" dirty="0"/>
            </a:p>
            <a:p>
              <a:pPr marL="342900" indent="-342900">
                <a:buFont typeface="Arial" panose="020B0604020202020204" pitchFamily="34" charset="0"/>
                <a:buChar char="•"/>
              </a:pPr>
              <a:endParaRPr lang="zh-CN" altLang="en-US" sz="2400" dirty="0"/>
            </a:p>
            <a:p>
              <a:pPr marL="342900" indent="-342900">
                <a:buFont typeface="Arial" panose="020B0604020202020204" pitchFamily="34" charset="0"/>
                <a:buChar char="•"/>
              </a:pPr>
              <a:r>
                <a:rPr lang="zh-CN" altLang="en-US" sz="2400" b="1" dirty="0"/>
                <a:t>预设延付条款</a:t>
              </a:r>
              <a:r>
                <a:rPr lang="zh-CN" altLang="en-US" sz="2400" dirty="0"/>
                <a:t>：债券到期后，继续持有债券，直至预设日期，即永续债。</a:t>
              </a:r>
            </a:p>
          </p:txBody>
        </p:sp>
        <p:sp>
          <p:nvSpPr>
            <p:cNvPr id="22" name="Text Box 69" descr="© INSCALE GmbH, 26.05.2010&#10;http://www.presentationload.com/"/>
            <p:cNvSpPr txBox="1">
              <a:spLocks noChangeArrowheads="1"/>
            </p:cNvSpPr>
            <p:nvPr/>
          </p:nvSpPr>
          <p:spPr bwMode="gray">
            <a:xfrm>
              <a:off x="2947315" y="2205060"/>
              <a:ext cx="1769356" cy="1023778"/>
            </a:xfrm>
            <a:prstGeom prst="rect">
              <a:avLst/>
            </a:prstGeom>
            <a:noFill/>
            <a:ln w="9525">
              <a:noFill/>
              <a:miter lim="800000"/>
              <a:headEnd/>
              <a:tailEnd/>
            </a:ln>
            <a:effectLst/>
          </p:spPr>
          <p:txBody>
            <a:bodyPr anchor="ctr"/>
            <a:lstStyle/>
            <a:p>
              <a:pPr algn="ctr">
                <a:spcBef>
                  <a:spcPct val="50000"/>
                </a:spcBef>
              </a:pPr>
              <a:r>
                <a:rPr lang="zh-CN" altLang="en-US" sz="2400" dirty="0"/>
                <a:t>发行人赎回</a:t>
              </a:r>
              <a:endParaRPr lang="de-DE" sz="2400" noProof="1"/>
            </a:p>
          </p:txBody>
        </p:sp>
        <p:sp>
          <p:nvSpPr>
            <p:cNvPr id="23" name="Text Box 71" descr="© INSCALE GmbH, 26.05.2010&#10;http://www.presentationload.com/"/>
            <p:cNvSpPr txBox="1">
              <a:spLocks noChangeArrowheads="1"/>
            </p:cNvSpPr>
            <p:nvPr/>
          </p:nvSpPr>
          <p:spPr bwMode="gray">
            <a:xfrm>
              <a:off x="6758918" y="2205060"/>
              <a:ext cx="1807047" cy="1023778"/>
            </a:xfrm>
            <a:prstGeom prst="rect">
              <a:avLst/>
            </a:prstGeom>
            <a:noFill/>
            <a:ln w="9525">
              <a:noFill/>
              <a:miter lim="800000"/>
              <a:headEnd/>
              <a:tailEnd/>
            </a:ln>
            <a:effectLst/>
          </p:spPr>
          <p:txBody>
            <a:bodyPr anchor="ctr"/>
            <a:lstStyle/>
            <a:p>
              <a:pPr algn="ctr">
                <a:spcBef>
                  <a:spcPct val="50000"/>
                </a:spcBef>
              </a:pPr>
              <a:r>
                <a:rPr lang="zh-CN" altLang="en-US" sz="2400" dirty="0"/>
                <a:t>票面利率调整</a:t>
              </a:r>
              <a:endParaRPr lang="de-DE" sz="2400" noProof="1"/>
            </a:p>
          </p:txBody>
        </p:sp>
        <p:sp>
          <p:nvSpPr>
            <p:cNvPr id="24" name="Text Box 72" descr="© INSCALE GmbH, 26.05.2010&#10;http://www.presentationload.com/"/>
            <p:cNvSpPr txBox="1">
              <a:spLocks noChangeArrowheads="1"/>
            </p:cNvSpPr>
            <p:nvPr/>
          </p:nvSpPr>
          <p:spPr bwMode="gray">
            <a:xfrm>
              <a:off x="8642220"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dirty="0"/>
                <a:t>提前偿还</a:t>
              </a:r>
              <a:endParaRPr lang="de-DE" sz="2400" noProof="1"/>
            </a:p>
          </p:txBody>
        </p:sp>
        <p:sp>
          <p:nvSpPr>
            <p:cNvPr id="25" name="Text Box 73" descr="© INSCALE GmbH, 26.05.2010&#10;http://www.presentationload.com/"/>
            <p:cNvSpPr txBox="1">
              <a:spLocks noChangeArrowheads="1"/>
            </p:cNvSpPr>
            <p:nvPr/>
          </p:nvSpPr>
          <p:spPr bwMode="gray">
            <a:xfrm>
              <a:off x="10570521"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b="1" dirty="0">
                  <a:solidFill>
                    <a:schemeClr val="bg1"/>
                  </a:solidFill>
                </a:rPr>
                <a:t>延期支付</a:t>
              </a:r>
              <a:endParaRPr lang="de-DE" sz="2400" b="1" noProof="1">
                <a:solidFill>
                  <a:schemeClr val="bg1"/>
                </a:solidFill>
              </a:endParaRPr>
            </a:p>
          </p:txBody>
        </p:sp>
        <p:sp>
          <p:nvSpPr>
            <p:cNvPr id="26" name="Text Box 74" descr="© INSCALE GmbH, 26.05.2010&#10;http://www.presentationload.com/"/>
            <p:cNvSpPr txBox="1">
              <a:spLocks noChangeArrowheads="1"/>
            </p:cNvSpPr>
            <p:nvPr/>
          </p:nvSpPr>
          <p:spPr bwMode="gray">
            <a:xfrm>
              <a:off x="12453822"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dirty="0"/>
                <a:t>定向转让</a:t>
              </a:r>
              <a:endParaRPr lang="de-DE" sz="2400" noProof="1">
                <a:solidFill>
                  <a:srgbClr val="000000"/>
                </a:solidFill>
              </a:endParaRPr>
            </a:p>
          </p:txBody>
        </p:sp>
        <p:sp>
          <p:nvSpPr>
            <p:cNvPr id="27" name="Text Box 70" descr="© INSCALE GmbH, 26.05.2010&#10;http://www.presentationload.com/"/>
            <p:cNvSpPr txBox="1">
              <a:spLocks noChangeArrowheads="1"/>
            </p:cNvSpPr>
            <p:nvPr/>
          </p:nvSpPr>
          <p:spPr bwMode="gray">
            <a:xfrm>
              <a:off x="4819366" y="2205060"/>
              <a:ext cx="1807047" cy="999998"/>
            </a:xfrm>
            <a:prstGeom prst="rect">
              <a:avLst/>
            </a:prstGeom>
            <a:noFill/>
            <a:ln w="9525">
              <a:noFill/>
              <a:miter lim="800000"/>
              <a:headEnd/>
              <a:tailEnd/>
            </a:ln>
            <a:effectLst/>
          </p:spPr>
          <p:txBody>
            <a:bodyPr anchor="ctr"/>
            <a:lstStyle/>
            <a:p>
              <a:pPr algn="ctr">
                <a:spcBef>
                  <a:spcPct val="50000"/>
                </a:spcBef>
              </a:pPr>
              <a:r>
                <a:rPr lang="zh-CN" altLang="en-US" sz="2400" dirty="0"/>
                <a:t>投资人回售</a:t>
              </a:r>
              <a:endParaRPr lang="de-DE" sz="2400" noProof="1"/>
            </a:p>
          </p:txBody>
        </p:sp>
        <p:sp>
          <p:nvSpPr>
            <p:cNvPr id="29" name="Rectangle 65" descr="© INSCALE GmbH, 26.05.2010&#10;http://www.presentationload.com/">
              <a:extLst>
                <a:ext uri="{FF2B5EF4-FFF2-40B4-BE49-F238E27FC236}">
                  <a16:creationId xmlns:a16="http://schemas.microsoft.com/office/drawing/2014/main" id="{419319D0-9346-434E-83DF-0982A595F022}"/>
                </a:ext>
              </a:extLst>
            </p:cNvPr>
            <p:cNvSpPr>
              <a:spLocks noChangeArrowheads="1"/>
            </p:cNvSpPr>
            <p:nvPr/>
          </p:nvSpPr>
          <p:spPr bwMode="gray">
            <a:xfrm>
              <a:off x="5497151" y="3640598"/>
              <a:ext cx="6172325" cy="541241"/>
            </a:xfrm>
            <a:prstGeom prst="rect">
              <a:avLst/>
            </a:prstGeom>
            <a:solidFill>
              <a:srgbClr val="00B0F0"/>
            </a:solidFill>
            <a:ln w="12700" algn="ctr">
              <a:solidFill>
                <a:schemeClr val="bg1"/>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条款要素</a:t>
              </a:r>
              <a:endParaRPr lang="de-DE" sz="2400" b="1" noProof="1">
                <a:solidFill>
                  <a:schemeClr val="bg1"/>
                </a:solidFill>
                <a:latin typeface="Calibri" pitchFamily="34" charset="0"/>
              </a:endParaRPr>
            </a:p>
          </p:txBody>
        </p:sp>
        <p:sp>
          <p:nvSpPr>
            <p:cNvPr id="30" name="Rectangle 5" descr="© INSCALE GmbH, 26.05.2010&#10;http://www.presentationload.com/">
              <a:extLst>
                <a:ext uri="{FF2B5EF4-FFF2-40B4-BE49-F238E27FC236}">
                  <a16:creationId xmlns:a16="http://schemas.microsoft.com/office/drawing/2014/main" id="{F9541BC0-D698-4F5D-8C14-ACAC1BA65D63}"/>
                </a:ext>
              </a:extLst>
            </p:cNvPr>
            <p:cNvSpPr>
              <a:spLocks noChangeArrowheads="1"/>
            </p:cNvSpPr>
            <p:nvPr/>
          </p:nvSpPr>
          <p:spPr bwMode="gray">
            <a:xfrm>
              <a:off x="5497151" y="4151362"/>
              <a:ext cx="6172325" cy="4098641"/>
            </a:xfrm>
            <a:prstGeom prst="rect">
              <a:avLst/>
            </a:prstGeom>
            <a:solidFill>
              <a:schemeClr val="bg1">
                <a:lumMod val="95000"/>
              </a:schemeClr>
            </a:solidFill>
            <a:ln w="12700" algn="ctr">
              <a:solidFill>
                <a:schemeClr val="bg1"/>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285750" indent="-285750">
                <a:lnSpc>
                  <a:spcPct val="120000"/>
                </a:lnSpc>
                <a:buFont typeface="Arial" panose="020B0604020202020204" pitchFamily="34" charset="0"/>
                <a:buChar char="•"/>
              </a:pPr>
              <a:r>
                <a:rPr lang="zh-CN" altLang="en-US" sz="2400" dirty="0"/>
                <a:t>清偿顺序：次级债务，优于普通股和优先股</a:t>
              </a:r>
              <a:endParaRPr lang="en-US" altLang="zh-CN" sz="2400" dirty="0"/>
            </a:p>
            <a:p>
              <a:pPr marL="285750" indent="-285750">
                <a:lnSpc>
                  <a:spcPct val="120000"/>
                </a:lnSpc>
                <a:buFont typeface="Arial" panose="020B0604020202020204" pitchFamily="34" charset="0"/>
                <a:buChar char="•"/>
              </a:pPr>
              <a:r>
                <a:rPr lang="zh-CN" altLang="en-US" sz="2400" dirty="0"/>
                <a:t>期限与赎回：没有明确的到期时间或者期限非常长。一般有赎回条款</a:t>
              </a:r>
            </a:p>
            <a:p>
              <a:pPr marL="285750" indent="-285750">
                <a:lnSpc>
                  <a:spcPct val="120000"/>
                </a:lnSpc>
                <a:buFont typeface="Arial" panose="020B0604020202020204" pitchFamily="34" charset="0"/>
                <a:buChar char="•"/>
              </a:pPr>
              <a:r>
                <a:rPr lang="zh-CN" altLang="en-US" sz="2400" dirty="0"/>
                <a:t>息票重置：票息较高，可变票息</a:t>
              </a:r>
            </a:p>
            <a:p>
              <a:pPr marL="285750" indent="-285750">
                <a:lnSpc>
                  <a:spcPct val="120000"/>
                </a:lnSpc>
                <a:buFont typeface="Arial" panose="020B0604020202020204" pitchFamily="34" charset="0"/>
                <a:buChar char="•"/>
              </a:pPr>
              <a:r>
                <a:rPr lang="zh-CN" altLang="en-US" sz="2400" dirty="0"/>
                <a:t>延息条款：发行人自主延息或强制延息</a:t>
              </a:r>
            </a:p>
            <a:p>
              <a:pPr marL="285750" indent="-285750">
                <a:lnSpc>
                  <a:spcPct val="120000"/>
                </a:lnSpc>
                <a:buFont typeface="Arial" panose="020B0604020202020204" pitchFamily="34" charset="0"/>
                <a:buChar char="•"/>
              </a:pPr>
              <a:r>
                <a:rPr lang="zh-CN" altLang="en-US" sz="2400" dirty="0"/>
                <a:t>股息推动和停发机制：向清偿顺序相同或靠后的证券派息时，优先全额偿付</a:t>
              </a:r>
            </a:p>
            <a:p>
              <a:pPr marL="285750" indent="-285750">
                <a:lnSpc>
                  <a:spcPct val="120000"/>
                </a:lnSpc>
                <a:buFont typeface="Arial" panose="020B0604020202020204" pitchFamily="34" charset="0"/>
                <a:buChar char="•"/>
              </a:pPr>
              <a:r>
                <a:rPr lang="zh-CN" altLang="en-US" sz="2400" dirty="0"/>
                <a:t>无担保：次级债务</a:t>
              </a:r>
              <a:r>
                <a:rPr lang="en-US" altLang="zh-CN" sz="2400" dirty="0"/>
                <a:t>&amp;</a:t>
              </a:r>
              <a:r>
                <a:rPr lang="zh-CN" altLang="en-US" sz="2400" dirty="0"/>
                <a:t>权益要求，无担保条款</a:t>
              </a:r>
            </a:p>
            <a:p>
              <a:pPr marL="285750" indent="-285750">
                <a:lnSpc>
                  <a:spcPct val="120000"/>
                </a:lnSpc>
                <a:buFont typeface="Arial" panose="020B0604020202020204" pitchFamily="34" charset="0"/>
                <a:buChar char="•"/>
              </a:pPr>
              <a:r>
                <a:rPr lang="zh-CN" altLang="en-US" sz="2400" dirty="0"/>
                <a:t>无违约</a:t>
              </a:r>
              <a:r>
                <a:rPr lang="en-US" altLang="zh-CN" sz="2400" dirty="0"/>
                <a:t>/</a:t>
              </a:r>
              <a:r>
                <a:rPr lang="zh-CN" altLang="en-US" sz="2400" dirty="0"/>
                <a:t>交叉违约事项：除有明确期限产品的到期偿付外，无任何事项</a:t>
              </a:r>
              <a:r>
                <a:rPr lang="en-US" altLang="zh-CN" sz="2400" dirty="0"/>
                <a:t>(</a:t>
              </a:r>
              <a:r>
                <a:rPr lang="zh-CN" altLang="en-US" sz="2400" dirty="0"/>
                <a:t>如延息等</a:t>
              </a:r>
              <a:r>
                <a:rPr lang="en-US" altLang="zh-CN" sz="2400" dirty="0"/>
                <a:t>)</a:t>
              </a:r>
              <a:r>
                <a:rPr lang="zh-CN" altLang="en-US" sz="2400" dirty="0"/>
                <a:t>能够触发永续债券项的违约</a:t>
              </a:r>
              <a:r>
                <a:rPr lang="en-US" altLang="zh-CN" sz="2400" dirty="0"/>
                <a:t>/</a:t>
              </a:r>
              <a:r>
                <a:rPr lang="zh-CN" altLang="en-US" sz="2400" dirty="0"/>
                <a:t>交叉违约</a:t>
              </a:r>
            </a:p>
          </p:txBody>
        </p:sp>
      </p:grpSp>
    </p:spTree>
    <p:extLst>
      <p:ext uri="{BB962C8B-B14F-4D97-AF65-F5344CB8AC3E}">
        <p14:creationId xmlns:p14="http://schemas.microsoft.com/office/powerpoint/2010/main" val="3579498991"/>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5" name="Rectangle 5" descr="© INSCALE GmbH, 26.05.2010&#10;http://www.presentationload.com/"/>
          <p:cNvSpPr>
            <a:spLocks noGrp="1" noChangeArrowheads="1"/>
          </p:cNvSpPr>
          <p:nvPr>
            <p:ph type="title"/>
          </p:nvPr>
        </p:nvSpPr>
        <p:spPr/>
        <p:txBody>
          <a:bodyPr/>
          <a:lstStyle/>
          <a:p>
            <a:r>
              <a:rPr lang="zh-CN" altLang="en-US" dirty="0"/>
              <a:t>权利条款</a:t>
            </a:r>
            <a:endParaRPr lang="de-DE" noProof="1"/>
          </a:p>
        </p:txBody>
      </p:sp>
      <p:grpSp>
        <p:nvGrpSpPr>
          <p:cNvPr id="5" name="组合 4">
            <a:extLst>
              <a:ext uri="{FF2B5EF4-FFF2-40B4-BE49-F238E27FC236}">
                <a16:creationId xmlns:a16="http://schemas.microsoft.com/office/drawing/2014/main" id="{256BA919-4F17-462A-ADEB-7660ABD593BB}"/>
              </a:ext>
            </a:extLst>
          </p:cNvPr>
          <p:cNvGrpSpPr/>
          <p:nvPr/>
        </p:nvGrpSpPr>
        <p:grpSpPr>
          <a:xfrm>
            <a:off x="949497" y="2202810"/>
            <a:ext cx="15378696" cy="7293616"/>
            <a:chOff x="2618807" y="2202810"/>
            <a:chExt cx="12042325" cy="6023412"/>
          </a:xfrm>
        </p:grpSpPr>
        <p:sp>
          <p:nvSpPr>
            <p:cNvPr id="297001" name="Freeform 41" descr="© INSCALE GmbH, 26.05.2010&#10;http://www.presentationload.com/"/>
            <p:cNvSpPr>
              <a:spLocks/>
            </p:cNvSpPr>
            <p:nvPr/>
          </p:nvSpPr>
          <p:spPr bwMode="gray">
            <a:xfrm>
              <a:off x="12138815" y="2202810"/>
              <a:ext cx="2522317"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rgbClr val="00B0F0"/>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7000" name="Freeform 40" descr="© INSCALE GmbH, 26.05.2010&#10;http://www.presentationload.com/"/>
            <p:cNvSpPr>
              <a:spLocks/>
            </p:cNvSpPr>
            <p:nvPr/>
          </p:nvSpPr>
          <p:spPr bwMode="gray">
            <a:xfrm>
              <a:off x="10244264" y="2202810"/>
              <a:ext cx="2522317"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9" name="Freeform 39" descr="© INSCALE GmbH, 26.05.2010&#10;http://www.presentationload.com/"/>
            <p:cNvSpPr>
              <a:spLocks/>
            </p:cNvSpPr>
            <p:nvPr/>
          </p:nvSpPr>
          <p:spPr bwMode="gray">
            <a:xfrm>
              <a:off x="8282216" y="2202810"/>
              <a:ext cx="2574065"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8" name="Freeform 38" descr="© INSCALE GmbH, 26.05.2010&#10;http://www.presentationload.com/"/>
            <p:cNvSpPr>
              <a:spLocks/>
            </p:cNvSpPr>
            <p:nvPr/>
          </p:nvSpPr>
          <p:spPr bwMode="gray">
            <a:xfrm>
              <a:off x="6428161" y="2202810"/>
              <a:ext cx="2522317"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6" name="Freeform 36" descr="© INSCALE GmbH, 26.05.2010&#10;http://www.presentationload.com/"/>
            <p:cNvSpPr>
              <a:spLocks/>
            </p:cNvSpPr>
            <p:nvPr/>
          </p:nvSpPr>
          <p:spPr bwMode="gray">
            <a:xfrm>
              <a:off x="2623306" y="2202810"/>
              <a:ext cx="2522319" cy="1230783"/>
            </a:xfrm>
            <a:custGeom>
              <a:avLst/>
              <a:gdLst/>
              <a:ahLst/>
              <a:cxnLst>
                <a:cxn ang="0">
                  <a:pos x="537" y="227"/>
                </a:cxn>
                <a:cxn ang="0">
                  <a:pos x="514" y="227"/>
                </a:cxn>
                <a:cxn ang="0">
                  <a:pos x="492" y="204"/>
                </a:cxn>
                <a:cxn ang="0">
                  <a:pos x="492" y="23"/>
                </a:cxn>
                <a:cxn ang="0">
                  <a:pos x="469" y="0"/>
                </a:cxn>
                <a:cxn ang="0">
                  <a:pos x="91" y="0"/>
                </a:cxn>
                <a:cxn ang="0">
                  <a:pos x="68" y="23"/>
                </a:cxn>
                <a:cxn ang="0">
                  <a:pos x="68" y="204"/>
                </a:cxn>
                <a:cxn ang="0">
                  <a:pos x="45"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4" y="227"/>
                    <a:pt x="514" y="227"/>
                    <a:pt x="514" y="227"/>
                  </a:cubicBezTo>
                  <a:cubicBezTo>
                    <a:pt x="502" y="227"/>
                    <a:pt x="492" y="217"/>
                    <a:pt x="492" y="204"/>
                  </a:cubicBezTo>
                  <a:cubicBezTo>
                    <a:pt x="492" y="23"/>
                    <a:pt x="492" y="23"/>
                    <a:pt x="492" y="23"/>
                  </a:cubicBezTo>
                  <a:cubicBezTo>
                    <a:pt x="492" y="11"/>
                    <a:pt x="481" y="0"/>
                    <a:pt x="469" y="0"/>
                  </a:cubicBezTo>
                  <a:cubicBezTo>
                    <a:pt x="91" y="0"/>
                    <a:pt x="91" y="0"/>
                    <a:pt x="91" y="0"/>
                  </a:cubicBezTo>
                  <a:cubicBezTo>
                    <a:pt x="78" y="0"/>
                    <a:pt x="68" y="11"/>
                    <a:pt x="68" y="23"/>
                  </a:cubicBezTo>
                  <a:cubicBezTo>
                    <a:pt x="68" y="204"/>
                    <a:pt x="68" y="204"/>
                    <a:pt x="68" y="204"/>
                  </a:cubicBezTo>
                  <a:cubicBezTo>
                    <a:pt x="68" y="217"/>
                    <a:pt x="58" y="227"/>
                    <a:pt x="45" y="227"/>
                  </a:cubicBezTo>
                  <a:cubicBezTo>
                    <a:pt x="23" y="227"/>
                    <a:pt x="23" y="227"/>
                    <a:pt x="23" y="227"/>
                  </a:cubicBezTo>
                  <a:cubicBezTo>
                    <a:pt x="10" y="227"/>
                    <a:pt x="0" y="237"/>
                    <a:pt x="0" y="250"/>
                  </a:cubicBezTo>
                  <a:cubicBezTo>
                    <a:pt x="0" y="273"/>
                    <a:pt x="0" y="273"/>
                    <a:pt x="0" y="273"/>
                  </a:cubicBezTo>
                  <a:cubicBezTo>
                    <a:pt x="560" y="273"/>
                    <a:pt x="560" y="273"/>
                    <a:pt x="560" y="273"/>
                  </a:cubicBezTo>
                  <a:cubicBezTo>
                    <a:pt x="560" y="250"/>
                    <a:pt x="560" y="250"/>
                    <a:pt x="560" y="250"/>
                  </a:cubicBezTo>
                  <a:cubicBezTo>
                    <a:pt x="560" y="237"/>
                    <a:pt x="549" y="227"/>
                    <a:pt x="537" y="227"/>
                  </a:cubicBezTo>
                  <a:close/>
                </a:path>
              </a:pathLst>
            </a:custGeom>
            <a:solidFill>
              <a:schemeClr val="bg1">
                <a:lumMod val="95000"/>
              </a:schemeClr>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97" name="Freeform 37" descr="© INSCALE GmbH, 26.05.2010&#10;http://www.presentationload.com/"/>
            <p:cNvSpPr>
              <a:spLocks/>
            </p:cNvSpPr>
            <p:nvPr/>
          </p:nvSpPr>
          <p:spPr bwMode="gray">
            <a:xfrm>
              <a:off x="4529110" y="2226590"/>
              <a:ext cx="2522317" cy="1230783"/>
            </a:xfrm>
            <a:custGeom>
              <a:avLst/>
              <a:gdLst/>
              <a:ahLst/>
              <a:cxnLst>
                <a:cxn ang="0">
                  <a:pos x="537" y="227"/>
                </a:cxn>
                <a:cxn ang="0">
                  <a:pos x="515" y="227"/>
                </a:cxn>
                <a:cxn ang="0">
                  <a:pos x="492" y="204"/>
                </a:cxn>
                <a:cxn ang="0">
                  <a:pos x="492" y="23"/>
                </a:cxn>
                <a:cxn ang="0">
                  <a:pos x="469" y="0"/>
                </a:cxn>
                <a:cxn ang="0">
                  <a:pos x="91" y="0"/>
                </a:cxn>
                <a:cxn ang="0">
                  <a:pos x="69" y="23"/>
                </a:cxn>
                <a:cxn ang="0">
                  <a:pos x="69" y="204"/>
                </a:cxn>
                <a:cxn ang="0">
                  <a:pos x="46" y="227"/>
                </a:cxn>
                <a:cxn ang="0">
                  <a:pos x="23" y="227"/>
                </a:cxn>
                <a:cxn ang="0">
                  <a:pos x="0" y="250"/>
                </a:cxn>
                <a:cxn ang="0">
                  <a:pos x="0" y="273"/>
                </a:cxn>
                <a:cxn ang="0">
                  <a:pos x="560" y="273"/>
                </a:cxn>
                <a:cxn ang="0">
                  <a:pos x="560" y="250"/>
                </a:cxn>
                <a:cxn ang="0">
                  <a:pos x="537" y="227"/>
                </a:cxn>
              </a:cxnLst>
              <a:rect l="0" t="0" r="r" b="b"/>
              <a:pathLst>
                <a:path w="560" h="273">
                  <a:moveTo>
                    <a:pt x="537" y="227"/>
                  </a:moveTo>
                  <a:cubicBezTo>
                    <a:pt x="515" y="227"/>
                    <a:pt x="515" y="227"/>
                    <a:pt x="515" y="227"/>
                  </a:cubicBezTo>
                  <a:cubicBezTo>
                    <a:pt x="502" y="227"/>
                    <a:pt x="492" y="217"/>
                    <a:pt x="492" y="204"/>
                  </a:cubicBezTo>
                  <a:cubicBezTo>
                    <a:pt x="492" y="23"/>
                    <a:pt x="492" y="23"/>
                    <a:pt x="492" y="23"/>
                  </a:cubicBezTo>
                  <a:cubicBezTo>
                    <a:pt x="492" y="11"/>
                    <a:pt x="482" y="0"/>
                    <a:pt x="469" y="0"/>
                  </a:cubicBezTo>
                  <a:cubicBezTo>
                    <a:pt x="91" y="0"/>
                    <a:pt x="91" y="0"/>
                    <a:pt x="91" y="0"/>
                  </a:cubicBezTo>
                  <a:cubicBezTo>
                    <a:pt x="79" y="0"/>
                    <a:pt x="69" y="11"/>
                    <a:pt x="69" y="23"/>
                  </a:cubicBezTo>
                  <a:cubicBezTo>
                    <a:pt x="69" y="204"/>
                    <a:pt x="69" y="204"/>
                    <a:pt x="69" y="204"/>
                  </a:cubicBezTo>
                  <a:cubicBezTo>
                    <a:pt x="69" y="217"/>
                    <a:pt x="58" y="227"/>
                    <a:pt x="46" y="227"/>
                  </a:cubicBezTo>
                  <a:cubicBezTo>
                    <a:pt x="23" y="227"/>
                    <a:pt x="23" y="227"/>
                    <a:pt x="23" y="227"/>
                  </a:cubicBezTo>
                  <a:cubicBezTo>
                    <a:pt x="11" y="227"/>
                    <a:pt x="0" y="237"/>
                    <a:pt x="0" y="250"/>
                  </a:cubicBezTo>
                  <a:cubicBezTo>
                    <a:pt x="0" y="273"/>
                    <a:pt x="0" y="273"/>
                    <a:pt x="0" y="273"/>
                  </a:cubicBezTo>
                  <a:cubicBezTo>
                    <a:pt x="560" y="273"/>
                    <a:pt x="560" y="273"/>
                    <a:pt x="560" y="273"/>
                  </a:cubicBezTo>
                  <a:cubicBezTo>
                    <a:pt x="560" y="250"/>
                    <a:pt x="560" y="250"/>
                    <a:pt x="560" y="250"/>
                  </a:cubicBezTo>
                  <a:cubicBezTo>
                    <a:pt x="560" y="237"/>
                    <a:pt x="550" y="227"/>
                    <a:pt x="537" y="227"/>
                  </a:cubicBezTo>
                  <a:close/>
                </a:path>
              </a:pathLst>
            </a:custGeom>
            <a:solidFill>
              <a:schemeClr val="bg1">
                <a:lumMod val="95000"/>
              </a:schemeClr>
            </a:solidFill>
            <a:ln w="9525" cap="flat" cmpd="sng">
              <a:noFill/>
              <a:prstDash val="solid"/>
              <a:round/>
              <a:headEnd/>
              <a:tailEnd/>
            </a:ln>
            <a:effectLst>
              <a:outerShdw blurRad="50800" dist="38100" dir="2700000" algn="tl" rotWithShape="0">
                <a:prstClr val="black">
                  <a:alpha val="40000"/>
                </a:prstClr>
              </a:outerShdw>
            </a:effectLst>
            <a:scene3d>
              <a:camera prst="orthographicFront">
                <a:rot lat="0" lon="0" rev="0"/>
              </a:camera>
              <a:lightRig rig="balanced" dir="t">
                <a:rot lat="0" lon="0" rev="8700000"/>
              </a:lightRig>
            </a:scene3d>
            <a:sp3d>
              <a:bevelT w="63500" h="25400"/>
            </a:sp3d>
          </p:spPr>
          <p:txBody>
            <a:bodyPr/>
            <a:lstStyle/>
            <a:p>
              <a:endParaRPr lang="de-DE" sz="2400">
                <a:solidFill>
                  <a:srgbClr val="000000"/>
                </a:solidFill>
              </a:endParaRPr>
            </a:p>
          </p:txBody>
        </p:sp>
        <p:sp>
          <p:nvSpPr>
            <p:cNvPr id="296964" name="AutoShape 4" descr="© INSCALE GmbH, 26.05.2010&#10;http://www.presentationload.com/"/>
            <p:cNvSpPr>
              <a:spLocks noChangeArrowheads="1"/>
            </p:cNvSpPr>
            <p:nvPr/>
          </p:nvSpPr>
          <p:spPr bwMode="gray">
            <a:xfrm>
              <a:off x="2618807" y="3228838"/>
              <a:ext cx="12042325" cy="4997384"/>
            </a:xfrm>
            <a:prstGeom prst="roundRect">
              <a:avLst>
                <a:gd name="adj" fmla="val 1838"/>
              </a:avLst>
            </a:prstGeom>
            <a:solidFill>
              <a:schemeClr val="bg1"/>
            </a:solidFill>
            <a:ln w="19050" algn="ctr">
              <a:solidFill>
                <a:srgbClr val="C00000"/>
              </a:solidFill>
              <a:round/>
              <a:headEnd/>
              <a:tailEnd/>
            </a:ln>
            <a:effectLst/>
          </p:spPr>
          <p:txBody>
            <a:bodyPr/>
            <a:lstStyle/>
            <a:p>
              <a:endParaRPr lang="de-DE" sz="2400">
                <a:solidFill>
                  <a:srgbClr val="000000"/>
                </a:solidFill>
              </a:endParaRPr>
            </a:p>
          </p:txBody>
        </p:sp>
        <p:sp>
          <p:nvSpPr>
            <p:cNvPr id="297023" name="Rectangle 63" descr="© INSCALE GmbH, 26.05.2010&#10;http://www.presentationload.com/"/>
            <p:cNvSpPr>
              <a:spLocks noChangeArrowheads="1"/>
            </p:cNvSpPr>
            <p:nvPr/>
          </p:nvSpPr>
          <p:spPr bwMode="gray">
            <a:xfrm>
              <a:off x="10422826" y="3640599"/>
              <a:ext cx="4020050" cy="510765"/>
            </a:xfrm>
            <a:prstGeom prst="rect">
              <a:avLst/>
            </a:prstGeom>
            <a:solidFill>
              <a:srgbClr val="00B050"/>
            </a:solidFill>
            <a:ln w="12700" algn="ctr">
              <a:solidFill>
                <a:srgbClr val="C0C0C0"/>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可能影响</a:t>
              </a:r>
              <a:endParaRPr lang="de-DE" sz="2400" b="1" noProof="1">
                <a:solidFill>
                  <a:schemeClr val="bg1"/>
                </a:solidFill>
                <a:latin typeface="Calibri" pitchFamily="34" charset="0"/>
              </a:endParaRPr>
            </a:p>
          </p:txBody>
        </p:sp>
        <p:sp>
          <p:nvSpPr>
            <p:cNvPr id="297024" name="Rectangle 5" descr="© INSCALE GmbH, 26.05.2010&#10;http://www.presentationload.com/"/>
            <p:cNvSpPr>
              <a:spLocks noChangeArrowheads="1"/>
            </p:cNvSpPr>
            <p:nvPr/>
          </p:nvSpPr>
          <p:spPr bwMode="gray">
            <a:xfrm>
              <a:off x="10422826" y="4151362"/>
              <a:ext cx="4020049" cy="3867854"/>
            </a:xfrm>
            <a:prstGeom prst="rect">
              <a:avLst/>
            </a:prstGeom>
            <a:solidFill>
              <a:schemeClr val="bg1">
                <a:lumMod val="95000"/>
              </a:schemeClr>
            </a:solidFill>
            <a:ln w="12700">
              <a:solidFill>
                <a:srgbClr val="DDDDDD"/>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457200" indent="-457200">
                <a:buFont typeface="Arial" panose="020B0604020202020204" pitchFamily="34" charset="0"/>
                <a:buChar char="•"/>
              </a:pPr>
              <a:r>
                <a:rPr lang="zh-CN" altLang="en-US" sz="2400" dirty="0"/>
                <a:t>该条款是主承销商的义务，降低发债成本</a:t>
              </a:r>
              <a:endParaRPr lang="en-US" altLang="zh-CN" sz="2400" dirty="0"/>
            </a:p>
            <a:p>
              <a:pPr marL="457200" indent="-457200">
                <a:buFont typeface="Arial" panose="020B0604020202020204" pitchFamily="34" charset="0"/>
                <a:buChar char="•"/>
              </a:pPr>
              <a:endParaRPr lang="zh-CN" altLang="en-US" sz="2400" dirty="0"/>
            </a:p>
            <a:p>
              <a:pPr marL="457200" indent="-457200">
                <a:buFont typeface="Arial" panose="020B0604020202020204" pitchFamily="34" charset="0"/>
                <a:buChar char="•"/>
              </a:pPr>
              <a:r>
                <a:rPr lang="zh-CN" altLang="en-US" sz="2400" dirty="0"/>
                <a:t>增强债券流动性，可以及时止损</a:t>
              </a:r>
            </a:p>
          </p:txBody>
        </p:sp>
        <p:sp>
          <p:nvSpPr>
            <p:cNvPr id="297025" name="Rectangle 65" descr="© INSCALE GmbH, 26.05.2010&#10;http://www.presentationload.com/"/>
            <p:cNvSpPr>
              <a:spLocks noChangeArrowheads="1"/>
            </p:cNvSpPr>
            <p:nvPr/>
          </p:nvSpPr>
          <p:spPr bwMode="gray">
            <a:xfrm>
              <a:off x="2821312" y="3640599"/>
              <a:ext cx="3388591" cy="510765"/>
            </a:xfrm>
            <a:prstGeom prst="rect">
              <a:avLst/>
            </a:prstGeom>
            <a:solidFill>
              <a:schemeClr val="accent5"/>
            </a:solidFill>
            <a:ln w="12700" algn="ctr">
              <a:solidFill>
                <a:srgbClr val="C0C0C0"/>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条款性质</a:t>
              </a:r>
              <a:endParaRPr lang="de-DE" sz="2400" b="1" noProof="1">
                <a:solidFill>
                  <a:schemeClr val="bg1"/>
                </a:solidFill>
                <a:latin typeface="Calibri" pitchFamily="34" charset="0"/>
              </a:endParaRPr>
            </a:p>
          </p:txBody>
        </p:sp>
        <p:sp>
          <p:nvSpPr>
            <p:cNvPr id="297026" name="Rectangle 5" descr="© INSCALE GmbH, 26.05.2010&#10;http://www.presentationload.com/"/>
            <p:cNvSpPr>
              <a:spLocks noChangeArrowheads="1"/>
            </p:cNvSpPr>
            <p:nvPr/>
          </p:nvSpPr>
          <p:spPr bwMode="gray">
            <a:xfrm>
              <a:off x="2821313" y="4151362"/>
              <a:ext cx="3388592" cy="3867854"/>
            </a:xfrm>
            <a:prstGeom prst="rect">
              <a:avLst/>
            </a:prstGeom>
            <a:solidFill>
              <a:schemeClr val="bg1">
                <a:lumMod val="95000"/>
              </a:schemeClr>
            </a:solidFill>
            <a:ln w="12700" algn="ctr">
              <a:solidFill>
                <a:srgbClr val="DDDDDD"/>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342900" indent="-342900">
                <a:buFont typeface="Arial" panose="020B0604020202020204" pitchFamily="34" charset="0"/>
                <a:buChar char="•"/>
              </a:pPr>
              <a:r>
                <a:rPr lang="zh-CN" altLang="en-US" sz="2400" dirty="0"/>
                <a:t>投资者在债券存续期内的约定时点，将所持有债券定向转让给主承销商的权利。</a:t>
              </a:r>
              <a:endParaRPr lang="en-US" altLang="zh-CN" sz="2400" dirty="0"/>
            </a:p>
            <a:p>
              <a:pPr marL="342900" indent="-342900">
                <a:buFont typeface="Arial" panose="020B0604020202020204" pitchFamily="34" charset="0"/>
                <a:buChar char="•"/>
              </a:pPr>
              <a:r>
                <a:rPr lang="zh-CN" altLang="en-US" sz="2400" dirty="0"/>
                <a:t>投资者可全部转让，也可部分转让。</a:t>
              </a:r>
            </a:p>
          </p:txBody>
        </p:sp>
        <p:sp>
          <p:nvSpPr>
            <p:cNvPr id="22" name="Text Box 69" descr="© INSCALE GmbH, 26.05.2010&#10;http://www.presentationload.com/"/>
            <p:cNvSpPr txBox="1">
              <a:spLocks noChangeArrowheads="1"/>
            </p:cNvSpPr>
            <p:nvPr/>
          </p:nvSpPr>
          <p:spPr bwMode="gray">
            <a:xfrm>
              <a:off x="2947315" y="2205060"/>
              <a:ext cx="1769356" cy="1023778"/>
            </a:xfrm>
            <a:prstGeom prst="rect">
              <a:avLst/>
            </a:prstGeom>
            <a:noFill/>
            <a:ln w="9525">
              <a:noFill/>
              <a:miter lim="800000"/>
              <a:headEnd/>
              <a:tailEnd/>
            </a:ln>
            <a:effectLst/>
          </p:spPr>
          <p:txBody>
            <a:bodyPr anchor="ctr"/>
            <a:lstStyle/>
            <a:p>
              <a:pPr algn="ctr">
                <a:spcBef>
                  <a:spcPct val="50000"/>
                </a:spcBef>
              </a:pPr>
              <a:r>
                <a:rPr lang="zh-CN" altLang="en-US" sz="2400" dirty="0"/>
                <a:t>发行人赎回</a:t>
              </a:r>
              <a:endParaRPr lang="de-DE" sz="2400" noProof="1"/>
            </a:p>
          </p:txBody>
        </p:sp>
        <p:sp>
          <p:nvSpPr>
            <p:cNvPr id="23" name="Text Box 71" descr="© INSCALE GmbH, 26.05.2010&#10;http://www.presentationload.com/"/>
            <p:cNvSpPr txBox="1">
              <a:spLocks noChangeArrowheads="1"/>
            </p:cNvSpPr>
            <p:nvPr/>
          </p:nvSpPr>
          <p:spPr bwMode="gray">
            <a:xfrm>
              <a:off x="6758918" y="2205060"/>
              <a:ext cx="1807047" cy="1023778"/>
            </a:xfrm>
            <a:prstGeom prst="rect">
              <a:avLst/>
            </a:prstGeom>
            <a:noFill/>
            <a:ln w="9525">
              <a:noFill/>
              <a:miter lim="800000"/>
              <a:headEnd/>
              <a:tailEnd/>
            </a:ln>
            <a:effectLst/>
          </p:spPr>
          <p:txBody>
            <a:bodyPr anchor="ctr"/>
            <a:lstStyle/>
            <a:p>
              <a:pPr algn="ctr">
                <a:spcBef>
                  <a:spcPct val="50000"/>
                </a:spcBef>
              </a:pPr>
              <a:r>
                <a:rPr lang="zh-CN" altLang="en-US" sz="2400" dirty="0"/>
                <a:t>票面利率调整</a:t>
              </a:r>
              <a:endParaRPr lang="de-DE" sz="2400" noProof="1"/>
            </a:p>
          </p:txBody>
        </p:sp>
        <p:sp>
          <p:nvSpPr>
            <p:cNvPr id="24" name="Text Box 72" descr="© INSCALE GmbH, 26.05.2010&#10;http://www.presentationload.com/"/>
            <p:cNvSpPr txBox="1">
              <a:spLocks noChangeArrowheads="1"/>
            </p:cNvSpPr>
            <p:nvPr/>
          </p:nvSpPr>
          <p:spPr bwMode="gray">
            <a:xfrm>
              <a:off x="8642220"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dirty="0"/>
                <a:t>提前偿还</a:t>
              </a:r>
              <a:endParaRPr lang="de-DE" sz="2400" noProof="1"/>
            </a:p>
          </p:txBody>
        </p:sp>
        <p:sp>
          <p:nvSpPr>
            <p:cNvPr id="25" name="Text Box 73" descr="© INSCALE GmbH, 26.05.2010&#10;http://www.presentationload.com/"/>
            <p:cNvSpPr txBox="1">
              <a:spLocks noChangeArrowheads="1"/>
            </p:cNvSpPr>
            <p:nvPr/>
          </p:nvSpPr>
          <p:spPr bwMode="gray">
            <a:xfrm>
              <a:off x="10570521"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dirty="0"/>
                <a:t>延期支付</a:t>
              </a:r>
              <a:endParaRPr lang="de-DE" sz="2400" noProof="1"/>
            </a:p>
          </p:txBody>
        </p:sp>
        <p:sp>
          <p:nvSpPr>
            <p:cNvPr id="26" name="Text Box 74" descr="© INSCALE GmbH, 26.05.2010&#10;http://www.presentationload.com/"/>
            <p:cNvSpPr txBox="1">
              <a:spLocks noChangeArrowheads="1"/>
            </p:cNvSpPr>
            <p:nvPr/>
          </p:nvSpPr>
          <p:spPr bwMode="gray">
            <a:xfrm>
              <a:off x="12453822" y="2205060"/>
              <a:ext cx="1780606" cy="1023778"/>
            </a:xfrm>
            <a:prstGeom prst="rect">
              <a:avLst/>
            </a:prstGeom>
            <a:noFill/>
            <a:ln w="9525">
              <a:noFill/>
              <a:miter lim="800000"/>
              <a:headEnd/>
              <a:tailEnd/>
            </a:ln>
            <a:effectLst/>
          </p:spPr>
          <p:txBody>
            <a:bodyPr anchor="ctr"/>
            <a:lstStyle/>
            <a:p>
              <a:pPr algn="ctr">
                <a:spcBef>
                  <a:spcPct val="50000"/>
                </a:spcBef>
              </a:pPr>
              <a:r>
                <a:rPr lang="zh-CN" altLang="en-US" sz="2400" b="1" dirty="0">
                  <a:solidFill>
                    <a:schemeClr val="bg1"/>
                  </a:solidFill>
                </a:rPr>
                <a:t>定向转让</a:t>
              </a:r>
              <a:endParaRPr lang="de-DE" sz="2400" b="1" noProof="1">
                <a:solidFill>
                  <a:schemeClr val="bg1"/>
                </a:solidFill>
              </a:endParaRPr>
            </a:p>
          </p:txBody>
        </p:sp>
        <p:sp>
          <p:nvSpPr>
            <p:cNvPr id="27" name="Text Box 70" descr="© INSCALE GmbH, 26.05.2010&#10;http://www.presentationload.com/"/>
            <p:cNvSpPr txBox="1">
              <a:spLocks noChangeArrowheads="1"/>
            </p:cNvSpPr>
            <p:nvPr/>
          </p:nvSpPr>
          <p:spPr bwMode="gray">
            <a:xfrm>
              <a:off x="4819366" y="2205060"/>
              <a:ext cx="1807047" cy="999998"/>
            </a:xfrm>
            <a:prstGeom prst="rect">
              <a:avLst/>
            </a:prstGeom>
            <a:noFill/>
            <a:ln w="9525">
              <a:noFill/>
              <a:miter lim="800000"/>
              <a:headEnd/>
              <a:tailEnd/>
            </a:ln>
            <a:effectLst/>
          </p:spPr>
          <p:txBody>
            <a:bodyPr anchor="ctr"/>
            <a:lstStyle/>
            <a:p>
              <a:pPr algn="ctr">
                <a:spcBef>
                  <a:spcPct val="50000"/>
                </a:spcBef>
              </a:pPr>
              <a:r>
                <a:rPr lang="zh-CN" altLang="en-US" sz="2400" dirty="0"/>
                <a:t>投资人回售</a:t>
              </a:r>
              <a:endParaRPr lang="de-DE" sz="2400" noProof="1"/>
            </a:p>
          </p:txBody>
        </p:sp>
        <p:sp>
          <p:nvSpPr>
            <p:cNvPr id="29" name="Rectangle 65" descr="© INSCALE GmbH, 26.05.2010&#10;http://www.presentationload.com/">
              <a:extLst>
                <a:ext uri="{FF2B5EF4-FFF2-40B4-BE49-F238E27FC236}">
                  <a16:creationId xmlns:a16="http://schemas.microsoft.com/office/drawing/2014/main" id="{419319D0-9346-434E-83DF-0982A595F022}"/>
                </a:ext>
              </a:extLst>
            </p:cNvPr>
            <p:cNvSpPr>
              <a:spLocks noChangeArrowheads="1"/>
            </p:cNvSpPr>
            <p:nvPr/>
          </p:nvSpPr>
          <p:spPr bwMode="gray">
            <a:xfrm>
              <a:off x="6428161" y="3640599"/>
              <a:ext cx="3723008" cy="510765"/>
            </a:xfrm>
            <a:prstGeom prst="rect">
              <a:avLst/>
            </a:prstGeom>
            <a:solidFill>
              <a:srgbClr val="00B0F0"/>
            </a:solidFill>
            <a:ln w="12700" algn="ctr">
              <a:solidFill>
                <a:schemeClr val="bg1"/>
              </a:solidFill>
              <a:miter lim="800000"/>
              <a:headEnd/>
              <a:tailEnd/>
            </a:ln>
            <a:effectLst>
              <a:outerShdw blurRad="127000" dist="38100" dir="2700000" algn="tl" rotWithShape="0">
                <a:prstClr val="black">
                  <a:alpha val="40000"/>
                </a:prstClr>
              </a:outerShdw>
            </a:effectLst>
          </p:spPr>
          <p:txBody>
            <a:bodyPr lIns="408200" tIns="0" rIns="0" bIns="0" anchor="ctr"/>
            <a:lstStyle/>
            <a:p>
              <a:pPr defTabSz="1136313" eaLnBrk="0" hangingPunct="0">
                <a:defRPr/>
              </a:pPr>
              <a:r>
                <a:rPr lang="zh-CN" altLang="en-US" sz="2400" b="1" noProof="1">
                  <a:solidFill>
                    <a:schemeClr val="bg1"/>
                  </a:solidFill>
                  <a:latin typeface="Calibri" pitchFamily="34" charset="0"/>
                </a:rPr>
                <a:t>条款要素</a:t>
              </a:r>
              <a:endParaRPr lang="de-DE" sz="2400" b="1" noProof="1">
                <a:solidFill>
                  <a:schemeClr val="bg1"/>
                </a:solidFill>
                <a:latin typeface="Calibri" pitchFamily="34" charset="0"/>
              </a:endParaRPr>
            </a:p>
          </p:txBody>
        </p:sp>
        <p:sp>
          <p:nvSpPr>
            <p:cNvPr id="30" name="Rectangle 5" descr="© INSCALE GmbH, 26.05.2010&#10;http://www.presentationload.com/">
              <a:extLst>
                <a:ext uri="{FF2B5EF4-FFF2-40B4-BE49-F238E27FC236}">
                  <a16:creationId xmlns:a16="http://schemas.microsoft.com/office/drawing/2014/main" id="{F9541BC0-D698-4F5D-8C14-ACAC1BA65D63}"/>
                </a:ext>
              </a:extLst>
            </p:cNvPr>
            <p:cNvSpPr>
              <a:spLocks noChangeArrowheads="1"/>
            </p:cNvSpPr>
            <p:nvPr/>
          </p:nvSpPr>
          <p:spPr bwMode="gray">
            <a:xfrm>
              <a:off x="6428161" y="4151362"/>
              <a:ext cx="3723008" cy="3867854"/>
            </a:xfrm>
            <a:prstGeom prst="rect">
              <a:avLst/>
            </a:prstGeom>
            <a:solidFill>
              <a:schemeClr val="bg1">
                <a:lumMod val="95000"/>
              </a:schemeClr>
            </a:solidFill>
            <a:ln w="12700" algn="ctr">
              <a:solidFill>
                <a:schemeClr val="bg1"/>
              </a:solidFill>
              <a:miter lim="800000"/>
              <a:headEnd/>
              <a:tailEnd/>
            </a:ln>
            <a:effectLst>
              <a:outerShdw blurRad="127000" dist="38100" dir="2700000" algn="tl" rotWithShape="0">
                <a:prstClr val="black">
                  <a:alpha val="40000"/>
                </a:prstClr>
              </a:outerShdw>
            </a:effectLst>
          </p:spPr>
          <p:txBody>
            <a:bodyPr lIns="153075" tIns="153075" rIns="204100" bIns="102050"/>
            <a:lstStyle/>
            <a:p>
              <a:pPr marL="285750" indent="-285750">
                <a:lnSpc>
                  <a:spcPct val="120000"/>
                </a:lnSpc>
                <a:buFont typeface="Arial" panose="020B0604020202020204" pitchFamily="34" charset="0"/>
                <a:buChar char="•"/>
              </a:pPr>
              <a:r>
                <a:rPr lang="zh-CN" altLang="en-US" sz="2400" dirty="0"/>
                <a:t>转让范围限制：私募债流通范围小于</a:t>
              </a:r>
              <a:r>
                <a:rPr lang="en-US" altLang="zh-CN" sz="2400" dirty="0"/>
                <a:t>200</a:t>
              </a:r>
              <a:r>
                <a:rPr lang="zh-CN" altLang="en-US" sz="2400" dirty="0"/>
                <a:t>人</a:t>
              </a:r>
              <a:endParaRPr lang="en-US" altLang="zh-CN" sz="2400" dirty="0"/>
            </a:p>
          </p:txBody>
        </p:sp>
      </p:grpSp>
    </p:spTree>
    <p:extLst>
      <p:ext uri="{BB962C8B-B14F-4D97-AF65-F5344CB8AC3E}">
        <p14:creationId xmlns:p14="http://schemas.microsoft.com/office/powerpoint/2010/main" val="2202380969"/>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961AD7-B4D9-4775-8980-82204736681F}"/>
              </a:ext>
            </a:extLst>
          </p:cNvPr>
          <p:cNvSpPr>
            <a:spLocks noGrp="1"/>
          </p:cNvSpPr>
          <p:nvPr>
            <p:ph type="title"/>
          </p:nvPr>
        </p:nvSpPr>
        <p:spPr/>
        <p:txBody>
          <a:bodyPr/>
          <a:lstStyle/>
          <a:p>
            <a:r>
              <a:rPr lang="zh-CN" altLang="en-US" dirty="0"/>
              <a:t>投资者保护条款</a:t>
            </a:r>
          </a:p>
        </p:txBody>
      </p:sp>
      <p:sp>
        <p:nvSpPr>
          <p:cNvPr id="3" name="内容占位符 2">
            <a:extLst>
              <a:ext uri="{FF2B5EF4-FFF2-40B4-BE49-F238E27FC236}">
                <a16:creationId xmlns:a16="http://schemas.microsoft.com/office/drawing/2014/main" id="{9C79FD5B-4656-45EF-9DAD-FFF4B7CD91BB}"/>
              </a:ext>
            </a:extLst>
          </p:cNvPr>
          <p:cNvSpPr>
            <a:spLocks noGrp="1"/>
          </p:cNvSpPr>
          <p:nvPr>
            <p:ph idx="1"/>
          </p:nvPr>
        </p:nvSpPr>
        <p:spPr/>
        <p:txBody>
          <a:bodyPr>
            <a:normAutofit/>
          </a:bodyPr>
          <a:lstStyle/>
          <a:p>
            <a:r>
              <a:rPr lang="en-US" altLang="zh-CN" dirty="0"/>
              <a:t>2016</a:t>
            </a:r>
            <a:r>
              <a:rPr lang="zh-CN" altLang="en-US" dirty="0"/>
              <a:t>年</a:t>
            </a:r>
            <a:r>
              <a:rPr lang="en-US" altLang="zh-CN" dirty="0"/>
              <a:t>9</a:t>
            </a:r>
            <a:r>
              <a:rPr lang="zh-CN" altLang="en-US" dirty="0"/>
              <a:t>月</a:t>
            </a:r>
            <a:r>
              <a:rPr lang="en-US" altLang="zh-CN" dirty="0"/>
              <a:t>8</a:t>
            </a:r>
            <a:r>
              <a:rPr lang="zh-CN" altLang="en-US" dirty="0"/>
              <a:t>日，中国银行间市场交易商协会</a:t>
            </a:r>
            <a:r>
              <a:rPr lang="en-US" altLang="zh-CN" dirty="0"/>
              <a:t>《</a:t>
            </a:r>
            <a:r>
              <a:rPr lang="zh-CN" altLang="en-US" dirty="0"/>
              <a:t>投资人保护条款范例</a:t>
            </a:r>
            <a:r>
              <a:rPr lang="en-US" altLang="zh-CN" dirty="0"/>
              <a:t>》</a:t>
            </a:r>
            <a:r>
              <a:rPr lang="zh-CN" altLang="en-US" dirty="0"/>
              <a:t>将“投资者保护条款”定义为：为保护债券投资者利益，发行人事先设定的承诺和处置措施条款。</a:t>
            </a:r>
            <a:br>
              <a:rPr lang="zh-CN" altLang="en-US" dirty="0"/>
            </a:br>
            <a:endParaRPr lang="zh-CN" altLang="en-US" dirty="0"/>
          </a:p>
          <a:p>
            <a:endParaRPr lang="zh-CN" altLang="en-US" dirty="0"/>
          </a:p>
        </p:txBody>
      </p:sp>
      <p:grpSp>
        <p:nvGrpSpPr>
          <p:cNvPr id="33" name="组合 32">
            <a:extLst>
              <a:ext uri="{FF2B5EF4-FFF2-40B4-BE49-F238E27FC236}">
                <a16:creationId xmlns:a16="http://schemas.microsoft.com/office/drawing/2014/main" id="{945B5DCC-36CD-47DE-9B70-903FBF29DB47}"/>
              </a:ext>
            </a:extLst>
          </p:cNvPr>
          <p:cNvGrpSpPr/>
          <p:nvPr/>
        </p:nvGrpSpPr>
        <p:grpSpPr>
          <a:xfrm>
            <a:off x="1955250" y="3365501"/>
            <a:ext cx="13678449" cy="5299858"/>
            <a:chOff x="1667566" y="2312014"/>
            <a:chExt cx="14281589" cy="5731046"/>
          </a:xfrm>
        </p:grpSpPr>
        <p:sp>
          <p:nvSpPr>
            <p:cNvPr id="34" name="Rectangle 71">
              <a:extLst>
                <a:ext uri="{FF2B5EF4-FFF2-40B4-BE49-F238E27FC236}">
                  <a16:creationId xmlns:a16="http://schemas.microsoft.com/office/drawing/2014/main" id="{27BC0570-6F3E-4DC9-878E-C53884FD2334}"/>
                </a:ext>
              </a:extLst>
            </p:cNvPr>
            <p:cNvSpPr/>
            <p:nvPr/>
          </p:nvSpPr>
          <p:spPr bwMode="auto">
            <a:xfrm>
              <a:off x="1667578" y="2431602"/>
              <a:ext cx="14278606" cy="5611458"/>
            </a:xfrm>
            <a:prstGeom prst="rect">
              <a:avLst/>
            </a:prstGeom>
            <a:solidFill>
              <a:schemeClr val="tx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84679" tIns="84679" rIns="84679" bIns="84679" numCol="1" spcCol="0" rtlCol="0" fromWordArt="0" anchor="ctr"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algn="ctr" defTabSz="1693056" fontAlgn="base">
                <a:spcBef>
                  <a:spcPct val="0"/>
                </a:spcBef>
                <a:spcAft>
                  <a:spcPct val="0"/>
                </a:spcAft>
                <a:defRPr/>
              </a:pPr>
              <a:endParaRPr lang="en-US" sz="4075" b="1"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35" name="Group 76">
              <a:extLst>
                <a:ext uri="{FF2B5EF4-FFF2-40B4-BE49-F238E27FC236}">
                  <a16:creationId xmlns:a16="http://schemas.microsoft.com/office/drawing/2014/main" id="{A53CBDD4-5E63-45B7-886F-2A38251C81A4}"/>
                </a:ext>
              </a:extLst>
            </p:cNvPr>
            <p:cNvGrpSpPr/>
            <p:nvPr/>
          </p:nvGrpSpPr>
          <p:grpSpPr>
            <a:xfrm>
              <a:off x="1667566" y="2438131"/>
              <a:ext cx="4746799" cy="4454659"/>
              <a:chOff x="4167838" y="500190"/>
              <a:chExt cx="2670048" cy="2505722"/>
            </a:xfrm>
          </p:grpSpPr>
          <p:sp>
            <p:nvSpPr>
              <p:cNvPr id="44" name="Rectangle 77">
                <a:extLst>
                  <a:ext uri="{FF2B5EF4-FFF2-40B4-BE49-F238E27FC236}">
                    <a16:creationId xmlns:a16="http://schemas.microsoft.com/office/drawing/2014/main" id="{16D27576-72B8-42D9-878A-8FBCB79D7E75}"/>
                  </a:ext>
                </a:extLst>
              </p:cNvPr>
              <p:cNvSpPr>
                <a:spLocks noChangeAspect="1"/>
              </p:cNvSpPr>
              <p:nvPr/>
            </p:nvSpPr>
            <p:spPr bwMode="auto">
              <a:xfrm>
                <a:off x="4167838" y="500190"/>
                <a:ext cx="2670048" cy="2505722"/>
              </a:xfrm>
              <a:prstGeom prst="rect">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38805" tIns="84701" rIns="338805" bIns="169403" numCol="1" spcCol="0" rtlCol="0" fromWordArt="0" anchor="b"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defTabSz="1270328">
                  <a:defRPr/>
                </a:pPr>
                <a:r>
                  <a:rPr lang="zh-CN" altLang="en-US" sz="2800" b="1" dirty="0"/>
                  <a:t>交叉保护条款</a:t>
                </a:r>
                <a:endParaRPr lang="en-US" altLang="ja-JP" sz="2779" b="1" kern="0" dirty="0">
                  <a:solidFill>
                    <a:schemeClr val="bg1"/>
                  </a:solidFill>
                  <a:latin typeface="Segoe UI"/>
                </a:endParaRPr>
              </a:p>
            </p:txBody>
          </p:sp>
          <p:sp>
            <p:nvSpPr>
              <p:cNvPr id="45" name="Rectangle 78">
                <a:extLst>
                  <a:ext uri="{FF2B5EF4-FFF2-40B4-BE49-F238E27FC236}">
                    <a16:creationId xmlns:a16="http://schemas.microsoft.com/office/drawing/2014/main" id="{1F0D8F70-7A42-4C8E-A84C-5C15BDD08FB5}"/>
                  </a:ext>
                </a:extLst>
              </p:cNvPr>
              <p:cNvSpPr>
                <a:spLocks noChangeAspect="1"/>
              </p:cNvSpPr>
              <p:nvPr/>
            </p:nvSpPr>
            <p:spPr bwMode="auto">
              <a:xfrm>
                <a:off x="4360865" y="1155488"/>
                <a:ext cx="914400" cy="914400"/>
              </a:xfrm>
              <a:prstGeom prst="rect">
                <a:avLst/>
              </a:prstGeom>
              <a:solidFill>
                <a:srgbClr val="FFFFFF">
                  <a:alpha val="14902"/>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69403" tIns="84701" rIns="169403" bIns="84701" numCol="1" spcCol="0" rtlCol="0" fromWordArt="0" anchor="ctr"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algn="ctr" defTabSz="1270328">
                  <a:defRPr/>
                </a:pPr>
                <a:endParaRPr lang="en-US" sz="2594" b="1" kern="0" dirty="0">
                  <a:solidFill>
                    <a:srgbClr val="FFFFFF"/>
                  </a:solidFill>
                  <a:latin typeface="Segoe UI"/>
                </a:endParaRPr>
              </a:p>
            </p:txBody>
          </p:sp>
          <p:sp>
            <p:nvSpPr>
              <p:cNvPr id="46" name="TextBox 79">
                <a:extLst>
                  <a:ext uri="{FF2B5EF4-FFF2-40B4-BE49-F238E27FC236}">
                    <a16:creationId xmlns:a16="http://schemas.microsoft.com/office/drawing/2014/main" id="{786D055D-CA40-4674-97FC-A41BC957C7A6}"/>
                  </a:ext>
                </a:extLst>
              </p:cNvPr>
              <p:cNvSpPr txBox="1"/>
              <p:nvPr/>
            </p:nvSpPr>
            <p:spPr>
              <a:xfrm rot="19843409">
                <a:off x="4410687" y="1202946"/>
                <a:ext cx="1726633" cy="370724"/>
              </a:xfrm>
              <a:prstGeom prst="rect">
                <a:avLst/>
              </a:prstGeom>
              <a:noFill/>
              <a:ln>
                <a:noFill/>
              </a:ln>
            </p:spPr>
            <p:txBody>
              <a:bodyPr wrap="square" lIns="0" tIns="0" rIns="0" bIns="0" rtlCol="0">
                <a:spAutoFit/>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defTabSz="1270328">
                  <a:defRPr/>
                </a:pPr>
                <a:r>
                  <a:rPr lang="en-US" sz="3706" b="1" kern="0" spc="-129" dirty="0">
                    <a:solidFill>
                      <a:srgbClr val="FFFFFF"/>
                    </a:solidFill>
                    <a:latin typeface="Segoe UI"/>
                  </a:rPr>
                  <a:t>ab****</a:t>
                </a:r>
              </a:p>
            </p:txBody>
          </p:sp>
        </p:grpSp>
        <p:grpSp>
          <p:nvGrpSpPr>
            <p:cNvPr id="36" name="Group 80">
              <a:extLst>
                <a:ext uri="{FF2B5EF4-FFF2-40B4-BE49-F238E27FC236}">
                  <a16:creationId xmlns:a16="http://schemas.microsoft.com/office/drawing/2014/main" id="{FDCFA95A-FD44-4D97-B1D0-659681932852}"/>
                </a:ext>
              </a:extLst>
            </p:cNvPr>
            <p:cNvGrpSpPr/>
            <p:nvPr/>
          </p:nvGrpSpPr>
          <p:grpSpPr>
            <a:xfrm>
              <a:off x="6384956" y="2437504"/>
              <a:ext cx="4799738" cy="4455286"/>
              <a:chOff x="202480" y="-246617"/>
              <a:chExt cx="2708680" cy="2506074"/>
            </a:xfrm>
          </p:grpSpPr>
          <p:sp>
            <p:nvSpPr>
              <p:cNvPr id="42" name="Rectangle 81">
                <a:extLst>
                  <a:ext uri="{FF2B5EF4-FFF2-40B4-BE49-F238E27FC236}">
                    <a16:creationId xmlns:a16="http://schemas.microsoft.com/office/drawing/2014/main" id="{6B7C08CE-97A1-47DA-9718-A5324B1102D2}"/>
                  </a:ext>
                </a:extLst>
              </p:cNvPr>
              <p:cNvSpPr>
                <a:spLocks/>
              </p:cNvSpPr>
              <p:nvPr/>
            </p:nvSpPr>
            <p:spPr bwMode="auto">
              <a:xfrm>
                <a:off x="202480" y="-246617"/>
                <a:ext cx="2708680" cy="2506074"/>
              </a:xfrm>
              <a:prstGeom prst="rect">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38805" tIns="84701" rIns="169403" bIns="169403" numCol="1" spcCol="0" rtlCol="0" fromWordArt="0" anchor="b"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defTabSz="1270328">
                  <a:defRPr/>
                </a:pPr>
                <a:r>
                  <a:rPr lang="zh-CN" altLang="en-US" sz="2800" b="1" dirty="0"/>
                  <a:t>事先约束条款</a:t>
                </a:r>
                <a:endParaRPr lang="en-US" sz="2779" b="1" kern="0" dirty="0">
                  <a:solidFill>
                    <a:schemeClr val="bg1"/>
                  </a:solidFill>
                  <a:latin typeface="Segoe UI"/>
                </a:endParaRPr>
              </a:p>
            </p:txBody>
          </p:sp>
          <p:sp>
            <p:nvSpPr>
              <p:cNvPr id="43" name="Freeform 8">
                <a:extLst>
                  <a:ext uri="{FF2B5EF4-FFF2-40B4-BE49-F238E27FC236}">
                    <a16:creationId xmlns:a16="http://schemas.microsoft.com/office/drawing/2014/main" id="{E2F3925F-0AC0-4A17-B9D3-0D92DB2CEA01}"/>
                  </a:ext>
                </a:extLst>
              </p:cNvPr>
              <p:cNvSpPr>
                <a:spLocks noChangeAspect="1" noEditPoints="1"/>
              </p:cNvSpPr>
              <p:nvPr/>
            </p:nvSpPr>
            <p:spPr bwMode="black">
              <a:xfrm>
                <a:off x="319758" y="341938"/>
                <a:ext cx="839969" cy="839530"/>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solidFill>
                  <a:schemeClr val="bg1"/>
                </a:solidFill>
              </a:ln>
            </p:spPr>
            <p:txBody>
              <a:bodyPr vert="horz" wrap="square" lIns="114374" tIns="57189" rIns="114374" bIns="57189" numCol="1" anchor="t" anchorCtr="0" compatLnSpc="1">
                <a:prstTxWarp prst="textNoShape">
                  <a:avLst/>
                </a:prstTxWarp>
              </a:bodyPr>
              <a:ls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a:lstStyle>
              <a:p>
                <a:pPr defTabSz="1270328">
                  <a:defRPr/>
                </a:pPr>
                <a:endParaRPr lang="en-US" sz="2223" b="1" kern="0" dirty="0">
                  <a:solidFill>
                    <a:srgbClr val="000000"/>
                  </a:solidFill>
                  <a:latin typeface="Segoe UI"/>
                </a:endParaRPr>
              </a:p>
            </p:txBody>
          </p:sp>
        </p:grpSp>
        <p:sp>
          <p:nvSpPr>
            <p:cNvPr id="40" name="Rectangle 84">
              <a:extLst>
                <a:ext uri="{FF2B5EF4-FFF2-40B4-BE49-F238E27FC236}">
                  <a16:creationId xmlns:a16="http://schemas.microsoft.com/office/drawing/2014/main" id="{3C4DDF9A-3FC5-4970-B887-E61C0B482F17}"/>
                </a:ext>
              </a:extLst>
            </p:cNvPr>
            <p:cNvSpPr>
              <a:spLocks noChangeAspect="1"/>
            </p:cNvSpPr>
            <p:nvPr/>
          </p:nvSpPr>
          <p:spPr bwMode="auto">
            <a:xfrm>
              <a:off x="11153334" y="2422447"/>
              <a:ext cx="4795821" cy="4470343"/>
            </a:xfrm>
            <a:prstGeom prst="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38805" tIns="84701" rIns="169403" bIns="169403" numCol="1" spcCol="0" rtlCol="0" fromWordArt="0" anchor="b" anchorCtr="0" forceAA="0" compatLnSpc="1">
              <a:prstTxWarp prst="textNoShape">
                <a:avLst/>
              </a:prstTxWarp>
              <a:noAutofit/>
            </a:bodyPr>
            <a:lstStyle>
              <a:defPPr>
                <a:defRPr lang="zh-CN"/>
              </a:defPPr>
              <a:lvl1pPr marL="0" algn="l" defTabSz="1295856" rtl="0" eaLnBrk="1" latinLnBrk="0" hangingPunct="1">
                <a:defRPr sz="2551" kern="1200">
                  <a:solidFill>
                    <a:schemeClr val="lt1"/>
                  </a:solidFill>
                  <a:latin typeface="+mn-lt"/>
                  <a:ea typeface="+mn-ea"/>
                  <a:cs typeface="+mn-cs"/>
                </a:defRPr>
              </a:lvl1pPr>
              <a:lvl2pPr marL="647929" algn="l" defTabSz="1295856" rtl="0" eaLnBrk="1" latinLnBrk="0" hangingPunct="1">
                <a:defRPr sz="2551" kern="1200">
                  <a:solidFill>
                    <a:schemeClr val="lt1"/>
                  </a:solidFill>
                  <a:latin typeface="+mn-lt"/>
                  <a:ea typeface="+mn-ea"/>
                  <a:cs typeface="+mn-cs"/>
                </a:defRPr>
              </a:lvl2pPr>
              <a:lvl3pPr marL="1295856" algn="l" defTabSz="1295856" rtl="0" eaLnBrk="1" latinLnBrk="0" hangingPunct="1">
                <a:defRPr sz="2551" kern="1200">
                  <a:solidFill>
                    <a:schemeClr val="lt1"/>
                  </a:solidFill>
                  <a:latin typeface="+mn-lt"/>
                  <a:ea typeface="+mn-ea"/>
                  <a:cs typeface="+mn-cs"/>
                </a:defRPr>
              </a:lvl3pPr>
              <a:lvl4pPr marL="1943784" algn="l" defTabSz="1295856" rtl="0" eaLnBrk="1" latinLnBrk="0" hangingPunct="1">
                <a:defRPr sz="2551" kern="1200">
                  <a:solidFill>
                    <a:schemeClr val="lt1"/>
                  </a:solidFill>
                  <a:latin typeface="+mn-lt"/>
                  <a:ea typeface="+mn-ea"/>
                  <a:cs typeface="+mn-cs"/>
                </a:defRPr>
              </a:lvl4pPr>
              <a:lvl5pPr marL="2591712" algn="l" defTabSz="1295856" rtl="0" eaLnBrk="1" latinLnBrk="0" hangingPunct="1">
                <a:defRPr sz="2551" kern="1200">
                  <a:solidFill>
                    <a:schemeClr val="lt1"/>
                  </a:solidFill>
                  <a:latin typeface="+mn-lt"/>
                  <a:ea typeface="+mn-ea"/>
                  <a:cs typeface="+mn-cs"/>
                </a:defRPr>
              </a:lvl5pPr>
              <a:lvl6pPr marL="3239640" algn="l" defTabSz="1295856" rtl="0" eaLnBrk="1" latinLnBrk="0" hangingPunct="1">
                <a:defRPr sz="2551" kern="1200">
                  <a:solidFill>
                    <a:schemeClr val="lt1"/>
                  </a:solidFill>
                  <a:latin typeface="+mn-lt"/>
                  <a:ea typeface="+mn-ea"/>
                  <a:cs typeface="+mn-cs"/>
                </a:defRPr>
              </a:lvl6pPr>
              <a:lvl7pPr marL="3887569" algn="l" defTabSz="1295856" rtl="0" eaLnBrk="1" latinLnBrk="0" hangingPunct="1">
                <a:defRPr sz="2551" kern="1200">
                  <a:solidFill>
                    <a:schemeClr val="lt1"/>
                  </a:solidFill>
                  <a:latin typeface="+mn-lt"/>
                  <a:ea typeface="+mn-ea"/>
                  <a:cs typeface="+mn-cs"/>
                </a:defRPr>
              </a:lvl7pPr>
              <a:lvl8pPr marL="4535496" algn="l" defTabSz="1295856" rtl="0" eaLnBrk="1" latinLnBrk="0" hangingPunct="1">
                <a:defRPr sz="2551" kern="1200">
                  <a:solidFill>
                    <a:schemeClr val="lt1"/>
                  </a:solidFill>
                  <a:latin typeface="+mn-lt"/>
                  <a:ea typeface="+mn-ea"/>
                  <a:cs typeface="+mn-cs"/>
                </a:defRPr>
              </a:lvl8pPr>
              <a:lvl9pPr marL="5183425" algn="l" defTabSz="1295856" rtl="0" eaLnBrk="1" latinLnBrk="0" hangingPunct="1">
                <a:defRPr sz="2551" kern="1200">
                  <a:solidFill>
                    <a:schemeClr val="lt1"/>
                  </a:solidFill>
                  <a:latin typeface="+mn-lt"/>
                  <a:ea typeface="+mn-ea"/>
                  <a:cs typeface="+mn-cs"/>
                </a:defRPr>
              </a:lvl9pPr>
            </a:lstStyle>
            <a:p>
              <a:pPr defTabSz="1270328">
                <a:defRPr/>
              </a:pPr>
              <a:r>
                <a:rPr lang="zh-CN" altLang="en-US" sz="2800" b="1" dirty="0"/>
                <a:t>控制权变更条款</a:t>
              </a:r>
              <a:endParaRPr lang="en-US" sz="2779" b="1" kern="0" dirty="0">
                <a:solidFill>
                  <a:schemeClr val="bg1"/>
                </a:solidFill>
                <a:latin typeface="Segoe UI"/>
              </a:endParaRPr>
            </a:p>
          </p:txBody>
        </p:sp>
        <p:cxnSp>
          <p:nvCxnSpPr>
            <p:cNvPr id="38" name="Straight Connector 88">
              <a:extLst>
                <a:ext uri="{FF2B5EF4-FFF2-40B4-BE49-F238E27FC236}">
                  <a16:creationId xmlns:a16="http://schemas.microsoft.com/office/drawing/2014/main" id="{A87661A4-132D-4E7E-9073-E224FBD8C6FA}"/>
                </a:ext>
              </a:extLst>
            </p:cNvPr>
            <p:cNvCxnSpPr>
              <a:cxnSpLocks/>
            </p:cNvCxnSpPr>
            <p:nvPr/>
          </p:nvCxnSpPr>
          <p:spPr>
            <a:xfrm>
              <a:off x="11211429" y="2327681"/>
              <a:ext cx="0" cy="4573868"/>
            </a:xfrm>
            <a:prstGeom prst="line">
              <a:avLst/>
            </a:prstGeom>
            <a:ln>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89">
              <a:extLst>
                <a:ext uri="{FF2B5EF4-FFF2-40B4-BE49-F238E27FC236}">
                  <a16:creationId xmlns:a16="http://schemas.microsoft.com/office/drawing/2014/main" id="{CD88865C-6A16-418D-82EE-2C479599AE58}"/>
                </a:ext>
              </a:extLst>
            </p:cNvPr>
            <p:cNvCxnSpPr>
              <a:cxnSpLocks/>
            </p:cNvCxnSpPr>
            <p:nvPr/>
          </p:nvCxnSpPr>
          <p:spPr>
            <a:xfrm>
              <a:off x="6439349" y="2312014"/>
              <a:ext cx="0" cy="4573868"/>
            </a:xfrm>
            <a:prstGeom prst="line">
              <a:avLst/>
            </a:prstGeom>
            <a:ln>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8" name="矩形 17">
            <a:extLst>
              <a:ext uri="{FF2B5EF4-FFF2-40B4-BE49-F238E27FC236}">
                <a16:creationId xmlns:a16="http://schemas.microsoft.com/office/drawing/2014/main" id="{BAC0319C-B645-46D3-B84F-0FFBDF732C6A}"/>
              </a:ext>
            </a:extLst>
          </p:cNvPr>
          <p:cNvSpPr/>
          <p:nvPr/>
        </p:nvSpPr>
        <p:spPr>
          <a:xfrm>
            <a:off x="2283920" y="7863070"/>
            <a:ext cx="11863879" cy="523220"/>
          </a:xfrm>
          <a:prstGeom prst="rect">
            <a:avLst/>
          </a:prstGeom>
        </p:spPr>
        <p:txBody>
          <a:bodyPr wrap="square">
            <a:spAutoFit/>
          </a:bodyPr>
          <a:lstStyle/>
          <a:p>
            <a:r>
              <a:rPr lang="zh-CN" altLang="en-US" sz="2800" dirty="0">
                <a:solidFill>
                  <a:schemeClr val="bg1"/>
                </a:solidFill>
              </a:rPr>
              <a:t>每一类条款相应的</a:t>
            </a:r>
            <a:r>
              <a:rPr lang="zh-CN" altLang="en-US" sz="2800" b="1" dirty="0">
                <a:solidFill>
                  <a:schemeClr val="bg1"/>
                </a:solidFill>
              </a:rPr>
              <a:t>触发情形</a:t>
            </a:r>
            <a:r>
              <a:rPr lang="zh-CN" altLang="en-US" sz="2800" dirty="0">
                <a:solidFill>
                  <a:schemeClr val="bg1"/>
                </a:solidFill>
              </a:rPr>
              <a:t>和</a:t>
            </a:r>
            <a:r>
              <a:rPr lang="zh-CN" altLang="en-US" sz="2800" b="1" dirty="0">
                <a:solidFill>
                  <a:schemeClr val="bg1"/>
                </a:solidFill>
              </a:rPr>
              <a:t>处置程序</a:t>
            </a:r>
          </a:p>
        </p:txBody>
      </p:sp>
      <p:sp>
        <p:nvSpPr>
          <p:cNvPr id="50" name="security_159448">
            <a:extLst>
              <a:ext uri="{FF2B5EF4-FFF2-40B4-BE49-F238E27FC236}">
                <a16:creationId xmlns:a16="http://schemas.microsoft.com/office/drawing/2014/main" id="{83497239-1331-45E2-AEA8-236DA19C7F9B}"/>
              </a:ext>
            </a:extLst>
          </p:cNvPr>
          <p:cNvSpPr>
            <a:spLocks noChangeAspect="1"/>
          </p:cNvSpPr>
          <p:nvPr/>
        </p:nvSpPr>
        <p:spPr bwMode="auto">
          <a:xfrm>
            <a:off x="11431323" y="4420503"/>
            <a:ext cx="1432203" cy="1306466"/>
          </a:xfrm>
          <a:custGeom>
            <a:avLst/>
            <a:gdLst>
              <a:gd name="connsiteX0" fmla="*/ 519031 w 606477"/>
              <a:gd name="connsiteY0" fmla="*/ 192996 h 553233"/>
              <a:gd name="connsiteX1" fmla="*/ 508630 w 606477"/>
              <a:gd name="connsiteY1" fmla="*/ 236481 h 553233"/>
              <a:gd name="connsiteX2" fmla="*/ 507609 w 606477"/>
              <a:gd name="connsiteY2" fmla="*/ 243992 h 553233"/>
              <a:gd name="connsiteX3" fmla="*/ 507516 w 606477"/>
              <a:gd name="connsiteY3" fmla="*/ 246124 h 553233"/>
              <a:gd name="connsiteX4" fmla="*/ 494051 w 606477"/>
              <a:gd name="connsiteY4" fmla="*/ 248813 h 553233"/>
              <a:gd name="connsiteX5" fmla="*/ 504916 w 606477"/>
              <a:gd name="connsiteY5" fmla="*/ 208758 h 553233"/>
              <a:gd name="connsiteX6" fmla="*/ 519031 w 606477"/>
              <a:gd name="connsiteY6" fmla="*/ 192996 h 553233"/>
              <a:gd name="connsiteX7" fmla="*/ 87242 w 606477"/>
              <a:gd name="connsiteY7" fmla="*/ 192996 h 553233"/>
              <a:gd name="connsiteX8" fmla="*/ 101345 w 606477"/>
              <a:gd name="connsiteY8" fmla="*/ 208951 h 553233"/>
              <a:gd name="connsiteX9" fmla="*/ 112293 w 606477"/>
              <a:gd name="connsiteY9" fmla="*/ 249025 h 553233"/>
              <a:gd name="connsiteX10" fmla="*/ 98747 w 606477"/>
              <a:gd name="connsiteY10" fmla="*/ 246242 h 553233"/>
              <a:gd name="connsiteX11" fmla="*/ 98654 w 606477"/>
              <a:gd name="connsiteY11" fmla="*/ 244016 h 553233"/>
              <a:gd name="connsiteX12" fmla="*/ 97634 w 606477"/>
              <a:gd name="connsiteY12" fmla="*/ 236502 h 553233"/>
              <a:gd name="connsiteX13" fmla="*/ 87242 w 606477"/>
              <a:gd name="connsiteY13" fmla="*/ 192996 h 553233"/>
              <a:gd name="connsiteX14" fmla="*/ 303197 w 606477"/>
              <a:gd name="connsiteY14" fmla="*/ 182066 h 553233"/>
              <a:gd name="connsiteX15" fmla="*/ 303197 w 606477"/>
              <a:gd name="connsiteY15" fmla="*/ 318709 h 553233"/>
              <a:gd name="connsiteX16" fmla="*/ 310345 w 606477"/>
              <a:gd name="connsiteY16" fmla="*/ 315557 h 553233"/>
              <a:gd name="connsiteX17" fmla="*/ 335223 w 606477"/>
              <a:gd name="connsiteY17" fmla="*/ 304340 h 553233"/>
              <a:gd name="connsiteX18" fmla="*/ 401040 w 606477"/>
              <a:gd name="connsiteY18" fmla="*/ 250295 h 553233"/>
              <a:gd name="connsiteX19" fmla="*/ 421091 w 606477"/>
              <a:gd name="connsiteY19" fmla="*/ 199495 h 553233"/>
              <a:gd name="connsiteX20" fmla="*/ 421648 w 606477"/>
              <a:gd name="connsiteY20" fmla="*/ 182066 h 553233"/>
              <a:gd name="connsiteX21" fmla="*/ 57040 w 606477"/>
              <a:gd name="connsiteY21" fmla="*/ 171262 h 553233"/>
              <a:gd name="connsiteX22" fmla="*/ 71442 w 606477"/>
              <a:gd name="connsiteY22" fmla="*/ 187209 h 553233"/>
              <a:gd name="connsiteX23" fmla="*/ 83149 w 606477"/>
              <a:gd name="connsiteY23" fmla="*/ 248125 h 553233"/>
              <a:gd name="connsiteX24" fmla="*/ 82777 w 606477"/>
              <a:gd name="connsiteY24" fmla="*/ 248681 h 553233"/>
              <a:gd name="connsiteX25" fmla="*/ 74229 w 606477"/>
              <a:gd name="connsiteY25" fmla="*/ 252575 h 553233"/>
              <a:gd name="connsiteX26" fmla="*/ 68190 w 606477"/>
              <a:gd name="connsiteY26" fmla="*/ 257211 h 553233"/>
              <a:gd name="connsiteX27" fmla="*/ 68097 w 606477"/>
              <a:gd name="connsiteY27" fmla="*/ 252112 h 553233"/>
              <a:gd name="connsiteX28" fmla="*/ 60664 w 606477"/>
              <a:gd name="connsiteY28" fmla="*/ 187209 h 553233"/>
              <a:gd name="connsiteX29" fmla="*/ 57040 w 606477"/>
              <a:gd name="connsiteY29" fmla="*/ 171262 h 553233"/>
              <a:gd name="connsiteX30" fmla="*/ 549233 w 606477"/>
              <a:gd name="connsiteY30" fmla="*/ 171121 h 553233"/>
              <a:gd name="connsiteX31" fmla="*/ 545702 w 606477"/>
              <a:gd name="connsiteY31" fmla="*/ 187072 h 553233"/>
              <a:gd name="connsiteX32" fmla="*/ 538269 w 606477"/>
              <a:gd name="connsiteY32" fmla="*/ 251991 h 553233"/>
              <a:gd name="connsiteX33" fmla="*/ 538083 w 606477"/>
              <a:gd name="connsiteY33" fmla="*/ 256999 h 553233"/>
              <a:gd name="connsiteX34" fmla="*/ 532044 w 606477"/>
              <a:gd name="connsiteY34" fmla="*/ 252455 h 553233"/>
              <a:gd name="connsiteX35" fmla="*/ 523496 w 606477"/>
              <a:gd name="connsiteY35" fmla="*/ 248467 h 553233"/>
              <a:gd name="connsiteX36" fmla="*/ 523124 w 606477"/>
              <a:gd name="connsiteY36" fmla="*/ 248003 h 553233"/>
              <a:gd name="connsiteX37" fmla="*/ 534924 w 606477"/>
              <a:gd name="connsiteY37" fmla="*/ 187072 h 553233"/>
              <a:gd name="connsiteX38" fmla="*/ 549233 w 606477"/>
              <a:gd name="connsiteY38" fmla="*/ 171121 h 553233"/>
              <a:gd name="connsiteX39" fmla="*/ 585773 w 606477"/>
              <a:gd name="connsiteY39" fmla="*/ 154059 h 553233"/>
              <a:gd name="connsiteX40" fmla="*/ 598553 w 606477"/>
              <a:gd name="connsiteY40" fmla="*/ 158937 h 553233"/>
              <a:gd name="connsiteX41" fmla="*/ 606354 w 606477"/>
              <a:gd name="connsiteY41" fmla="*/ 178957 h 553233"/>
              <a:gd name="connsiteX42" fmla="*/ 590660 w 606477"/>
              <a:gd name="connsiteY42" fmla="*/ 331337 h 553233"/>
              <a:gd name="connsiteX43" fmla="*/ 589731 w 606477"/>
              <a:gd name="connsiteY43" fmla="*/ 336899 h 553233"/>
              <a:gd name="connsiteX44" fmla="*/ 564472 w 606477"/>
              <a:gd name="connsiteY44" fmla="*/ 385931 h 553233"/>
              <a:gd name="connsiteX45" fmla="*/ 474113 w 606477"/>
              <a:gd name="connsiteY45" fmla="*/ 494561 h 553233"/>
              <a:gd name="connsiteX46" fmla="*/ 472349 w 606477"/>
              <a:gd name="connsiteY46" fmla="*/ 544613 h 553233"/>
              <a:gd name="connsiteX47" fmla="*/ 464362 w 606477"/>
              <a:gd name="connsiteY47" fmla="*/ 552770 h 553233"/>
              <a:gd name="connsiteX48" fmla="*/ 369268 w 606477"/>
              <a:gd name="connsiteY48" fmla="*/ 553233 h 553233"/>
              <a:gd name="connsiteX49" fmla="*/ 361096 w 606477"/>
              <a:gd name="connsiteY49" fmla="*/ 545262 h 553233"/>
              <a:gd name="connsiteX50" fmla="*/ 357753 w 606477"/>
              <a:gd name="connsiteY50" fmla="*/ 484551 h 553233"/>
              <a:gd name="connsiteX51" fmla="*/ 356731 w 606477"/>
              <a:gd name="connsiteY51" fmla="*/ 466755 h 553233"/>
              <a:gd name="connsiteX52" fmla="*/ 357195 w 606477"/>
              <a:gd name="connsiteY52" fmla="*/ 456374 h 553233"/>
              <a:gd name="connsiteX53" fmla="*/ 419044 w 606477"/>
              <a:gd name="connsiteY53" fmla="*/ 364149 h 553233"/>
              <a:gd name="connsiteX54" fmla="*/ 434460 w 606477"/>
              <a:gd name="connsiteY54" fmla="*/ 349226 h 553233"/>
              <a:gd name="connsiteX55" fmla="*/ 490736 w 606477"/>
              <a:gd name="connsiteY55" fmla="*/ 277022 h 553233"/>
              <a:gd name="connsiteX56" fmla="*/ 521011 w 606477"/>
              <a:gd name="connsiteY56" fmla="*/ 270348 h 553233"/>
              <a:gd name="connsiteX57" fmla="*/ 529183 w 606477"/>
              <a:gd name="connsiteY57" fmla="*/ 300565 h 553233"/>
              <a:gd name="connsiteX58" fmla="*/ 475135 w 606477"/>
              <a:gd name="connsiteY58" fmla="*/ 388619 h 553233"/>
              <a:gd name="connsiteX59" fmla="*/ 477364 w 606477"/>
              <a:gd name="connsiteY59" fmla="*/ 396961 h 553233"/>
              <a:gd name="connsiteX60" fmla="*/ 485164 w 606477"/>
              <a:gd name="connsiteY60" fmla="*/ 395107 h 553233"/>
              <a:gd name="connsiteX61" fmla="*/ 487393 w 606477"/>
              <a:gd name="connsiteY61" fmla="*/ 391770 h 553233"/>
              <a:gd name="connsiteX62" fmla="*/ 548685 w 606477"/>
              <a:gd name="connsiteY62" fmla="*/ 291759 h 553233"/>
              <a:gd name="connsiteX63" fmla="*/ 554999 w 606477"/>
              <a:gd name="connsiteY63" fmla="*/ 266826 h 553233"/>
              <a:gd name="connsiteX64" fmla="*/ 555185 w 606477"/>
              <a:gd name="connsiteY64" fmla="*/ 262192 h 553233"/>
              <a:gd name="connsiteX65" fmla="*/ 562429 w 606477"/>
              <a:gd name="connsiteY65" fmla="*/ 193602 h 553233"/>
              <a:gd name="connsiteX66" fmla="*/ 572087 w 606477"/>
              <a:gd name="connsiteY66" fmla="*/ 160512 h 553233"/>
              <a:gd name="connsiteX67" fmla="*/ 585773 w 606477"/>
              <a:gd name="connsiteY67" fmla="*/ 154059 h 553233"/>
              <a:gd name="connsiteX68" fmla="*/ 20577 w 606477"/>
              <a:gd name="connsiteY68" fmla="*/ 153894 h 553233"/>
              <a:gd name="connsiteX69" fmla="*/ 34340 w 606477"/>
              <a:gd name="connsiteY69" fmla="*/ 160394 h 553233"/>
              <a:gd name="connsiteX70" fmla="*/ 43996 w 606477"/>
              <a:gd name="connsiteY70" fmla="*/ 193488 h 553233"/>
              <a:gd name="connsiteX71" fmla="*/ 51144 w 606477"/>
              <a:gd name="connsiteY71" fmla="*/ 262086 h 553233"/>
              <a:gd name="connsiteX72" fmla="*/ 51423 w 606477"/>
              <a:gd name="connsiteY72" fmla="*/ 266628 h 553233"/>
              <a:gd name="connsiteX73" fmla="*/ 57736 w 606477"/>
              <a:gd name="connsiteY73" fmla="*/ 291657 h 553233"/>
              <a:gd name="connsiteX74" fmla="*/ 119010 w 606477"/>
              <a:gd name="connsiteY74" fmla="*/ 391587 h 553233"/>
              <a:gd name="connsiteX75" fmla="*/ 121238 w 606477"/>
              <a:gd name="connsiteY75" fmla="*/ 394924 h 553233"/>
              <a:gd name="connsiteX76" fmla="*/ 129037 w 606477"/>
              <a:gd name="connsiteY76" fmla="*/ 396778 h 553233"/>
              <a:gd name="connsiteX77" fmla="*/ 131265 w 606477"/>
              <a:gd name="connsiteY77" fmla="*/ 388528 h 553233"/>
              <a:gd name="connsiteX78" fmla="*/ 77139 w 606477"/>
              <a:gd name="connsiteY78" fmla="*/ 300371 h 553233"/>
              <a:gd name="connsiteX79" fmla="*/ 85309 w 606477"/>
              <a:gd name="connsiteY79" fmla="*/ 270243 h 553233"/>
              <a:gd name="connsiteX80" fmla="*/ 115668 w 606477"/>
              <a:gd name="connsiteY80" fmla="*/ 276918 h 553233"/>
              <a:gd name="connsiteX81" fmla="*/ 171835 w 606477"/>
              <a:gd name="connsiteY81" fmla="*/ 349131 h 553233"/>
              <a:gd name="connsiteX82" fmla="*/ 187340 w 606477"/>
              <a:gd name="connsiteY82" fmla="*/ 364055 h 553233"/>
              <a:gd name="connsiteX83" fmla="*/ 249078 w 606477"/>
              <a:gd name="connsiteY83" fmla="*/ 456291 h 553233"/>
              <a:gd name="connsiteX84" fmla="*/ 249542 w 606477"/>
              <a:gd name="connsiteY84" fmla="*/ 466674 h 553233"/>
              <a:gd name="connsiteX85" fmla="*/ 248614 w 606477"/>
              <a:gd name="connsiteY85" fmla="*/ 484472 h 553233"/>
              <a:gd name="connsiteX86" fmla="*/ 245271 w 606477"/>
              <a:gd name="connsiteY86" fmla="*/ 545097 h 553233"/>
              <a:gd name="connsiteX87" fmla="*/ 237102 w 606477"/>
              <a:gd name="connsiteY87" fmla="*/ 553162 h 553233"/>
              <a:gd name="connsiteX88" fmla="*/ 142034 w 606477"/>
              <a:gd name="connsiteY88" fmla="*/ 552699 h 553233"/>
              <a:gd name="connsiteX89" fmla="*/ 133957 w 606477"/>
              <a:gd name="connsiteY89" fmla="*/ 544541 h 553233"/>
              <a:gd name="connsiteX90" fmla="*/ 132193 w 606477"/>
              <a:gd name="connsiteY90" fmla="*/ 494483 h 553233"/>
              <a:gd name="connsiteX91" fmla="*/ 41860 w 606477"/>
              <a:gd name="connsiteY91" fmla="*/ 385840 h 553233"/>
              <a:gd name="connsiteX92" fmla="*/ 16608 w 606477"/>
              <a:gd name="connsiteY92" fmla="*/ 336709 h 553233"/>
              <a:gd name="connsiteX93" fmla="*/ 15865 w 606477"/>
              <a:gd name="connsiteY93" fmla="*/ 331054 h 553233"/>
              <a:gd name="connsiteX94" fmla="*/ 175 w 606477"/>
              <a:gd name="connsiteY94" fmla="*/ 178656 h 553233"/>
              <a:gd name="connsiteX95" fmla="*/ 7788 w 606477"/>
              <a:gd name="connsiteY95" fmla="*/ 158726 h 553233"/>
              <a:gd name="connsiteX96" fmla="*/ 20577 w 606477"/>
              <a:gd name="connsiteY96" fmla="*/ 153894 h 553233"/>
              <a:gd name="connsiteX97" fmla="*/ 303197 w 606477"/>
              <a:gd name="connsiteY97" fmla="*/ 40696 h 553233"/>
              <a:gd name="connsiteX98" fmla="*/ 184559 w 606477"/>
              <a:gd name="connsiteY98" fmla="*/ 87325 h 553233"/>
              <a:gd name="connsiteX99" fmla="*/ 184466 w 606477"/>
              <a:gd name="connsiteY99" fmla="*/ 115321 h 553233"/>
              <a:gd name="connsiteX100" fmla="*/ 184559 w 606477"/>
              <a:gd name="connsiteY100" fmla="*/ 181974 h 553233"/>
              <a:gd name="connsiteX101" fmla="*/ 303197 w 606477"/>
              <a:gd name="connsiteY101" fmla="*/ 181974 h 553233"/>
              <a:gd name="connsiteX102" fmla="*/ 303382 w 606477"/>
              <a:gd name="connsiteY102" fmla="*/ 0 h 553233"/>
              <a:gd name="connsiteX103" fmla="*/ 321020 w 606477"/>
              <a:gd name="connsiteY103" fmla="*/ 6953 h 553233"/>
              <a:gd name="connsiteX104" fmla="*/ 405496 w 606477"/>
              <a:gd name="connsiteY104" fmla="*/ 46536 h 553233"/>
              <a:gd name="connsiteX105" fmla="*/ 429632 w 606477"/>
              <a:gd name="connsiteY105" fmla="*/ 50244 h 553233"/>
              <a:gd name="connsiteX106" fmla="*/ 435944 w 606477"/>
              <a:gd name="connsiteY106" fmla="*/ 50986 h 553233"/>
              <a:gd name="connsiteX107" fmla="*/ 459523 w 606477"/>
              <a:gd name="connsiteY107" fmla="*/ 77035 h 553233"/>
              <a:gd name="connsiteX108" fmla="*/ 459523 w 606477"/>
              <a:gd name="connsiteY108" fmla="*/ 151197 h 553233"/>
              <a:gd name="connsiteX109" fmla="*/ 458781 w 606477"/>
              <a:gd name="connsiteY109" fmla="*/ 201256 h 553233"/>
              <a:gd name="connsiteX110" fmla="*/ 431303 w 606477"/>
              <a:gd name="connsiteY110" fmla="*/ 272822 h 553233"/>
              <a:gd name="connsiteX111" fmla="*/ 352582 w 606477"/>
              <a:gd name="connsiteY111" fmla="*/ 337713 h 553233"/>
              <a:gd name="connsiteX112" fmla="*/ 325476 w 606477"/>
              <a:gd name="connsiteY112" fmla="*/ 350042 h 553233"/>
              <a:gd name="connsiteX113" fmla="*/ 314522 w 606477"/>
              <a:gd name="connsiteY113" fmla="*/ 354770 h 553233"/>
              <a:gd name="connsiteX114" fmla="*/ 303197 w 606477"/>
              <a:gd name="connsiteY114" fmla="*/ 357273 h 553233"/>
              <a:gd name="connsiteX115" fmla="*/ 294285 w 606477"/>
              <a:gd name="connsiteY115" fmla="*/ 355883 h 553233"/>
              <a:gd name="connsiteX116" fmla="*/ 191429 w 606477"/>
              <a:gd name="connsiteY116" fmla="*/ 292196 h 553233"/>
              <a:gd name="connsiteX117" fmla="*/ 150955 w 606477"/>
              <a:gd name="connsiteY117" fmla="*/ 222392 h 553233"/>
              <a:gd name="connsiteX118" fmla="*/ 147056 w 606477"/>
              <a:gd name="connsiteY118" fmla="*/ 190224 h 553233"/>
              <a:gd name="connsiteX119" fmla="*/ 146963 w 606477"/>
              <a:gd name="connsiteY119" fmla="*/ 115228 h 553233"/>
              <a:gd name="connsiteX120" fmla="*/ 147056 w 606477"/>
              <a:gd name="connsiteY120" fmla="*/ 78148 h 553233"/>
              <a:gd name="connsiteX121" fmla="*/ 173048 w 606477"/>
              <a:gd name="connsiteY121" fmla="*/ 50615 h 553233"/>
              <a:gd name="connsiteX122" fmla="*/ 285930 w 606477"/>
              <a:gd name="connsiteY122" fmla="*/ 6953 h 553233"/>
              <a:gd name="connsiteX123" fmla="*/ 303382 w 606477"/>
              <a:gd name="connsiteY123" fmla="*/ 0 h 55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606477" h="553233">
                <a:moveTo>
                  <a:pt x="519031" y="192996"/>
                </a:moveTo>
                <a:cubicBezTo>
                  <a:pt x="516524" y="204493"/>
                  <a:pt x="510116" y="225355"/>
                  <a:pt x="508630" y="236481"/>
                </a:cubicBezTo>
                <a:lnTo>
                  <a:pt x="507609" y="243992"/>
                </a:lnTo>
                <a:cubicBezTo>
                  <a:pt x="507516" y="244733"/>
                  <a:pt x="507516" y="245383"/>
                  <a:pt x="507516" y="246124"/>
                </a:cubicBezTo>
                <a:cubicBezTo>
                  <a:pt x="502966" y="246402"/>
                  <a:pt x="498323" y="247237"/>
                  <a:pt x="494051" y="248813"/>
                </a:cubicBezTo>
                <a:cubicBezTo>
                  <a:pt x="495630" y="238614"/>
                  <a:pt x="502409" y="218308"/>
                  <a:pt x="504916" y="208758"/>
                </a:cubicBezTo>
                <a:cubicBezTo>
                  <a:pt x="506866" y="201155"/>
                  <a:pt x="511323" y="195592"/>
                  <a:pt x="519031" y="192996"/>
                </a:cubicBezTo>
                <a:close/>
                <a:moveTo>
                  <a:pt x="87242" y="192996"/>
                </a:moveTo>
                <a:cubicBezTo>
                  <a:pt x="94943" y="195593"/>
                  <a:pt x="99396" y="201159"/>
                  <a:pt x="101345" y="208951"/>
                </a:cubicBezTo>
                <a:cubicBezTo>
                  <a:pt x="103943" y="218413"/>
                  <a:pt x="110809" y="238728"/>
                  <a:pt x="112293" y="249025"/>
                </a:cubicBezTo>
                <a:cubicBezTo>
                  <a:pt x="107932" y="247355"/>
                  <a:pt x="103386" y="246428"/>
                  <a:pt x="98747" y="246242"/>
                </a:cubicBezTo>
                <a:cubicBezTo>
                  <a:pt x="98747" y="245500"/>
                  <a:pt x="98747" y="244758"/>
                  <a:pt x="98654" y="244016"/>
                </a:cubicBezTo>
                <a:lnTo>
                  <a:pt x="97634" y="236502"/>
                </a:lnTo>
                <a:cubicBezTo>
                  <a:pt x="96149" y="225370"/>
                  <a:pt x="89747" y="204499"/>
                  <a:pt x="87242" y="192996"/>
                </a:cubicBezTo>
                <a:close/>
                <a:moveTo>
                  <a:pt x="303197" y="182066"/>
                </a:moveTo>
                <a:lnTo>
                  <a:pt x="303197" y="318709"/>
                </a:lnTo>
                <a:cubicBezTo>
                  <a:pt x="305610" y="317597"/>
                  <a:pt x="308024" y="316577"/>
                  <a:pt x="310345" y="315557"/>
                </a:cubicBezTo>
                <a:cubicBezTo>
                  <a:pt x="318607" y="312035"/>
                  <a:pt x="327054" y="308419"/>
                  <a:pt x="335223" y="304340"/>
                </a:cubicBezTo>
                <a:cubicBezTo>
                  <a:pt x="363536" y="289601"/>
                  <a:pt x="385259" y="271802"/>
                  <a:pt x="401040" y="250295"/>
                </a:cubicBezTo>
                <a:cubicBezTo>
                  <a:pt x="413851" y="233516"/>
                  <a:pt x="420349" y="217108"/>
                  <a:pt x="421091" y="199495"/>
                </a:cubicBezTo>
                <a:cubicBezTo>
                  <a:pt x="421463" y="193840"/>
                  <a:pt x="421463" y="187907"/>
                  <a:pt x="421648" y="182066"/>
                </a:cubicBezTo>
                <a:close/>
                <a:moveTo>
                  <a:pt x="57040" y="171262"/>
                </a:moveTo>
                <a:cubicBezTo>
                  <a:pt x="64845" y="173765"/>
                  <a:pt x="69305" y="179421"/>
                  <a:pt x="71442" y="187209"/>
                </a:cubicBezTo>
                <a:cubicBezTo>
                  <a:pt x="75530" y="202693"/>
                  <a:pt x="81105" y="232456"/>
                  <a:pt x="83149" y="248125"/>
                </a:cubicBezTo>
                <a:cubicBezTo>
                  <a:pt x="83056" y="248310"/>
                  <a:pt x="82963" y="248403"/>
                  <a:pt x="82777" y="248681"/>
                </a:cubicBezTo>
                <a:cubicBezTo>
                  <a:pt x="79990" y="249608"/>
                  <a:pt x="77017" y="250906"/>
                  <a:pt x="74229" y="252575"/>
                </a:cubicBezTo>
                <a:cubicBezTo>
                  <a:pt x="71999" y="253966"/>
                  <a:pt x="70048" y="255542"/>
                  <a:pt x="68190" y="257211"/>
                </a:cubicBezTo>
                <a:cubicBezTo>
                  <a:pt x="68190" y="255449"/>
                  <a:pt x="68097" y="253873"/>
                  <a:pt x="68097" y="252112"/>
                </a:cubicBezTo>
                <a:cubicBezTo>
                  <a:pt x="67818" y="235515"/>
                  <a:pt x="63637" y="204362"/>
                  <a:pt x="60664" y="187209"/>
                </a:cubicBezTo>
                <a:cubicBezTo>
                  <a:pt x="59734" y="182017"/>
                  <a:pt x="58619" y="176732"/>
                  <a:pt x="57040" y="171262"/>
                </a:cubicBezTo>
                <a:close/>
                <a:moveTo>
                  <a:pt x="549233" y="171121"/>
                </a:moveTo>
                <a:cubicBezTo>
                  <a:pt x="547561" y="176407"/>
                  <a:pt x="546539" y="181879"/>
                  <a:pt x="545702" y="187072"/>
                </a:cubicBezTo>
                <a:cubicBezTo>
                  <a:pt x="542822" y="204322"/>
                  <a:pt x="538641" y="235391"/>
                  <a:pt x="538269" y="251991"/>
                </a:cubicBezTo>
                <a:cubicBezTo>
                  <a:pt x="538269" y="253660"/>
                  <a:pt x="538083" y="255330"/>
                  <a:pt x="538083" y="256999"/>
                </a:cubicBezTo>
                <a:cubicBezTo>
                  <a:pt x="536225" y="255330"/>
                  <a:pt x="534274" y="253846"/>
                  <a:pt x="532044" y="252455"/>
                </a:cubicBezTo>
                <a:cubicBezTo>
                  <a:pt x="529349" y="250878"/>
                  <a:pt x="526469" y="249487"/>
                  <a:pt x="523496" y="248467"/>
                </a:cubicBezTo>
                <a:cubicBezTo>
                  <a:pt x="523403" y="248374"/>
                  <a:pt x="523217" y="248281"/>
                  <a:pt x="523124" y="248003"/>
                </a:cubicBezTo>
                <a:cubicBezTo>
                  <a:pt x="525261" y="232145"/>
                  <a:pt x="530836" y="202375"/>
                  <a:pt x="534924" y="187072"/>
                </a:cubicBezTo>
                <a:cubicBezTo>
                  <a:pt x="536968" y="179375"/>
                  <a:pt x="541428" y="173718"/>
                  <a:pt x="549233" y="171121"/>
                </a:cubicBezTo>
                <a:close/>
                <a:moveTo>
                  <a:pt x="585773" y="154059"/>
                </a:moveTo>
                <a:cubicBezTo>
                  <a:pt x="590474" y="154117"/>
                  <a:pt x="595024" y="156063"/>
                  <a:pt x="598553" y="158937"/>
                </a:cubicBezTo>
                <a:cubicBezTo>
                  <a:pt x="604497" y="163756"/>
                  <a:pt x="607097" y="171357"/>
                  <a:pt x="606354" y="178957"/>
                </a:cubicBezTo>
                <a:lnTo>
                  <a:pt x="590660" y="331337"/>
                </a:lnTo>
                <a:lnTo>
                  <a:pt x="589731" y="336899"/>
                </a:lnTo>
                <a:cubicBezTo>
                  <a:pt x="586945" y="355900"/>
                  <a:pt x="577844" y="371842"/>
                  <a:pt x="564472" y="385931"/>
                </a:cubicBezTo>
                <a:lnTo>
                  <a:pt x="474113" y="494561"/>
                </a:lnTo>
                <a:lnTo>
                  <a:pt x="472349" y="544613"/>
                </a:lnTo>
                <a:cubicBezTo>
                  <a:pt x="472349" y="549062"/>
                  <a:pt x="468820" y="552770"/>
                  <a:pt x="464362" y="552770"/>
                </a:cubicBezTo>
                <a:lnTo>
                  <a:pt x="369268" y="553233"/>
                </a:lnTo>
                <a:cubicBezTo>
                  <a:pt x="364810" y="553233"/>
                  <a:pt x="361096" y="549711"/>
                  <a:pt x="361096" y="545262"/>
                </a:cubicBezTo>
                <a:lnTo>
                  <a:pt x="357753" y="484551"/>
                </a:lnTo>
                <a:cubicBezTo>
                  <a:pt x="356824" y="478156"/>
                  <a:pt x="356731" y="471853"/>
                  <a:pt x="356731" y="466755"/>
                </a:cubicBezTo>
                <a:cubicBezTo>
                  <a:pt x="356824" y="460545"/>
                  <a:pt x="357195" y="456374"/>
                  <a:pt x="357195" y="456374"/>
                </a:cubicBezTo>
                <a:cubicBezTo>
                  <a:pt x="361653" y="437465"/>
                  <a:pt x="368339" y="400483"/>
                  <a:pt x="419044" y="364149"/>
                </a:cubicBezTo>
                <a:cubicBezTo>
                  <a:pt x="423873" y="360719"/>
                  <a:pt x="430745" y="353953"/>
                  <a:pt x="434460" y="349226"/>
                </a:cubicBezTo>
                <a:lnTo>
                  <a:pt x="490736" y="277022"/>
                </a:lnTo>
                <a:cubicBezTo>
                  <a:pt x="496494" y="267197"/>
                  <a:pt x="510424" y="263860"/>
                  <a:pt x="521011" y="270348"/>
                </a:cubicBezTo>
                <a:cubicBezTo>
                  <a:pt x="531690" y="276929"/>
                  <a:pt x="535033" y="290740"/>
                  <a:pt x="529183" y="300565"/>
                </a:cubicBezTo>
                <a:lnTo>
                  <a:pt x="475135" y="388619"/>
                </a:lnTo>
                <a:cubicBezTo>
                  <a:pt x="473370" y="391492"/>
                  <a:pt x="474392" y="395292"/>
                  <a:pt x="477364" y="396961"/>
                </a:cubicBezTo>
                <a:cubicBezTo>
                  <a:pt x="480057" y="398444"/>
                  <a:pt x="483400" y="397517"/>
                  <a:pt x="485164" y="395107"/>
                </a:cubicBezTo>
                <a:lnTo>
                  <a:pt x="487393" y="391770"/>
                </a:lnTo>
                <a:cubicBezTo>
                  <a:pt x="487393" y="391770"/>
                  <a:pt x="528347" y="335879"/>
                  <a:pt x="548685" y="291759"/>
                </a:cubicBezTo>
                <a:cubicBezTo>
                  <a:pt x="552399" y="283695"/>
                  <a:pt x="554442" y="275539"/>
                  <a:pt x="554999" y="266826"/>
                </a:cubicBezTo>
                <a:cubicBezTo>
                  <a:pt x="555092" y="265436"/>
                  <a:pt x="555185" y="263582"/>
                  <a:pt x="555185" y="262192"/>
                </a:cubicBezTo>
                <a:cubicBezTo>
                  <a:pt x="555742" y="242171"/>
                  <a:pt x="559085" y="213530"/>
                  <a:pt x="562429" y="193602"/>
                </a:cubicBezTo>
                <a:cubicBezTo>
                  <a:pt x="563264" y="188041"/>
                  <a:pt x="566143" y="167186"/>
                  <a:pt x="572087" y="160512"/>
                </a:cubicBezTo>
                <a:cubicBezTo>
                  <a:pt x="576219" y="155832"/>
                  <a:pt x="581071" y="154001"/>
                  <a:pt x="585773" y="154059"/>
                </a:cubicBezTo>
                <a:close/>
                <a:moveTo>
                  <a:pt x="20577" y="153894"/>
                </a:moveTo>
                <a:cubicBezTo>
                  <a:pt x="25288" y="153836"/>
                  <a:pt x="30162" y="155667"/>
                  <a:pt x="34340" y="160394"/>
                </a:cubicBezTo>
                <a:cubicBezTo>
                  <a:pt x="40096" y="167069"/>
                  <a:pt x="42974" y="187926"/>
                  <a:pt x="43996" y="193488"/>
                </a:cubicBezTo>
                <a:cubicBezTo>
                  <a:pt x="47338" y="213419"/>
                  <a:pt x="50494" y="241970"/>
                  <a:pt x="51144" y="262086"/>
                </a:cubicBezTo>
                <a:cubicBezTo>
                  <a:pt x="51237" y="263476"/>
                  <a:pt x="51237" y="265330"/>
                  <a:pt x="51423" y="266628"/>
                </a:cubicBezTo>
                <a:cubicBezTo>
                  <a:pt x="51887" y="275435"/>
                  <a:pt x="54022" y="283592"/>
                  <a:pt x="57736" y="291657"/>
                </a:cubicBezTo>
                <a:cubicBezTo>
                  <a:pt x="78160" y="335875"/>
                  <a:pt x="119010" y="391587"/>
                  <a:pt x="119010" y="391587"/>
                </a:cubicBezTo>
                <a:lnTo>
                  <a:pt x="121238" y="394924"/>
                </a:lnTo>
                <a:cubicBezTo>
                  <a:pt x="122909" y="397427"/>
                  <a:pt x="126251" y="398261"/>
                  <a:pt x="129037" y="396778"/>
                </a:cubicBezTo>
                <a:cubicBezTo>
                  <a:pt x="132007" y="395202"/>
                  <a:pt x="132936" y="391402"/>
                  <a:pt x="131265" y="388528"/>
                </a:cubicBezTo>
                <a:lnTo>
                  <a:pt x="77139" y="300371"/>
                </a:lnTo>
                <a:cubicBezTo>
                  <a:pt x="71290" y="290637"/>
                  <a:pt x="74633" y="276640"/>
                  <a:pt x="85309" y="270243"/>
                </a:cubicBezTo>
                <a:cubicBezTo>
                  <a:pt x="95986" y="263847"/>
                  <a:pt x="109819" y="267184"/>
                  <a:pt x="115668" y="276918"/>
                </a:cubicBezTo>
                <a:lnTo>
                  <a:pt x="171835" y="349131"/>
                </a:lnTo>
                <a:cubicBezTo>
                  <a:pt x="175549" y="353766"/>
                  <a:pt x="182512" y="360625"/>
                  <a:pt x="187340" y="364055"/>
                </a:cubicBezTo>
                <a:cubicBezTo>
                  <a:pt x="237844" y="400486"/>
                  <a:pt x="244622" y="437381"/>
                  <a:pt x="249078" y="456291"/>
                </a:cubicBezTo>
                <a:cubicBezTo>
                  <a:pt x="249078" y="456291"/>
                  <a:pt x="249542" y="460463"/>
                  <a:pt x="249542" y="466674"/>
                </a:cubicBezTo>
                <a:cubicBezTo>
                  <a:pt x="249542" y="471679"/>
                  <a:pt x="249449" y="478168"/>
                  <a:pt x="248614" y="484472"/>
                </a:cubicBezTo>
                <a:lnTo>
                  <a:pt x="245271" y="545097"/>
                </a:lnTo>
                <a:cubicBezTo>
                  <a:pt x="245086" y="549547"/>
                  <a:pt x="241558" y="553162"/>
                  <a:pt x="237102" y="553162"/>
                </a:cubicBezTo>
                <a:lnTo>
                  <a:pt x="142034" y="552699"/>
                </a:lnTo>
                <a:cubicBezTo>
                  <a:pt x="137578" y="552513"/>
                  <a:pt x="133957" y="548991"/>
                  <a:pt x="133957" y="544541"/>
                </a:cubicBezTo>
                <a:lnTo>
                  <a:pt x="132193" y="494483"/>
                </a:lnTo>
                <a:lnTo>
                  <a:pt x="41860" y="385840"/>
                </a:lnTo>
                <a:cubicBezTo>
                  <a:pt x="28491" y="371749"/>
                  <a:pt x="19486" y="355898"/>
                  <a:pt x="16608" y="336709"/>
                </a:cubicBezTo>
                <a:lnTo>
                  <a:pt x="15865" y="331054"/>
                </a:lnTo>
                <a:lnTo>
                  <a:pt x="175" y="178656"/>
                </a:lnTo>
                <a:cubicBezTo>
                  <a:pt x="-753" y="171240"/>
                  <a:pt x="2032" y="163453"/>
                  <a:pt x="7788" y="158726"/>
                </a:cubicBezTo>
                <a:cubicBezTo>
                  <a:pt x="11316" y="155898"/>
                  <a:pt x="15865" y="153952"/>
                  <a:pt x="20577" y="153894"/>
                </a:cubicBezTo>
                <a:close/>
                <a:moveTo>
                  <a:pt x="303197" y="40696"/>
                </a:moveTo>
                <a:cubicBezTo>
                  <a:pt x="262166" y="68228"/>
                  <a:pt x="224105" y="83246"/>
                  <a:pt x="184559" y="87325"/>
                </a:cubicBezTo>
                <a:lnTo>
                  <a:pt x="184466" y="115321"/>
                </a:lnTo>
                <a:cubicBezTo>
                  <a:pt x="184466" y="137477"/>
                  <a:pt x="184466" y="159725"/>
                  <a:pt x="184559" y="181974"/>
                </a:cubicBezTo>
                <a:lnTo>
                  <a:pt x="303197" y="181974"/>
                </a:lnTo>
                <a:close/>
                <a:moveTo>
                  <a:pt x="303382" y="0"/>
                </a:moveTo>
                <a:cubicBezTo>
                  <a:pt x="311087" y="0"/>
                  <a:pt x="316286" y="3708"/>
                  <a:pt x="321020" y="6953"/>
                </a:cubicBezTo>
                <a:cubicBezTo>
                  <a:pt x="350819" y="27718"/>
                  <a:pt x="377647" y="40325"/>
                  <a:pt x="405496" y="46536"/>
                </a:cubicBezTo>
                <a:cubicBezTo>
                  <a:pt x="413201" y="48205"/>
                  <a:pt x="421277" y="49225"/>
                  <a:pt x="429632" y="50244"/>
                </a:cubicBezTo>
                <a:lnTo>
                  <a:pt x="435944" y="50986"/>
                </a:lnTo>
                <a:cubicBezTo>
                  <a:pt x="450704" y="52933"/>
                  <a:pt x="459523" y="62666"/>
                  <a:pt x="459523" y="77035"/>
                </a:cubicBezTo>
                <a:lnTo>
                  <a:pt x="459523" y="151197"/>
                </a:lnTo>
                <a:cubicBezTo>
                  <a:pt x="459523" y="167605"/>
                  <a:pt x="459616" y="184569"/>
                  <a:pt x="458781" y="201256"/>
                </a:cubicBezTo>
                <a:cubicBezTo>
                  <a:pt x="457667" y="226193"/>
                  <a:pt x="448384" y="250295"/>
                  <a:pt x="431303" y="272822"/>
                </a:cubicBezTo>
                <a:cubicBezTo>
                  <a:pt x="411994" y="298778"/>
                  <a:pt x="386094" y="320192"/>
                  <a:pt x="352582" y="337713"/>
                </a:cubicBezTo>
                <a:cubicBezTo>
                  <a:pt x="343392" y="342255"/>
                  <a:pt x="334388" y="346242"/>
                  <a:pt x="325476" y="350042"/>
                </a:cubicBezTo>
                <a:lnTo>
                  <a:pt x="314522" y="354770"/>
                </a:lnTo>
                <a:cubicBezTo>
                  <a:pt x="311551" y="356253"/>
                  <a:pt x="307374" y="357273"/>
                  <a:pt x="303197" y="357273"/>
                </a:cubicBezTo>
                <a:cubicBezTo>
                  <a:pt x="300040" y="357273"/>
                  <a:pt x="297070" y="356902"/>
                  <a:pt x="294285" y="355883"/>
                </a:cubicBezTo>
                <a:cubicBezTo>
                  <a:pt x="251304" y="339845"/>
                  <a:pt x="217885" y="319080"/>
                  <a:pt x="191429" y="292196"/>
                </a:cubicBezTo>
                <a:cubicBezTo>
                  <a:pt x="169706" y="270226"/>
                  <a:pt x="156524" y="247329"/>
                  <a:pt x="150955" y="222392"/>
                </a:cubicBezTo>
                <a:cubicBezTo>
                  <a:pt x="148355" y="210804"/>
                  <a:pt x="147056" y="200236"/>
                  <a:pt x="147056" y="190224"/>
                </a:cubicBezTo>
                <a:cubicBezTo>
                  <a:pt x="146870" y="165287"/>
                  <a:pt x="146870" y="140165"/>
                  <a:pt x="146963" y="115228"/>
                </a:cubicBezTo>
                <a:lnTo>
                  <a:pt x="147056" y="78148"/>
                </a:lnTo>
                <a:cubicBezTo>
                  <a:pt x="147056" y="55157"/>
                  <a:pt x="163301" y="51079"/>
                  <a:pt x="173048" y="50615"/>
                </a:cubicBezTo>
                <a:cubicBezTo>
                  <a:pt x="210088" y="48390"/>
                  <a:pt x="246013" y="34485"/>
                  <a:pt x="285930" y="6953"/>
                </a:cubicBezTo>
                <a:cubicBezTo>
                  <a:pt x="290572" y="3708"/>
                  <a:pt x="295770" y="0"/>
                  <a:pt x="303382" y="0"/>
                </a:cubicBezTo>
                <a:close/>
              </a:path>
            </a:pathLst>
          </a:custGeom>
          <a:solidFill>
            <a:schemeClr val="bg1"/>
          </a:solidFill>
          <a:ln>
            <a:noFill/>
          </a:ln>
        </p:spPr>
      </p:sp>
    </p:spTree>
    <p:extLst>
      <p:ext uri="{BB962C8B-B14F-4D97-AF65-F5344CB8AC3E}">
        <p14:creationId xmlns:p14="http://schemas.microsoft.com/office/powerpoint/2010/main" val="33337084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5400" dirty="0"/>
              <a:t>交叉保护</a:t>
            </a:r>
            <a:endParaRPr lang="en-US" sz="5400" dirty="0">
              <a:solidFill>
                <a:srgbClr val="D83B01"/>
              </a:solidFill>
            </a:endParaRPr>
          </a:p>
        </p:txBody>
      </p:sp>
      <p:graphicFrame>
        <p:nvGraphicFramePr>
          <p:cNvPr id="5" name="Content Placeholder 3">
            <a:extLst>
              <a:ext uri="{FF2B5EF4-FFF2-40B4-BE49-F238E27FC236}">
                <a16:creationId xmlns:a16="http://schemas.microsoft.com/office/drawing/2014/main" id="{B76B8E2D-0442-444B-B354-BF38F249FDF5}"/>
              </a:ext>
            </a:extLst>
          </p:cNvPr>
          <p:cNvGraphicFramePr>
            <a:graphicFrameLocks noGrp="1"/>
          </p:cNvGraphicFramePr>
          <p:nvPr>
            <p:extLst>
              <p:ext uri="{D42A27DB-BD31-4B8C-83A1-F6EECF244321}">
                <p14:modId xmlns:p14="http://schemas.microsoft.com/office/powerpoint/2010/main" val="711187087"/>
              </p:ext>
            </p:extLst>
          </p:nvPr>
        </p:nvGraphicFramePr>
        <p:xfrm>
          <a:off x="949497" y="1686041"/>
          <a:ext cx="15378696" cy="7432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2769953"/>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5400" dirty="0"/>
              <a:t>事先约束</a:t>
            </a:r>
            <a:endParaRPr lang="en-US" sz="5400" dirty="0">
              <a:solidFill>
                <a:srgbClr val="D83B01"/>
              </a:solidFill>
            </a:endParaRPr>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val="1636055358"/>
              </p:ext>
            </p:extLst>
          </p:nvPr>
        </p:nvGraphicFramePr>
        <p:xfrm>
          <a:off x="949497" y="1686040"/>
          <a:ext cx="15378696" cy="78008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22354716"/>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5400" dirty="0"/>
              <a:t>控制权变更</a:t>
            </a:r>
            <a:endParaRPr lang="en-US" sz="5400" dirty="0">
              <a:solidFill>
                <a:srgbClr val="D83B01"/>
              </a:solidFill>
            </a:endParaRPr>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val="2857751241"/>
              </p:ext>
            </p:extLst>
          </p:nvPr>
        </p:nvGraphicFramePr>
        <p:xfrm>
          <a:off x="949497" y="1686040"/>
          <a:ext cx="15378696" cy="78008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99615782"/>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F4F6D7-D851-4BBF-91BE-22CB264FBE1A}"/>
              </a:ext>
            </a:extLst>
          </p:cNvPr>
          <p:cNvSpPr>
            <a:spLocks noGrp="1"/>
          </p:cNvSpPr>
          <p:nvPr>
            <p:ph type="title"/>
          </p:nvPr>
        </p:nvSpPr>
        <p:spPr/>
        <p:txBody>
          <a:bodyPr/>
          <a:lstStyle/>
          <a:p>
            <a:r>
              <a:rPr lang="zh-CN" altLang="en-US" dirty="0"/>
              <a:t>实际效果</a:t>
            </a:r>
          </a:p>
        </p:txBody>
      </p:sp>
      <p:sp>
        <p:nvSpPr>
          <p:cNvPr id="3" name="内容占位符 2">
            <a:extLst>
              <a:ext uri="{FF2B5EF4-FFF2-40B4-BE49-F238E27FC236}">
                <a16:creationId xmlns:a16="http://schemas.microsoft.com/office/drawing/2014/main" id="{6578B606-B35A-4713-8A36-85B6E8B546E5}"/>
              </a:ext>
            </a:extLst>
          </p:cNvPr>
          <p:cNvSpPr>
            <a:spLocks noGrp="1"/>
          </p:cNvSpPr>
          <p:nvPr>
            <p:ph idx="1"/>
          </p:nvPr>
        </p:nvSpPr>
        <p:spPr/>
        <p:txBody>
          <a:bodyPr>
            <a:normAutofit/>
          </a:bodyPr>
          <a:lstStyle/>
          <a:p>
            <a:r>
              <a:rPr lang="zh-CN" altLang="en-US" b="1" dirty="0"/>
              <a:t>条款执行差</a:t>
            </a:r>
            <a:endParaRPr lang="en-US" altLang="zh-CN" b="1" dirty="0"/>
          </a:p>
          <a:p>
            <a:pPr lvl="1"/>
            <a:r>
              <a:rPr lang="zh-CN" altLang="en-US" dirty="0"/>
              <a:t>发行人和相关方履约意识</a:t>
            </a:r>
            <a:endParaRPr lang="en-US" altLang="zh-CN" dirty="0"/>
          </a:p>
          <a:p>
            <a:pPr lvl="1"/>
            <a:r>
              <a:rPr lang="zh-CN" altLang="en-US" dirty="0"/>
              <a:t>信息披露时效性</a:t>
            </a:r>
            <a:endParaRPr lang="en-US" altLang="zh-CN" dirty="0"/>
          </a:p>
          <a:p>
            <a:pPr lvl="1"/>
            <a:r>
              <a:rPr lang="zh-CN" altLang="en-US" dirty="0"/>
              <a:t>持有人大会的组织效率低</a:t>
            </a:r>
            <a:endParaRPr lang="en-US" altLang="zh-CN" dirty="0"/>
          </a:p>
          <a:p>
            <a:pPr lvl="1"/>
            <a:r>
              <a:rPr lang="zh-CN" altLang="en-US" dirty="0"/>
              <a:t>持有人是持有多重债权，利益诉求各异</a:t>
            </a:r>
            <a:endParaRPr lang="en-US" altLang="zh-CN" dirty="0"/>
          </a:p>
          <a:p>
            <a:pPr lvl="1"/>
            <a:endParaRPr lang="en-US" altLang="zh-CN" dirty="0"/>
          </a:p>
          <a:p>
            <a:r>
              <a:rPr lang="zh-CN" altLang="en-US" b="1" dirty="0"/>
              <a:t>实际情况</a:t>
            </a:r>
            <a:endParaRPr lang="en-US" altLang="zh-CN" b="1" dirty="0"/>
          </a:p>
          <a:p>
            <a:pPr lvl="1"/>
            <a:r>
              <a:rPr lang="zh-CN" altLang="en-US" dirty="0"/>
              <a:t>发行人身份复杂，涉及范围和领域非常广泛</a:t>
            </a:r>
            <a:endParaRPr lang="en-US" altLang="zh-CN" dirty="0"/>
          </a:p>
          <a:p>
            <a:pPr lvl="1"/>
            <a:r>
              <a:rPr lang="zh-CN" altLang="en-US" dirty="0"/>
              <a:t>单纯的持有人会议决议、司法执行非常困难</a:t>
            </a:r>
            <a:endParaRPr lang="en-US" altLang="zh-CN" dirty="0"/>
          </a:p>
          <a:p>
            <a:pPr lvl="1"/>
            <a:r>
              <a:rPr lang="zh-CN" altLang="en-US" dirty="0"/>
              <a:t>谈判协商、维稳救助为主</a:t>
            </a:r>
            <a:endParaRPr lang="en-US" altLang="zh-CN" dirty="0"/>
          </a:p>
        </p:txBody>
      </p:sp>
    </p:spTree>
    <p:extLst>
      <p:ext uri="{BB962C8B-B14F-4D97-AF65-F5344CB8AC3E}">
        <p14:creationId xmlns:p14="http://schemas.microsoft.com/office/powerpoint/2010/main" val="35176795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107985D7-CF3C-4A3D-9CF0-9F74624D86B5}"/>
              </a:ext>
            </a:extLst>
          </p:cNvPr>
          <p:cNvSpPr>
            <a:spLocks noGrp="1"/>
          </p:cNvSpPr>
          <p:nvPr>
            <p:ph type="title"/>
          </p:nvPr>
        </p:nvSpPr>
        <p:spPr/>
        <p:txBody>
          <a:bodyPr/>
          <a:lstStyle/>
          <a:p>
            <a:r>
              <a:rPr lang="zh-CN" altLang="en-US" dirty="0"/>
              <a:t>（八）第三方</a:t>
            </a:r>
            <a:r>
              <a:rPr lang="zh-CN" altLang="en-US" dirty="0">
                <a:latin typeface="+mn-ea"/>
              </a:rPr>
              <a:t>信评</a:t>
            </a:r>
            <a:endParaRPr lang="zh-CN" altLang="en-US" dirty="0"/>
          </a:p>
        </p:txBody>
      </p:sp>
      <p:sp>
        <p:nvSpPr>
          <p:cNvPr id="9" name="文本占位符 8">
            <a:extLst>
              <a:ext uri="{FF2B5EF4-FFF2-40B4-BE49-F238E27FC236}">
                <a16:creationId xmlns:a16="http://schemas.microsoft.com/office/drawing/2014/main" id="{2F73E15C-7A13-453D-A659-1826E4CC1CA1}"/>
              </a:ext>
            </a:extLst>
          </p:cNvPr>
          <p:cNvSpPr>
            <a:spLocks noGrp="1"/>
          </p:cNvSpPr>
          <p:nvPr>
            <p:ph type="body" idx="1"/>
          </p:nvPr>
        </p:nvSpPr>
        <p:spPr/>
        <p:txBody>
          <a:bodyPr/>
          <a:lstStyle/>
          <a:p>
            <a:r>
              <a:rPr lang="zh-CN" altLang="en-US" dirty="0"/>
              <a:t>在一定的方法体系下，基于上述外部、内部风险因素的事实状况，得出合理的资质等级</a:t>
            </a:r>
          </a:p>
        </p:txBody>
      </p:sp>
    </p:spTree>
    <p:extLst>
      <p:ext uri="{BB962C8B-B14F-4D97-AF65-F5344CB8AC3E}">
        <p14:creationId xmlns:p14="http://schemas.microsoft.com/office/powerpoint/2010/main" val="49333623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标普评级法</a:t>
            </a:r>
            <a:endParaRPr lang="en-US" dirty="0"/>
          </a:p>
        </p:txBody>
      </p:sp>
      <p:grpSp>
        <p:nvGrpSpPr>
          <p:cNvPr id="32" name="组合 31">
            <a:extLst>
              <a:ext uri="{FF2B5EF4-FFF2-40B4-BE49-F238E27FC236}">
                <a16:creationId xmlns:a16="http://schemas.microsoft.com/office/drawing/2014/main" id="{CABF68E1-D8C8-460A-97A4-D061B278D86B}"/>
              </a:ext>
            </a:extLst>
          </p:cNvPr>
          <p:cNvGrpSpPr/>
          <p:nvPr/>
        </p:nvGrpSpPr>
        <p:grpSpPr>
          <a:xfrm>
            <a:off x="949497" y="2583170"/>
            <a:ext cx="15378697" cy="5807414"/>
            <a:chOff x="949496" y="2823802"/>
            <a:chExt cx="15378697" cy="5807414"/>
          </a:xfrm>
        </p:grpSpPr>
        <p:grpSp>
          <p:nvGrpSpPr>
            <p:cNvPr id="33" name="Group 2">
              <a:extLst>
                <a:ext uri="{FF2B5EF4-FFF2-40B4-BE49-F238E27FC236}">
                  <a16:creationId xmlns:a16="http://schemas.microsoft.com/office/drawing/2014/main" id="{803F0758-CAD3-4F51-A2B0-FE0107D10E02}"/>
                </a:ext>
              </a:extLst>
            </p:cNvPr>
            <p:cNvGrpSpPr/>
            <p:nvPr/>
          </p:nvGrpSpPr>
          <p:grpSpPr>
            <a:xfrm>
              <a:off x="11380975" y="4887296"/>
              <a:ext cx="3880263" cy="3743920"/>
              <a:chOff x="8285536" y="3240529"/>
              <a:chExt cx="3096771" cy="3096771"/>
            </a:xfrm>
          </p:grpSpPr>
          <p:sp>
            <p:nvSpPr>
              <p:cNvPr id="55" name="Rectangle 3">
                <a:extLst>
                  <a:ext uri="{FF2B5EF4-FFF2-40B4-BE49-F238E27FC236}">
                    <a16:creationId xmlns:a16="http://schemas.microsoft.com/office/drawing/2014/main" id="{FB0E0909-AA64-4F92-86DE-07D0C84570D6}"/>
                  </a:ext>
                </a:extLst>
              </p:cNvPr>
              <p:cNvSpPr/>
              <p:nvPr/>
            </p:nvSpPr>
            <p:spPr bwMode="auto">
              <a:xfrm>
                <a:off x="8285536" y="3240529"/>
                <a:ext cx="3096771" cy="3096771"/>
              </a:xfrm>
              <a:prstGeom prst="rect">
                <a:avLst/>
              </a:prstGeom>
              <a:solidFill>
                <a:srgbClr val="C00000"/>
              </a:solidFill>
              <a:ln w="10795" cap="flat" cmpd="sng" algn="ctr">
                <a:noFill/>
                <a:prstDash val="solid"/>
                <a:headEnd type="none" w="med" len="med"/>
                <a:tailEnd type="none" w="med" len="med"/>
              </a:ln>
              <a:effectLst/>
            </p:spPr>
            <p:txBody>
              <a:bodyPr vert="horz" wrap="square" lIns="230297" tIns="115148" rIns="230297" bIns="115148" numCol="1" rtlCol="0" anchor="b" anchorCtr="0" compatLnSpc="1">
                <a:prstTxWarp prst="textNoShape">
                  <a:avLst/>
                </a:prstTxWarp>
              </a:bodyPr>
              <a:lstStyle/>
              <a:p>
                <a:pPr defTabSz="1294692" fontAlgn="base">
                  <a:spcBef>
                    <a:spcPct val="0"/>
                  </a:spcBef>
                  <a:spcAft>
                    <a:spcPct val="0"/>
                  </a:spcAft>
                  <a:defRPr/>
                </a:pPr>
                <a:r>
                  <a:rPr lang="en-US" altLang="zh-CN" sz="4534" b="1" kern="0" dirty="0">
                    <a:gradFill>
                      <a:gsLst>
                        <a:gs pos="0">
                          <a:srgbClr val="FFFFFF"/>
                        </a:gs>
                        <a:gs pos="100000">
                          <a:srgbClr val="FFFFFF"/>
                        </a:gs>
                      </a:gsLst>
                      <a:lin ang="5400000" scaled="0"/>
                    </a:gradFill>
                    <a:latin typeface="Segoe UI Light"/>
                  </a:rPr>
                  <a:t>3. </a:t>
                </a:r>
                <a:r>
                  <a:rPr lang="zh-CN" altLang="en-US" sz="4534" kern="0" dirty="0">
                    <a:gradFill>
                      <a:gsLst>
                        <a:gs pos="0">
                          <a:srgbClr val="FFFFFF"/>
                        </a:gs>
                        <a:gs pos="100000">
                          <a:srgbClr val="FFFFFF"/>
                        </a:gs>
                      </a:gsLst>
                      <a:lin ang="5400000" scaled="0"/>
                    </a:gradFill>
                    <a:latin typeface="Segoe UI Light"/>
                  </a:rPr>
                  <a:t>确定主体评级</a:t>
                </a:r>
              </a:p>
            </p:txBody>
          </p:sp>
          <p:sp>
            <p:nvSpPr>
              <p:cNvPr id="56" name="Freeform 7">
                <a:extLst>
                  <a:ext uri="{FF2B5EF4-FFF2-40B4-BE49-F238E27FC236}">
                    <a16:creationId xmlns:a16="http://schemas.microsoft.com/office/drawing/2014/main" id="{E7E4F880-9B75-436E-8D2A-0B641EB78F7E}"/>
                  </a:ext>
                </a:extLst>
              </p:cNvPr>
              <p:cNvSpPr>
                <a:spLocks noEditPoints="1"/>
              </p:cNvSpPr>
              <p:nvPr/>
            </p:nvSpPr>
            <p:spPr bwMode="black">
              <a:xfrm>
                <a:off x="9282307" y="3820710"/>
                <a:ext cx="1082454" cy="1083702"/>
              </a:xfrm>
              <a:custGeom>
                <a:avLst/>
                <a:gdLst>
                  <a:gd name="T0" fmla="*/ 52 w 300"/>
                  <a:gd name="T1" fmla="*/ 268 h 300"/>
                  <a:gd name="T2" fmla="*/ 62 w 300"/>
                  <a:gd name="T3" fmla="*/ 255 h 300"/>
                  <a:gd name="T4" fmla="*/ 77 w 300"/>
                  <a:gd name="T5" fmla="*/ 230 h 300"/>
                  <a:gd name="T6" fmla="*/ 46 w 300"/>
                  <a:gd name="T7" fmla="*/ 204 h 300"/>
                  <a:gd name="T8" fmla="*/ 15 w 300"/>
                  <a:gd name="T9" fmla="*/ 233 h 300"/>
                  <a:gd name="T10" fmla="*/ 33 w 300"/>
                  <a:gd name="T11" fmla="*/ 219 h 300"/>
                  <a:gd name="T12" fmla="*/ 60 w 300"/>
                  <a:gd name="T13" fmla="*/ 219 h 300"/>
                  <a:gd name="T14" fmla="*/ 63 w 300"/>
                  <a:gd name="T15" fmla="*/ 238 h 300"/>
                  <a:gd name="T16" fmla="*/ 46 w 300"/>
                  <a:gd name="T17" fmla="*/ 255 h 300"/>
                  <a:gd name="T18" fmla="*/ 39 w 300"/>
                  <a:gd name="T19" fmla="*/ 275 h 300"/>
                  <a:gd name="T20" fmla="*/ 51 w 300"/>
                  <a:gd name="T21" fmla="*/ 279 h 300"/>
                  <a:gd name="T22" fmla="*/ 51 w 300"/>
                  <a:gd name="T23" fmla="*/ 288 h 300"/>
                  <a:gd name="T24" fmla="*/ 39 w 300"/>
                  <a:gd name="T25" fmla="*/ 300 h 300"/>
                  <a:gd name="T26" fmla="*/ 300 w 300"/>
                  <a:gd name="T27" fmla="*/ 216 h 300"/>
                  <a:gd name="T28" fmla="*/ 218 w 300"/>
                  <a:gd name="T29" fmla="*/ 300 h 300"/>
                  <a:gd name="T30" fmla="*/ 220 w 300"/>
                  <a:gd name="T31" fmla="*/ 263 h 300"/>
                  <a:gd name="T32" fmla="*/ 277 w 300"/>
                  <a:gd name="T33" fmla="*/ 216 h 300"/>
                  <a:gd name="T34" fmla="*/ 149 w 300"/>
                  <a:gd name="T35" fmla="*/ 228 h 300"/>
                  <a:gd name="T36" fmla="*/ 119 w 300"/>
                  <a:gd name="T37" fmla="*/ 242 h 300"/>
                  <a:gd name="T38" fmla="*/ 149 w 300"/>
                  <a:gd name="T39" fmla="*/ 262 h 300"/>
                  <a:gd name="T40" fmla="*/ 177 w 300"/>
                  <a:gd name="T41" fmla="*/ 252 h 300"/>
                  <a:gd name="T42" fmla="*/ 255 w 300"/>
                  <a:gd name="T43" fmla="*/ 75 h 300"/>
                  <a:gd name="T44" fmla="*/ 259 w 300"/>
                  <a:gd name="T45" fmla="*/ 59 h 300"/>
                  <a:gd name="T46" fmla="*/ 278 w 300"/>
                  <a:gd name="T47" fmla="*/ 38 h 300"/>
                  <a:gd name="T48" fmla="*/ 272 w 300"/>
                  <a:gd name="T49" fmla="*/ 8 h 300"/>
                  <a:gd name="T50" fmla="*/ 228 w 300"/>
                  <a:gd name="T51" fmla="*/ 7 h 300"/>
                  <a:gd name="T52" fmla="*/ 231 w 300"/>
                  <a:gd name="T53" fmla="*/ 29 h 300"/>
                  <a:gd name="T54" fmla="*/ 250 w 300"/>
                  <a:gd name="T55" fmla="*/ 10 h 300"/>
                  <a:gd name="T56" fmla="*/ 269 w 300"/>
                  <a:gd name="T57" fmla="*/ 26 h 300"/>
                  <a:gd name="T58" fmla="*/ 259 w 300"/>
                  <a:gd name="T59" fmla="*/ 43 h 300"/>
                  <a:gd name="T60" fmla="*/ 245 w 300"/>
                  <a:gd name="T61" fmla="*/ 59 h 300"/>
                  <a:gd name="T62" fmla="*/ 243 w 300"/>
                  <a:gd name="T63" fmla="*/ 75 h 300"/>
                  <a:gd name="T64" fmla="*/ 255 w 300"/>
                  <a:gd name="T65" fmla="*/ 96 h 300"/>
                  <a:gd name="T66" fmla="*/ 243 w 300"/>
                  <a:gd name="T67" fmla="*/ 84 h 300"/>
                  <a:gd name="T68" fmla="*/ 255 w 300"/>
                  <a:gd name="T69" fmla="*/ 96 h 300"/>
                  <a:gd name="T70" fmla="*/ 49 w 300"/>
                  <a:gd name="T71" fmla="*/ 84 h 300"/>
                  <a:gd name="T72" fmla="*/ 0 w 300"/>
                  <a:gd name="T73" fmla="*/ 47 h 300"/>
                  <a:gd name="T74" fmla="*/ 35 w 300"/>
                  <a:gd name="T75" fmla="*/ 68 h 300"/>
                  <a:gd name="T76" fmla="*/ 102 w 300"/>
                  <a:gd name="T77" fmla="*/ 0 h 300"/>
                  <a:gd name="T78" fmla="*/ 147 w 300"/>
                  <a:gd name="T79" fmla="*/ 58 h 300"/>
                  <a:gd name="T80" fmla="*/ 177 w 300"/>
                  <a:gd name="T81" fmla="*/ 38 h 300"/>
                  <a:gd name="T82" fmla="*/ 147 w 300"/>
                  <a:gd name="T83" fmla="*/ 24 h 300"/>
                  <a:gd name="T84" fmla="*/ 147 w 300"/>
                  <a:gd name="T85" fmla="*/ 72 h 300"/>
                  <a:gd name="T86" fmla="*/ 56 w 300"/>
                  <a:gd name="T87" fmla="*/ 151 h 300"/>
                  <a:gd name="T88" fmla="*/ 36 w 300"/>
                  <a:gd name="T89" fmla="*/ 121 h 300"/>
                  <a:gd name="T90" fmla="*/ 22 w 300"/>
                  <a:gd name="T91" fmla="*/ 151 h 300"/>
                  <a:gd name="T92" fmla="*/ 70 w 300"/>
                  <a:gd name="T93" fmla="*/ 151 h 300"/>
                  <a:gd name="T94" fmla="*/ 240 w 300"/>
                  <a:gd name="T95" fmla="*/ 149 h 300"/>
                  <a:gd name="T96" fmla="*/ 260 w 300"/>
                  <a:gd name="T97" fmla="*/ 179 h 300"/>
                  <a:gd name="T98" fmla="*/ 274 w 300"/>
                  <a:gd name="T99" fmla="*/ 149 h 300"/>
                  <a:gd name="T100" fmla="*/ 226 w 300"/>
                  <a:gd name="T101" fmla="*/ 149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0" h="300">
                    <a:moveTo>
                      <a:pt x="51" y="279"/>
                    </a:moveTo>
                    <a:cubicBezTo>
                      <a:pt x="51" y="274"/>
                      <a:pt x="51" y="270"/>
                      <a:pt x="52" y="268"/>
                    </a:cubicBezTo>
                    <a:cubicBezTo>
                      <a:pt x="52" y="266"/>
                      <a:pt x="53" y="264"/>
                      <a:pt x="55" y="263"/>
                    </a:cubicBezTo>
                    <a:cubicBezTo>
                      <a:pt x="56" y="261"/>
                      <a:pt x="58" y="259"/>
                      <a:pt x="62" y="255"/>
                    </a:cubicBezTo>
                    <a:cubicBezTo>
                      <a:pt x="68" y="250"/>
                      <a:pt x="72" y="246"/>
                      <a:pt x="74" y="242"/>
                    </a:cubicBezTo>
                    <a:cubicBezTo>
                      <a:pt x="76" y="239"/>
                      <a:pt x="77" y="235"/>
                      <a:pt x="77" y="230"/>
                    </a:cubicBezTo>
                    <a:cubicBezTo>
                      <a:pt x="77" y="223"/>
                      <a:pt x="74" y="217"/>
                      <a:pt x="68" y="212"/>
                    </a:cubicBezTo>
                    <a:cubicBezTo>
                      <a:pt x="63" y="207"/>
                      <a:pt x="55" y="204"/>
                      <a:pt x="46" y="204"/>
                    </a:cubicBezTo>
                    <a:cubicBezTo>
                      <a:pt x="37" y="204"/>
                      <a:pt x="30" y="206"/>
                      <a:pt x="24" y="211"/>
                    </a:cubicBezTo>
                    <a:cubicBezTo>
                      <a:pt x="18" y="217"/>
                      <a:pt x="15" y="225"/>
                      <a:pt x="15" y="233"/>
                    </a:cubicBezTo>
                    <a:cubicBezTo>
                      <a:pt x="27" y="233"/>
                      <a:pt x="27" y="233"/>
                      <a:pt x="27" y="233"/>
                    </a:cubicBezTo>
                    <a:cubicBezTo>
                      <a:pt x="28" y="227"/>
                      <a:pt x="28" y="223"/>
                      <a:pt x="33" y="219"/>
                    </a:cubicBezTo>
                    <a:cubicBezTo>
                      <a:pt x="37" y="216"/>
                      <a:pt x="41" y="214"/>
                      <a:pt x="46" y="214"/>
                    </a:cubicBezTo>
                    <a:cubicBezTo>
                      <a:pt x="51" y="214"/>
                      <a:pt x="57" y="216"/>
                      <a:pt x="60" y="219"/>
                    </a:cubicBezTo>
                    <a:cubicBezTo>
                      <a:pt x="64" y="223"/>
                      <a:pt x="65" y="226"/>
                      <a:pt x="65" y="230"/>
                    </a:cubicBezTo>
                    <a:cubicBezTo>
                      <a:pt x="65" y="233"/>
                      <a:pt x="64" y="236"/>
                      <a:pt x="63" y="238"/>
                    </a:cubicBezTo>
                    <a:cubicBezTo>
                      <a:pt x="61" y="240"/>
                      <a:pt x="59" y="243"/>
                      <a:pt x="55" y="247"/>
                    </a:cubicBezTo>
                    <a:cubicBezTo>
                      <a:pt x="51" y="251"/>
                      <a:pt x="48" y="253"/>
                      <a:pt x="46" y="255"/>
                    </a:cubicBezTo>
                    <a:cubicBezTo>
                      <a:pt x="44" y="258"/>
                      <a:pt x="42" y="260"/>
                      <a:pt x="41" y="263"/>
                    </a:cubicBezTo>
                    <a:cubicBezTo>
                      <a:pt x="40" y="266"/>
                      <a:pt x="39" y="270"/>
                      <a:pt x="39" y="275"/>
                    </a:cubicBezTo>
                    <a:cubicBezTo>
                      <a:pt x="39" y="276"/>
                      <a:pt x="39" y="277"/>
                      <a:pt x="39" y="279"/>
                    </a:cubicBezTo>
                    <a:lnTo>
                      <a:pt x="51" y="279"/>
                    </a:lnTo>
                    <a:close/>
                    <a:moveTo>
                      <a:pt x="51" y="300"/>
                    </a:moveTo>
                    <a:cubicBezTo>
                      <a:pt x="51" y="288"/>
                      <a:pt x="51" y="288"/>
                      <a:pt x="51" y="288"/>
                    </a:cubicBezTo>
                    <a:cubicBezTo>
                      <a:pt x="39" y="288"/>
                      <a:pt x="39" y="288"/>
                      <a:pt x="39" y="288"/>
                    </a:cubicBezTo>
                    <a:cubicBezTo>
                      <a:pt x="39" y="300"/>
                      <a:pt x="39" y="300"/>
                      <a:pt x="39" y="300"/>
                    </a:cubicBezTo>
                    <a:lnTo>
                      <a:pt x="51" y="300"/>
                    </a:lnTo>
                    <a:close/>
                    <a:moveTo>
                      <a:pt x="300" y="216"/>
                    </a:moveTo>
                    <a:cubicBezTo>
                      <a:pt x="247" y="300"/>
                      <a:pt x="247" y="300"/>
                      <a:pt x="247" y="300"/>
                    </a:cubicBezTo>
                    <a:cubicBezTo>
                      <a:pt x="218" y="300"/>
                      <a:pt x="218" y="300"/>
                      <a:pt x="218" y="300"/>
                    </a:cubicBezTo>
                    <a:cubicBezTo>
                      <a:pt x="198" y="263"/>
                      <a:pt x="198" y="263"/>
                      <a:pt x="198" y="263"/>
                    </a:cubicBezTo>
                    <a:cubicBezTo>
                      <a:pt x="220" y="263"/>
                      <a:pt x="220" y="263"/>
                      <a:pt x="220" y="263"/>
                    </a:cubicBezTo>
                    <a:cubicBezTo>
                      <a:pt x="233" y="285"/>
                      <a:pt x="233" y="285"/>
                      <a:pt x="233" y="285"/>
                    </a:cubicBezTo>
                    <a:cubicBezTo>
                      <a:pt x="277" y="216"/>
                      <a:pt x="277" y="216"/>
                      <a:pt x="277" y="216"/>
                    </a:cubicBezTo>
                    <a:lnTo>
                      <a:pt x="300" y="216"/>
                    </a:lnTo>
                    <a:close/>
                    <a:moveTo>
                      <a:pt x="149" y="228"/>
                    </a:moveTo>
                    <a:cubicBezTo>
                      <a:pt x="149" y="242"/>
                      <a:pt x="149" y="242"/>
                      <a:pt x="149" y="242"/>
                    </a:cubicBezTo>
                    <a:cubicBezTo>
                      <a:pt x="119" y="242"/>
                      <a:pt x="119" y="242"/>
                      <a:pt x="119" y="242"/>
                    </a:cubicBezTo>
                    <a:cubicBezTo>
                      <a:pt x="119" y="262"/>
                      <a:pt x="119" y="262"/>
                      <a:pt x="119" y="262"/>
                    </a:cubicBezTo>
                    <a:cubicBezTo>
                      <a:pt x="149" y="262"/>
                      <a:pt x="149" y="262"/>
                      <a:pt x="149" y="262"/>
                    </a:cubicBezTo>
                    <a:cubicBezTo>
                      <a:pt x="149" y="276"/>
                      <a:pt x="149" y="276"/>
                      <a:pt x="149" y="276"/>
                    </a:cubicBezTo>
                    <a:cubicBezTo>
                      <a:pt x="177" y="252"/>
                      <a:pt x="177" y="252"/>
                      <a:pt x="177" y="252"/>
                    </a:cubicBezTo>
                    <a:lnTo>
                      <a:pt x="149" y="228"/>
                    </a:lnTo>
                    <a:close/>
                    <a:moveTo>
                      <a:pt x="255" y="75"/>
                    </a:moveTo>
                    <a:cubicBezTo>
                      <a:pt x="255" y="70"/>
                      <a:pt x="255" y="66"/>
                      <a:pt x="256" y="64"/>
                    </a:cubicBezTo>
                    <a:cubicBezTo>
                      <a:pt x="256" y="62"/>
                      <a:pt x="257" y="60"/>
                      <a:pt x="259" y="59"/>
                    </a:cubicBezTo>
                    <a:cubicBezTo>
                      <a:pt x="260" y="57"/>
                      <a:pt x="262" y="55"/>
                      <a:pt x="266" y="51"/>
                    </a:cubicBezTo>
                    <a:cubicBezTo>
                      <a:pt x="272" y="46"/>
                      <a:pt x="276" y="42"/>
                      <a:pt x="278" y="38"/>
                    </a:cubicBezTo>
                    <a:cubicBezTo>
                      <a:pt x="280" y="35"/>
                      <a:pt x="281" y="31"/>
                      <a:pt x="281" y="26"/>
                    </a:cubicBezTo>
                    <a:cubicBezTo>
                      <a:pt x="281" y="19"/>
                      <a:pt x="278" y="13"/>
                      <a:pt x="272" y="8"/>
                    </a:cubicBezTo>
                    <a:cubicBezTo>
                      <a:pt x="267" y="3"/>
                      <a:pt x="259" y="0"/>
                      <a:pt x="250" y="0"/>
                    </a:cubicBezTo>
                    <a:cubicBezTo>
                      <a:pt x="241" y="0"/>
                      <a:pt x="234" y="2"/>
                      <a:pt x="228" y="7"/>
                    </a:cubicBezTo>
                    <a:cubicBezTo>
                      <a:pt x="222" y="13"/>
                      <a:pt x="219" y="21"/>
                      <a:pt x="219" y="29"/>
                    </a:cubicBezTo>
                    <a:cubicBezTo>
                      <a:pt x="231" y="29"/>
                      <a:pt x="231" y="29"/>
                      <a:pt x="231" y="29"/>
                    </a:cubicBezTo>
                    <a:cubicBezTo>
                      <a:pt x="232" y="23"/>
                      <a:pt x="232" y="19"/>
                      <a:pt x="237" y="15"/>
                    </a:cubicBezTo>
                    <a:cubicBezTo>
                      <a:pt x="241" y="12"/>
                      <a:pt x="245" y="10"/>
                      <a:pt x="250" y="10"/>
                    </a:cubicBezTo>
                    <a:cubicBezTo>
                      <a:pt x="255" y="10"/>
                      <a:pt x="261" y="12"/>
                      <a:pt x="264" y="15"/>
                    </a:cubicBezTo>
                    <a:cubicBezTo>
                      <a:pt x="268" y="19"/>
                      <a:pt x="269" y="22"/>
                      <a:pt x="269" y="26"/>
                    </a:cubicBezTo>
                    <a:cubicBezTo>
                      <a:pt x="269" y="29"/>
                      <a:pt x="268" y="32"/>
                      <a:pt x="267" y="34"/>
                    </a:cubicBezTo>
                    <a:cubicBezTo>
                      <a:pt x="265" y="36"/>
                      <a:pt x="263" y="39"/>
                      <a:pt x="259" y="43"/>
                    </a:cubicBezTo>
                    <a:cubicBezTo>
                      <a:pt x="255" y="47"/>
                      <a:pt x="252" y="49"/>
                      <a:pt x="250" y="51"/>
                    </a:cubicBezTo>
                    <a:cubicBezTo>
                      <a:pt x="248" y="54"/>
                      <a:pt x="246" y="56"/>
                      <a:pt x="245" y="59"/>
                    </a:cubicBezTo>
                    <a:cubicBezTo>
                      <a:pt x="244" y="62"/>
                      <a:pt x="243" y="66"/>
                      <a:pt x="243" y="71"/>
                    </a:cubicBezTo>
                    <a:cubicBezTo>
                      <a:pt x="243" y="72"/>
                      <a:pt x="243" y="73"/>
                      <a:pt x="243" y="75"/>
                    </a:cubicBezTo>
                    <a:lnTo>
                      <a:pt x="255" y="75"/>
                    </a:lnTo>
                    <a:close/>
                    <a:moveTo>
                      <a:pt x="255" y="96"/>
                    </a:moveTo>
                    <a:cubicBezTo>
                      <a:pt x="255" y="84"/>
                      <a:pt x="255" y="84"/>
                      <a:pt x="255" y="84"/>
                    </a:cubicBezTo>
                    <a:cubicBezTo>
                      <a:pt x="243" y="84"/>
                      <a:pt x="243" y="84"/>
                      <a:pt x="243" y="84"/>
                    </a:cubicBezTo>
                    <a:cubicBezTo>
                      <a:pt x="243" y="96"/>
                      <a:pt x="243" y="96"/>
                      <a:pt x="243" y="96"/>
                    </a:cubicBezTo>
                    <a:lnTo>
                      <a:pt x="255" y="96"/>
                    </a:lnTo>
                    <a:close/>
                    <a:moveTo>
                      <a:pt x="102" y="0"/>
                    </a:moveTo>
                    <a:cubicBezTo>
                      <a:pt x="49" y="84"/>
                      <a:pt x="49" y="84"/>
                      <a:pt x="49" y="84"/>
                    </a:cubicBezTo>
                    <a:cubicBezTo>
                      <a:pt x="20" y="84"/>
                      <a:pt x="20" y="84"/>
                      <a:pt x="20" y="84"/>
                    </a:cubicBezTo>
                    <a:cubicBezTo>
                      <a:pt x="0" y="47"/>
                      <a:pt x="0" y="47"/>
                      <a:pt x="0" y="47"/>
                    </a:cubicBezTo>
                    <a:cubicBezTo>
                      <a:pt x="22" y="47"/>
                      <a:pt x="22" y="47"/>
                      <a:pt x="22" y="47"/>
                    </a:cubicBezTo>
                    <a:cubicBezTo>
                      <a:pt x="35" y="68"/>
                      <a:pt x="35" y="68"/>
                      <a:pt x="35" y="68"/>
                    </a:cubicBezTo>
                    <a:cubicBezTo>
                      <a:pt x="79" y="0"/>
                      <a:pt x="79" y="0"/>
                      <a:pt x="79" y="0"/>
                    </a:cubicBezTo>
                    <a:lnTo>
                      <a:pt x="102" y="0"/>
                    </a:lnTo>
                    <a:close/>
                    <a:moveTo>
                      <a:pt x="147" y="72"/>
                    </a:moveTo>
                    <a:cubicBezTo>
                      <a:pt x="147" y="58"/>
                      <a:pt x="147" y="58"/>
                      <a:pt x="147" y="58"/>
                    </a:cubicBezTo>
                    <a:cubicBezTo>
                      <a:pt x="177" y="58"/>
                      <a:pt x="177" y="58"/>
                      <a:pt x="177" y="58"/>
                    </a:cubicBezTo>
                    <a:cubicBezTo>
                      <a:pt x="177" y="38"/>
                      <a:pt x="177" y="38"/>
                      <a:pt x="177" y="38"/>
                    </a:cubicBezTo>
                    <a:cubicBezTo>
                      <a:pt x="147" y="38"/>
                      <a:pt x="147" y="38"/>
                      <a:pt x="147" y="38"/>
                    </a:cubicBezTo>
                    <a:cubicBezTo>
                      <a:pt x="147" y="24"/>
                      <a:pt x="147" y="24"/>
                      <a:pt x="147" y="24"/>
                    </a:cubicBezTo>
                    <a:cubicBezTo>
                      <a:pt x="119" y="48"/>
                      <a:pt x="119" y="48"/>
                      <a:pt x="119" y="48"/>
                    </a:cubicBezTo>
                    <a:lnTo>
                      <a:pt x="147" y="72"/>
                    </a:lnTo>
                    <a:close/>
                    <a:moveTo>
                      <a:pt x="70" y="151"/>
                    </a:moveTo>
                    <a:cubicBezTo>
                      <a:pt x="56" y="151"/>
                      <a:pt x="56" y="151"/>
                      <a:pt x="56" y="151"/>
                    </a:cubicBezTo>
                    <a:cubicBezTo>
                      <a:pt x="56" y="121"/>
                      <a:pt x="56" y="121"/>
                      <a:pt x="56" y="121"/>
                    </a:cubicBezTo>
                    <a:cubicBezTo>
                      <a:pt x="36" y="121"/>
                      <a:pt x="36" y="121"/>
                      <a:pt x="36" y="121"/>
                    </a:cubicBezTo>
                    <a:cubicBezTo>
                      <a:pt x="36" y="151"/>
                      <a:pt x="36" y="151"/>
                      <a:pt x="36" y="151"/>
                    </a:cubicBezTo>
                    <a:cubicBezTo>
                      <a:pt x="22" y="151"/>
                      <a:pt x="22" y="151"/>
                      <a:pt x="22" y="151"/>
                    </a:cubicBezTo>
                    <a:cubicBezTo>
                      <a:pt x="46" y="179"/>
                      <a:pt x="46" y="179"/>
                      <a:pt x="46" y="179"/>
                    </a:cubicBezTo>
                    <a:lnTo>
                      <a:pt x="70" y="151"/>
                    </a:lnTo>
                    <a:close/>
                    <a:moveTo>
                      <a:pt x="226" y="149"/>
                    </a:moveTo>
                    <a:cubicBezTo>
                      <a:pt x="240" y="149"/>
                      <a:pt x="240" y="149"/>
                      <a:pt x="240" y="149"/>
                    </a:cubicBezTo>
                    <a:cubicBezTo>
                      <a:pt x="240" y="179"/>
                      <a:pt x="240" y="179"/>
                      <a:pt x="240" y="179"/>
                    </a:cubicBezTo>
                    <a:cubicBezTo>
                      <a:pt x="260" y="179"/>
                      <a:pt x="260" y="179"/>
                      <a:pt x="260" y="179"/>
                    </a:cubicBezTo>
                    <a:cubicBezTo>
                      <a:pt x="260" y="149"/>
                      <a:pt x="260" y="149"/>
                      <a:pt x="260" y="149"/>
                    </a:cubicBezTo>
                    <a:cubicBezTo>
                      <a:pt x="274" y="149"/>
                      <a:pt x="274" y="149"/>
                      <a:pt x="274" y="149"/>
                    </a:cubicBezTo>
                    <a:cubicBezTo>
                      <a:pt x="250" y="121"/>
                      <a:pt x="250" y="121"/>
                      <a:pt x="250" y="121"/>
                    </a:cubicBezTo>
                    <a:lnTo>
                      <a:pt x="226" y="149"/>
                    </a:lnTo>
                    <a:close/>
                  </a:path>
                </a:pathLst>
              </a:custGeom>
              <a:solidFill>
                <a:srgbClr val="FFFFFF"/>
              </a:solidFill>
              <a:ln>
                <a:noFill/>
              </a:ln>
            </p:spPr>
            <p:txBody>
              <a:bodyPr vert="horz" wrap="square" lIns="0" tIns="103651" rIns="207299" bIns="103651" numCol="1" anchor="t" anchorCtr="0" compatLnSpc="1">
                <a:prstTxWarp prst="textNoShape">
                  <a:avLst/>
                </a:prstTxWarp>
              </a:bodyPr>
              <a:lstStyle/>
              <a:p>
                <a:pPr algn="ctr" defTabSz="1295064">
                  <a:defRPr/>
                </a:pPr>
                <a:endParaRPr lang="en-US" sz="2268" kern="0" dirty="0">
                  <a:gradFill>
                    <a:gsLst>
                      <a:gs pos="0">
                        <a:srgbClr val="FFFFFF"/>
                      </a:gs>
                      <a:gs pos="100000">
                        <a:srgbClr val="FFFFFF"/>
                      </a:gs>
                    </a:gsLst>
                    <a:lin ang="5400000" scaled="0"/>
                  </a:gradFill>
                </a:endParaRPr>
              </a:p>
            </p:txBody>
          </p:sp>
        </p:grpSp>
        <p:grpSp>
          <p:nvGrpSpPr>
            <p:cNvPr id="34" name="Group 5">
              <a:extLst>
                <a:ext uri="{FF2B5EF4-FFF2-40B4-BE49-F238E27FC236}">
                  <a16:creationId xmlns:a16="http://schemas.microsoft.com/office/drawing/2014/main" id="{A2EFCA85-70EE-4986-89A7-FE2F67E4064A}"/>
                </a:ext>
              </a:extLst>
            </p:cNvPr>
            <p:cNvGrpSpPr/>
            <p:nvPr/>
          </p:nvGrpSpPr>
          <p:grpSpPr>
            <a:xfrm>
              <a:off x="6602783" y="2823802"/>
              <a:ext cx="3986579" cy="3743920"/>
              <a:chOff x="4921833" y="1783015"/>
              <a:chExt cx="2715022" cy="2642616"/>
            </a:xfrm>
          </p:grpSpPr>
          <p:sp>
            <p:nvSpPr>
              <p:cNvPr id="53" name="Rectangle 6">
                <a:extLst>
                  <a:ext uri="{FF2B5EF4-FFF2-40B4-BE49-F238E27FC236}">
                    <a16:creationId xmlns:a16="http://schemas.microsoft.com/office/drawing/2014/main" id="{4E67D22A-4F4A-4B51-A977-D28741E02EC1}"/>
                  </a:ext>
                </a:extLst>
              </p:cNvPr>
              <p:cNvSpPr/>
              <p:nvPr/>
            </p:nvSpPr>
            <p:spPr bwMode="auto">
              <a:xfrm>
                <a:off x="4921833" y="1783015"/>
                <a:ext cx="2715022" cy="2642616"/>
              </a:xfrm>
              <a:prstGeom prst="rect">
                <a:avLst/>
              </a:prstGeom>
              <a:solidFill>
                <a:srgbClr val="68217A"/>
              </a:solidFill>
              <a:ln w="10795" cap="flat" cmpd="sng" algn="ctr">
                <a:noFill/>
                <a:prstDash val="solid"/>
                <a:headEnd type="none" w="med" len="med"/>
                <a:tailEnd type="none" w="med" len="med"/>
              </a:ln>
              <a:effectLst/>
            </p:spPr>
            <p:txBody>
              <a:bodyPr vert="horz" wrap="square" lIns="230297" tIns="115148" rIns="230297" bIns="115148" numCol="1" rtlCol="0" anchor="t" anchorCtr="0" compatLnSpc="1">
                <a:prstTxWarp prst="textNoShape">
                  <a:avLst/>
                </a:prstTxWarp>
              </a:bodyPr>
              <a:lstStyle/>
              <a:p>
                <a:pPr defTabSz="1294692" fontAlgn="base">
                  <a:spcBef>
                    <a:spcPct val="0"/>
                  </a:spcBef>
                  <a:spcAft>
                    <a:spcPct val="0"/>
                  </a:spcAft>
                  <a:defRPr/>
                </a:pPr>
                <a:r>
                  <a:rPr lang="en-US" altLang="zh-CN" sz="4534" b="1" kern="0" dirty="0">
                    <a:gradFill>
                      <a:gsLst>
                        <a:gs pos="0">
                          <a:srgbClr val="FFFFFF"/>
                        </a:gs>
                        <a:gs pos="100000">
                          <a:srgbClr val="FFFFFF"/>
                        </a:gs>
                      </a:gsLst>
                      <a:lin ang="5400000" scaled="0"/>
                    </a:gradFill>
                    <a:latin typeface="Segoe UI Light"/>
                  </a:rPr>
                  <a:t>2. </a:t>
                </a:r>
                <a:r>
                  <a:rPr lang="zh-CN" altLang="en-US" sz="4534" kern="0" dirty="0">
                    <a:gradFill>
                      <a:gsLst>
                        <a:gs pos="0">
                          <a:srgbClr val="FFFFFF"/>
                        </a:gs>
                        <a:gs pos="100000">
                          <a:srgbClr val="FFFFFF"/>
                        </a:gs>
                      </a:gsLst>
                      <a:lin ang="5400000" scaled="0"/>
                    </a:gradFill>
                    <a:latin typeface="Segoe UI Light"/>
                  </a:rPr>
                  <a:t>调整个体信用状况</a:t>
                </a:r>
              </a:p>
            </p:txBody>
          </p:sp>
          <p:sp>
            <p:nvSpPr>
              <p:cNvPr id="54" name="Freeform 11">
                <a:extLst>
                  <a:ext uri="{FF2B5EF4-FFF2-40B4-BE49-F238E27FC236}">
                    <a16:creationId xmlns:a16="http://schemas.microsoft.com/office/drawing/2014/main" id="{8630809A-D23B-405F-8FD5-5BD454C89971}"/>
                  </a:ext>
                </a:extLst>
              </p:cNvPr>
              <p:cNvSpPr>
                <a:spLocks noEditPoints="1"/>
              </p:cNvSpPr>
              <p:nvPr/>
            </p:nvSpPr>
            <p:spPr bwMode="black">
              <a:xfrm>
                <a:off x="5859069" y="3048950"/>
                <a:ext cx="912955" cy="904729"/>
              </a:xfrm>
              <a:custGeom>
                <a:avLst/>
                <a:gdLst>
                  <a:gd name="T0" fmla="*/ 65 w 300"/>
                  <a:gd name="T1" fmla="*/ 2 h 297"/>
                  <a:gd name="T2" fmla="*/ 113 w 300"/>
                  <a:gd name="T3" fmla="*/ 0 h 297"/>
                  <a:gd name="T4" fmla="*/ 115 w 300"/>
                  <a:gd name="T5" fmla="*/ 12 h 297"/>
                  <a:gd name="T6" fmla="*/ 235 w 300"/>
                  <a:gd name="T7" fmla="*/ 12 h 297"/>
                  <a:gd name="T8" fmla="*/ 232 w 300"/>
                  <a:gd name="T9" fmla="*/ 0 h 297"/>
                  <a:gd name="T10" fmla="*/ 185 w 300"/>
                  <a:gd name="T11" fmla="*/ 2 h 297"/>
                  <a:gd name="T12" fmla="*/ 235 w 300"/>
                  <a:gd name="T13" fmla="*/ 12 h 297"/>
                  <a:gd name="T14" fmla="*/ 98 w 300"/>
                  <a:gd name="T15" fmla="*/ 273 h 297"/>
                  <a:gd name="T16" fmla="*/ 0 w 300"/>
                  <a:gd name="T17" fmla="*/ 295 h 297"/>
                  <a:gd name="T18" fmla="*/ 95 w 300"/>
                  <a:gd name="T19" fmla="*/ 297 h 297"/>
                  <a:gd name="T20" fmla="*/ 205 w 300"/>
                  <a:gd name="T21" fmla="*/ 297 h 297"/>
                  <a:gd name="T22" fmla="*/ 300 w 300"/>
                  <a:gd name="T23" fmla="*/ 295 h 297"/>
                  <a:gd name="T24" fmla="*/ 202 w 300"/>
                  <a:gd name="T25" fmla="*/ 273 h 297"/>
                  <a:gd name="T26" fmla="*/ 205 w 300"/>
                  <a:gd name="T27" fmla="*/ 297 h 297"/>
                  <a:gd name="T28" fmla="*/ 271 w 300"/>
                  <a:gd name="T29" fmla="*/ 83 h 297"/>
                  <a:gd name="T30" fmla="*/ 299 w 300"/>
                  <a:gd name="T31" fmla="*/ 268 h 297"/>
                  <a:gd name="T32" fmla="*/ 227 w 300"/>
                  <a:gd name="T33" fmla="*/ 169 h 297"/>
                  <a:gd name="T34" fmla="*/ 182 w 300"/>
                  <a:gd name="T35" fmla="*/ 166 h 297"/>
                  <a:gd name="T36" fmla="*/ 155 w 300"/>
                  <a:gd name="T37" fmla="*/ 152 h 297"/>
                  <a:gd name="T38" fmla="*/ 154 w 300"/>
                  <a:gd name="T39" fmla="*/ 159 h 297"/>
                  <a:gd name="T40" fmla="*/ 145 w 300"/>
                  <a:gd name="T41" fmla="*/ 158 h 297"/>
                  <a:gd name="T42" fmla="*/ 119 w 300"/>
                  <a:gd name="T43" fmla="*/ 152 h 297"/>
                  <a:gd name="T44" fmla="*/ 115 w 300"/>
                  <a:gd name="T45" fmla="*/ 169 h 297"/>
                  <a:gd name="T46" fmla="*/ 96 w 300"/>
                  <a:gd name="T47" fmla="*/ 268 h 297"/>
                  <a:gd name="T48" fmla="*/ 25 w 300"/>
                  <a:gd name="T49" fmla="*/ 169 h 297"/>
                  <a:gd name="T50" fmla="*/ 42 w 300"/>
                  <a:gd name="T51" fmla="*/ 76 h 297"/>
                  <a:gd name="T52" fmla="*/ 73 w 300"/>
                  <a:gd name="T53" fmla="*/ 59 h 297"/>
                  <a:gd name="T54" fmla="*/ 61 w 300"/>
                  <a:gd name="T55" fmla="*/ 57 h 297"/>
                  <a:gd name="T56" fmla="*/ 120 w 300"/>
                  <a:gd name="T57" fmla="*/ 15 h 297"/>
                  <a:gd name="T58" fmla="*/ 118 w 300"/>
                  <a:gd name="T59" fmla="*/ 59 h 297"/>
                  <a:gd name="T60" fmla="*/ 108 w 300"/>
                  <a:gd name="T61" fmla="*/ 68 h 297"/>
                  <a:gd name="T62" fmla="*/ 145 w 300"/>
                  <a:gd name="T63" fmla="*/ 62 h 297"/>
                  <a:gd name="T64" fmla="*/ 140 w 300"/>
                  <a:gd name="T65" fmla="*/ 61 h 297"/>
                  <a:gd name="T66" fmla="*/ 142 w 300"/>
                  <a:gd name="T67" fmla="*/ 55 h 297"/>
                  <a:gd name="T68" fmla="*/ 160 w 300"/>
                  <a:gd name="T69" fmla="*/ 56 h 297"/>
                  <a:gd name="T70" fmla="*/ 158 w 300"/>
                  <a:gd name="T71" fmla="*/ 62 h 297"/>
                  <a:gd name="T72" fmla="*/ 155 w 300"/>
                  <a:gd name="T73" fmla="*/ 68 h 297"/>
                  <a:gd name="T74" fmla="*/ 192 w 300"/>
                  <a:gd name="T75" fmla="*/ 59 h 297"/>
                  <a:gd name="T76" fmla="*/ 180 w 300"/>
                  <a:gd name="T77" fmla="*/ 57 h 297"/>
                  <a:gd name="T78" fmla="*/ 239 w 300"/>
                  <a:gd name="T79" fmla="*/ 15 h 297"/>
                  <a:gd name="T80" fmla="*/ 237 w 300"/>
                  <a:gd name="T81" fmla="*/ 59 h 297"/>
                  <a:gd name="T82" fmla="*/ 227 w 300"/>
                  <a:gd name="T83" fmla="*/ 76 h 297"/>
                  <a:gd name="T84" fmla="*/ 122 w 300"/>
                  <a:gd name="T85" fmla="*/ 83 h 297"/>
                  <a:gd name="T86" fmla="*/ 145 w 300"/>
                  <a:gd name="T87" fmla="*/ 72 h 297"/>
                  <a:gd name="T88" fmla="*/ 108 w 300"/>
                  <a:gd name="T89" fmla="*/ 76 h 297"/>
                  <a:gd name="T90" fmla="*/ 123 w 300"/>
                  <a:gd name="T91" fmla="*/ 78 h 297"/>
                  <a:gd name="T92" fmla="*/ 180 w 300"/>
                  <a:gd name="T93" fmla="*/ 76 h 297"/>
                  <a:gd name="T94" fmla="*/ 192 w 300"/>
                  <a:gd name="T95" fmla="*/ 72 h 297"/>
                  <a:gd name="T96" fmla="*/ 155 w 300"/>
                  <a:gd name="T97" fmla="*/ 83 h 297"/>
                  <a:gd name="T98" fmla="*/ 178 w 300"/>
                  <a:gd name="T99" fmla="*/ 78 h 297"/>
                  <a:gd name="T100" fmla="*/ 158 w 300"/>
                  <a:gd name="T101" fmla="*/ 101 h 297"/>
                  <a:gd name="T102" fmla="*/ 142 w 300"/>
                  <a:gd name="T103" fmla="*/ 118 h 297"/>
                  <a:gd name="T104" fmla="*/ 158 w 300"/>
                  <a:gd name="T105" fmla="*/ 101 h 297"/>
                  <a:gd name="T106" fmla="*/ 129 w 300"/>
                  <a:gd name="T107" fmla="*/ 91 h 297"/>
                  <a:gd name="T108" fmla="*/ 133 w 300"/>
                  <a:gd name="T109" fmla="*/ 141 h 297"/>
                  <a:gd name="T110" fmla="*/ 171 w 300"/>
                  <a:gd name="T111" fmla="*/ 91 h 297"/>
                  <a:gd name="T112" fmla="*/ 167 w 300"/>
                  <a:gd name="T113" fmla="*/ 141 h 297"/>
                  <a:gd name="T114" fmla="*/ 171 w 300"/>
                  <a:gd name="T115" fmla="*/ 91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297">
                    <a:moveTo>
                      <a:pt x="65" y="12"/>
                    </a:moveTo>
                    <a:cubicBezTo>
                      <a:pt x="65" y="2"/>
                      <a:pt x="65" y="2"/>
                      <a:pt x="65" y="2"/>
                    </a:cubicBezTo>
                    <a:cubicBezTo>
                      <a:pt x="65" y="1"/>
                      <a:pt x="67" y="0"/>
                      <a:pt x="68" y="0"/>
                    </a:cubicBezTo>
                    <a:cubicBezTo>
                      <a:pt x="113" y="0"/>
                      <a:pt x="113" y="0"/>
                      <a:pt x="113" y="0"/>
                    </a:cubicBezTo>
                    <a:cubicBezTo>
                      <a:pt x="114" y="0"/>
                      <a:pt x="115" y="1"/>
                      <a:pt x="115" y="2"/>
                    </a:cubicBezTo>
                    <a:cubicBezTo>
                      <a:pt x="115" y="12"/>
                      <a:pt x="115" y="12"/>
                      <a:pt x="115" y="12"/>
                    </a:cubicBezTo>
                    <a:lnTo>
                      <a:pt x="65" y="12"/>
                    </a:lnTo>
                    <a:close/>
                    <a:moveTo>
                      <a:pt x="235" y="12"/>
                    </a:moveTo>
                    <a:cubicBezTo>
                      <a:pt x="235" y="2"/>
                      <a:pt x="235" y="2"/>
                      <a:pt x="235" y="2"/>
                    </a:cubicBezTo>
                    <a:cubicBezTo>
                      <a:pt x="235" y="1"/>
                      <a:pt x="233" y="0"/>
                      <a:pt x="232" y="0"/>
                    </a:cubicBezTo>
                    <a:cubicBezTo>
                      <a:pt x="187" y="0"/>
                      <a:pt x="187" y="0"/>
                      <a:pt x="187" y="0"/>
                    </a:cubicBezTo>
                    <a:cubicBezTo>
                      <a:pt x="186" y="0"/>
                      <a:pt x="185" y="1"/>
                      <a:pt x="185" y="2"/>
                    </a:cubicBezTo>
                    <a:cubicBezTo>
                      <a:pt x="185" y="12"/>
                      <a:pt x="185" y="12"/>
                      <a:pt x="185" y="12"/>
                    </a:cubicBezTo>
                    <a:lnTo>
                      <a:pt x="235" y="12"/>
                    </a:lnTo>
                    <a:close/>
                    <a:moveTo>
                      <a:pt x="98" y="295"/>
                    </a:moveTo>
                    <a:cubicBezTo>
                      <a:pt x="98" y="273"/>
                      <a:pt x="98" y="273"/>
                      <a:pt x="98" y="273"/>
                    </a:cubicBezTo>
                    <a:cubicBezTo>
                      <a:pt x="0" y="273"/>
                      <a:pt x="0" y="273"/>
                      <a:pt x="0" y="273"/>
                    </a:cubicBezTo>
                    <a:cubicBezTo>
                      <a:pt x="0" y="295"/>
                      <a:pt x="0" y="295"/>
                      <a:pt x="0" y="295"/>
                    </a:cubicBezTo>
                    <a:cubicBezTo>
                      <a:pt x="0" y="296"/>
                      <a:pt x="1" y="297"/>
                      <a:pt x="2" y="297"/>
                    </a:cubicBezTo>
                    <a:cubicBezTo>
                      <a:pt x="95" y="297"/>
                      <a:pt x="95" y="297"/>
                      <a:pt x="95" y="297"/>
                    </a:cubicBezTo>
                    <a:cubicBezTo>
                      <a:pt x="97" y="297"/>
                      <a:pt x="98" y="296"/>
                      <a:pt x="98" y="295"/>
                    </a:cubicBezTo>
                    <a:close/>
                    <a:moveTo>
                      <a:pt x="205" y="297"/>
                    </a:moveTo>
                    <a:cubicBezTo>
                      <a:pt x="298" y="297"/>
                      <a:pt x="298" y="297"/>
                      <a:pt x="298" y="297"/>
                    </a:cubicBezTo>
                    <a:cubicBezTo>
                      <a:pt x="299" y="297"/>
                      <a:pt x="300" y="296"/>
                      <a:pt x="300" y="295"/>
                    </a:cubicBezTo>
                    <a:cubicBezTo>
                      <a:pt x="300" y="273"/>
                      <a:pt x="300" y="273"/>
                      <a:pt x="300" y="273"/>
                    </a:cubicBezTo>
                    <a:cubicBezTo>
                      <a:pt x="202" y="273"/>
                      <a:pt x="202" y="273"/>
                      <a:pt x="202" y="273"/>
                    </a:cubicBezTo>
                    <a:cubicBezTo>
                      <a:pt x="202" y="295"/>
                      <a:pt x="202" y="295"/>
                      <a:pt x="202" y="295"/>
                    </a:cubicBezTo>
                    <a:cubicBezTo>
                      <a:pt x="202" y="296"/>
                      <a:pt x="203" y="297"/>
                      <a:pt x="205" y="297"/>
                    </a:cubicBezTo>
                    <a:close/>
                    <a:moveTo>
                      <a:pt x="263" y="76"/>
                    </a:moveTo>
                    <a:cubicBezTo>
                      <a:pt x="267" y="76"/>
                      <a:pt x="270" y="79"/>
                      <a:pt x="271" y="83"/>
                    </a:cubicBezTo>
                    <a:cubicBezTo>
                      <a:pt x="275" y="169"/>
                      <a:pt x="275" y="169"/>
                      <a:pt x="275" y="169"/>
                    </a:cubicBezTo>
                    <a:cubicBezTo>
                      <a:pt x="299" y="268"/>
                      <a:pt x="299" y="268"/>
                      <a:pt x="299" y="268"/>
                    </a:cubicBezTo>
                    <a:cubicBezTo>
                      <a:pt x="204" y="268"/>
                      <a:pt x="204" y="268"/>
                      <a:pt x="204" y="268"/>
                    </a:cubicBezTo>
                    <a:cubicBezTo>
                      <a:pt x="227" y="169"/>
                      <a:pt x="227" y="169"/>
                      <a:pt x="227" y="169"/>
                    </a:cubicBezTo>
                    <a:cubicBezTo>
                      <a:pt x="185" y="169"/>
                      <a:pt x="185" y="169"/>
                      <a:pt x="185" y="169"/>
                    </a:cubicBezTo>
                    <a:cubicBezTo>
                      <a:pt x="183" y="169"/>
                      <a:pt x="182" y="168"/>
                      <a:pt x="182" y="166"/>
                    </a:cubicBezTo>
                    <a:cubicBezTo>
                      <a:pt x="181" y="152"/>
                      <a:pt x="181" y="152"/>
                      <a:pt x="181" y="152"/>
                    </a:cubicBezTo>
                    <a:cubicBezTo>
                      <a:pt x="155" y="152"/>
                      <a:pt x="155" y="152"/>
                      <a:pt x="155" y="152"/>
                    </a:cubicBezTo>
                    <a:cubicBezTo>
                      <a:pt x="155" y="158"/>
                      <a:pt x="155" y="158"/>
                      <a:pt x="155" y="158"/>
                    </a:cubicBezTo>
                    <a:cubicBezTo>
                      <a:pt x="155" y="159"/>
                      <a:pt x="154" y="159"/>
                      <a:pt x="154" y="159"/>
                    </a:cubicBezTo>
                    <a:cubicBezTo>
                      <a:pt x="146" y="159"/>
                      <a:pt x="146" y="159"/>
                      <a:pt x="146" y="159"/>
                    </a:cubicBezTo>
                    <a:cubicBezTo>
                      <a:pt x="146" y="159"/>
                      <a:pt x="145" y="159"/>
                      <a:pt x="145" y="158"/>
                    </a:cubicBezTo>
                    <a:cubicBezTo>
                      <a:pt x="145" y="152"/>
                      <a:pt x="145" y="152"/>
                      <a:pt x="145" y="152"/>
                    </a:cubicBezTo>
                    <a:cubicBezTo>
                      <a:pt x="119" y="152"/>
                      <a:pt x="119" y="152"/>
                      <a:pt x="119" y="152"/>
                    </a:cubicBezTo>
                    <a:cubicBezTo>
                      <a:pt x="118" y="166"/>
                      <a:pt x="118" y="166"/>
                      <a:pt x="118" y="166"/>
                    </a:cubicBezTo>
                    <a:cubicBezTo>
                      <a:pt x="118" y="168"/>
                      <a:pt x="117" y="169"/>
                      <a:pt x="115" y="169"/>
                    </a:cubicBezTo>
                    <a:cubicBezTo>
                      <a:pt x="73" y="169"/>
                      <a:pt x="73" y="169"/>
                      <a:pt x="73" y="169"/>
                    </a:cubicBezTo>
                    <a:cubicBezTo>
                      <a:pt x="96" y="268"/>
                      <a:pt x="96" y="268"/>
                      <a:pt x="96" y="268"/>
                    </a:cubicBezTo>
                    <a:cubicBezTo>
                      <a:pt x="1" y="268"/>
                      <a:pt x="1" y="268"/>
                      <a:pt x="1" y="268"/>
                    </a:cubicBezTo>
                    <a:cubicBezTo>
                      <a:pt x="25" y="169"/>
                      <a:pt x="25" y="169"/>
                      <a:pt x="25" y="169"/>
                    </a:cubicBezTo>
                    <a:cubicBezTo>
                      <a:pt x="34" y="83"/>
                      <a:pt x="34" y="83"/>
                      <a:pt x="34" y="83"/>
                    </a:cubicBezTo>
                    <a:cubicBezTo>
                      <a:pt x="34" y="79"/>
                      <a:pt x="38" y="76"/>
                      <a:pt x="42" y="76"/>
                    </a:cubicBezTo>
                    <a:cubicBezTo>
                      <a:pt x="73" y="76"/>
                      <a:pt x="73" y="76"/>
                      <a:pt x="73" y="76"/>
                    </a:cubicBezTo>
                    <a:cubicBezTo>
                      <a:pt x="73" y="59"/>
                      <a:pt x="73" y="59"/>
                      <a:pt x="73" y="59"/>
                    </a:cubicBezTo>
                    <a:cubicBezTo>
                      <a:pt x="63" y="59"/>
                      <a:pt x="63" y="59"/>
                      <a:pt x="63" y="59"/>
                    </a:cubicBezTo>
                    <a:cubicBezTo>
                      <a:pt x="62" y="59"/>
                      <a:pt x="61" y="58"/>
                      <a:pt x="61" y="57"/>
                    </a:cubicBezTo>
                    <a:cubicBezTo>
                      <a:pt x="61" y="15"/>
                      <a:pt x="61" y="15"/>
                      <a:pt x="61" y="15"/>
                    </a:cubicBezTo>
                    <a:cubicBezTo>
                      <a:pt x="120" y="15"/>
                      <a:pt x="120" y="15"/>
                      <a:pt x="120" y="15"/>
                    </a:cubicBezTo>
                    <a:cubicBezTo>
                      <a:pt x="120" y="57"/>
                      <a:pt x="120" y="57"/>
                      <a:pt x="120" y="57"/>
                    </a:cubicBezTo>
                    <a:cubicBezTo>
                      <a:pt x="120" y="58"/>
                      <a:pt x="119" y="59"/>
                      <a:pt x="118" y="59"/>
                    </a:cubicBezTo>
                    <a:cubicBezTo>
                      <a:pt x="108" y="59"/>
                      <a:pt x="108" y="59"/>
                      <a:pt x="108" y="59"/>
                    </a:cubicBezTo>
                    <a:cubicBezTo>
                      <a:pt x="108" y="68"/>
                      <a:pt x="108" y="68"/>
                      <a:pt x="108" y="68"/>
                    </a:cubicBezTo>
                    <a:cubicBezTo>
                      <a:pt x="145" y="68"/>
                      <a:pt x="145" y="68"/>
                      <a:pt x="145" y="68"/>
                    </a:cubicBezTo>
                    <a:cubicBezTo>
                      <a:pt x="145" y="62"/>
                      <a:pt x="145" y="62"/>
                      <a:pt x="145" y="62"/>
                    </a:cubicBezTo>
                    <a:cubicBezTo>
                      <a:pt x="142" y="62"/>
                      <a:pt x="142" y="62"/>
                      <a:pt x="142" y="62"/>
                    </a:cubicBezTo>
                    <a:cubicBezTo>
                      <a:pt x="141" y="62"/>
                      <a:pt x="140" y="61"/>
                      <a:pt x="140" y="61"/>
                    </a:cubicBezTo>
                    <a:cubicBezTo>
                      <a:pt x="140" y="56"/>
                      <a:pt x="140" y="56"/>
                      <a:pt x="140" y="56"/>
                    </a:cubicBezTo>
                    <a:cubicBezTo>
                      <a:pt x="140" y="55"/>
                      <a:pt x="141" y="55"/>
                      <a:pt x="142" y="55"/>
                    </a:cubicBezTo>
                    <a:cubicBezTo>
                      <a:pt x="158" y="55"/>
                      <a:pt x="158" y="55"/>
                      <a:pt x="158" y="55"/>
                    </a:cubicBezTo>
                    <a:cubicBezTo>
                      <a:pt x="159" y="55"/>
                      <a:pt x="160" y="55"/>
                      <a:pt x="160" y="56"/>
                    </a:cubicBezTo>
                    <a:cubicBezTo>
                      <a:pt x="160" y="61"/>
                      <a:pt x="160" y="61"/>
                      <a:pt x="160" y="61"/>
                    </a:cubicBezTo>
                    <a:cubicBezTo>
                      <a:pt x="160" y="61"/>
                      <a:pt x="159" y="62"/>
                      <a:pt x="158" y="62"/>
                    </a:cubicBezTo>
                    <a:cubicBezTo>
                      <a:pt x="155" y="62"/>
                      <a:pt x="155" y="62"/>
                      <a:pt x="155" y="62"/>
                    </a:cubicBezTo>
                    <a:cubicBezTo>
                      <a:pt x="155" y="68"/>
                      <a:pt x="155" y="68"/>
                      <a:pt x="155" y="68"/>
                    </a:cubicBezTo>
                    <a:cubicBezTo>
                      <a:pt x="192" y="68"/>
                      <a:pt x="192" y="68"/>
                      <a:pt x="192" y="68"/>
                    </a:cubicBezTo>
                    <a:cubicBezTo>
                      <a:pt x="192" y="59"/>
                      <a:pt x="192" y="59"/>
                      <a:pt x="192" y="59"/>
                    </a:cubicBezTo>
                    <a:cubicBezTo>
                      <a:pt x="182" y="59"/>
                      <a:pt x="182" y="59"/>
                      <a:pt x="182" y="59"/>
                    </a:cubicBezTo>
                    <a:cubicBezTo>
                      <a:pt x="181" y="59"/>
                      <a:pt x="180" y="58"/>
                      <a:pt x="180" y="57"/>
                    </a:cubicBezTo>
                    <a:cubicBezTo>
                      <a:pt x="180" y="15"/>
                      <a:pt x="180" y="15"/>
                      <a:pt x="180" y="15"/>
                    </a:cubicBezTo>
                    <a:cubicBezTo>
                      <a:pt x="239" y="15"/>
                      <a:pt x="239" y="15"/>
                      <a:pt x="239" y="15"/>
                    </a:cubicBezTo>
                    <a:cubicBezTo>
                      <a:pt x="239" y="57"/>
                      <a:pt x="239" y="57"/>
                      <a:pt x="239" y="57"/>
                    </a:cubicBezTo>
                    <a:cubicBezTo>
                      <a:pt x="239" y="58"/>
                      <a:pt x="238" y="59"/>
                      <a:pt x="237" y="59"/>
                    </a:cubicBezTo>
                    <a:cubicBezTo>
                      <a:pt x="227" y="59"/>
                      <a:pt x="227" y="59"/>
                      <a:pt x="227" y="59"/>
                    </a:cubicBezTo>
                    <a:cubicBezTo>
                      <a:pt x="227" y="76"/>
                      <a:pt x="227" y="76"/>
                      <a:pt x="227" y="76"/>
                    </a:cubicBezTo>
                    <a:lnTo>
                      <a:pt x="263" y="76"/>
                    </a:lnTo>
                    <a:close/>
                    <a:moveTo>
                      <a:pt x="122" y="83"/>
                    </a:moveTo>
                    <a:cubicBezTo>
                      <a:pt x="145" y="83"/>
                      <a:pt x="145" y="83"/>
                      <a:pt x="145" y="83"/>
                    </a:cubicBezTo>
                    <a:cubicBezTo>
                      <a:pt x="145" y="72"/>
                      <a:pt x="145" y="72"/>
                      <a:pt x="145" y="72"/>
                    </a:cubicBezTo>
                    <a:cubicBezTo>
                      <a:pt x="108" y="72"/>
                      <a:pt x="108" y="72"/>
                      <a:pt x="108" y="72"/>
                    </a:cubicBezTo>
                    <a:cubicBezTo>
                      <a:pt x="108" y="76"/>
                      <a:pt x="108" y="76"/>
                      <a:pt x="108" y="76"/>
                    </a:cubicBezTo>
                    <a:cubicBezTo>
                      <a:pt x="120" y="76"/>
                      <a:pt x="120" y="76"/>
                      <a:pt x="120" y="76"/>
                    </a:cubicBezTo>
                    <a:cubicBezTo>
                      <a:pt x="122" y="76"/>
                      <a:pt x="123" y="77"/>
                      <a:pt x="123" y="78"/>
                    </a:cubicBezTo>
                    <a:lnTo>
                      <a:pt x="122" y="83"/>
                    </a:lnTo>
                    <a:close/>
                    <a:moveTo>
                      <a:pt x="180" y="76"/>
                    </a:moveTo>
                    <a:cubicBezTo>
                      <a:pt x="192" y="76"/>
                      <a:pt x="192" y="76"/>
                      <a:pt x="192" y="76"/>
                    </a:cubicBezTo>
                    <a:cubicBezTo>
                      <a:pt x="192" y="72"/>
                      <a:pt x="192" y="72"/>
                      <a:pt x="192" y="72"/>
                    </a:cubicBezTo>
                    <a:cubicBezTo>
                      <a:pt x="155" y="72"/>
                      <a:pt x="155" y="72"/>
                      <a:pt x="155" y="72"/>
                    </a:cubicBezTo>
                    <a:cubicBezTo>
                      <a:pt x="155" y="83"/>
                      <a:pt x="155" y="83"/>
                      <a:pt x="155" y="83"/>
                    </a:cubicBezTo>
                    <a:cubicBezTo>
                      <a:pt x="178" y="83"/>
                      <a:pt x="178" y="83"/>
                      <a:pt x="178" y="83"/>
                    </a:cubicBezTo>
                    <a:cubicBezTo>
                      <a:pt x="178" y="78"/>
                      <a:pt x="178" y="78"/>
                      <a:pt x="178" y="78"/>
                    </a:cubicBezTo>
                    <a:cubicBezTo>
                      <a:pt x="177" y="77"/>
                      <a:pt x="178" y="76"/>
                      <a:pt x="180" y="76"/>
                    </a:cubicBezTo>
                    <a:close/>
                    <a:moveTo>
                      <a:pt x="158" y="101"/>
                    </a:moveTo>
                    <a:cubicBezTo>
                      <a:pt x="142" y="101"/>
                      <a:pt x="142" y="101"/>
                      <a:pt x="142" y="101"/>
                    </a:cubicBezTo>
                    <a:cubicBezTo>
                      <a:pt x="142" y="118"/>
                      <a:pt x="142" y="118"/>
                      <a:pt x="142" y="118"/>
                    </a:cubicBezTo>
                    <a:cubicBezTo>
                      <a:pt x="158" y="118"/>
                      <a:pt x="158" y="118"/>
                      <a:pt x="158" y="118"/>
                    </a:cubicBezTo>
                    <a:lnTo>
                      <a:pt x="158" y="101"/>
                    </a:lnTo>
                    <a:close/>
                    <a:moveTo>
                      <a:pt x="133" y="91"/>
                    </a:moveTo>
                    <a:cubicBezTo>
                      <a:pt x="129" y="91"/>
                      <a:pt x="129" y="91"/>
                      <a:pt x="129" y="91"/>
                    </a:cubicBezTo>
                    <a:cubicBezTo>
                      <a:pt x="129" y="141"/>
                      <a:pt x="129" y="141"/>
                      <a:pt x="129" y="141"/>
                    </a:cubicBezTo>
                    <a:cubicBezTo>
                      <a:pt x="133" y="141"/>
                      <a:pt x="133" y="141"/>
                      <a:pt x="133" y="141"/>
                    </a:cubicBezTo>
                    <a:lnTo>
                      <a:pt x="133" y="91"/>
                    </a:lnTo>
                    <a:close/>
                    <a:moveTo>
                      <a:pt x="171" y="91"/>
                    </a:moveTo>
                    <a:cubicBezTo>
                      <a:pt x="167" y="91"/>
                      <a:pt x="167" y="91"/>
                      <a:pt x="167" y="91"/>
                    </a:cubicBezTo>
                    <a:cubicBezTo>
                      <a:pt x="167" y="141"/>
                      <a:pt x="167" y="141"/>
                      <a:pt x="167" y="141"/>
                    </a:cubicBezTo>
                    <a:cubicBezTo>
                      <a:pt x="171" y="141"/>
                      <a:pt x="171" y="141"/>
                      <a:pt x="171" y="141"/>
                    </a:cubicBezTo>
                    <a:lnTo>
                      <a:pt x="171" y="91"/>
                    </a:lnTo>
                    <a:close/>
                  </a:path>
                </a:pathLst>
              </a:custGeom>
              <a:solidFill>
                <a:srgbClr val="FFFFFF"/>
              </a:solidFill>
              <a:ln>
                <a:noFill/>
              </a:ln>
            </p:spPr>
            <p:txBody>
              <a:bodyPr vert="horz" wrap="square" lIns="0" tIns="103651" rIns="207299" bIns="103651" numCol="1" anchor="t" anchorCtr="0" compatLnSpc="1">
                <a:prstTxWarp prst="textNoShape">
                  <a:avLst/>
                </a:prstTxWarp>
              </a:bodyPr>
              <a:lstStyle/>
              <a:p>
                <a:pPr algn="ctr" defTabSz="1295064">
                  <a:defRPr/>
                </a:pPr>
                <a:endParaRPr lang="en-US" sz="2268" kern="0" dirty="0">
                  <a:gradFill>
                    <a:gsLst>
                      <a:gs pos="0">
                        <a:srgbClr val="FFFFFF"/>
                      </a:gs>
                      <a:gs pos="100000">
                        <a:srgbClr val="FFFFFF"/>
                      </a:gs>
                    </a:gsLst>
                    <a:lin ang="5400000" scaled="0"/>
                  </a:gradFill>
                </a:endParaRPr>
              </a:p>
            </p:txBody>
          </p:sp>
        </p:grpSp>
        <p:grpSp>
          <p:nvGrpSpPr>
            <p:cNvPr id="35" name="Group 8">
              <a:extLst>
                <a:ext uri="{FF2B5EF4-FFF2-40B4-BE49-F238E27FC236}">
                  <a16:creationId xmlns:a16="http://schemas.microsoft.com/office/drawing/2014/main" id="{4775A24E-4D4F-4847-B8BD-D1C60A2203FB}"/>
                </a:ext>
              </a:extLst>
            </p:cNvPr>
            <p:cNvGrpSpPr/>
            <p:nvPr/>
          </p:nvGrpSpPr>
          <p:grpSpPr>
            <a:xfrm>
              <a:off x="2058072" y="4887296"/>
              <a:ext cx="3880145" cy="3743806"/>
              <a:chOff x="952023" y="3373995"/>
              <a:chExt cx="2642536" cy="2642536"/>
            </a:xfrm>
          </p:grpSpPr>
          <p:sp>
            <p:nvSpPr>
              <p:cNvPr id="45" name="Rectangle 9">
                <a:extLst>
                  <a:ext uri="{FF2B5EF4-FFF2-40B4-BE49-F238E27FC236}">
                    <a16:creationId xmlns:a16="http://schemas.microsoft.com/office/drawing/2014/main" id="{8909CF6E-BAEB-4F63-8A58-C9145EA4376F}"/>
                  </a:ext>
                </a:extLst>
              </p:cNvPr>
              <p:cNvSpPr/>
              <p:nvPr/>
            </p:nvSpPr>
            <p:spPr bwMode="auto">
              <a:xfrm>
                <a:off x="952023" y="3373995"/>
                <a:ext cx="2642536" cy="2642536"/>
              </a:xfrm>
              <a:prstGeom prst="rect">
                <a:avLst/>
              </a:prstGeom>
              <a:solidFill>
                <a:srgbClr val="00188F"/>
              </a:solidFill>
              <a:ln w="10795" cap="flat" cmpd="sng" algn="ctr">
                <a:noFill/>
                <a:prstDash val="solid"/>
                <a:headEnd type="none" w="med" len="med"/>
                <a:tailEnd type="none" w="med" len="med"/>
              </a:ln>
              <a:effectLst/>
            </p:spPr>
            <p:txBody>
              <a:bodyPr vert="horz" wrap="square" lIns="230297" tIns="115148" rIns="230297" bIns="115148" numCol="1" rtlCol="0" anchor="b" anchorCtr="0" compatLnSpc="1">
                <a:prstTxWarp prst="textNoShape">
                  <a:avLst/>
                </a:prstTxWarp>
              </a:bodyPr>
              <a:lstStyle/>
              <a:p>
                <a:pPr defTabSz="1294692" fontAlgn="base">
                  <a:spcBef>
                    <a:spcPct val="0"/>
                  </a:spcBef>
                  <a:spcAft>
                    <a:spcPct val="0"/>
                  </a:spcAft>
                  <a:defRPr/>
                </a:pPr>
                <a:r>
                  <a:rPr lang="en-US" altLang="zh-CN" sz="4534" b="1" kern="0" dirty="0">
                    <a:gradFill>
                      <a:gsLst>
                        <a:gs pos="0">
                          <a:srgbClr val="FFFFFF"/>
                        </a:gs>
                        <a:gs pos="100000">
                          <a:srgbClr val="FFFFFF"/>
                        </a:gs>
                      </a:gsLst>
                      <a:lin ang="5400000" scaled="0"/>
                    </a:gradFill>
                    <a:latin typeface="Segoe UI Light"/>
                  </a:rPr>
                  <a:t>1. </a:t>
                </a:r>
                <a:r>
                  <a:rPr lang="zh-CN" altLang="en-US" sz="4534" kern="0" dirty="0">
                    <a:gradFill>
                      <a:gsLst>
                        <a:gs pos="0">
                          <a:srgbClr val="FFFFFF"/>
                        </a:gs>
                        <a:gs pos="100000">
                          <a:srgbClr val="FFFFFF"/>
                        </a:gs>
                      </a:gsLst>
                      <a:lin ang="5400000" scaled="0"/>
                    </a:gradFill>
                    <a:latin typeface="Segoe UI Light"/>
                  </a:rPr>
                  <a:t>确定主体级别锚</a:t>
                </a:r>
              </a:p>
            </p:txBody>
          </p:sp>
          <p:grpSp>
            <p:nvGrpSpPr>
              <p:cNvPr id="46" name="Group 740">
                <a:extLst>
                  <a:ext uri="{FF2B5EF4-FFF2-40B4-BE49-F238E27FC236}">
                    <a16:creationId xmlns:a16="http://schemas.microsoft.com/office/drawing/2014/main" id="{4840FD0A-2F55-49F3-834D-FB891273F574}"/>
                  </a:ext>
                </a:extLst>
              </p:cNvPr>
              <p:cNvGrpSpPr>
                <a:grpSpLocks noChangeAspect="1"/>
              </p:cNvGrpSpPr>
              <p:nvPr/>
            </p:nvGrpSpPr>
            <p:grpSpPr bwMode="auto">
              <a:xfrm>
                <a:off x="1688098" y="3857434"/>
                <a:ext cx="1087271" cy="932650"/>
                <a:chOff x="7349" y="-2816"/>
                <a:chExt cx="661" cy="567"/>
              </a:xfrm>
              <a:solidFill>
                <a:srgbClr val="FFFFFF"/>
              </a:solidFill>
            </p:grpSpPr>
            <p:sp>
              <p:nvSpPr>
                <p:cNvPr id="47" name="Freeform 741">
                  <a:extLst>
                    <a:ext uri="{FF2B5EF4-FFF2-40B4-BE49-F238E27FC236}">
                      <a16:creationId xmlns:a16="http://schemas.microsoft.com/office/drawing/2014/main" id="{EE40BDCE-DB2A-47AE-8B1F-D72A47751534}"/>
                    </a:ext>
                  </a:extLst>
                </p:cNvPr>
                <p:cNvSpPr>
                  <a:spLocks/>
                </p:cNvSpPr>
                <p:nvPr/>
              </p:nvSpPr>
              <p:spPr bwMode="auto">
                <a:xfrm>
                  <a:off x="7573" y="-2676"/>
                  <a:ext cx="213" cy="427"/>
                </a:xfrm>
                <a:custGeom>
                  <a:avLst/>
                  <a:gdLst>
                    <a:gd name="T0" fmla="*/ 73 w 90"/>
                    <a:gd name="T1" fmla="*/ 0 h 181"/>
                    <a:gd name="T2" fmla="*/ 17 w 90"/>
                    <a:gd name="T3" fmla="*/ 0 h 181"/>
                    <a:gd name="T4" fmla="*/ 0 w 90"/>
                    <a:gd name="T5" fmla="*/ 17 h 181"/>
                    <a:gd name="T6" fmla="*/ 0 w 90"/>
                    <a:gd name="T7" fmla="*/ 93 h 181"/>
                    <a:gd name="T8" fmla="*/ 17 w 90"/>
                    <a:gd name="T9" fmla="*/ 110 h 181"/>
                    <a:gd name="T10" fmla="*/ 17 w 90"/>
                    <a:gd name="T11" fmla="*/ 110 h 181"/>
                    <a:gd name="T12" fmla="*/ 17 w 90"/>
                    <a:gd name="T13" fmla="*/ 164 h 181"/>
                    <a:gd name="T14" fmla="*/ 33 w 90"/>
                    <a:gd name="T15" fmla="*/ 181 h 181"/>
                    <a:gd name="T16" fmla="*/ 57 w 90"/>
                    <a:gd name="T17" fmla="*/ 181 h 181"/>
                    <a:gd name="T18" fmla="*/ 73 w 90"/>
                    <a:gd name="T19" fmla="*/ 164 h 181"/>
                    <a:gd name="T20" fmla="*/ 73 w 90"/>
                    <a:gd name="T21" fmla="*/ 110 h 181"/>
                    <a:gd name="T22" fmla="*/ 73 w 90"/>
                    <a:gd name="T23" fmla="*/ 110 h 181"/>
                    <a:gd name="T24" fmla="*/ 90 w 90"/>
                    <a:gd name="T25" fmla="*/ 93 h 181"/>
                    <a:gd name="T26" fmla="*/ 90 w 90"/>
                    <a:gd name="T27" fmla="*/ 17 h 181"/>
                    <a:gd name="T28" fmla="*/ 73 w 90"/>
                    <a:gd name="T2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0" h="181">
                      <a:moveTo>
                        <a:pt x="73" y="0"/>
                      </a:moveTo>
                      <a:cubicBezTo>
                        <a:pt x="17" y="0"/>
                        <a:pt x="17" y="0"/>
                        <a:pt x="17" y="0"/>
                      </a:cubicBezTo>
                      <a:cubicBezTo>
                        <a:pt x="8" y="0"/>
                        <a:pt x="0" y="8"/>
                        <a:pt x="0" y="17"/>
                      </a:cubicBezTo>
                      <a:cubicBezTo>
                        <a:pt x="0" y="93"/>
                        <a:pt x="0" y="93"/>
                        <a:pt x="0" y="93"/>
                      </a:cubicBezTo>
                      <a:cubicBezTo>
                        <a:pt x="0" y="102"/>
                        <a:pt x="8" y="110"/>
                        <a:pt x="17" y="110"/>
                      </a:cubicBezTo>
                      <a:cubicBezTo>
                        <a:pt x="17" y="110"/>
                        <a:pt x="17" y="110"/>
                        <a:pt x="17" y="110"/>
                      </a:cubicBezTo>
                      <a:cubicBezTo>
                        <a:pt x="17" y="164"/>
                        <a:pt x="17" y="164"/>
                        <a:pt x="17" y="164"/>
                      </a:cubicBezTo>
                      <a:cubicBezTo>
                        <a:pt x="17" y="173"/>
                        <a:pt x="24" y="181"/>
                        <a:pt x="33" y="181"/>
                      </a:cubicBezTo>
                      <a:cubicBezTo>
                        <a:pt x="57" y="181"/>
                        <a:pt x="57" y="181"/>
                        <a:pt x="57" y="181"/>
                      </a:cubicBezTo>
                      <a:cubicBezTo>
                        <a:pt x="66" y="181"/>
                        <a:pt x="73" y="173"/>
                        <a:pt x="73" y="164"/>
                      </a:cubicBezTo>
                      <a:cubicBezTo>
                        <a:pt x="73" y="110"/>
                        <a:pt x="73" y="110"/>
                        <a:pt x="73" y="110"/>
                      </a:cubicBezTo>
                      <a:cubicBezTo>
                        <a:pt x="73" y="110"/>
                        <a:pt x="73" y="110"/>
                        <a:pt x="73" y="110"/>
                      </a:cubicBezTo>
                      <a:cubicBezTo>
                        <a:pt x="82" y="110"/>
                        <a:pt x="90" y="102"/>
                        <a:pt x="90" y="93"/>
                      </a:cubicBezTo>
                      <a:cubicBezTo>
                        <a:pt x="90" y="17"/>
                        <a:pt x="90" y="17"/>
                        <a:pt x="90" y="17"/>
                      </a:cubicBezTo>
                      <a:cubicBezTo>
                        <a:pt x="90" y="8"/>
                        <a:pt x="82" y="0"/>
                        <a:pt x="7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30307" tIns="115154" rIns="230307" bIns="115154" numCol="1" anchor="t" anchorCtr="0" compatLnSpc="1">
                  <a:prstTxWarp prst="textNoShape">
                    <a:avLst/>
                  </a:prstTxWarp>
                </a:bodyPr>
                <a:lstStyle/>
                <a:p>
                  <a:pPr defTabSz="1295064">
                    <a:defRPr/>
                  </a:pPr>
                  <a:endParaRPr lang="en-US" sz="2644" kern="0" dirty="0">
                    <a:solidFill>
                      <a:srgbClr val="FFFFFF"/>
                    </a:solidFill>
                  </a:endParaRPr>
                </a:p>
              </p:txBody>
            </p:sp>
            <p:sp>
              <p:nvSpPr>
                <p:cNvPr id="48" name="Oval 742">
                  <a:extLst>
                    <a:ext uri="{FF2B5EF4-FFF2-40B4-BE49-F238E27FC236}">
                      <a16:creationId xmlns:a16="http://schemas.microsoft.com/office/drawing/2014/main" id="{B5C3A91D-C0FF-4BB3-B921-12F0D4EE2705}"/>
                    </a:ext>
                  </a:extLst>
                </p:cNvPr>
                <p:cNvSpPr>
                  <a:spLocks noChangeArrowheads="1"/>
                </p:cNvSpPr>
                <p:nvPr/>
              </p:nvSpPr>
              <p:spPr bwMode="auto">
                <a:xfrm>
                  <a:off x="7616" y="-2816"/>
                  <a:ext cx="127" cy="12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30307" tIns="115154" rIns="230307" bIns="115154" numCol="1" anchor="t" anchorCtr="0" compatLnSpc="1">
                  <a:prstTxWarp prst="textNoShape">
                    <a:avLst/>
                  </a:prstTxWarp>
                </a:bodyPr>
                <a:lstStyle/>
                <a:p>
                  <a:pPr defTabSz="1295064">
                    <a:defRPr/>
                  </a:pPr>
                  <a:endParaRPr lang="en-US" sz="2644" kern="0" dirty="0">
                    <a:solidFill>
                      <a:srgbClr val="FFFFFF"/>
                    </a:solidFill>
                  </a:endParaRPr>
                </a:p>
              </p:txBody>
            </p:sp>
            <p:sp>
              <p:nvSpPr>
                <p:cNvPr id="49" name="Freeform 743">
                  <a:extLst>
                    <a:ext uri="{FF2B5EF4-FFF2-40B4-BE49-F238E27FC236}">
                      <a16:creationId xmlns:a16="http://schemas.microsoft.com/office/drawing/2014/main" id="{54F8C185-93A6-4A9C-ABC6-9101B515478D}"/>
                    </a:ext>
                  </a:extLst>
                </p:cNvPr>
                <p:cNvSpPr>
                  <a:spLocks/>
                </p:cNvSpPr>
                <p:nvPr/>
              </p:nvSpPr>
              <p:spPr bwMode="auto">
                <a:xfrm>
                  <a:off x="7831" y="-2660"/>
                  <a:ext cx="179" cy="364"/>
                </a:xfrm>
                <a:custGeom>
                  <a:avLst/>
                  <a:gdLst>
                    <a:gd name="T0" fmla="*/ 62 w 76"/>
                    <a:gd name="T1" fmla="*/ 0 h 154"/>
                    <a:gd name="T2" fmla="*/ 14 w 76"/>
                    <a:gd name="T3" fmla="*/ 0 h 154"/>
                    <a:gd name="T4" fmla="*/ 0 w 76"/>
                    <a:gd name="T5" fmla="*/ 14 h 154"/>
                    <a:gd name="T6" fmla="*/ 0 w 76"/>
                    <a:gd name="T7" fmla="*/ 79 h 154"/>
                    <a:gd name="T8" fmla="*/ 14 w 76"/>
                    <a:gd name="T9" fmla="*/ 93 h 154"/>
                    <a:gd name="T10" fmla="*/ 14 w 76"/>
                    <a:gd name="T11" fmla="*/ 93 h 154"/>
                    <a:gd name="T12" fmla="*/ 14 w 76"/>
                    <a:gd name="T13" fmla="*/ 140 h 154"/>
                    <a:gd name="T14" fmla="*/ 27 w 76"/>
                    <a:gd name="T15" fmla="*/ 154 h 154"/>
                    <a:gd name="T16" fmla="*/ 48 w 76"/>
                    <a:gd name="T17" fmla="*/ 154 h 154"/>
                    <a:gd name="T18" fmla="*/ 62 w 76"/>
                    <a:gd name="T19" fmla="*/ 140 h 154"/>
                    <a:gd name="T20" fmla="*/ 62 w 76"/>
                    <a:gd name="T21" fmla="*/ 93 h 154"/>
                    <a:gd name="T22" fmla="*/ 62 w 76"/>
                    <a:gd name="T23" fmla="*/ 93 h 154"/>
                    <a:gd name="T24" fmla="*/ 76 w 76"/>
                    <a:gd name="T25" fmla="*/ 79 h 154"/>
                    <a:gd name="T26" fmla="*/ 76 w 76"/>
                    <a:gd name="T27" fmla="*/ 14 h 154"/>
                    <a:gd name="T28" fmla="*/ 62 w 76"/>
                    <a:gd name="T29"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6" h="154">
                      <a:moveTo>
                        <a:pt x="62" y="0"/>
                      </a:moveTo>
                      <a:cubicBezTo>
                        <a:pt x="14" y="0"/>
                        <a:pt x="14" y="0"/>
                        <a:pt x="14" y="0"/>
                      </a:cubicBezTo>
                      <a:cubicBezTo>
                        <a:pt x="6" y="0"/>
                        <a:pt x="0" y="6"/>
                        <a:pt x="0" y="14"/>
                      </a:cubicBezTo>
                      <a:cubicBezTo>
                        <a:pt x="0" y="79"/>
                        <a:pt x="0" y="79"/>
                        <a:pt x="0" y="79"/>
                      </a:cubicBezTo>
                      <a:cubicBezTo>
                        <a:pt x="0" y="87"/>
                        <a:pt x="6" y="93"/>
                        <a:pt x="14" y="93"/>
                      </a:cubicBezTo>
                      <a:cubicBezTo>
                        <a:pt x="14" y="93"/>
                        <a:pt x="14" y="93"/>
                        <a:pt x="14" y="93"/>
                      </a:cubicBezTo>
                      <a:cubicBezTo>
                        <a:pt x="14" y="140"/>
                        <a:pt x="14" y="140"/>
                        <a:pt x="14" y="140"/>
                      </a:cubicBezTo>
                      <a:cubicBezTo>
                        <a:pt x="14" y="148"/>
                        <a:pt x="20" y="154"/>
                        <a:pt x="27" y="154"/>
                      </a:cubicBezTo>
                      <a:cubicBezTo>
                        <a:pt x="48" y="154"/>
                        <a:pt x="48" y="154"/>
                        <a:pt x="48" y="154"/>
                      </a:cubicBezTo>
                      <a:cubicBezTo>
                        <a:pt x="56" y="154"/>
                        <a:pt x="62" y="148"/>
                        <a:pt x="62" y="140"/>
                      </a:cubicBezTo>
                      <a:cubicBezTo>
                        <a:pt x="62" y="93"/>
                        <a:pt x="62" y="93"/>
                        <a:pt x="62" y="93"/>
                      </a:cubicBezTo>
                      <a:cubicBezTo>
                        <a:pt x="62" y="93"/>
                        <a:pt x="62" y="93"/>
                        <a:pt x="62" y="93"/>
                      </a:cubicBezTo>
                      <a:cubicBezTo>
                        <a:pt x="70" y="93"/>
                        <a:pt x="76" y="87"/>
                        <a:pt x="76" y="79"/>
                      </a:cubicBezTo>
                      <a:cubicBezTo>
                        <a:pt x="76" y="14"/>
                        <a:pt x="76" y="14"/>
                        <a:pt x="76" y="14"/>
                      </a:cubicBezTo>
                      <a:cubicBezTo>
                        <a:pt x="76" y="6"/>
                        <a:pt x="70" y="0"/>
                        <a:pt x="6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30307" tIns="115154" rIns="230307" bIns="115154" numCol="1" anchor="t" anchorCtr="0" compatLnSpc="1">
                  <a:prstTxWarp prst="textNoShape">
                    <a:avLst/>
                  </a:prstTxWarp>
                </a:bodyPr>
                <a:lstStyle/>
                <a:p>
                  <a:pPr defTabSz="1295064">
                    <a:defRPr/>
                  </a:pPr>
                  <a:endParaRPr lang="en-US" sz="2644" kern="0" dirty="0">
                    <a:solidFill>
                      <a:srgbClr val="FFFFFF"/>
                    </a:solidFill>
                  </a:endParaRPr>
                </a:p>
              </p:txBody>
            </p:sp>
            <p:sp>
              <p:nvSpPr>
                <p:cNvPr id="50" name="Oval 744">
                  <a:extLst>
                    <a:ext uri="{FF2B5EF4-FFF2-40B4-BE49-F238E27FC236}">
                      <a16:creationId xmlns:a16="http://schemas.microsoft.com/office/drawing/2014/main" id="{9341B697-ED65-4760-85AA-DC69D8A70487}"/>
                    </a:ext>
                  </a:extLst>
                </p:cNvPr>
                <p:cNvSpPr>
                  <a:spLocks noChangeArrowheads="1"/>
                </p:cNvSpPr>
                <p:nvPr/>
              </p:nvSpPr>
              <p:spPr bwMode="auto">
                <a:xfrm>
                  <a:off x="7866" y="-2780"/>
                  <a:ext cx="109" cy="10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30307" tIns="115154" rIns="230307" bIns="115154" numCol="1" anchor="t" anchorCtr="0" compatLnSpc="1">
                  <a:prstTxWarp prst="textNoShape">
                    <a:avLst/>
                  </a:prstTxWarp>
                </a:bodyPr>
                <a:lstStyle/>
                <a:p>
                  <a:pPr defTabSz="1295064">
                    <a:defRPr/>
                  </a:pPr>
                  <a:endParaRPr lang="en-US" sz="2644" kern="0" dirty="0">
                    <a:solidFill>
                      <a:srgbClr val="FFFFFF"/>
                    </a:solidFill>
                  </a:endParaRPr>
                </a:p>
              </p:txBody>
            </p:sp>
            <p:sp>
              <p:nvSpPr>
                <p:cNvPr id="51" name="Freeform 745">
                  <a:extLst>
                    <a:ext uri="{FF2B5EF4-FFF2-40B4-BE49-F238E27FC236}">
                      <a16:creationId xmlns:a16="http://schemas.microsoft.com/office/drawing/2014/main" id="{1BDB730E-4072-4CD9-B7B0-4BC329909460}"/>
                    </a:ext>
                  </a:extLst>
                </p:cNvPr>
                <p:cNvSpPr>
                  <a:spLocks/>
                </p:cNvSpPr>
                <p:nvPr/>
              </p:nvSpPr>
              <p:spPr bwMode="auto">
                <a:xfrm>
                  <a:off x="7349" y="-2660"/>
                  <a:ext cx="179" cy="364"/>
                </a:xfrm>
                <a:custGeom>
                  <a:avLst/>
                  <a:gdLst>
                    <a:gd name="T0" fmla="*/ 62 w 76"/>
                    <a:gd name="T1" fmla="*/ 0 h 154"/>
                    <a:gd name="T2" fmla="*/ 14 w 76"/>
                    <a:gd name="T3" fmla="*/ 0 h 154"/>
                    <a:gd name="T4" fmla="*/ 0 w 76"/>
                    <a:gd name="T5" fmla="*/ 14 h 154"/>
                    <a:gd name="T6" fmla="*/ 0 w 76"/>
                    <a:gd name="T7" fmla="*/ 79 h 154"/>
                    <a:gd name="T8" fmla="*/ 14 w 76"/>
                    <a:gd name="T9" fmla="*/ 93 h 154"/>
                    <a:gd name="T10" fmla="*/ 14 w 76"/>
                    <a:gd name="T11" fmla="*/ 93 h 154"/>
                    <a:gd name="T12" fmla="*/ 14 w 76"/>
                    <a:gd name="T13" fmla="*/ 140 h 154"/>
                    <a:gd name="T14" fmla="*/ 28 w 76"/>
                    <a:gd name="T15" fmla="*/ 154 h 154"/>
                    <a:gd name="T16" fmla="*/ 49 w 76"/>
                    <a:gd name="T17" fmla="*/ 154 h 154"/>
                    <a:gd name="T18" fmla="*/ 62 w 76"/>
                    <a:gd name="T19" fmla="*/ 140 h 154"/>
                    <a:gd name="T20" fmla="*/ 62 w 76"/>
                    <a:gd name="T21" fmla="*/ 93 h 154"/>
                    <a:gd name="T22" fmla="*/ 62 w 76"/>
                    <a:gd name="T23" fmla="*/ 93 h 154"/>
                    <a:gd name="T24" fmla="*/ 76 w 76"/>
                    <a:gd name="T25" fmla="*/ 79 h 154"/>
                    <a:gd name="T26" fmla="*/ 76 w 76"/>
                    <a:gd name="T27" fmla="*/ 14 h 154"/>
                    <a:gd name="T28" fmla="*/ 62 w 76"/>
                    <a:gd name="T29"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6" h="154">
                      <a:moveTo>
                        <a:pt x="62" y="0"/>
                      </a:moveTo>
                      <a:cubicBezTo>
                        <a:pt x="14" y="0"/>
                        <a:pt x="14" y="0"/>
                        <a:pt x="14" y="0"/>
                      </a:cubicBezTo>
                      <a:cubicBezTo>
                        <a:pt x="6" y="0"/>
                        <a:pt x="0" y="6"/>
                        <a:pt x="0" y="14"/>
                      </a:cubicBezTo>
                      <a:cubicBezTo>
                        <a:pt x="0" y="79"/>
                        <a:pt x="0" y="79"/>
                        <a:pt x="0" y="79"/>
                      </a:cubicBezTo>
                      <a:cubicBezTo>
                        <a:pt x="0" y="87"/>
                        <a:pt x="6" y="93"/>
                        <a:pt x="14" y="93"/>
                      </a:cubicBezTo>
                      <a:cubicBezTo>
                        <a:pt x="14" y="93"/>
                        <a:pt x="14" y="93"/>
                        <a:pt x="14" y="93"/>
                      </a:cubicBezTo>
                      <a:cubicBezTo>
                        <a:pt x="14" y="140"/>
                        <a:pt x="14" y="140"/>
                        <a:pt x="14" y="140"/>
                      </a:cubicBezTo>
                      <a:cubicBezTo>
                        <a:pt x="14" y="148"/>
                        <a:pt x="20" y="154"/>
                        <a:pt x="28" y="154"/>
                      </a:cubicBezTo>
                      <a:cubicBezTo>
                        <a:pt x="49" y="154"/>
                        <a:pt x="49" y="154"/>
                        <a:pt x="49" y="154"/>
                      </a:cubicBezTo>
                      <a:cubicBezTo>
                        <a:pt x="56" y="154"/>
                        <a:pt x="62" y="148"/>
                        <a:pt x="62" y="140"/>
                      </a:cubicBezTo>
                      <a:cubicBezTo>
                        <a:pt x="62" y="93"/>
                        <a:pt x="62" y="93"/>
                        <a:pt x="62" y="93"/>
                      </a:cubicBezTo>
                      <a:cubicBezTo>
                        <a:pt x="62" y="93"/>
                        <a:pt x="62" y="93"/>
                        <a:pt x="62" y="93"/>
                      </a:cubicBezTo>
                      <a:cubicBezTo>
                        <a:pt x="70" y="93"/>
                        <a:pt x="76" y="87"/>
                        <a:pt x="76" y="79"/>
                      </a:cubicBezTo>
                      <a:cubicBezTo>
                        <a:pt x="76" y="14"/>
                        <a:pt x="76" y="14"/>
                        <a:pt x="76" y="14"/>
                      </a:cubicBezTo>
                      <a:cubicBezTo>
                        <a:pt x="76" y="6"/>
                        <a:pt x="70" y="0"/>
                        <a:pt x="6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30307" tIns="115154" rIns="230307" bIns="115154" numCol="1" anchor="t" anchorCtr="0" compatLnSpc="1">
                  <a:prstTxWarp prst="textNoShape">
                    <a:avLst/>
                  </a:prstTxWarp>
                </a:bodyPr>
                <a:lstStyle/>
                <a:p>
                  <a:pPr defTabSz="1295064">
                    <a:defRPr/>
                  </a:pPr>
                  <a:endParaRPr lang="en-US" sz="2644" kern="0" dirty="0">
                    <a:solidFill>
                      <a:srgbClr val="FFFFFF"/>
                    </a:solidFill>
                  </a:endParaRPr>
                </a:p>
              </p:txBody>
            </p:sp>
            <p:sp>
              <p:nvSpPr>
                <p:cNvPr id="52" name="Oval 746">
                  <a:extLst>
                    <a:ext uri="{FF2B5EF4-FFF2-40B4-BE49-F238E27FC236}">
                      <a16:creationId xmlns:a16="http://schemas.microsoft.com/office/drawing/2014/main" id="{AFF18511-B670-4612-B661-410D9C9E5B38}"/>
                    </a:ext>
                  </a:extLst>
                </p:cNvPr>
                <p:cNvSpPr>
                  <a:spLocks noChangeArrowheads="1"/>
                </p:cNvSpPr>
                <p:nvPr/>
              </p:nvSpPr>
              <p:spPr bwMode="auto">
                <a:xfrm>
                  <a:off x="7384" y="-2780"/>
                  <a:ext cx="109" cy="10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30307" tIns="115154" rIns="230307" bIns="115154" numCol="1" anchor="t" anchorCtr="0" compatLnSpc="1">
                  <a:prstTxWarp prst="textNoShape">
                    <a:avLst/>
                  </a:prstTxWarp>
                </a:bodyPr>
                <a:lstStyle/>
                <a:p>
                  <a:pPr defTabSz="1295064">
                    <a:defRPr/>
                  </a:pPr>
                  <a:endParaRPr lang="en-US" sz="2644" kern="0" dirty="0">
                    <a:solidFill>
                      <a:srgbClr val="FFFFFF"/>
                    </a:solidFill>
                  </a:endParaRPr>
                </a:p>
              </p:txBody>
            </p:sp>
          </p:grpSp>
        </p:grpSp>
        <p:grpSp>
          <p:nvGrpSpPr>
            <p:cNvPr id="36" name="Group 17">
              <a:extLst>
                <a:ext uri="{FF2B5EF4-FFF2-40B4-BE49-F238E27FC236}">
                  <a16:creationId xmlns:a16="http://schemas.microsoft.com/office/drawing/2014/main" id="{973A87C4-AB36-4227-9736-841DA5742475}"/>
                </a:ext>
              </a:extLst>
            </p:cNvPr>
            <p:cNvGrpSpPr/>
            <p:nvPr/>
          </p:nvGrpSpPr>
          <p:grpSpPr>
            <a:xfrm>
              <a:off x="6311163" y="6166033"/>
              <a:ext cx="4749381" cy="2444169"/>
              <a:chOff x="4293152" y="4151055"/>
              <a:chExt cx="3234521" cy="1725197"/>
            </a:xfrm>
            <a:solidFill>
              <a:srgbClr val="FFFFFF">
                <a:lumMod val="50000"/>
              </a:srgbClr>
            </a:solidFill>
          </p:grpSpPr>
          <p:sp>
            <p:nvSpPr>
              <p:cNvPr id="43" name="Rectangle 18">
                <a:extLst>
                  <a:ext uri="{FF2B5EF4-FFF2-40B4-BE49-F238E27FC236}">
                    <a16:creationId xmlns:a16="http://schemas.microsoft.com/office/drawing/2014/main" id="{D3DFED91-4D01-4B78-8399-1C93C7E64418}"/>
                  </a:ext>
                </a:extLst>
              </p:cNvPr>
              <p:cNvSpPr/>
              <p:nvPr/>
            </p:nvSpPr>
            <p:spPr bwMode="auto">
              <a:xfrm flipH="1">
                <a:off x="4293152" y="4653183"/>
                <a:ext cx="3234521" cy="1223069"/>
              </a:xfrm>
              <a:prstGeom prst="rect">
                <a:avLst/>
              </a:prstGeom>
              <a:grpFill/>
              <a:ln w="9525" cap="flat" cmpd="sng" algn="ctr">
                <a:noFill/>
                <a:prstDash val="solid"/>
                <a:headEnd type="none" w="med" len="med"/>
                <a:tailEnd type="none" w="med" len="med"/>
              </a:ln>
              <a:effectLst/>
            </p:spPr>
            <p:txBody>
              <a:bodyPr vert="horz" wrap="square" lIns="230307" tIns="115148" rIns="230307" bIns="115148" numCol="1" rtlCol="0" anchor="ctr" anchorCtr="0" compatLnSpc="1">
                <a:prstTxWarp prst="textNoShape">
                  <a:avLst/>
                </a:prstTxWarp>
              </a:bodyPr>
              <a:lstStyle/>
              <a:p>
                <a:pPr marL="0" lvl="1" defTabSz="1294968"/>
                <a:r>
                  <a:rPr lang="zh-CN" altLang="en-US" sz="2268" kern="0" dirty="0">
                    <a:solidFill>
                      <a:srgbClr val="FFFFFF"/>
                    </a:solidFill>
                    <a:ea typeface="Segoe UI" pitchFamily="34" charset="0"/>
                    <a:cs typeface="Segoe UI" pitchFamily="34" charset="0"/>
                  </a:rPr>
                  <a:t>根据多元化经营和企业的资本结构、流动性、财务政策、公司管理治理等进行二次调整</a:t>
                </a:r>
                <a:endParaRPr lang="en-US" sz="2268" kern="0" dirty="0">
                  <a:solidFill>
                    <a:srgbClr val="FFFFFF"/>
                  </a:solidFill>
                  <a:ea typeface="Segoe UI" pitchFamily="34" charset="0"/>
                  <a:cs typeface="Segoe UI" pitchFamily="34" charset="0"/>
                </a:endParaRPr>
              </a:p>
            </p:txBody>
          </p:sp>
          <p:sp>
            <p:nvSpPr>
              <p:cNvPr id="44" name="Isosceles Triangle 19">
                <a:extLst>
                  <a:ext uri="{FF2B5EF4-FFF2-40B4-BE49-F238E27FC236}">
                    <a16:creationId xmlns:a16="http://schemas.microsoft.com/office/drawing/2014/main" id="{270C883C-B990-4A00-8039-14177863FAB1}"/>
                  </a:ext>
                </a:extLst>
              </p:cNvPr>
              <p:cNvSpPr/>
              <p:nvPr/>
            </p:nvSpPr>
            <p:spPr bwMode="auto">
              <a:xfrm rot="9592112" flipH="1" flipV="1">
                <a:off x="6469295" y="4151055"/>
                <a:ext cx="370809" cy="602182"/>
              </a:xfrm>
              <a:prstGeom prst="triangle">
                <a:avLst/>
              </a:prstGeom>
              <a:grpFill/>
              <a:ln w="9525" cap="flat" cmpd="sng" algn="ctr">
                <a:noFill/>
                <a:prstDash val="solid"/>
                <a:headEnd type="none" w="med" len="med"/>
                <a:tailEnd type="none" w="med" len="med"/>
              </a:ln>
              <a:effectLst/>
            </p:spPr>
            <p:txBody>
              <a:bodyPr vert="horz" wrap="square" lIns="230297" tIns="115148" rIns="230297" bIns="115148" numCol="1" rtlCol="0" anchor="t" anchorCtr="0" compatLnSpc="1">
                <a:prstTxWarp prst="textNoShape">
                  <a:avLst/>
                </a:prstTxWarp>
              </a:bodyPr>
              <a:lstStyle/>
              <a:p>
                <a:pPr marL="323783" indent="-323783" defTabSz="1294692" fontAlgn="base">
                  <a:spcBef>
                    <a:spcPct val="0"/>
                  </a:spcBef>
                  <a:spcAft>
                    <a:spcPct val="0"/>
                  </a:spcAft>
                  <a:buFont typeface="Arial" pitchFamily="34" charset="0"/>
                  <a:buChar char="•"/>
                  <a:tabLst>
                    <a:tab pos="406972" algn="l"/>
                  </a:tabLst>
                  <a:defRPr/>
                </a:pPr>
                <a:endParaRPr lang="en-US" sz="3211" kern="0" dirty="0">
                  <a:solidFill>
                    <a:srgbClr val="FFFFFF"/>
                  </a:solidFill>
                </a:endParaRPr>
              </a:p>
            </p:txBody>
          </p:sp>
        </p:grpSp>
        <p:grpSp>
          <p:nvGrpSpPr>
            <p:cNvPr id="37" name="Group 20">
              <a:extLst>
                <a:ext uri="{FF2B5EF4-FFF2-40B4-BE49-F238E27FC236}">
                  <a16:creationId xmlns:a16="http://schemas.microsoft.com/office/drawing/2014/main" id="{CEC7A881-2741-4841-9FC9-AA10BD610E32}"/>
                </a:ext>
              </a:extLst>
            </p:cNvPr>
            <p:cNvGrpSpPr/>
            <p:nvPr/>
          </p:nvGrpSpPr>
          <p:grpSpPr>
            <a:xfrm flipH="1">
              <a:off x="949496" y="3450414"/>
              <a:ext cx="4208160" cy="1999339"/>
              <a:chOff x="534730" y="5272047"/>
              <a:chExt cx="2865928" cy="1411217"/>
            </a:xfrm>
            <a:solidFill>
              <a:srgbClr val="FFFFFF">
                <a:lumMod val="50000"/>
              </a:srgbClr>
            </a:solidFill>
          </p:grpSpPr>
          <p:sp>
            <p:nvSpPr>
              <p:cNvPr id="41" name="Rectangle 21">
                <a:extLst>
                  <a:ext uri="{FF2B5EF4-FFF2-40B4-BE49-F238E27FC236}">
                    <a16:creationId xmlns:a16="http://schemas.microsoft.com/office/drawing/2014/main" id="{027B84F2-EA84-4A79-B8C9-C7B79E61A523}"/>
                  </a:ext>
                </a:extLst>
              </p:cNvPr>
              <p:cNvSpPr/>
              <p:nvPr/>
            </p:nvSpPr>
            <p:spPr bwMode="auto">
              <a:xfrm>
                <a:off x="534730" y="5272047"/>
                <a:ext cx="2865928" cy="896089"/>
              </a:xfrm>
              <a:prstGeom prst="rect">
                <a:avLst/>
              </a:prstGeom>
              <a:grpFill/>
              <a:ln w="9525" cap="flat" cmpd="sng" algn="ctr">
                <a:noFill/>
                <a:prstDash val="solid"/>
                <a:headEnd type="none" w="med" len="med"/>
                <a:tailEnd type="none" w="med" len="med"/>
              </a:ln>
              <a:effectLst/>
            </p:spPr>
            <p:txBody>
              <a:bodyPr vert="horz" wrap="square" lIns="230307" tIns="115148" rIns="230307" bIns="115148" numCol="1" rtlCol="0" anchor="ctr" anchorCtr="0" compatLnSpc="1">
                <a:prstTxWarp prst="textNoShape">
                  <a:avLst/>
                </a:prstTxWarp>
              </a:bodyPr>
              <a:lstStyle/>
              <a:p>
                <a:pPr marL="0" lvl="1" defTabSz="1294968">
                  <a:defRPr/>
                </a:pPr>
                <a:r>
                  <a:rPr lang="zh-CN" altLang="en-US" sz="2268" kern="0" dirty="0">
                    <a:solidFill>
                      <a:srgbClr val="FFFFFF"/>
                    </a:solidFill>
                    <a:ea typeface="Segoe UI" pitchFamily="34" charset="0"/>
                    <a:cs typeface="Segoe UI" pitchFamily="34" charset="0"/>
                  </a:rPr>
                  <a:t>对国别和行业风险，发债主体的经营风险、财务风险进行逐层评分</a:t>
                </a:r>
              </a:p>
            </p:txBody>
          </p:sp>
          <p:sp>
            <p:nvSpPr>
              <p:cNvPr id="42" name="Isosceles Triangle 22">
                <a:extLst>
                  <a:ext uri="{FF2B5EF4-FFF2-40B4-BE49-F238E27FC236}">
                    <a16:creationId xmlns:a16="http://schemas.microsoft.com/office/drawing/2014/main" id="{2771F596-6323-466D-B6AB-8F9329260338}"/>
                  </a:ext>
                </a:extLst>
              </p:cNvPr>
              <p:cNvSpPr/>
              <p:nvPr/>
            </p:nvSpPr>
            <p:spPr bwMode="auto">
              <a:xfrm rot="12211566">
                <a:off x="1398893" y="6014524"/>
                <a:ext cx="586853" cy="668740"/>
              </a:xfrm>
              <a:prstGeom prst="triangle">
                <a:avLst/>
              </a:prstGeom>
              <a:grpFill/>
              <a:ln w="9525" cap="flat" cmpd="sng" algn="ctr">
                <a:noFill/>
                <a:prstDash val="solid"/>
                <a:headEnd type="none" w="med" len="med"/>
                <a:tailEnd type="none" w="med" len="med"/>
              </a:ln>
              <a:effectLst/>
            </p:spPr>
            <p:txBody>
              <a:bodyPr vert="horz" wrap="square" lIns="230297" tIns="115148" rIns="230297" bIns="115148" numCol="1" rtlCol="0" anchor="t" anchorCtr="0" compatLnSpc="1">
                <a:prstTxWarp prst="textNoShape">
                  <a:avLst/>
                </a:prstTxWarp>
              </a:bodyPr>
              <a:lstStyle/>
              <a:p>
                <a:pPr marL="323783" indent="-323783" defTabSz="1294692" fontAlgn="base">
                  <a:spcBef>
                    <a:spcPct val="0"/>
                  </a:spcBef>
                  <a:spcAft>
                    <a:spcPct val="0"/>
                  </a:spcAft>
                  <a:buFont typeface="Arial" pitchFamily="34" charset="0"/>
                  <a:buChar char="•"/>
                  <a:tabLst>
                    <a:tab pos="406972" algn="l"/>
                  </a:tabLst>
                  <a:defRPr/>
                </a:pPr>
                <a:endParaRPr lang="en-US" sz="3211" kern="0" dirty="0">
                  <a:solidFill>
                    <a:srgbClr val="E7E7E8"/>
                  </a:solidFill>
                </a:endParaRPr>
              </a:p>
            </p:txBody>
          </p:sp>
        </p:grpSp>
        <p:grpSp>
          <p:nvGrpSpPr>
            <p:cNvPr id="38" name="Group 23">
              <a:extLst>
                <a:ext uri="{FF2B5EF4-FFF2-40B4-BE49-F238E27FC236}">
                  <a16:creationId xmlns:a16="http://schemas.microsoft.com/office/drawing/2014/main" id="{30C46997-56F6-4D20-9B0B-12AE0B282137}"/>
                </a:ext>
              </a:extLst>
            </p:cNvPr>
            <p:cNvGrpSpPr/>
            <p:nvPr/>
          </p:nvGrpSpPr>
          <p:grpSpPr>
            <a:xfrm>
              <a:off x="12027373" y="3450419"/>
              <a:ext cx="4300820" cy="1983893"/>
              <a:chOff x="8171088" y="5045827"/>
              <a:chExt cx="2929034" cy="1400315"/>
            </a:xfrm>
            <a:solidFill>
              <a:srgbClr val="FFFFFF">
                <a:lumMod val="50000"/>
              </a:srgbClr>
            </a:solidFill>
          </p:grpSpPr>
          <p:sp>
            <p:nvSpPr>
              <p:cNvPr id="39" name="Isosceles Triangle 24">
                <a:extLst>
                  <a:ext uri="{FF2B5EF4-FFF2-40B4-BE49-F238E27FC236}">
                    <a16:creationId xmlns:a16="http://schemas.microsoft.com/office/drawing/2014/main" id="{8BA20922-D6B3-44EC-BA7A-EF4B7171052F}"/>
                  </a:ext>
                </a:extLst>
              </p:cNvPr>
              <p:cNvSpPr/>
              <p:nvPr/>
            </p:nvSpPr>
            <p:spPr bwMode="auto">
              <a:xfrm rot="12211566">
                <a:off x="9164613" y="5777402"/>
                <a:ext cx="586853" cy="668740"/>
              </a:xfrm>
              <a:prstGeom prst="triangle">
                <a:avLst/>
              </a:prstGeom>
              <a:grpFill/>
              <a:ln w="9525" cap="flat" cmpd="sng" algn="ctr">
                <a:noFill/>
                <a:prstDash val="solid"/>
                <a:headEnd type="none" w="med" len="med"/>
                <a:tailEnd type="none" w="med" len="med"/>
              </a:ln>
              <a:effectLst/>
            </p:spPr>
            <p:txBody>
              <a:bodyPr vert="horz" wrap="square" lIns="230297" tIns="115148" rIns="230297" bIns="115148" numCol="1" rtlCol="0" anchor="t" anchorCtr="0" compatLnSpc="1">
                <a:prstTxWarp prst="textNoShape">
                  <a:avLst/>
                </a:prstTxWarp>
              </a:bodyPr>
              <a:lstStyle/>
              <a:p>
                <a:pPr marL="323783" indent="-323783" defTabSz="1294692" fontAlgn="base">
                  <a:spcBef>
                    <a:spcPct val="0"/>
                  </a:spcBef>
                  <a:spcAft>
                    <a:spcPct val="0"/>
                  </a:spcAft>
                  <a:buFont typeface="Arial" pitchFamily="34" charset="0"/>
                  <a:buChar char="•"/>
                  <a:tabLst>
                    <a:tab pos="406972" algn="l"/>
                  </a:tabLst>
                  <a:defRPr/>
                </a:pPr>
                <a:endParaRPr lang="en-US" sz="3211" kern="0" dirty="0">
                  <a:solidFill>
                    <a:srgbClr val="FFFFFF"/>
                  </a:solidFill>
                </a:endParaRPr>
              </a:p>
            </p:txBody>
          </p:sp>
          <p:sp>
            <p:nvSpPr>
              <p:cNvPr id="40" name="Rectangle 25">
                <a:extLst>
                  <a:ext uri="{FF2B5EF4-FFF2-40B4-BE49-F238E27FC236}">
                    <a16:creationId xmlns:a16="http://schemas.microsoft.com/office/drawing/2014/main" id="{07747A29-E5B1-42AC-B34E-81C1CCBFFB8B}"/>
                  </a:ext>
                </a:extLst>
              </p:cNvPr>
              <p:cNvSpPr/>
              <p:nvPr/>
            </p:nvSpPr>
            <p:spPr bwMode="auto">
              <a:xfrm>
                <a:off x="8171088" y="5045827"/>
                <a:ext cx="2929034" cy="922642"/>
              </a:xfrm>
              <a:prstGeom prst="rect">
                <a:avLst/>
              </a:prstGeom>
              <a:grpFill/>
              <a:ln w="9525" cap="flat" cmpd="sng" algn="ctr">
                <a:noFill/>
                <a:prstDash val="solid"/>
                <a:headEnd type="none" w="med" len="med"/>
                <a:tailEnd type="none" w="med" len="med"/>
              </a:ln>
              <a:effectLst/>
            </p:spPr>
            <p:txBody>
              <a:bodyPr vert="horz" wrap="square" lIns="230307" tIns="115148" rIns="230307" bIns="115148" numCol="1" rtlCol="0" anchor="ctr" anchorCtr="0" compatLnSpc="1">
                <a:prstTxWarp prst="textNoShape">
                  <a:avLst/>
                </a:prstTxWarp>
              </a:bodyPr>
              <a:lstStyle/>
              <a:p>
                <a:pPr marL="0" lvl="1" defTabSz="1294968"/>
                <a:r>
                  <a:rPr lang="zh-CN" altLang="en-US" sz="2268" kern="0" dirty="0">
                    <a:solidFill>
                      <a:srgbClr val="FFFFFF"/>
                    </a:solidFill>
                    <a:ea typeface="Segoe UI" pitchFamily="34" charset="0"/>
                    <a:cs typeface="Segoe UI" pitchFamily="34" charset="0"/>
                  </a:rPr>
                  <a:t>评估各类长期外部支持措施的有效性</a:t>
                </a:r>
                <a:endParaRPr lang="en-US" sz="2268" kern="0" dirty="0">
                  <a:solidFill>
                    <a:srgbClr val="FFFFFF"/>
                  </a:solidFill>
                  <a:ea typeface="Segoe UI" pitchFamily="34" charset="0"/>
                  <a:cs typeface="Segoe UI" pitchFamily="34" charset="0"/>
                </a:endParaRPr>
              </a:p>
            </p:txBody>
          </p:sp>
        </p:grpSp>
      </p:grpSp>
    </p:spTree>
    <p:extLst>
      <p:ext uri="{BB962C8B-B14F-4D97-AF65-F5344CB8AC3E}">
        <p14:creationId xmlns:p14="http://schemas.microsoft.com/office/powerpoint/2010/main" val="397657640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标普评级法：</a:t>
            </a:r>
            <a:r>
              <a:rPr lang="zh-CN" altLang="en-US" sz="3600" dirty="0"/>
              <a:t>企业经营风险分值</a:t>
            </a:r>
          </a:p>
        </p:txBody>
      </p:sp>
      <p:graphicFrame>
        <p:nvGraphicFramePr>
          <p:cNvPr id="14" name="内容占位符 13">
            <a:extLst>
              <a:ext uri="{FF2B5EF4-FFF2-40B4-BE49-F238E27FC236}">
                <a16:creationId xmlns:a16="http://schemas.microsoft.com/office/drawing/2014/main" id="{55BBF1DA-C334-4C75-B7E6-D63D9840858B}"/>
              </a:ext>
            </a:extLst>
          </p:cNvPr>
          <p:cNvGraphicFramePr>
            <a:graphicFrameLocks noGrp="1"/>
          </p:cNvGraphicFramePr>
          <p:nvPr>
            <p:ph idx="1"/>
            <p:extLst>
              <p:ext uri="{D42A27DB-BD31-4B8C-83A1-F6EECF244321}">
                <p14:modId xmlns:p14="http://schemas.microsoft.com/office/powerpoint/2010/main" val="1505213585"/>
              </p:ext>
            </p:extLst>
          </p:nvPr>
        </p:nvGraphicFramePr>
        <p:xfrm>
          <a:off x="949325" y="2581275"/>
          <a:ext cx="15467624" cy="4955720"/>
        </p:xfrm>
        <a:graphic>
          <a:graphicData uri="http://schemas.openxmlformats.org/drawingml/2006/table">
            <a:tbl>
              <a:tblPr firstRow="1" bandRow="1">
                <a:tableStyleId>{6E25E649-3F16-4E02-A733-19D2CDBF48F0}</a:tableStyleId>
              </a:tblPr>
              <a:tblGrid>
                <a:gridCol w="1913672">
                  <a:extLst>
                    <a:ext uri="{9D8B030D-6E8A-4147-A177-3AD203B41FA5}">
                      <a16:colId xmlns:a16="http://schemas.microsoft.com/office/drawing/2014/main" val="20000"/>
                    </a:ext>
                  </a:extLst>
                </a:gridCol>
                <a:gridCol w="2079654">
                  <a:extLst>
                    <a:ext uri="{9D8B030D-6E8A-4147-A177-3AD203B41FA5}">
                      <a16:colId xmlns:a16="http://schemas.microsoft.com/office/drawing/2014/main" val="20001"/>
                    </a:ext>
                  </a:extLst>
                </a:gridCol>
                <a:gridCol w="1912383">
                  <a:extLst>
                    <a:ext uri="{9D8B030D-6E8A-4147-A177-3AD203B41FA5}">
                      <a16:colId xmlns:a16="http://schemas.microsoft.com/office/drawing/2014/main" val="20002"/>
                    </a:ext>
                  </a:extLst>
                </a:gridCol>
                <a:gridCol w="1912383">
                  <a:extLst>
                    <a:ext uri="{9D8B030D-6E8A-4147-A177-3AD203B41FA5}">
                      <a16:colId xmlns:a16="http://schemas.microsoft.com/office/drawing/2014/main" val="20003"/>
                    </a:ext>
                  </a:extLst>
                </a:gridCol>
                <a:gridCol w="1912383">
                  <a:extLst>
                    <a:ext uri="{9D8B030D-6E8A-4147-A177-3AD203B41FA5}">
                      <a16:colId xmlns:a16="http://schemas.microsoft.com/office/drawing/2014/main" val="20004"/>
                    </a:ext>
                  </a:extLst>
                </a:gridCol>
                <a:gridCol w="1912383">
                  <a:extLst>
                    <a:ext uri="{9D8B030D-6E8A-4147-A177-3AD203B41FA5}">
                      <a16:colId xmlns:a16="http://schemas.microsoft.com/office/drawing/2014/main" val="20005"/>
                    </a:ext>
                  </a:extLst>
                </a:gridCol>
                <a:gridCol w="1912383">
                  <a:extLst>
                    <a:ext uri="{9D8B030D-6E8A-4147-A177-3AD203B41FA5}">
                      <a16:colId xmlns:a16="http://schemas.microsoft.com/office/drawing/2014/main" val="20006"/>
                    </a:ext>
                  </a:extLst>
                </a:gridCol>
                <a:gridCol w="1912383">
                  <a:extLst>
                    <a:ext uri="{9D8B030D-6E8A-4147-A177-3AD203B41FA5}">
                      <a16:colId xmlns:a16="http://schemas.microsoft.com/office/drawing/2014/main" val="20007"/>
                    </a:ext>
                  </a:extLst>
                </a:gridCol>
              </a:tblGrid>
              <a:tr h="559035">
                <a:tc rowSpan="2" gridSpan="2">
                  <a:txBody>
                    <a:bodyPr/>
                    <a:lstStyle/>
                    <a:p>
                      <a:pPr algn="ctr" fontAlgn="ct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rowSpan="2" hMerge="1">
                  <a:txBody>
                    <a:bodyPr/>
                    <a:lstStyle/>
                    <a:p>
                      <a:endParaRPr lang="zh-CN" altLang="en-US"/>
                    </a:p>
                  </a:txBody>
                  <a:tcPr/>
                </a:tc>
                <a:tc gridSpan="6">
                  <a:txBody>
                    <a:bodyPr/>
                    <a:lstStyle/>
                    <a:p>
                      <a:pPr algn="ctr" fontAlgn="ctr"/>
                      <a:r>
                        <a:rPr lang="zh-CN" altLang="en-US" sz="2000" u="none" strike="noStrike" dirty="0">
                          <a:effectLst/>
                        </a:rPr>
                        <a:t>国家风险</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6865" marR="16865" marT="1350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798318">
                <a:tc gridSpan="2" vMerge="1">
                  <a:txBody>
                    <a:bodyPr/>
                    <a:lstStyle/>
                    <a:p>
                      <a:endParaRPr lang="zh-CN" altLang="en-US"/>
                    </a:p>
                  </a:txBody>
                  <a:tcPr/>
                </a:tc>
                <a:tc hMerge="1" vMerge="1">
                  <a:txBody>
                    <a:bodyPr/>
                    <a:lstStyle/>
                    <a:p>
                      <a:endParaRPr lang="zh-CN" altLang="en-US"/>
                    </a:p>
                  </a:txBody>
                  <a:tcPr/>
                </a:tc>
                <a:tc>
                  <a:txBody>
                    <a:bodyPr/>
                    <a:lstStyle/>
                    <a:p>
                      <a:pPr algn="ctr" fontAlgn="ctr"/>
                      <a:r>
                        <a:rPr lang="zh-CN" altLang="en-US" sz="2000" u="none" strike="noStrike" dirty="0">
                          <a:effectLst/>
                        </a:rPr>
                        <a:t>极低</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zh-CN" altLang="en-US" sz="2000" u="none" strike="noStrike" dirty="0">
                          <a:effectLst/>
                        </a:rPr>
                        <a:t>低</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zh-CN" altLang="en-US" sz="2000" u="none" strike="noStrike" dirty="0">
                          <a:effectLst/>
                        </a:rPr>
                        <a:t>中</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zh-CN" altLang="en-US" sz="2000" u="none" strike="noStrike" dirty="0">
                          <a:effectLst/>
                        </a:rPr>
                        <a:t>中高</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zh-CN" altLang="en-US" sz="2000" u="none" strike="noStrike" dirty="0">
                          <a:effectLst/>
                        </a:rPr>
                        <a:t>高</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zh-CN" altLang="en-US" sz="2000" u="none" strike="noStrike" dirty="0">
                          <a:effectLst/>
                        </a:rPr>
                        <a:t>极高</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extLst>
                  <a:ext uri="{0D108BD9-81ED-4DB2-BD59-A6C34878D82A}">
                    <a16:rowId xmlns:a16="http://schemas.microsoft.com/office/drawing/2014/main" val="10001"/>
                  </a:ext>
                </a:extLst>
              </a:tr>
              <a:tr h="611674">
                <a:tc rowSpan="6">
                  <a:txBody>
                    <a:bodyPr/>
                    <a:lstStyle/>
                    <a:p>
                      <a:pPr algn="ctr" fontAlgn="ctr"/>
                      <a:r>
                        <a:rPr lang="zh-CN" altLang="en-US" sz="2000" u="none" strike="noStrike" dirty="0">
                          <a:effectLst/>
                        </a:rPr>
                        <a:t>行业风险</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zh-CN" altLang="en-US" sz="2000" u="none" strike="noStrike" dirty="0">
                          <a:effectLst/>
                        </a:rPr>
                        <a:t>极低</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1</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1</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1</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2</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4</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5</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extLst>
                  <a:ext uri="{0D108BD9-81ED-4DB2-BD59-A6C34878D82A}">
                    <a16:rowId xmlns:a16="http://schemas.microsoft.com/office/drawing/2014/main" val="10002"/>
                  </a:ext>
                </a:extLst>
              </a:tr>
              <a:tr h="558734">
                <a:tc vMerge="1">
                  <a:txBody>
                    <a:bodyPr/>
                    <a:lstStyle/>
                    <a:p>
                      <a:endParaRPr lang="zh-CN" altLang="en-US"/>
                    </a:p>
                  </a:txBody>
                  <a:tcPr/>
                </a:tc>
                <a:tc>
                  <a:txBody>
                    <a:bodyPr/>
                    <a:lstStyle/>
                    <a:p>
                      <a:pPr algn="ctr" fontAlgn="ctr"/>
                      <a:r>
                        <a:rPr lang="zh-CN" altLang="en-US" sz="2000" u="none" strike="noStrike" dirty="0">
                          <a:effectLst/>
                        </a:rPr>
                        <a:t>低</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2</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2</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2</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3</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4</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5</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extLst>
                  <a:ext uri="{0D108BD9-81ED-4DB2-BD59-A6C34878D82A}">
                    <a16:rowId xmlns:a16="http://schemas.microsoft.com/office/drawing/2014/main" val="10003"/>
                  </a:ext>
                </a:extLst>
              </a:tr>
              <a:tr h="652507">
                <a:tc vMerge="1">
                  <a:txBody>
                    <a:bodyPr/>
                    <a:lstStyle/>
                    <a:p>
                      <a:endParaRPr lang="zh-CN" altLang="en-US"/>
                    </a:p>
                  </a:txBody>
                  <a:tcPr/>
                </a:tc>
                <a:tc>
                  <a:txBody>
                    <a:bodyPr/>
                    <a:lstStyle/>
                    <a:p>
                      <a:pPr algn="ctr" fontAlgn="ctr"/>
                      <a:r>
                        <a:rPr lang="zh-CN" altLang="en-US" sz="2000" u="none" strike="noStrike" dirty="0">
                          <a:effectLst/>
                        </a:rPr>
                        <a:t>中</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3</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3</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3</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3</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4</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6</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extLst>
                  <a:ext uri="{0D108BD9-81ED-4DB2-BD59-A6C34878D82A}">
                    <a16:rowId xmlns:a16="http://schemas.microsoft.com/office/drawing/2014/main" val="10004"/>
                  </a:ext>
                </a:extLst>
              </a:tr>
              <a:tr h="652207">
                <a:tc vMerge="1">
                  <a:txBody>
                    <a:bodyPr/>
                    <a:lstStyle/>
                    <a:p>
                      <a:endParaRPr lang="zh-CN" altLang="en-US"/>
                    </a:p>
                  </a:txBody>
                  <a:tcPr/>
                </a:tc>
                <a:tc>
                  <a:txBody>
                    <a:bodyPr/>
                    <a:lstStyle/>
                    <a:p>
                      <a:pPr algn="ctr" fontAlgn="ctr"/>
                      <a:r>
                        <a:rPr lang="zh-CN" altLang="en-US" sz="2000" u="none" strike="noStrike" dirty="0">
                          <a:effectLst/>
                        </a:rPr>
                        <a:t>中高</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4</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4</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4</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4</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5</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6</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extLst>
                  <a:ext uri="{0D108BD9-81ED-4DB2-BD59-A6C34878D82A}">
                    <a16:rowId xmlns:a16="http://schemas.microsoft.com/office/drawing/2014/main" val="10005"/>
                  </a:ext>
                </a:extLst>
              </a:tr>
              <a:tr h="559035">
                <a:tc vMerge="1">
                  <a:txBody>
                    <a:bodyPr/>
                    <a:lstStyle/>
                    <a:p>
                      <a:endParaRPr lang="zh-CN" altLang="en-US"/>
                    </a:p>
                  </a:txBody>
                  <a:tcPr/>
                </a:tc>
                <a:tc>
                  <a:txBody>
                    <a:bodyPr/>
                    <a:lstStyle/>
                    <a:p>
                      <a:pPr algn="ctr" fontAlgn="ctr"/>
                      <a:r>
                        <a:rPr lang="zh-CN" altLang="en-US" sz="2000" u="none" strike="noStrike" dirty="0">
                          <a:effectLst/>
                        </a:rPr>
                        <a:t>高</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5</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5</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5</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5</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5</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6</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extLst>
                  <a:ext uri="{0D108BD9-81ED-4DB2-BD59-A6C34878D82A}">
                    <a16:rowId xmlns:a16="http://schemas.microsoft.com/office/drawing/2014/main" val="10006"/>
                  </a:ext>
                </a:extLst>
              </a:tr>
              <a:tr h="564210">
                <a:tc vMerge="1">
                  <a:txBody>
                    <a:bodyPr/>
                    <a:lstStyle/>
                    <a:p>
                      <a:endParaRPr lang="zh-CN" altLang="en-US"/>
                    </a:p>
                  </a:txBody>
                  <a:tcPr/>
                </a:tc>
                <a:tc>
                  <a:txBody>
                    <a:bodyPr/>
                    <a:lstStyle/>
                    <a:p>
                      <a:pPr algn="ctr" fontAlgn="ctr"/>
                      <a:r>
                        <a:rPr lang="zh-CN" altLang="en-US" sz="2000" u="none" strike="noStrike" dirty="0">
                          <a:effectLst/>
                        </a:rPr>
                        <a:t>极高</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6</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6</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6</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6</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6</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tc>
                  <a:txBody>
                    <a:bodyPr/>
                    <a:lstStyle/>
                    <a:p>
                      <a:pPr algn="ctr" fontAlgn="ctr"/>
                      <a:r>
                        <a:rPr lang="en-US" altLang="zh-CN" sz="2000" u="none" strike="noStrike" dirty="0">
                          <a:effectLst/>
                        </a:rPr>
                        <a:t>6</a:t>
                      </a:r>
                      <a:endParaRPr lang="en-US" altLang="zh-CN"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6865" marR="16865" marT="13500" marB="0" anchor="ctr"/>
                </a:tc>
                <a:extLst>
                  <a:ext uri="{0D108BD9-81ED-4DB2-BD59-A6C34878D82A}">
                    <a16:rowId xmlns:a16="http://schemas.microsoft.com/office/drawing/2014/main" val="10007"/>
                  </a:ext>
                </a:extLst>
              </a:tr>
            </a:tbl>
          </a:graphicData>
        </a:graphic>
      </p:graphicFrame>
      <p:sp>
        <p:nvSpPr>
          <p:cNvPr id="13" name="文本占位符 12">
            <a:extLst>
              <a:ext uri="{FF2B5EF4-FFF2-40B4-BE49-F238E27FC236}">
                <a16:creationId xmlns:a16="http://schemas.microsoft.com/office/drawing/2014/main" id="{6C3BE5FA-F218-430D-A863-5F85F003E2EB}"/>
              </a:ext>
            </a:extLst>
          </p:cNvPr>
          <p:cNvSpPr>
            <a:spLocks noGrp="1"/>
          </p:cNvSpPr>
          <p:nvPr>
            <p:ph type="body" idx="10"/>
          </p:nvPr>
        </p:nvSpPr>
        <p:spPr/>
        <p:txBody>
          <a:bodyPr/>
          <a:lstStyle/>
          <a:p>
            <a:r>
              <a:rPr lang="zh-CN" altLang="en-US"/>
              <a:t>分析国家风险和行业风险，得出国家和行业风险得分</a:t>
            </a:r>
            <a:endParaRPr lang="zh-CN" altLang="en-US" dirty="0"/>
          </a:p>
        </p:txBody>
      </p:sp>
    </p:spTree>
    <p:extLst>
      <p:ext uri="{BB962C8B-B14F-4D97-AF65-F5344CB8AC3E}">
        <p14:creationId xmlns:p14="http://schemas.microsoft.com/office/powerpoint/2010/main" val="111238295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标普评级法：</a:t>
            </a:r>
            <a:r>
              <a:rPr lang="zh-CN" altLang="en-US" sz="3600" dirty="0"/>
              <a:t>企业经营风险分值</a:t>
            </a:r>
          </a:p>
        </p:txBody>
      </p:sp>
      <p:graphicFrame>
        <p:nvGraphicFramePr>
          <p:cNvPr id="8" name="内容占位符 7">
            <a:extLst>
              <a:ext uri="{FF2B5EF4-FFF2-40B4-BE49-F238E27FC236}">
                <a16:creationId xmlns:a16="http://schemas.microsoft.com/office/drawing/2014/main" id="{0DFD329F-639A-407D-BDD2-E16D70AA69EB}"/>
              </a:ext>
            </a:extLst>
          </p:cNvPr>
          <p:cNvGraphicFramePr>
            <a:graphicFrameLocks noGrp="1"/>
          </p:cNvGraphicFramePr>
          <p:nvPr>
            <p:ph idx="1"/>
            <p:extLst>
              <p:ext uri="{D42A27DB-BD31-4B8C-83A1-F6EECF244321}">
                <p14:modId xmlns:p14="http://schemas.microsoft.com/office/powerpoint/2010/main" val="1910812126"/>
              </p:ext>
            </p:extLst>
          </p:nvPr>
        </p:nvGraphicFramePr>
        <p:xfrm>
          <a:off x="949325" y="2581276"/>
          <a:ext cx="15378696" cy="5956331"/>
        </p:xfrm>
        <a:graphic>
          <a:graphicData uri="http://schemas.openxmlformats.org/drawingml/2006/table">
            <a:tbl>
              <a:tblPr firstRow="1" bandRow="1">
                <a:tableStyleId>{6E25E649-3F16-4E02-A733-19D2CDBF48F0}</a:tableStyleId>
              </a:tblPr>
              <a:tblGrid>
                <a:gridCol w="1895566">
                  <a:extLst>
                    <a:ext uri="{9D8B030D-6E8A-4147-A177-3AD203B41FA5}">
                      <a16:colId xmlns:a16="http://schemas.microsoft.com/office/drawing/2014/main" val="20000"/>
                    </a:ext>
                  </a:extLst>
                </a:gridCol>
                <a:gridCol w="4337104">
                  <a:extLst>
                    <a:ext uri="{9D8B030D-6E8A-4147-A177-3AD203B41FA5}">
                      <a16:colId xmlns:a16="http://schemas.microsoft.com/office/drawing/2014/main" val="20001"/>
                    </a:ext>
                  </a:extLst>
                </a:gridCol>
                <a:gridCol w="9146026">
                  <a:extLst>
                    <a:ext uri="{9D8B030D-6E8A-4147-A177-3AD203B41FA5}">
                      <a16:colId xmlns:a16="http://schemas.microsoft.com/office/drawing/2014/main" val="20002"/>
                    </a:ext>
                  </a:extLst>
                </a:gridCol>
              </a:tblGrid>
              <a:tr h="777063">
                <a:tc>
                  <a:txBody>
                    <a:bodyPr/>
                    <a:lstStyle/>
                    <a:p>
                      <a:pPr algn="ctr" fontAlgn="ctr"/>
                      <a:r>
                        <a:rPr lang="zh-CN" altLang="en-US" sz="2000" u="none" strike="noStrike" dirty="0">
                          <a:effectLst/>
                        </a:rPr>
                        <a:t>要素</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zh-CN" altLang="en-US" sz="2000" u="none" strike="noStrike" dirty="0">
                          <a:effectLst/>
                        </a:rPr>
                        <a:t>解释</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zh-CN" altLang="en-US" sz="2000" u="none" strike="noStrike" dirty="0">
                          <a:effectLst/>
                        </a:rPr>
                        <a:t>子要素</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tc>
                <a:extLst>
                  <a:ext uri="{0D108BD9-81ED-4DB2-BD59-A6C34878D82A}">
                    <a16:rowId xmlns:a16="http://schemas.microsoft.com/office/drawing/2014/main" val="10000"/>
                  </a:ext>
                </a:extLst>
              </a:tr>
              <a:tr h="1772062">
                <a:tc>
                  <a:txBody>
                    <a:bodyPr/>
                    <a:lstStyle/>
                    <a:p>
                      <a:pPr algn="ctr" fontAlgn="ctr"/>
                      <a:r>
                        <a:rPr lang="zh-CN" altLang="en-US" sz="2000" u="none" strike="noStrike" dirty="0">
                          <a:effectLst/>
                        </a:rPr>
                        <a:t>竞争优势</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l" fontAlgn="ctr"/>
                      <a:r>
                        <a:rPr lang="zh-CN" altLang="en-US" sz="2000" u="none" strike="noStrike" dirty="0">
                          <a:effectLst/>
                        </a:rPr>
                        <a:t>产品或服务的竞争性地位和对于消费者的 吸引程度；商业模式的脆弱性和可持续性</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l" fontAlgn="ctr"/>
                      <a:r>
                        <a:rPr lang="zh-CN" altLang="en-US" sz="2000" u="none" strike="noStrike" dirty="0">
                          <a:effectLst/>
                        </a:rPr>
                        <a:t>竞争战略；差异化、独特性、产品定位、捆绑销售；品牌声誉和市场营销；产品和服务质量；进入门槛以及消费者的转换成本；技术优势、对于技术革新的敏感性以及引导技术革新的能力；核心产品的特点</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extLst>
                  <a:ext uri="{0D108BD9-81ED-4DB2-BD59-A6C34878D82A}">
                    <a16:rowId xmlns:a16="http://schemas.microsoft.com/office/drawing/2014/main" val="10001"/>
                  </a:ext>
                </a:extLst>
              </a:tr>
              <a:tr h="1444078">
                <a:tc>
                  <a:txBody>
                    <a:bodyPr/>
                    <a:lstStyle/>
                    <a:p>
                      <a:pPr algn="ctr" fontAlgn="ctr"/>
                      <a:r>
                        <a:rPr lang="zh-CN" altLang="en-US" sz="2000" u="none" strike="noStrike" dirty="0">
                          <a:effectLst/>
                        </a:rPr>
                        <a:t>经营规模</a:t>
                      </a:r>
                      <a:endParaRPr lang="en-US" altLang="zh-CN" sz="2000" u="none" strike="noStrike" dirty="0">
                        <a:effectLst/>
                      </a:endParaRPr>
                    </a:p>
                    <a:p>
                      <a:pPr algn="ctr" fontAlgn="ctr"/>
                      <a:r>
                        <a:rPr lang="zh-CN" altLang="en-US" sz="2000" u="none" strike="noStrike" dirty="0">
                          <a:effectLst/>
                        </a:rPr>
                        <a:t>经营范围</a:t>
                      </a:r>
                      <a:endParaRPr lang="en-US" altLang="zh-CN" sz="2000" u="none" strike="noStrike" dirty="0">
                        <a:effectLst/>
                      </a:endParaRPr>
                    </a:p>
                    <a:p>
                      <a:pPr algn="ctr" fontAlgn="ctr"/>
                      <a:r>
                        <a:rPr lang="zh-CN" altLang="en-US" sz="2000" u="none" strike="noStrike" dirty="0">
                          <a:effectLst/>
                        </a:rPr>
                        <a:t>产品多样化</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l" fontAlgn="ctr"/>
                      <a:r>
                        <a:rPr lang="zh-CN" altLang="en-US" sz="2000" u="none" strike="noStrike" dirty="0">
                          <a:effectLst/>
                        </a:rPr>
                        <a:t>商业活动的集中性或多样性</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l" fontAlgn="ctr"/>
                      <a:r>
                        <a:rPr lang="zh-CN" altLang="en-US" sz="2000" u="none" strike="noStrike" dirty="0">
                          <a:effectLst/>
                        </a:rPr>
                        <a:t>产品和服务的多样化；区域多样化；市场容量、市场总体收入、企业的市场份额；产品或服务的成熟度</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extLst>
                  <a:ext uri="{0D108BD9-81ED-4DB2-BD59-A6C34878D82A}">
                    <a16:rowId xmlns:a16="http://schemas.microsoft.com/office/drawing/2014/main" val="10002"/>
                  </a:ext>
                </a:extLst>
              </a:tr>
              <a:tr h="894599">
                <a:tc>
                  <a:txBody>
                    <a:bodyPr/>
                    <a:lstStyle/>
                    <a:p>
                      <a:pPr algn="ctr" fontAlgn="ctr"/>
                      <a:r>
                        <a:rPr lang="zh-CN" altLang="en-US" sz="2000" u="none" strike="noStrike" dirty="0">
                          <a:effectLst/>
                        </a:rPr>
                        <a:t>营运效率</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l" fontAlgn="ctr"/>
                      <a:r>
                        <a:rPr lang="zh-CN" altLang="en-US" sz="2000" u="none" strike="noStrike" dirty="0">
                          <a:effectLst/>
                        </a:rPr>
                        <a:t>核心产品的质量</a:t>
                      </a:r>
                      <a:endParaRPr lang="en-US" altLang="zh-CN" sz="2000" u="none" strike="noStrike" dirty="0">
                        <a:effectLst/>
                      </a:endParaRPr>
                    </a:p>
                    <a:p>
                      <a:pPr algn="l" fontAlgn="ctr"/>
                      <a:r>
                        <a:rPr lang="zh-CN" altLang="en-US" sz="2000" u="none" strike="noStrike" dirty="0">
                          <a:effectLst/>
                        </a:rPr>
                        <a:t>成本管理及成本结构</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l" fontAlgn="ctr"/>
                      <a:r>
                        <a:rPr lang="zh-CN" altLang="en-US" sz="2000" u="none" strike="noStrike" dirty="0">
                          <a:effectLst/>
                        </a:rPr>
                        <a:t>成本结构；生产流程；营运资本管理；技术的先进程度</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extLst>
                  <a:ext uri="{0D108BD9-81ED-4DB2-BD59-A6C34878D82A}">
                    <a16:rowId xmlns:a16="http://schemas.microsoft.com/office/drawing/2014/main" val="10003"/>
                  </a:ext>
                </a:extLst>
              </a:tr>
              <a:tr h="1068529">
                <a:tc>
                  <a:txBody>
                    <a:bodyPr/>
                    <a:lstStyle/>
                    <a:p>
                      <a:pPr algn="ctr" fontAlgn="ctr"/>
                      <a:r>
                        <a:rPr lang="zh-CN" altLang="en-US" sz="2000" u="none" strike="noStrike" dirty="0">
                          <a:effectLst/>
                        </a:rPr>
                        <a:t>盈利能力</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l" fontAlgn="ct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l" fontAlgn="ctr"/>
                      <a:r>
                        <a:rPr lang="zh-CN" altLang="en-US" sz="2000" u="none" strike="noStrike" dirty="0">
                          <a:effectLst/>
                        </a:rPr>
                        <a:t>盈利水平；盈利波动性</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extLst>
                  <a:ext uri="{0D108BD9-81ED-4DB2-BD59-A6C34878D82A}">
                    <a16:rowId xmlns:a16="http://schemas.microsoft.com/office/drawing/2014/main" val="10004"/>
                  </a:ext>
                </a:extLst>
              </a:tr>
            </a:tbl>
          </a:graphicData>
        </a:graphic>
      </p:graphicFrame>
      <p:sp>
        <p:nvSpPr>
          <p:cNvPr id="4" name="文本占位符 3">
            <a:extLst>
              <a:ext uri="{FF2B5EF4-FFF2-40B4-BE49-F238E27FC236}">
                <a16:creationId xmlns:a16="http://schemas.microsoft.com/office/drawing/2014/main" id="{C8C20363-1EB1-4057-9290-C11AAC455E03}"/>
              </a:ext>
            </a:extLst>
          </p:cNvPr>
          <p:cNvSpPr>
            <a:spLocks noGrp="1"/>
          </p:cNvSpPr>
          <p:nvPr>
            <p:ph type="body" idx="10"/>
          </p:nvPr>
        </p:nvSpPr>
        <p:spPr/>
        <p:txBody>
          <a:bodyPr/>
          <a:lstStyle/>
          <a:p>
            <a:r>
              <a:rPr lang="zh-CN" altLang="en-US" dirty="0"/>
              <a:t>竞争地位评估从竞争优势、经营规模、运营效率、盈利能力四个方面展开。</a:t>
            </a:r>
          </a:p>
        </p:txBody>
      </p:sp>
    </p:spTree>
    <p:extLst>
      <p:ext uri="{BB962C8B-B14F-4D97-AF65-F5344CB8AC3E}">
        <p14:creationId xmlns:p14="http://schemas.microsoft.com/office/powerpoint/2010/main" val="208106700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标普评级法：</a:t>
            </a:r>
            <a:r>
              <a:rPr lang="zh-CN" altLang="en-US" sz="3600" dirty="0"/>
              <a:t>企业经营风险分值</a:t>
            </a:r>
          </a:p>
        </p:txBody>
      </p:sp>
      <p:graphicFrame>
        <p:nvGraphicFramePr>
          <p:cNvPr id="11" name="内容占位符 10">
            <a:extLst>
              <a:ext uri="{FF2B5EF4-FFF2-40B4-BE49-F238E27FC236}">
                <a16:creationId xmlns:a16="http://schemas.microsoft.com/office/drawing/2014/main" id="{DC503DCA-5235-4602-91DD-914976A557F3}"/>
              </a:ext>
            </a:extLst>
          </p:cNvPr>
          <p:cNvGraphicFramePr>
            <a:graphicFrameLocks noGrp="1"/>
          </p:cNvGraphicFramePr>
          <p:nvPr>
            <p:ph idx="1"/>
            <p:extLst>
              <p:ext uri="{D42A27DB-BD31-4B8C-83A1-F6EECF244321}">
                <p14:modId xmlns:p14="http://schemas.microsoft.com/office/powerpoint/2010/main" val="2050085006"/>
              </p:ext>
            </p:extLst>
          </p:nvPr>
        </p:nvGraphicFramePr>
        <p:xfrm>
          <a:off x="949325" y="2581275"/>
          <a:ext cx="15467312" cy="4928871"/>
        </p:xfrm>
        <a:graphic>
          <a:graphicData uri="http://schemas.openxmlformats.org/drawingml/2006/table">
            <a:tbl>
              <a:tblPr firstRow="1" bandRow="1">
                <a:tableStyleId>{6E25E649-3F16-4E02-A733-19D2CDBF48F0}</a:tableStyleId>
              </a:tblPr>
              <a:tblGrid>
                <a:gridCol w="1841810">
                  <a:extLst>
                    <a:ext uri="{9D8B030D-6E8A-4147-A177-3AD203B41FA5}">
                      <a16:colId xmlns:a16="http://schemas.microsoft.com/office/drawing/2014/main" val="20000"/>
                    </a:ext>
                  </a:extLst>
                </a:gridCol>
                <a:gridCol w="2025018">
                  <a:extLst>
                    <a:ext uri="{9D8B030D-6E8A-4147-A177-3AD203B41FA5}">
                      <a16:colId xmlns:a16="http://schemas.microsoft.com/office/drawing/2014/main" val="20001"/>
                    </a:ext>
                  </a:extLst>
                </a:gridCol>
                <a:gridCol w="1933414">
                  <a:extLst>
                    <a:ext uri="{9D8B030D-6E8A-4147-A177-3AD203B41FA5}">
                      <a16:colId xmlns:a16="http://schemas.microsoft.com/office/drawing/2014/main" val="20002"/>
                    </a:ext>
                  </a:extLst>
                </a:gridCol>
                <a:gridCol w="1933414">
                  <a:extLst>
                    <a:ext uri="{9D8B030D-6E8A-4147-A177-3AD203B41FA5}">
                      <a16:colId xmlns:a16="http://schemas.microsoft.com/office/drawing/2014/main" val="20003"/>
                    </a:ext>
                  </a:extLst>
                </a:gridCol>
                <a:gridCol w="1933414">
                  <a:extLst>
                    <a:ext uri="{9D8B030D-6E8A-4147-A177-3AD203B41FA5}">
                      <a16:colId xmlns:a16="http://schemas.microsoft.com/office/drawing/2014/main" val="20004"/>
                    </a:ext>
                  </a:extLst>
                </a:gridCol>
                <a:gridCol w="1933414">
                  <a:extLst>
                    <a:ext uri="{9D8B030D-6E8A-4147-A177-3AD203B41FA5}">
                      <a16:colId xmlns:a16="http://schemas.microsoft.com/office/drawing/2014/main" val="20005"/>
                    </a:ext>
                  </a:extLst>
                </a:gridCol>
                <a:gridCol w="1933414">
                  <a:extLst>
                    <a:ext uri="{9D8B030D-6E8A-4147-A177-3AD203B41FA5}">
                      <a16:colId xmlns:a16="http://schemas.microsoft.com/office/drawing/2014/main" val="20006"/>
                    </a:ext>
                  </a:extLst>
                </a:gridCol>
                <a:gridCol w="1933414">
                  <a:extLst>
                    <a:ext uri="{9D8B030D-6E8A-4147-A177-3AD203B41FA5}">
                      <a16:colId xmlns:a16="http://schemas.microsoft.com/office/drawing/2014/main" val="20007"/>
                    </a:ext>
                  </a:extLst>
                </a:gridCol>
              </a:tblGrid>
              <a:tr h="600979">
                <a:tc rowSpan="2" gridSpan="2">
                  <a:txBody>
                    <a:bodyPr/>
                    <a:lstStyle/>
                    <a:p>
                      <a:pPr algn="ctr" fontAlgn="ct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8321" marR="98321" marT="37444" marB="37444" anchor="ctr"/>
                </a:tc>
                <a:tc rowSpan="2" hMerge="1">
                  <a:txBody>
                    <a:bodyPr/>
                    <a:lstStyle/>
                    <a:p>
                      <a:endParaRPr lang="zh-CN" altLang="en-US"/>
                    </a:p>
                  </a:txBody>
                  <a:tcPr/>
                </a:tc>
                <a:tc gridSpan="6">
                  <a:txBody>
                    <a:bodyPr/>
                    <a:lstStyle/>
                    <a:p>
                      <a:pPr algn="ctr" fontAlgn="ctr"/>
                      <a:r>
                        <a:rPr lang="zh-CN" altLang="en-US" sz="2000" dirty="0"/>
                        <a:t>国家和行业风险得分</a:t>
                      </a:r>
                      <a:endParaRPr 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98321" marR="98321" marT="37444" marB="37444"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722018">
                <a:tc gridSpan="2" vMerge="1">
                  <a:txBody>
                    <a:bodyPr/>
                    <a:lstStyle/>
                    <a:p>
                      <a:endParaRPr lang="zh-CN" altLang="en-US"/>
                    </a:p>
                  </a:txBody>
                  <a:tcPr/>
                </a:tc>
                <a:tc hMerge="1" vMerge="1">
                  <a:txBody>
                    <a:bodyPr/>
                    <a:lstStyle/>
                    <a:p>
                      <a:endParaRPr lang="zh-CN" altLang="en-US"/>
                    </a:p>
                  </a:txBody>
                  <a:tcPr/>
                </a:tc>
                <a:tc>
                  <a:txBody>
                    <a:bodyPr/>
                    <a:lstStyle/>
                    <a:p>
                      <a:pPr algn="ctr" fontAlgn="ctr"/>
                      <a:r>
                        <a:rPr lang="zh-CN" altLang="en-US" sz="2000" u="none" strike="noStrike" dirty="0">
                          <a:effectLst/>
                        </a:rPr>
                        <a:t>极低</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zh-CN" altLang="en-US" sz="2000" u="none" strike="noStrike" dirty="0">
                          <a:effectLst/>
                        </a:rPr>
                        <a:t>低</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zh-CN" altLang="en-US" sz="2000" u="none" strike="noStrike" dirty="0">
                          <a:effectLst/>
                        </a:rPr>
                        <a:t>中</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zh-CN" altLang="en-US" sz="2000" u="none" strike="noStrike" dirty="0">
                          <a:effectLst/>
                        </a:rPr>
                        <a:t>中高</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zh-CN" altLang="en-US" sz="2000" u="none" strike="noStrike" dirty="0">
                          <a:effectLst/>
                        </a:rPr>
                        <a:t>高</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zh-CN" altLang="en-US" sz="2000" u="none" strike="noStrike" dirty="0">
                          <a:effectLst/>
                        </a:rPr>
                        <a:t>极高</a:t>
                      </a:r>
                      <a:endParaRPr lang="zh-CN" altLang="en-US" sz="2000" b="0" i="0" u="none" strike="noStrike" dirty="0">
                        <a:solidFill>
                          <a:schemeClr val="tx1">
                            <a:lumMod val="75000"/>
                            <a:lumOff val="25000"/>
                          </a:schemeClr>
                        </a:solidFill>
                        <a:effectLst/>
                        <a:latin typeface="微软雅黑" panose="020B0503020204020204" pitchFamily="34" charset="-122"/>
                        <a:ea typeface="微软雅黑" panose="020B0503020204020204" pitchFamily="34" charset="-122"/>
                      </a:endParaRPr>
                    </a:p>
                  </a:txBody>
                  <a:tcPr marL="14515" marR="14515" marT="11056" marB="0" anchor="ctr"/>
                </a:tc>
                <a:extLst>
                  <a:ext uri="{0D108BD9-81ED-4DB2-BD59-A6C34878D82A}">
                    <a16:rowId xmlns:a16="http://schemas.microsoft.com/office/drawing/2014/main" val="10001"/>
                  </a:ext>
                </a:extLst>
              </a:tr>
              <a:tr h="600979">
                <a:tc rowSpan="6">
                  <a:txBody>
                    <a:bodyPr/>
                    <a:lstStyle/>
                    <a:p>
                      <a:pPr algn="ctr" fontAlgn="ctr"/>
                      <a:r>
                        <a:rPr lang="zh-CN" altLang="en-US" sz="2000" u="none" strike="noStrike" dirty="0">
                          <a:effectLst/>
                        </a:rPr>
                        <a:t>竞争地位</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98321" marR="98321" marT="37444" marB="37444" anchor="ctr"/>
                </a:tc>
                <a:tc>
                  <a:txBody>
                    <a:bodyPr/>
                    <a:lstStyle/>
                    <a:p>
                      <a:pPr algn="ctr" fontAlgn="ctr"/>
                      <a:r>
                        <a:rPr lang="zh-CN" altLang="en-US" sz="2000" u="none" strike="noStrike" dirty="0">
                          <a:effectLst/>
                        </a:rPr>
                        <a:t>优秀</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1</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1</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1</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2</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3</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5</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extLst>
                  <a:ext uri="{0D108BD9-81ED-4DB2-BD59-A6C34878D82A}">
                    <a16:rowId xmlns:a16="http://schemas.microsoft.com/office/drawing/2014/main" val="10002"/>
                  </a:ext>
                </a:extLst>
              </a:tr>
              <a:tr h="600979">
                <a:tc vMerge="1">
                  <a:txBody>
                    <a:bodyPr/>
                    <a:lstStyle/>
                    <a:p>
                      <a:endParaRPr lang="zh-CN" altLang="en-US"/>
                    </a:p>
                  </a:txBody>
                  <a:tcPr/>
                </a:tc>
                <a:tc>
                  <a:txBody>
                    <a:bodyPr/>
                    <a:lstStyle/>
                    <a:p>
                      <a:pPr algn="ctr" fontAlgn="ctr"/>
                      <a:r>
                        <a:rPr lang="zh-CN" altLang="en-US" sz="2000" u="none" strike="noStrike" dirty="0">
                          <a:effectLst/>
                        </a:rPr>
                        <a:t>较强</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1</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2</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2</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3</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4</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5</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extLst>
                  <a:ext uri="{0D108BD9-81ED-4DB2-BD59-A6C34878D82A}">
                    <a16:rowId xmlns:a16="http://schemas.microsoft.com/office/drawing/2014/main" val="10003"/>
                  </a:ext>
                </a:extLst>
              </a:tr>
              <a:tr h="600979">
                <a:tc vMerge="1">
                  <a:txBody>
                    <a:bodyPr/>
                    <a:lstStyle/>
                    <a:p>
                      <a:endParaRPr lang="zh-CN" altLang="en-US"/>
                    </a:p>
                  </a:txBody>
                  <a:tcPr/>
                </a:tc>
                <a:tc>
                  <a:txBody>
                    <a:bodyPr/>
                    <a:lstStyle/>
                    <a:p>
                      <a:pPr algn="ctr" fontAlgn="ctr"/>
                      <a:r>
                        <a:rPr lang="zh-CN" altLang="en-US" sz="2000" u="none" strike="noStrike" dirty="0">
                          <a:effectLst/>
                        </a:rPr>
                        <a:t>良好</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dirty="0">
                          <a:effectLst/>
                        </a:rPr>
                        <a:t>2</a:t>
                      </a:r>
                      <a:endParaRPr lang="en-US" altLang="zh-CN"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3</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3</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3</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dirty="0">
                          <a:effectLst/>
                        </a:rPr>
                        <a:t>4</a:t>
                      </a:r>
                      <a:endParaRPr lang="en-US" altLang="zh-CN"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6</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extLst>
                  <a:ext uri="{0D108BD9-81ED-4DB2-BD59-A6C34878D82A}">
                    <a16:rowId xmlns:a16="http://schemas.microsoft.com/office/drawing/2014/main" val="10004"/>
                  </a:ext>
                </a:extLst>
              </a:tr>
              <a:tr h="600979">
                <a:tc vMerge="1">
                  <a:txBody>
                    <a:bodyPr/>
                    <a:lstStyle/>
                    <a:p>
                      <a:endParaRPr lang="zh-CN" altLang="en-US"/>
                    </a:p>
                  </a:txBody>
                  <a:tcPr/>
                </a:tc>
                <a:tc>
                  <a:txBody>
                    <a:bodyPr/>
                    <a:lstStyle/>
                    <a:p>
                      <a:pPr algn="ctr" fontAlgn="ctr"/>
                      <a:r>
                        <a:rPr lang="zh-CN" altLang="en-US" sz="2000" u="none" strike="noStrike" dirty="0">
                          <a:effectLst/>
                        </a:rPr>
                        <a:t>一般</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3</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4</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4</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4</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5</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6</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extLst>
                  <a:ext uri="{0D108BD9-81ED-4DB2-BD59-A6C34878D82A}">
                    <a16:rowId xmlns:a16="http://schemas.microsoft.com/office/drawing/2014/main" val="10005"/>
                  </a:ext>
                </a:extLst>
              </a:tr>
              <a:tr h="600979">
                <a:tc vMerge="1">
                  <a:txBody>
                    <a:bodyPr/>
                    <a:lstStyle/>
                    <a:p>
                      <a:endParaRPr lang="zh-CN" altLang="en-US"/>
                    </a:p>
                  </a:txBody>
                  <a:tcPr/>
                </a:tc>
                <a:tc>
                  <a:txBody>
                    <a:bodyPr/>
                    <a:lstStyle/>
                    <a:p>
                      <a:pPr algn="ctr" fontAlgn="ctr"/>
                      <a:r>
                        <a:rPr lang="zh-CN" altLang="en-US" sz="2000" u="none" strike="noStrike" dirty="0">
                          <a:effectLst/>
                        </a:rPr>
                        <a:t>较差</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4</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dirty="0">
                          <a:effectLst/>
                        </a:rPr>
                        <a:t>5</a:t>
                      </a:r>
                      <a:endParaRPr lang="en-US" altLang="zh-CN"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5</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5</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5</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6</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extLst>
                  <a:ext uri="{0D108BD9-81ED-4DB2-BD59-A6C34878D82A}">
                    <a16:rowId xmlns:a16="http://schemas.microsoft.com/office/drawing/2014/main" val="10006"/>
                  </a:ext>
                </a:extLst>
              </a:tr>
              <a:tr h="600979">
                <a:tc vMerge="1">
                  <a:txBody>
                    <a:bodyPr/>
                    <a:lstStyle/>
                    <a:p>
                      <a:endParaRPr lang="zh-CN" altLang="en-US"/>
                    </a:p>
                  </a:txBody>
                  <a:tcPr/>
                </a:tc>
                <a:tc>
                  <a:txBody>
                    <a:bodyPr/>
                    <a:lstStyle/>
                    <a:p>
                      <a:pPr algn="ctr" fontAlgn="ctr"/>
                      <a:r>
                        <a:rPr lang="zh-CN" altLang="en-US" sz="2000" u="none" strike="noStrike" dirty="0">
                          <a:effectLst/>
                        </a:rPr>
                        <a:t>脆弱</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5</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6</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dirty="0">
                          <a:effectLst/>
                        </a:rPr>
                        <a:t>6</a:t>
                      </a:r>
                      <a:endParaRPr lang="en-US" altLang="zh-CN"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6</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a:effectLst/>
                        </a:rPr>
                        <a:t>6</a:t>
                      </a:r>
                      <a:endParaRPr lang="en-US" altLang="zh-CN" sz="2000" b="0" i="0" u="none" strike="noStrike">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tc>
                  <a:txBody>
                    <a:bodyPr/>
                    <a:lstStyle/>
                    <a:p>
                      <a:pPr algn="ctr" fontAlgn="ctr"/>
                      <a:r>
                        <a:rPr lang="en-US" altLang="zh-CN" sz="2000" u="none" strike="noStrike" dirty="0">
                          <a:effectLst/>
                        </a:rPr>
                        <a:t>6</a:t>
                      </a:r>
                      <a:endParaRPr lang="en-US" altLang="zh-CN"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4515" marR="14515" marT="11056" marB="0" anchor="ctr"/>
                </a:tc>
                <a:extLst>
                  <a:ext uri="{0D108BD9-81ED-4DB2-BD59-A6C34878D82A}">
                    <a16:rowId xmlns:a16="http://schemas.microsoft.com/office/drawing/2014/main" val="10007"/>
                  </a:ext>
                </a:extLst>
              </a:tr>
            </a:tbl>
          </a:graphicData>
        </a:graphic>
      </p:graphicFrame>
      <p:sp>
        <p:nvSpPr>
          <p:cNvPr id="3" name="文本占位符 2">
            <a:extLst>
              <a:ext uri="{FF2B5EF4-FFF2-40B4-BE49-F238E27FC236}">
                <a16:creationId xmlns:a16="http://schemas.microsoft.com/office/drawing/2014/main" id="{551D053D-DD99-4E61-87C0-B606CFD9AAEB}"/>
              </a:ext>
            </a:extLst>
          </p:cNvPr>
          <p:cNvSpPr>
            <a:spLocks noGrp="1"/>
          </p:cNvSpPr>
          <p:nvPr>
            <p:ph type="body" idx="10"/>
          </p:nvPr>
        </p:nvSpPr>
        <p:spPr/>
        <p:txBody>
          <a:bodyPr/>
          <a:lstStyle/>
          <a:p>
            <a:r>
              <a:rPr lang="zh-CN" altLang="en-US"/>
              <a:t>综合国家和行业风险得分和竞争地位，得出企业经营风险。</a:t>
            </a:r>
            <a:endParaRPr lang="zh-CN" altLang="en-US" dirty="0"/>
          </a:p>
        </p:txBody>
      </p:sp>
    </p:spTree>
    <p:extLst>
      <p:ext uri="{BB962C8B-B14F-4D97-AF65-F5344CB8AC3E}">
        <p14:creationId xmlns:p14="http://schemas.microsoft.com/office/powerpoint/2010/main" val="336570764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标普评级法：</a:t>
            </a:r>
            <a:r>
              <a:rPr lang="zh-CN" altLang="en-US" sz="3600" dirty="0"/>
              <a:t>财务风险得分</a:t>
            </a:r>
          </a:p>
        </p:txBody>
      </p:sp>
      <p:sp>
        <p:nvSpPr>
          <p:cNvPr id="6" name="文本占位符 5">
            <a:extLst>
              <a:ext uri="{FF2B5EF4-FFF2-40B4-BE49-F238E27FC236}">
                <a16:creationId xmlns:a16="http://schemas.microsoft.com/office/drawing/2014/main" id="{69985EB5-D42B-4CC0-A42E-B990D2F879CD}"/>
              </a:ext>
            </a:extLst>
          </p:cNvPr>
          <p:cNvSpPr>
            <a:spLocks noGrp="1"/>
          </p:cNvSpPr>
          <p:nvPr>
            <p:ph type="body" idx="10"/>
          </p:nvPr>
        </p:nvSpPr>
        <p:spPr/>
        <p:txBody>
          <a:bodyPr/>
          <a:lstStyle/>
          <a:p>
            <a:r>
              <a:rPr lang="zh-CN" altLang="en-US" dirty="0"/>
              <a:t>根据现金流和财务杠杆，确定财务风险得分</a:t>
            </a:r>
          </a:p>
        </p:txBody>
      </p:sp>
      <p:grpSp>
        <p:nvGrpSpPr>
          <p:cNvPr id="16" name="组合 15">
            <a:extLst>
              <a:ext uri="{FF2B5EF4-FFF2-40B4-BE49-F238E27FC236}">
                <a16:creationId xmlns:a16="http://schemas.microsoft.com/office/drawing/2014/main" id="{12D686B5-3C86-40DB-9BE5-4AA276576D99}"/>
              </a:ext>
            </a:extLst>
          </p:cNvPr>
          <p:cNvGrpSpPr/>
          <p:nvPr/>
        </p:nvGrpSpPr>
        <p:grpSpPr>
          <a:xfrm>
            <a:off x="1093867" y="3514304"/>
            <a:ext cx="15028449" cy="4065580"/>
            <a:chOff x="1555660" y="4150798"/>
            <a:chExt cx="14572899" cy="3254189"/>
          </a:xfrm>
        </p:grpSpPr>
        <p:sp>
          <p:nvSpPr>
            <p:cNvPr id="24" name="矩形 23">
              <a:extLst>
                <a:ext uri="{FF2B5EF4-FFF2-40B4-BE49-F238E27FC236}">
                  <a16:creationId xmlns:a16="http://schemas.microsoft.com/office/drawing/2014/main" id="{DEE24A4C-312F-468B-81A7-6FDD315FBABC}"/>
                </a:ext>
              </a:extLst>
            </p:cNvPr>
            <p:cNvSpPr/>
            <p:nvPr/>
          </p:nvSpPr>
          <p:spPr>
            <a:xfrm>
              <a:off x="4470277" y="4286068"/>
              <a:ext cx="1520628" cy="1316675"/>
            </a:xfrm>
            <a:prstGeom prst="rect">
              <a:avLst/>
            </a:prstGeom>
            <a:solidFill>
              <a:srgbClr val="00B0F0"/>
            </a:solidFill>
            <a:ln w="12700" cap="flat" cmpd="sng" algn="ctr">
              <a:noFill/>
              <a:prstDash val="solid"/>
              <a:miter lim="800000"/>
            </a:ln>
            <a:effectLst/>
          </p:spPr>
          <p:txBody>
            <a:bodyPr rot="0" spcFirstLastPara="0" vert="horz" wrap="square" lIns="129604" tIns="64802" rIns="129604" bIns="64802" numCol="1" spcCol="0" rtlCol="0" fromWordArt="0" anchor="ctr" anchorCtr="0" forceAA="0" compatLnSpc="1">
              <a:prstTxWarp prst="textNoShape">
                <a:avLst/>
              </a:prstTxWarp>
              <a:noAutofit/>
            </a:bodyPr>
            <a:lstStyle/>
            <a:p>
              <a:pPr algn="ct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核心偿付指标</a:t>
              </a:r>
            </a:p>
          </p:txBody>
        </p:sp>
        <p:grpSp>
          <p:nvGrpSpPr>
            <p:cNvPr id="7" name="组合 6">
              <a:extLst>
                <a:ext uri="{FF2B5EF4-FFF2-40B4-BE49-F238E27FC236}">
                  <a16:creationId xmlns:a16="http://schemas.microsoft.com/office/drawing/2014/main" id="{6504185B-2BC0-46BE-B057-9E39EB7E5290}"/>
                </a:ext>
              </a:extLst>
            </p:cNvPr>
            <p:cNvGrpSpPr/>
            <p:nvPr/>
          </p:nvGrpSpPr>
          <p:grpSpPr>
            <a:xfrm>
              <a:off x="4470278" y="6049724"/>
              <a:ext cx="5077677" cy="1077218"/>
              <a:chOff x="2455888" y="5890058"/>
              <a:chExt cx="1640840" cy="1221035"/>
            </a:xfrm>
          </p:grpSpPr>
          <p:sp>
            <p:nvSpPr>
              <p:cNvPr id="25" name="矩形 24">
                <a:extLst>
                  <a:ext uri="{FF2B5EF4-FFF2-40B4-BE49-F238E27FC236}">
                    <a16:creationId xmlns:a16="http://schemas.microsoft.com/office/drawing/2014/main" id="{5D154B12-C2F3-4EA0-9B92-64F2A9C35903}"/>
                  </a:ext>
                </a:extLst>
              </p:cNvPr>
              <p:cNvSpPr/>
              <p:nvPr/>
            </p:nvSpPr>
            <p:spPr>
              <a:xfrm>
                <a:off x="2455888" y="5890058"/>
                <a:ext cx="1640840" cy="566427"/>
              </a:xfrm>
              <a:prstGeom prst="rect">
                <a:avLst/>
              </a:prstGeom>
              <a:solidFill>
                <a:srgbClr val="7F7F7F"/>
              </a:solidFill>
              <a:ln w="12700" cap="flat" cmpd="sng" algn="ctr">
                <a:noFill/>
                <a:prstDash val="solid"/>
                <a:miter lim="800000"/>
              </a:ln>
              <a:effectLst/>
            </p:spPr>
            <p:txBody>
              <a:bodyPr rot="0" spcFirstLastPara="0" vert="horz" wrap="square" lIns="129604" tIns="64802" rIns="129604" bIns="64802" numCol="1" spcCol="0" rtlCol="0" fromWordArt="0" anchor="ctr" anchorCtr="0" forceAA="0" compatLnSpc="1">
                <a:prstTxWarp prst="textNoShape">
                  <a:avLst/>
                </a:prstTxWarp>
                <a:noAutofit/>
              </a:bodyPr>
              <a:lstStyle/>
              <a:p>
                <a:pPr algn="ct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补充指标</a:t>
                </a:r>
                <a:endPar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矩形 30">
                <a:extLst>
                  <a:ext uri="{FF2B5EF4-FFF2-40B4-BE49-F238E27FC236}">
                    <a16:creationId xmlns:a16="http://schemas.microsoft.com/office/drawing/2014/main" id="{CB67AC0E-1D34-4F1E-AA5F-659B19609542}"/>
                  </a:ext>
                </a:extLst>
              </p:cNvPr>
              <p:cNvSpPr/>
              <p:nvPr/>
            </p:nvSpPr>
            <p:spPr>
              <a:xfrm>
                <a:off x="2455888" y="6481727"/>
                <a:ext cx="1640840" cy="629366"/>
              </a:xfrm>
              <a:prstGeom prst="rect">
                <a:avLst/>
              </a:prstGeom>
              <a:solidFill>
                <a:srgbClr val="7F7F7F"/>
              </a:solidFill>
              <a:ln w="12700" cap="flat" cmpd="sng" algn="ctr">
                <a:noFill/>
                <a:prstDash val="solid"/>
                <a:miter lim="800000"/>
              </a:ln>
              <a:effectLst/>
            </p:spPr>
            <p:txBody>
              <a:bodyPr rot="0" spcFirstLastPara="0" vert="horz" wrap="square" lIns="129604" tIns="64802" rIns="129604" bIns="64802" numCol="1" spcCol="0" rtlCol="0" fromWordArt="0" anchor="ctr" anchorCtr="0" forceAA="0" compatLnSpc="1">
                <a:prstTxWarp prst="textNoShape">
                  <a:avLst/>
                </a:prstTxWarp>
                <a:noAutofit/>
              </a:bodyPr>
              <a:lstStyle/>
              <a:p>
                <a:pPr algn="ct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其他附加指标</a:t>
                </a:r>
              </a:p>
            </p:txBody>
          </p:sp>
        </p:grpSp>
        <p:sp>
          <p:nvSpPr>
            <p:cNvPr id="32" name="矩形 31">
              <a:extLst>
                <a:ext uri="{FF2B5EF4-FFF2-40B4-BE49-F238E27FC236}">
                  <a16:creationId xmlns:a16="http://schemas.microsoft.com/office/drawing/2014/main" id="{13B325B8-FB68-4E8D-9A18-146F900D2BC1}"/>
                </a:ext>
              </a:extLst>
            </p:cNvPr>
            <p:cNvSpPr/>
            <p:nvPr/>
          </p:nvSpPr>
          <p:spPr>
            <a:xfrm>
              <a:off x="8074097" y="4266567"/>
              <a:ext cx="1473857" cy="1336176"/>
            </a:xfrm>
            <a:prstGeom prst="rect">
              <a:avLst/>
            </a:prstGeom>
            <a:solidFill>
              <a:schemeClr val="accent6"/>
            </a:solidFill>
            <a:ln w="12700" cap="flat" cmpd="sng" algn="ctr">
              <a:noFill/>
              <a:prstDash val="solid"/>
              <a:miter lim="800000"/>
            </a:ln>
            <a:effectLst/>
          </p:spPr>
          <p:txBody>
            <a:bodyPr rot="0" spcFirstLastPara="0" vert="horz" wrap="square" lIns="129604" tIns="64802" rIns="129604" bIns="64802" numCol="1" spcCol="0" rtlCol="0" fromWordArt="0" anchor="ctr" anchorCtr="0" forceAA="0" compatLnSpc="1">
              <a:prstTxWarp prst="textNoShape">
                <a:avLst/>
              </a:prstTxWarp>
              <a:noAutofit/>
            </a:bodyPr>
            <a:lstStyle/>
            <a:p>
              <a:pPr algn="ct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财务风险得分</a:t>
              </a:r>
            </a:p>
          </p:txBody>
        </p:sp>
        <p:sp>
          <p:nvSpPr>
            <p:cNvPr id="4" name="箭头: 右 3">
              <a:extLst>
                <a:ext uri="{FF2B5EF4-FFF2-40B4-BE49-F238E27FC236}">
                  <a16:creationId xmlns:a16="http://schemas.microsoft.com/office/drawing/2014/main" id="{F098A548-5E1F-4BD9-B6B8-2F5784971097}"/>
                </a:ext>
              </a:extLst>
            </p:cNvPr>
            <p:cNvSpPr/>
            <p:nvPr/>
          </p:nvSpPr>
          <p:spPr>
            <a:xfrm>
              <a:off x="6127476" y="4650125"/>
              <a:ext cx="1835861" cy="563786"/>
            </a:xfrm>
            <a:prstGeom prst="rightArrow">
              <a:avLst>
                <a:gd name="adj1" fmla="val 38901"/>
                <a:gd name="adj2" fmla="val 3890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 name="矩形 8">
              <a:extLst>
                <a:ext uri="{FF2B5EF4-FFF2-40B4-BE49-F238E27FC236}">
                  <a16:creationId xmlns:a16="http://schemas.microsoft.com/office/drawing/2014/main" id="{7B5630EC-7A7E-4228-B18C-88B07C3EF2E8}"/>
                </a:ext>
              </a:extLst>
            </p:cNvPr>
            <p:cNvSpPr/>
            <p:nvPr/>
          </p:nvSpPr>
          <p:spPr>
            <a:xfrm>
              <a:off x="6198876" y="4458486"/>
              <a:ext cx="1634499" cy="369528"/>
            </a:xfrm>
            <a:prstGeom prst="rect">
              <a:avLst/>
            </a:prstGeom>
          </p:spPr>
          <p:txBody>
            <a:bodyPr wrap="square">
              <a:spAutoFit/>
            </a:bodyPr>
            <a:lstStyle/>
            <a:p>
              <a:r>
                <a:rPr lang="zh-CN" altLang="en-US" sz="24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建立映射</a:t>
              </a:r>
              <a:endParaRPr lang="zh-CN" altLang="en-US" sz="2400" dirty="0"/>
            </a:p>
          </p:txBody>
        </p:sp>
        <p:sp>
          <p:nvSpPr>
            <p:cNvPr id="10" name="矩形 9">
              <a:extLst>
                <a:ext uri="{FF2B5EF4-FFF2-40B4-BE49-F238E27FC236}">
                  <a16:creationId xmlns:a16="http://schemas.microsoft.com/office/drawing/2014/main" id="{E02C07BE-4588-4606-8DD4-77239BE29764}"/>
                </a:ext>
              </a:extLst>
            </p:cNvPr>
            <p:cNvSpPr/>
            <p:nvPr/>
          </p:nvSpPr>
          <p:spPr>
            <a:xfrm>
              <a:off x="10008348" y="5208814"/>
              <a:ext cx="519233" cy="1256394"/>
            </a:xfrm>
            <a:prstGeom prst="rect">
              <a:avLst/>
            </a:prstGeom>
          </p:spPr>
          <p:txBody>
            <a:bodyPr wrap="square">
              <a:spAutoFit/>
            </a:bodyPr>
            <a:lstStyle/>
            <a:p>
              <a:r>
                <a:rPr lang="zh-CN" altLang="en-US" sz="24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确定</a:t>
              </a:r>
              <a:endParaRPr lang="en-US" altLang="zh-CN" sz="24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sz="24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权重</a:t>
              </a:r>
              <a:endParaRPr lang="zh-CN" altLang="en-US" sz="2400" dirty="0"/>
            </a:p>
          </p:txBody>
        </p:sp>
        <p:sp>
          <p:nvSpPr>
            <p:cNvPr id="13" name="右大括号 12">
              <a:extLst>
                <a:ext uri="{FF2B5EF4-FFF2-40B4-BE49-F238E27FC236}">
                  <a16:creationId xmlns:a16="http://schemas.microsoft.com/office/drawing/2014/main" id="{CB0238E2-ACA8-4E0E-9AEB-79944698F950}"/>
                </a:ext>
              </a:extLst>
            </p:cNvPr>
            <p:cNvSpPr/>
            <p:nvPr/>
          </p:nvSpPr>
          <p:spPr>
            <a:xfrm>
              <a:off x="10102400" y="4150799"/>
              <a:ext cx="723441" cy="3254188"/>
            </a:xfrm>
            <a:prstGeom prst="rightBrace">
              <a:avLst>
                <a:gd name="adj1" fmla="val 43666"/>
                <a:gd name="adj2" fmla="val 52687"/>
              </a:avLst>
            </a:prstGeom>
            <a:ln w="63500">
              <a:solidFill>
                <a:schemeClr val="accent2"/>
              </a:soli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35" name="矩形 34">
              <a:extLst>
                <a:ext uri="{FF2B5EF4-FFF2-40B4-BE49-F238E27FC236}">
                  <a16:creationId xmlns:a16="http://schemas.microsoft.com/office/drawing/2014/main" id="{64317AB7-F792-4208-B59B-6B724D618B50}"/>
                </a:ext>
              </a:extLst>
            </p:cNvPr>
            <p:cNvSpPr/>
            <p:nvPr/>
          </p:nvSpPr>
          <p:spPr>
            <a:xfrm>
              <a:off x="11307216" y="5228150"/>
              <a:ext cx="1392266" cy="1138157"/>
            </a:xfrm>
            <a:prstGeom prst="rect">
              <a:avLst/>
            </a:prstGeom>
            <a:solidFill>
              <a:schemeClr val="accent5"/>
            </a:solidFill>
            <a:ln w="12700" cap="flat" cmpd="sng" algn="ctr">
              <a:noFill/>
              <a:prstDash val="solid"/>
              <a:miter lim="800000"/>
            </a:ln>
            <a:effectLst/>
          </p:spPr>
          <p:txBody>
            <a:bodyPr rot="0" spcFirstLastPara="0" vert="horz" wrap="square" lIns="129604" tIns="64802" rIns="129604" bIns="64802" numCol="1" spcCol="0" rtlCol="0" fromWordArt="0" anchor="ctr" anchorCtr="0" forceAA="0" compatLnSpc="1">
              <a:prstTxWarp prst="textNoShape">
                <a:avLst/>
              </a:prstTxWarp>
              <a:noAutofit/>
            </a:bodyPr>
            <a:lstStyle/>
            <a:p>
              <a:pPr algn="ct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调整后风险得分</a:t>
              </a:r>
            </a:p>
          </p:txBody>
        </p:sp>
        <p:sp>
          <p:nvSpPr>
            <p:cNvPr id="14" name="流程图: 磁盘 13">
              <a:extLst>
                <a:ext uri="{FF2B5EF4-FFF2-40B4-BE49-F238E27FC236}">
                  <a16:creationId xmlns:a16="http://schemas.microsoft.com/office/drawing/2014/main" id="{1E478487-CD46-491A-A906-303CD7C9933D}"/>
                </a:ext>
              </a:extLst>
            </p:cNvPr>
            <p:cNvSpPr/>
            <p:nvPr/>
          </p:nvSpPr>
          <p:spPr>
            <a:xfrm>
              <a:off x="1555660" y="4458486"/>
              <a:ext cx="1584617" cy="2495809"/>
            </a:xfrm>
            <a:prstGeom prst="flowChartMagneticDisk">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近</a:t>
              </a:r>
              <a:r>
                <a:rPr lang="en-US" altLang="zh-CN" sz="2400" b="1"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2400" b="1"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年的财务数据</a:t>
              </a:r>
              <a:endParaRPr lang="en-US" altLang="zh-CN" sz="2400" b="1"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箭头: 右 42">
              <a:extLst>
                <a:ext uri="{FF2B5EF4-FFF2-40B4-BE49-F238E27FC236}">
                  <a16:creationId xmlns:a16="http://schemas.microsoft.com/office/drawing/2014/main" id="{F49EBCBC-1D2C-4A8C-BCAC-FF2EFF0EBDE6}"/>
                </a:ext>
              </a:extLst>
            </p:cNvPr>
            <p:cNvSpPr/>
            <p:nvPr/>
          </p:nvSpPr>
          <p:spPr>
            <a:xfrm>
              <a:off x="12836053" y="5602744"/>
              <a:ext cx="1677784" cy="484632"/>
            </a:xfrm>
            <a:prstGeom prst="rightArrow">
              <a:avLst>
                <a:gd name="adj1" fmla="val 38901"/>
                <a:gd name="adj2" fmla="val 3890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4" name="矩形 43">
              <a:extLst>
                <a:ext uri="{FF2B5EF4-FFF2-40B4-BE49-F238E27FC236}">
                  <a16:creationId xmlns:a16="http://schemas.microsoft.com/office/drawing/2014/main" id="{6C7CB4B1-6D5C-4E0C-85B3-92B5E9AC2E5F}"/>
                </a:ext>
              </a:extLst>
            </p:cNvPr>
            <p:cNvSpPr/>
            <p:nvPr/>
          </p:nvSpPr>
          <p:spPr>
            <a:xfrm>
              <a:off x="12699481" y="5302365"/>
              <a:ext cx="1869816" cy="369528"/>
            </a:xfrm>
            <a:prstGeom prst="rect">
              <a:avLst/>
            </a:prstGeom>
          </p:spPr>
          <p:txBody>
            <a:bodyPr wrap="square">
              <a:spAutoFit/>
            </a:bodyPr>
            <a:lstStyle/>
            <a:p>
              <a:pPr algn="ctr"/>
              <a:r>
                <a:rPr lang="zh-CN" altLang="en-US" sz="24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波动性调整</a:t>
              </a:r>
              <a:endParaRPr lang="en-US" altLang="zh-CN" sz="24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5" name="矩形 44">
              <a:extLst>
                <a:ext uri="{FF2B5EF4-FFF2-40B4-BE49-F238E27FC236}">
                  <a16:creationId xmlns:a16="http://schemas.microsoft.com/office/drawing/2014/main" id="{B6F41728-74B1-43B3-884F-76245D68D830}"/>
                </a:ext>
              </a:extLst>
            </p:cNvPr>
            <p:cNvSpPr/>
            <p:nvPr/>
          </p:nvSpPr>
          <p:spPr>
            <a:xfrm>
              <a:off x="14650409" y="5208814"/>
              <a:ext cx="1478150" cy="1138157"/>
            </a:xfrm>
            <a:prstGeom prst="rect">
              <a:avLst/>
            </a:prstGeom>
            <a:solidFill>
              <a:srgbClr val="C00000"/>
            </a:solidFill>
            <a:ln w="12700" cap="flat" cmpd="sng" algn="ctr">
              <a:noFill/>
              <a:prstDash val="solid"/>
              <a:miter lim="800000"/>
            </a:ln>
            <a:effectLst/>
          </p:spPr>
          <p:txBody>
            <a:bodyPr rot="0" spcFirstLastPara="0" vert="horz" wrap="square" lIns="129604" tIns="64802" rIns="129604" bIns="64802" numCol="1" spcCol="0" rtlCol="0" fromWordArt="0" anchor="ctr" anchorCtr="0" forceAA="0" compatLnSpc="1">
              <a:prstTxWarp prst="textNoShape">
                <a:avLst/>
              </a:prstTxWarp>
              <a:noAutofit/>
            </a:bodyPr>
            <a:lstStyle/>
            <a:p>
              <a:pPr algn="ct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最终财务风险得分</a:t>
              </a:r>
            </a:p>
          </p:txBody>
        </p:sp>
        <p:sp>
          <p:nvSpPr>
            <p:cNvPr id="48" name="右大括号 47">
              <a:extLst>
                <a:ext uri="{FF2B5EF4-FFF2-40B4-BE49-F238E27FC236}">
                  <a16:creationId xmlns:a16="http://schemas.microsoft.com/office/drawing/2014/main" id="{35AD582B-A470-4A90-9125-D4CBD3D7435E}"/>
                </a:ext>
              </a:extLst>
            </p:cNvPr>
            <p:cNvSpPr/>
            <p:nvPr/>
          </p:nvSpPr>
          <p:spPr>
            <a:xfrm flipH="1">
              <a:off x="4000870" y="4150798"/>
              <a:ext cx="362414" cy="3254188"/>
            </a:xfrm>
            <a:prstGeom prst="rightBrace">
              <a:avLst>
                <a:gd name="adj1" fmla="val 43666"/>
                <a:gd name="adj2" fmla="val 52687"/>
              </a:avLst>
            </a:prstGeom>
            <a:ln w="63500">
              <a:solidFill>
                <a:schemeClr val="accent2"/>
              </a:soli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49" name="矩形 48">
              <a:extLst>
                <a:ext uri="{FF2B5EF4-FFF2-40B4-BE49-F238E27FC236}">
                  <a16:creationId xmlns:a16="http://schemas.microsoft.com/office/drawing/2014/main" id="{D7C19F9B-EE84-42B3-BE98-4765918CBD88}"/>
                </a:ext>
              </a:extLst>
            </p:cNvPr>
            <p:cNvSpPr/>
            <p:nvPr/>
          </p:nvSpPr>
          <p:spPr>
            <a:xfrm>
              <a:off x="3397749" y="5375787"/>
              <a:ext cx="519233" cy="1256394"/>
            </a:xfrm>
            <a:prstGeom prst="rect">
              <a:avLst/>
            </a:prstGeom>
          </p:spPr>
          <p:txBody>
            <a:bodyPr wrap="square">
              <a:spAutoFit/>
            </a:bodyPr>
            <a:lstStyle/>
            <a:p>
              <a:r>
                <a:rPr lang="zh-CN" altLang="en-US" sz="24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数据提取</a:t>
              </a:r>
              <a:endParaRPr lang="zh-CN" altLang="en-US" sz="2400" dirty="0"/>
            </a:p>
          </p:txBody>
        </p:sp>
      </p:grpSp>
    </p:spTree>
    <p:extLst>
      <p:ext uri="{BB962C8B-B14F-4D97-AF65-F5344CB8AC3E}">
        <p14:creationId xmlns:p14="http://schemas.microsoft.com/office/powerpoint/2010/main" val="68899347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标普评级法：</a:t>
            </a:r>
            <a:r>
              <a:rPr lang="zh-CN" altLang="en-US" sz="3600" dirty="0"/>
              <a:t>主体级别锚</a:t>
            </a:r>
          </a:p>
        </p:txBody>
      </p:sp>
      <p:graphicFrame>
        <p:nvGraphicFramePr>
          <p:cNvPr id="11" name="内容占位符 10">
            <a:extLst>
              <a:ext uri="{FF2B5EF4-FFF2-40B4-BE49-F238E27FC236}">
                <a16:creationId xmlns:a16="http://schemas.microsoft.com/office/drawing/2014/main" id="{1C6596D5-3F1F-48A2-833D-C2792788391E}"/>
              </a:ext>
            </a:extLst>
          </p:cNvPr>
          <p:cNvGraphicFramePr>
            <a:graphicFrameLocks noGrp="1"/>
          </p:cNvGraphicFramePr>
          <p:nvPr>
            <p:ph idx="1"/>
            <p:extLst>
              <p:ext uri="{D42A27DB-BD31-4B8C-83A1-F6EECF244321}">
                <p14:modId xmlns:p14="http://schemas.microsoft.com/office/powerpoint/2010/main" val="14810029"/>
              </p:ext>
            </p:extLst>
          </p:nvPr>
        </p:nvGraphicFramePr>
        <p:xfrm>
          <a:off x="949325" y="2581276"/>
          <a:ext cx="15467599" cy="5991223"/>
        </p:xfrm>
        <a:graphic>
          <a:graphicData uri="http://schemas.openxmlformats.org/drawingml/2006/table">
            <a:tbl>
              <a:tblPr firstRow="1" bandRow="1">
                <a:tableStyleId>{6E25E649-3F16-4E02-A733-19D2CDBF48F0}</a:tableStyleId>
              </a:tblPr>
              <a:tblGrid>
                <a:gridCol w="1702059">
                  <a:extLst>
                    <a:ext uri="{9D8B030D-6E8A-4147-A177-3AD203B41FA5}">
                      <a16:colId xmlns:a16="http://schemas.microsoft.com/office/drawing/2014/main" val="20000"/>
                    </a:ext>
                  </a:extLst>
                </a:gridCol>
                <a:gridCol w="1874162">
                  <a:extLst>
                    <a:ext uri="{9D8B030D-6E8A-4147-A177-3AD203B41FA5}">
                      <a16:colId xmlns:a16="http://schemas.microsoft.com/office/drawing/2014/main" val="20001"/>
                    </a:ext>
                  </a:extLst>
                </a:gridCol>
                <a:gridCol w="2224128">
                  <a:extLst>
                    <a:ext uri="{9D8B030D-6E8A-4147-A177-3AD203B41FA5}">
                      <a16:colId xmlns:a16="http://schemas.microsoft.com/office/drawing/2014/main" val="20002"/>
                    </a:ext>
                  </a:extLst>
                </a:gridCol>
                <a:gridCol w="1933450">
                  <a:extLst>
                    <a:ext uri="{9D8B030D-6E8A-4147-A177-3AD203B41FA5}">
                      <a16:colId xmlns:a16="http://schemas.microsoft.com/office/drawing/2014/main" val="20003"/>
                    </a:ext>
                  </a:extLst>
                </a:gridCol>
                <a:gridCol w="1933450">
                  <a:extLst>
                    <a:ext uri="{9D8B030D-6E8A-4147-A177-3AD203B41FA5}">
                      <a16:colId xmlns:a16="http://schemas.microsoft.com/office/drawing/2014/main" val="20004"/>
                    </a:ext>
                  </a:extLst>
                </a:gridCol>
                <a:gridCol w="1933450">
                  <a:extLst>
                    <a:ext uri="{9D8B030D-6E8A-4147-A177-3AD203B41FA5}">
                      <a16:colId xmlns:a16="http://schemas.microsoft.com/office/drawing/2014/main" val="20005"/>
                    </a:ext>
                  </a:extLst>
                </a:gridCol>
                <a:gridCol w="1933450">
                  <a:extLst>
                    <a:ext uri="{9D8B030D-6E8A-4147-A177-3AD203B41FA5}">
                      <a16:colId xmlns:a16="http://schemas.microsoft.com/office/drawing/2014/main" val="20006"/>
                    </a:ext>
                  </a:extLst>
                </a:gridCol>
                <a:gridCol w="1933450">
                  <a:extLst>
                    <a:ext uri="{9D8B030D-6E8A-4147-A177-3AD203B41FA5}">
                      <a16:colId xmlns:a16="http://schemas.microsoft.com/office/drawing/2014/main" val="20007"/>
                    </a:ext>
                  </a:extLst>
                </a:gridCol>
              </a:tblGrid>
              <a:tr h="547043">
                <a:tc rowSpan="2" gridSpan="2">
                  <a:txBody>
                    <a:bodyPr/>
                    <a:lstStyle/>
                    <a:p>
                      <a:pPr algn="ctr" fontAlgn="ctr"/>
                      <a:endParaRPr lang="zh-CN" altLang="en-US" sz="2000" b="0" i="0" u="none" strike="noStrike" dirty="0">
                        <a:solidFill>
                          <a:srgbClr val="000000"/>
                        </a:solidFill>
                        <a:effectLst/>
                        <a:latin typeface="+mj-ea"/>
                        <a:ea typeface="+mj-ea"/>
                      </a:endParaRPr>
                    </a:p>
                  </a:txBody>
                  <a:tcPr marL="13578" marR="13578" marT="13500" marB="0" anchor="ctr"/>
                </a:tc>
                <a:tc rowSpan="2" hMerge="1">
                  <a:txBody>
                    <a:bodyPr/>
                    <a:lstStyle/>
                    <a:p>
                      <a:endParaRPr lang="zh-CN" altLang="en-US"/>
                    </a:p>
                  </a:txBody>
                  <a:tcPr/>
                </a:tc>
                <a:tc gridSpan="6">
                  <a:txBody>
                    <a:bodyPr/>
                    <a:lstStyle/>
                    <a:p>
                      <a:pPr algn="ctr" fontAlgn="ctr"/>
                      <a:r>
                        <a:rPr lang="zh-CN" altLang="en-US" sz="2000" u="none" strike="noStrike" dirty="0">
                          <a:effectLst/>
                        </a:rPr>
                        <a:t>财务风险</a:t>
                      </a:r>
                      <a:endParaRPr lang="zh-CN" altLang="en-US" sz="2000" b="1" i="0" u="none" strike="noStrike" dirty="0">
                        <a:solidFill>
                          <a:schemeClr val="bg1"/>
                        </a:solidFill>
                        <a:effectLst/>
                        <a:latin typeface="+mj-ea"/>
                        <a:ea typeface="+mj-ea"/>
                      </a:endParaRPr>
                    </a:p>
                  </a:txBody>
                  <a:tcPr marL="13578" marR="13578" marT="1350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676305">
                <a:tc gridSpan="2" vMerge="1">
                  <a:txBody>
                    <a:bodyPr/>
                    <a:lstStyle/>
                    <a:p>
                      <a:endParaRPr lang="zh-CN" altLang="en-US"/>
                    </a:p>
                  </a:txBody>
                  <a:tcPr/>
                </a:tc>
                <a:tc hMerge="1" vMerge="1">
                  <a:txBody>
                    <a:bodyPr/>
                    <a:lstStyle/>
                    <a:p>
                      <a:endParaRPr lang="zh-CN" altLang="en-US"/>
                    </a:p>
                  </a:txBody>
                  <a:tcPr/>
                </a:tc>
                <a:tc>
                  <a:txBody>
                    <a:bodyPr/>
                    <a:lstStyle/>
                    <a:p>
                      <a:pPr algn="ctr" fontAlgn="ctr"/>
                      <a:r>
                        <a:rPr lang="zh-CN" altLang="en-US" sz="2000" u="none" strike="noStrike" dirty="0">
                          <a:effectLst/>
                        </a:rPr>
                        <a:t>极小</a:t>
                      </a:r>
                      <a:endParaRPr lang="zh-CN" altLang="en-US" sz="2000" b="1" i="0" u="none" strike="noStrike" dirty="0">
                        <a:solidFill>
                          <a:schemeClr val="bg1"/>
                        </a:solidFill>
                        <a:effectLst/>
                        <a:latin typeface="+mj-ea"/>
                        <a:ea typeface="+mj-ea"/>
                      </a:endParaRPr>
                    </a:p>
                  </a:txBody>
                  <a:tcPr marL="13578" marR="13578" marT="13500" marB="0" anchor="ctr"/>
                </a:tc>
                <a:tc>
                  <a:txBody>
                    <a:bodyPr/>
                    <a:lstStyle/>
                    <a:p>
                      <a:pPr algn="ctr" fontAlgn="ctr"/>
                      <a:r>
                        <a:rPr lang="zh-CN" altLang="en-US" sz="2000" u="none" strike="noStrike" dirty="0">
                          <a:effectLst/>
                        </a:rPr>
                        <a:t>适度</a:t>
                      </a:r>
                      <a:endParaRPr lang="zh-CN" altLang="en-US" sz="2000" b="1" i="0" u="none" strike="noStrike" dirty="0">
                        <a:solidFill>
                          <a:schemeClr val="bg1"/>
                        </a:solidFill>
                        <a:effectLst/>
                        <a:latin typeface="+mj-ea"/>
                        <a:ea typeface="+mj-ea"/>
                      </a:endParaRPr>
                    </a:p>
                  </a:txBody>
                  <a:tcPr marL="13578" marR="13578" marT="13500" marB="0" anchor="ctr"/>
                </a:tc>
                <a:tc>
                  <a:txBody>
                    <a:bodyPr/>
                    <a:lstStyle/>
                    <a:p>
                      <a:pPr algn="ctr" fontAlgn="ctr"/>
                      <a:r>
                        <a:rPr lang="zh-CN" altLang="en-US" sz="2000" u="none" strike="noStrike" dirty="0">
                          <a:effectLst/>
                        </a:rPr>
                        <a:t>中等</a:t>
                      </a:r>
                      <a:endParaRPr lang="zh-CN" altLang="en-US" sz="2000" b="1" i="0" u="none" strike="noStrike" dirty="0">
                        <a:solidFill>
                          <a:schemeClr val="bg1"/>
                        </a:solidFill>
                        <a:effectLst/>
                        <a:latin typeface="+mj-ea"/>
                        <a:ea typeface="+mj-ea"/>
                      </a:endParaRPr>
                    </a:p>
                  </a:txBody>
                  <a:tcPr marL="13578" marR="13578" marT="13500" marB="0" anchor="ctr"/>
                </a:tc>
                <a:tc>
                  <a:txBody>
                    <a:bodyPr/>
                    <a:lstStyle/>
                    <a:p>
                      <a:pPr algn="ctr" fontAlgn="ctr"/>
                      <a:r>
                        <a:rPr lang="zh-CN" altLang="en-US" sz="2000" u="none" strike="noStrike" dirty="0">
                          <a:effectLst/>
                        </a:rPr>
                        <a:t>显著</a:t>
                      </a:r>
                      <a:endParaRPr lang="zh-CN" altLang="en-US" sz="2000" b="1" i="0" u="none" strike="noStrike" dirty="0">
                        <a:solidFill>
                          <a:schemeClr val="bg1"/>
                        </a:solidFill>
                        <a:effectLst/>
                        <a:latin typeface="+mj-ea"/>
                        <a:ea typeface="+mj-ea"/>
                      </a:endParaRPr>
                    </a:p>
                  </a:txBody>
                  <a:tcPr marL="13578" marR="13578" marT="13500" marB="0" anchor="ctr"/>
                </a:tc>
                <a:tc>
                  <a:txBody>
                    <a:bodyPr/>
                    <a:lstStyle/>
                    <a:p>
                      <a:pPr algn="ctr" fontAlgn="ctr"/>
                      <a:r>
                        <a:rPr lang="zh-CN" altLang="en-US" sz="2000" u="none" strike="noStrike" dirty="0">
                          <a:effectLst/>
                        </a:rPr>
                        <a:t>激进</a:t>
                      </a:r>
                      <a:endParaRPr lang="zh-CN" altLang="en-US" sz="2000" b="1" i="0" u="none" strike="noStrike" dirty="0">
                        <a:solidFill>
                          <a:schemeClr val="bg1"/>
                        </a:solidFill>
                        <a:effectLst/>
                        <a:latin typeface="+mj-ea"/>
                        <a:ea typeface="+mj-ea"/>
                      </a:endParaRPr>
                    </a:p>
                  </a:txBody>
                  <a:tcPr marL="13578" marR="13578" marT="13500" marB="0" anchor="ctr"/>
                </a:tc>
                <a:tc>
                  <a:txBody>
                    <a:bodyPr/>
                    <a:lstStyle/>
                    <a:p>
                      <a:pPr algn="ctr" fontAlgn="ctr"/>
                      <a:r>
                        <a:rPr lang="zh-CN" altLang="en-US" sz="2000" u="none" strike="noStrike" dirty="0">
                          <a:effectLst/>
                        </a:rPr>
                        <a:t>高杠杆</a:t>
                      </a:r>
                      <a:endParaRPr lang="zh-CN" altLang="en-US" sz="2000" b="1" i="0" u="none" strike="noStrike" dirty="0">
                        <a:solidFill>
                          <a:schemeClr val="bg1"/>
                        </a:solidFill>
                        <a:effectLst/>
                        <a:latin typeface="+mj-ea"/>
                        <a:ea typeface="+mj-ea"/>
                      </a:endParaRPr>
                    </a:p>
                  </a:txBody>
                  <a:tcPr marL="13578" marR="13578" marT="13500" marB="0" anchor="ctr"/>
                </a:tc>
                <a:extLst>
                  <a:ext uri="{0D108BD9-81ED-4DB2-BD59-A6C34878D82A}">
                    <a16:rowId xmlns:a16="http://schemas.microsoft.com/office/drawing/2014/main" val="10001"/>
                  </a:ext>
                </a:extLst>
              </a:tr>
              <a:tr h="849571">
                <a:tc rowSpan="6">
                  <a:txBody>
                    <a:bodyPr/>
                    <a:lstStyle/>
                    <a:p>
                      <a:pPr algn="ctr" fontAlgn="ctr"/>
                      <a:r>
                        <a:rPr lang="zh-CN" altLang="en-US" sz="2000" u="none" strike="noStrike" dirty="0">
                          <a:effectLst/>
                        </a:rPr>
                        <a:t>经营风险</a:t>
                      </a:r>
                      <a:endParaRPr lang="zh-CN" altLang="en-US" sz="2000" b="1" i="0" u="none" strike="noStrike" dirty="0">
                        <a:solidFill>
                          <a:schemeClr val="bg1"/>
                        </a:solidFill>
                        <a:effectLst/>
                        <a:latin typeface="+mj-ea"/>
                        <a:ea typeface="+mj-ea"/>
                      </a:endParaRPr>
                    </a:p>
                  </a:txBody>
                  <a:tcPr marL="13578" marR="13578" marT="13500" marB="0" anchor="ctr"/>
                </a:tc>
                <a:tc>
                  <a:txBody>
                    <a:bodyPr/>
                    <a:lstStyle/>
                    <a:p>
                      <a:pPr algn="ctr" fontAlgn="ctr"/>
                      <a:r>
                        <a:rPr lang="zh-CN" altLang="en-US" sz="2000" u="none" strike="noStrike" dirty="0">
                          <a:effectLst/>
                        </a:rPr>
                        <a:t>优秀</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78" marR="13578" marT="13500" marB="0" anchor="ctr"/>
                </a:tc>
                <a:tc>
                  <a:txBody>
                    <a:bodyPr/>
                    <a:lstStyle/>
                    <a:p>
                      <a:pPr algn="ctr" fontAlgn="ctr"/>
                      <a:r>
                        <a:rPr lang="en-US" sz="2000" u="none" strike="noStrike" dirty="0">
                          <a:effectLst/>
                        </a:rPr>
                        <a:t>AAA/AA+</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AA</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A+/A</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A-</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BBB-/BB+</a:t>
                      </a:r>
                      <a:endParaRPr lang="en-US" sz="2000" b="0" i="0" u="none" strike="noStrike" dirty="0">
                        <a:solidFill>
                          <a:srgbClr val="000000"/>
                        </a:solidFill>
                        <a:effectLst/>
                        <a:latin typeface="+mj-ea"/>
                        <a:ea typeface="+mj-ea"/>
                      </a:endParaRPr>
                    </a:p>
                  </a:txBody>
                  <a:tcPr marL="13578" marR="13578" marT="13500" marB="0" anchor="ctr"/>
                </a:tc>
                <a:extLst>
                  <a:ext uri="{0D108BD9-81ED-4DB2-BD59-A6C34878D82A}">
                    <a16:rowId xmlns:a16="http://schemas.microsoft.com/office/drawing/2014/main" val="10002"/>
                  </a:ext>
                </a:extLst>
              </a:tr>
              <a:tr h="739724">
                <a:tc vMerge="1">
                  <a:txBody>
                    <a:bodyPr/>
                    <a:lstStyle/>
                    <a:p>
                      <a:endParaRPr lang="zh-CN" altLang="en-US"/>
                    </a:p>
                  </a:txBody>
                  <a:tcPr/>
                </a:tc>
                <a:tc>
                  <a:txBody>
                    <a:bodyPr/>
                    <a:lstStyle/>
                    <a:p>
                      <a:pPr algn="ctr" fontAlgn="ctr"/>
                      <a:r>
                        <a:rPr lang="zh-CN" altLang="en-US" sz="2000" u="none" strike="noStrike" dirty="0">
                          <a:effectLst/>
                        </a:rPr>
                        <a:t>较强</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78" marR="13578" marT="13500" marB="0" anchor="ctr"/>
                </a:tc>
                <a:tc>
                  <a:txBody>
                    <a:bodyPr/>
                    <a:lstStyle/>
                    <a:p>
                      <a:pPr algn="ctr" fontAlgn="ctr"/>
                      <a:r>
                        <a:rPr lang="en-US" sz="2000" u="none" strike="noStrike" dirty="0">
                          <a:effectLst/>
                        </a:rPr>
                        <a:t>AA/AA-</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A+/A</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A-</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a:t>
                      </a:r>
                      <a:endParaRPr lang="en-US" sz="2000" b="0" i="0" u="none" strike="noStrike" dirty="0">
                        <a:solidFill>
                          <a:srgbClr val="000000"/>
                        </a:solidFill>
                        <a:effectLst/>
                        <a:latin typeface="+mj-ea"/>
                        <a:ea typeface="+mj-ea"/>
                      </a:endParaRPr>
                    </a:p>
                  </a:txBody>
                  <a:tcPr marL="13578" marR="13578" marT="13500" marB="0" anchor="ctr"/>
                </a:tc>
                <a:extLst>
                  <a:ext uri="{0D108BD9-81ED-4DB2-BD59-A6C34878D82A}">
                    <a16:rowId xmlns:a16="http://schemas.microsoft.com/office/drawing/2014/main" val="10003"/>
                  </a:ext>
                </a:extLst>
              </a:tr>
              <a:tr h="849571">
                <a:tc vMerge="1">
                  <a:txBody>
                    <a:bodyPr/>
                    <a:lstStyle/>
                    <a:p>
                      <a:endParaRPr lang="zh-CN" altLang="en-US"/>
                    </a:p>
                  </a:txBody>
                  <a:tcPr/>
                </a:tc>
                <a:tc>
                  <a:txBody>
                    <a:bodyPr/>
                    <a:lstStyle/>
                    <a:p>
                      <a:pPr algn="ctr" fontAlgn="ctr"/>
                      <a:r>
                        <a:rPr lang="zh-CN" altLang="en-US" sz="2000" u="none" strike="noStrike" dirty="0">
                          <a:effectLst/>
                        </a:rPr>
                        <a:t>良好</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78" marR="13578" marT="13500" marB="0" anchor="ctr"/>
                </a:tc>
                <a:tc>
                  <a:txBody>
                    <a:bodyPr/>
                    <a:lstStyle/>
                    <a:p>
                      <a:pPr algn="ctr" fontAlgn="ctr"/>
                      <a:r>
                        <a:rPr lang="en-US" sz="2000" u="none" strike="noStrike" dirty="0">
                          <a:effectLst/>
                        </a:rPr>
                        <a:t>A/A-</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BBB/BBB-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a:t>
                      </a:r>
                      <a:endParaRPr lang="en-US" sz="2000" b="0" i="0" u="none" strike="noStrike" dirty="0">
                        <a:solidFill>
                          <a:srgbClr val="000000"/>
                        </a:solidFill>
                        <a:effectLst/>
                        <a:latin typeface="+mj-ea"/>
                        <a:ea typeface="+mj-ea"/>
                      </a:endParaRPr>
                    </a:p>
                  </a:txBody>
                  <a:tcPr marL="13578" marR="13578" marT="13500" marB="0" anchor="ctr"/>
                </a:tc>
                <a:extLst>
                  <a:ext uri="{0D108BD9-81ED-4DB2-BD59-A6C34878D82A}">
                    <a16:rowId xmlns:a16="http://schemas.microsoft.com/office/drawing/2014/main" val="10004"/>
                  </a:ext>
                </a:extLst>
              </a:tr>
              <a:tr h="849561">
                <a:tc vMerge="1">
                  <a:txBody>
                    <a:bodyPr/>
                    <a:lstStyle/>
                    <a:p>
                      <a:endParaRPr lang="zh-CN" altLang="en-US"/>
                    </a:p>
                  </a:txBody>
                  <a:tcPr/>
                </a:tc>
                <a:tc>
                  <a:txBody>
                    <a:bodyPr/>
                    <a:lstStyle/>
                    <a:p>
                      <a:pPr algn="ctr" fontAlgn="ctr"/>
                      <a:r>
                        <a:rPr lang="zh-CN" altLang="en-US" sz="2000" u="none" strike="noStrike" dirty="0">
                          <a:effectLst/>
                        </a:rPr>
                        <a:t>一般</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78" marR="13578" marT="13500" marB="0" anchor="ctr"/>
                </a:tc>
                <a:tc>
                  <a:txBody>
                    <a:bodyPr/>
                    <a:lstStyle/>
                    <a:p>
                      <a:pPr algn="ctr" fontAlgn="ctr"/>
                      <a:r>
                        <a:rPr lang="en-US" sz="2000" u="none" strike="noStrike" dirty="0">
                          <a:effectLst/>
                        </a:rPr>
                        <a:t>BBB/BBB-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a:t>
                      </a:r>
                      <a:endParaRPr lang="en-US" sz="2000" b="0" i="0" u="none" strike="noStrike" dirty="0">
                        <a:solidFill>
                          <a:srgbClr val="000000"/>
                        </a:solidFill>
                        <a:effectLst/>
                        <a:latin typeface="+mj-ea"/>
                        <a:ea typeface="+mj-ea"/>
                      </a:endParaRPr>
                    </a:p>
                  </a:txBody>
                  <a:tcPr marL="13578" marR="13578" marT="13500" marB="0" anchor="ctr"/>
                </a:tc>
                <a:extLst>
                  <a:ext uri="{0D108BD9-81ED-4DB2-BD59-A6C34878D82A}">
                    <a16:rowId xmlns:a16="http://schemas.microsoft.com/office/drawing/2014/main" val="10005"/>
                  </a:ext>
                </a:extLst>
              </a:tr>
              <a:tr h="739724">
                <a:tc vMerge="1">
                  <a:txBody>
                    <a:bodyPr/>
                    <a:lstStyle/>
                    <a:p>
                      <a:endParaRPr lang="zh-CN" altLang="en-US"/>
                    </a:p>
                  </a:txBody>
                  <a:tcPr/>
                </a:tc>
                <a:tc>
                  <a:txBody>
                    <a:bodyPr/>
                    <a:lstStyle/>
                    <a:p>
                      <a:pPr algn="ctr" fontAlgn="ctr"/>
                      <a:r>
                        <a:rPr lang="zh-CN" altLang="en-US" sz="2000" u="none" strike="noStrike" dirty="0">
                          <a:effectLst/>
                        </a:rPr>
                        <a:t>较差</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78" marR="13578" marT="13500" marB="0" anchor="ctr"/>
                </a:tc>
                <a:tc>
                  <a:txBody>
                    <a:bodyPr/>
                    <a:lstStyle/>
                    <a:p>
                      <a:pPr algn="ctr" fontAlgn="ctr"/>
                      <a:r>
                        <a:rPr lang="en-US" sz="2000" u="none" strike="noStrike" dirty="0">
                          <a:effectLst/>
                        </a:rPr>
                        <a:t>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a:t>
                      </a:r>
                      <a:endParaRPr lang="en-US" sz="2000" b="0" i="0" u="none" strike="noStrike" dirty="0">
                        <a:solidFill>
                          <a:srgbClr val="000000"/>
                        </a:solidFill>
                        <a:effectLst/>
                        <a:latin typeface="+mj-ea"/>
                        <a:ea typeface="+mj-ea"/>
                      </a:endParaRPr>
                    </a:p>
                  </a:txBody>
                  <a:tcPr marL="13578" marR="13578" marT="13500" marB="0" anchor="ctr"/>
                </a:tc>
                <a:extLst>
                  <a:ext uri="{0D108BD9-81ED-4DB2-BD59-A6C34878D82A}">
                    <a16:rowId xmlns:a16="http://schemas.microsoft.com/office/drawing/2014/main" val="10006"/>
                  </a:ext>
                </a:extLst>
              </a:tr>
              <a:tr h="739724">
                <a:tc vMerge="1">
                  <a:txBody>
                    <a:bodyPr/>
                    <a:lstStyle/>
                    <a:p>
                      <a:endParaRPr lang="zh-CN" altLang="en-US"/>
                    </a:p>
                  </a:txBody>
                  <a:tcPr/>
                </a:tc>
                <a:tc>
                  <a:txBody>
                    <a:bodyPr/>
                    <a:lstStyle/>
                    <a:p>
                      <a:pPr algn="ctr" fontAlgn="ctr"/>
                      <a:r>
                        <a:rPr lang="zh-CN" altLang="en-US" sz="2000" u="none" strike="noStrike" dirty="0">
                          <a:effectLst/>
                        </a:rPr>
                        <a:t>脆弱</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78" marR="13578" marT="13500" marB="0" anchor="ctr"/>
                </a:tc>
                <a:tc>
                  <a:txBody>
                    <a:bodyPr/>
                    <a:lstStyle/>
                    <a:p>
                      <a:pPr algn="ctr" fontAlgn="ctr"/>
                      <a:r>
                        <a:rPr lang="en-US" sz="2000" u="none" strike="noStrike" dirty="0">
                          <a:effectLst/>
                        </a:rPr>
                        <a:t>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a:t>
                      </a:r>
                      <a:endParaRPr lang="en-US" sz="2000" b="0" i="0" u="none" strike="noStrike" dirty="0">
                        <a:solidFill>
                          <a:srgbClr val="000000"/>
                        </a:solidFill>
                        <a:effectLst/>
                        <a:latin typeface="+mj-ea"/>
                        <a:ea typeface="+mj-ea"/>
                      </a:endParaRPr>
                    </a:p>
                  </a:txBody>
                  <a:tcPr marL="13578" marR="13578" marT="13500" marB="0" anchor="ctr"/>
                </a:tc>
                <a:tc>
                  <a:txBody>
                    <a:bodyPr/>
                    <a:lstStyle/>
                    <a:p>
                      <a:pPr algn="ctr" fontAlgn="ctr"/>
                      <a:r>
                        <a:rPr lang="en-US" sz="2000" u="none" strike="noStrike" dirty="0">
                          <a:effectLst/>
                        </a:rPr>
                        <a:t>B-</a:t>
                      </a:r>
                      <a:endParaRPr lang="en-US" sz="2000" b="0" i="0" u="none" strike="noStrike" dirty="0">
                        <a:solidFill>
                          <a:srgbClr val="000000"/>
                        </a:solidFill>
                        <a:effectLst/>
                        <a:latin typeface="+mj-ea"/>
                        <a:ea typeface="+mj-ea"/>
                      </a:endParaRPr>
                    </a:p>
                  </a:txBody>
                  <a:tcPr marL="13578" marR="13578" marT="13500" marB="0" anchor="ctr"/>
                </a:tc>
                <a:extLst>
                  <a:ext uri="{0D108BD9-81ED-4DB2-BD59-A6C34878D82A}">
                    <a16:rowId xmlns:a16="http://schemas.microsoft.com/office/drawing/2014/main" val="10007"/>
                  </a:ext>
                </a:extLst>
              </a:tr>
            </a:tbl>
          </a:graphicData>
        </a:graphic>
      </p:graphicFrame>
      <p:sp>
        <p:nvSpPr>
          <p:cNvPr id="3" name="文本占位符 2">
            <a:extLst>
              <a:ext uri="{FF2B5EF4-FFF2-40B4-BE49-F238E27FC236}">
                <a16:creationId xmlns:a16="http://schemas.microsoft.com/office/drawing/2014/main" id="{0D32CFF5-D905-482B-8065-F91D35696E71}"/>
              </a:ext>
            </a:extLst>
          </p:cNvPr>
          <p:cNvSpPr>
            <a:spLocks noGrp="1"/>
          </p:cNvSpPr>
          <p:nvPr>
            <p:ph type="body" idx="10"/>
          </p:nvPr>
        </p:nvSpPr>
        <p:spPr/>
        <p:txBody>
          <a:bodyPr/>
          <a:lstStyle/>
          <a:p>
            <a:endParaRPr lang="zh-CN" altLang="en-US"/>
          </a:p>
        </p:txBody>
      </p:sp>
    </p:spTree>
    <p:extLst>
      <p:ext uri="{BB962C8B-B14F-4D97-AF65-F5344CB8AC3E}">
        <p14:creationId xmlns:p14="http://schemas.microsoft.com/office/powerpoint/2010/main" val="419866224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标普评级法：</a:t>
            </a:r>
            <a:r>
              <a:rPr lang="zh-CN" altLang="en-US" sz="3600" dirty="0"/>
              <a:t>主体级别锚</a:t>
            </a:r>
            <a:endParaRPr lang="zh-CN" altLang="en-US" dirty="0"/>
          </a:p>
        </p:txBody>
      </p:sp>
      <p:sp>
        <p:nvSpPr>
          <p:cNvPr id="8" name="内容占位符 7">
            <a:extLst>
              <a:ext uri="{FF2B5EF4-FFF2-40B4-BE49-F238E27FC236}">
                <a16:creationId xmlns:a16="http://schemas.microsoft.com/office/drawing/2014/main" id="{71182AB2-F304-4BC1-9ED8-C5B2048B5A01}"/>
              </a:ext>
            </a:extLst>
          </p:cNvPr>
          <p:cNvSpPr>
            <a:spLocks noGrp="1"/>
          </p:cNvSpPr>
          <p:nvPr>
            <p:ph sz="half" idx="1"/>
          </p:nvPr>
        </p:nvSpPr>
        <p:spPr>
          <a:xfrm>
            <a:off x="949497" y="2398426"/>
            <a:ext cx="15466444" cy="1360774"/>
          </a:xfrm>
        </p:spPr>
        <p:txBody>
          <a:bodyPr/>
          <a:lstStyle/>
          <a:p>
            <a:pPr marL="0" indent="0">
              <a:buNone/>
            </a:pPr>
            <a:r>
              <a:rPr lang="zh-CN" altLang="en-US" dirty="0">
                <a:latin typeface="+mn-ea"/>
              </a:rPr>
              <a:t>对于债务负担较重、经营情况很差、面临的违约风险较高且债务的偿还及容易受到外部环境的影响的企业时，直接采取单独的评价方法</a:t>
            </a:r>
            <a:endParaRPr lang="zh-CN" altLang="en-US" dirty="0"/>
          </a:p>
        </p:txBody>
      </p:sp>
      <p:sp>
        <p:nvSpPr>
          <p:cNvPr id="11" name="内容占位符 10">
            <a:extLst>
              <a:ext uri="{FF2B5EF4-FFF2-40B4-BE49-F238E27FC236}">
                <a16:creationId xmlns:a16="http://schemas.microsoft.com/office/drawing/2014/main" id="{47D0FB82-416F-4795-9D36-90A52A12EC90}"/>
              </a:ext>
            </a:extLst>
          </p:cNvPr>
          <p:cNvSpPr>
            <a:spLocks noGrp="1"/>
          </p:cNvSpPr>
          <p:nvPr>
            <p:ph sz="half" idx="13"/>
          </p:nvPr>
        </p:nvSpPr>
        <p:spPr/>
        <p:txBody>
          <a:bodyPr/>
          <a:lstStyle/>
          <a:p>
            <a:endParaRPr lang="zh-CN" altLang="en-US" dirty="0"/>
          </a:p>
        </p:txBody>
      </p:sp>
      <p:graphicFrame>
        <p:nvGraphicFramePr>
          <p:cNvPr id="12" name="内容占位符 11">
            <a:extLst>
              <a:ext uri="{FF2B5EF4-FFF2-40B4-BE49-F238E27FC236}">
                <a16:creationId xmlns:a16="http://schemas.microsoft.com/office/drawing/2014/main" id="{6C6E35D7-C74C-4EC6-827B-B167F17FF980}"/>
              </a:ext>
            </a:extLst>
          </p:cNvPr>
          <p:cNvGraphicFramePr>
            <a:graphicFrameLocks noGrp="1"/>
          </p:cNvGraphicFramePr>
          <p:nvPr>
            <p:ph sz="half" idx="2"/>
            <p:extLst>
              <p:ext uri="{D42A27DB-BD31-4B8C-83A1-F6EECF244321}">
                <p14:modId xmlns:p14="http://schemas.microsoft.com/office/powerpoint/2010/main" val="670217372"/>
              </p:ext>
            </p:extLst>
          </p:nvPr>
        </p:nvGraphicFramePr>
        <p:xfrm>
          <a:off x="949325" y="3849028"/>
          <a:ext cx="15466442" cy="4780622"/>
        </p:xfrm>
        <a:graphic>
          <a:graphicData uri="http://schemas.openxmlformats.org/drawingml/2006/table">
            <a:tbl>
              <a:tblPr firstRow="1" bandRow="1">
                <a:tableStyleId>{6E25E649-3F16-4E02-A733-19D2CDBF48F0}</a:tableStyleId>
              </a:tblPr>
              <a:tblGrid>
                <a:gridCol w="1945692">
                  <a:extLst>
                    <a:ext uri="{9D8B030D-6E8A-4147-A177-3AD203B41FA5}">
                      <a16:colId xmlns:a16="http://schemas.microsoft.com/office/drawing/2014/main" val="20000"/>
                    </a:ext>
                  </a:extLst>
                </a:gridCol>
                <a:gridCol w="6350518">
                  <a:extLst>
                    <a:ext uri="{9D8B030D-6E8A-4147-A177-3AD203B41FA5}">
                      <a16:colId xmlns:a16="http://schemas.microsoft.com/office/drawing/2014/main" val="20001"/>
                    </a:ext>
                  </a:extLst>
                </a:gridCol>
                <a:gridCol w="7170232">
                  <a:extLst>
                    <a:ext uri="{9D8B030D-6E8A-4147-A177-3AD203B41FA5}">
                      <a16:colId xmlns:a16="http://schemas.microsoft.com/office/drawing/2014/main" val="20002"/>
                    </a:ext>
                  </a:extLst>
                </a:gridCol>
              </a:tblGrid>
              <a:tr h="669746">
                <a:tc>
                  <a:txBody>
                    <a:bodyPr/>
                    <a:lstStyle/>
                    <a:p>
                      <a:pPr algn="ctr" fontAlgn="ctr"/>
                      <a:r>
                        <a:rPr lang="zh-CN" altLang="en-US" sz="2000" u="none" strike="noStrike" dirty="0">
                          <a:effectLst/>
                        </a:rPr>
                        <a:t>级别</a:t>
                      </a:r>
                      <a:endParaRPr lang="zh-CN" altLang="en-US" sz="2000" b="1" i="0" u="none" strike="noStrike" dirty="0">
                        <a:solidFill>
                          <a:schemeClr val="bg1"/>
                        </a:solidFill>
                        <a:effectLst/>
                        <a:latin typeface="楷体_GB2312" panose="02010609030101010101" pitchFamily="49" charset="-122"/>
                        <a:ea typeface="楷体_GB2312" panose="02010609030101010101" pitchFamily="49" charset="-122"/>
                      </a:endParaRPr>
                    </a:p>
                  </a:txBody>
                  <a:tcPr marL="13500" marR="13500" marT="13500" marB="0" anchor="ctr"/>
                </a:tc>
                <a:tc>
                  <a:txBody>
                    <a:bodyPr/>
                    <a:lstStyle/>
                    <a:p>
                      <a:pPr algn="ctr" fontAlgn="ctr"/>
                      <a:r>
                        <a:rPr lang="zh-CN" altLang="en-US" sz="2000" u="none" strike="noStrike" dirty="0">
                          <a:effectLst/>
                        </a:rPr>
                        <a:t>定义</a:t>
                      </a:r>
                      <a:endParaRPr lang="zh-CN" altLang="en-US" sz="2000" b="1" i="0" u="none" strike="noStrike" dirty="0">
                        <a:solidFill>
                          <a:schemeClr val="bg1"/>
                        </a:solidFill>
                        <a:effectLst/>
                        <a:latin typeface="楷体_GB2312" panose="02010609030101010101" pitchFamily="49" charset="-122"/>
                        <a:ea typeface="楷体_GB2312" panose="02010609030101010101" pitchFamily="49" charset="-122"/>
                      </a:endParaRPr>
                    </a:p>
                  </a:txBody>
                  <a:tcPr marL="13500" marR="13500" marT="13500" marB="0" anchor="ctr"/>
                </a:tc>
                <a:tc>
                  <a:txBody>
                    <a:bodyPr/>
                    <a:lstStyle/>
                    <a:p>
                      <a:pPr algn="ctr" fontAlgn="ctr"/>
                      <a:r>
                        <a:rPr lang="zh-CN" altLang="en-US" sz="2000" u="none" strike="noStrike" dirty="0">
                          <a:effectLst/>
                        </a:rPr>
                        <a:t>评定标准</a:t>
                      </a:r>
                      <a:endParaRPr lang="zh-CN" altLang="en-US" sz="2000" b="1" i="0" u="none" strike="noStrike" dirty="0">
                        <a:solidFill>
                          <a:schemeClr val="bg1"/>
                        </a:solidFill>
                        <a:effectLst/>
                        <a:latin typeface="楷体_GB2312" panose="02010609030101010101" pitchFamily="49" charset="-122"/>
                        <a:ea typeface="楷体_GB2312" panose="02010609030101010101" pitchFamily="49" charset="-122"/>
                      </a:endParaRPr>
                    </a:p>
                  </a:txBody>
                  <a:tcPr marL="13500" marR="13500" marT="13500" marB="0" anchor="ctr"/>
                </a:tc>
                <a:extLst>
                  <a:ext uri="{0D108BD9-81ED-4DB2-BD59-A6C34878D82A}">
                    <a16:rowId xmlns:a16="http://schemas.microsoft.com/office/drawing/2014/main" val="10000"/>
                  </a:ext>
                </a:extLst>
              </a:tr>
              <a:tr h="1498380">
                <a:tc>
                  <a:txBody>
                    <a:bodyPr/>
                    <a:lstStyle/>
                    <a:p>
                      <a:pPr algn="ctr" fontAlgn="ctr"/>
                      <a:r>
                        <a:rPr lang="en-US" sz="2000" u="none" strike="noStrike" dirty="0">
                          <a:effectLst/>
                        </a:rPr>
                        <a:t>CCC</a:t>
                      </a:r>
                      <a:endParaRPr lang="en-US" sz="2000" b="0" i="0" u="none" strike="noStrike" dirty="0">
                        <a:solidFill>
                          <a:srgbClr val="000000"/>
                        </a:solidFill>
                        <a:effectLst/>
                        <a:latin typeface="楷体_GB2312" panose="02010609030101010101" pitchFamily="49" charset="-122"/>
                        <a:ea typeface="楷体_GB2312" panose="02010609030101010101" pitchFamily="49" charset="-122"/>
                      </a:endParaRPr>
                    </a:p>
                  </a:txBody>
                  <a:tcPr marL="13500" marR="13500" marT="13500" marB="0" anchor="ctr"/>
                </a:tc>
                <a:tc>
                  <a:txBody>
                    <a:bodyPr/>
                    <a:lstStyle/>
                    <a:p>
                      <a:pPr algn="l" fontAlgn="ctr">
                        <a:lnSpc>
                          <a:spcPct val="150000"/>
                        </a:lnSpc>
                      </a:pPr>
                      <a:r>
                        <a:rPr lang="zh-CN" altLang="en-US" sz="2000" u="none" strike="noStrike" dirty="0">
                          <a:effectLst/>
                        </a:rPr>
                        <a:t>当前很容易受到外部环境影响，债务的偿付能力完全取决于持续向好的商业环境和经济发展</a:t>
                      </a:r>
                      <a:endParaRPr lang="zh-CN" altLang="en-US" sz="2000" b="0" i="0" u="none" strike="noStrike" dirty="0">
                        <a:solidFill>
                          <a:srgbClr val="000000"/>
                        </a:solidFill>
                        <a:effectLst/>
                        <a:latin typeface="楷体_GB2312" panose="02010609030101010101" pitchFamily="49" charset="-122"/>
                        <a:ea typeface="楷体_GB2312" panose="02010609030101010101" pitchFamily="49" charset="-122"/>
                      </a:endParaRPr>
                    </a:p>
                  </a:txBody>
                  <a:tcPr marL="13500" marR="13500" marT="13500" marB="0" anchor="ctr"/>
                </a:tc>
                <a:tc>
                  <a:txBody>
                    <a:bodyPr/>
                    <a:lstStyle/>
                    <a:p>
                      <a:pPr algn="l" fontAlgn="ctr">
                        <a:lnSpc>
                          <a:spcPct val="150000"/>
                        </a:lnSpc>
                      </a:pPr>
                      <a:r>
                        <a:rPr lang="en-US" altLang="zh-CN" sz="2000" u="none" strike="noStrike" dirty="0">
                          <a:effectLst/>
                        </a:rPr>
                        <a:t>1.</a:t>
                      </a:r>
                      <a:r>
                        <a:rPr lang="zh-CN" altLang="en-US" sz="2000" u="none" strike="noStrike" dirty="0">
                          <a:effectLst/>
                        </a:rPr>
                        <a:t>违约可能性高于</a:t>
                      </a:r>
                      <a:r>
                        <a:rPr lang="en-US" altLang="zh-CN" sz="2000" u="none" strike="noStrike" dirty="0">
                          <a:effectLst/>
                        </a:rPr>
                        <a:t>50%</a:t>
                      </a:r>
                    </a:p>
                    <a:p>
                      <a:pPr algn="l" fontAlgn="ctr">
                        <a:lnSpc>
                          <a:spcPct val="150000"/>
                        </a:lnSpc>
                      </a:pPr>
                      <a:r>
                        <a:rPr lang="en-US" altLang="zh-CN" sz="2000" u="none" strike="noStrike" dirty="0">
                          <a:effectLst/>
                        </a:rPr>
                        <a:t>2.</a:t>
                      </a:r>
                      <a:r>
                        <a:rPr lang="zh-CN" altLang="en-US" sz="2000" u="none" strike="noStrike" dirty="0">
                          <a:effectLst/>
                        </a:rPr>
                        <a:t>违约概率接近</a:t>
                      </a:r>
                      <a:r>
                        <a:rPr lang="en-US" altLang="zh-CN" sz="2000" u="none" strike="noStrike" dirty="0">
                          <a:effectLst/>
                        </a:rPr>
                        <a:t>30%</a:t>
                      </a:r>
                      <a:r>
                        <a:rPr lang="zh-CN" altLang="en-US" sz="2000" u="none" strike="noStrike" dirty="0">
                          <a:effectLst/>
                        </a:rPr>
                        <a:t>，且预计未来</a:t>
                      </a:r>
                      <a:r>
                        <a:rPr lang="en-US" altLang="zh-CN" sz="2000" u="none" strike="noStrike" dirty="0">
                          <a:effectLst/>
                        </a:rPr>
                        <a:t>1</a:t>
                      </a:r>
                      <a:r>
                        <a:rPr lang="zh-CN" altLang="en-US" sz="2000" u="none" strike="noStrike" dirty="0">
                          <a:effectLst/>
                        </a:rPr>
                        <a:t>年内可能出现违约</a:t>
                      </a:r>
                      <a:endParaRPr lang="zh-CN" altLang="en-US" sz="2000" b="0" i="0" u="none" strike="noStrike" dirty="0">
                        <a:solidFill>
                          <a:srgbClr val="000000"/>
                        </a:solidFill>
                        <a:effectLst/>
                        <a:latin typeface="楷体_GB2312" panose="02010609030101010101" pitchFamily="49" charset="-122"/>
                        <a:ea typeface="楷体_GB2312" panose="02010609030101010101" pitchFamily="49" charset="-122"/>
                      </a:endParaRPr>
                    </a:p>
                  </a:txBody>
                  <a:tcPr marL="13500" marR="13500" marT="13500" marB="0" anchor="ctr"/>
                </a:tc>
                <a:extLst>
                  <a:ext uri="{0D108BD9-81ED-4DB2-BD59-A6C34878D82A}">
                    <a16:rowId xmlns:a16="http://schemas.microsoft.com/office/drawing/2014/main" val="10001"/>
                  </a:ext>
                </a:extLst>
              </a:tr>
              <a:tr h="2612496">
                <a:tc>
                  <a:txBody>
                    <a:bodyPr/>
                    <a:lstStyle/>
                    <a:p>
                      <a:pPr algn="ctr" fontAlgn="ctr"/>
                      <a:r>
                        <a:rPr lang="en-US" sz="2000" u="none" strike="noStrike" dirty="0">
                          <a:effectLst/>
                        </a:rPr>
                        <a:t>CC</a:t>
                      </a:r>
                      <a:endParaRPr lang="en-US" sz="2000" b="0" i="0" u="none" strike="noStrike" dirty="0">
                        <a:solidFill>
                          <a:srgbClr val="000000"/>
                        </a:solidFill>
                        <a:effectLst/>
                        <a:latin typeface="楷体_GB2312" panose="02010609030101010101" pitchFamily="49" charset="-122"/>
                        <a:ea typeface="楷体_GB2312" panose="02010609030101010101" pitchFamily="49" charset="-122"/>
                      </a:endParaRPr>
                    </a:p>
                  </a:txBody>
                  <a:tcPr marL="13500" marR="13500" marT="13500" marB="0" anchor="ctr"/>
                </a:tc>
                <a:tc>
                  <a:txBody>
                    <a:bodyPr/>
                    <a:lstStyle/>
                    <a:p>
                      <a:pPr algn="l" fontAlgn="ctr">
                        <a:lnSpc>
                          <a:spcPct val="150000"/>
                        </a:lnSpc>
                      </a:pPr>
                      <a:r>
                        <a:rPr lang="zh-CN" altLang="en-US" sz="2000" u="none" strike="noStrike" dirty="0">
                          <a:effectLst/>
                        </a:rPr>
                        <a:t>当前极容易受到外部环境影响，违约可能性极高</a:t>
                      </a:r>
                      <a:endParaRPr lang="zh-CN" altLang="en-US" sz="2000" b="0" i="0" u="none" strike="noStrike" dirty="0">
                        <a:solidFill>
                          <a:srgbClr val="000000"/>
                        </a:solidFill>
                        <a:effectLst/>
                        <a:latin typeface="楷体_GB2312" panose="02010609030101010101" pitchFamily="49" charset="-122"/>
                        <a:ea typeface="楷体_GB2312" panose="02010609030101010101" pitchFamily="49" charset="-122"/>
                      </a:endParaRPr>
                    </a:p>
                  </a:txBody>
                  <a:tcPr marL="13500" marR="13500" marT="13500" marB="0" anchor="ctr"/>
                </a:tc>
                <a:tc>
                  <a:txBody>
                    <a:bodyPr/>
                    <a:lstStyle/>
                    <a:p>
                      <a:pPr algn="l" fontAlgn="ctr">
                        <a:lnSpc>
                          <a:spcPct val="150000"/>
                        </a:lnSpc>
                      </a:pPr>
                      <a:r>
                        <a:rPr lang="zh-CN" altLang="en-US" sz="2000" u="none" strike="noStrike" dirty="0">
                          <a:effectLst/>
                        </a:rPr>
                        <a:t>违约已成为大概率事件，只是时间问题，具体情况有：</a:t>
                      </a:r>
                      <a:r>
                        <a:rPr lang="en-US" altLang="zh-CN" sz="2000" u="none" strike="noStrike" dirty="0">
                          <a:effectLst/>
                        </a:rPr>
                        <a:t>1.</a:t>
                      </a:r>
                      <a:r>
                        <a:rPr lang="zh-CN" altLang="en-US" sz="2000" u="none" strike="noStrike" dirty="0">
                          <a:effectLst/>
                        </a:rPr>
                        <a:t>企业公开披露表示下一笔利息无法支付；</a:t>
                      </a:r>
                      <a:endParaRPr lang="en-US" altLang="zh-CN" sz="2000" u="none" strike="noStrike" dirty="0">
                        <a:effectLst/>
                      </a:endParaRPr>
                    </a:p>
                    <a:p>
                      <a:pPr algn="l" fontAlgn="ctr">
                        <a:lnSpc>
                          <a:spcPct val="150000"/>
                        </a:lnSpc>
                      </a:pPr>
                      <a:r>
                        <a:rPr lang="en-US" altLang="zh-CN" sz="2000" u="none" strike="noStrike" dirty="0">
                          <a:effectLst/>
                        </a:rPr>
                        <a:t>2.</a:t>
                      </a:r>
                      <a:r>
                        <a:rPr lang="zh-CN" altLang="en-US" sz="2000" u="none" strike="noStrike" dirty="0">
                          <a:effectLst/>
                        </a:rPr>
                        <a:t>企业公开披露表示将申请破产或类似行动而导致债务偿还出现困难；</a:t>
                      </a:r>
                      <a:endParaRPr lang="en-US" altLang="zh-CN" sz="2000" u="none" strike="noStrike" dirty="0">
                        <a:effectLst/>
                      </a:endParaRPr>
                    </a:p>
                    <a:p>
                      <a:pPr algn="l" fontAlgn="ctr">
                        <a:lnSpc>
                          <a:spcPct val="150000"/>
                        </a:lnSpc>
                      </a:pPr>
                      <a:r>
                        <a:rPr lang="en-US" altLang="zh-CN" sz="2000" u="none" strike="noStrike" dirty="0">
                          <a:effectLst/>
                        </a:rPr>
                        <a:t>3.</a:t>
                      </a:r>
                      <a:r>
                        <a:rPr lang="zh-CN" altLang="en-US" sz="2000" u="none" strike="noStrike" dirty="0">
                          <a:effectLst/>
                        </a:rPr>
                        <a:t>企业披露信息将要进行重组</a:t>
                      </a:r>
                      <a:endParaRPr lang="zh-CN" altLang="en-US" sz="2000" b="0" i="0" u="none" strike="noStrike" dirty="0">
                        <a:solidFill>
                          <a:srgbClr val="000000"/>
                        </a:solidFill>
                        <a:effectLst/>
                        <a:latin typeface="楷体_GB2312" panose="02010609030101010101" pitchFamily="49" charset="-122"/>
                        <a:ea typeface="楷体_GB2312" panose="02010609030101010101" pitchFamily="49" charset="-122"/>
                      </a:endParaRPr>
                    </a:p>
                  </a:txBody>
                  <a:tcPr marL="13500" marR="13500" marT="1350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24779628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标普评级法：</a:t>
            </a:r>
            <a:r>
              <a:rPr lang="zh-CN" altLang="en-US" sz="3600" dirty="0"/>
              <a:t>主体信用状况</a:t>
            </a:r>
            <a:endParaRPr lang="zh-CN" altLang="en-US" dirty="0"/>
          </a:p>
        </p:txBody>
      </p:sp>
      <p:sp>
        <p:nvSpPr>
          <p:cNvPr id="8" name="内容占位符 7">
            <a:extLst>
              <a:ext uri="{FF2B5EF4-FFF2-40B4-BE49-F238E27FC236}">
                <a16:creationId xmlns:a16="http://schemas.microsoft.com/office/drawing/2014/main" id="{71182AB2-F304-4BC1-9ED8-C5B2048B5A01}"/>
              </a:ext>
            </a:extLst>
          </p:cNvPr>
          <p:cNvSpPr>
            <a:spLocks noGrp="1"/>
          </p:cNvSpPr>
          <p:nvPr>
            <p:ph sz="half" idx="1"/>
          </p:nvPr>
        </p:nvSpPr>
        <p:spPr>
          <a:xfrm>
            <a:off x="949497" y="2398426"/>
            <a:ext cx="15466444" cy="1360774"/>
          </a:xfrm>
        </p:spPr>
        <p:txBody>
          <a:bodyPr>
            <a:normAutofit/>
          </a:bodyPr>
          <a:lstStyle/>
          <a:p>
            <a:pPr lvl="1"/>
            <a:r>
              <a:rPr lang="zh-CN" altLang="en-US" dirty="0"/>
              <a:t>第一次调整：依据多元化效应的得分、企业经营风险状况进行调整</a:t>
            </a:r>
            <a:endParaRPr lang="en-US" altLang="zh-CN" dirty="0"/>
          </a:p>
        </p:txBody>
      </p:sp>
      <p:sp>
        <p:nvSpPr>
          <p:cNvPr id="11" name="内容占位符 10">
            <a:extLst>
              <a:ext uri="{FF2B5EF4-FFF2-40B4-BE49-F238E27FC236}">
                <a16:creationId xmlns:a16="http://schemas.microsoft.com/office/drawing/2014/main" id="{47D0FB82-416F-4795-9D36-90A52A12EC90}"/>
              </a:ext>
            </a:extLst>
          </p:cNvPr>
          <p:cNvSpPr>
            <a:spLocks noGrp="1"/>
          </p:cNvSpPr>
          <p:nvPr>
            <p:ph sz="half" idx="13"/>
          </p:nvPr>
        </p:nvSpPr>
        <p:spPr/>
        <p:txBody>
          <a:bodyPr/>
          <a:lstStyle/>
          <a:p>
            <a:r>
              <a:rPr lang="zh-CN" altLang="en-US" sz="2400" dirty="0"/>
              <a:t>基于调整项对级别锚进行级别调整，得出主体信用状况</a:t>
            </a:r>
            <a:endParaRPr lang="en-US" altLang="zh-CN" sz="2400" dirty="0"/>
          </a:p>
        </p:txBody>
      </p:sp>
      <p:graphicFrame>
        <p:nvGraphicFramePr>
          <p:cNvPr id="9" name="内容占位符 14">
            <a:extLst>
              <a:ext uri="{FF2B5EF4-FFF2-40B4-BE49-F238E27FC236}">
                <a16:creationId xmlns:a16="http://schemas.microsoft.com/office/drawing/2014/main" id="{1DFDE892-93DB-4CAF-9F09-42B013DF9EDF}"/>
              </a:ext>
            </a:extLst>
          </p:cNvPr>
          <p:cNvGraphicFramePr>
            <a:graphicFrameLocks noGrp="1"/>
          </p:cNvGraphicFramePr>
          <p:nvPr>
            <p:ph sz="half" idx="2"/>
            <p:extLst>
              <p:ext uri="{D42A27DB-BD31-4B8C-83A1-F6EECF244321}">
                <p14:modId xmlns:p14="http://schemas.microsoft.com/office/powerpoint/2010/main" val="846759180"/>
              </p:ext>
            </p:extLst>
          </p:nvPr>
        </p:nvGraphicFramePr>
        <p:xfrm>
          <a:off x="906747" y="4110491"/>
          <a:ext cx="15466443" cy="3735387"/>
        </p:xfrm>
        <a:graphic>
          <a:graphicData uri="http://schemas.openxmlformats.org/drawingml/2006/table">
            <a:tbl>
              <a:tblPr firstRow="1" bandRow="1">
                <a:tableStyleId>{6E25E649-3F16-4E02-A733-19D2CDBF48F0}</a:tableStyleId>
              </a:tblPr>
              <a:tblGrid>
                <a:gridCol w="1546110">
                  <a:extLst>
                    <a:ext uri="{9D8B030D-6E8A-4147-A177-3AD203B41FA5}">
                      <a16:colId xmlns:a16="http://schemas.microsoft.com/office/drawing/2014/main" val="20000"/>
                    </a:ext>
                  </a:extLst>
                </a:gridCol>
                <a:gridCol w="1686665">
                  <a:extLst>
                    <a:ext uri="{9D8B030D-6E8A-4147-A177-3AD203B41FA5}">
                      <a16:colId xmlns:a16="http://schemas.microsoft.com/office/drawing/2014/main" val="20001"/>
                    </a:ext>
                  </a:extLst>
                </a:gridCol>
                <a:gridCol w="2108331">
                  <a:extLst>
                    <a:ext uri="{9D8B030D-6E8A-4147-A177-3AD203B41FA5}">
                      <a16:colId xmlns:a16="http://schemas.microsoft.com/office/drawing/2014/main" val="20002"/>
                    </a:ext>
                  </a:extLst>
                </a:gridCol>
                <a:gridCol w="2108331">
                  <a:extLst>
                    <a:ext uri="{9D8B030D-6E8A-4147-A177-3AD203B41FA5}">
                      <a16:colId xmlns:a16="http://schemas.microsoft.com/office/drawing/2014/main" val="20003"/>
                    </a:ext>
                  </a:extLst>
                </a:gridCol>
                <a:gridCol w="2108331">
                  <a:extLst>
                    <a:ext uri="{9D8B030D-6E8A-4147-A177-3AD203B41FA5}">
                      <a16:colId xmlns:a16="http://schemas.microsoft.com/office/drawing/2014/main" val="20004"/>
                    </a:ext>
                  </a:extLst>
                </a:gridCol>
                <a:gridCol w="1967774">
                  <a:extLst>
                    <a:ext uri="{9D8B030D-6E8A-4147-A177-3AD203B41FA5}">
                      <a16:colId xmlns:a16="http://schemas.microsoft.com/office/drawing/2014/main" val="20005"/>
                    </a:ext>
                  </a:extLst>
                </a:gridCol>
                <a:gridCol w="1967774">
                  <a:extLst>
                    <a:ext uri="{9D8B030D-6E8A-4147-A177-3AD203B41FA5}">
                      <a16:colId xmlns:a16="http://schemas.microsoft.com/office/drawing/2014/main" val="20006"/>
                    </a:ext>
                  </a:extLst>
                </a:gridCol>
                <a:gridCol w="1973127">
                  <a:extLst>
                    <a:ext uri="{9D8B030D-6E8A-4147-A177-3AD203B41FA5}">
                      <a16:colId xmlns:a16="http://schemas.microsoft.com/office/drawing/2014/main" val="20007"/>
                    </a:ext>
                  </a:extLst>
                </a:gridCol>
              </a:tblGrid>
              <a:tr h="609325">
                <a:tc rowSpan="2" gridSpan="2">
                  <a:txBody>
                    <a:bodyPr/>
                    <a:lstStyle/>
                    <a:p>
                      <a:pPr algn="ctr" fontAlgn="ct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rowSpan="2" hMerge="1">
                  <a:txBody>
                    <a:bodyPr/>
                    <a:lstStyle/>
                    <a:p>
                      <a:endParaRPr lang="zh-CN" altLang="en-US"/>
                    </a:p>
                  </a:txBody>
                  <a:tcPr/>
                </a:tc>
                <a:tc gridSpan="6">
                  <a:txBody>
                    <a:bodyPr/>
                    <a:lstStyle/>
                    <a:p>
                      <a:pPr algn="ctr" fontAlgn="ctr"/>
                      <a:r>
                        <a:rPr lang="zh-CN" altLang="en-US" sz="2000" u="none" strike="noStrike" dirty="0">
                          <a:effectLst/>
                        </a:rPr>
                        <a:t>经营风险</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762344">
                <a:tc gridSpan="2" vMerge="1">
                  <a:txBody>
                    <a:bodyPr/>
                    <a:lstStyle/>
                    <a:p>
                      <a:endParaRPr lang="zh-CN" altLang="en-US"/>
                    </a:p>
                  </a:txBody>
                  <a:tcPr/>
                </a:tc>
                <a:tc hMerge="1" vMerge="1">
                  <a:txBody>
                    <a:bodyPr/>
                    <a:lstStyle/>
                    <a:p>
                      <a:endParaRPr lang="zh-CN" altLang="en-US"/>
                    </a:p>
                  </a:txBody>
                  <a:tcPr/>
                </a:tc>
                <a:tc>
                  <a:txBody>
                    <a:bodyPr/>
                    <a:lstStyle/>
                    <a:p>
                      <a:pPr algn="ctr" fontAlgn="ctr"/>
                      <a:r>
                        <a:rPr lang="zh-CN" altLang="en-US" sz="2000" u="none" strike="noStrike" dirty="0">
                          <a:effectLst/>
                        </a:rPr>
                        <a:t>优秀</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zh-CN" altLang="en-US" sz="2000" u="none" strike="noStrike" dirty="0">
                          <a:effectLst/>
                        </a:rPr>
                        <a:t>较强</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zh-CN" altLang="en-US" sz="2000" u="none" strike="noStrike" dirty="0">
                          <a:effectLst/>
                        </a:rPr>
                        <a:t>良好</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zh-CN" altLang="en-US" sz="2000" u="none" strike="noStrike" dirty="0">
                          <a:effectLst/>
                        </a:rPr>
                        <a:t>一般</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zh-CN" altLang="en-US" sz="2000" u="none" strike="noStrike" dirty="0">
                          <a:effectLst/>
                        </a:rPr>
                        <a:t>较差</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zh-CN" altLang="en-US" sz="2000" u="none" strike="noStrike" dirty="0">
                          <a:effectLst/>
                        </a:rPr>
                        <a:t>脆弱</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tc>
                <a:extLst>
                  <a:ext uri="{0D108BD9-81ED-4DB2-BD59-A6C34878D82A}">
                    <a16:rowId xmlns:a16="http://schemas.microsoft.com/office/drawing/2014/main" val="10001"/>
                  </a:ext>
                </a:extLst>
              </a:tr>
              <a:tr h="787906">
                <a:tc rowSpan="3">
                  <a:txBody>
                    <a:bodyPr/>
                    <a:lstStyle/>
                    <a:p>
                      <a:pPr algn="ctr" fontAlgn="ctr"/>
                      <a:r>
                        <a:rPr lang="zh-CN" altLang="en-US" sz="2000" u="none" strike="noStrike" dirty="0">
                          <a:effectLst/>
                        </a:rPr>
                        <a:t>多元化</a:t>
                      </a:r>
                      <a:endParaRPr lang="en-US" altLang="zh-CN" sz="2000" u="none" strike="noStrike" dirty="0">
                        <a:effectLst/>
                      </a:endParaRPr>
                    </a:p>
                    <a:p>
                      <a:pPr algn="ctr" fontAlgn="ctr"/>
                      <a:r>
                        <a:rPr lang="zh-CN" altLang="en-US" sz="2000" u="none" strike="noStrike" dirty="0">
                          <a:effectLst/>
                        </a:rPr>
                        <a:t>效应</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zh-CN" altLang="en-US" sz="2000" u="none" strike="noStrike" dirty="0">
                          <a:effectLst/>
                        </a:rPr>
                        <a:t>显著</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+2</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+2</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+2</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+1</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+1</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0</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extLst>
                  <a:ext uri="{0D108BD9-81ED-4DB2-BD59-A6C34878D82A}">
                    <a16:rowId xmlns:a16="http://schemas.microsoft.com/office/drawing/2014/main" val="10002"/>
                  </a:ext>
                </a:extLst>
              </a:tr>
              <a:tr h="787906">
                <a:tc vMerge="1">
                  <a:txBody>
                    <a:bodyPr/>
                    <a:lstStyle/>
                    <a:p>
                      <a:endParaRPr lang="zh-CN" altLang="en-US"/>
                    </a:p>
                  </a:txBody>
                  <a:tcPr/>
                </a:tc>
                <a:tc>
                  <a:txBody>
                    <a:bodyPr/>
                    <a:lstStyle/>
                    <a:p>
                      <a:pPr algn="ctr" fontAlgn="ctr"/>
                      <a:r>
                        <a:rPr lang="zh-CN" altLang="en-US" sz="2000" u="none" strike="noStrike" dirty="0">
                          <a:effectLst/>
                        </a:rPr>
                        <a:t>一般</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+1</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+1</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b="0" i="0" u="none" strike="noStrike" dirty="0">
                          <a:solidFill>
                            <a:srgbClr val="000000"/>
                          </a:solidFill>
                          <a:effectLst/>
                          <a:latin typeface="微软雅黑" panose="020B0503020204020204" pitchFamily="34" charset="-122"/>
                          <a:ea typeface="微软雅黑" panose="020B0503020204020204" pitchFamily="34" charset="-122"/>
                        </a:rPr>
                        <a:t>+1</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+1</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0</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0</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extLst>
                  <a:ext uri="{0D108BD9-81ED-4DB2-BD59-A6C34878D82A}">
                    <a16:rowId xmlns:a16="http://schemas.microsoft.com/office/drawing/2014/main" val="10003"/>
                  </a:ext>
                </a:extLst>
              </a:tr>
              <a:tr h="787906">
                <a:tc vMerge="1">
                  <a:txBody>
                    <a:bodyPr/>
                    <a:lstStyle/>
                    <a:p>
                      <a:endParaRPr lang="zh-CN" altLang="en-US"/>
                    </a:p>
                  </a:txBody>
                  <a:tcPr/>
                </a:tc>
                <a:tc>
                  <a:txBody>
                    <a:bodyPr/>
                    <a:lstStyle/>
                    <a:p>
                      <a:pPr algn="ctr" fontAlgn="ctr"/>
                      <a:r>
                        <a:rPr lang="zh-CN" altLang="en-US" sz="2000" u="none" strike="noStrike" dirty="0">
                          <a:effectLst/>
                        </a:rPr>
                        <a:t>中性</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0</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0</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0</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0</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0</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en-US" altLang="zh-CN" sz="2000" u="none" strike="noStrike" dirty="0">
                          <a:effectLst/>
                        </a:rPr>
                        <a:t>0</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4364263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标普评级法：</a:t>
            </a:r>
            <a:r>
              <a:rPr lang="zh-CN" altLang="en-US" sz="3600" dirty="0"/>
              <a:t>主体信用状况</a:t>
            </a:r>
          </a:p>
        </p:txBody>
      </p:sp>
      <p:graphicFrame>
        <p:nvGraphicFramePr>
          <p:cNvPr id="10" name="内容占位符 9">
            <a:extLst>
              <a:ext uri="{FF2B5EF4-FFF2-40B4-BE49-F238E27FC236}">
                <a16:creationId xmlns:a16="http://schemas.microsoft.com/office/drawing/2014/main" id="{2268386A-AF58-460D-8950-A649C70D960E}"/>
              </a:ext>
            </a:extLst>
          </p:cNvPr>
          <p:cNvGraphicFramePr>
            <a:graphicFrameLocks noGrp="1"/>
          </p:cNvGraphicFramePr>
          <p:nvPr>
            <p:ph idx="1"/>
            <p:extLst>
              <p:ext uri="{D42A27DB-BD31-4B8C-83A1-F6EECF244321}">
                <p14:modId xmlns:p14="http://schemas.microsoft.com/office/powerpoint/2010/main" val="86991681"/>
              </p:ext>
            </p:extLst>
          </p:nvPr>
        </p:nvGraphicFramePr>
        <p:xfrm>
          <a:off x="949325" y="2581276"/>
          <a:ext cx="15378697" cy="6976616"/>
        </p:xfrm>
        <a:graphic>
          <a:graphicData uri="http://schemas.openxmlformats.org/drawingml/2006/table">
            <a:tbl>
              <a:tblPr firstRow="1" bandRow="1">
                <a:tableStyleId>{B301B821-A1FF-4177-AEE7-76D212191A09}</a:tableStyleId>
              </a:tblPr>
              <a:tblGrid>
                <a:gridCol w="1332299">
                  <a:extLst>
                    <a:ext uri="{9D8B030D-6E8A-4147-A177-3AD203B41FA5}">
                      <a16:colId xmlns:a16="http://schemas.microsoft.com/office/drawing/2014/main" val="20000"/>
                    </a:ext>
                  </a:extLst>
                </a:gridCol>
                <a:gridCol w="1991720">
                  <a:extLst>
                    <a:ext uri="{9D8B030D-6E8A-4147-A177-3AD203B41FA5}">
                      <a16:colId xmlns:a16="http://schemas.microsoft.com/office/drawing/2014/main" val="20001"/>
                    </a:ext>
                  </a:extLst>
                </a:gridCol>
                <a:gridCol w="1809049">
                  <a:extLst>
                    <a:ext uri="{9D8B030D-6E8A-4147-A177-3AD203B41FA5}">
                      <a16:colId xmlns:a16="http://schemas.microsoft.com/office/drawing/2014/main" val="20002"/>
                    </a:ext>
                  </a:extLst>
                </a:gridCol>
                <a:gridCol w="2213822">
                  <a:extLst>
                    <a:ext uri="{9D8B030D-6E8A-4147-A177-3AD203B41FA5}">
                      <a16:colId xmlns:a16="http://schemas.microsoft.com/office/drawing/2014/main" val="1828952491"/>
                    </a:ext>
                  </a:extLst>
                </a:gridCol>
                <a:gridCol w="3370604">
                  <a:extLst>
                    <a:ext uri="{9D8B030D-6E8A-4147-A177-3AD203B41FA5}">
                      <a16:colId xmlns:a16="http://schemas.microsoft.com/office/drawing/2014/main" val="20004"/>
                    </a:ext>
                  </a:extLst>
                </a:gridCol>
                <a:gridCol w="4661203">
                  <a:extLst>
                    <a:ext uri="{9D8B030D-6E8A-4147-A177-3AD203B41FA5}">
                      <a16:colId xmlns:a16="http://schemas.microsoft.com/office/drawing/2014/main" val="20005"/>
                    </a:ext>
                  </a:extLst>
                </a:gridCol>
              </a:tblGrid>
              <a:tr h="434487">
                <a:tc gridSpan="2">
                  <a:txBody>
                    <a:bodyPr/>
                    <a:lstStyle/>
                    <a:p>
                      <a:pPr algn="ctr" fontAlgn="ctr"/>
                      <a:r>
                        <a:rPr lang="zh-CN" altLang="en-US" sz="2000" u="none" strike="noStrike" dirty="0">
                          <a:effectLst/>
                        </a:rPr>
                        <a:t>级别锚</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no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8A65"/>
                    </a:solidFill>
                  </a:tcPr>
                </a:tc>
                <a:tc hMerge="1">
                  <a:txBody>
                    <a:bodyPr/>
                    <a:lstStyle/>
                    <a:p>
                      <a:pPr algn="ctr" fontAlgn="ct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2000" u="none" strike="noStrike" dirty="0">
                          <a:effectLst/>
                        </a:rPr>
                        <a:t>a-</a:t>
                      </a:r>
                      <a:r>
                        <a:rPr lang="zh-CN" altLang="en-US" sz="2000" u="none" strike="noStrike" dirty="0">
                          <a:effectLst/>
                        </a:rPr>
                        <a:t>及以上</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8A65"/>
                    </a:solidFill>
                  </a:tcPr>
                </a:tc>
                <a:tc>
                  <a:txBody>
                    <a:bodyPr/>
                    <a:lstStyle/>
                    <a:p>
                      <a:pPr algn="ctr"/>
                      <a:r>
                        <a:rPr lang="en-US" sz="2000" u="none" strike="noStrike" dirty="0" err="1">
                          <a:effectLst/>
                        </a:rPr>
                        <a:t>bbb</a:t>
                      </a:r>
                      <a:r>
                        <a:rPr lang="en-US" sz="2000" u="none" strike="noStrike" dirty="0">
                          <a:effectLst/>
                        </a:rPr>
                        <a:t>+</a:t>
                      </a:r>
                      <a:r>
                        <a:rPr lang="zh-CN" altLang="en-US" sz="2000" u="none" strike="noStrike" dirty="0">
                          <a:effectLst/>
                        </a:rPr>
                        <a:t>到</a:t>
                      </a:r>
                      <a:r>
                        <a:rPr lang="en-US" sz="2000" u="none" strike="noStrike" dirty="0" err="1">
                          <a:effectLst/>
                        </a:rPr>
                        <a:t>bbb</a:t>
                      </a:r>
                      <a:r>
                        <a:rPr lang="en-US" sz="2000" u="none" strike="noStrike" dirty="0">
                          <a:effectLst/>
                        </a:rPr>
                        <a:t>-</a:t>
                      </a:r>
                      <a:endParaRPr lang="zh-CN" altLang="en-US" sz="2000" dirty="0"/>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8A65"/>
                    </a:solidFill>
                  </a:tcPr>
                </a:tc>
                <a:tc>
                  <a:txBody>
                    <a:bodyPr/>
                    <a:lstStyle/>
                    <a:p>
                      <a:pPr algn="ctr" fontAlgn="ctr"/>
                      <a:r>
                        <a:rPr lang="en-US" sz="2000" u="none" strike="noStrike" dirty="0">
                          <a:effectLst/>
                        </a:rPr>
                        <a:t>bb+</a:t>
                      </a:r>
                      <a:r>
                        <a:rPr lang="zh-CN" altLang="en-US" sz="2000" u="none" strike="noStrike" dirty="0">
                          <a:effectLst/>
                        </a:rPr>
                        <a:t>到</a:t>
                      </a:r>
                      <a:r>
                        <a:rPr lang="en-US" sz="2000" u="none" strike="noStrike" dirty="0">
                          <a:effectLst/>
                        </a:rPr>
                        <a:t>bb-</a:t>
                      </a:r>
                      <a:endParaRPr 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8A65"/>
                    </a:solidFill>
                  </a:tcPr>
                </a:tc>
                <a:tc>
                  <a:txBody>
                    <a:bodyPr/>
                    <a:lstStyle/>
                    <a:p>
                      <a:pPr algn="ctr" fontAlgn="ctr"/>
                      <a:r>
                        <a:rPr lang="en-US" sz="2000" u="none" strike="noStrike" dirty="0">
                          <a:effectLst/>
                        </a:rPr>
                        <a:t>b+</a:t>
                      </a:r>
                      <a:r>
                        <a:rPr lang="zh-CN" altLang="en-US" sz="2000" u="none" strike="noStrike" dirty="0">
                          <a:effectLst/>
                        </a:rPr>
                        <a:t>及以下</a:t>
                      </a:r>
                      <a:endParaRPr lang="zh-CN" altLang="en-US" sz="2000" b="1"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8A65"/>
                    </a:solidFill>
                  </a:tcPr>
                </a:tc>
                <a:extLst>
                  <a:ext uri="{0D108BD9-81ED-4DB2-BD59-A6C34878D82A}">
                    <a16:rowId xmlns:a16="http://schemas.microsoft.com/office/drawing/2014/main" val="10000"/>
                  </a:ext>
                </a:extLst>
              </a:tr>
              <a:tr h="392880">
                <a:tc rowSpan="5">
                  <a:txBody>
                    <a:bodyPr/>
                    <a:lstStyle/>
                    <a:p>
                      <a:pPr algn="ctr" fontAlgn="ctr"/>
                      <a:r>
                        <a:rPr lang="zh-CN" altLang="en-US" sz="2000" u="none" strike="noStrike" dirty="0">
                          <a:effectLst/>
                        </a:rPr>
                        <a:t>资本结构</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no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a:txBody>
                    <a:bodyPr/>
                    <a:lstStyle/>
                    <a:p>
                      <a:pPr algn="ctr" fontAlgn="ctr"/>
                      <a:r>
                        <a:rPr lang="zh-CN" altLang="en-US" sz="2000" u="none" strike="noStrike" dirty="0">
                          <a:effectLst/>
                        </a:rPr>
                        <a:t>十分积极</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gridSpan="4">
                  <a:txBody>
                    <a:bodyPr/>
                    <a:lstStyle/>
                    <a:p>
                      <a:pPr algn="ctr" fontAlgn="ctr"/>
                      <a:r>
                        <a:rPr lang="en-US" altLang="zh-CN" sz="2000" u="none" strike="noStrike" dirty="0">
                          <a:effectLst/>
                        </a:rPr>
                        <a:t>+2</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hMerge="1">
                  <a:txBody>
                    <a:bodyPr/>
                    <a:lstStyle/>
                    <a:p>
                      <a:endParaRPr lang="zh-CN" altLang="en-US"/>
                    </a:p>
                  </a:txBody>
                  <a:tcPr>
                    <a:lnL w="38100" cap="flat" cmpd="sng" algn="ctr">
                      <a:solidFill>
                        <a:schemeClr val="bg1">
                          <a:lumMod val="85000"/>
                        </a:schemeClr>
                      </a:solidFill>
                      <a:prstDash val="solid"/>
                      <a:round/>
                      <a:headEnd type="none" w="med" len="med"/>
                      <a:tailEnd type="none" w="med" len="med"/>
                    </a:lnL>
                    <a:lnT w="38100" cap="flat" cmpd="sng" algn="ctr">
                      <a:solidFill>
                        <a:schemeClr val="bg1">
                          <a:lumMod val="85000"/>
                        </a:schemeClr>
                      </a:solidFill>
                      <a:prstDash val="solid"/>
                      <a:round/>
                      <a:headEnd type="none" w="med" len="med"/>
                      <a:tailEnd type="none" w="med" len="med"/>
                    </a:lnT>
                  </a:tcPr>
                </a:tc>
                <a:tc hMerge="1">
                  <a:txBody>
                    <a:bodyPr/>
                    <a:lstStyle/>
                    <a:p>
                      <a:pPr algn="ctr" fontAlgn="ct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bg1">
                          <a:lumMod val="85000"/>
                        </a:schemeClr>
                      </a:solidFill>
                      <a:prstDash val="solid"/>
                      <a:round/>
                      <a:headEnd type="none" w="med" len="med"/>
                      <a:tailEnd type="none" w="med" len="med"/>
                    </a:lnL>
                    <a:lnT w="38100" cap="flat" cmpd="sng" algn="ctr">
                      <a:solidFill>
                        <a:schemeClr val="bg1">
                          <a:lumMod val="85000"/>
                        </a:schemeClr>
                      </a:solidFill>
                      <a:prstDash val="solid"/>
                      <a:round/>
                      <a:headEnd type="none" w="med" len="med"/>
                      <a:tailEnd type="none" w="med" len="med"/>
                    </a:lnT>
                  </a:tcPr>
                </a:tc>
                <a:tc hMerge="1">
                  <a:txBody>
                    <a:bodyPr/>
                    <a:lstStyle/>
                    <a:p>
                      <a:pPr algn="ctr" fontAlgn="ct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a:noFill/>
                    </a:lnL>
                    <a:lnT w="38100" cap="flat" cmpd="sng" algn="ctr">
                      <a:solidFill>
                        <a:schemeClr val="accent3"/>
                      </a:solidFill>
                      <a:prstDash val="solid"/>
                      <a:round/>
                      <a:headEnd type="none" w="med" len="med"/>
                      <a:tailEnd type="none" w="med" len="med"/>
                    </a:lnT>
                  </a:tcPr>
                </a:tc>
                <a:extLst>
                  <a:ext uri="{0D108BD9-81ED-4DB2-BD59-A6C34878D82A}">
                    <a16:rowId xmlns:a16="http://schemas.microsoft.com/office/drawing/2014/main" val="10001"/>
                  </a:ext>
                </a:extLst>
              </a:tr>
              <a:tr h="392880">
                <a:tc vMerge="1">
                  <a:txBody>
                    <a:bodyPr/>
                    <a:lstStyle/>
                    <a:p>
                      <a:endParaRPr lang="zh-CN" altLang="en-US"/>
                    </a:p>
                  </a:txBody>
                  <a:tcPr/>
                </a:tc>
                <a:tc>
                  <a:txBody>
                    <a:bodyPr/>
                    <a:lstStyle/>
                    <a:p>
                      <a:pPr algn="ctr" fontAlgn="ctr"/>
                      <a:r>
                        <a:rPr lang="zh-CN" altLang="en-US" sz="2000" u="none" strike="noStrike" dirty="0">
                          <a:effectLst/>
                        </a:rPr>
                        <a:t>积极</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gridSpan="4">
                  <a:txBody>
                    <a:bodyPr/>
                    <a:lstStyle/>
                    <a:p>
                      <a:pPr algn="ctr" fontAlgn="ctr"/>
                      <a:r>
                        <a:rPr lang="en-US" altLang="zh-CN" sz="2000" u="none" strike="noStrike" dirty="0">
                          <a:effectLst/>
                        </a:rPr>
                        <a:t>+1</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hMerge="1">
                  <a:txBody>
                    <a:bodyPr/>
                    <a:lstStyle/>
                    <a:p>
                      <a:endParaRPr lang="zh-CN" altLang="en-US"/>
                    </a:p>
                  </a:txBody>
                  <a:tcPr>
                    <a:lnL w="38100" cap="flat" cmpd="sng" algn="ctr">
                      <a:solidFill>
                        <a:schemeClr val="bg1">
                          <a:lumMod val="85000"/>
                        </a:schemeClr>
                      </a:solidFill>
                      <a:prstDash val="solid"/>
                      <a:round/>
                      <a:headEnd type="none" w="med" len="med"/>
                      <a:tailEnd type="none" w="med" len="med"/>
                    </a:lnL>
                  </a:tcPr>
                </a:tc>
                <a:tc hMerge="1">
                  <a:txBody>
                    <a:bodyPr/>
                    <a:lstStyle/>
                    <a:p>
                      <a:pPr algn="ctr" fontAlgn="ct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bg1">
                          <a:lumMod val="85000"/>
                        </a:schemeClr>
                      </a:solidFill>
                      <a:prstDash val="solid"/>
                      <a:round/>
                      <a:headEnd type="none" w="med" len="med"/>
                      <a:tailEnd type="none" w="med" len="med"/>
                    </a:lnL>
                  </a:tcPr>
                </a:tc>
                <a:tc hMerge="1">
                  <a:txBody>
                    <a:bodyPr/>
                    <a:lstStyle/>
                    <a:p>
                      <a:pPr algn="ctr" fontAlgn="ct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a:noFill/>
                    </a:lnL>
                  </a:tcPr>
                </a:tc>
                <a:extLst>
                  <a:ext uri="{0D108BD9-81ED-4DB2-BD59-A6C34878D82A}">
                    <a16:rowId xmlns:a16="http://schemas.microsoft.com/office/drawing/2014/main" val="10002"/>
                  </a:ext>
                </a:extLst>
              </a:tr>
              <a:tr h="392880">
                <a:tc vMerge="1">
                  <a:txBody>
                    <a:bodyPr/>
                    <a:lstStyle/>
                    <a:p>
                      <a:endParaRPr lang="zh-CN" altLang="en-US"/>
                    </a:p>
                  </a:txBody>
                  <a:tcPr/>
                </a:tc>
                <a:tc>
                  <a:txBody>
                    <a:bodyPr/>
                    <a:lstStyle/>
                    <a:p>
                      <a:pPr algn="ctr" fontAlgn="ctr"/>
                      <a:r>
                        <a:rPr lang="zh-CN" altLang="en-US" sz="2000" u="none" strike="noStrike" dirty="0">
                          <a:effectLst/>
                        </a:rPr>
                        <a:t>中性</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gridSpan="4">
                  <a:txBody>
                    <a:bodyPr/>
                    <a:lstStyle/>
                    <a:p>
                      <a:pPr algn="ctr" fontAlgn="ctr"/>
                      <a:r>
                        <a:rPr lang="en-US" altLang="zh-CN" sz="2000" u="none" strike="noStrike" dirty="0">
                          <a:effectLst/>
                        </a:rPr>
                        <a:t>0</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hMerge="1">
                  <a:txBody>
                    <a:bodyPr/>
                    <a:lstStyle/>
                    <a:p>
                      <a:endParaRPr lang="zh-CN" altLang="en-US"/>
                    </a:p>
                  </a:txBody>
                  <a:tcPr>
                    <a:lnL w="38100" cap="flat" cmpd="sng" algn="ctr">
                      <a:solidFill>
                        <a:schemeClr val="bg1">
                          <a:lumMod val="85000"/>
                        </a:schemeClr>
                      </a:solidFill>
                      <a:prstDash val="solid"/>
                      <a:round/>
                      <a:headEnd type="none" w="med" len="med"/>
                      <a:tailEnd type="none" w="med" len="med"/>
                    </a:lnL>
                  </a:tcPr>
                </a:tc>
                <a:tc hMerge="1">
                  <a:txBody>
                    <a:bodyPr/>
                    <a:lstStyle/>
                    <a:p>
                      <a:pPr algn="ctr" fontAlgn="ct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bg1">
                          <a:lumMod val="85000"/>
                        </a:schemeClr>
                      </a:solidFill>
                      <a:prstDash val="solid"/>
                      <a:round/>
                      <a:headEnd type="none" w="med" len="med"/>
                      <a:tailEnd type="none" w="med" len="med"/>
                    </a:lnL>
                  </a:tcPr>
                </a:tc>
                <a:tc hMerge="1">
                  <a:txBody>
                    <a:bodyPr/>
                    <a:lstStyle/>
                    <a:p>
                      <a:pPr algn="ctr" fontAlgn="ct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a:noFill/>
                    </a:lnL>
                  </a:tcPr>
                </a:tc>
                <a:extLst>
                  <a:ext uri="{0D108BD9-81ED-4DB2-BD59-A6C34878D82A}">
                    <a16:rowId xmlns:a16="http://schemas.microsoft.com/office/drawing/2014/main" val="10003"/>
                  </a:ext>
                </a:extLst>
              </a:tr>
              <a:tr h="392880">
                <a:tc vMerge="1">
                  <a:txBody>
                    <a:bodyPr/>
                    <a:lstStyle/>
                    <a:p>
                      <a:endParaRPr lang="zh-CN" altLang="en-US"/>
                    </a:p>
                  </a:txBody>
                  <a:tcPr/>
                </a:tc>
                <a:tc>
                  <a:txBody>
                    <a:bodyPr/>
                    <a:lstStyle/>
                    <a:p>
                      <a:pPr algn="ctr" fontAlgn="ctr"/>
                      <a:r>
                        <a:rPr lang="zh-CN" altLang="en-US" sz="2000" u="none" strike="noStrike" dirty="0">
                          <a:effectLst/>
                        </a:rPr>
                        <a:t>偏负面</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gridSpan="4">
                  <a:txBody>
                    <a:bodyPr/>
                    <a:lstStyle/>
                    <a:p>
                      <a:pPr algn="ctr" fontAlgn="ctr"/>
                      <a:r>
                        <a:rPr lang="en-US" altLang="zh-CN" sz="2000" u="none" strike="noStrike" dirty="0">
                          <a:effectLst/>
                        </a:rPr>
                        <a:t>-1</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hMerge="1">
                  <a:txBody>
                    <a:bodyPr/>
                    <a:lstStyle/>
                    <a:p>
                      <a:endParaRPr lang="zh-CN" altLang="en-US"/>
                    </a:p>
                  </a:txBody>
                  <a:tcPr>
                    <a:lnL w="38100" cap="flat" cmpd="sng" algn="ctr">
                      <a:solidFill>
                        <a:schemeClr val="bg1">
                          <a:lumMod val="85000"/>
                        </a:schemeClr>
                      </a:solidFill>
                      <a:prstDash val="solid"/>
                      <a:round/>
                      <a:headEnd type="none" w="med" len="med"/>
                      <a:tailEnd type="none" w="med" len="med"/>
                    </a:lnL>
                  </a:tcPr>
                </a:tc>
                <a:tc hMerge="1">
                  <a:txBody>
                    <a:bodyPr/>
                    <a:lstStyle/>
                    <a:p>
                      <a:pPr algn="ctr" fontAlgn="ct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bg1">
                          <a:lumMod val="85000"/>
                        </a:schemeClr>
                      </a:solidFill>
                      <a:prstDash val="solid"/>
                      <a:round/>
                      <a:headEnd type="none" w="med" len="med"/>
                      <a:tailEnd type="none" w="med" len="med"/>
                    </a:lnL>
                  </a:tcPr>
                </a:tc>
                <a:tc hMerge="1">
                  <a:txBody>
                    <a:bodyPr/>
                    <a:lstStyle/>
                    <a:p>
                      <a:pPr algn="ctr" fontAlgn="ct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a:noFill/>
                    </a:lnL>
                  </a:tcPr>
                </a:tc>
                <a:extLst>
                  <a:ext uri="{0D108BD9-81ED-4DB2-BD59-A6C34878D82A}">
                    <a16:rowId xmlns:a16="http://schemas.microsoft.com/office/drawing/2014/main" val="10004"/>
                  </a:ext>
                </a:extLst>
              </a:tr>
              <a:tr h="392880">
                <a:tc vMerge="1">
                  <a:txBody>
                    <a:bodyPr/>
                    <a:lstStyle/>
                    <a:p>
                      <a:endParaRPr lang="zh-CN" altLang="en-US"/>
                    </a:p>
                  </a:txBody>
                  <a:tcPr/>
                </a:tc>
                <a:tc>
                  <a:txBody>
                    <a:bodyPr/>
                    <a:lstStyle/>
                    <a:p>
                      <a:pPr algn="ctr" fontAlgn="ctr"/>
                      <a:r>
                        <a:rPr lang="zh-CN" altLang="en-US" sz="2000" u="none" strike="noStrike" dirty="0">
                          <a:effectLst/>
                        </a:rPr>
                        <a:t>负面</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gridSpan="3">
                  <a:txBody>
                    <a:bodyPr/>
                    <a:lstStyle/>
                    <a:p>
                      <a:pPr algn="ctr" fontAlgn="ctr"/>
                      <a:r>
                        <a:rPr lang="en-US" altLang="zh-CN" sz="2000" u="none" strike="noStrike" dirty="0">
                          <a:effectLst/>
                        </a:rPr>
                        <a:t>-2</a:t>
                      </a:r>
                      <a:r>
                        <a:rPr lang="zh-CN" altLang="en-US" sz="2000" u="none" strike="noStrike" dirty="0">
                          <a:effectLst/>
                        </a:rPr>
                        <a:t>或更多</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hMerge="1">
                  <a:txBody>
                    <a:bodyPr/>
                    <a:lstStyle/>
                    <a:p>
                      <a:endParaRPr lang="zh-CN" altLang="en-US"/>
                    </a:p>
                  </a:txBody>
                  <a:tcPr>
                    <a:lnL w="38100" cap="flat" cmpd="sng" algn="ctr">
                      <a:solidFill>
                        <a:schemeClr val="bg1">
                          <a:lumMod val="85000"/>
                        </a:schemeClr>
                      </a:solidFill>
                      <a:prstDash val="solid"/>
                      <a:round/>
                      <a:headEnd type="none" w="med" len="med"/>
                      <a:tailEnd type="none" w="med" len="med"/>
                    </a:lnL>
                  </a:tcPr>
                </a:tc>
                <a:tc hMerge="1">
                  <a:txBody>
                    <a:bodyPr/>
                    <a:lstStyle/>
                    <a:p>
                      <a:pPr algn="ctr" fontAlgn="ct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bg1">
                          <a:lumMod val="85000"/>
                        </a:schemeClr>
                      </a:solidFill>
                      <a:prstDash val="solid"/>
                      <a:round/>
                      <a:headEnd type="none" w="med" len="med"/>
                      <a:tailEnd type="none" w="med" len="med"/>
                    </a:lnL>
                  </a:tcPr>
                </a:tc>
                <a:tc>
                  <a:txBody>
                    <a:bodyPr/>
                    <a:lstStyle/>
                    <a:p>
                      <a:pPr algn="ctr" fontAlgn="ctr"/>
                      <a:r>
                        <a:rPr lang="en-US" altLang="zh-CN" sz="2000" u="none" strike="noStrike" dirty="0">
                          <a:effectLst/>
                        </a:rPr>
                        <a:t>-2</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extLst>
                  <a:ext uri="{0D108BD9-81ED-4DB2-BD59-A6C34878D82A}">
                    <a16:rowId xmlns:a16="http://schemas.microsoft.com/office/drawing/2014/main" val="10005"/>
                  </a:ext>
                </a:extLst>
              </a:tr>
              <a:tr h="392880">
                <a:tc rowSpan="4">
                  <a:txBody>
                    <a:bodyPr/>
                    <a:lstStyle/>
                    <a:p>
                      <a:pPr algn="ctr" fontAlgn="ctr"/>
                      <a:r>
                        <a:rPr lang="zh-CN" altLang="en-US" sz="2000" u="none" strike="noStrike" dirty="0">
                          <a:effectLst/>
                        </a:rPr>
                        <a:t>财务政策</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no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a:txBody>
                    <a:bodyPr/>
                    <a:lstStyle/>
                    <a:p>
                      <a:pPr algn="ctr" fontAlgn="ctr"/>
                      <a:r>
                        <a:rPr lang="zh-CN" altLang="en-US" sz="2000" u="none" strike="noStrike" dirty="0">
                          <a:effectLst/>
                        </a:rPr>
                        <a:t>积极</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gridSpan="2">
                  <a:txBody>
                    <a:bodyPr/>
                    <a:lstStyle/>
                    <a:p>
                      <a:pPr algn="ctr" fontAlgn="ctr"/>
                      <a:r>
                        <a:rPr lang="en-US" altLang="zh-CN" sz="2000" u="none" strike="noStrike" dirty="0">
                          <a:effectLst/>
                        </a:rPr>
                        <a:t>+1</a:t>
                      </a:r>
                      <a:r>
                        <a:rPr lang="zh-CN" altLang="en-US" sz="2000" u="none" strike="noStrike" dirty="0">
                          <a:effectLst/>
                        </a:rPr>
                        <a:t>，如果</a:t>
                      </a:r>
                      <a:r>
                        <a:rPr lang="en-US" altLang="zh-CN" sz="2000" u="none" strike="noStrike" dirty="0">
                          <a:effectLst/>
                        </a:rPr>
                        <a:t>M&amp;G</a:t>
                      </a:r>
                      <a:r>
                        <a:rPr lang="zh-CN" altLang="en-US" sz="2000" u="none" strike="noStrike" dirty="0">
                          <a:effectLst/>
                        </a:rPr>
                        <a:t>处于良好或以上</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hMerge="1">
                  <a:txBody>
                    <a:bodyPr/>
                    <a:lstStyle/>
                    <a:p>
                      <a:pPr algn="ctr" fontAlgn="ctr"/>
                      <a:endParaRPr lang="zh-CN" altLang="en-US" sz="18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bg1">
                          <a:lumMod val="85000"/>
                        </a:schemeClr>
                      </a:solidFill>
                      <a:prstDash val="solid"/>
                      <a:round/>
                      <a:headEnd type="none" w="med" len="med"/>
                      <a:tailEnd type="none" w="med" len="med"/>
                    </a:lnL>
                  </a:tcPr>
                </a:tc>
                <a:tc gridSpan="2">
                  <a:txBody>
                    <a:bodyPr/>
                    <a:lstStyle/>
                    <a:p>
                      <a:pPr algn="ctr" fontAlgn="ctr"/>
                      <a:r>
                        <a:rPr lang="en-US" altLang="zh-CN" sz="2000" u="none" strike="noStrike" dirty="0">
                          <a:effectLst/>
                        </a:rPr>
                        <a:t>+1</a:t>
                      </a:r>
                      <a:r>
                        <a:rPr lang="zh-CN" altLang="en-US" sz="2000" u="none" strike="noStrike" dirty="0">
                          <a:effectLst/>
                        </a:rPr>
                        <a:t>，如果流动性处于充足或以上且</a:t>
                      </a:r>
                      <a:r>
                        <a:rPr lang="en-US" altLang="zh-CN" sz="2000" u="none" strike="noStrike" dirty="0">
                          <a:effectLst/>
                        </a:rPr>
                        <a:t>M&amp;G</a:t>
                      </a:r>
                      <a:r>
                        <a:rPr lang="zh-CN" altLang="en-US" sz="2000" u="none" strike="noStrike" dirty="0">
                          <a:effectLst/>
                        </a:rPr>
                        <a:t>处于良好或以上</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hMerge="1">
                  <a:txBody>
                    <a:bodyPr/>
                    <a:lstStyle/>
                    <a:p>
                      <a:pPr algn="ctr" fontAlgn="ctr"/>
                      <a:endParaRPr lang="zh-CN" altLang="en-US" sz="18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a:noFill/>
                    </a:lnL>
                    <a:lnT w="38100" cap="flat" cmpd="sng" algn="ctr">
                      <a:solidFill>
                        <a:schemeClr val="accent3"/>
                      </a:solidFill>
                      <a:prstDash val="solid"/>
                      <a:round/>
                      <a:headEnd type="none" w="med" len="med"/>
                      <a:tailEnd type="none" w="med" len="med"/>
                    </a:lnT>
                  </a:tcPr>
                </a:tc>
                <a:extLst>
                  <a:ext uri="{0D108BD9-81ED-4DB2-BD59-A6C34878D82A}">
                    <a16:rowId xmlns:a16="http://schemas.microsoft.com/office/drawing/2014/main" val="10006"/>
                  </a:ext>
                </a:extLst>
              </a:tr>
              <a:tr h="392880">
                <a:tc vMerge="1">
                  <a:txBody>
                    <a:bodyPr/>
                    <a:lstStyle/>
                    <a:p>
                      <a:endParaRPr lang="zh-CN" altLang="en-US"/>
                    </a:p>
                  </a:txBody>
                  <a:tcPr/>
                </a:tc>
                <a:tc>
                  <a:txBody>
                    <a:bodyPr/>
                    <a:lstStyle/>
                    <a:p>
                      <a:pPr algn="ctr" fontAlgn="ctr"/>
                      <a:r>
                        <a:rPr lang="zh-CN" altLang="en-US" sz="2000" u="none" strike="noStrike" dirty="0">
                          <a:effectLst/>
                        </a:rPr>
                        <a:t>中性</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gridSpan="4">
                  <a:txBody>
                    <a:bodyPr/>
                    <a:lstStyle/>
                    <a:p>
                      <a:pPr algn="ctr" fontAlgn="ctr"/>
                      <a:r>
                        <a:rPr lang="en-US" altLang="zh-CN" sz="2000" u="none" strike="noStrike" dirty="0">
                          <a:effectLst/>
                        </a:rPr>
                        <a:t>0</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hMerge="1">
                  <a:txBody>
                    <a:bodyPr/>
                    <a:lstStyle/>
                    <a:p>
                      <a:endParaRPr lang="zh-CN" altLang="en-US"/>
                    </a:p>
                  </a:txBody>
                  <a:tcPr>
                    <a:lnL w="38100" cap="flat" cmpd="sng" algn="ctr">
                      <a:solidFill>
                        <a:schemeClr val="bg1">
                          <a:lumMod val="85000"/>
                        </a:schemeClr>
                      </a:solidFill>
                      <a:prstDash val="solid"/>
                      <a:round/>
                      <a:headEnd type="none" w="med" len="med"/>
                      <a:tailEnd type="none" w="med" len="med"/>
                    </a:lnL>
                  </a:tcPr>
                </a:tc>
                <a:tc hMerge="1">
                  <a:txBody>
                    <a:bodyPr/>
                    <a:lstStyle/>
                    <a:p>
                      <a:pPr algn="ctr" fontAlgn="ctr"/>
                      <a:endParaRPr lang="zh-CN" altLang="en-US" sz="18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bg1">
                          <a:lumMod val="85000"/>
                        </a:schemeClr>
                      </a:solidFill>
                      <a:prstDash val="solid"/>
                      <a:round/>
                      <a:headEnd type="none" w="med" len="med"/>
                      <a:tailEnd type="none" w="med" len="med"/>
                    </a:lnL>
                    <a:lnT w="38100" cap="flat" cmpd="sng" algn="ctr">
                      <a:solidFill>
                        <a:schemeClr val="bg1">
                          <a:lumMod val="85000"/>
                        </a:schemeClr>
                      </a:solidFill>
                      <a:prstDash val="solid"/>
                      <a:round/>
                      <a:headEnd type="none" w="med" len="med"/>
                      <a:tailEnd type="none" w="med" len="med"/>
                    </a:lnT>
                  </a:tcPr>
                </a:tc>
                <a:tc hMerge="1">
                  <a:txBody>
                    <a:bodyPr/>
                    <a:lstStyle/>
                    <a:p>
                      <a:pPr algn="ctr" fontAlgn="ctr"/>
                      <a:endParaRPr lang="zh-CN" altLang="en-US" sz="18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a:noFill/>
                    </a:lnL>
                  </a:tcPr>
                </a:tc>
                <a:extLst>
                  <a:ext uri="{0D108BD9-81ED-4DB2-BD59-A6C34878D82A}">
                    <a16:rowId xmlns:a16="http://schemas.microsoft.com/office/drawing/2014/main" val="10007"/>
                  </a:ext>
                </a:extLst>
              </a:tr>
              <a:tr h="392880">
                <a:tc vMerge="1">
                  <a:txBody>
                    <a:bodyPr/>
                    <a:lstStyle/>
                    <a:p>
                      <a:endParaRPr lang="zh-CN" altLang="en-US"/>
                    </a:p>
                  </a:txBody>
                  <a:tcPr/>
                </a:tc>
                <a:tc>
                  <a:txBody>
                    <a:bodyPr/>
                    <a:lstStyle/>
                    <a:p>
                      <a:pPr algn="ctr" fontAlgn="ctr"/>
                      <a:r>
                        <a:rPr lang="zh-CN" altLang="en-US" sz="2000" u="none" strike="noStrike" dirty="0">
                          <a:effectLst/>
                        </a:rPr>
                        <a:t>偏负面</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gridSpan="2">
                  <a:txBody>
                    <a:bodyPr/>
                    <a:lstStyle/>
                    <a:p>
                      <a:pPr algn="ctr" fontAlgn="ctr"/>
                      <a:r>
                        <a:rPr lang="en-US" altLang="zh-CN" sz="2000" u="none" strike="noStrike" dirty="0">
                          <a:effectLst/>
                        </a:rPr>
                        <a:t>-1</a:t>
                      </a:r>
                      <a:r>
                        <a:rPr lang="zh-CN" altLang="en-US" sz="2000" u="none" strike="noStrike" dirty="0">
                          <a:effectLst/>
                        </a:rPr>
                        <a:t>到</a:t>
                      </a:r>
                      <a:r>
                        <a:rPr lang="en-US" altLang="zh-CN" sz="2000" u="none" strike="noStrike" dirty="0">
                          <a:effectLst/>
                        </a:rPr>
                        <a:t>-3</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hMerge="1">
                  <a:txBody>
                    <a:bodyPr/>
                    <a:lstStyle/>
                    <a:p>
                      <a:pPr algn="ctr" fontAlgn="ctr"/>
                      <a:endParaRPr lang="zh-CN" altLang="en-US" sz="18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bg1">
                          <a:lumMod val="85000"/>
                        </a:schemeClr>
                      </a:solidFill>
                      <a:prstDash val="solid"/>
                      <a:round/>
                      <a:headEnd type="none" w="med" len="med"/>
                      <a:tailEnd type="none" w="med" len="med"/>
                    </a:lnL>
                  </a:tcPr>
                </a:tc>
                <a:tc>
                  <a:txBody>
                    <a:bodyPr/>
                    <a:lstStyle/>
                    <a:p>
                      <a:pPr algn="ctr" fontAlgn="ctr"/>
                      <a:r>
                        <a:rPr lang="en-US" altLang="zh-CN" sz="2000" u="none" strike="noStrike" dirty="0">
                          <a:effectLst/>
                        </a:rPr>
                        <a:t>-1</a:t>
                      </a:r>
                      <a:r>
                        <a:rPr lang="zh-CN" altLang="en-US" sz="2000" u="none" strike="noStrike" dirty="0">
                          <a:effectLst/>
                        </a:rPr>
                        <a:t>到</a:t>
                      </a:r>
                      <a:r>
                        <a:rPr lang="en-US" altLang="zh-CN" sz="2000" u="none" strike="noStrike" dirty="0">
                          <a:effectLst/>
                        </a:rPr>
                        <a:t>-2</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a:txBody>
                    <a:bodyPr/>
                    <a:lstStyle/>
                    <a:p>
                      <a:pPr algn="ctr" fontAlgn="ctr"/>
                      <a:r>
                        <a:rPr lang="en-US" altLang="zh-CN" sz="2000" u="none" strike="noStrike" dirty="0">
                          <a:effectLst/>
                        </a:rPr>
                        <a:t>-1</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8"/>
                  </a:ext>
                </a:extLst>
              </a:tr>
              <a:tr h="392880">
                <a:tc vMerge="1">
                  <a:txBody>
                    <a:bodyPr/>
                    <a:lstStyle/>
                    <a:p>
                      <a:endParaRPr lang="zh-CN" altLang="en-US"/>
                    </a:p>
                  </a:txBody>
                  <a:tcPr/>
                </a:tc>
                <a:tc>
                  <a:txBody>
                    <a:bodyPr/>
                    <a:lstStyle/>
                    <a:p>
                      <a:pPr algn="ctr" fontAlgn="ctr"/>
                      <a:r>
                        <a:rPr lang="zh-CN" altLang="en-US" sz="2000" u="none" strike="noStrike" dirty="0">
                          <a:effectLst/>
                        </a:rPr>
                        <a:t>负面</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gridSpan="4">
                  <a:txBody>
                    <a:bodyPr/>
                    <a:lstStyle/>
                    <a:p>
                      <a:pPr algn="ctr" fontAlgn="ctr"/>
                      <a:r>
                        <a:rPr lang="en-US" sz="2000" u="none" strike="noStrike" dirty="0">
                          <a:effectLst/>
                        </a:rPr>
                        <a:t>N/A</a:t>
                      </a:r>
                      <a:endParaRPr 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hMerge="1">
                  <a:txBody>
                    <a:bodyPr/>
                    <a:lstStyle/>
                    <a:p>
                      <a:endParaRPr lang="zh-CN" altLang="en-US"/>
                    </a:p>
                  </a:txBody>
                  <a:tcPr>
                    <a:lnL w="38100" cap="flat" cmpd="sng" algn="ctr">
                      <a:solidFill>
                        <a:schemeClr val="bg1">
                          <a:lumMod val="85000"/>
                        </a:schemeClr>
                      </a:solidFill>
                      <a:prstDash val="solid"/>
                      <a:round/>
                      <a:headEnd type="none" w="med" len="med"/>
                      <a:tailEnd type="none" w="med" len="med"/>
                    </a:lnL>
                  </a:tcPr>
                </a:tc>
                <a:tc hMerge="1">
                  <a:txBody>
                    <a:bodyPr/>
                    <a:lstStyle/>
                    <a:p>
                      <a:pPr algn="ctr" fontAlgn="ctr"/>
                      <a:endParaRPr lang="en-US" sz="18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bg1">
                          <a:lumMod val="85000"/>
                        </a:schemeClr>
                      </a:solidFill>
                      <a:prstDash val="solid"/>
                      <a:round/>
                      <a:headEnd type="none" w="med" len="med"/>
                      <a:tailEnd type="none" w="med" len="med"/>
                    </a:lnL>
                    <a:lnT w="38100" cap="flat" cmpd="sng" algn="ctr">
                      <a:solidFill>
                        <a:schemeClr val="bg1">
                          <a:lumMod val="85000"/>
                        </a:schemeClr>
                      </a:solidFill>
                      <a:prstDash val="solid"/>
                      <a:round/>
                      <a:headEnd type="none" w="med" len="med"/>
                      <a:tailEnd type="none" w="med" len="med"/>
                    </a:lnT>
                  </a:tcPr>
                </a:tc>
                <a:tc hMerge="1">
                  <a:txBody>
                    <a:bodyPr/>
                    <a:lstStyle/>
                    <a:p>
                      <a:pPr algn="ctr" fontAlgn="ctr"/>
                      <a:endParaRPr lang="en-US" sz="18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a:noFill/>
                    </a:lnL>
                    <a:lnT w="38100" cap="flat" cmpd="sng" algn="ctr">
                      <a:solidFill>
                        <a:schemeClr val="accent3"/>
                      </a:solidFill>
                      <a:prstDash val="solid"/>
                      <a:round/>
                      <a:headEnd type="none" w="med" len="med"/>
                      <a:tailEnd type="none" w="med" len="med"/>
                    </a:lnT>
                  </a:tcPr>
                </a:tc>
                <a:extLst>
                  <a:ext uri="{0D108BD9-81ED-4DB2-BD59-A6C34878D82A}">
                    <a16:rowId xmlns:a16="http://schemas.microsoft.com/office/drawing/2014/main" val="10009"/>
                  </a:ext>
                </a:extLst>
              </a:tr>
              <a:tr h="648929">
                <a:tc rowSpan="3">
                  <a:txBody>
                    <a:bodyPr/>
                    <a:lstStyle/>
                    <a:p>
                      <a:pPr algn="ctr" fontAlgn="ctr"/>
                      <a:r>
                        <a:rPr lang="zh-CN" altLang="en-US" sz="2000" u="none" strike="noStrike" dirty="0">
                          <a:effectLst/>
                        </a:rPr>
                        <a:t>流动性</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no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a:txBody>
                    <a:bodyPr/>
                    <a:lstStyle/>
                    <a:p>
                      <a:pPr algn="ctr" fontAlgn="ctr"/>
                      <a:r>
                        <a:rPr lang="zh-CN" altLang="en-US" sz="2000" u="none" strike="noStrike" dirty="0">
                          <a:effectLst/>
                        </a:rPr>
                        <a:t>强</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gridSpan="2">
                  <a:txBody>
                    <a:bodyPr/>
                    <a:lstStyle/>
                    <a:p>
                      <a:pPr algn="ctr" fontAlgn="ctr"/>
                      <a:r>
                        <a:rPr lang="en-US" altLang="zh-CN" sz="2000" u="none" strike="noStrike" dirty="0">
                          <a:effectLst/>
                        </a:rPr>
                        <a:t>0</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hMerge="1">
                  <a:txBody>
                    <a:bodyPr/>
                    <a:lstStyle/>
                    <a:p>
                      <a:pPr algn="ctr" fontAlgn="ct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bg1">
                          <a:lumMod val="85000"/>
                        </a:schemeClr>
                      </a:solidFill>
                      <a:prstDash val="solid"/>
                      <a:round/>
                      <a:headEnd type="none" w="med" len="med"/>
                      <a:tailEnd type="none" w="med" len="med"/>
                    </a:lnL>
                  </a:tcPr>
                </a:tc>
                <a:tc>
                  <a:txBody>
                    <a:bodyPr/>
                    <a:lstStyle/>
                    <a:p>
                      <a:pPr algn="ctr" fontAlgn="ctr"/>
                      <a:r>
                        <a:rPr lang="en-US" altLang="zh-CN" sz="2000" u="none" strike="noStrike" dirty="0">
                          <a:effectLst/>
                        </a:rPr>
                        <a:t>0</a:t>
                      </a:r>
                      <a:r>
                        <a:rPr lang="zh-CN" altLang="en-US" sz="2000" u="none" strike="noStrike" dirty="0">
                          <a:effectLst/>
                        </a:rPr>
                        <a:t>（关注积极或中性的财务政策）</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a:txBody>
                    <a:bodyPr/>
                    <a:lstStyle/>
                    <a:p>
                      <a:pPr algn="ctr" fontAlgn="ctr"/>
                      <a:r>
                        <a:rPr lang="en-US" altLang="zh-CN" sz="2000" u="none" strike="noStrike" dirty="0">
                          <a:effectLst/>
                        </a:rPr>
                        <a:t>+1</a:t>
                      </a:r>
                      <a:r>
                        <a:rPr lang="zh-CN" altLang="en-US" sz="2000" u="none" strike="noStrike" dirty="0">
                          <a:effectLst/>
                        </a:rPr>
                        <a:t>，如果财务政策的级别是积极或中性</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0"/>
                  </a:ext>
                </a:extLst>
              </a:tr>
              <a:tr h="392880">
                <a:tc vMerge="1">
                  <a:txBody>
                    <a:bodyPr/>
                    <a:lstStyle/>
                    <a:p>
                      <a:endParaRPr lang="zh-CN" altLang="en-US"/>
                    </a:p>
                  </a:txBody>
                  <a:tcPr/>
                </a:tc>
                <a:tc>
                  <a:txBody>
                    <a:bodyPr/>
                    <a:lstStyle/>
                    <a:p>
                      <a:pPr algn="ctr" fontAlgn="ctr"/>
                      <a:r>
                        <a:rPr lang="zh-CN" altLang="en-US" sz="2000" u="none" strike="noStrike" dirty="0">
                          <a:effectLst/>
                        </a:rPr>
                        <a:t>欠充足</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gridSpan="2">
                  <a:txBody>
                    <a:bodyPr/>
                    <a:lstStyle/>
                    <a:p>
                      <a:pPr algn="ctr" fontAlgn="ctr"/>
                      <a:r>
                        <a:rPr lang="en-US" sz="2000" u="none" strike="noStrike" dirty="0">
                          <a:effectLst/>
                        </a:rPr>
                        <a:t>N/A</a:t>
                      </a:r>
                      <a:endParaRPr 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hMerge="1">
                  <a:txBody>
                    <a:bodyPr/>
                    <a:lstStyle/>
                    <a:p>
                      <a:pPr algn="ctr" fontAlgn="ctr"/>
                      <a:endParaRPr 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bg1">
                          <a:lumMod val="85000"/>
                        </a:schemeClr>
                      </a:solidFill>
                      <a:prstDash val="solid"/>
                      <a:round/>
                      <a:headEnd type="none" w="med" len="med"/>
                      <a:tailEnd type="none" w="med" len="med"/>
                    </a:lnL>
                  </a:tcPr>
                </a:tc>
                <a:tc>
                  <a:txBody>
                    <a:bodyPr/>
                    <a:lstStyle/>
                    <a:p>
                      <a:pPr algn="ctr" fontAlgn="ctr"/>
                      <a:r>
                        <a:rPr lang="en-US" altLang="zh-CN" sz="2000" u="none" strike="noStrike" dirty="0">
                          <a:effectLst/>
                        </a:rPr>
                        <a:t>-1</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a:txBody>
                    <a:bodyPr/>
                    <a:lstStyle/>
                    <a:p>
                      <a:pPr algn="ctr" fontAlgn="ctr"/>
                      <a:r>
                        <a:rPr lang="en-US" altLang="zh-CN" sz="2000" u="none" strike="noStrike" dirty="0">
                          <a:effectLst/>
                        </a:rPr>
                        <a:t>0</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extLst>
                  <a:ext uri="{0D108BD9-81ED-4DB2-BD59-A6C34878D82A}">
                    <a16:rowId xmlns:a16="http://schemas.microsoft.com/office/drawing/2014/main" val="10011"/>
                  </a:ext>
                </a:extLst>
              </a:tr>
              <a:tr h="392880">
                <a:tc vMerge="1">
                  <a:txBody>
                    <a:bodyPr/>
                    <a:lstStyle/>
                    <a:p>
                      <a:endParaRPr lang="zh-CN" altLang="en-US"/>
                    </a:p>
                  </a:txBody>
                  <a:tcPr/>
                </a:tc>
                <a:tc>
                  <a:txBody>
                    <a:bodyPr/>
                    <a:lstStyle/>
                    <a:p>
                      <a:pPr algn="ctr" fontAlgn="ctr"/>
                      <a:r>
                        <a:rPr lang="zh-CN" altLang="en-US" sz="2000" u="none" strike="noStrike" dirty="0">
                          <a:effectLst/>
                        </a:rPr>
                        <a:t>弱</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gridSpan="3">
                  <a:txBody>
                    <a:bodyPr/>
                    <a:lstStyle/>
                    <a:p>
                      <a:pPr algn="ctr" fontAlgn="ctr"/>
                      <a:r>
                        <a:rPr lang="en-US" sz="2000" u="none" strike="noStrike" dirty="0">
                          <a:effectLst/>
                        </a:rPr>
                        <a:t>N/A</a:t>
                      </a:r>
                      <a:endParaRPr 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hMerge="1">
                  <a:txBody>
                    <a:bodyPr/>
                    <a:lstStyle/>
                    <a:p>
                      <a:endParaRPr lang="zh-CN" altLang="en-US"/>
                    </a:p>
                  </a:txBody>
                  <a:tcPr>
                    <a:lnL w="38100" cap="flat" cmpd="sng" algn="ctr">
                      <a:solidFill>
                        <a:schemeClr val="bg1">
                          <a:lumMod val="85000"/>
                        </a:schemeClr>
                      </a:solidFill>
                      <a:prstDash val="solid"/>
                      <a:round/>
                      <a:headEnd type="none" w="med" len="med"/>
                      <a:tailEnd type="none" w="med" len="med"/>
                    </a:lnL>
                  </a:tcPr>
                </a:tc>
                <a:tc hMerge="1">
                  <a:txBody>
                    <a:bodyPr/>
                    <a:lstStyle/>
                    <a:p>
                      <a:pPr algn="ctr" fontAlgn="ctr"/>
                      <a:endParaRPr 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bg1">
                          <a:lumMod val="85000"/>
                        </a:schemeClr>
                      </a:solidFill>
                      <a:prstDash val="solid"/>
                      <a:round/>
                      <a:headEnd type="none" w="med" len="med"/>
                      <a:tailEnd type="none" w="med" len="med"/>
                    </a:lnL>
                    <a:lnT w="38100" cap="flat" cmpd="sng" algn="ctr">
                      <a:solidFill>
                        <a:schemeClr val="bg1">
                          <a:lumMod val="85000"/>
                        </a:schemeClr>
                      </a:solidFill>
                      <a:prstDash val="solid"/>
                      <a:round/>
                      <a:headEnd type="none" w="med" len="med"/>
                      <a:tailEnd type="none" w="med" len="med"/>
                    </a:lnT>
                  </a:tcPr>
                </a:tc>
                <a:tc>
                  <a:txBody>
                    <a:bodyPr/>
                    <a:lstStyle/>
                    <a:p>
                      <a:pPr algn="ctr" fontAlgn="ctr"/>
                      <a:r>
                        <a:rPr lang="zh-CN" altLang="en-US" sz="2000" u="none" strike="noStrike" dirty="0">
                          <a:effectLst/>
                        </a:rPr>
                        <a:t>最高不能超过</a:t>
                      </a:r>
                      <a:r>
                        <a:rPr lang="en-US" altLang="zh-CN" sz="2000" u="none" strike="noStrike" dirty="0">
                          <a:effectLst/>
                        </a:rPr>
                        <a:t>b-</a:t>
                      </a:r>
                      <a:endParaRPr lang="en-US" altLang="zh-CN"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2"/>
                  </a:ext>
                </a:extLst>
              </a:tr>
              <a:tr h="392880">
                <a:tc rowSpan="4">
                  <a:txBody>
                    <a:bodyPr/>
                    <a:lstStyle/>
                    <a:p>
                      <a:pPr algn="ctr" fontAlgn="ctr"/>
                      <a:r>
                        <a:rPr lang="zh-CN" altLang="en-US" sz="2000" u="none" strike="noStrike" dirty="0">
                          <a:effectLst/>
                        </a:rPr>
                        <a:t>管理和治理</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no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a:txBody>
                    <a:bodyPr/>
                    <a:lstStyle/>
                    <a:p>
                      <a:pPr algn="ctr" fontAlgn="ctr"/>
                      <a:r>
                        <a:rPr lang="zh-CN" altLang="en-US" sz="2000" u="none" strike="noStrike" dirty="0">
                          <a:effectLst/>
                        </a:rPr>
                        <a:t>强</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gridSpan="2">
                  <a:txBody>
                    <a:bodyPr/>
                    <a:lstStyle/>
                    <a:p>
                      <a:pPr algn="ctr" fontAlgn="ctr"/>
                      <a:r>
                        <a:rPr lang="en-US" altLang="zh-CN" sz="2000" u="none" strike="noStrike" dirty="0">
                          <a:effectLst/>
                        </a:rPr>
                        <a:t>0</a:t>
                      </a:r>
                      <a:r>
                        <a:rPr lang="zh-CN" altLang="en-US" sz="2000" u="none" strike="noStrike" dirty="0">
                          <a:effectLst/>
                        </a:rPr>
                        <a:t>（关注积极的财务政策）</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hMerge="1">
                  <a:txBody>
                    <a:bodyPr/>
                    <a:lstStyle/>
                    <a:p>
                      <a:pPr algn="ctr" fontAlgn="ctr"/>
                      <a:endParaRPr lang="zh-CN" altLang="en-US" sz="18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bg1">
                          <a:lumMod val="85000"/>
                        </a:schemeClr>
                      </a:solidFill>
                      <a:prstDash val="solid"/>
                      <a:round/>
                      <a:headEnd type="none" w="med" len="med"/>
                      <a:tailEnd type="none" w="med" len="med"/>
                    </a:lnL>
                  </a:tcPr>
                </a:tc>
                <a:tc>
                  <a:txBody>
                    <a:bodyPr/>
                    <a:lstStyle/>
                    <a:p>
                      <a:pPr algn="ctr" fontAlgn="ctr"/>
                      <a:r>
                        <a:rPr lang="en-US" altLang="zh-CN" sz="2000" u="none" strike="noStrike" dirty="0">
                          <a:effectLst/>
                        </a:rPr>
                        <a:t>0</a:t>
                      </a:r>
                      <a:r>
                        <a:rPr lang="zh-CN" altLang="en-US" sz="2000" u="none" strike="noStrike" dirty="0">
                          <a:effectLst/>
                        </a:rPr>
                        <a:t>或</a:t>
                      </a:r>
                      <a:r>
                        <a:rPr lang="en-US" altLang="zh-CN" sz="2000" u="none" strike="noStrike" dirty="0">
                          <a:effectLst/>
                        </a:rPr>
                        <a:t>+1</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a:txBody>
                    <a:bodyPr/>
                    <a:lstStyle/>
                    <a:p>
                      <a:pPr algn="ctr" fontAlgn="ctr"/>
                      <a:r>
                        <a:rPr lang="en-US" altLang="zh-CN" sz="2000" u="none" strike="noStrike" dirty="0">
                          <a:effectLst/>
                        </a:rPr>
                        <a:t>0</a:t>
                      </a:r>
                      <a:r>
                        <a:rPr lang="zh-CN" altLang="en-US" sz="2000" u="none" strike="noStrike" dirty="0">
                          <a:effectLst/>
                        </a:rPr>
                        <a:t>或</a:t>
                      </a:r>
                      <a:r>
                        <a:rPr lang="en-US" altLang="zh-CN" sz="2000" u="none" strike="noStrike" dirty="0">
                          <a:effectLst/>
                        </a:rPr>
                        <a:t>+1</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extLst>
                  <a:ext uri="{0D108BD9-81ED-4DB2-BD59-A6C34878D82A}">
                    <a16:rowId xmlns:a16="http://schemas.microsoft.com/office/drawing/2014/main" val="10013"/>
                  </a:ext>
                </a:extLst>
              </a:tr>
              <a:tr h="392880">
                <a:tc vMerge="1">
                  <a:txBody>
                    <a:bodyPr/>
                    <a:lstStyle/>
                    <a:p>
                      <a:endParaRPr lang="zh-CN" altLang="en-US"/>
                    </a:p>
                  </a:txBody>
                  <a:tcPr/>
                </a:tc>
                <a:tc>
                  <a:txBody>
                    <a:bodyPr/>
                    <a:lstStyle/>
                    <a:p>
                      <a:pPr algn="ctr" fontAlgn="ctr"/>
                      <a:r>
                        <a:rPr lang="zh-CN" altLang="en-US" sz="2000" u="none" strike="noStrike" dirty="0">
                          <a:effectLst/>
                        </a:rPr>
                        <a:t>良好</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gridSpan="3">
                  <a:txBody>
                    <a:bodyPr/>
                    <a:lstStyle/>
                    <a:p>
                      <a:pPr algn="ctr" fontAlgn="ctr"/>
                      <a:r>
                        <a:rPr lang="en-US" altLang="zh-CN" sz="2000" u="none" strike="noStrike" dirty="0">
                          <a:effectLst/>
                        </a:rPr>
                        <a:t>0</a:t>
                      </a:r>
                      <a:r>
                        <a:rPr lang="zh-CN" altLang="en-US" sz="2000" u="none" strike="noStrike" dirty="0">
                          <a:effectLst/>
                        </a:rPr>
                        <a:t>（关注积极的财务政策）</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hMerge="1">
                  <a:txBody>
                    <a:bodyPr/>
                    <a:lstStyle/>
                    <a:p>
                      <a:endParaRPr lang="zh-CN" altLang="en-US"/>
                    </a:p>
                  </a:txBody>
                  <a:tcPr>
                    <a:lnL w="38100" cap="flat" cmpd="sng" algn="ctr">
                      <a:solidFill>
                        <a:schemeClr val="bg1">
                          <a:lumMod val="85000"/>
                        </a:schemeClr>
                      </a:solidFill>
                      <a:prstDash val="solid"/>
                      <a:round/>
                      <a:headEnd type="none" w="med" len="med"/>
                      <a:tailEnd type="none" w="med" len="med"/>
                    </a:lnL>
                  </a:tcPr>
                </a:tc>
                <a:tc hMerge="1">
                  <a:txBody>
                    <a:bodyPr/>
                    <a:lstStyle/>
                    <a:p>
                      <a:pPr algn="ctr" fontAlgn="ctr"/>
                      <a:endParaRPr lang="zh-CN" altLang="en-US" sz="18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bg1">
                          <a:lumMod val="85000"/>
                        </a:schemeClr>
                      </a:solidFill>
                      <a:prstDash val="solid"/>
                      <a:round/>
                      <a:headEnd type="none" w="med" len="med"/>
                      <a:tailEnd type="none" w="med" len="med"/>
                    </a:lnL>
                    <a:lnT w="38100" cap="flat" cmpd="sng" algn="ctr">
                      <a:solidFill>
                        <a:schemeClr val="bg1">
                          <a:lumMod val="85000"/>
                        </a:schemeClr>
                      </a:solidFill>
                      <a:prstDash val="solid"/>
                      <a:round/>
                      <a:headEnd type="none" w="med" len="med"/>
                      <a:tailEnd type="none" w="med" len="med"/>
                    </a:lnT>
                  </a:tcPr>
                </a:tc>
                <a:tc>
                  <a:txBody>
                    <a:bodyPr/>
                    <a:lstStyle/>
                    <a:p>
                      <a:pPr algn="ctr" fontAlgn="ctr"/>
                      <a:r>
                        <a:rPr lang="en-US" altLang="zh-CN" sz="2000" u="none" strike="noStrike" dirty="0">
                          <a:effectLst/>
                        </a:rPr>
                        <a:t>0</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4"/>
                  </a:ext>
                </a:extLst>
              </a:tr>
              <a:tr h="392880">
                <a:tc vMerge="1">
                  <a:txBody>
                    <a:bodyPr/>
                    <a:lstStyle/>
                    <a:p>
                      <a:endParaRPr lang="zh-CN" altLang="en-US"/>
                    </a:p>
                  </a:txBody>
                  <a:tcPr/>
                </a:tc>
                <a:tc>
                  <a:txBody>
                    <a:bodyPr/>
                    <a:lstStyle/>
                    <a:p>
                      <a:pPr algn="ctr" fontAlgn="ctr"/>
                      <a:r>
                        <a:rPr lang="zh-CN" altLang="en-US" sz="2000" u="none" strike="noStrike" dirty="0">
                          <a:effectLst/>
                        </a:rPr>
                        <a:t>一般</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a:txBody>
                    <a:bodyPr/>
                    <a:lstStyle/>
                    <a:p>
                      <a:pPr algn="ctr" fontAlgn="ctr"/>
                      <a:r>
                        <a:rPr lang="en-US" altLang="zh-CN" sz="2000" u="none" strike="noStrike" dirty="0">
                          <a:effectLst/>
                        </a:rPr>
                        <a:t>-1</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gridSpan="3">
                  <a:txBody>
                    <a:bodyPr/>
                    <a:lstStyle/>
                    <a:p>
                      <a:pPr algn="ctr"/>
                      <a:r>
                        <a:rPr lang="en-US" altLang="zh-CN" sz="2000" u="none" strike="noStrike" dirty="0">
                          <a:effectLst/>
                        </a:rPr>
                        <a:t>0</a:t>
                      </a:r>
                      <a:endParaRPr lang="zh-CN" altLang="en-US" sz="2000" dirty="0"/>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rgbClr val="FFE8E0"/>
                    </a:solidFill>
                  </a:tcPr>
                </a:tc>
                <a:tc hMerge="1">
                  <a:txBody>
                    <a:bodyPr/>
                    <a:lstStyle/>
                    <a:p>
                      <a:pPr algn="ctr" fontAlgn="ctr"/>
                      <a:endParaRPr lang="zh-CN" altLang="en-US" sz="18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bg1">
                          <a:lumMod val="85000"/>
                        </a:schemeClr>
                      </a:solidFill>
                      <a:prstDash val="solid"/>
                      <a:round/>
                      <a:headEnd type="none" w="med" len="med"/>
                      <a:tailEnd type="none" w="med" len="med"/>
                    </a:lnL>
                  </a:tcPr>
                </a:tc>
                <a:tc hMerge="1">
                  <a:txBody>
                    <a:bodyPr/>
                    <a:lstStyle/>
                    <a:p>
                      <a:pPr algn="ctr" fontAlgn="ctr"/>
                      <a:endParaRPr lang="zh-CN" altLang="en-US" sz="18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a:noFill/>
                    </a:lnL>
                    <a:lnT w="38100" cap="flat" cmpd="sng" algn="ctr">
                      <a:solidFill>
                        <a:schemeClr val="accent3"/>
                      </a:solidFill>
                      <a:prstDash val="solid"/>
                      <a:round/>
                      <a:headEnd type="none" w="med" len="med"/>
                      <a:tailEnd type="none" w="med" len="med"/>
                    </a:lnT>
                  </a:tcPr>
                </a:tc>
                <a:extLst>
                  <a:ext uri="{0D108BD9-81ED-4DB2-BD59-A6C34878D82A}">
                    <a16:rowId xmlns:a16="http://schemas.microsoft.com/office/drawing/2014/main" val="10015"/>
                  </a:ext>
                </a:extLst>
              </a:tr>
              <a:tr h="392880">
                <a:tc vMerge="1">
                  <a:txBody>
                    <a:bodyPr/>
                    <a:lstStyle/>
                    <a:p>
                      <a:endParaRPr lang="zh-CN" altLang="en-US"/>
                    </a:p>
                  </a:txBody>
                  <a:tcPr/>
                </a:tc>
                <a:tc>
                  <a:txBody>
                    <a:bodyPr/>
                    <a:lstStyle/>
                    <a:p>
                      <a:pPr algn="ctr" fontAlgn="ctr"/>
                      <a:r>
                        <a:rPr lang="zh-CN" altLang="en-US" sz="2000" u="none" strike="noStrike" dirty="0">
                          <a:effectLst/>
                        </a:rPr>
                        <a:t>弱</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gridSpan="2">
                  <a:txBody>
                    <a:bodyPr/>
                    <a:lstStyle/>
                    <a:p>
                      <a:pPr algn="ctr" fontAlgn="ctr"/>
                      <a:r>
                        <a:rPr lang="en-US" altLang="zh-CN" sz="2000" u="none" strike="noStrike" dirty="0">
                          <a:effectLst/>
                        </a:rPr>
                        <a:t>-2</a:t>
                      </a:r>
                      <a:r>
                        <a:rPr lang="zh-CN" altLang="en-US" sz="2000" u="none" strike="noStrike" dirty="0">
                          <a:effectLst/>
                        </a:rPr>
                        <a:t>或更多</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solidFill>
                        <a:schemeClr val="accent3"/>
                      </a:solid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hMerge="1">
                  <a:txBody>
                    <a:bodyPr/>
                    <a:lstStyle/>
                    <a:p>
                      <a:endParaRPr lang="zh-CN" altLang="en-US"/>
                    </a:p>
                  </a:txBody>
                  <a:tcPr>
                    <a:lnL w="38100" cap="flat" cmpd="sng" algn="ctr">
                      <a:solidFill>
                        <a:schemeClr val="bg1">
                          <a:lumMod val="85000"/>
                        </a:schemeClr>
                      </a:solidFill>
                      <a:prstDash val="solid"/>
                      <a:round/>
                      <a:headEnd type="none" w="med" len="med"/>
                      <a:tailEnd type="none" w="med" len="med"/>
                    </a:lnL>
                    <a:lnT w="38100" cap="flat" cmpd="sng" algn="ctr">
                      <a:solidFill>
                        <a:schemeClr val="bg1">
                          <a:lumMod val="85000"/>
                        </a:schemeClr>
                      </a:solidFill>
                      <a:prstDash val="solid"/>
                      <a:round/>
                      <a:headEnd type="none" w="med" len="med"/>
                      <a:tailEnd type="none" w="med" len="med"/>
                    </a:lnT>
                  </a:tcPr>
                </a:tc>
                <a:tc gridSpan="2">
                  <a:txBody>
                    <a:bodyPr/>
                    <a:lstStyle/>
                    <a:p>
                      <a:pPr algn="ctr" fontAlgn="ctr"/>
                      <a:r>
                        <a:rPr lang="en-US" altLang="zh-CN" sz="2000" u="none" strike="noStrike" dirty="0">
                          <a:effectLst/>
                        </a:rPr>
                        <a:t>-1</a:t>
                      </a:r>
                      <a:r>
                        <a:rPr lang="zh-CN" altLang="en-US" sz="2000" u="none" strike="noStrike" dirty="0">
                          <a:effectLst/>
                        </a:rPr>
                        <a:t>或更多</a:t>
                      </a:r>
                      <a:endParaRPr lang="zh-CN" altLang="en-US" sz="20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w="38100" cap="flat" cmpd="sng" algn="ctr">
                      <a:solidFill>
                        <a:schemeClr val="accent3"/>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3"/>
                      </a:solidFill>
                      <a:prstDash val="solid"/>
                      <a:round/>
                      <a:headEnd type="none" w="med" len="med"/>
                      <a:tailEnd type="none" w="med" len="med"/>
                    </a:lnT>
                    <a:lnB w="38100" cap="flat" cmpd="sng" algn="ctr">
                      <a:solidFill>
                        <a:schemeClr val="accent3"/>
                      </a:solidFill>
                      <a:prstDash val="solid"/>
                      <a:round/>
                      <a:headEnd type="none" w="med" len="med"/>
                      <a:tailEnd type="none" w="med" len="med"/>
                    </a:lnB>
                    <a:solidFill>
                      <a:schemeClr val="bg1">
                        <a:lumMod val="95000"/>
                      </a:schemeClr>
                    </a:solidFill>
                  </a:tcPr>
                </a:tc>
                <a:tc hMerge="1">
                  <a:txBody>
                    <a:bodyPr/>
                    <a:lstStyle/>
                    <a:p>
                      <a:pPr algn="ctr" fontAlgn="ctr"/>
                      <a:endParaRPr lang="zh-CN" altLang="en-US" sz="1800" b="0" i="0" u="none" strike="noStrike" dirty="0">
                        <a:solidFill>
                          <a:schemeClr val="bg1"/>
                        </a:solidFill>
                        <a:effectLst/>
                        <a:latin typeface="微软雅黑" panose="020B0503020204020204" pitchFamily="34" charset="-122"/>
                        <a:ea typeface="微软雅黑" panose="020B0503020204020204" pitchFamily="34" charset="-122"/>
                      </a:endParaRPr>
                    </a:p>
                  </a:txBody>
                  <a:tcPr marL="13500" marR="13500" marT="13500" marB="0" anchor="ctr">
                    <a:lnL>
                      <a:noFill/>
                    </a:lnL>
                  </a:tcPr>
                </a:tc>
                <a:extLst>
                  <a:ext uri="{0D108BD9-81ED-4DB2-BD59-A6C34878D82A}">
                    <a16:rowId xmlns:a16="http://schemas.microsoft.com/office/drawing/2014/main" val="10016"/>
                  </a:ext>
                </a:extLst>
              </a:tr>
            </a:tbl>
          </a:graphicData>
        </a:graphic>
      </p:graphicFrame>
      <p:sp>
        <p:nvSpPr>
          <p:cNvPr id="9" name="文本占位符 8">
            <a:extLst>
              <a:ext uri="{FF2B5EF4-FFF2-40B4-BE49-F238E27FC236}">
                <a16:creationId xmlns:a16="http://schemas.microsoft.com/office/drawing/2014/main" id="{EE9805EC-04B0-4EE4-944E-EDF401D68837}"/>
              </a:ext>
            </a:extLst>
          </p:cNvPr>
          <p:cNvSpPr>
            <a:spLocks noGrp="1"/>
          </p:cNvSpPr>
          <p:nvPr>
            <p:ph type="body" idx="10"/>
          </p:nvPr>
        </p:nvSpPr>
        <p:spPr/>
        <p:txBody>
          <a:bodyPr/>
          <a:lstStyle/>
          <a:p>
            <a:r>
              <a:rPr lang="zh-CN" altLang="en-US" sz="2400" dirty="0"/>
              <a:t>第二次调整：对资本结构、流动性、财务政策、公司管理治理四项要素进行单独评分，再次调整</a:t>
            </a:r>
          </a:p>
        </p:txBody>
      </p:sp>
    </p:spTree>
    <p:extLst>
      <p:ext uri="{BB962C8B-B14F-4D97-AF65-F5344CB8AC3E}">
        <p14:creationId xmlns:p14="http://schemas.microsoft.com/office/powerpoint/2010/main" val="255536267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标普评级法：</a:t>
            </a:r>
            <a:r>
              <a:rPr lang="zh-CN" altLang="en-US" sz="3600" dirty="0"/>
              <a:t>确定主体评级</a:t>
            </a:r>
          </a:p>
        </p:txBody>
      </p:sp>
      <p:sp>
        <p:nvSpPr>
          <p:cNvPr id="7" name="内容占位符 6">
            <a:extLst>
              <a:ext uri="{FF2B5EF4-FFF2-40B4-BE49-F238E27FC236}">
                <a16:creationId xmlns:a16="http://schemas.microsoft.com/office/drawing/2014/main" id="{4AF4B92A-70E2-4AD4-B6F4-9865B8D1FBD1}"/>
              </a:ext>
            </a:extLst>
          </p:cNvPr>
          <p:cNvSpPr>
            <a:spLocks noGrp="1"/>
          </p:cNvSpPr>
          <p:nvPr>
            <p:ph idx="1"/>
          </p:nvPr>
        </p:nvSpPr>
        <p:spPr/>
        <p:txBody>
          <a:bodyPr/>
          <a:lstStyle/>
          <a:p>
            <a:r>
              <a:rPr lang="zh-CN" altLang="en-US" dirty="0"/>
              <a:t>依据企业主体信用状况和外部支持，微调得出企业的主体评级</a:t>
            </a:r>
          </a:p>
          <a:p>
            <a:pPr lvl="1"/>
            <a:endParaRPr lang="en-US" altLang="zh-CN" dirty="0"/>
          </a:p>
          <a:p>
            <a:pPr lvl="1"/>
            <a:r>
              <a:rPr lang="zh-CN" altLang="zh-CN" b="1" dirty="0"/>
              <a:t>股东实力和</a:t>
            </a:r>
            <a:r>
              <a:rPr lang="zh-CN" altLang="en-US" b="1" dirty="0"/>
              <a:t>支持</a:t>
            </a:r>
            <a:endParaRPr lang="en-US" altLang="zh-CN" dirty="0"/>
          </a:p>
          <a:p>
            <a:pPr lvl="2"/>
            <a:r>
              <a:rPr lang="zh-CN" altLang="zh-CN" dirty="0"/>
              <a:t>股东</a:t>
            </a:r>
            <a:r>
              <a:rPr lang="zh-CN" altLang="en-US" dirty="0"/>
              <a:t>支持：企业</a:t>
            </a:r>
            <a:r>
              <a:rPr lang="zh-CN" altLang="zh-CN" dirty="0"/>
              <a:t>性质、行业地位、竞争能力和财务状况；</a:t>
            </a:r>
            <a:endParaRPr lang="en-US" altLang="zh-CN" dirty="0"/>
          </a:p>
          <a:p>
            <a:pPr lvl="2"/>
            <a:r>
              <a:rPr lang="zh-CN" altLang="zh-CN" dirty="0"/>
              <a:t>支持可能性</a:t>
            </a:r>
            <a:r>
              <a:rPr lang="zh-CN" altLang="en-US" dirty="0"/>
              <a:t>：</a:t>
            </a:r>
            <a:r>
              <a:rPr lang="zh-CN" altLang="zh-CN" dirty="0"/>
              <a:t>在股东整</a:t>
            </a:r>
            <a:r>
              <a:rPr lang="zh-CN" altLang="en-US" dirty="0"/>
              <a:t>体</a:t>
            </a:r>
            <a:r>
              <a:rPr lang="zh-CN" altLang="zh-CN" dirty="0"/>
              <a:t>战略定位中的位置、业务体系里面的地位、历史支持的内容和力度</a:t>
            </a:r>
            <a:endParaRPr lang="en-US" altLang="zh-CN" dirty="0"/>
          </a:p>
          <a:p>
            <a:pPr lvl="2"/>
            <a:endParaRPr lang="en-US" altLang="zh-CN" dirty="0"/>
          </a:p>
          <a:p>
            <a:pPr lvl="1"/>
            <a:r>
              <a:rPr lang="zh-CN" altLang="zh-CN" b="1" dirty="0"/>
              <a:t>政府支持</a:t>
            </a:r>
            <a:endParaRPr lang="en-US" altLang="zh-CN" b="1" dirty="0"/>
          </a:p>
          <a:p>
            <a:pPr lvl="2"/>
            <a:r>
              <a:rPr lang="zh-CN" altLang="zh-CN" dirty="0"/>
              <a:t>政府实力</a:t>
            </a:r>
            <a:r>
              <a:rPr lang="zh-CN" altLang="en-US" dirty="0"/>
              <a:t>：</a:t>
            </a:r>
            <a:r>
              <a:rPr lang="zh-CN" altLang="zh-CN" dirty="0"/>
              <a:t>行政级别、区域经济环境、财政实力、地方政府债务负担状况等</a:t>
            </a:r>
            <a:endParaRPr lang="en-US" altLang="zh-CN" dirty="0"/>
          </a:p>
          <a:p>
            <a:pPr lvl="2"/>
            <a:r>
              <a:rPr lang="zh-CN" altLang="zh-CN" dirty="0"/>
              <a:t>支持可能性</a:t>
            </a:r>
            <a:r>
              <a:rPr lang="zh-CN" altLang="en-US" dirty="0"/>
              <a:t>：主体</a:t>
            </a:r>
            <a:r>
              <a:rPr lang="zh-CN" altLang="zh-CN" dirty="0"/>
              <a:t>业务公益性、获得政府支持的相关文件完备性、历史</a:t>
            </a:r>
            <a:r>
              <a:rPr lang="zh-CN" altLang="en-US" dirty="0"/>
              <a:t>上</a:t>
            </a:r>
            <a:r>
              <a:rPr lang="zh-CN" altLang="zh-CN" dirty="0"/>
              <a:t>支持</a:t>
            </a:r>
            <a:r>
              <a:rPr lang="zh-CN" altLang="en-US" dirty="0"/>
              <a:t>的情况</a:t>
            </a:r>
            <a:r>
              <a:rPr lang="zh-CN" altLang="zh-CN" dirty="0"/>
              <a:t>和方式</a:t>
            </a:r>
            <a:endParaRPr lang="zh-CN" altLang="en-US" dirty="0"/>
          </a:p>
          <a:p>
            <a:endParaRPr lang="zh-CN" altLang="en-US" dirty="0"/>
          </a:p>
        </p:txBody>
      </p:sp>
    </p:spTree>
    <p:extLst>
      <p:ext uri="{BB962C8B-B14F-4D97-AF65-F5344CB8AC3E}">
        <p14:creationId xmlns:p14="http://schemas.microsoft.com/office/powerpoint/2010/main" val="101662392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标普评级法：</a:t>
            </a:r>
            <a:r>
              <a:rPr lang="zh-CN" altLang="en-US" sz="3600" dirty="0"/>
              <a:t>债项评级的侧重</a:t>
            </a:r>
          </a:p>
        </p:txBody>
      </p:sp>
      <p:sp>
        <p:nvSpPr>
          <p:cNvPr id="9" name="内容占位符 8">
            <a:extLst>
              <a:ext uri="{FF2B5EF4-FFF2-40B4-BE49-F238E27FC236}">
                <a16:creationId xmlns:a16="http://schemas.microsoft.com/office/drawing/2014/main" id="{8FC7AB9D-F0F9-4E56-B5B0-B0EE5156045B}"/>
              </a:ext>
            </a:extLst>
          </p:cNvPr>
          <p:cNvSpPr>
            <a:spLocks noGrp="1"/>
          </p:cNvSpPr>
          <p:nvPr>
            <p:ph idx="1"/>
          </p:nvPr>
        </p:nvSpPr>
        <p:spPr/>
        <p:txBody>
          <a:bodyPr/>
          <a:lstStyle/>
          <a:p>
            <a:r>
              <a:rPr lang="zh-CN" altLang="en-US" b="1" dirty="0"/>
              <a:t>短债评级</a:t>
            </a:r>
          </a:p>
          <a:p>
            <a:pPr lvl="1"/>
            <a:r>
              <a:rPr lang="zh-CN" altLang="en-US" dirty="0"/>
              <a:t>主体信用不是重点</a:t>
            </a:r>
            <a:endParaRPr lang="en-US" altLang="zh-CN" dirty="0"/>
          </a:p>
          <a:p>
            <a:pPr lvl="1"/>
            <a:r>
              <a:rPr lang="zh-CN" altLang="en-US" dirty="0"/>
              <a:t>关注短期偿债能力</a:t>
            </a:r>
            <a:endParaRPr lang="en-US" altLang="zh-CN" dirty="0"/>
          </a:p>
          <a:p>
            <a:pPr lvl="2"/>
            <a:r>
              <a:rPr lang="zh-CN" altLang="en-US" dirty="0"/>
              <a:t>流动性资产和现金性资产</a:t>
            </a:r>
            <a:endParaRPr lang="en-US" altLang="zh-CN" dirty="0"/>
          </a:p>
          <a:p>
            <a:pPr lvl="2"/>
            <a:r>
              <a:rPr lang="zh-CN" altLang="en-US" dirty="0"/>
              <a:t>短期现金流分析和预测、投融资计划等</a:t>
            </a:r>
            <a:endParaRPr lang="en-US" altLang="zh-CN" dirty="0"/>
          </a:p>
          <a:p>
            <a:pPr lvl="2"/>
            <a:r>
              <a:rPr lang="zh-CN" altLang="en-US" dirty="0"/>
              <a:t>短期偿债指标，如现金净流入对短期债务的保障程度，银行授信等；</a:t>
            </a:r>
            <a:endParaRPr lang="en-US" altLang="zh-CN" dirty="0"/>
          </a:p>
          <a:p>
            <a:pPr lvl="2"/>
            <a:r>
              <a:rPr lang="zh-CN" altLang="en-US" dirty="0"/>
              <a:t>偿债保障措施</a:t>
            </a:r>
            <a:endParaRPr lang="en-US" altLang="zh-CN" dirty="0"/>
          </a:p>
          <a:p>
            <a:pPr lvl="2"/>
            <a:endParaRPr lang="en-US" altLang="zh-CN" dirty="0"/>
          </a:p>
          <a:p>
            <a:r>
              <a:rPr lang="zh-CN" altLang="en-US" b="1" dirty="0"/>
              <a:t>中长债评级</a:t>
            </a:r>
            <a:endParaRPr lang="en-US" altLang="zh-CN" b="1" dirty="0"/>
          </a:p>
          <a:p>
            <a:pPr lvl="1"/>
            <a:r>
              <a:rPr lang="zh-CN" altLang="en-US" dirty="0"/>
              <a:t>主体长期信用，与主体分析一致</a:t>
            </a:r>
          </a:p>
          <a:p>
            <a:pPr lvl="1"/>
            <a:r>
              <a:rPr lang="zh-CN" altLang="en-US" dirty="0"/>
              <a:t>债项评级关注中长期盈利能力、偿债能力、偿债保障能力</a:t>
            </a:r>
          </a:p>
        </p:txBody>
      </p:sp>
    </p:spTree>
    <p:extLst>
      <p:ext uri="{BB962C8B-B14F-4D97-AF65-F5344CB8AC3E}">
        <p14:creationId xmlns:p14="http://schemas.microsoft.com/office/powerpoint/2010/main" val="143184437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863915E-343A-4265-A781-700BED3CF05A}"/>
              </a:ext>
            </a:extLst>
          </p:cNvPr>
          <p:cNvSpPr>
            <a:spLocks noGrp="1"/>
          </p:cNvSpPr>
          <p:nvPr>
            <p:ph type="title"/>
          </p:nvPr>
        </p:nvSpPr>
        <p:spPr/>
        <p:txBody>
          <a:bodyPr/>
          <a:lstStyle/>
          <a:p>
            <a:r>
              <a:rPr lang="zh-CN" altLang="en-US" dirty="0"/>
              <a:t>（九）内部评级</a:t>
            </a:r>
          </a:p>
        </p:txBody>
      </p:sp>
      <p:sp>
        <p:nvSpPr>
          <p:cNvPr id="5" name="文本占位符 4">
            <a:extLst>
              <a:ext uri="{FF2B5EF4-FFF2-40B4-BE49-F238E27FC236}">
                <a16:creationId xmlns:a16="http://schemas.microsoft.com/office/drawing/2014/main" id="{4B77E82E-4BDD-4902-BDC1-D7B5AD06CEB2}"/>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443037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prstClr val="black"/>
                </a:solidFill>
                <a:latin typeface="+mn-ea"/>
              </a:rPr>
              <a:t>内部评级流程</a:t>
            </a:r>
            <a:endParaRPr lang="zh-CN" altLang="en-US" dirty="0"/>
          </a:p>
        </p:txBody>
      </p:sp>
      <p:sp>
        <p:nvSpPr>
          <p:cNvPr id="9" name="文本占位符 8">
            <a:extLst>
              <a:ext uri="{FF2B5EF4-FFF2-40B4-BE49-F238E27FC236}">
                <a16:creationId xmlns:a16="http://schemas.microsoft.com/office/drawing/2014/main" id="{401CFAA2-42EA-4BB7-AFCC-CF7393EFD46A}"/>
              </a:ext>
            </a:extLst>
          </p:cNvPr>
          <p:cNvSpPr>
            <a:spLocks noGrp="1"/>
          </p:cNvSpPr>
          <p:nvPr>
            <p:ph type="body" idx="10"/>
          </p:nvPr>
        </p:nvSpPr>
        <p:spPr>
          <a:xfrm>
            <a:off x="949497" y="1608881"/>
            <a:ext cx="15466444" cy="713405"/>
          </a:xfrm>
        </p:spPr>
        <p:txBody>
          <a:bodyPr/>
          <a:lstStyle/>
          <a:p>
            <a:pPr marL="475658">
              <a:lnSpc>
                <a:spcPct val="100000"/>
              </a:lnSpc>
              <a:buClr>
                <a:srgbClr val="7F7F7F"/>
              </a:buClr>
            </a:pPr>
            <a:r>
              <a:rPr lang="zh-CN" altLang="en-US" dirty="0">
                <a:solidFill>
                  <a:prstClr val="black"/>
                </a:solidFill>
                <a:latin typeface="+mn-ea"/>
              </a:rPr>
              <a:t>评级模型过程和步骤类似，但银行的优势是具有相对完备的、可跟踪的、高频的数据库</a:t>
            </a:r>
          </a:p>
        </p:txBody>
      </p:sp>
      <p:grpSp>
        <p:nvGrpSpPr>
          <p:cNvPr id="80" name="组合 79">
            <a:extLst>
              <a:ext uri="{FF2B5EF4-FFF2-40B4-BE49-F238E27FC236}">
                <a16:creationId xmlns:a16="http://schemas.microsoft.com/office/drawing/2014/main" id="{0FF188D8-A7DC-4F95-874B-31A8F622E100}"/>
              </a:ext>
            </a:extLst>
          </p:cNvPr>
          <p:cNvGrpSpPr/>
          <p:nvPr/>
        </p:nvGrpSpPr>
        <p:grpSpPr>
          <a:xfrm>
            <a:off x="471772" y="2766218"/>
            <a:ext cx="16156775" cy="5867320"/>
            <a:chOff x="1069412" y="2953643"/>
            <a:chExt cx="15783234" cy="5867320"/>
          </a:xfrm>
        </p:grpSpPr>
        <p:sp>
          <p:nvSpPr>
            <p:cNvPr id="13" name="流程图: 磁盘 12">
              <a:extLst>
                <a:ext uri="{FF2B5EF4-FFF2-40B4-BE49-F238E27FC236}">
                  <a16:creationId xmlns:a16="http://schemas.microsoft.com/office/drawing/2014/main" id="{E1B99C75-F374-47BE-A380-A2437A86851D}"/>
                </a:ext>
              </a:extLst>
            </p:cNvPr>
            <p:cNvSpPr/>
            <p:nvPr/>
          </p:nvSpPr>
          <p:spPr>
            <a:xfrm>
              <a:off x="1069412" y="5161613"/>
              <a:ext cx="1762381" cy="3659350"/>
            </a:xfrm>
            <a:prstGeom prst="flowChartMagneticDisk">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银行内部资料库</a:t>
              </a:r>
            </a:p>
          </p:txBody>
        </p:sp>
        <p:sp>
          <p:nvSpPr>
            <p:cNvPr id="11" name="流程图: 磁盘 10">
              <a:extLst>
                <a:ext uri="{FF2B5EF4-FFF2-40B4-BE49-F238E27FC236}">
                  <a16:creationId xmlns:a16="http://schemas.microsoft.com/office/drawing/2014/main" id="{4C6E19E6-1F92-415E-B453-AA9F22E20FCE}"/>
                </a:ext>
              </a:extLst>
            </p:cNvPr>
            <p:cNvSpPr/>
            <p:nvPr/>
          </p:nvSpPr>
          <p:spPr>
            <a:xfrm>
              <a:off x="1078315" y="3927108"/>
              <a:ext cx="1762381" cy="2448291"/>
            </a:xfrm>
            <a:prstGeom prst="flowChartMagneticDisk">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外部资料</a:t>
              </a:r>
              <a:endParaRPr lang="en-US" altLang="zh-CN" sz="2000" b="1" dirty="0"/>
            </a:p>
            <a:p>
              <a:pPr algn="ctr"/>
              <a:r>
                <a:rPr lang="en-US" altLang="zh-CN" sz="2000" b="1" dirty="0"/>
                <a:t>&amp;</a:t>
              </a:r>
            </a:p>
            <a:p>
              <a:pPr algn="ctr"/>
              <a:r>
                <a:rPr lang="zh-CN" altLang="en-US" sz="2000" b="1" dirty="0"/>
                <a:t>监控事项资料</a:t>
              </a:r>
            </a:p>
          </p:txBody>
        </p:sp>
        <p:sp>
          <p:nvSpPr>
            <p:cNvPr id="14" name="箭头: 右 13">
              <a:extLst>
                <a:ext uri="{FF2B5EF4-FFF2-40B4-BE49-F238E27FC236}">
                  <a16:creationId xmlns:a16="http://schemas.microsoft.com/office/drawing/2014/main" id="{C7633262-F021-4CD9-B2B3-E3D7945FB6D5}"/>
                </a:ext>
              </a:extLst>
            </p:cNvPr>
            <p:cNvSpPr/>
            <p:nvPr/>
          </p:nvSpPr>
          <p:spPr>
            <a:xfrm>
              <a:off x="2990516" y="5385253"/>
              <a:ext cx="571500" cy="1244600"/>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nvGrpSpPr>
            <p:cNvPr id="41" name="组合 40">
              <a:extLst>
                <a:ext uri="{FF2B5EF4-FFF2-40B4-BE49-F238E27FC236}">
                  <a16:creationId xmlns:a16="http://schemas.microsoft.com/office/drawing/2014/main" id="{1D509EC0-3911-49A9-83A1-ED8288AC4192}"/>
                </a:ext>
              </a:extLst>
            </p:cNvPr>
            <p:cNvGrpSpPr/>
            <p:nvPr/>
          </p:nvGrpSpPr>
          <p:grpSpPr>
            <a:xfrm>
              <a:off x="5260805" y="3137151"/>
              <a:ext cx="4953001" cy="2841906"/>
              <a:chOff x="4762499" y="2857500"/>
              <a:chExt cx="4953001" cy="2841906"/>
            </a:xfrm>
          </p:grpSpPr>
          <p:sp>
            <p:nvSpPr>
              <p:cNvPr id="17" name="矩形 16">
                <a:extLst>
                  <a:ext uri="{FF2B5EF4-FFF2-40B4-BE49-F238E27FC236}">
                    <a16:creationId xmlns:a16="http://schemas.microsoft.com/office/drawing/2014/main" id="{4FE3A3C0-518B-4096-B1AA-9B4D45FB23B2}"/>
                  </a:ext>
                </a:extLst>
              </p:cNvPr>
              <p:cNvSpPr/>
              <p:nvPr/>
            </p:nvSpPr>
            <p:spPr>
              <a:xfrm>
                <a:off x="4762499" y="2857500"/>
                <a:ext cx="4953001" cy="2841906"/>
              </a:xfrm>
              <a:prstGeom prst="rect">
                <a:avLst/>
              </a:prstGeom>
              <a:solidFill>
                <a:srgbClr val="00B050"/>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2000" b="1" dirty="0"/>
                  <a:t>定性分析模块</a:t>
                </a:r>
              </a:p>
            </p:txBody>
          </p:sp>
          <p:grpSp>
            <p:nvGrpSpPr>
              <p:cNvPr id="26" name="组合 25">
                <a:extLst>
                  <a:ext uri="{FF2B5EF4-FFF2-40B4-BE49-F238E27FC236}">
                    <a16:creationId xmlns:a16="http://schemas.microsoft.com/office/drawing/2014/main" id="{D0F69E47-E13F-45A9-BBB2-618F91ED0C1D}"/>
                  </a:ext>
                </a:extLst>
              </p:cNvPr>
              <p:cNvGrpSpPr/>
              <p:nvPr/>
            </p:nvGrpSpPr>
            <p:grpSpPr>
              <a:xfrm>
                <a:off x="5003800" y="3508295"/>
                <a:ext cx="4467820" cy="2054305"/>
                <a:chOff x="4025900" y="4595954"/>
                <a:chExt cx="4467820" cy="2191111"/>
              </a:xfrm>
              <a:solidFill>
                <a:schemeClr val="bg1">
                  <a:lumMod val="85000"/>
                </a:schemeClr>
              </a:solidFill>
            </p:grpSpPr>
            <p:sp>
              <p:nvSpPr>
                <p:cNvPr id="18" name="矩形 17">
                  <a:extLst>
                    <a:ext uri="{FF2B5EF4-FFF2-40B4-BE49-F238E27FC236}">
                      <a16:creationId xmlns:a16="http://schemas.microsoft.com/office/drawing/2014/main" id="{6EFD8DE5-AF92-426D-9D09-878FC4989189}"/>
                    </a:ext>
                  </a:extLst>
                </p:cNvPr>
                <p:cNvSpPr/>
                <p:nvPr/>
              </p:nvSpPr>
              <p:spPr>
                <a:xfrm>
                  <a:off x="4025900" y="4595954"/>
                  <a:ext cx="2159000" cy="650592"/>
                </a:xfrm>
                <a:prstGeom prst="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公司治理</a:t>
                  </a:r>
                </a:p>
              </p:txBody>
            </p:sp>
            <p:sp>
              <p:nvSpPr>
                <p:cNvPr id="19" name="矩形 18">
                  <a:extLst>
                    <a:ext uri="{FF2B5EF4-FFF2-40B4-BE49-F238E27FC236}">
                      <a16:creationId xmlns:a16="http://schemas.microsoft.com/office/drawing/2014/main" id="{2CBA7C06-702F-45EF-B6AE-241819449064}"/>
                    </a:ext>
                  </a:extLst>
                </p:cNvPr>
                <p:cNvSpPr/>
                <p:nvPr/>
              </p:nvSpPr>
              <p:spPr>
                <a:xfrm>
                  <a:off x="6334720" y="4595954"/>
                  <a:ext cx="2159000" cy="650592"/>
                </a:xfrm>
                <a:prstGeom prst="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财务状况</a:t>
                  </a:r>
                </a:p>
              </p:txBody>
            </p:sp>
            <p:sp>
              <p:nvSpPr>
                <p:cNvPr id="21" name="矩形 20">
                  <a:extLst>
                    <a:ext uri="{FF2B5EF4-FFF2-40B4-BE49-F238E27FC236}">
                      <a16:creationId xmlns:a16="http://schemas.microsoft.com/office/drawing/2014/main" id="{F390A107-4E4E-4D40-A7A3-BD295D8F02D9}"/>
                    </a:ext>
                  </a:extLst>
                </p:cNvPr>
                <p:cNvSpPr/>
                <p:nvPr/>
              </p:nvSpPr>
              <p:spPr>
                <a:xfrm>
                  <a:off x="4025900" y="5366213"/>
                  <a:ext cx="2159000" cy="650592"/>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市场竞争力</a:t>
                  </a:r>
                </a:p>
              </p:txBody>
            </p:sp>
            <p:sp>
              <p:nvSpPr>
                <p:cNvPr id="22" name="矩形 21">
                  <a:extLst>
                    <a:ext uri="{FF2B5EF4-FFF2-40B4-BE49-F238E27FC236}">
                      <a16:creationId xmlns:a16="http://schemas.microsoft.com/office/drawing/2014/main" id="{5C356757-8832-43C7-BEDF-B2416D4438F7}"/>
                    </a:ext>
                  </a:extLst>
                </p:cNvPr>
                <p:cNvSpPr/>
                <p:nvPr/>
              </p:nvSpPr>
              <p:spPr>
                <a:xfrm>
                  <a:off x="4025900" y="6136473"/>
                  <a:ext cx="2159000" cy="650592"/>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行业环境</a:t>
                  </a:r>
                </a:p>
              </p:txBody>
            </p:sp>
            <p:sp>
              <p:nvSpPr>
                <p:cNvPr id="23" name="矩形 22">
                  <a:extLst>
                    <a:ext uri="{FF2B5EF4-FFF2-40B4-BE49-F238E27FC236}">
                      <a16:creationId xmlns:a16="http://schemas.microsoft.com/office/drawing/2014/main" id="{9C93F115-98C1-43EC-9A4C-9B1BCC015482}"/>
                    </a:ext>
                  </a:extLst>
                </p:cNvPr>
                <p:cNvSpPr/>
                <p:nvPr/>
              </p:nvSpPr>
              <p:spPr>
                <a:xfrm>
                  <a:off x="6334720" y="5366213"/>
                  <a:ext cx="2159000" cy="650592"/>
                </a:xfrm>
                <a:prstGeom prst="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股权结构</a:t>
                  </a:r>
                </a:p>
              </p:txBody>
            </p:sp>
            <p:sp>
              <p:nvSpPr>
                <p:cNvPr id="25" name="矩形 24">
                  <a:extLst>
                    <a:ext uri="{FF2B5EF4-FFF2-40B4-BE49-F238E27FC236}">
                      <a16:creationId xmlns:a16="http://schemas.microsoft.com/office/drawing/2014/main" id="{4D04DB12-0331-49A7-B4FC-083A19F1C23D}"/>
                    </a:ext>
                  </a:extLst>
                </p:cNvPr>
                <p:cNvSpPr/>
                <p:nvPr/>
              </p:nvSpPr>
              <p:spPr>
                <a:xfrm>
                  <a:off x="6334720" y="6136473"/>
                  <a:ext cx="2159000" cy="650592"/>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外部支持</a:t>
                  </a:r>
                </a:p>
              </p:txBody>
            </p:sp>
          </p:grpSp>
        </p:grpSp>
        <p:grpSp>
          <p:nvGrpSpPr>
            <p:cNvPr id="42" name="组合 41">
              <a:extLst>
                <a:ext uri="{FF2B5EF4-FFF2-40B4-BE49-F238E27FC236}">
                  <a16:creationId xmlns:a16="http://schemas.microsoft.com/office/drawing/2014/main" id="{025D616D-2AB7-4700-88B7-4E32E55ECBE1}"/>
                </a:ext>
              </a:extLst>
            </p:cNvPr>
            <p:cNvGrpSpPr/>
            <p:nvPr/>
          </p:nvGrpSpPr>
          <p:grpSpPr>
            <a:xfrm>
              <a:off x="5260805" y="5979057"/>
              <a:ext cx="4953001" cy="2841906"/>
              <a:chOff x="4762499" y="6057900"/>
              <a:chExt cx="4953001" cy="2841906"/>
            </a:xfrm>
            <a:solidFill>
              <a:srgbClr val="0070C0"/>
            </a:solidFill>
          </p:grpSpPr>
          <p:sp>
            <p:nvSpPr>
              <p:cNvPr id="27" name="矩形 26">
                <a:extLst>
                  <a:ext uri="{FF2B5EF4-FFF2-40B4-BE49-F238E27FC236}">
                    <a16:creationId xmlns:a16="http://schemas.microsoft.com/office/drawing/2014/main" id="{CE5ABAA3-B541-4B1F-8438-B49495467A73}"/>
                  </a:ext>
                </a:extLst>
              </p:cNvPr>
              <p:cNvSpPr/>
              <p:nvPr/>
            </p:nvSpPr>
            <p:spPr>
              <a:xfrm>
                <a:off x="4762499" y="6057900"/>
                <a:ext cx="4953001" cy="2841906"/>
              </a:xfrm>
              <a:prstGeom prst="rect">
                <a:avLst/>
              </a:prstGeom>
              <a:solidFill>
                <a:srgbClr val="0070C0"/>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2000" b="1" dirty="0"/>
                  <a:t>定量分析模块</a:t>
                </a:r>
              </a:p>
            </p:txBody>
          </p:sp>
          <p:grpSp>
            <p:nvGrpSpPr>
              <p:cNvPr id="28" name="组合 27">
                <a:extLst>
                  <a:ext uri="{FF2B5EF4-FFF2-40B4-BE49-F238E27FC236}">
                    <a16:creationId xmlns:a16="http://schemas.microsoft.com/office/drawing/2014/main" id="{694F670A-3B4E-4231-A3E7-19FC7FA2D4A5}"/>
                  </a:ext>
                </a:extLst>
              </p:cNvPr>
              <p:cNvGrpSpPr/>
              <p:nvPr/>
            </p:nvGrpSpPr>
            <p:grpSpPr>
              <a:xfrm>
                <a:off x="5003800" y="6708696"/>
                <a:ext cx="4467820" cy="2012657"/>
                <a:chOff x="4025900" y="4595954"/>
                <a:chExt cx="4467820" cy="2146689"/>
              </a:xfrm>
              <a:grpFill/>
            </p:grpSpPr>
            <p:sp>
              <p:nvSpPr>
                <p:cNvPr id="29" name="矩形 28">
                  <a:extLst>
                    <a:ext uri="{FF2B5EF4-FFF2-40B4-BE49-F238E27FC236}">
                      <a16:creationId xmlns:a16="http://schemas.microsoft.com/office/drawing/2014/main" id="{FC1B0221-9A7E-4C0B-B9BB-63ED240E9F6C}"/>
                    </a:ext>
                  </a:extLst>
                </p:cNvPr>
                <p:cNvSpPr/>
                <p:nvPr/>
              </p:nvSpPr>
              <p:spPr>
                <a:xfrm>
                  <a:off x="4025900" y="4595954"/>
                  <a:ext cx="2159000" cy="650592"/>
                </a:xfrm>
                <a:prstGeom prst="rect">
                  <a:avLst/>
                </a:prstGeom>
                <a:solidFill>
                  <a:srgbClr val="CCECFF"/>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现金流预测</a:t>
                  </a:r>
                </a:p>
              </p:txBody>
            </p:sp>
            <p:sp>
              <p:nvSpPr>
                <p:cNvPr id="30" name="矩形 29">
                  <a:extLst>
                    <a:ext uri="{FF2B5EF4-FFF2-40B4-BE49-F238E27FC236}">
                      <a16:creationId xmlns:a16="http://schemas.microsoft.com/office/drawing/2014/main" id="{A91363A4-36F2-4F97-8F8A-54A0D7A26E7A}"/>
                    </a:ext>
                  </a:extLst>
                </p:cNvPr>
                <p:cNvSpPr/>
                <p:nvPr/>
              </p:nvSpPr>
              <p:spPr>
                <a:xfrm>
                  <a:off x="6334720" y="4595954"/>
                  <a:ext cx="2159000" cy="650592"/>
                </a:xfrm>
                <a:prstGeom prst="rect">
                  <a:avLst/>
                </a:prstGeom>
                <a:solidFill>
                  <a:srgbClr val="CCECFF"/>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偿付能力</a:t>
                  </a:r>
                </a:p>
              </p:txBody>
            </p:sp>
            <p:sp>
              <p:nvSpPr>
                <p:cNvPr id="31" name="矩形 30">
                  <a:extLst>
                    <a:ext uri="{FF2B5EF4-FFF2-40B4-BE49-F238E27FC236}">
                      <a16:creationId xmlns:a16="http://schemas.microsoft.com/office/drawing/2014/main" id="{15E03148-B6BA-4769-B25E-A2EA5D2FD1F5}"/>
                    </a:ext>
                  </a:extLst>
                </p:cNvPr>
                <p:cNvSpPr/>
                <p:nvPr/>
              </p:nvSpPr>
              <p:spPr>
                <a:xfrm>
                  <a:off x="4025900" y="5366213"/>
                  <a:ext cx="2159000" cy="650592"/>
                </a:xfrm>
                <a:prstGeom prst="rect">
                  <a:avLst/>
                </a:prstGeom>
                <a:solidFill>
                  <a:srgbClr val="CCECFF"/>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收支结构</a:t>
                  </a:r>
                </a:p>
              </p:txBody>
            </p:sp>
            <p:sp>
              <p:nvSpPr>
                <p:cNvPr id="33" name="矩形 32">
                  <a:extLst>
                    <a:ext uri="{FF2B5EF4-FFF2-40B4-BE49-F238E27FC236}">
                      <a16:creationId xmlns:a16="http://schemas.microsoft.com/office/drawing/2014/main" id="{43E387F1-91B0-466D-8C39-1D27BE9BC842}"/>
                    </a:ext>
                  </a:extLst>
                </p:cNvPr>
                <p:cNvSpPr/>
                <p:nvPr/>
              </p:nvSpPr>
              <p:spPr>
                <a:xfrm>
                  <a:off x="6334720" y="5366213"/>
                  <a:ext cx="2159000" cy="650592"/>
                </a:xfrm>
                <a:prstGeom prst="rect">
                  <a:avLst/>
                </a:prstGeom>
                <a:solidFill>
                  <a:srgbClr val="CCECFF"/>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变现能力</a:t>
                  </a:r>
                </a:p>
              </p:txBody>
            </p:sp>
            <p:sp>
              <p:nvSpPr>
                <p:cNvPr id="35" name="矩形 34">
                  <a:extLst>
                    <a:ext uri="{FF2B5EF4-FFF2-40B4-BE49-F238E27FC236}">
                      <a16:creationId xmlns:a16="http://schemas.microsoft.com/office/drawing/2014/main" id="{02E7A497-44DF-4C93-BBE1-C71FE18D193B}"/>
                    </a:ext>
                  </a:extLst>
                </p:cNvPr>
                <p:cNvSpPr/>
                <p:nvPr/>
              </p:nvSpPr>
              <p:spPr>
                <a:xfrm>
                  <a:off x="4025900" y="6092051"/>
                  <a:ext cx="2159000" cy="650592"/>
                </a:xfrm>
                <a:prstGeom prst="rect">
                  <a:avLst/>
                </a:prstGeom>
                <a:solidFill>
                  <a:srgbClr val="FF0000"/>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市场压力测算</a:t>
                  </a:r>
                </a:p>
              </p:txBody>
            </p:sp>
            <p:sp>
              <p:nvSpPr>
                <p:cNvPr id="36" name="矩形 35">
                  <a:extLst>
                    <a:ext uri="{FF2B5EF4-FFF2-40B4-BE49-F238E27FC236}">
                      <a16:creationId xmlns:a16="http://schemas.microsoft.com/office/drawing/2014/main" id="{47B637BC-F5E4-4A60-AF62-E2E01F55B3B9}"/>
                    </a:ext>
                  </a:extLst>
                </p:cNvPr>
                <p:cNvSpPr/>
                <p:nvPr/>
              </p:nvSpPr>
              <p:spPr>
                <a:xfrm>
                  <a:off x="6334720" y="6092051"/>
                  <a:ext cx="2159000" cy="650592"/>
                </a:xfrm>
                <a:prstGeom prst="rect">
                  <a:avLst/>
                </a:prstGeom>
                <a:solidFill>
                  <a:srgbClr val="FF0000"/>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项目投资测算</a:t>
                  </a:r>
                </a:p>
              </p:txBody>
            </p:sp>
          </p:grpSp>
        </p:grpSp>
        <p:grpSp>
          <p:nvGrpSpPr>
            <p:cNvPr id="62" name="组合 61">
              <a:extLst>
                <a:ext uri="{FF2B5EF4-FFF2-40B4-BE49-F238E27FC236}">
                  <a16:creationId xmlns:a16="http://schemas.microsoft.com/office/drawing/2014/main" id="{8EBF083A-BBD4-4E09-86C1-6275F8EA8855}"/>
                </a:ext>
              </a:extLst>
            </p:cNvPr>
            <p:cNvGrpSpPr/>
            <p:nvPr/>
          </p:nvGrpSpPr>
          <p:grpSpPr>
            <a:xfrm>
              <a:off x="3619518" y="4693704"/>
              <a:ext cx="1641302" cy="2734599"/>
              <a:chOff x="3612841" y="3761453"/>
              <a:chExt cx="1641302" cy="3501196"/>
            </a:xfrm>
            <a:solidFill>
              <a:schemeClr val="bg1">
                <a:lumMod val="85000"/>
              </a:schemeClr>
            </a:solidFill>
          </p:grpSpPr>
          <p:grpSp>
            <p:nvGrpSpPr>
              <p:cNvPr id="40" name="组合 39">
                <a:extLst>
                  <a:ext uri="{FF2B5EF4-FFF2-40B4-BE49-F238E27FC236}">
                    <a16:creationId xmlns:a16="http://schemas.microsoft.com/office/drawing/2014/main" id="{4D10C148-2737-4A94-B416-36039376CA64}"/>
                  </a:ext>
                </a:extLst>
              </p:cNvPr>
              <p:cNvGrpSpPr/>
              <p:nvPr/>
            </p:nvGrpSpPr>
            <p:grpSpPr>
              <a:xfrm>
                <a:off x="3612841" y="3761453"/>
                <a:ext cx="1641302" cy="3501196"/>
                <a:chOff x="3176845" y="2732060"/>
                <a:chExt cx="1641302" cy="2283278"/>
              </a:xfrm>
              <a:grpFill/>
            </p:grpSpPr>
            <p:sp>
              <p:nvSpPr>
                <p:cNvPr id="38" name="标注: 右箭头 37">
                  <a:extLst>
                    <a:ext uri="{FF2B5EF4-FFF2-40B4-BE49-F238E27FC236}">
                      <a16:creationId xmlns:a16="http://schemas.microsoft.com/office/drawing/2014/main" id="{4AF69027-55D9-448C-83AE-7E035E868C67}"/>
                    </a:ext>
                  </a:extLst>
                </p:cNvPr>
                <p:cNvSpPr/>
                <p:nvPr/>
              </p:nvSpPr>
              <p:spPr>
                <a:xfrm>
                  <a:off x="3176845" y="2732060"/>
                  <a:ext cx="1641302" cy="1141639"/>
                </a:xfrm>
                <a:prstGeom prst="rightArrowCallou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39" name="标注: 右箭头 38">
                  <a:extLst>
                    <a:ext uri="{FF2B5EF4-FFF2-40B4-BE49-F238E27FC236}">
                      <a16:creationId xmlns:a16="http://schemas.microsoft.com/office/drawing/2014/main" id="{FCA05981-8CAA-4547-9A3E-5ADC3CB7244F}"/>
                    </a:ext>
                  </a:extLst>
                </p:cNvPr>
                <p:cNvSpPr/>
                <p:nvPr/>
              </p:nvSpPr>
              <p:spPr>
                <a:xfrm>
                  <a:off x="3176845" y="3873699"/>
                  <a:ext cx="1641302" cy="1141639"/>
                </a:xfrm>
                <a:prstGeom prst="rightArrowCallou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sp>
            <p:nvSpPr>
              <p:cNvPr id="61" name="文本框 60">
                <a:extLst>
                  <a:ext uri="{FF2B5EF4-FFF2-40B4-BE49-F238E27FC236}">
                    <a16:creationId xmlns:a16="http://schemas.microsoft.com/office/drawing/2014/main" id="{FE33C282-1688-4855-AFEB-36BB7FF42D1E}"/>
                  </a:ext>
                </a:extLst>
              </p:cNvPr>
              <p:cNvSpPr txBox="1"/>
              <p:nvPr/>
            </p:nvSpPr>
            <p:spPr>
              <a:xfrm>
                <a:off x="3665372" y="4467800"/>
                <a:ext cx="961737" cy="2088499"/>
              </a:xfrm>
              <a:prstGeom prst="rect">
                <a:avLst/>
              </a:prstGeom>
              <a:solidFill>
                <a:srgbClr val="FFE8E0"/>
              </a:solidFill>
            </p:spPr>
            <p:txBody>
              <a:bodyPr wrap="square" rtlCol="0" anchor="ctr">
                <a:spAutoFit/>
              </a:bodyPr>
              <a:lstStyle/>
              <a:p>
                <a:pPr algn="ctr"/>
                <a:endParaRPr lang="en-US" altLang="zh-CN" sz="2000" b="1" dirty="0">
                  <a:solidFill>
                    <a:schemeClr val="tx1">
                      <a:lumMod val="85000"/>
                      <a:lumOff val="15000"/>
                    </a:schemeClr>
                  </a:solidFill>
                </a:endParaRPr>
              </a:p>
              <a:p>
                <a:pPr algn="ctr"/>
                <a:r>
                  <a:rPr lang="zh-CN" altLang="en-US" sz="2000" b="1" dirty="0">
                    <a:solidFill>
                      <a:schemeClr val="tx1">
                        <a:lumMod val="85000"/>
                        <a:lumOff val="15000"/>
                      </a:schemeClr>
                    </a:solidFill>
                  </a:rPr>
                  <a:t>选定适用的评级模型</a:t>
                </a:r>
                <a:endParaRPr lang="en-US" altLang="zh-CN" sz="2000" b="1" dirty="0">
                  <a:solidFill>
                    <a:schemeClr val="tx1">
                      <a:lumMod val="85000"/>
                      <a:lumOff val="15000"/>
                    </a:schemeClr>
                  </a:solidFill>
                </a:endParaRPr>
              </a:p>
              <a:p>
                <a:pPr algn="ctr"/>
                <a:endParaRPr lang="zh-CN" altLang="en-US" sz="2000" b="1" dirty="0">
                  <a:solidFill>
                    <a:schemeClr val="tx1">
                      <a:lumMod val="85000"/>
                      <a:lumOff val="15000"/>
                    </a:schemeClr>
                  </a:solidFill>
                </a:endParaRPr>
              </a:p>
            </p:txBody>
          </p:sp>
        </p:grpSp>
        <p:sp>
          <p:nvSpPr>
            <p:cNvPr id="64" name="箭头: 右 63">
              <a:extLst>
                <a:ext uri="{FF2B5EF4-FFF2-40B4-BE49-F238E27FC236}">
                  <a16:creationId xmlns:a16="http://schemas.microsoft.com/office/drawing/2014/main" id="{55E8814E-4AA7-42CA-9AFF-7003516FED84}"/>
                </a:ext>
              </a:extLst>
            </p:cNvPr>
            <p:cNvSpPr/>
            <p:nvPr/>
          </p:nvSpPr>
          <p:spPr>
            <a:xfrm>
              <a:off x="10313039" y="5385253"/>
              <a:ext cx="571500" cy="1244600"/>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65" name="矩形: 圆角 64">
              <a:extLst>
                <a:ext uri="{FF2B5EF4-FFF2-40B4-BE49-F238E27FC236}">
                  <a16:creationId xmlns:a16="http://schemas.microsoft.com/office/drawing/2014/main" id="{8ACACFC6-71E7-4DEC-9E59-F6BDCC11ECBE}"/>
                </a:ext>
              </a:extLst>
            </p:cNvPr>
            <p:cNvSpPr/>
            <p:nvPr/>
          </p:nvSpPr>
          <p:spPr>
            <a:xfrm>
              <a:off x="10983772" y="4554105"/>
              <a:ext cx="990600" cy="263407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lumMod val="85000"/>
                      <a:lumOff val="15000"/>
                    </a:schemeClr>
                  </a:solidFill>
                </a:rPr>
                <a:t>将违约概率映射为内评等级</a:t>
              </a:r>
            </a:p>
          </p:txBody>
        </p:sp>
        <p:sp>
          <p:nvSpPr>
            <p:cNvPr id="66" name="矩形: 圆角 65">
              <a:extLst>
                <a:ext uri="{FF2B5EF4-FFF2-40B4-BE49-F238E27FC236}">
                  <a16:creationId xmlns:a16="http://schemas.microsoft.com/office/drawing/2014/main" id="{0C2ECD43-ECE1-473D-AB79-544F09CE6DDE}"/>
                </a:ext>
              </a:extLst>
            </p:cNvPr>
            <p:cNvSpPr/>
            <p:nvPr/>
          </p:nvSpPr>
          <p:spPr>
            <a:xfrm>
              <a:off x="12607414" y="3137151"/>
              <a:ext cx="2492886" cy="5683812"/>
            </a:xfrm>
            <a:prstGeom prst="roundRect">
              <a:avLst>
                <a:gd name="adj" fmla="val 11572"/>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2000" b="1" dirty="0"/>
                <a:t>特定事项调整</a:t>
              </a:r>
              <a:endParaRPr lang="en-US" altLang="zh-CN" sz="2000" b="1" dirty="0"/>
            </a:p>
            <a:p>
              <a:pPr algn="ctr"/>
              <a:endParaRPr lang="en-US" altLang="zh-CN" sz="2000" b="1" dirty="0"/>
            </a:p>
            <a:p>
              <a:pPr algn="ctr"/>
              <a:endParaRPr lang="zh-CN" altLang="en-US" sz="2000" b="1" dirty="0"/>
            </a:p>
          </p:txBody>
        </p:sp>
        <p:sp>
          <p:nvSpPr>
            <p:cNvPr id="67" name="箭头: 右 66">
              <a:extLst>
                <a:ext uri="{FF2B5EF4-FFF2-40B4-BE49-F238E27FC236}">
                  <a16:creationId xmlns:a16="http://schemas.microsoft.com/office/drawing/2014/main" id="{86E4F8EF-0ED9-4F4E-86A2-15D55AE8A13F}"/>
                </a:ext>
              </a:extLst>
            </p:cNvPr>
            <p:cNvSpPr/>
            <p:nvPr/>
          </p:nvSpPr>
          <p:spPr>
            <a:xfrm>
              <a:off x="12044134" y="5360306"/>
              <a:ext cx="571500" cy="1244600"/>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68" name="矩形 67">
              <a:extLst>
                <a:ext uri="{FF2B5EF4-FFF2-40B4-BE49-F238E27FC236}">
                  <a16:creationId xmlns:a16="http://schemas.microsoft.com/office/drawing/2014/main" id="{AEAEA37B-F91B-468B-8BD2-AEC271DD594B}"/>
                </a:ext>
              </a:extLst>
            </p:cNvPr>
            <p:cNvSpPr/>
            <p:nvPr/>
          </p:nvSpPr>
          <p:spPr>
            <a:xfrm>
              <a:off x="12780815" y="3895585"/>
              <a:ext cx="2159000" cy="51776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信用记录</a:t>
              </a:r>
            </a:p>
          </p:txBody>
        </p:sp>
        <p:sp>
          <p:nvSpPr>
            <p:cNvPr id="73" name="矩形 72">
              <a:extLst>
                <a:ext uri="{FF2B5EF4-FFF2-40B4-BE49-F238E27FC236}">
                  <a16:creationId xmlns:a16="http://schemas.microsoft.com/office/drawing/2014/main" id="{83A2C77F-42A0-4002-B3E1-6D3FCFD06F49}"/>
                </a:ext>
              </a:extLst>
            </p:cNvPr>
            <p:cNvSpPr/>
            <p:nvPr/>
          </p:nvSpPr>
          <p:spPr>
            <a:xfrm>
              <a:off x="12780815" y="4554105"/>
              <a:ext cx="2159000" cy="51776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司法诉讼</a:t>
              </a:r>
            </a:p>
          </p:txBody>
        </p:sp>
        <p:sp>
          <p:nvSpPr>
            <p:cNvPr id="74" name="矩形 73">
              <a:extLst>
                <a:ext uri="{FF2B5EF4-FFF2-40B4-BE49-F238E27FC236}">
                  <a16:creationId xmlns:a16="http://schemas.microsoft.com/office/drawing/2014/main" id="{25616A7A-1226-4E54-92BA-D24E710B485C}"/>
                </a:ext>
              </a:extLst>
            </p:cNvPr>
            <p:cNvSpPr/>
            <p:nvPr/>
          </p:nvSpPr>
          <p:spPr>
            <a:xfrm>
              <a:off x="12780815" y="5212625"/>
              <a:ext cx="2159000" cy="51776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重大危机</a:t>
              </a:r>
            </a:p>
          </p:txBody>
        </p:sp>
        <p:sp>
          <p:nvSpPr>
            <p:cNvPr id="75" name="矩形 74">
              <a:extLst>
                <a:ext uri="{FF2B5EF4-FFF2-40B4-BE49-F238E27FC236}">
                  <a16:creationId xmlns:a16="http://schemas.microsoft.com/office/drawing/2014/main" id="{88727FA6-AD2B-40AA-8446-CF61FFFCF496}"/>
                </a:ext>
              </a:extLst>
            </p:cNvPr>
            <p:cNvSpPr/>
            <p:nvPr/>
          </p:nvSpPr>
          <p:spPr>
            <a:xfrm>
              <a:off x="12780815" y="5871145"/>
              <a:ext cx="2159000" cy="51776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违约事件</a:t>
              </a:r>
            </a:p>
          </p:txBody>
        </p:sp>
        <p:sp>
          <p:nvSpPr>
            <p:cNvPr id="76" name="矩形 75">
              <a:extLst>
                <a:ext uri="{FF2B5EF4-FFF2-40B4-BE49-F238E27FC236}">
                  <a16:creationId xmlns:a16="http://schemas.microsoft.com/office/drawing/2014/main" id="{E8FB2F0F-A69D-46EB-9489-FFF68EDB0F07}"/>
                </a:ext>
              </a:extLst>
            </p:cNvPr>
            <p:cNvSpPr/>
            <p:nvPr/>
          </p:nvSpPr>
          <p:spPr>
            <a:xfrm>
              <a:off x="12780815" y="6529665"/>
              <a:ext cx="2159000" cy="51776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主动处置</a:t>
              </a:r>
            </a:p>
          </p:txBody>
        </p:sp>
        <p:sp>
          <p:nvSpPr>
            <p:cNvPr id="77" name="箭头: 右 76">
              <a:extLst>
                <a:ext uri="{FF2B5EF4-FFF2-40B4-BE49-F238E27FC236}">
                  <a16:creationId xmlns:a16="http://schemas.microsoft.com/office/drawing/2014/main" id="{06595608-7F7D-42DB-8FB3-4C57321E1268}"/>
                </a:ext>
              </a:extLst>
            </p:cNvPr>
            <p:cNvSpPr/>
            <p:nvPr/>
          </p:nvSpPr>
          <p:spPr>
            <a:xfrm>
              <a:off x="15210333" y="5263525"/>
              <a:ext cx="571500" cy="1244600"/>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78" name="矩形: 圆角 77">
              <a:extLst>
                <a:ext uri="{FF2B5EF4-FFF2-40B4-BE49-F238E27FC236}">
                  <a16:creationId xmlns:a16="http://schemas.microsoft.com/office/drawing/2014/main" id="{D6CF1E05-CA64-4B94-8AD4-38256920ED02}"/>
                </a:ext>
              </a:extLst>
            </p:cNvPr>
            <p:cNvSpPr/>
            <p:nvPr/>
          </p:nvSpPr>
          <p:spPr>
            <a:xfrm>
              <a:off x="15862046" y="4554105"/>
              <a:ext cx="990600" cy="2634079"/>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确定最终等级</a:t>
              </a:r>
            </a:p>
          </p:txBody>
        </p:sp>
        <p:sp>
          <p:nvSpPr>
            <p:cNvPr id="79" name="流程图: 磁盘 78">
              <a:extLst>
                <a:ext uri="{FF2B5EF4-FFF2-40B4-BE49-F238E27FC236}">
                  <a16:creationId xmlns:a16="http://schemas.microsoft.com/office/drawing/2014/main" id="{84782133-164E-48EF-AF14-586D3E725E86}"/>
                </a:ext>
              </a:extLst>
            </p:cNvPr>
            <p:cNvSpPr/>
            <p:nvPr/>
          </p:nvSpPr>
          <p:spPr>
            <a:xfrm>
              <a:off x="1078315" y="2953643"/>
              <a:ext cx="1762381" cy="1765461"/>
            </a:xfrm>
            <a:prstGeom prst="flowChartMagneticDisk">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客户提交资料</a:t>
              </a:r>
            </a:p>
          </p:txBody>
        </p:sp>
        <p:sp>
          <p:nvSpPr>
            <p:cNvPr id="43" name="矩形 42">
              <a:extLst>
                <a:ext uri="{FF2B5EF4-FFF2-40B4-BE49-F238E27FC236}">
                  <a16:creationId xmlns:a16="http://schemas.microsoft.com/office/drawing/2014/main" id="{591530AB-705C-4E0B-84FC-13B033EDF103}"/>
                </a:ext>
              </a:extLst>
            </p:cNvPr>
            <p:cNvSpPr/>
            <p:nvPr/>
          </p:nvSpPr>
          <p:spPr>
            <a:xfrm>
              <a:off x="12776119" y="7188185"/>
              <a:ext cx="2159000" cy="51776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实质性负面事件</a:t>
              </a:r>
            </a:p>
          </p:txBody>
        </p:sp>
        <p:sp>
          <p:nvSpPr>
            <p:cNvPr id="45" name="矩形 44">
              <a:extLst>
                <a:ext uri="{FF2B5EF4-FFF2-40B4-BE49-F238E27FC236}">
                  <a16:creationId xmlns:a16="http://schemas.microsoft.com/office/drawing/2014/main" id="{10630483-B443-4F46-88FA-4CD6C2C9DD38}"/>
                </a:ext>
              </a:extLst>
            </p:cNvPr>
            <p:cNvSpPr/>
            <p:nvPr/>
          </p:nvSpPr>
          <p:spPr>
            <a:xfrm>
              <a:off x="12776119" y="7846704"/>
              <a:ext cx="2159000" cy="51776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lumMod val="85000"/>
                      <a:lumOff val="15000"/>
                    </a:schemeClr>
                  </a:solidFill>
                </a:rPr>
                <a:t>其他</a:t>
              </a:r>
            </a:p>
          </p:txBody>
        </p:sp>
      </p:grpSp>
    </p:spTree>
    <p:extLst>
      <p:ext uri="{BB962C8B-B14F-4D97-AF65-F5344CB8AC3E}">
        <p14:creationId xmlns:p14="http://schemas.microsoft.com/office/powerpoint/2010/main" val="369025119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按行业建模</a:t>
            </a:r>
          </a:p>
        </p:txBody>
      </p:sp>
      <p:sp>
        <p:nvSpPr>
          <p:cNvPr id="3" name="内容占位符 2">
            <a:extLst>
              <a:ext uri="{FF2B5EF4-FFF2-40B4-BE49-F238E27FC236}">
                <a16:creationId xmlns:a16="http://schemas.microsoft.com/office/drawing/2014/main" id="{4CC00BDE-7D8B-445D-A008-24B10A613157}"/>
              </a:ext>
            </a:extLst>
          </p:cNvPr>
          <p:cNvSpPr>
            <a:spLocks noGrp="1"/>
          </p:cNvSpPr>
          <p:nvPr>
            <p:ph sz="half" idx="1"/>
          </p:nvPr>
        </p:nvSpPr>
        <p:spPr>
          <a:xfrm>
            <a:off x="949496" y="1594172"/>
            <a:ext cx="8880303" cy="7873919"/>
          </a:xfrm>
        </p:spPr>
        <p:txBody>
          <a:bodyPr/>
          <a:lstStyle/>
          <a:p>
            <a:r>
              <a:rPr lang="zh-CN" altLang="en-US" dirty="0"/>
              <a:t>银行评级的优势</a:t>
            </a:r>
            <a:endParaRPr lang="en-US" altLang="zh-CN" dirty="0"/>
          </a:p>
          <a:p>
            <a:pPr lvl="1"/>
            <a:r>
              <a:rPr lang="zh-CN" altLang="en-US" dirty="0"/>
              <a:t>相对完整的企业客户历史数据</a:t>
            </a:r>
            <a:endParaRPr lang="en-US" altLang="zh-CN" dirty="0"/>
          </a:p>
          <a:p>
            <a:pPr lvl="1"/>
            <a:r>
              <a:rPr lang="zh-CN" altLang="en-US" dirty="0"/>
              <a:t>客户信息详实</a:t>
            </a:r>
            <a:endParaRPr lang="en-US" altLang="zh-CN" dirty="0"/>
          </a:p>
          <a:p>
            <a:pPr lvl="1"/>
            <a:r>
              <a:rPr lang="zh-CN" altLang="en-US" dirty="0"/>
              <a:t>资金流向监测及时</a:t>
            </a:r>
            <a:endParaRPr lang="en-US" altLang="zh-CN" dirty="0"/>
          </a:p>
          <a:p>
            <a:pPr lvl="1"/>
            <a:r>
              <a:rPr lang="zh-CN" altLang="en-US" dirty="0"/>
              <a:t>业务关系紧密</a:t>
            </a:r>
            <a:endParaRPr lang="en-US" altLang="zh-CN" dirty="0"/>
          </a:p>
          <a:p>
            <a:pPr lvl="1"/>
            <a:endParaRPr lang="zh-CN" altLang="en-US" dirty="0"/>
          </a:p>
          <a:p>
            <a:r>
              <a:rPr lang="zh-CN" altLang="en-US" dirty="0"/>
              <a:t>评级方法</a:t>
            </a:r>
            <a:endParaRPr lang="en-US" altLang="zh-CN" dirty="0"/>
          </a:p>
          <a:p>
            <a:pPr lvl="1"/>
            <a:r>
              <a:rPr lang="zh-CN" altLang="en-US" dirty="0"/>
              <a:t>评级模板：对样本不足的行业，借助信贷业务经验</a:t>
            </a:r>
            <a:endParaRPr lang="en-US" altLang="zh-CN" dirty="0"/>
          </a:p>
          <a:p>
            <a:pPr lvl="1"/>
            <a:r>
              <a:rPr lang="zh-CN" altLang="en-US" dirty="0"/>
              <a:t>统计模型：对样本基数较大行业，发挥模型的规模化效应</a:t>
            </a:r>
            <a:endParaRPr lang="en-US" altLang="zh-CN" dirty="0"/>
          </a:p>
        </p:txBody>
      </p:sp>
      <p:graphicFrame>
        <p:nvGraphicFramePr>
          <p:cNvPr id="11" name="Group 113">
            <a:extLst>
              <a:ext uri="{FF2B5EF4-FFF2-40B4-BE49-F238E27FC236}">
                <a16:creationId xmlns:a16="http://schemas.microsoft.com/office/drawing/2014/main" id="{EE1E5D88-7B32-4C6B-9CB5-9983091DB698}"/>
              </a:ext>
            </a:extLst>
          </p:cNvPr>
          <p:cNvGraphicFramePr>
            <a:graphicFrameLocks noGrp="1"/>
          </p:cNvGraphicFramePr>
          <p:nvPr>
            <p:ph sz="half" idx="2"/>
            <p:extLst>
              <p:ext uri="{D42A27DB-BD31-4B8C-83A1-F6EECF244321}">
                <p14:modId xmlns:p14="http://schemas.microsoft.com/office/powerpoint/2010/main" val="2855021679"/>
              </p:ext>
            </p:extLst>
          </p:nvPr>
        </p:nvGraphicFramePr>
        <p:xfrm>
          <a:off x="9829799" y="2520155"/>
          <a:ext cx="6633033" cy="4823623"/>
        </p:xfrm>
        <a:graphic>
          <a:graphicData uri="http://schemas.openxmlformats.org/drawingml/2006/table">
            <a:tbl>
              <a:tblPr firstRow="1" bandRow="1">
                <a:tableStyleId>{6E25E649-3F16-4E02-A733-19D2CDBF48F0}</a:tableStyleId>
              </a:tblPr>
              <a:tblGrid>
                <a:gridCol w="3895691">
                  <a:extLst>
                    <a:ext uri="{9D8B030D-6E8A-4147-A177-3AD203B41FA5}">
                      <a16:colId xmlns:a16="http://schemas.microsoft.com/office/drawing/2014/main" val="20000"/>
                    </a:ext>
                  </a:extLst>
                </a:gridCol>
                <a:gridCol w="2737342">
                  <a:extLst>
                    <a:ext uri="{9D8B030D-6E8A-4147-A177-3AD203B41FA5}">
                      <a16:colId xmlns:a16="http://schemas.microsoft.com/office/drawing/2014/main" val="20001"/>
                    </a:ext>
                  </a:extLst>
                </a:gridCol>
              </a:tblGrid>
              <a:tr h="689089">
                <a:tc>
                  <a:txBody>
                    <a:bodyPr/>
                    <a:lstStyle>
                      <a:lvl1pPr marL="0" algn="l" defTabSz="914400" rtl="0" eaLnBrk="1" latinLnBrk="0" hangingPunct="1">
                        <a:defRPr sz="1800" kern="1200">
                          <a:solidFill>
                            <a:schemeClr val="tx1"/>
                          </a:solidFill>
                          <a:latin typeface="Verdana"/>
                          <a:ea typeface="楷体_GB2312"/>
                        </a:defRPr>
                      </a:lvl1pPr>
                      <a:lvl2pPr marL="457200" algn="l" defTabSz="914400" rtl="0" eaLnBrk="1" latinLnBrk="0" hangingPunct="1">
                        <a:defRPr sz="1800" kern="1200">
                          <a:solidFill>
                            <a:schemeClr val="tx1"/>
                          </a:solidFill>
                          <a:latin typeface="Verdana"/>
                          <a:ea typeface="楷体_GB2312"/>
                        </a:defRPr>
                      </a:lvl2pPr>
                      <a:lvl3pPr marL="914400" algn="l" defTabSz="914400" rtl="0" eaLnBrk="1" latinLnBrk="0" hangingPunct="1">
                        <a:defRPr sz="1800" kern="1200">
                          <a:solidFill>
                            <a:schemeClr val="tx1"/>
                          </a:solidFill>
                          <a:latin typeface="Verdana"/>
                          <a:ea typeface="楷体_GB2312"/>
                        </a:defRPr>
                      </a:lvl3pPr>
                      <a:lvl4pPr marL="1371600" algn="l" defTabSz="914400" rtl="0" eaLnBrk="1" latinLnBrk="0" hangingPunct="1">
                        <a:defRPr sz="1800" kern="1200">
                          <a:solidFill>
                            <a:schemeClr val="tx1"/>
                          </a:solidFill>
                          <a:latin typeface="Verdana"/>
                          <a:ea typeface="楷体_GB2312"/>
                        </a:defRPr>
                      </a:lvl4pPr>
                      <a:lvl5pPr marL="1828800" algn="l" defTabSz="914400" rtl="0" eaLnBrk="1" latinLnBrk="0" hangingPunct="1">
                        <a:defRPr sz="1800" kern="1200">
                          <a:solidFill>
                            <a:schemeClr val="tx1"/>
                          </a:solidFill>
                          <a:latin typeface="Verdana"/>
                          <a:ea typeface="楷体_GB2312"/>
                        </a:defRPr>
                      </a:lvl5pPr>
                      <a:lvl6pPr marL="2286000" algn="l" defTabSz="914400" rtl="0" eaLnBrk="1" latinLnBrk="0" hangingPunct="1">
                        <a:defRPr sz="1800" kern="1200">
                          <a:solidFill>
                            <a:schemeClr val="tx1"/>
                          </a:solidFill>
                          <a:latin typeface="Verdana"/>
                          <a:ea typeface="楷体_GB2312"/>
                        </a:defRPr>
                      </a:lvl6pPr>
                      <a:lvl7pPr marL="2743200" algn="l" defTabSz="914400" rtl="0" eaLnBrk="1" latinLnBrk="0" hangingPunct="1">
                        <a:defRPr sz="1800" kern="1200">
                          <a:solidFill>
                            <a:schemeClr val="tx1"/>
                          </a:solidFill>
                          <a:latin typeface="Verdana"/>
                          <a:ea typeface="楷体_GB2312"/>
                        </a:defRPr>
                      </a:lvl7pPr>
                      <a:lvl8pPr marL="3200400" algn="l" defTabSz="914400" rtl="0" eaLnBrk="1" latinLnBrk="0" hangingPunct="1">
                        <a:defRPr sz="1800" kern="1200">
                          <a:solidFill>
                            <a:schemeClr val="tx1"/>
                          </a:solidFill>
                          <a:latin typeface="Verdana"/>
                          <a:ea typeface="楷体_GB2312"/>
                        </a:defRPr>
                      </a:lvl8pPr>
                      <a:lvl9pPr marL="3657600" algn="l" defTabSz="914400" rtl="0" eaLnBrk="1" latinLnBrk="0" hangingPunct="1">
                        <a:defRPr sz="1800" kern="1200">
                          <a:solidFill>
                            <a:schemeClr val="tx1"/>
                          </a:solidFill>
                          <a:latin typeface="Verdana"/>
                          <a:ea typeface="楷体_GB2312"/>
                        </a:defRPr>
                      </a:lvl9p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000" u="none" strike="noStrike" cap="none" normalizeH="0" baseline="0" dirty="0">
                          <a:ln>
                            <a:noFill/>
                          </a:ln>
                          <a:solidFill>
                            <a:schemeClr val="bg1"/>
                          </a:solidFill>
                          <a:effectLst/>
                          <a:latin typeface="+mn-ea"/>
                          <a:ea typeface="+mn-ea"/>
                        </a:rPr>
                        <a:t>主体分类</a:t>
                      </a:r>
                      <a:endParaRPr kumimoji="0" lang="zh-CN" altLang="en-US" sz="2000" b="0" i="0" u="none" strike="noStrike" cap="none" normalizeH="0" baseline="0" dirty="0">
                        <a:ln>
                          <a:noFill/>
                        </a:ln>
                        <a:solidFill>
                          <a:schemeClr val="bg1"/>
                        </a:solidFill>
                        <a:effectLst/>
                        <a:latin typeface="+mn-ea"/>
                        <a:ea typeface="+mn-ea"/>
                      </a:endParaRPr>
                    </a:p>
                  </a:txBody>
                  <a:tcPr marL="83225" marR="83225" marT="64802" marB="64802" anchor="ctr" horzOverflow="overflow"/>
                </a:tc>
                <a:tc>
                  <a:txBody>
                    <a:bodyPr/>
                    <a:lstStyle>
                      <a:lvl1pPr marL="0" algn="l" defTabSz="914400" rtl="0" eaLnBrk="1" latinLnBrk="0" hangingPunct="1">
                        <a:defRPr sz="1800" kern="1200">
                          <a:solidFill>
                            <a:schemeClr val="tx1"/>
                          </a:solidFill>
                          <a:latin typeface="Verdana"/>
                          <a:ea typeface="楷体_GB2312"/>
                        </a:defRPr>
                      </a:lvl1pPr>
                      <a:lvl2pPr marL="457200" algn="l" defTabSz="914400" rtl="0" eaLnBrk="1" latinLnBrk="0" hangingPunct="1">
                        <a:defRPr sz="1800" kern="1200">
                          <a:solidFill>
                            <a:schemeClr val="tx1"/>
                          </a:solidFill>
                          <a:latin typeface="Verdana"/>
                          <a:ea typeface="楷体_GB2312"/>
                        </a:defRPr>
                      </a:lvl2pPr>
                      <a:lvl3pPr marL="914400" algn="l" defTabSz="914400" rtl="0" eaLnBrk="1" latinLnBrk="0" hangingPunct="1">
                        <a:defRPr sz="1800" kern="1200">
                          <a:solidFill>
                            <a:schemeClr val="tx1"/>
                          </a:solidFill>
                          <a:latin typeface="Verdana"/>
                          <a:ea typeface="楷体_GB2312"/>
                        </a:defRPr>
                      </a:lvl3pPr>
                      <a:lvl4pPr marL="1371600" algn="l" defTabSz="914400" rtl="0" eaLnBrk="1" latinLnBrk="0" hangingPunct="1">
                        <a:defRPr sz="1800" kern="1200">
                          <a:solidFill>
                            <a:schemeClr val="tx1"/>
                          </a:solidFill>
                          <a:latin typeface="Verdana"/>
                          <a:ea typeface="楷体_GB2312"/>
                        </a:defRPr>
                      </a:lvl4pPr>
                      <a:lvl5pPr marL="1828800" algn="l" defTabSz="914400" rtl="0" eaLnBrk="1" latinLnBrk="0" hangingPunct="1">
                        <a:defRPr sz="1800" kern="1200">
                          <a:solidFill>
                            <a:schemeClr val="tx1"/>
                          </a:solidFill>
                          <a:latin typeface="Verdana"/>
                          <a:ea typeface="楷体_GB2312"/>
                        </a:defRPr>
                      </a:lvl5pPr>
                      <a:lvl6pPr marL="2286000" algn="l" defTabSz="914400" rtl="0" eaLnBrk="1" latinLnBrk="0" hangingPunct="1">
                        <a:defRPr sz="1800" kern="1200">
                          <a:solidFill>
                            <a:schemeClr val="tx1"/>
                          </a:solidFill>
                          <a:latin typeface="Verdana"/>
                          <a:ea typeface="楷体_GB2312"/>
                        </a:defRPr>
                      </a:lvl6pPr>
                      <a:lvl7pPr marL="2743200" algn="l" defTabSz="914400" rtl="0" eaLnBrk="1" latinLnBrk="0" hangingPunct="1">
                        <a:defRPr sz="1800" kern="1200">
                          <a:solidFill>
                            <a:schemeClr val="tx1"/>
                          </a:solidFill>
                          <a:latin typeface="Verdana"/>
                          <a:ea typeface="楷体_GB2312"/>
                        </a:defRPr>
                      </a:lvl7pPr>
                      <a:lvl8pPr marL="3200400" algn="l" defTabSz="914400" rtl="0" eaLnBrk="1" latinLnBrk="0" hangingPunct="1">
                        <a:defRPr sz="1800" kern="1200">
                          <a:solidFill>
                            <a:schemeClr val="tx1"/>
                          </a:solidFill>
                          <a:latin typeface="Verdana"/>
                          <a:ea typeface="楷体_GB2312"/>
                        </a:defRPr>
                      </a:lvl8pPr>
                      <a:lvl9pPr marL="3657600" algn="l" defTabSz="914400" rtl="0" eaLnBrk="1" latinLnBrk="0" hangingPunct="1">
                        <a:defRPr sz="1800" kern="1200">
                          <a:solidFill>
                            <a:schemeClr val="tx1"/>
                          </a:solidFill>
                          <a:latin typeface="Verdana"/>
                          <a:ea typeface="楷体_GB2312"/>
                        </a:defRPr>
                      </a:lvl9p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000" u="none" strike="noStrike" cap="none" normalizeH="0" baseline="0" dirty="0">
                          <a:ln>
                            <a:noFill/>
                          </a:ln>
                          <a:solidFill>
                            <a:schemeClr val="bg1"/>
                          </a:solidFill>
                          <a:effectLst/>
                          <a:latin typeface="+mn-ea"/>
                          <a:ea typeface="+mn-ea"/>
                        </a:rPr>
                        <a:t>评级方法</a:t>
                      </a:r>
                      <a:endParaRPr kumimoji="0" lang="zh-CN" altLang="en-US" sz="2000" b="0" i="0" u="none" strike="noStrike" cap="none" normalizeH="0" baseline="0" dirty="0">
                        <a:ln>
                          <a:noFill/>
                        </a:ln>
                        <a:solidFill>
                          <a:schemeClr val="bg1"/>
                        </a:solidFill>
                        <a:effectLst/>
                        <a:latin typeface="+mn-ea"/>
                        <a:ea typeface="+mn-ea"/>
                      </a:endParaRPr>
                    </a:p>
                  </a:txBody>
                  <a:tcPr marL="83225" marR="83225" marT="64802" marB="64802" anchor="ctr" horzOverflow="overflow"/>
                </a:tc>
                <a:extLst>
                  <a:ext uri="{0D108BD9-81ED-4DB2-BD59-A6C34878D82A}">
                    <a16:rowId xmlns:a16="http://schemas.microsoft.com/office/drawing/2014/main" val="10000"/>
                  </a:ext>
                </a:extLst>
              </a:tr>
              <a:tr h="689089">
                <a:tc>
                  <a:txBody>
                    <a:bodyPr/>
                    <a:lstStyle>
                      <a:lvl1pPr marL="0" algn="l" defTabSz="914400" rtl="0" eaLnBrk="1" latinLnBrk="0" hangingPunct="1">
                        <a:defRPr sz="1800" kern="1200">
                          <a:solidFill>
                            <a:schemeClr val="tx1"/>
                          </a:solidFill>
                          <a:latin typeface="Verdana"/>
                          <a:ea typeface="楷体_GB2312"/>
                        </a:defRPr>
                      </a:lvl1pPr>
                      <a:lvl2pPr marL="457200" algn="l" defTabSz="914400" rtl="0" eaLnBrk="1" latinLnBrk="0" hangingPunct="1">
                        <a:defRPr sz="1800" kern="1200">
                          <a:solidFill>
                            <a:schemeClr val="tx1"/>
                          </a:solidFill>
                          <a:latin typeface="Verdana"/>
                          <a:ea typeface="楷体_GB2312"/>
                        </a:defRPr>
                      </a:lvl2pPr>
                      <a:lvl3pPr marL="914400" algn="l" defTabSz="914400" rtl="0" eaLnBrk="1" latinLnBrk="0" hangingPunct="1">
                        <a:defRPr sz="1800" kern="1200">
                          <a:solidFill>
                            <a:schemeClr val="tx1"/>
                          </a:solidFill>
                          <a:latin typeface="Verdana"/>
                          <a:ea typeface="楷体_GB2312"/>
                        </a:defRPr>
                      </a:lvl3pPr>
                      <a:lvl4pPr marL="1371600" algn="l" defTabSz="914400" rtl="0" eaLnBrk="1" latinLnBrk="0" hangingPunct="1">
                        <a:defRPr sz="1800" kern="1200">
                          <a:solidFill>
                            <a:schemeClr val="tx1"/>
                          </a:solidFill>
                          <a:latin typeface="Verdana"/>
                          <a:ea typeface="楷体_GB2312"/>
                        </a:defRPr>
                      </a:lvl4pPr>
                      <a:lvl5pPr marL="1828800" algn="l" defTabSz="914400" rtl="0" eaLnBrk="1" latinLnBrk="0" hangingPunct="1">
                        <a:defRPr sz="1800" kern="1200">
                          <a:solidFill>
                            <a:schemeClr val="tx1"/>
                          </a:solidFill>
                          <a:latin typeface="Verdana"/>
                          <a:ea typeface="楷体_GB2312"/>
                        </a:defRPr>
                      </a:lvl5pPr>
                      <a:lvl6pPr marL="2286000" algn="l" defTabSz="914400" rtl="0" eaLnBrk="1" latinLnBrk="0" hangingPunct="1">
                        <a:defRPr sz="1800" kern="1200">
                          <a:solidFill>
                            <a:schemeClr val="tx1"/>
                          </a:solidFill>
                          <a:latin typeface="Verdana"/>
                          <a:ea typeface="楷体_GB2312"/>
                        </a:defRPr>
                      </a:lvl6pPr>
                      <a:lvl7pPr marL="2743200" algn="l" defTabSz="914400" rtl="0" eaLnBrk="1" latinLnBrk="0" hangingPunct="1">
                        <a:defRPr sz="1800" kern="1200">
                          <a:solidFill>
                            <a:schemeClr val="tx1"/>
                          </a:solidFill>
                          <a:latin typeface="Verdana"/>
                          <a:ea typeface="楷体_GB2312"/>
                        </a:defRPr>
                      </a:lvl7pPr>
                      <a:lvl8pPr marL="3200400" algn="l" defTabSz="914400" rtl="0" eaLnBrk="1" latinLnBrk="0" hangingPunct="1">
                        <a:defRPr sz="1800" kern="1200">
                          <a:solidFill>
                            <a:schemeClr val="tx1"/>
                          </a:solidFill>
                          <a:latin typeface="Verdana"/>
                          <a:ea typeface="楷体_GB2312"/>
                        </a:defRPr>
                      </a:lvl8pPr>
                      <a:lvl9pPr marL="3657600" algn="l" defTabSz="914400" rtl="0" eaLnBrk="1" latinLnBrk="0" hangingPunct="1">
                        <a:defRPr sz="1800" kern="1200">
                          <a:solidFill>
                            <a:schemeClr val="tx1"/>
                          </a:solidFill>
                          <a:latin typeface="Verdana"/>
                          <a:ea typeface="楷体_GB2312"/>
                        </a:defRPr>
                      </a:lvl9p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000" u="none" strike="noStrike" cap="none" normalizeH="0" baseline="0" dirty="0">
                          <a:ln>
                            <a:noFill/>
                          </a:ln>
                          <a:effectLst/>
                          <a:latin typeface="+mn-ea"/>
                          <a:ea typeface="+mn-ea"/>
                        </a:rPr>
                        <a:t>普通企业</a:t>
                      </a:r>
                      <a:endParaRPr kumimoji="0" lang="zh-CN" altLang="en-US" sz="2000" b="0" i="0" u="none" strike="noStrike" cap="none" normalizeH="0" baseline="0" dirty="0">
                        <a:ln>
                          <a:noFill/>
                        </a:ln>
                        <a:solidFill>
                          <a:schemeClr val="tx1"/>
                        </a:solidFill>
                        <a:effectLst/>
                        <a:latin typeface="+mn-ea"/>
                        <a:ea typeface="+mn-ea"/>
                      </a:endParaRPr>
                    </a:p>
                  </a:txBody>
                  <a:tcPr marL="83225" marR="83225" marT="64802" marB="64802" anchor="ctr" horzOverflow="overflow"/>
                </a:tc>
                <a:tc rowSpan="4">
                  <a:txBody>
                    <a:bodyPr/>
                    <a:lstStyle>
                      <a:lvl1pPr marL="0" algn="l" defTabSz="914400" rtl="0" eaLnBrk="1" latinLnBrk="0" hangingPunct="1">
                        <a:defRPr sz="1800" kern="1200">
                          <a:solidFill>
                            <a:schemeClr val="tx1"/>
                          </a:solidFill>
                          <a:latin typeface="Verdana"/>
                          <a:ea typeface="楷体_GB2312"/>
                        </a:defRPr>
                      </a:lvl1pPr>
                      <a:lvl2pPr marL="457200" algn="l" defTabSz="914400" rtl="0" eaLnBrk="1" latinLnBrk="0" hangingPunct="1">
                        <a:defRPr sz="1800" kern="1200">
                          <a:solidFill>
                            <a:schemeClr val="tx1"/>
                          </a:solidFill>
                          <a:latin typeface="Verdana"/>
                          <a:ea typeface="楷体_GB2312"/>
                        </a:defRPr>
                      </a:lvl2pPr>
                      <a:lvl3pPr marL="914400" algn="l" defTabSz="914400" rtl="0" eaLnBrk="1" latinLnBrk="0" hangingPunct="1">
                        <a:defRPr sz="1800" kern="1200">
                          <a:solidFill>
                            <a:schemeClr val="tx1"/>
                          </a:solidFill>
                          <a:latin typeface="Verdana"/>
                          <a:ea typeface="楷体_GB2312"/>
                        </a:defRPr>
                      </a:lvl3pPr>
                      <a:lvl4pPr marL="1371600" algn="l" defTabSz="914400" rtl="0" eaLnBrk="1" latinLnBrk="0" hangingPunct="1">
                        <a:defRPr sz="1800" kern="1200">
                          <a:solidFill>
                            <a:schemeClr val="tx1"/>
                          </a:solidFill>
                          <a:latin typeface="Verdana"/>
                          <a:ea typeface="楷体_GB2312"/>
                        </a:defRPr>
                      </a:lvl4pPr>
                      <a:lvl5pPr marL="1828800" algn="l" defTabSz="914400" rtl="0" eaLnBrk="1" latinLnBrk="0" hangingPunct="1">
                        <a:defRPr sz="1800" kern="1200">
                          <a:solidFill>
                            <a:schemeClr val="tx1"/>
                          </a:solidFill>
                          <a:latin typeface="Verdana"/>
                          <a:ea typeface="楷体_GB2312"/>
                        </a:defRPr>
                      </a:lvl5pPr>
                      <a:lvl6pPr marL="2286000" algn="l" defTabSz="914400" rtl="0" eaLnBrk="1" latinLnBrk="0" hangingPunct="1">
                        <a:defRPr sz="1800" kern="1200">
                          <a:solidFill>
                            <a:schemeClr val="tx1"/>
                          </a:solidFill>
                          <a:latin typeface="Verdana"/>
                          <a:ea typeface="楷体_GB2312"/>
                        </a:defRPr>
                      </a:lvl6pPr>
                      <a:lvl7pPr marL="2743200" algn="l" defTabSz="914400" rtl="0" eaLnBrk="1" latinLnBrk="0" hangingPunct="1">
                        <a:defRPr sz="1800" kern="1200">
                          <a:solidFill>
                            <a:schemeClr val="tx1"/>
                          </a:solidFill>
                          <a:latin typeface="Verdana"/>
                          <a:ea typeface="楷体_GB2312"/>
                        </a:defRPr>
                      </a:lvl7pPr>
                      <a:lvl8pPr marL="3200400" algn="l" defTabSz="914400" rtl="0" eaLnBrk="1" latinLnBrk="0" hangingPunct="1">
                        <a:defRPr sz="1800" kern="1200">
                          <a:solidFill>
                            <a:schemeClr val="tx1"/>
                          </a:solidFill>
                          <a:latin typeface="Verdana"/>
                          <a:ea typeface="楷体_GB2312"/>
                        </a:defRPr>
                      </a:lvl8pPr>
                      <a:lvl9pPr marL="3657600" algn="l" defTabSz="914400" rtl="0" eaLnBrk="1" latinLnBrk="0" hangingPunct="1">
                        <a:defRPr sz="1800" kern="1200">
                          <a:solidFill>
                            <a:schemeClr val="tx1"/>
                          </a:solidFill>
                          <a:latin typeface="Verdana"/>
                          <a:ea typeface="楷体_GB231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dirty="0">
                          <a:ln>
                            <a:noFill/>
                          </a:ln>
                          <a:effectLst/>
                          <a:latin typeface="+mn-ea"/>
                          <a:ea typeface="+mn-ea"/>
                        </a:rPr>
                        <a:t>统计模型</a:t>
                      </a:r>
                      <a:r>
                        <a:rPr kumimoji="0" lang="en-US" altLang="zh-CN" sz="2000" u="none" strike="noStrike" cap="none" normalizeH="0" baseline="0" dirty="0">
                          <a:ln>
                            <a:noFill/>
                          </a:ln>
                          <a:effectLst/>
                          <a:latin typeface="+mn-ea"/>
                          <a:ea typeface="+mn-ea"/>
                        </a:rPr>
                        <a:t>+</a:t>
                      </a:r>
                      <a:r>
                        <a:rPr kumimoji="0" lang="zh-CN" altLang="en-US" sz="2000" u="none" strike="noStrike" cap="none" normalizeH="0" baseline="0" dirty="0">
                          <a:ln>
                            <a:noFill/>
                          </a:ln>
                          <a:effectLst/>
                          <a:latin typeface="+mn-ea"/>
                          <a:ea typeface="+mn-ea"/>
                        </a:rPr>
                        <a:t>评级模板</a:t>
                      </a:r>
                      <a:endParaRPr kumimoji="0" lang="zh-CN" altLang="en-US" sz="2000" b="0" i="0" u="none" strike="noStrike" cap="none" normalizeH="0" baseline="0" dirty="0">
                        <a:ln>
                          <a:noFill/>
                        </a:ln>
                        <a:solidFill>
                          <a:schemeClr val="tx1"/>
                        </a:solidFill>
                        <a:effectLst/>
                        <a:latin typeface="+mn-ea"/>
                        <a:ea typeface="+mn-ea"/>
                      </a:endParaRPr>
                    </a:p>
                  </a:txBody>
                  <a:tcPr marL="83225" marR="83225" marT="64802" marB="64802" anchor="ctr" horzOverflow="overflow"/>
                </a:tc>
                <a:extLst>
                  <a:ext uri="{0D108BD9-81ED-4DB2-BD59-A6C34878D82A}">
                    <a16:rowId xmlns:a16="http://schemas.microsoft.com/office/drawing/2014/main" val="10001"/>
                  </a:ext>
                </a:extLst>
              </a:tr>
              <a:tr h="689089">
                <a:tc>
                  <a:txBody>
                    <a:bodyPr/>
                    <a:lstStyle>
                      <a:lvl1pPr marL="0" algn="l" defTabSz="914400" rtl="0" eaLnBrk="1" latinLnBrk="0" hangingPunct="1">
                        <a:defRPr sz="1800" kern="1200">
                          <a:solidFill>
                            <a:schemeClr val="tx1"/>
                          </a:solidFill>
                          <a:latin typeface="Verdana"/>
                          <a:ea typeface="楷体_GB2312"/>
                        </a:defRPr>
                      </a:lvl1pPr>
                      <a:lvl2pPr marL="457200" algn="l" defTabSz="914400" rtl="0" eaLnBrk="1" latinLnBrk="0" hangingPunct="1">
                        <a:defRPr sz="1800" kern="1200">
                          <a:solidFill>
                            <a:schemeClr val="tx1"/>
                          </a:solidFill>
                          <a:latin typeface="Verdana"/>
                          <a:ea typeface="楷体_GB2312"/>
                        </a:defRPr>
                      </a:lvl2pPr>
                      <a:lvl3pPr marL="914400" algn="l" defTabSz="914400" rtl="0" eaLnBrk="1" latinLnBrk="0" hangingPunct="1">
                        <a:defRPr sz="1800" kern="1200">
                          <a:solidFill>
                            <a:schemeClr val="tx1"/>
                          </a:solidFill>
                          <a:latin typeface="Verdana"/>
                          <a:ea typeface="楷体_GB2312"/>
                        </a:defRPr>
                      </a:lvl3pPr>
                      <a:lvl4pPr marL="1371600" algn="l" defTabSz="914400" rtl="0" eaLnBrk="1" latinLnBrk="0" hangingPunct="1">
                        <a:defRPr sz="1800" kern="1200">
                          <a:solidFill>
                            <a:schemeClr val="tx1"/>
                          </a:solidFill>
                          <a:latin typeface="Verdana"/>
                          <a:ea typeface="楷体_GB2312"/>
                        </a:defRPr>
                      </a:lvl4pPr>
                      <a:lvl5pPr marL="1828800" algn="l" defTabSz="914400" rtl="0" eaLnBrk="1" latinLnBrk="0" hangingPunct="1">
                        <a:defRPr sz="1800" kern="1200">
                          <a:solidFill>
                            <a:schemeClr val="tx1"/>
                          </a:solidFill>
                          <a:latin typeface="Verdana"/>
                          <a:ea typeface="楷体_GB2312"/>
                        </a:defRPr>
                      </a:lvl5pPr>
                      <a:lvl6pPr marL="2286000" algn="l" defTabSz="914400" rtl="0" eaLnBrk="1" latinLnBrk="0" hangingPunct="1">
                        <a:defRPr sz="1800" kern="1200">
                          <a:solidFill>
                            <a:schemeClr val="tx1"/>
                          </a:solidFill>
                          <a:latin typeface="Verdana"/>
                          <a:ea typeface="楷体_GB2312"/>
                        </a:defRPr>
                      </a:lvl6pPr>
                      <a:lvl7pPr marL="2743200" algn="l" defTabSz="914400" rtl="0" eaLnBrk="1" latinLnBrk="0" hangingPunct="1">
                        <a:defRPr sz="1800" kern="1200">
                          <a:solidFill>
                            <a:schemeClr val="tx1"/>
                          </a:solidFill>
                          <a:latin typeface="Verdana"/>
                          <a:ea typeface="楷体_GB2312"/>
                        </a:defRPr>
                      </a:lvl7pPr>
                      <a:lvl8pPr marL="3200400" algn="l" defTabSz="914400" rtl="0" eaLnBrk="1" latinLnBrk="0" hangingPunct="1">
                        <a:defRPr sz="1800" kern="1200">
                          <a:solidFill>
                            <a:schemeClr val="tx1"/>
                          </a:solidFill>
                          <a:latin typeface="Verdana"/>
                          <a:ea typeface="楷体_GB2312"/>
                        </a:defRPr>
                      </a:lvl8pPr>
                      <a:lvl9pPr marL="3657600" algn="l" defTabSz="914400" rtl="0" eaLnBrk="1" latinLnBrk="0" hangingPunct="1">
                        <a:defRPr sz="1800" kern="1200">
                          <a:solidFill>
                            <a:schemeClr val="tx1"/>
                          </a:solidFill>
                          <a:latin typeface="Verdana"/>
                          <a:ea typeface="楷体_GB2312"/>
                        </a:defRPr>
                      </a:lvl9p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000" u="none" strike="noStrike" cap="none" normalizeH="0" baseline="0" dirty="0">
                          <a:ln>
                            <a:noFill/>
                          </a:ln>
                          <a:effectLst/>
                          <a:latin typeface="+mn-ea"/>
                          <a:ea typeface="+mn-ea"/>
                        </a:rPr>
                        <a:t>房地产企业</a:t>
                      </a:r>
                      <a:endParaRPr kumimoji="0" lang="zh-CN" altLang="en-US" sz="2000" b="0" i="0" u="none" strike="noStrike" cap="none" normalizeH="0" baseline="0" dirty="0">
                        <a:ln>
                          <a:noFill/>
                        </a:ln>
                        <a:solidFill>
                          <a:schemeClr val="tx1"/>
                        </a:solidFill>
                        <a:effectLst/>
                        <a:latin typeface="+mn-ea"/>
                        <a:ea typeface="+mn-ea"/>
                      </a:endParaRPr>
                    </a:p>
                  </a:txBody>
                  <a:tcPr marL="83225" marR="83225" marT="64802" marB="64802" anchor="ctr" horzOverflow="overflow"/>
                </a:tc>
                <a:tc vMerge="1">
                  <a:txBody>
                    <a:bodyPr/>
                    <a:lstStyle/>
                    <a:p>
                      <a:endParaRPr lang="zh-CN" altLang="en-US"/>
                    </a:p>
                  </a:txBody>
                  <a:tcPr/>
                </a:tc>
                <a:extLst>
                  <a:ext uri="{0D108BD9-81ED-4DB2-BD59-A6C34878D82A}">
                    <a16:rowId xmlns:a16="http://schemas.microsoft.com/office/drawing/2014/main" val="10002"/>
                  </a:ext>
                </a:extLst>
              </a:tr>
              <a:tr h="689089">
                <a:tc>
                  <a:txBody>
                    <a:bodyPr/>
                    <a:lstStyle>
                      <a:lvl1pPr marL="0" algn="l" defTabSz="914400" rtl="0" eaLnBrk="1" latinLnBrk="0" hangingPunct="1">
                        <a:defRPr sz="1800" kern="1200">
                          <a:solidFill>
                            <a:schemeClr val="tx1"/>
                          </a:solidFill>
                          <a:latin typeface="Verdana"/>
                          <a:ea typeface="楷体_GB2312"/>
                        </a:defRPr>
                      </a:lvl1pPr>
                      <a:lvl2pPr marL="457200" algn="l" defTabSz="914400" rtl="0" eaLnBrk="1" latinLnBrk="0" hangingPunct="1">
                        <a:defRPr sz="1800" kern="1200">
                          <a:solidFill>
                            <a:schemeClr val="tx1"/>
                          </a:solidFill>
                          <a:latin typeface="Verdana"/>
                          <a:ea typeface="楷体_GB2312"/>
                        </a:defRPr>
                      </a:lvl2pPr>
                      <a:lvl3pPr marL="914400" algn="l" defTabSz="914400" rtl="0" eaLnBrk="1" latinLnBrk="0" hangingPunct="1">
                        <a:defRPr sz="1800" kern="1200">
                          <a:solidFill>
                            <a:schemeClr val="tx1"/>
                          </a:solidFill>
                          <a:latin typeface="Verdana"/>
                          <a:ea typeface="楷体_GB2312"/>
                        </a:defRPr>
                      </a:lvl3pPr>
                      <a:lvl4pPr marL="1371600" algn="l" defTabSz="914400" rtl="0" eaLnBrk="1" latinLnBrk="0" hangingPunct="1">
                        <a:defRPr sz="1800" kern="1200">
                          <a:solidFill>
                            <a:schemeClr val="tx1"/>
                          </a:solidFill>
                          <a:latin typeface="Verdana"/>
                          <a:ea typeface="楷体_GB2312"/>
                        </a:defRPr>
                      </a:lvl4pPr>
                      <a:lvl5pPr marL="1828800" algn="l" defTabSz="914400" rtl="0" eaLnBrk="1" latinLnBrk="0" hangingPunct="1">
                        <a:defRPr sz="1800" kern="1200">
                          <a:solidFill>
                            <a:schemeClr val="tx1"/>
                          </a:solidFill>
                          <a:latin typeface="Verdana"/>
                          <a:ea typeface="楷体_GB2312"/>
                        </a:defRPr>
                      </a:lvl5pPr>
                      <a:lvl6pPr marL="2286000" algn="l" defTabSz="914400" rtl="0" eaLnBrk="1" latinLnBrk="0" hangingPunct="1">
                        <a:defRPr sz="1800" kern="1200">
                          <a:solidFill>
                            <a:schemeClr val="tx1"/>
                          </a:solidFill>
                          <a:latin typeface="Verdana"/>
                          <a:ea typeface="楷体_GB2312"/>
                        </a:defRPr>
                      </a:lvl6pPr>
                      <a:lvl7pPr marL="2743200" algn="l" defTabSz="914400" rtl="0" eaLnBrk="1" latinLnBrk="0" hangingPunct="1">
                        <a:defRPr sz="1800" kern="1200">
                          <a:solidFill>
                            <a:schemeClr val="tx1"/>
                          </a:solidFill>
                          <a:latin typeface="Verdana"/>
                          <a:ea typeface="楷体_GB2312"/>
                        </a:defRPr>
                      </a:lvl7pPr>
                      <a:lvl8pPr marL="3200400" algn="l" defTabSz="914400" rtl="0" eaLnBrk="1" latinLnBrk="0" hangingPunct="1">
                        <a:defRPr sz="1800" kern="1200">
                          <a:solidFill>
                            <a:schemeClr val="tx1"/>
                          </a:solidFill>
                          <a:latin typeface="Verdana"/>
                          <a:ea typeface="楷体_GB2312"/>
                        </a:defRPr>
                      </a:lvl8pPr>
                      <a:lvl9pPr marL="3657600" algn="l" defTabSz="914400" rtl="0" eaLnBrk="1" latinLnBrk="0" hangingPunct="1">
                        <a:defRPr sz="1800" kern="1200">
                          <a:solidFill>
                            <a:schemeClr val="tx1"/>
                          </a:solidFill>
                          <a:latin typeface="Verdana"/>
                          <a:ea typeface="楷体_GB2312"/>
                        </a:defRPr>
                      </a:lvl9p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000" u="none" strike="noStrike" cap="none" normalizeH="0" baseline="0" dirty="0">
                          <a:ln>
                            <a:noFill/>
                          </a:ln>
                          <a:effectLst/>
                          <a:latin typeface="+mn-ea"/>
                          <a:ea typeface="+mn-ea"/>
                        </a:rPr>
                        <a:t>事业单位</a:t>
                      </a:r>
                      <a:endParaRPr kumimoji="0" lang="zh-CN" altLang="en-US" sz="2000" b="0" i="0" u="none" strike="noStrike" cap="none" normalizeH="0" baseline="0" dirty="0">
                        <a:ln>
                          <a:noFill/>
                        </a:ln>
                        <a:solidFill>
                          <a:schemeClr val="tx1"/>
                        </a:solidFill>
                        <a:effectLst/>
                        <a:latin typeface="+mn-ea"/>
                        <a:ea typeface="+mn-ea"/>
                      </a:endParaRPr>
                    </a:p>
                  </a:txBody>
                  <a:tcPr marL="83225" marR="83225" marT="64802" marB="64802" anchor="ctr" horzOverflow="overflow"/>
                </a:tc>
                <a:tc vMerge="1">
                  <a:txBody>
                    <a:bodyPr/>
                    <a:lstStyle/>
                    <a:p>
                      <a:endParaRPr lang="zh-CN" altLang="en-US"/>
                    </a:p>
                  </a:txBody>
                  <a:tcPr/>
                </a:tc>
                <a:extLst>
                  <a:ext uri="{0D108BD9-81ED-4DB2-BD59-A6C34878D82A}">
                    <a16:rowId xmlns:a16="http://schemas.microsoft.com/office/drawing/2014/main" val="10003"/>
                  </a:ext>
                </a:extLst>
              </a:tr>
              <a:tr h="689089">
                <a:tc>
                  <a:txBody>
                    <a:bodyPr/>
                    <a:lstStyle>
                      <a:lvl1pPr marL="0" algn="l" defTabSz="914400" rtl="0" eaLnBrk="1" latinLnBrk="0" hangingPunct="1">
                        <a:defRPr sz="1800" kern="1200">
                          <a:solidFill>
                            <a:schemeClr val="tx1"/>
                          </a:solidFill>
                          <a:latin typeface="Verdana"/>
                          <a:ea typeface="楷体_GB2312"/>
                        </a:defRPr>
                      </a:lvl1pPr>
                      <a:lvl2pPr marL="457200" algn="l" defTabSz="914400" rtl="0" eaLnBrk="1" latinLnBrk="0" hangingPunct="1">
                        <a:defRPr sz="1800" kern="1200">
                          <a:solidFill>
                            <a:schemeClr val="tx1"/>
                          </a:solidFill>
                          <a:latin typeface="Verdana"/>
                          <a:ea typeface="楷体_GB2312"/>
                        </a:defRPr>
                      </a:lvl2pPr>
                      <a:lvl3pPr marL="914400" algn="l" defTabSz="914400" rtl="0" eaLnBrk="1" latinLnBrk="0" hangingPunct="1">
                        <a:defRPr sz="1800" kern="1200">
                          <a:solidFill>
                            <a:schemeClr val="tx1"/>
                          </a:solidFill>
                          <a:latin typeface="Verdana"/>
                          <a:ea typeface="楷体_GB2312"/>
                        </a:defRPr>
                      </a:lvl3pPr>
                      <a:lvl4pPr marL="1371600" algn="l" defTabSz="914400" rtl="0" eaLnBrk="1" latinLnBrk="0" hangingPunct="1">
                        <a:defRPr sz="1800" kern="1200">
                          <a:solidFill>
                            <a:schemeClr val="tx1"/>
                          </a:solidFill>
                          <a:latin typeface="Verdana"/>
                          <a:ea typeface="楷体_GB2312"/>
                        </a:defRPr>
                      </a:lvl4pPr>
                      <a:lvl5pPr marL="1828800" algn="l" defTabSz="914400" rtl="0" eaLnBrk="1" latinLnBrk="0" hangingPunct="1">
                        <a:defRPr sz="1800" kern="1200">
                          <a:solidFill>
                            <a:schemeClr val="tx1"/>
                          </a:solidFill>
                          <a:latin typeface="Verdana"/>
                          <a:ea typeface="楷体_GB2312"/>
                        </a:defRPr>
                      </a:lvl5pPr>
                      <a:lvl6pPr marL="2286000" algn="l" defTabSz="914400" rtl="0" eaLnBrk="1" latinLnBrk="0" hangingPunct="1">
                        <a:defRPr sz="1800" kern="1200">
                          <a:solidFill>
                            <a:schemeClr val="tx1"/>
                          </a:solidFill>
                          <a:latin typeface="Verdana"/>
                          <a:ea typeface="楷体_GB2312"/>
                        </a:defRPr>
                      </a:lvl6pPr>
                      <a:lvl7pPr marL="2743200" algn="l" defTabSz="914400" rtl="0" eaLnBrk="1" latinLnBrk="0" hangingPunct="1">
                        <a:defRPr sz="1800" kern="1200">
                          <a:solidFill>
                            <a:schemeClr val="tx1"/>
                          </a:solidFill>
                          <a:latin typeface="Verdana"/>
                          <a:ea typeface="楷体_GB2312"/>
                        </a:defRPr>
                      </a:lvl7pPr>
                      <a:lvl8pPr marL="3200400" algn="l" defTabSz="914400" rtl="0" eaLnBrk="1" latinLnBrk="0" hangingPunct="1">
                        <a:defRPr sz="1800" kern="1200">
                          <a:solidFill>
                            <a:schemeClr val="tx1"/>
                          </a:solidFill>
                          <a:latin typeface="Verdana"/>
                          <a:ea typeface="楷体_GB2312"/>
                        </a:defRPr>
                      </a:lvl8pPr>
                      <a:lvl9pPr marL="3657600" algn="l" defTabSz="914400" rtl="0" eaLnBrk="1" latinLnBrk="0" hangingPunct="1">
                        <a:defRPr sz="1800" kern="1200">
                          <a:solidFill>
                            <a:schemeClr val="tx1"/>
                          </a:solidFill>
                          <a:latin typeface="Verdana"/>
                          <a:ea typeface="楷体_GB2312"/>
                        </a:defRPr>
                      </a:lvl9p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000" u="none" strike="noStrike" cap="none" normalizeH="0" baseline="0" dirty="0">
                          <a:ln>
                            <a:noFill/>
                          </a:ln>
                          <a:effectLst/>
                          <a:latin typeface="+mn-ea"/>
                          <a:ea typeface="+mn-ea"/>
                        </a:rPr>
                        <a:t>小微企业</a:t>
                      </a:r>
                      <a:endParaRPr kumimoji="0" lang="zh-CN" altLang="en-US" sz="2000" b="0" i="0" u="none" strike="noStrike" cap="none" normalizeH="0" baseline="0" dirty="0">
                        <a:ln>
                          <a:noFill/>
                        </a:ln>
                        <a:solidFill>
                          <a:schemeClr val="tx1"/>
                        </a:solidFill>
                        <a:effectLst/>
                        <a:latin typeface="+mn-ea"/>
                        <a:ea typeface="+mn-ea"/>
                      </a:endParaRPr>
                    </a:p>
                  </a:txBody>
                  <a:tcPr marL="83225" marR="83225" marT="64802" marB="64802" anchor="ctr" horzOverflow="overflow"/>
                </a:tc>
                <a:tc vMerge="1">
                  <a:txBody>
                    <a:bodyPr/>
                    <a:lstStyle/>
                    <a:p>
                      <a:endParaRPr lang="zh-CN" altLang="en-US"/>
                    </a:p>
                  </a:txBody>
                  <a:tcPr/>
                </a:tc>
                <a:extLst>
                  <a:ext uri="{0D108BD9-81ED-4DB2-BD59-A6C34878D82A}">
                    <a16:rowId xmlns:a16="http://schemas.microsoft.com/office/drawing/2014/main" val="10004"/>
                  </a:ext>
                </a:extLst>
              </a:tr>
              <a:tr h="689089">
                <a:tc>
                  <a:txBody>
                    <a:bodyPr/>
                    <a:lstStyle>
                      <a:lvl1pPr marL="0" algn="l" defTabSz="914400" rtl="0" eaLnBrk="1" latinLnBrk="0" hangingPunct="1">
                        <a:defRPr sz="1800" kern="1200">
                          <a:solidFill>
                            <a:schemeClr val="tx1"/>
                          </a:solidFill>
                          <a:latin typeface="Verdana"/>
                          <a:ea typeface="楷体_GB2312"/>
                        </a:defRPr>
                      </a:lvl1pPr>
                      <a:lvl2pPr marL="457200" algn="l" defTabSz="914400" rtl="0" eaLnBrk="1" latinLnBrk="0" hangingPunct="1">
                        <a:defRPr sz="1800" kern="1200">
                          <a:solidFill>
                            <a:schemeClr val="tx1"/>
                          </a:solidFill>
                          <a:latin typeface="Verdana"/>
                          <a:ea typeface="楷体_GB2312"/>
                        </a:defRPr>
                      </a:lvl2pPr>
                      <a:lvl3pPr marL="914400" algn="l" defTabSz="914400" rtl="0" eaLnBrk="1" latinLnBrk="0" hangingPunct="1">
                        <a:defRPr sz="1800" kern="1200">
                          <a:solidFill>
                            <a:schemeClr val="tx1"/>
                          </a:solidFill>
                          <a:latin typeface="Verdana"/>
                          <a:ea typeface="楷体_GB2312"/>
                        </a:defRPr>
                      </a:lvl3pPr>
                      <a:lvl4pPr marL="1371600" algn="l" defTabSz="914400" rtl="0" eaLnBrk="1" latinLnBrk="0" hangingPunct="1">
                        <a:defRPr sz="1800" kern="1200">
                          <a:solidFill>
                            <a:schemeClr val="tx1"/>
                          </a:solidFill>
                          <a:latin typeface="Verdana"/>
                          <a:ea typeface="楷体_GB2312"/>
                        </a:defRPr>
                      </a:lvl4pPr>
                      <a:lvl5pPr marL="1828800" algn="l" defTabSz="914400" rtl="0" eaLnBrk="1" latinLnBrk="0" hangingPunct="1">
                        <a:defRPr sz="1800" kern="1200">
                          <a:solidFill>
                            <a:schemeClr val="tx1"/>
                          </a:solidFill>
                          <a:latin typeface="Verdana"/>
                          <a:ea typeface="楷体_GB2312"/>
                        </a:defRPr>
                      </a:lvl5pPr>
                      <a:lvl6pPr marL="2286000" algn="l" defTabSz="914400" rtl="0" eaLnBrk="1" latinLnBrk="0" hangingPunct="1">
                        <a:defRPr sz="1800" kern="1200">
                          <a:solidFill>
                            <a:schemeClr val="tx1"/>
                          </a:solidFill>
                          <a:latin typeface="Verdana"/>
                          <a:ea typeface="楷体_GB2312"/>
                        </a:defRPr>
                      </a:lvl6pPr>
                      <a:lvl7pPr marL="2743200" algn="l" defTabSz="914400" rtl="0" eaLnBrk="1" latinLnBrk="0" hangingPunct="1">
                        <a:defRPr sz="1800" kern="1200">
                          <a:solidFill>
                            <a:schemeClr val="tx1"/>
                          </a:solidFill>
                          <a:latin typeface="Verdana"/>
                          <a:ea typeface="楷体_GB2312"/>
                        </a:defRPr>
                      </a:lvl7pPr>
                      <a:lvl8pPr marL="3200400" algn="l" defTabSz="914400" rtl="0" eaLnBrk="1" latinLnBrk="0" hangingPunct="1">
                        <a:defRPr sz="1800" kern="1200">
                          <a:solidFill>
                            <a:schemeClr val="tx1"/>
                          </a:solidFill>
                          <a:latin typeface="Verdana"/>
                          <a:ea typeface="楷体_GB2312"/>
                        </a:defRPr>
                      </a:lvl8pPr>
                      <a:lvl9pPr marL="3657600" algn="l" defTabSz="914400" rtl="0" eaLnBrk="1" latinLnBrk="0" hangingPunct="1">
                        <a:defRPr sz="1800" kern="1200">
                          <a:solidFill>
                            <a:schemeClr val="tx1"/>
                          </a:solidFill>
                          <a:latin typeface="Verdana"/>
                          <a:ea typeface="楷体_GB2312"/>
                        </a:defRPr>
                      </a:lvl9p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000" u="none" strike="noStrike" cap="none" normalizeH="0" baseline="0" dirty="0">
                          <a:ln>
                            <a:noFill/>
                          </a:ln>
                          <a:effectLst/>
                          <a:latin typeface="+mn-ea"/>
                          <a:ea typeface="+mn-ea"/>
                        </a:rPr>
                        <a:t>金融机构</a:t>
                      </a:r>
                      <a:endParaRPr kumimoji="0" lang="zh-CN" altLang="en-US" sz="2000" b="0" i="0" u="none" strike="noStrike" cap="none" normalizeH="0" baseline="0" dirty="0">
                        <a:ln>
                          <a:noFill/>
                        </a:ln>
                        <a:solidFill>
                          <a:schemeClr val="tx1"/>
                        </a:solidFill>
                        <a:effectLst/>
                        <a:latin typeface="+mn-ea"/>
                        <a:ea typeface="+mn-ea"/>
                      </a:endParaRPr>
                    </a:p>
                  </a:txBody>
                  <a:tcPr marL="83225" marR="83225" marT="64802" marB="64802" anchor="ctr" horzOverflow="overflow"/>
                </a:tc>
                <a:tc rowSpan="2">
                  <a:txBody>
                    <a:bodyPr/>
                    <a:lstStyle>
                      <a:lvl1pPr marL="0" algn="l" defTabSz="914400" rtl="0" eaLnBrk="1" latinLnBrk="0" hangingPunct="1">
                        <a:defRPr sz="1800" kern="1200">
                          <a:solidFill>
                            <a:schemeClr val="tx1"/>
                          </a:solidFill>
                          <a:latin typeface="Verdana"/>
                          <a:ea typeface="楷体_GB2312"/>
                        </a:defRPr>
                      </a:lvl1pPr>
                      <a:lvl2pPr marL="457200" algn="l" defTabSz="914400" rtl="0" eaLnBrk="1" latinLnBrk="0" hangingPunct="1">
                        <a:defRPr sz="1800" kern="1200">
                          <a:solidFill>
                            <a:schemeClr val="tx1"/>
                          </a:solidFill>
                          <a:latin typeface="Verdana"/>
                          <a:ea typeface="楷体_GB2312"/>
                        </a:defRPr>
                      </a:lvl2pPr>
                      <a:lvl3pPr marL="914400" algn="l" defTabSz="914400" rtl="0" eaLnBrk="1" latinLnBrk="0" hangingPunct="1">
                        <a:defRPr sz="1800" kern="1200">
                          <a:solidFill>
                            <a:schemeClr val="tx1"/>
                          </a:solidFill>
                          <a:latin typeface="Verdana"/>
                          <a:ea typeface="楷体_GB2312"/>
                        </a:defRPr>
                      </a:lvl3pPr>
                      <a:lvl4pPr marL="1371600" algn="l" defTabSz="914400" rtl="0" eaLnBrk="1" latinLnBrk="0" hangingPunct="1">
                        <a:defRPr sz="1800" kern="1200">
                          <a:solidFill>
                            <a:schemeClr val="tx1"/>
                          </a:solidFill>
                          <a:latin typeface="Verdana"/>
                          <a:ea typeface="楷体_GB2312"/>
                        </a:defRPr>
                      </a:lvl4pPr>
                      <a:lvl5pPr marL="1828800" algn="l" defTabSz="914400" rtl="0" eaLnBrk="1" latinLnBrk="0" hangingPunct="1">
                        <a:defRPr sz="1800" kern="1200">
                          <a:solidFill>
                            <a:schemeClr val="tx1"/>
                          </a:solidFill>
                          <a:latin typeface="Verdana"/>
                          <a:ea typeface="楷体_GB2312"/>
                        </a:defRPr>
                      </a:lvl5pPr>
                      <a:lvl6pPr marL="2286000" algn="l" defTabSz="914400" rtl="0" eaLnBrk="1" latinLnBrk="0" hangingPunct="1">
                        <a:defRPr sz="1800" kern="1200">
                          <a:solidFill>
                            <a:schemeClr val="tx1"/>
                          </a:solidFill>
                          <a:latin typeface="Verdana"/>
                          <a:ea typeface="楷体_GB2312"/>
                        </a:defRPr>
                      </a:lvl6pPr>
                      <a:lvl7pPr marL="2743200" algn="l" defTabSz="914400" rtl="0" eaLnBrk="1" latinLnBrk="0" hangingPunct="1">
                        <a:defRPr sz="1800" kern="1200">
                          <a:solidFill>
                            <a:schemeClr val="tx1"/>
                          </a:solidFill>
                          <a:latin typeface="Verdana"/>
                          <a:ea typeface="楷体_GB2312"/>
                        </a:defRPr>
                      </a:lvl7pPr>
                      <a:lvl8pPr marL="3200400" algn="l" defTabSz="914400" rtl="0" eaLnBrk="1" latinLnBrk="0" hangingPunct="1">
                        <a:defRPr sz="1800" kern="1200">
                          <a:solidFill>
                            <a:schemeClr val="tx1"/>
                          </a:solidFill>
                          <a:latin typeface="Verdana"/>
                          <a:ea typeface="楷体_GB2312"/>
                        </a:defRPr>
                      </a:lvl8pPr>
                      <a:lvl9pPr marL="3657600" algn="l" defTabSz="914400" rtl="0" eaLnBrk="1" latinLnBrk="0" hangingPunct="1">
                        <a:defRPr sz="1800" kern="1200">
                          <a:solidFill>
                            <a:schemeClr val="tx1"/>
                          </a:solidFill>
                          <a:latin typeface="Verdana"/>
                          <a:ea typeface="楷体_GB2312"/>
                        </a:defRPr>
                      </a:lvl9p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000" u="none" strike="noStrike" cap="none" normalizeH="0" baseline="0" dirty="0">
                          <a:ln>
                            <a:noFill/>
                          </a:ln>
                          <a:effectLst/>
                          <a:latin typeface="+mn-ea"/>
                          <a:ea typeface="+mn-ea"/>
                        </a:rPr>
                        <a:t>评级模板</a:t>
                      </a:r>
                      <a:endParaRPr kumimoji="0" lang="zh-CN" altLang="en-US" sz="2000" b="0" i="0" u="none" strike="noStrike" cap="none" normalizeH="0" baseline="0" dirty="0">
                        <a:ln>
                          <a:noFill/>
                        </a:ln>
                        <a:solidFill>
                          <a:schemeClr val="tx1"/>
                        </a:solidFill>
                        <a:effectLst/>
                        <a:latin typeface="+mn-ea"/>
                        <a:ea typeface="+mn-ea"/>
                      </a:endParaRPr>
                    </a:p>
                  </a:txBody>
                  <a:tcPr marL="83225" marR="83225" marT="64802" marB="64802" anchor="ctr" horzOverflow="overflow"/>
                </a:tc>
                <a:extLst>
                  <a:ext uri="{0D108BD9-81ED-4DB2-BD59-A6C34878D82A}">
                    <a16:rowId xmlns:a16="http://schemas.microsoft.com/office/drawing/2014/main" val="10005"/>
                  </a:ext>
                </a:extLst>
              </a:tr>
              <a:tr h="689089">
                <a:tc>
                  <a:txBody>
                    <a:bodyPr/>
                    <a:lstStyle>
                      <a:lvl1pPr marL="0" algn="l" defTabSz="914400" rtl="0" eaLnBrk="1" latinLnBrk="0" hangingPunct="1">
                        <a:defRPr sz="1800" kern="1200">
                          <a:solidFill>
                            <a:schemeClr val="tx1"/>
                          </a:solidFill>
                          <a:latin typeface="Verdana"/>
                          <a:ea typeface="楷体_GB2312"/>
                        </a:defRPr>
                      </a:lvl1pPr>
                      <a:lvl2pPr marL="457200" algn="l" defTabSz="914400" rtl="0" eaLnBrk="1" latinLnBrk="0" hangingPunct="1">
                        <a:defRPr sz="1800" kern="1200">
                          <a:solidFill>
                            <a:schemeClr val="tx1"/>
                          </a:solidFill>
                          <a:latin typeface="Verdana"/>
                          <a:ea typeface="楷体_GB2312"/>
                        </a:defRPr>
                      </a:lvl2pPr>
                      <a:lvl3pPr marL="914400" algn="l" defTabSz="914400" rtl="0" eaLnBrk="1" latinLnBrk="0" hangingPunct="1">
                        <a:defRPr sz="1800" kern="1200">
                          <a:solidFill>
                            <a:schemeClr val="tx1"/>
                          </a:solidFill>
                          <a:latin typeface="Verdana"/>
                          <a:ea typeface="楷体_GB2312"/>
                        </a:defRPr>
                      </a:lvl3pPr>
                      <a:lvl4pPr marL="1371600" algn="l" defTabSz="914400" rtl="0" eaLnBrk="1" latinLnBrk="0" hangingPunct="1">
                        <a:defRPr sz="1800" kern="1200">
                          <a:solidFill>
                            <a:schemeClr val="tx1"/>
                          </a:solidFill>
                          <a:latin typeface="Verdana"/>
                          <a:ea typeface="楷体_GB2312"/>
                        </a:defRPr>
                      </a:lvl4pPr>
                      <a:lvl5pPr marL="1828800" algn="l" defTabSz="914400" rtl="0" eaLnBrk="1" latinLnBrk="0" hangingPunct="1">
                        <a:defRPr sz="1800" kern="1200">
                          <a:solidFill>
                            <a:schemeClr val="tx1"/>
                          </a:solidFill>
                          <a:latin typeface="Verdana"/>
                          <a:ea typeface="楷体_GB2312"/>
                        </a:defRPr>
                      </a:lvl5pPr>
                      <a:lvl6pPr marL="2286000" algn="l" defTabSz="914400" rtl="0" eaLnBrk="1" latinLnBrk="0" hangingPunct="1">
                        <a:defRPr sz="1800" kern="1200">
                          <a:solidFill>
                            <a:schemeClr val="tx1"/>
                          </a:solidFill>
                          <a:latin typeface="Verdana"/>
                          <a:ea typeface="楷体_GB2312"/>
                        </a:defRPr>
                      </a:lvl6pPr>
                      <a:lvl7pPr marL="2743200" algn="l" defTabSz="914400" rtl="0" eaLnBrk="1" latinLnBrk="0" hangingPunct="1">
                        <a:defRPr sz="1800" kern="1200">
                          <a:solidFill>
                            <a:schemeClr val="tx1"/>
                          </a:solidFill>
                          <a:latin typeface="Verdana"/>
                          <a:ea typeface="楷体_GB2312"/>
                        </a:defRPr>
                      </a:lvl7pPr>
                      <a:lvl8pPr marL="3200400" algn="l" defTabSz="914400" rtl="0" eaLnBrk="1" latinLnBrk="0" hangingPunct="1">
                        <a:defRPr sz="1800" kern="1200">
                          <a:solidFill>
                            <a:schemeClr val="tx1"/>
                          </a:solidFill>
                          <a:latin typeface="Verdana"/>
                          <a:ea typeface="楷体_GB2312"/>
                        </a:defRPr>
                      </a:lvl8pPr>
                      <a:lvl9pPr marL="3657600" algn="l" defTabSz="914400" rtl="0" eaLnBrk="1" latinLnBrk="0" hangingPunct="1">
                        <a:defRPr sz="1800" kern="1200">
                          <a:solidFill>
                            <a:schemeClr val="tx1"/>
                          </a:solidFill>
                          <a:latin typeface="Verdana"/>
                          <a:ea typeface="楷体_GB2312"/>
                        </a:defRPr>
                      </a:lvl9p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000" u="none" strike="noStrike" cap="none" normalizeH="0" baseline="0" dirty="0">
                          <a:ln>
                            <a:noFill/>
                          </a:ln>
                          <a:effectLst/>
                          <a:latin typeface="+mn-ea"/>
                          <a:ea typeface="+mn-ea"/>
                        </a:rPr>
                        <a:t>特殊类（城投公司等）</a:t>
                      </a:r>
                      <a:endParaRPr kumimoji="0" lang="zh-CN" altLang="en-US" sz="2000" b="0" i="0" u="none" strike="noStrike" cap="none" normalizeH="0" baseline="0" dirty="0">
                        <a:ln>
                          <a:noFill/>
                        </a:ln>
                        <a:solidFill>
                          <a:schemeClr val="tx1"/>
                        </a:solidFill>
                        <a:effectLst/>
                        <a:latin typeface="+mn-ea"/>
                        <a:ea typeface="+mn-ea"/>
                      </a:endParaRPr>
                    </a:p>
                  </a:txBody>
                  <a:tcPr marL="83225" marR="83225" marT="64802" marB="64802" anchor="ctr" horzOverflow="overflow"/>
                </a:tc>
                <a:tc vMerge="1">
                  <a:txBody>
                    <a:bodyPr/>
                    <a:lstStyle/>
                    <a:p>
                      <a:endParaRPr lang="zh-CN" altLang="en-US"/>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651781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C3A1AFFD-E5EA-425F-8C4D-A0C22B942AD0}"/>
              </a:ext>
            </a:extLst>
          </p:cNvPr>
          <p:cNvSpPr>
            <a:spLocks noGrp="1"/>
          </p:cNvSpPr>
          <p:nvPr>
            <p:ph type="title"/>
          </p:nvPr>
        </p:nvSpPr>
        <p:spPr/>
        <p:txBody>
          <a:bodyPr/>
          <a:lstStyle/>
          <a:p>
            <a:r>
              <a:rPr lang="zh-CN" altLang="en-US" dirty="0"/>
              <a:t>评级指标：一般企业</a:t>
            </a:r>
            <a:endParaRPr lang="zh-CN" altLang="en-US" sz="3600" dirty="0"/>
          </a:p>
        </p:txBody>
      </p:sp>
      <p:graphicFrame>
        <p:nvGraphicFramePr>
          <p:cNvPr id="5" name="内容占位符 4">
            <a:extLst>
              <a:ext uri="{FF2B5EF4-FFF2-40B4-BE49-F238E27FC236}">
                <a16:creationId xmlns:a16="http://schemas.microsoft.com/office/drawing/2014/main" id="{4675D954-DBF4-4567-AFFC-589D48121910}"/>
              </a:ext>
            </a:extLst>
          </p:cNvPr>
          <p:cNvGraphicFramePr>
            <a:graphicFrameLocks noGrp="1"/>
          </p:cNvGraphicFramePr>
          <p:nvPr>
            <p:ph idx="1"/>
            <p:extLst>
              <p:ext uri="{D42A27DB-BD31-4B8C-83A1-F6EECF244321}">
                <p14:modId xmlns:p14="http://schemas.microsoft.com/office/powerpoint/2010/main" val="4146805639"/>
              </p:ext>
            </p:extLst>
          </p:nvPr>
        </p:nvGraphicFramePr>
        <p:xfrm>
          <a:off x="949325" y="1592262"/>
          <a:ext cx="15377546" cy="7818435"/>
        </p:xfrm>
        <a:graphic>
          <a:graphicData uri="http://schemas.openxmlformats.org/drawingml/2006/table">
            <a:tbl>
              <a:tblPr firstRow="1" bandRow="1">
                <a:tableStyleId>{6E25E649-3F16-4E02-A733-19D2CDBF48F0}</a:tableStyleId>
              </a:tblPr>
              <a:tblGrid>
                <a:gridCol w="2924175">
                  <a:extLst>
                    <a:ext uri="{9D8B030D-6E8A-4147-A177-3AD203B41FA5}">
                      <a16:colId xmlns:a16="http://schemas.microsoft.com/office/drawing/2014/main" val="2977520551"/>
                    </a:ext>
                  </a:extLst>
                </a:gridCol>
                <a:gridCol w="5486400">
                  <a:extLst>
                    <a:ext uri="{9D8B030D-6E8A-4147-A177-3AD203B41FA5}">
                      <a16:colId xmlns:a16="http://schemas.microsoft.com/office/drawing/2014/main" val="2389859065"/>
                    </a:ext>
                  </a:extLst>
                </a:gridCol>
                <a:gridCol w="6966971">
                  <a:extLst>
                    <a:ext uri="{9D8B030D-6E8A-4147-A177-3AD203B41FA5}">
                      <a16:colId xmlns:a16="http://schemas.microsoft.com/office/drawing/2014/main" val="354107432"/>
                    </a:ext>
                  </a:extLst>
                </a:gridCol>
              </a:tblGrid>
              <a:tr h="521229">
                <a:tc>
                  <a:txBody>
                    <a:bodyPr/>
                    <a:lstStyle/>
                    <a:p>
                      <a:pPr algn="ctr">
                        <a:spcAft>
                          <a:spcPts val="0"/>
                        </a:spcAft>
                      </a:pPr>
                      <a:r>
                        <a:rPr lang="zh-CN" sz="2000" kern="0" dirty="0">
                          <a:effectLst/>
                        </a:rPr>
                        <a:t>一级指标</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ctr">
                        <a:spcAft>
                          <a:spcPts val="0"/>
                        </a:spcAft>
                      </a:pPr>
                      <a:r>
                        <a:rPr lang="zh-CN" sz="2000" kern="0">
                          <a:effectLst/>
                        </a:rPr>
                        <a:t>二级指标</a:t>
                      </a:r>
                      <a:endParaRPr lang="zh-CN" sz="2000" kern="10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ctr">
                        <a:spcAft>
                          <a:spcPts val="0"/>
                        </a:spcAft>
                      </a:pPr>
                      <a:r>
                        <a:rPr lang="zh-CN" sz="2000" kern="0">
                          <a:effectLst/>
                        </a:rPr>
                        <a:t>指标公式</a:t>
                      </a:r>
                      <a:endParaRPr lang="zh-CN" sz="2000" kern="100">
                        <a:effectLst/>
                        <a:latin typeface="Times New Roman" panose="02020603050405020304" pitchFamily="18" charset="0"/>
                        <a:ea typeface="宋体" panose="02010600030101010101" pitchFamily="2" charset="-122"/>
                      </a:endParaRPr>
                    </a:p>
                  </a:txBody>
                  <a:tcPr marL="67847" marR="67847" marT="0" marB="0" anchor="ctr"/>
                </a:tc>
                <a:extLst>
                  <a:ext uri="{0D108BD9-81ED-4DB2-BD59-A6C34878D82A}">
                    <a16:rowId xmlns:a16="http://schemas.microsoft.com/office/drawing/2014/main" val="1951178308"/>
                  </a:ext>
                </a:extLst>
              </a:tr>
              <a:tr h="521229">
                <a:tc>
                  <a:txBody>
                    <a:bodyPr/>
                    <a:lstStyle/>
                    <a:p>
                      <a:pPr algn="ctr">
                        <a:spcAft>
                          <a:spcPts val="0"/>
                        </a:spcAft>
                      </a:pPr>
                      <a:r>
                        <a:rPr lang="zh-CN" sz="2000" kern="0" dirty="0">
                          <a:effectLst/>
                        </a:rPr>
                        <a:t>行业</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ctr">
                        <a:spcAft>
                          <a:spcPts val="0"/>
                        </a:spcAft>
                      </a:pPr>
                      <a:r>
                        <a:rPr lang="zh-CN" altLang="en-US" sz="2000" kern="0" dirty="0">
                          <a:effectLst/>
                        </a:rPr>
                        <a:t>行业分类</a:t>
                      </a:r>
                      <a:endParaRPr lang="zh-CN" altLang="en-US" sz="2000" kern="0" dirty="0">
                        <a:solidFill>
                          <a:schemeClr val="dk1"/>
                        </a:solidFill>
                        <a:effectLst/>
                        <a:latin typeface="+mn-lt"/>
                        <a:ea typeface="+mn-ea"/>
                        <a:cs typeface="+mn-cs"/>
                      </a:endParaRPr>
                    </a:p>
                  </a:txBody>
                  <a:tcPr marL="67847" marR="67847" marT="0" marB="0" anchor="ctr"/>
                </a:tc>
                <a:tc>
                  <a:txBody>
                    <a:bodyPr/>
                    <a:lstStyle/>
                    <a:p>
                      <a:pPr marL="0" marR="0" lvl="0" indent="0" algn="l" defTabSz="914397" rtl="0" eaLnBrk="1" fontAlgn="auto" latinLnBrk="0" hangingPunct="1">
                        <a:lnSpc>
                          <a:spcPct val="100000"/>
                        </a:lnSpc>
                        <a:spcBef>
                          <a:spcPts val="0"/>
                        </a:spcBef>
                        <a:spcAft>
                          <a:spcPts val="0"/>
                        </a:spcAft>
                        <a:buClrTx/>
                        <a:buSzTx/>
                        <a:buFontTx/>
                        <a:buNone/>
                        <a:tabLst/>
                        <a:defRPr/>
                      </a:pPr>
                      <a:r>
                        <a:rPr lang="zh-CN" altLang="en-US" sz="2000" kern="0" dirty="0">
                          <a:effectLst/>
                        </a:rPr>
                        <a:t>以通用行业分类为基础，建立二级评分</a:t>
                      </a:r>
                      <a:endParaRPr lang="zh-CN" altLang="zh-CN" sz="2000" kern="0" dirty="0">
                        <a:solidFill>
                          <a:schemeClr val="dk1"/>
                        </a:solidFill>
                        <a:effectLst/>
                        <a:latin typeface="+mn-lt"/>
                        <a:ea typeface="+mn-ea"/>
                        <a:cs typeface="+mn-cs"/>
                      </a:endParaRPr>
                    </a:p>
                  </a:txBody>
                  <a:tcPr marL="67847" marR="67847" marT="0" marB="0" anchor="ctr"/>
                </a:tc>
                <a:extLst>
                  <a:ext uri="{0D108BD9-81ED-4DB2-BD59-A6C34878D82A}">
                    <a16:rowId xmlns:a16="http://schemas.microsoft.com/office/drawing/2014/main" val="2769949423"/>
                  </a:ext>
                </a:extLst>
              </a:tr>
              <a:tr h="521229">
                <a:tc>
                  <a:txBody>
                    <a:bodyPr/>
                    <a:lstStyle/>
                    <a:p>
                      <a:pPr algn="ctr">
                        <a:spcAft>
                          <a:spcPts val="0"/>
                        </a:spcAft>
                      </a:pPr>
                      <a:r>
                        <a:rPr lang="zh-CN" sz="2000" kern="0" dirty="0">
                          <a:effectLst/>
                        </a:rPr>
                        <a:t>企业</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ctr">
                        <a:spcAft>
                          <a:spcPts val="0"/>
                        </a:spcAft>
                      </a:pPr>
                      <a:r>
                        <a:rPr lang="zh-CN" altLang="en-US" sz="2000" kern="0" dirty="0">
                          <a:effectLst/>
                        </a:rPr>
                        <a:t>企业属性</a:t>
                      </a:r>
                      <a:endParaRPr lang="zh-CN" altLang="en-US" sz="2000" kern="0" dirty="0">
                        <a:solidFill>
                          <a:schemeClr val="dk1"/>
                        </a:solidFill>
                        <a:effectLst/>
                        <a:latin typeface="+mn-lt"/>
                        <a:ea typeface="+mn-ea"/>
                        <a:cs typeface="+mn-cs"/>
                      </a:endParaRPr>
                    </a:p>
                  </a:txBody>
                  <a:tcPr marL="67847" marR="67847" marT="0" marB="0" anchor="ctr"/>
                </a:tc>
                <a:tc>
                  <a:txBody>
                    <a:bodyPr/>
                    <a:lstStyle/>
                    <a:p>
                      <a:pPr algn="l">
                        <a:spcAft>
                          <a:spcPts val="0"/>
                        </a:spcAft>
                      </a:pPr>
                      <a:r>
                        <a:rPr lang="zh-CN" altLang="en-US" sz="2000" kern="0" dirty="0">
                          <a:effectLst/>
                        </a:rPr>
                        <a:t>根据企业性质分档评分</a:t>
                      </a:r>
                      <a:endParaRPr lang="zh-CN" altLang="en-US" sz="2000" kern="0" dirty="0">
                        <a:solidFill>
                          <a:schemeClr val="dk1"/>
                        </a:solidFill>
                        <a:effectLst/>
                        <a:latin typeface="+mn-lt"/>
                        <a:ea typeface="+mn-ea"/>
                        <a:cs typeface="+mn-cs"/>
                      </a:endParaRPr>
                    </a:p>
                  </a:txBody>
                  <a:tcPr marL="67847" marR="67847" marT="0" marB="0" anchor="ctr"/>
                </a:tc>
                <a:extLst>
                  <a:ext uri="{0D108BD9-81ED-4DB2-BD59-A6C34878D82A}">
                    <a16:rowId xmlns:a16="http://schemas.microsoft.com/office/drawing/2014/main" val="1148179627"/>
                  </a:ext>
                </a:extLst>
              </a:tr>
              <a:tr h="521229">
                <a:tc>
                  <a:txBody>
                    <a:bodyPr/>
                    <a:lstStyle/>
                    <a:p>
                      <a:pPr algn="ctr">
                        <a:spcAft>
                          <a:spcPts val="0"/>
                        </a:spcAft>
                      </a:pPr>
                      <a:r>
                        <a:rPr lang="zh-CN" sz="2000" kern="0" dirty="0">
                          <a:effectLst/>
                        </a:rPr>
                        <a:t>外部评级</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ctr">
                        <a:spcAft>
                          <a:spcPts val="0"/>
                        </a:spcAft>
                      </a:pPr>
                      <a:r>
                        <a:rPr lang="zh-CN" altLang="en-US" sz="2000" kern="0">
                          <a:effectLst/>
                        </a:rPr>
                        <a:t>外部主体评级</a:t>
                      </a:r>
                      <a:endParaRPr lang="zh-CN" altLang="en-US" sz="2000" kern="0">
                        <a:solidFill>
                          <a:schemeClr val="dk1"/>
                        </a:solidFill>
                        <a:effectLst/>
                        <a:latin typeface="+mn-lt"/>
                        <a:ea typeface="+mn-ea"/>
                        <a:cs typeface="+mn-cs"/>
                      </a:endParaRPr>
                    </a:p>
                  </a:txBody>
                  <a:tcPr marL="67847" marR="67847" marT="0" marB="0" anchor="ctr"/>
                </a:tc>
                <a:tc>
                  <a:txBody>
                    <a:bodyPr/>
                    <a:lstStyle/>
                    <a:p>
                      <a:pPr algn="l">
                        <a:spcAft>
                          <a:spcPts val="0"/>
                        </a:spcAft>
                      </a:pPr>
                      <a:r>
                        <a:rPr lang="zh-CN" altLang="en-US" sz="2000" kern="0" dirty="0">
                          <a:effectLst/>
                        </a:rPr>
                        <a:t>资信评估等级映射为对应分值</a:t>
                      </a:r>
                      <a:endParaRPr lang="zh-CN" altLang="en-US" sz="2000" kern="0" dirty="0">
                        <a:solidFill>
                          <a:schemeClr val="dk1"/>
                        </a:solidFill>
                        <a:effectLst/>
                        <a:latin typeface="+mn-lt"/>
                        <a:ea typeface="+mn-ea"/>
                        <a:cs typeface="+mn-cs"/>
                      </a:endParaRPr>
                    </a:p>
                  </a:txBody>
                  <a:tcPr marL="67847" marR="67847" marT="0" marB="0" anchor="ctr"/>
                </a:tc>
                <a:extLst>
                  <a:ext uri="{0D108BD9-81ED-4DB2-BD59-A6C34878D82A}">
                    <a16:rowId xmlns:a16="http://schemas.microsoft.com/office/drawing/2014/main" val="2724451999"/>
                  </a:ext>
                </a:extLst>
              </a:tr>
              <a:tr h="521229">
                <a:tc>
                  <a:txBody>
                    <a:bodyPr/>
                    <a:lstStyle/>
                    <a:p>
                      <a:pPr algn="ctr">
                        <a:spcAft>
                          <a:spcPts val="0"/>
                        </a:spcAft>
                      </a:pPr>
                      <a:r>
                        <a:rPr lang="zh-CN" sz="2000" kern="0" dirty="0">
                          <a:effectLst/>
                        </a:rPr>
                        <a:t>公司规模</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ctr">
                        <a:spcAft>
                          <a:spcPts val="0"/>
                        </a:spcAft>
                      </a:pPr>
                      <a:r>
                        <a:rPr lang="zh-CN" altLang="en-US" sz="2000" kern="0">
                          <a:effectLst/>
                        </a:rPr>
                        <a:t>净资产</a:t>
                      </a:r>
                      <a:endParaRPr lang="zh-CN" altLang="en-US" sz="2000" kern="0">
                        <a:solidFill>
                          <a:schemeClr val="dk1"/>
                        </a:solidFill>
                        <a:effectLst/>
                        <a:latin typeface="+mn-lt"/>
                        <a:ea typeface="+mn-ea"/>
                        <a:cs typeface="+mn-cs"/>
                      </a:endParaRPr>
                    </a:p>
                  </a:txBody>
                  <a:tcPr marL="67847" marR="67847" marT="0" marB="0" anchor="ctr"/>
                </a:tc>
                <a:tc>
                  <a:txBody>
                    <a:bodyPr/>
                    <a:lstStyle/>
                    <a:p>
                      <a:pPr algn="l">
                        <a:spcAft>
                          <a:spcPts val="0"/>
                        </a:spcAft>
                      </a:pPr>
                      <a:r>
                        <a:rPr lang="zh-CN" altLang="en-US" sz="2000" kern="0" dirty="0">
                          <a:effectLst/>
                        </a:rPr>
                        <a:t>平均净资产</a:t>
                      </a:r>
                      <a:endParaRPr lang="zh-CN" altLang="en-US" sz="2000" kern="0" dirty="0">
                        <a:solidFill>
                          <a:schemeClr val="dk1"/>
                        </a:solidFill>
                        <a:effectLst/>
                        <a:latin typeface="+mn-lt"/>
                        <a:ea typeface="+mn-ea"/>
                        <a:cs typeface="+mn-cs"/>
                      </a:endParaRPr>
                    </a:p>
                  </a:txBody>
                  <a:tcPr marL="67847" marR="67847" marT="0" marB="0" anchor="ctr"/>
                </a:tc>
                <a:extLst>
                  <a:ext uri="{0D108BD9-81ED-4DB2-BD59-A6C34878D82A}">
                    <a16:rowId xmlns:a16="http://schemas.microsoft.com/office/drawing/2014/main" val="3799550836"/>
                  </a:ext>
                </a:extLst>
              </a:tr>
              <a:tr h="521229">
                <a:tc rowSpan="3">
                  <a:txBody>
                    <a:bodyPr/>
                    <a:lstStyle/>
                    <a:p>
                      <a:pPr algn="ctr">
                        <a:spcAft>
                          <a:spcPts val="0"/>
                        </a:spcAft>
                      </a:pPr>
                      <a:r>
                        <a:rPr lang="zh-CN" sz="2000" kern="0" dirty="0">
                          <a:effectLst/>
                        </a:rPr>
                        <a:t>长期</a:t>
                      </a:r>
                      <a:r>
                        <a:rPr lang="zh-CN" altLang="en-US" sz="2000" kern="0" dirty="0">
                          <a:effectLst/>
                        </a:rPr>
                        <a:t>偿付</a:t>
                      </a:r>
                      <a:r>
                        <a:rPr lang="zh-CN" sz="2000" kern="0" dirty="0">
                          <a:effectLst/>
                        </a:rPr>
                        <a:t>能力</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ctr">
                        <a:spcAft>
                          <a:spcPts val="0"/>
                        </a:spcAft>
                      </a:pPr>
                      <a:r>
                        <a:rPr lang="zh-CN" sz="2000" kern="0">
                          <a:effectLst/>
                        </a:rPr>
                        <a:t>资产负债率</a:t>
                      </a:r>
                      <a:endParaRPr lang="zh-CN" sz="2000" kern="10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l">
                        <a:spcAft>
                          <a:spcPts val="0"/>
                        </a:spcAft>
                      </a:pPr>
                      <a:r>
                        <a:rPr lang="zh-CN" sz="2000" kern="0" dirty="0">
                          <a:effectLst/>
                        </a:rPr>
                        <a:t>负债余额</a:t>
                      </a:r>
                      <a:r>
                        <a:rPr lang="en-US" sz="2000" kern="0" dirty="0">
                          <a:effectLst/>
                        </a:rPr>
                        <a:t>/</a:t>
                      </a:r>
                      <a:r>
                        <a:rPr lang="zh-CN" sz="2000" kern="0" dirty="0">
                          <a:effectLst/>
                        </a:rPr>
                        <a:t>资产总额</a:t>
                      </a:r>
                      <a:r>
                        <a:rPr lang="en-US" sz="2000" kern="0" dirty="0">
                          <a:effectLst/>
                        </a:rPr>
                        <a:t>*100%</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extLst>
                  <a:ext uri="{0D108BD9-81ED-4DB2-BD59-A6C34878D82A}">
                    <a16:rowId xmlns:a16="http://schemas.microsoft.com/office/drawing/2014/main" val="2762021614"/>
                  </a:ext>
                </a:extLst>
              </a:tr>
              <a:tr h="521229">
                <a:tc vMerge="1">
                  <a:txBody>
                    <a:bodyPr/>
                    <a:lstStyle/>
                    <a:p>
                      <a:endParaRPr lang="zh-CN" altLang="en-US"/>
                    </a:p>
                  </a:txBody>
                  <a:tcPr/>
                </a:tc>
                <a:tc>
                  <a:txBody>
                    <a:bodyPr/>
                    <a:lstStyle/>
                    <a:p>
                      <a:pPr algn="ctr">
                        <a:spcAft>
                          <a:spcPts val="0"/>
                        </a:spcAft>
                      </a:pPr>
                      <a:r>
                        <a:rPr lang="zh-CN" sz="2000" kern="100">
                          <a:effectLst/>
                        </a:rPr>
                        <a:t>经营性净现金流</a:t>
                      </a:r>
                      <a:r>
                        <a:rPr lang="en-US" sz="2000" kern="100">
                          <a:effectLst/>
                        </a:rPr>
                        <a:t>/</a:t>
                      </a:r>
                      <a:r>
                        <a:rPr lang="zh-CN" sz="2000" kern="100">
                          <a:effectLst/>
                        </a:rPr>
                        <a:t>总负债</a:t>
                      </a:r>
                      <a:endParaRPr lang="zh-CN" sz="2000" kern="10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l">
                        <a:spcAft>
                          <a:spcPts val="0"/>
                        </a:spcAft>
                      </a:pPr>
                      <a:r>
                        <a:rPr lang="zh-CN" sz="2000" kern="0" dirty="0">
                          <a:effectLst/>
                        </a:rPr>
                        <a:t>经营性净现金流</a:t>
                      </a:r>
                      <a:r>
                        <a:rPr lang="en-US" sz="2000" kern="0" dirty="0">
                          <a:effectLst/>
                        </a:rPr>
                        <a:t>/</a:t>
                      </a:r>
                      <a:r>
                        <a:rPr lang="zh-CN" sz="2000" kern="0" dirty="0">
                          <a:effectLst/>
                        </a:rPr>
                        <a:t>总负债</a:t>
                      </a:r>
                      <a:r>
                        <a:rPr lang="en-US" sz="2000" kern="0" dirty="0">
                          <a:effectLst/>
                        </a:rPr>
                        <a:t>*100%</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extLst>
                  <a:ext uri="{0D108BD9-81ED-4DB2-BD59-A6C34878D82A}">
                    <a16:rowId xmlns:a16="http://schemas.microsoft.com/office/drawing/2014/main" val="580498802"/>
                  </a:ext>
                </a:extLst>
              </a:tr>
              <a:tr h="521229">
                <a:tc vMerge="1">
                  <a:txBody>
                    <a:bodyPr/>
                    <a:lstStyle/>
                    <a:p>
                      <a:endParaRPr lang="zh-CN" altLang="en-US"/>
                    </a:p>
                  </a:txBody>
                  <a:tcPr/>
                </a:tc>
                <a:tc>
                  <a:txBody>
                    <a:bodyPr/>
                    <a:lstStyle/>
                    <a:p>
                      <a:pPr algn="ctr">
                        <a:spcAft>
                          <a:spcPts val="0"/>
                        </a:spcAft>
                      </a:pPr>
                      <a:r>
                        <a:rPr lang="zh-CN" sz="2000" kern="0">
                          <a:effectLst/>
                        </a:rPr>
                        <a:t>利息保障倍数</a:t>
                      </a:r>
                      <a:endParaRPr lang="zh-CN" sz="2000" kern="10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l">
                        <a:spcAft>
                          <a:spcPts val="0"/>
                        </a:spcAft>
                      </a:pPr>
                      <a:r>
                        <a:rPr lang="en-US" sz="2000" kern="0" dirty="0">
                          <a:effectLst/>
                        </a:rPr>
                        <a:t>EBIT/</a:t>
                      </a:r>
                      <a:r>
                        <a:rPr lang="zh-CN" sz="2000" kern="0" dirty="0">
                          <a:effectLst/>
                        </a:rPr>
                        <a:t>利息费用</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extLst>
                  <a:ext uri="{0D108BD9-81ED-4DB2-BD59-A6C34878D82A}">
                    <a16:rowId xmlns:a16="http://schemas.microsoft.com/office/drawing/2014/main" val="552550695"/>
                  </a:ext>
                </a:extLst>
              </a:tr>
              <a:tr h="521229">
                <a:tc rowSpan="2">
                  <a:txBody>
                    <a:bodyPr/>
                    <a:lstStyle/>
                    <a:p>
                      <a:pPr algn="ctr">
                        <a:spcAft>
                          <a:spcPts val="0"/>
                        </a:spcAft>
                      </a:pPr>
                      <a:r>
                        <a:rPr lang="zh-CN" sz="2000" kern="0" dirty="0">
                          <a:effectLst/>
                        </a:rPr>
                        <a:t>短期偿</a:t>
                      </a:r>
                      <a:r>
                        <a:rPr lang="zh-CN" altLang="en-US" sz="2000" kern="0" dirty="0">
                          <a:effectLst/>
                        </a:rPr>
                        <a:t>付</a:t>
                      </a:r>
                      <a:r>
                        <a:rPr lang="zh-CN" sz="2000" kern="0" dirty="0">
                          <a:effectLst/>
                        </a:rPr>
                        <a:t>能力</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ctr">
                        <a:spcAft>
                          <a:spcPts val="0"/>
                        </a:spcAft>
                      </a:pPr>
                      <a:r>
                        <a:rPr lang="zh-CN" sz="2000" kern="0">
                          <a:effectLst/>
                        </a:rPr>
                        <a:t>速动比率</a:t>
                      </a:r>
                      <a:endParaRPr lang="zh-CN" sz="2000" kern="10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l">
                        <a:spcAft>
                          <a:spcPts val="0"/>
                        </a:spcAft>
                      </a:pPr>
                      <a:r>
                        <a:rPr lang="zh-CN" sz="2000" kern="0" dirty="0">
                          <a:effectLst/>
                        </a:rPr>
                        <a:t>（流动资产</a:t>
                      </a:r>
                      <a:r>
                        <a:rPr lang="en-US" sz="2000" kern="0" dirty="0">
                          <a:effectLst/>
                        </a:rPr>
                        <a:t>-</a:t>
                      </a:r>
                      <a:r>
                        <a:rPr lang="zh-CN" sz="2000" kern="0" dirty="0">
                          <a:effectLst/>
                        </a:rPr>
                        <a:t>存货）</a:t>
                      </a:r>
                      <a:r>
                        <a:rPr lang="en-US" sz="2000" kern="0" dirty="0">
                          <a:effectLst/>
                        </a:rPr>
                        <a:t>/</a:t>
                      </a:r>
                      <a:r>
                        <a:rPr lang="zh-CN" sz="2000" kern="0" dirty="0">
                          <a:effectLst/>
                        </a:rPr>
                        <a:t>流动负债</a:t>
                      </a:r>
                      <a:r>
                        <a:rPr lang="en-US" sz="2000" kern="0" dirty="0">
                          <a:effectLst/>
                        </a:rPr>
                        <a:t>*100%</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extLst>
                  <a:ext uri="{0D108BD9-81ED-4DB2-BD59-A6C34878D82A}">
                    <a16:rowId xmlns:a16="http://schemas.microsoft.com/office/drawing/2014/main" val="3806057002"/>
                  </a:ext>
                </a:extLst>
              </a:tr>
              <a:tr h="521229">
                <a:tc vMerge="1">
                  <a:txBody>
                    <a:bodyPr/>
                    <a:lstStyle/>
                    <a:p>
                      <a:endParaRPr lang="zh-CN" altLang="en-US"/>
                    </a:p>
                  </a:txBody>
                  <a:tcPr/>
                </a:tc>
                <a:tc>
                  <a:txBody>
                    <a:bodyPr/>
                    <a:lstStyle/>
                    <a:p>
                      <a:pPr algn="ctr">
                        <a:spcAft>
                          <a:spcPts val="0"/>
                        </a:spcAft>
                      </a:pPr>
                      <a:r>
                        <a:rPr lang="zh-CN" sz="2000" kern="100">
                          <a:effectLst/>
                        </a:rPr>
                        <a:t>经营性净现金流</a:t>
                      </a:r>
                      <a:r>
                        <a:rPr lang="en-US" sz="2000" kern="100">
                          <a:effectLst/>
                        </a:rPr>
                        <a:t>/</a:t>
                      </a:r>
                      <a:r>
                        <a:rPr lang="zh-CN" sz="2000" kern="100">
                          <a:effectLst/>
                        </a:rPr>
                        <a:t>流动负债</a:t>
                      </a:r>
                      <a:endParaRPr lang="zh-CN" sz="2000" kern="10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l">
                        <a:spcAft>
                          <a:spcPts val="0"/>
                        </a:spcAft>
                      </a:pPr>
                      <a:r>
                        <a:rPr lang="zh-CN" sz="2000" kern="0" dirty="0">
                          <a:effectLst/>
                        </a:rPr>
                        <a:t>经营性净现金流</a:t>
                      </a:r>
                      <a:r>
                        <a:rPr lang="en-US" sz="2000" kern="0" dirty="0">
                          <a:effectLst/>
                        </a:rPr>
                        <a:t>/</a:t>
                      </a:r>
                      <a:r>
                        <a:rPr lang="zh-CN" sz="2000" kern="0" dirty="0">
                          <a:effectLst/>
                        </a:rPr>
                        <a:t>流动负债</a:t>
                      </a:r>
                      <a:r>
                        <a:rPr lang="en-US" sz="2000" kern="0" dirty="0">
                          <a:effectLst/>
                        </a:rPr>
                        <a:t>*100%</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extLst>
                  <a:ext uri="{0D108BD9-81ED-4DB2-BD59-A6C34878D82A}">
                    <a16:rowId xmlns:a16="http://schemas.microsoft.com/office/drawing/2014/main" val="1410167313"/>
                  </a:ext>
                </a:extLst>
              </a:tr>
              <a:tr h="521229">
                <a:tc rowSpan="3">
                  <a:txBody>
                    <a:bodyPr/>
                    <a:lstStyle/>
                    <a:p>
                      <a:pPr algn="ctr">
                        <a:spcAft>
                          <a:spcPts val="0"/>
                        </a:spcAft>
                      </a:pPr>
                      <a:r>
                        <a:rPr lang="zh-CN" sz="2000" kern="0" dirty="0">
                          <a:effectLst/>
                        </a:rPr>
                        <a:t>盈利能力</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ctr">
                        <a:spcAft>
                          <a:spcPts val="0"/>
                        </a:spcAft>
                      </a:pPr>
                      <a:r>
                        <a:rPr lang="zh-CN" sz="2000" kern="0">
                          <a:effectLst/>
                        </a:rPr>
                        <a:t>营业（销售）利润率</a:t>
                      </a:r>
                      <a:endParaRPr lang="zh-CN" sz="2000" kern="10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l">
                        <a:spcAft>
                          <a:spcPts val="0"/>
                        </a:spcAft>
                      </a:pPr>
                      <a:r>
                        <a:rPr lang="zh-CN" sz="2000" kern="0" dirty="0">
                          <a:effectLst/>
                        </a:rPr>
                        <a:t>营业（销售）利润</a:t>
                      </a:r>
                      <a:r>
                        <a:rPr lang="en-US" sz="2000" kern="0" dirty="0">
                          <a:effectLst/>
                        </a:rPr>
                        <a:t>/</a:t>
                      </a:r>
                      <a:r>
                        <a:rPr lang="zh-CN" sz="2000" kern="0" dirty="0">
                          <a:effectLst/>
                        </a:rPr>
                        <a:t>营业（销售）收入</a:t>
                      </a:r>
                      <a:r>
                        <a:rPr lang="en-US" sz="2000" kern="0" dirty="0">
                          <a:effectLst/>
                        </a:rPr>
                        <a:t>*100%</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extLst>
                  <a:ext uri="{0D108BD9-81ED-4DB2-BD59-A6C34878D82A}">
                    <a16:rowId xmlns:a16="http://schemas.microsoft.com/office/drawing/2014/main" val="858912761"/>
                  </a:ext>
                </a:extLst>
              </a:tr>
              <a:tr h="521229">
                <a:tc vMerge="1">
                  <a:txBody>
                    <a:bodyPr/>
                    <a:lstStyle/>
                    <a:p>
                      <a:endParaRPr lang="zh-CN" altLang="en-US"/>
                    </a:p>
                  </a:txBody>
                  <a:tcPr/>
                </a:tc>
                <a:tc>
                  <a:txBody>
                    <a:bodyPr/>
                    <a:lstStyle/>
                    <a:p>
                      <a:pPr algn="ctr">
                        <a:spcAft>
                          <a:spcPts val="0"/>
                        </a:spcAft>
                      </a:pPr>
                      <a:r>
                        <a:rPr lang="zh-CN" sz="2000" kern="0" dirty="0">
                          <a:effectLst/>
                        </a:rPr>
                        <a:t>总资产报酬率</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l">
                        <a:spcAft>
                          <a:spcPts val="0"/>
                        </a:spcAft>
                      </a:pPr>
                      <a:r>
                        <a:rPr lang="zh-CN" sz="2000" kern="0" dirty="0">
                          <a:effectLst/>
                        </a:rPr>
                        <a:t>息税前利润</a:t>
                      </a:r>
                      <a:r>
                        <a:rPr lang="en-US" sz="2000" kern="0" dirty="0">
                          <a:effectLst/>
                        </a:rPr>
                        <a:t>/</a:t>
                      </a:r>
                      <a:r>
                        <a:rPr lang="zh-CN" sz="2000" kern="0" dirty="0">
                          <a:effectLst/>
                        </a:rPr>
                        <a:t>平均资产总额</a:t>
                      </a:r>
                      <a:r>
                        <a:rPr lang="en-US" sz="2000" kern="0" dirty="0">
                          <a:effectLst/>
                        </a:rPr>
                        <a:t>*100%</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extLst>
                  <a:ext uri="{0D108BD9-81ED-4DB2-BD59-A6C34878D82A}">
                    <a16:rowId xmlns:a16="http://schemas.microsoft.com/office/drawing/2014/main" val="1269688656"/>
                  </a:ext>
                </a:extLst>
              </a:tr>
              <a:tr h="521229">
                <a:tc vMerge="1">
                  <a:txBody>
                    <a:bodyPr/>
                    <a:lstStyle/>
                    <a:p>
                      <a:endParaRPr lang="zh-CN" altLang="en-US"/>
                    </a:p>
                  </a:txBody>
                  <a:tcPr/>
                </a:tc>
                <a:tc>
                  <a:txBody>
                    <a:bodyPr/>
                    <a:lstStyle/>
                    <a:p>
                      <a:pPr algn="ctr">
                        <a:spcAft>
                          <a:spcPts val="0"/>
                        </a:spcAft>
                      </a:pPr>
                      <a:r>
                        <a:rPr lang="zh-CN" sz="2000" kern="0">
                          <a:effectLst/>
                        </a:rPr>
                        <a:t>净资产收益率</a:t>
                      </a:r>
                      <a:endParaRPr lang="zh-CN" sz="2000" kern="10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l">
                        <a:spcAft>
                          <a:spcPts val="0"/>
                        </a:spcAft>
                      </a:pPr>
                      <a:r>
                        <a:rPr lang="zh-CN" sz="2000" kern="0" dirty="0">
                          <a:effectLst/>
                        </a:rPr>
                        <a:t>净利润</a:t>
                      </a:r>
                      <a:r>
                        <a:rPr lang="en-US" sz="2000" kern="0" dirty="0">
                          <a:effectLst/>
                        </a:rPr>
                        <a:t>/</a:t>
                      </a:r>
                      <a:r>
                        <a:rPr lang="zh-CN" sz="2000" kern="0" dirty="0">
                          <a:effectLst/>
                        </a:rPr>
                        <a:t>平均净资产）</a:t>
                      </a:r>
                      <a:r>
                        <a:rPr lang="en-US" sz="2000" kern="0" dirty="0">
                          <a:effectLst/>
                        </a:rPr>
                        <a:t>*100%</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extLst>
                  <a:ext uri="{0D108BD9-81ED-4DB2-BD59-A6C34878D82A}">
                    <a16:rowId xmlns:a16="http://schemas.microsoft.com/office/drawing/2014/main" val="2418890542"/>
                  </a:ext>
                </a:extLst>
              </a:tr>
              <a:tr h="521229">
                <a:tc>
                  <a:txBody>
                    <a:bodyPr/>
                    <a:lstStyle/>
                    <a:p>
                      <a:pPr algn="ctr">
                        <a:spcAft>
                          <a:spcPts val="0"/>
                        </a:spcAft>
                      </a:pPr>
                      <a:r>
                        <a:rPr lang="zh-CN" sz="2000" kern="0" dirty="0">
                          <a:effectLst/>
                        </a:rPr>
                        <a:t>营运能力</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ctr">
                        <a:spcAft>
                          <a:spcPts val="0"/>
                        </a:spcAft>
                      </a:pPr>
                      <a:r>
                        <a:rPr lang="zh-CN" sz="2000" kern="0" dirty="0">
                          <a:effectLst/>
                        </a:rPr>
                        <a:t>总资产周转率</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l">
                        <a:spcAft>
                          <a:spcPts val="0"/>
                        </a:spcAft>
                      </a:pPr>
                      <a:r>
                        <a:rPr lang="zh-CN" sz="2000" kern="0" dirty="0">
                          <a:effectLst/>
                        </a:rPr>
                        <a:t>业务收入净额</a:t>
                      </a:r>
                      <a:r>
                        <a:rPr lang="en-US" sz="2000" kern="0" dirty="0">
                          <a:effectLst/>
                        </a:rPr>
                        <a:t>/</a:t>
                      </a:r>
                      <a:r>
                        <a:rPr lang="zh-CN" sz="2000" kern="0" dirty="0">
                          <a:effectLst/>
                        </a:rPr>
                        <a:t>平均资产总额</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extLst>
                  <a:ext uri="{0D108BD9-81ED-4DB2-BD59-A6C34878D82A}">
                    <a16:rowId xmlns:a16="http://schemas.microsoft.com/office/drawing/2014/main" val="1588533412"/>
                  </a:ext>
                </a:extLst>
              </a:tr>
              <a:tr h="521229">
                <a:tc>
                  <a:txBody>
                    <a:bodyPr/>
                    <a:lstStyle/>
                    <a:p>
                      <a:pPr algn="ctr">
                        <a:spcAft>
                          <a:spcPts val="0"/>
                        </a:spcAft>
                      </a:pPr>
                      <a:r>
                        <a:rPr lang="zh-CN" sz="2000" kern="0" dirty="0">
                          <a:effectLst/>
                        </a:rPr>
                        <a:t>担保情况</a:t>
                      </a:r>
                      <a:r>
                        <a:rPr lang="en-US" sz="2000" kern="0" dirty="0">
                          <a:effectLst/>
                        </a:rPr>
                        <a:t> </a:t>
                      </a:r>
                      <a:endParaRPr lang="zh-CN" sz="2000" kern="100" dirty="0">
                        <a:effectLst/>
                        <a:latin typeface="Times New Roman" panose="02020603050405020304" pitchFamily="18" charset="0"/>
                        <a:ea typeface="宋体" panose="02010600030101010101" pitchFamily="2" charset="-122"/>
                      </a:endParaRPr>
                    </a:p>
                  </a:txBody>
                  <a:tcPr marL="67847" marR="67847" marT="0" marB="0" anchor="ctr"/>
                </a:tc>
                <a:tc>
                  <a:txBody>
                    <a:bodyPr/>
                    <a:lstStyle/>
                    <a:p>
                      <a:pPr algn="ctr">
                        <a:spcAft>
                          <a:spcPts val="0"/>
                        </a:spcAft>
                      </a:pPr>
                      <a:r>
                        <a:rPr lang="zh-CN" altLang="en-US" sz="2000" kern="0">
                          <a:effectLst/>
                        </a:rPr>
                        <a:t>担保情况</a:t>
                      </a:r>
                      <a:endParaRPr lang="zh-CN" altLang="en-US" sz="2000" kern="0">
                        <a:solidFill>
                          <a:schemeClr val="dk1"/>
                        </a:solidFill>
                        <a:effectLst/>
                        <a:latin typeface="+mn-lt"/>
                        <a:ea typeface="+mn-ea"/>
                        <a:cs typeface="+mn-cs"/>
                      </a:endParaRPr>
                    </a:p>
                  </a:txBody>
                  <a:tcPr marL="67847" marR="67847" marT="0" marB="0" anchor="ctr"/>
                </a:tc>
                <a:tc>
                  <a:txBody>
                    <a:bodyPr/>
                    <a:lstStyle/>
                    <a:p>
                      <a:pPr algn="l">
                        <a:spcAft>
                          <a:spcPts val="0"/>
                        </a:spcAft>
                      </a:pPr>
                      <a:r>
                        <a:rPr lang="zh-CN" altLang="en-US" sz="2000" kern="0" dirty="0">
                          <a:effectLst/>
                        </a:rPr>
                        <a:t>根据担保资质评定</a:t>
                      </a:r>
                      <a:endParaRPr lang="zh-CN" altLang="en-US" sz="2000" kern="0" dirty="0">
                        <a:solidFill>
                          <a:schemeClr val="dk1"/>
                        </a:solidFill>
                        <a:effectLst/>
                        <a:latin typeface="+mn-lt"/>
                        <a:ea typeface="+mn-ea"/>
                        <a:cs typeface="+mn-cs"/>
                      </a:endParaRPr>
                    </a:p>
                  </a:txBody>
                  <a:tcPr marL="67847" marR="67847" marT="0" marB="0" anchor="ctr"/>
                </a:tc>
                <a:extLst>
                  <a:ext uri="{0D108BD9-81ED-4DB2-BD59-A6C34878D82A}">
                    <a16:rowId xmlns:a16="http://schemas.microsoft.com/office/drawing/2014/main" val="3173440578"/>
                  </a:ext>
                </a:extLst>
              </a:tr>
            </a:tbl>
          </a:graphicData>
        </a:graphic>
      </p:graphicFrame>
    </p:spTree>
    <p:extLst>
      <p:ext uri="{BB962C8B-B14F-4D97-AF65-F5344CB8AC3E}">
        <p14:creationId xmlns:p14="http://schemas.microsoft.com/office/powerpoint/2010/main" val="289861583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B7641CB-2CB9-4880-8418-EF32EBD84146}"/>
              </a:ext>
            </a:extLst>
          </p:cNvPr>
          <p:cNvSpPr>
            <a:spLocks noGrp="1"/>
          </p:cNvSpPr>
          <p:nvPr>
            <p:ph type="title"/>
          </p:nvPr>
        </p:nvSpPr>
        <p:spPr/>
        <p:txBody>
          <a:bodyPr/>
          <a:lstStyle/>
          <a:p>
            <a:r>
              <a:rPr lang="zh-CN" altLang="en-US" dirty="0"/>
              <a:t>建模方法</a:t>
            </a:r>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B857C35E-7D75-4EC5-A68E-7E21AEA5270E}"/>
                  </a:ext>
                </a:extLst>
              </p:cNvPr>
              <p:cNvSpPr>
                <a:spLocks noGrp="1"/>
              </p:cNvSpPr>
              <p:nvPr>
                <p:ph idx="1"/>
              </p:nvPr>
            </p:nvSpPr>
            <p:spPr/>
            <p:txBody>
              <a:bodyPr>
                <a:noAutofit/>
              </a:bodyPr>
              <a:lstStyle/>
              <a:p>
                <a:r>
                  <a:rPr lang="zh-CN" altLang="en-US" b="1" dirty="0"/>
                  <a:t>专家打分</a:t>
                </a:r>
                <a:endParaRPr lang="en-US" altLang="zh-CN" dirty="0"/>
              </a:p>
              <a:p>
                <a:pPr lvl="1"/>
                <a:r>
                  <a:rPr lang="zh-CN" altLang="en-US" dirty="0"/>
                  <a:t>分层次多角度专家打分评测，定量指标作为参考依据</a:t>
                </a:r>
                <a:endParaRPr lang="en-US" altLang="zh-CN" dirty="0"/>
              </a:p>
              <a:p>
                <a:pPr lvl="1"/>
                <a:r>
                  <a:rPr lang="zh-CN" altLang="en-US" dirty="0"/>
                  <a:t>使用各层既定的权重加权汇总得出每个角度的得分和总分</a:t>
                </a:r>
                <a:endParaRPr lang="en-US" altLang="zh-CN" dirty="0"/>
              </a:p>
              <a:p>
                <a:pPr lvl="1"/>
                <a:r>
                  <a:rPr lang="zh-CN" altLang="en-US" dirty="0"/>
                  <a:t>定量指标和权重设置结合</a:t>
                </a:r>
                <a:r>
                  <a:rPr lang="zh-CN" altLang="zh-CN" dirty="0"/>
                  <a:t>行业</a:t>
                </a:r>
                <a:r>
                  <a:rPr lang="zh-CN" altLang="en-US" dirty="0"/>
                  <a:t>经验和样本可得性进行差异化</a:t>
                </a:r>
                <a:endParaRPr lang="en-US" altLang="zh-CN" dirty="0"/>
              </a:p>
              <a:p>
                <a:pPr lvl="1"/>
                <a:endParaRPr lang="en-US" altLang="zh-CN" dirty="0"/>
              </a:p>
              <a:p>
                <a:r>
                  <a:rPr lang="zh-CN" altLang="en-US" b="1" dirty="0"/>
                  <a:t>数学建模</a:t>
                </a:r>
                <a:endParaRPr lang="en-US" altLang="zh-CN" dirty="0"/>
              </a:p>
              <a:p>
                <a:pPr lvl="1"/>
                <a:r>
                  <a:rPr lang="zh-CN" altLang="en-US" dirty="0"/>
                  <a:t>评级结果完全由所选取定量指标的数值决定，保证</a:t>
                </a:r>
                <a:r>
                  <a:rPr lang="zh-CN" altLang="zh-CN" dirty="0"/>
                  <a:t>结果客观性、一致性和准确性</a:t>
                </a:r>
                <a:endParaRPr lang="en-US" altLang="zh-CN" dirty="0"/>
              </a:p>
              <a:p>
                <a:pPr lvl="1"/>
                <a:r>
                  <a:rPr lang="zh-CN" altLang="en-US" dirty="0"/>
                  <a:t>多元回归：</a:t>
                </a:r>
                <a14:m>
                  <m:oMath xmlns:m="http://schemas.openxmlformats.org/officeDocument/2006/math">
                    <m:r>
                      <a:rPr lang="en-US" altLang="zh-CN" i="1">
                        <a:solidFill>
                          <a:srgbClr val="C00000"/>
                        </a:solidFill>
                        <a:latin typeface="Cambria Math" panose="02040503050406030204" pitchFamily="18" charset="0"/>
                      </a:rPr>
                      <m:t>𝐷</m:t>
                    </m:r>
                    <m:r>
                      <a:rPr lang="en-US" altLang="zh-CN" i="1">
                        <a:solidFill>
                          <a:srgbClr val="C00000"/>
                        </a:solidFill>
                        <a:latin typeface="Cambria Math" panose="02040503050406030204" pitchFamily="18" charset="0"/>
                      </a:rPr>
                      <m:t>=</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𝛽</m:t>
                        </m:r>
                      </m:e>
                      <m:sub>
                        <m:r>
                          <a:rPr lang="en-US" altLang="zh-CN" i="1">
                            <a:solidFill>
                              <a:srgbClr val="C00000"/>
                            </a:solidFill>
                            <a:latin typeface="Cambria Math" panose="02040503050406030204" pitchFamily="18" charset="0"/>
                          </a:rPr>
                          <m:t>1</m:t>
                        </m:r>
                      </m:sub>
                    </m:sSub>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𝑇</m:t>
                        </m:r>
                      </m:e>
                      <m:sub>
                        <m:r>
                          <a:rPr lang="en-US" altLang="zh-CN" i="1">
                            <a:solidFill>
                              <a:srgbClr val="C00000"/>
                            </a:solidFill>
                            <a:latin typeface="Cambria Math" panose="02040503050406030204" pitchFamily="18" charset="0"/>
                          </a:rPr>
                          <m:t>1</m:t>
                        </m:r>
                      </m:sub>
                    </m:sSub>
                    <m:d>
                      <m:dPr>
                        <m:ctrlPr>
                          <a:rPr lang="en-US" altLang="zh-CN" i="1">
                            <a:solidFill>
                              <a:srgbClr val="C00000"/>
                            </a:solidFill>
                            <a:latin typeface="Cambria Math" panose="02040503050406030204" pitchFamily="18" charset="0"/>
                          </a:rPr>
                        </m:ctrlPr>
                      </m:dPr>
                      <m:e>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𝑋</m:t>
                            </m:r>
                          </m:e>
                          <m:sub>
                            <m:r>
                              <a:rPr lang="en-US" altLang="zh-CN" i="1">
                                <a:solidFill>
                                  <a:srgbClr val="C00000"/>
                                </a:solidFill>
                                <a:latin typeface="Cambria Math" panose="02040503050406030204" pitchFamily="18" charset="0"/>
                              </a:rPr>
                              <m:t>1</m:t>
                            </m:r>
                          </m:sub>
                        </m:sSub>
                      </m:e>
                    </m:d>
                    <m:r>
                      <a:rPr lang="en-US" altLang="zh-CN" i="1">
                        <a:solidFill>
                          <a:srgbClr val="C00000"/>
                        </a:solidFill>
                        <a:latin typeface="Cambria Math" panose="02040503050406030204" pitchFamily="18" charset="0"/>
                      </a:rPr>
                      <m:t>+</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𝛽</m:t>
                        </m:r>
                      </m:e>
                      <m:sub>
                        <m:r>
                          <a:rPr lang="en-US" altLang="zh-CN" i="1">
                            <a:solidFill>
                              <a:srgbClr val="C00000"/>
                            </a:solidFill>
                            <a:latin typeface="Cambria Math" panose="02040503050406030204" pitchFamily="18" charset="0"/>
                          </a:rPr>
                          <m:t>2</m:t>
                        </m:r>
                      </m:sub>
                    </m:sSub>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𝑇</m:t>
                        </m:r>
                      </m:e>
                      <m:sub>
                        <m:r>
                          <a:rPr lang="en-US" altLang="zh-CN" i="1">
                            <a:solidFill>
                              <a:srgbClr val="C00000"/>
                            </a:solidFill>
                            <a:latin typeface="Cambria Math" panose="02040503050406030204" pitchFamily="18" charset="0"/>
                          </a:rPr>
                          <m:t>2</m:t>
                        </m:r>
                      </m:sub>
                    </m:sSub>
                    <m:d>
                      <m:dPr>
                        <m:ctrlPr>
                          <a:rPr lang="en-US" altLang="zh-CN" i="1">
                            <a:solidFill>
                              <a:srgbClr val="C00000"/>
                            </a:solidFill>
                            <a:latin typeface="Cambria Math" panose="02040503050406030204" pitchFamily="18" charset="0"/>
                          </a:rPr>
                        </m:ctrlPr>
                      </m:dPr>
                      <m:e>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𝑋</m:t>
                            </m:r>
                          </m:e>
                          <m:sub>
                            <m:r>
                              <a:rPr lang="en-US" altLang="zh-CN" i="1">
                                <a:solidFill>
                                  <a:srgbClr val="C00000"/>
                                </a:solidFill>
                                <a:latin typeface="Cambria Math" panose="02040503050406030204" pitchFamily="18" charset="0"/>
                              </a:rPr>
                              <m:t>2</m:t>
                            </m:r>
                          </m:sub>
                        </m:sSub>
                      </m:e>
                    </m:d>
                    <m:r>
                      <a:rPr lang="en-US" altLang="zh-CN" i="1">
                        <a:solidFill>
                          <a:srgbClr val="C00000"/>
                        </a:solidFill>
                        <a:latin typeface="Cambria Math" panose="02040503050406030204" pitchFamily="18" charset="0"/>
                      </a:rPr>
                      <m:t>+…+</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𝛽</m:t>
                        </m:r>
                      </m:e>
                      <m:sub>
                        <m:r>
                          <a:rPr lang="en-US" altLang="zh-CN" i="1">
                            <a:solidFill>
                              <a:srgbClr val="C00000"/>
                            </a:solidFill>
                            <a:latin typeface="Cambria Math" panose="02040503050406030204" pitchFamily="18" charset="0"/>
                          </a:rPr>
                          <m:t>𝑁</m:t>
                        </m:r>
                      </m:sub>
                    </m:sSub>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𝑇</m:t>
                        </m:r>
                      </m:e>
                      <m:sub>
                        <m:r>
                          <a:rPr lang="en-US" altLang="zh-CN" i="1">
                            <a:solidFill>
                              <a:srgbClr val="C00000"/>
                            </a:solidFill>
                            <a:latin typeface="Cambria Math" panose="02040503050406030204" pitchFamily="18" charset="0"/>
                          </a:rPr>
                          <m:t>𝑁</m:t>
                        </m:r>
                      </m:sub>
                    </m:sSub>
                    <m:d>
                      <m:dPr>
                        <m:ctrlPr>
                          <a:rPr lang="en-US" altLang="zh-CN" i="1">
                            <a:solidFill>
                              <a:srgbClr val="C00000"/>
                            </a:solidFill>
                            <a:latin typeface="Cambria Math" panose="02040503050406030204" pitchFamily="18" charset="0"/>
                          </a:rPr>
                        </m:ctrlPr>
                      </m:dPr>
                      <m:e>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𝑋</m:t>
                            </m:r>
                          </m:e>
                          <m:sub>
                            <m:r>
                              <a:rPr lang="en-US" altLang="zh-CN" i="1">
                                <a:solidFill>
                                  <a:srgbClr val="C00000"/>
                                </a:solidFill>
                                <a:latin typeface="Cambria Math" panose="02040503050406030204" pitchFamily="18" charset="0"/>
                              </a:rPr>
                              <m:t>𝑁</m:t>
                            </m:r>
                          </m:sub>
                        </m:sSub>
                      </m:e>
                    </m:d>
                    <m:r>
                      <a:rPr lang="en-US" altLang="zh-CN" i="1">
                        <a:solidFill>
                          <a:srgbClr val="C00000"/>
                        </a:solidFill>
                        <a:latin typeface="Cambria Math" panose="02040503050406030204" pitchFamily="18" charset="0"/>
                      </a:rPr>
                      <m:t>+</m:t>
                    </m:r>
                    <m:r>
                      <a:rPr lang="en-US" altLang="zh-CN" i="1">
                        <a:solidFill>
                          <a:srgbClr val="C00000"/>
                        </a:solidFill>
                        <a:latin typeface="Cambria Math" panose="02040503050406030204" pitchFamily="18" charset="0"/>
                      </a:rPr>
                      <m:t>𝜖</m:t>
                    </m:r>
                  </m:oMath>
                </a14:m>
                <a:endParaRPr lang="en-US" altLang="zh-CN" dirty="0"/>
              </a:p>
              <a:p>
                <a:pPr lvl="1"/>
                <a:r>
                  <a:rPr lang="zh-CN" altLang="en-US" dirty="0"/>
                  <a:t>二元选择模型：</a:t>
                </a:r>
                <a:r>
                  <a:rPr lang="en-US" altLang="zh-CN" i="1" dirty="0"/>
                  <a:t> </a:t>
                </a:r>
                <a14:m>
                  <m:oMath xmlns:m="http://schemas.openxmlformats.org/officeDocument/2006/math">
                    <m:r>
                      <a:rPr lang="en-US" altLang="zh-CN" i="1">
                        <a:solidFill>
                          <a:srgbClr val="C00000"/>
                        </a:solidFill>
                        <a:latin typeface="Cambria Math" panose="02040503050406030204" pitchFamily="18" charset="0"/>
                      </a:rPr>
                      <m:t>𝐿𝑂𝐺𝐼𝑇</m:t>
                    </m:r>
                    <m:d>
                      <m:dPr>
                        <m:ctrlPr>
                          <a:rPr lang="en-US" altLang="zh-CN" i="1">
                            <a:solidFill>
                              <a:srgbClr val="C00000"/>
                            </a:solidFill>
                            <a:latin typeface="Cambria Math" panose="02040503050406030204" pitchFamily="18" charset="0"/>
                          </a:rPr>
                        </m:ctrlPr>
                      </m:dPr>
                      <m:e>
                        <m:r>
                          <a:rPr lang="en-US" altLang="zh-CN" i="1">
                            <a:solidFill>
                              <a:srgbClr val="C00000"/>
                            </a:solidFill>
                            <a:latin typeface="Cambria Math" panose="02040503050406030204" pitchFamily="18" charset="0"/>
                          </a:rPr>
                          <m:t>𝑌</m:t>
                        </m:r>
                        <m:r>
                          <a:rPr lang="en-US" altLang="zh-CN" i="1">
                            <a:solidFill>
                              <a:srgbClr val="C00000"/>
                            </a:solidFill>
                            <a:latin typeface="Cambria Math" panose="02040503050406030204" pitchFamily="18" charset="0"/>
                          </a:rPr>
                          <m:t>=1|</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𝑋</m:t>
                            </m:r>
                          </m:e>
                          <m:sub>
                            <m:r>
                              <a:rPr lang="en-US" altLang="zh-CN" i="1">
                                <a:solidFill>
                                  <a:srgbClr val="C00000"/>
                                </a:solidFill>
                                <a:latin typeface="Cambria Math" panose="02040503050406030204" pitchFamily="18" charset="0"/>
                              </a:rPr>
                              <m:t>1</m:t>
                            </m:r>
                          </m:sub>
                        </m:sSub>
                        <m:r>
                          <a:rPr lang="en-US" altLang="zh-CN" i="1">
                            <a:solidFill>
                              <a:srgbClr val="C00000"/>
                            </a:solidFill>
                            <a:latin typeface="Cambria Math" panose="02040503050406030204" pitchFamily="18" charset="0"/>
                          </a:rPr>
                          <m:t>,…,</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𝑋</m:t>
                            </m:r>
                          </m:e>
                          <m:sub>
                            <m:r>
                              <a:rPr lang="en-US" altLang="zh-CN" i="1">
                                <a:solidFill>
                                  <a:srgbClr val="C00000"/>
                                </a:solidFill>
                                <a:latin typeface="Cambria Math" panose="02040503050406030204" pitchFamily="18" charset="0"/>
                              </a:rPr>
                              <m:t>𝑁</m:t>
                            </m:r>
                          </m:sub>
                        </m:sSub>
                      </m:e>
                    </m:d>
                    <m:r>
                      <a:rPr lang="en-US" altLang="zh-CN" i="1">
                        <a:solidFill>
                          <a:srgbClr val="C00000"/>
                        </a:solidFill>
                        <a:latin typeface="Cambria Math" panose="02040503050406030204" pitchFamily="18" charset="0"/>
                      </a:rPr>
                      <m:t>=</m:t>
                    </m:r>
                    <m:r>
                      <a:rPr lang="en-US" altLang="zh-CN" i="1">
                        <a:solidFill>
                          <a:srgbClr val="C00000"/>
                        </a:solidFill>
                        <a:latin typeface="Cambria Math" panose="02040503050406030204" pitchFamily="18" charset="0"/>
                      </a:rPr>
                      <m:t>𝛼</m:t>
                    </m:r>
                    <m:r>
                      <a:rPr lang="en-US" altLang="zh-CN" i="1">
                        <a:solidFill>
                          <a:srgbClr val="C00000"/>
                        </a:solidFill>
                        <a:latin typeface="Cambria Math" panose="02040503050406030204" pitchFamily="18" charset="0"/>
                      </a:rPr>
                      <m:t>+</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𝛽</m:t>
                        </m:r>
                      </m:e>
                      <m:sub>
                        <m:r>
                          <a:rPr lang="en-US" altLang="zh-CN" i="1">
                            <a:solidFill>
                              <a:srgbClr val="C00000"/>
                            </a:solidFill>
                            <a:latin typeface="Cambria Math" panose="02040503050406030204" pitchFamily="18" charset="0"/>
                          </a:rPr>
                          <m:t>1</m:t>
                        </m:r>
                      </m:sub>
                    </m:sSub>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𝑇</m:t>
                        </m:r>
                      </m:e>
                      <m:sub>
                        <m:r>
                          <a:rPr lang="en-US" altLang="zh-CN" i="1">
                            <a:solidFill>
                              <a:srgbClr val="C00000"/>
                            </a:solidFill>
                            <a:latin typeface="Cambria Math" panose="02040503050406030204" pitchFamily="18" charset="0"/>
                          </a:rPr>
                          <m:t>1</m:t>
                        </m:r>
                      </m:sub>
                    </m:sSub>
                    <m:d>
                      <m:dPr>
                        <m:ctrlPr>
                          <a:rPr lang="en-US" altLang="zh-CN" i="1">
                            <a:solidFill>
                              <a:srgbClr val="C00000"/>
                            </a:solidFill>
                            <a:latin typeface="Cambria Math" panose="02040503050406030204" pitchFamily="18" charset="0"/>
                          </a:rPr>
                        </m:ctrlPr>
                      </m:dPr>
                      <m:e>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𝑋</m:t>
                            </m:r>
                          </m:e>
                          <m:sub>
                            <m:r>
                              <a:rPr lang="en-US" altLang="zh-CN" i="1">
                                <a:solidFill>
                                  <a:srgbClr val="C00000"/>
                                </a:solidFill>
                                <a:latin typeface="Cambria Math" panose="02040503050406030204" pitchFamily="18" charset="0"/>
                              </a:rPr>
                              <m:t>1</m:t>
                            </m:r>
                          </m:sub>
                        </m:sSub>
                      </m:e>
                    </m:d>
                    <m:r>
                      <a:rPr lang="en-US" altLang="zh-CN" i="1">
                        <a:solidFill>
                          <a:srgbClr val="C00000"/>
                        </a:solidFill>
                        <a:latin typeface="Cambria Math" panose="02040503050406030204" pitchFamily="18" charset="0"/>
                      </a:rPr>
                      <m:t>+</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𝛽</m:t>
                        </m:r>
                      </m:e>
                      <m:sub>
                        <m:r>
                          <a:rPr lang="en-US" altLang="zh-CN" i="1">
                            <a:solidFill>
                              <a:srgbClr val="C00000"/>
                            </a:solidFill>
                            <a:latin typeface="Cambria Math" panose="02040503050406030204" pitchFamily="18" charset="0"/>
                          </a:rPr>
                          <m:t>2</m:t>
                        </m:r>
                      </m:sub>
                    </m:sSub>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𝑇</m:t>
                        </m:r>
                      </m:e>
                      <m:sub>
                        <m:r>
                          <a:rPr lang="en-US" altLang="zh-CN" i="1">
                            <a:solidFill>
                              <a:srgbClr val="C00000"/>
                            </a:solidFill>
                            <a:latin typeface="Cambria Math" panose="02040503050406030204" pitchFamily="18" charset="0"/>
                          </a:rPr>
                          <m:t>2</m:t>
                        </m:r>
                      </m:sub>
                    </m:sSub>
                    <m:d>
                      <m:dPr>
                        <m:ctrlPr>
                          <a:rPr lang="en-US" altLang="zh-CN" i="1">
                            <a:solidFill>
                              <a:srgbClr val="C00000"/>
                            </a:solidFill>
                            <a:latin typeface="Cambria Math" panose="02040503050406030204" pitchFamily="18" charset="0"/>
                          </a:rPr>
                        </m:ctrlPr>
                      </m:dPr>
                      <m:e>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𝑋</m:t>
                            </m:r>
                          </m:e>
                          <m:sub>
                            <m:r>
                              <a:rPr lang="en-US" altLang="zh-CN" i="1">
                                <a:solidFill>
                                  <a:srgbClr val="C00000"/>
                                </a:solidFill>
                                <a:latin typeface="Cambria Math" panose="02040503050406030204" pitchFamily="18" charset="0"/>
                              </a:rPr>
                              <m:t>2</m:t>
                            </m:r>
                          </m:sub>
                        </m:sSub>
                      </m:e>
                    </m:d>
                    <m:r>
                      <a:rPr lang="en-US" altLang="zh-CN" i="1">
                        <a:solidFill>
                          <a:srgbClr val="C00000"/>
                        </a:solidFill>
                        <a:latin typeface="Cambria Math" panose="02040503050406030204" pitchFamily="18" charset="0"/>
                      </a:rPr>
                      <m:t>+…+</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𝛽</m:t>
                        </m:r>
                      </m:e>
                      <m:sub>
                        <m:r>
                          <a:rPr lang="en-US" altLang="zh-CN" i="1">
                            <a:solidFill>
                              <a:srgbClr val="C00000"/>
                            </a:solidFill>
                            <a:latin typeface="Cambria Math" panose="02040503050406030204" pitchFamily="18" charset="0"/>
                          </a:rPr>
                          <m:t>𝑁</m:t>
                        </m:r>
                      </m:sub>
                    </m:sSub>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𝑇</m:t>
                        </m:r>
                      </m:e>
                      <m:sub>
                        <m:r>
                          <a:rPr lang="en-US" altLang="zh-CN" i="1">
                            <a:solidFill>
                              <a:srgbClr val="C00000"/>
                            </a:solidFill>
                            <a:latin typeface="Cambria Math" panose="02040503050406030204" pitchFamily="18" charset="0"/>
                          </a:rPr>
                          <m:t>𝑁</m:t>
                        </m:r>
                      </m:sub>
                    </m:sSub>
                    <m:d>
                      <m:dPr>
                        <m:ctrlPr>
                          <a:rPr lang="en-US" altLang="zh-CN" i="1">
                            <a:solidFill>
                              <a:srgbClr val="C00000"/>
                            </a:solidFill>
                            <a:latin typeface="Cambria Math" panose="02040503050406030204" pitchFamily="18" charset="0"/>
                          </a:rPr>
                        </m:ctrlPr>
                      </m:dPr>
                      <m:e>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𝑋</m:t>
                            </m:r>
                          </m:e>
                          <m:sub>
                            <m:r>
                              <a:rPr lang="en-US" altLang="zh-CN" i="1">
                                <a:solidFill>
                                  <a:srgbClr val="C00000"/>
                                </a:solidFill>
                                <a:latin typeface="Cambria Math" panose="02040503050406030204" pitchFamily="18" charset="0"/>
                              </a:rPr>
                              <m:t>𝑁</m:t>
                            </m:r>
                          </m:sub>
                        </m:sSub>
                      </m:e>
                    </m:d>
                    <m:r>
                      <a:rPr lang="en-US" altLang="zh-CN" i="1">
                        <a:solidFill>
                          <a:srgbClr val="C00000"/>
                        </a:solidFill>
                        <a:latin typeface="Cambria Math" panose="02040503050406030204" pitchFamily="18" charset="0"/>
                      </a:rPr>
                      <m:t>+</m:t>
                    </m:r>
                    <m:r>
                      <a:rPr lang="en-US" altLang="zh-CN" i="1">
                        <a:solidFill>
                          <a:srgbClr val="C00000"/>
                        </a:solidFill>
                        <a:latin typeface="Cambria Math" panose="02040503050406030204" pitchFamily="18" charset="0"/>
                      </a:rPr>
                      <m:t>𝜖</m:t>
                    </m:r>
                  </m:oMath>
                </a14:m>
                <a:endParaRPr lang="en-US" altLang="zh-CN" i="1" dirty="0"/>
              </a:p>
              <a:p>
                <a:pPr lvl="2"/>
                <a:r>
                  <a:rPr lang="zh-CN" altLang="en-US" dirty="0"/>
                  <a:t>其中，</a:t>
                </a:r>
                <a14:m>
                  <m:oMath xmlns:m="http://schemas.openxmlformats.org/officeDocument/2006/math">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𝑋</m:t>
                        </m:r>
                      </m:e>
                      <m:sub>
                        <m:r>
                          <a:rPr lang="en-US" altLang="zh-CN" i="1">
                            <a:solidFill>
                              <a:srgbClr val="C00000"/>
                            </a:solidFill>
                            <a:latin typeface="Cambria Math" panose="02040503050406030204" pitchFamily="18" charset="0"/>
                          </a:rPr>
                          <m:t>1</m:t>
                        </m:r>
                      </m:sub>
                    </m:sSub>
                    <m:r>
                      <a:rPr lang="en-US" altLang="zh-CN" i="1">
                        <a:solidFill>
                          <a:srgbClr val="C00000"/>
                        </a:solidFill>
                        <a:latin typeface="Cambria Math" panose="02040503050406030204" pitchFamily="18" charset="0"/>
                      </a:rPr>
                      <m:t>,…,</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𝑋</m:t>
                        </m:r>
                      </m:e>
                      <m:sub>
                        <m:r>
                          <a:rPr lang="en-US" altLang="zh-CN" i="1">
                            <a:solidFill>
                              <a:srgbClr val="C00000"/>
                            </a:solidFill>
                            <a:latin typeface="Cambria Math" panose="02040503050406030204" pitchFamily="18" charset="0"/>
                          </a:rPr>
                          <m:t>𝑁</m:t>
                        </m:r>
                      </m:sub>
                    </m:sSub>
                  </m:oMath>
                </a14:m>
                <a:r>
                  <a:rPr lang="zh-CN" altLang="en-US" dirty="0"/>
                  <a:t>是指标，</a:t>
                </a:r>
                <a:r>
                  <a:rPr lang="en-US" altLang="zh-CN" dirty="0">
                    <a:solidFill>
                      <a:srgbClr val="C00000"/>
                    </a:solidFill>
                  </a:rPr>
                  <a:t> </a:t>
                </a:r>
                <a14:m>
                  <m:oMath xmlns:m="http://schemas.openxmlformats.org/officeDocument/2006/math">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𝑇</m:t>
                        </m:r>
                      </m:e>
                      <m:sub>
                        <m:r>
                          <a:rPr lang="en-US" altLang="zh-CN" i="1">
                            <a:solidFill>
                              <a:srgbClr val="C00000"/>
                            </a:solidFill>
                            <a:latin typeface="Cambria Math" panose="02040503050406030204" pitchFamily="18" charset="0"/>
                          </a:rPr>
                          <m:t>𝑖</m:t>
                        </m:r>
                      </m:sub>
                    </m:sSub>
                    <m:d>
                      <m:dPr>
                        <m:ctrlPr>
                          <a:rPr lang="en-US" altLang="zh-CN" i="1">
                            <a:solidFill>
                              <a:srgbClr val="C00000"/>
                            </a:solidFill>
                            <a:latin typeface="Cambria Math" panose="02040503050406030204" pitchFamily="18" charset="0"/>
                          </a:rPr>
                        </m:ctrlPr>
                      </m:dPr>
                      <m:e/>
                    </m:d>
                  </m:oMath>
                </a14:m>
                <a:r>
                  <a:rPr lang="zh-CN" altLang="en-US" dirty="0"/>
                  <a:t>是转换函数，</a:t>
                </a:r>
                <a14:m>
                  <m:oMath xmlns:m="http://schemas.openxmlformats.org/officeDocument/2006/math">
                    <m:r>
                      <a:rPr lang="en-US" altLang="zh-CN" i="1" dirty="0">
                        <a:solidFill>
                          <a:srgbClr val="C00000"/>
                        </a:solidFill>
                        <a:latin typeface="Cambria Math" panose="02040503050406030204" pitchFamily="18" charset="0"/>
                      </a:rPr>
                      <m:t>𝐷</m:t>
                    </m:r>
                  </m:oMath>
                </a14:m>
                <a:r>
                  <a:rPr lang="zh-CN" altLang="en-US" dirty="0"/>
                  <a:t>是违约率，</a:t>
                </a:r>
                <a14:m>
                  <m:oMath xmlns:m="http://schemas.openxmlformats.org/officeDocument/2006/math">
                    <m:r>
                      <a:rPr lang="en-US" altLang="zh-CN" i="1">
                        <a:solidFill>
                          <a:srgbClr val="C00000"/>
                        </a:solidFill>
                        <a:latin typeface="Cambria Math" panose="02040503050406030204" pitchFamily="18" charset="0"/>
                      </a:rPr>
                      <m:t>𝑌</m:t>
                    </m:r>
                  </m:oMath>
                </a14:m>
                <a:r>
                  <a:rPr lang="zh-CN" altLang="en-US" dirty="0"/>
                  <a:t>是状态变量，</a:t>
                </a:r>
                <a:r>
                  <a:rPr lang="en-US" altLang="zh-CN" dirty="0"/>
                  <a:t>1</a:t>
                </a:r>
                <a:r>
                  <a:rPr lang="zh-CN" altLang="en-US" dirty="0"/>
                  <a:t>表示违约、</a:t>
                </a:r>
                <a:r>
                  <a:rPr lang="en-US" altLang="zh-CN" dirty="0"/>
                  <a:t>0</a:t>
                </a:r>
                <a:r>
                  <a:rPr lang="zh-CN" altLang="en-US" dirty="0"/>
                  <a:t>表示履约，</a:t>
                </a:r>
                <a:r>
                  <a:rPr lang="en-US" altLang="zh-CN" dirty="0">
                    <a:solidFill>
                      <a:srgbClr val="C00000"/>
                    </a:solidFill>
                  </a:rPr>
                  <a:t> </a:t>
                </a:r>
                <a14:m>
                  <m:oMath xmlns:m="http://schemas.openxmlformats.org/officeDocument/2006/math">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𝛽</m:t>
                        </m:r>
                      </m:e>
                      <m:sub>
                        <m:r>
                          <m:rPr>
                            <m:sty m:val="p"/>
                          </m:rPr>
                          <a:rPr lang="en-US" altLang="zh-CN" i="1">
                            <a:solidFill>
                              <a:srgbClr val="C00000"/>
                            </a:solidFill>
                            <a:latin typeface="Cambria Math" panose="02040503050406030204" pitchFamily="18" charset="0"/>
                          </a:rPr>
                          <m:t>i</m:t>
                        </m:r>
                      </m:sub>
                    </m:sSub>
                  </m:oMath>
                </a14:m>
                <a:r>
                  <a:rPr lang="zh-CN" altLang="en-US" dirty="0"/>
                  <a:t>是一系列待估计参数。</a:t>
                </a:r>
                <a:endParaRPr lang="en-US" altLang="zh-CN" dirty="0"/>
              </a:p>
            </p:txBody>
          </p:sp>
        </mc:Choice>
        <mc:Fallback xmlns="">
          <p:sp>
            <p:nvSpPr>
              <p:cNvPr id="5" name="内容占位符 4">
                <a:extLst>
                  <a:ext uri="{FF2B5EF4-FFF2-40B4-BE49-F238E27FC236}">
                    <a16:creationId xmlns:a16="http://schemas.microsoft.com/office/drawing/2014/main" id="{B857C35E-7D75-4EC5-A68E-7E21AEA5270E}"/>
                  </a:ext>
                </a:extLst>
              </p:cNvPr>
              <p:cNvSpPr>
                <a:spLocks noGrp="1" noRot="1" noChangeAspect="1" noMove="1" noResize="1" noEditPoints="1" noAdjustHandles="1" noChangeArrowheads="1" noChangeShapeType="1" noTextEdit="1"/>
              </p:cNvSpPr>
              <p:nvPr>
                <p:ph idx="1"/>
              </p:nvPr>
            </p:nvSpPr>
            <p:spPr>
              <a:blipFill>
                <a:blip r:embed="rId2"/>
                <a:stretch>
                  <a:fillRect l="-5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7350738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建模方法</a:t>
            </a:r>
          </a:p>
        </p:txBody>
      </p:sp>
      <p:sp>
        <p:nvSpPr>
          <p:cNvPr id="9" name="内容占位符 8">
            <a:extLst>
              <a:ext uri="{FF2B5EF4-FFF2-40B4-BE49-F238E27FC236}">
                <a16:creationId xmlns:a16="http://schemas.microsoft.com/office/drawing/2014/main" id="{1EE9F2ED-5D9D-49C0-ACFB-3E2FB25A8A74}"/>
              </a:ext>
            </a:extLst>
          </p:cNvPr>
          <p:cNvSpPr>
            <a:spLocks noGrp="1"/>
          </p:cNvSpPr>
          <p:nvPr>
            <p:ph idx="1"/>
          </p:nvPr>
        </p:nvSpPr>
        <p:spPr/>
        <p:txBody>
          <a:bodyPr>
            <a:normAutofit/>
          </a:bodyPr>
          <a:lstStyle/>
          <a:p>
            <a:r>
              <a:rPr lang="zh-CN" altLang="en-US" b="1" dirty="0"/>
              <a:t>模型的优势</a:t>
            </a:r>
            <a:endParaRPr lang="en-US" altLang="zh-CN" b="1" dirty="0"/>
          </a:p>
          <a:p>
            <a:pPr lvl="1"/>
            <a:r>
              <a:rPr lang="zh-CN" altLang="en-US" dirty="0"/>
              <a:t>结果精确度较高、变量较少</a:t>
            </a:r>
            <a:endParaRPr lang="en-US" altLang="zh-CN" dirty="0"/>
          </a:p>
          <a:p>
            <a:pPr lvl="1"/>
            <a:r>
              <a:rPr lang="zh-CN" altLang="en-US" dirty="0"/>
              <a:t>可行性、透明性和解释性</a:t>
            </a:r>
            <a:endParaRPr lang="en-US" altLang="zh-CN" dirty="0"/>
          </a:p>
          <a:p>
            <a:endParaRPr lang="zh-CN" altLang="en-US" dirty="0"/>
          </a:p>
          <a:p>
            <a:r>
              <a:rPr lang="zh-CN" altLang="en-US" b="1" dirty="0"/>
              <a:t>存在的问题</a:t>
            </a:r>
            <a:endParaRPr lang="en-US" altLang="zh-CN" b="1" dirty="0"/>
          </a:p>
          <a:p>
            <a:pPr lvl="1"/>
            <a:r>
              <a:rPr lang="zh-CN" altLang="en-US" dirty="0"/>
              <a:t>获取可靠的、连续的、可跟踪的基础数据</a:t>
            </a:r>
          </a:p>
          <a:p>
            <a:pPr lvl="1"/>
            <a:r>
              <a:rPr lang="zh-CN" altLang="en-US" dirty="0"/>
              <a:t>权重体系和模型的恰当性</a:t>
            </a:r>
            <a:endParaRPr lang="en-US" altLang="zh-CN" dirty="0"/>
          </a:p>
          <a:p>
            <a:pPr lvl="1"/>
            <a:r>
              <a:rPr lang="zh-CN" altLang="en-US" dirty="0"/>
              <a:t>财务指标存在局限性和滞后性</a:t>
            </a:r>
            <a:endParaRPr lang="en-US" altLang="zh-CN" dirty="0"/>
          </a:p>
          <a:p>
            <a:pPr lvl="1"/>
            <a:r>
              <a:rPr lang="zh-CN" altLang="en-US" dirty="0"/>
              <a:t>样本代表性和数量的差异</a:t>
            </a:r>
          </a:p>
        </p:txBody>
      </p:sp>
    </p:spTree>
    <p:extLst>
      <p:ext uri="{BB962C8B-B14F-4D97-AF65-F5344CB8AC3E}">
        <p14:creationId xmlns:p14="http://schemas.microsoft.com/office/powerpoint/2010/main" val="177614945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834141-0750-4ABE-8934-0197F4CD8030}"/>
              </a:ext>
            </a:extLst>
          </p:cNvPr>
          <p:cNvSpPr>
            <a:spLocks noGrp="1"/>
          </p:cNvSpPr>
          <p:nvPr>
            <p:ph type="title"/>
          </p:nvPr>
        </p:nvSpPr>
        <p:spPr/>
        <p:txBody>
          <a:bodyPr/>
          <a:lstStyle/>
          <a:p>
            <a:r>
              <a:rPr lang="en-US" altLang="zh-CN" dirty="0">
                <a:latin typeface="+mn-ea"/>
                <a:ea typeface="+mn-ea"/>
              </a:rPr>
              <a:t> Z-score</a:t>
            </a:r>
            <a:r>
              <a:rPr lang="zh-CN" altLang="en-US" dirty="0">
                <a:latin typeface="+mn-ea"/>
                <a:ea typeface="+mn-ea"/>
              </a:rPr>
              <a:t>方法</a:t>
            </a:r>
          </a:p>
        </p:txBody>
      </p:sp>
      <p:sp>
        <p:nvSpPr>
          <p:cNvPr id="5" name="内容占位符 4">
            <a:extLst>
              <a:ext uri="{FF2B5EF4-FFF2-40B4-BE49-F238E27FC236}">
                <a16:creationId xmlns:a16="http://schemas.microsoft.com/office/drawing/2014/main" id="{4C088876-54F0-403C-B590-4B8B1FD5263F}"/>
              </a:ext>
            </a:extLst>
          </p:cNvPr>
          <p:cNvSpPr>
            <a:spLocks noGrp="1"/>
          </p:cNvSpPr>
          <p:nvPr>
            <p:ph idx="1"/>
          </p:nvPr>
        </p:nvSpPr>
        <p:spPr/>
        <p:txBody>
          <a:bodyPr>
            <a:normAutofit lnSpcReduction="10000"/>
          </a:bodyPr>
          <a:lstStyle/>
          <a:p>
            <a:r>
              <a:rPr lang="en-US" altLang="zh-CN" dirty="0"/>
              <a:t>Z-score</a:t>
            </a:r>
            <a:r>
              <a:rPr lang="zh-CN" altLang="en-US" dirty="0"/>
              <a:t>评分法，始于上世纪</a:t>
            </a:r>
            <a:r>
              <a:rPr lang="en-US" altLang="zh-CN" dirty="0"/>
              <a:t>70</a:t>
            </a:r>
            <a:r>
              <a:rPr lang="zh-CN" altLang="en-US" dirty="0"/>
              <a:t>年代的美国股票市场的基本面研究领域。该模型的创立者</a:t>
            </a:r>
            <a:r>
              <a:rPr lang="en-US" altLang="zh-CN" dirty="0"/>
              <a:t>Altman</a:t>
            </a:r>
            <a:r>
              <a:rPr lang="zh-CN" altLang="en-US" dirty="0"/>
              <a:t>，通过筛选确定</a:t>
            </a:r>
            <a:r>
              <a:rPr lang="en-US" altLang="zh-CN" dirty="0"/>
              <a:t>27</a:t>
            </a:r>
            <a:r>
              <a:rPr lang="zh-CN" altLang="en-US" dirty="0"/>
              <a:t>个最重要的财务数据，建立多元统计模型对贷款申请人进行信用等级评估。</a:t>
            </a:r>
            <a:endParaRPr lang="en-US" altLang="zh-CN" dirty="0"/>
          </a:p>
          <a:p>
            <a:r>
              <a:rPr lang="zh-CN" altLang="en-US" dirty="0"/>
              <a:t>据研究文献，该模型能在破产前</a:t>
            </a:r>
            <a:r>
              <a:rPr lang="en-US" altLang="zh-CN" dirty="0"/>
              <a:t>5</a:t>
            </a:r>
            <a:r>
              <a:rPr lang="zh-CN" altLang="en-US" dirty="0"/>
              <a:t>年即可有效地识别要破产公司，其中破产前</a:t>
            </a:r>
            <a:r>
              <a:rPr lang="en-US" altLang="zh-CN" dirty="0"/>
              <a:t>1</a:t>
            </a:r>
            <a:r>
              <a:rPr lang="zh-CN" altLang="en-US" dirty="0"/>
              <a:t>年的准确度大于</a:t>
            </a:r>
            <a:r>
              <a:rPr lang="en-US" altLang="zh-CN" dirty="0"/>
              <a:t>90%</a:t>
            </a:r>
            <a:r>
              <a:rPr lang="zh-CN" altLang="en-US" dirty="0"/>
              <a:t>，破产前</a:t>
            </a:r>
            <a:r>
              <a:rPr lang="en-US" altLang="zh-CN" dirty="0"/>
              <a:t>5</a:t>
            </a:r>
            <a:r>
              <a:rPr lang="zh-CN" altLang="en-US" dirty="0"/>
              <a:t>年的准确度大于</a:t>
            </a:r>
            <a:r>
              <a:rPr lang="en-US" altLang="zh-CN" dirty="0"/>
              <a:t>70%</a:t>
            </a:r>
            <a:r>
              <a:rPr lang="zh-CN" altLang="en-US" dirty="0"/>
              <a:t>。</a:t>
            </a:r>
            <a:endParaRPr lang="en-US" altLang="zh-CN" dirty="0"/>
          </a:p>
          <a:p>
            <a:endParaRPr lang="en-US" altLang="zh-CN" dirty="0"/>
          </a:p>
          <a:p>
            <a:r>
              <a:rPr lang="zh-CN" altLang="en-US" dirty="0"/>
              <a:t>该模型的局限：</a:t>
            </a:r>
          </a:p>
          <a:p>
            <a:pPr lvl="1"/>
            <a:r>
              <a:rPr lang="zh-CN" altLang="en-US" dirty="0"/>
              <a:t>仅考虑违约与没违约两个极端情况</a:t>
            </a:r>
            <a:endParaRPr lang="en-US" altLang="zh-CN" dirty="0"/>
          </a:p>
          <a:p>
            <a:pPr lvl="1"/>
            <a:r>
              <a:rPr lang="zh-CN" altLang="en-US" dirty="0"/>
              <a:t>使用大量样本历史数据拟合系数且需定期调整</a:t>
            </a:r>
            <a:endParaRPr lang="en-US" altLang="zh-CN" dirty="0"/>
          </a:p>
          <a:p>
            <a:pPr lvl="1"/>
            <a:r>
              <a:rPr lang="zh-CN" altLang="en-US" dirty="0"/>
              <a:t>未考虑经济和行业周期</a:t>
            </a:r>
            <a:endParaRPr lang="en-US" altLang="zh-CN" dirty="0"/>
          </a:p>
          <a:p>
            <a:pPr lvl="1"/>
            <a:r>
              <a:rPr lang="zh-CN" altLang="en-US" dirty="0"/>
              <a:t>公司违约与否与风险的非线性</a:t>
            </a:r>
            <a:endParaRPr lang="en-US" altLang="zh-CN" dirty="0"/>
          </a:p>
          <a:p>
            <a:pPr lvl="1"/>
            <a:r>
              <a:rPr lang="zh-CN" altLang="en-US" dirty="0"/>
              <a:t>缺乏经济的理论基础</a:t>
            </a:r>
            <a:endParaRPr lang="en-US" altLang="zh-CN" dirty="0"/>
          </a:p>
          <a:p>
            <a:pPr lvl="1"/>
            <a:r>
              <a:rPr lang="zh-CN" altLang="en-US" dirty="0"/>
              <a:t>财务指标存在时滞</a:t>
            </a:r>
            <a:endParaRPr lang="en-US" altLang="zh-CN" dirty="0"/>
          </a:p>
          <a:p>
            <a:pPr lvl="1"/>
            <a:r>
              <a:rPr lang="zh-CN" altLang="en-US" dirty="0"/>
              <a:t>无法计算投资组合的信用风险</a:t>
            </a:r>
            <a:endParaRPr lang="en-US" altLang="zh-CN" dirty="0"/>
          </a:p>
        </p:txBody>
      </p:sp>
    </p:spTree>
    <p:extLst>
      <p:ext uri="{BB962C8B-B14F-4D97-AF65-F5344CB8AC3E}">
        <p14:creationId xmlns:p14="http://schemas.microsoft.com/office/powerpoint/2010/main" val="8929492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834141-0750-4ABE-8934-0197F4CD8030}"/>
              </a:ext>
            </a:extLst>
          </p:cNvPr>
          <p:cNvSpPr>
            <a:spLocks noGrp="1"/>
          </p:cNvSpPr>
          <p:nvPr>
            <p:ph type="title"/>
          </p:nvPr>
        </p:nvSpPr>
        <p:spPr>
          <a:xfrm>
            <a:off x="2563191" y="3"/>
            <a:ext cx="14716747" cy="1489646"/>
          </a:xfrm>
        </p:spPr>
        <p:txBody>
          <a:bodyPr/>
          <a:lstStyle/>
          <a:p>
            <a:r>
              <a:rPr lang="en-US" altLang="zh-CN" dirty="0">
                <a:latin typeface="+mn-ea"/>
                <a:ea typeface="+mn-ea"/>
              </a:rPr>
              <a:t> Z-score</a:t>
            </a:r>
            <a:r>
              <a:rPr lang="zh-CN" altLang="en-US" dirty="0">
                <a:latin typeface="+mn-ea"/>
                <a:ea typeface="+mn-ea"/>
              </a:rPr>
              <a:t>方法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98BCBA2-0C19-488F-981A-C7C3D99E1EB3}"/>
                  </a:ext>
                </a:extLst>
              </p:cNvPr>
              <p:cNvSpPr>
                <a:spLocks noGrp="1"/>
              </p:cNvSpPr>
              <p:nvPr>
                <p:ph idx="1"/>
              </p:nvPr>
            </p:nvSpPr>
            <p:spPr/>
            <p:txBody>
              <a:bodyPr>
                <a:normAutofit/>
              </a:bodyPr>
              <a:lstStyle/>
              <a:p>
                <a:r>
                  <a:rPr lang="zh-CN" altLang="en-US" dirty="0"/>
                  <a:t>对于</a:t>
                </a:r>
                <a:r>
                  <a:rPr lang="zh-CN" altLang="en-US" b="1" dirty="0"/>
                  <a:t>上市公司</a:t>
                </a:r>
                <a:r>
                  <a:rPr lang="zh-CN" altLang="en-US" dirty="0"/>
                  <a:t>，可以采取如下财务指标所构建的模型计算出一个综合评分</a:t>
                </a:r>
                <a:endParaRPr lang="en-US" altLang="zh-CN" dirty="0"/>
              </a:p>
              <a:p>
                <a:pPr marL="457198" lvl="1" indent="0">
                  <a:buNone/>
                </a:pPr>
                <a14:m>
                  <m:oMathPara xmlns:m="http://schemas.openxmlformats.org/officeDocument/2006/math">
                    <m:oMathParaPr>
                      <m:jc m:val="centerGroup"/>
                    </m:oMathParaPr>
                    <m:oMath xmlns:m="http://schemas.openxmlformats.org/officeDocument/2006/math">
                      <m:r>
                        <m:rPr>
                          <m:sty m:val="p"/>
                        </m:rPr>
                        <a:rPr lang="en-US" altLang="zh-CN" i="1" dirty="0" smtClean="0">
                          <a:solidFill>
                            <a:srgbClr val="C00000"/>
                          </a:solidFill>
                          <a:latin typeface="Cambria Math" panose="02040503050406030204" pitchFamily="18" charset="0"/>
                        </a:rPr>
                        <m:t>Z</m:t>
                      </m:r>
                      <m:r>
                        <a:rPr lang="en-US" altLang="zh-CN" b="0" i="1" dirty="0" smtClean="0">
                          <a:solidFill>
                            <a:srgbClr val="C00000"/>
                          </a:solidFill>
                          <a:latin typeface="Cambria Math" panose="02040503050406030204" pitchFamily="18" charset="0"/>
                        </a:rPr>
                        <m:t>=1.2</m:t>
                      </m:r>
                      <m:sSub>
                        <m:sSubPr>
                          <m:ctrlPr>
                            <a:rPr lang="en-US" altLang="zh-CN" b="0" i="1" dirty="0" smtClean="0">
                              <a:solidFill>
                                <a:srgbClr val="C00000"/>
                              </a:solidFill>
                              <a:latin typeface="Cambria Math" panose="02040503050406030204" pitchFamily="18" charset="0"/>
                            </a:rPr>
                          </m:ctrlPr>
                        </m:sSubPr>
                        <m:e>
                          <m:r>
                            <a:rPr lang="en-US" altLang="zh-CN" b="0" i="1" dirty="0" smtClean="0">
                              <a:solidFill>
                                <a:srgbClr val="C00000"/>
                              </a:solidFill>
                              <a:latin typeface="Cambria Math" panose="02040503050406030204" pitchFamily="18" charset="0"/>
                            </a:rPr>
                            <m:t>𝑋</m:t>
                          </m:r>
                        </m:e>
                        <m:sub>
                          <m:r>
                            <a:rPr lang="en-US" altLang="zh-CN" b="0" i="1" dirty="0" smtClean="0">
                              <a:solidFill>
                                <a:srgbClr val="C00000"/>
                              </a:solidFill>
                              <a:latin typeface="Cambria Math" panose="02040503050406030204" pitchFamily="18" charset="0"/>
                            </a:rPr>
                            <m:t>1</m:t>
                          </m:r>
                        </m:sub>
                      </m:sSub>
                      <m:r>
                        <a:rPr lang="en-US" altLang="zh-CN" b="0" i="1" dirty="0" smtClean="0">
                          <a:solidFill>
                            <a:srgbClr val="C00000"/>
                          </a:solidFill>
                          <a:latin typeface="Cambria Math" panose="02040503050406030204" pitchFamily="18" charset="0"/>
                        </a:rPr>
                        <m:t>+1.4</m:t>
                      </m:r>
                      <m:sSub>
                        <m:sSubPr>
                          <m:ctrlPr>
                            <a:rPr lang="en-US" altLang="zh-CN" i="1" dirty="0">
                              <a:solidFill>
                                <a:srgbClr val="C00000"/>
                              </a:solidFill>
                              <a:latin typeface="Cambria Math" panose="02040503050406030204" pitchFamily="18" charset="0"/>
                            </a:rPr>
                          </m:ctrlPr>
                        </m:sSubPr>
                        <m:e>
                          <m:r>
                            <a:rPr lang="en-US" altLang="zh-CN" i="1" dirty="0">
                              <a:solidFill>
                                <a:srgbClr val="C00000"/>
                              </a:solidFill>
                              <a:latin typeface="Cambria Math" panose="02040503050406030204" pitchFamily="18" charset="0"/>
                            </a:rPr>
                            <m:t>𝑋</m:t>
                          </m:r>
                        </m:e>
                        <m:sub>
                          <m:r>
                            <a:rPr lang="en-US" altLang="zh-CN" b="0" i="1" dirty="0" smtClean="0">
                              <a:solidFill>
                                <a:srgbClr val="C00000"/>
                              </a:solidFill>
                              <a:latin typeface="Cambria Math" panose="02040503050406030204" pitchFamily="18" charset="0"/>
                            </a:rPr>
                            <m:t>2</m:t>
                          </m:r>
                        </m:sub>
                      </m:sSub>
                      <m:r>
                        <a:rPr lang="en-US" altLang="zh-CN" b="0" i="1" dirty="0" smtClean="0">
                          <a:solidFill>
                            <a:srgbClr val="C00000"/>
                          </a:solidFill>
                          <a:latin typeface="Cambria Math" panose="02040503050406030204" pitchFamily="18" charset="0"/>
                        </a:rPr>
                        <m:t>+</m:t>
                      </m:r>
                      <m:sSub>
                        <m:sSubPr>
                          <m:ctrlPr>
                            <a:rPr lang="en-US" altLang="zh-CN" i="1" dirty="0">
                              <a:solidFill>
                                <a:srgbClr val="C00000"/>
                              </a:solidFill>
                              <a:latin typeface="Cambria Math" panose="02040503050406030204" pitchFamily="18" charset="0"/>
                            </a:rPr>
                          </m:ctrlPr>
                        </m:sSubPr>
                        <m:e>
                          <m:r>
                            <a:rPr lang="en-US" altLang="zh-CN" b="0" i="1" dirty="0" smtClean="0">
                              <a:solidFill>
                                <a:srgbClr val="C00000"/>
                              </a:solidFill>
                              <a:latin typeface="Cambria Math" panose="02040503050406030204" pitchFamily="18" charset="0"/>
                            </a:rPr>
                            <m:t>3.3</m:t>
                          </m:r>
                          <m:r>
                            <a:rPr lang="en-US" altLang="zh-CN" i="1" dirty="0">
                              <a:solidFill>
                                <a:srgbClr val="C00000"/>
                              </a:solidFill>
                              <a:latin typeface="Cambria Math" panose="02040503050406030204" pitchFamily="18" charset="0"/>
                            </a:rPr>
                            <m:t>𝑋</m:t>
                          </m:r>
                        </m:e>
                        <m:sub>
                          <m:r>
                            <a:rPr lang="en-US" altLang="zh-CN" b="0" i="1" dirty="0" smtClean="0">
                              <a:solidFill>
                                <a:srgbClr val="C00000"/>
                              </a:solidFill>
                              <a:latin typeface="Cambria Math" panose="02040503050406030204" pitchFamily="18" charset="0"/>
                            </a:rPr>
                            <m:t>3</m:t>
                          </m:r>
                        </m:sub>
                      </m:sSub>
                      <m:r>
                        <a:rPr lang="en-US" altLang="zh-CN" b="0" i="1" dirty="0" smtClean="0">
                          <a:solidFill>
                            <a:srgbClr val="C00000"/>
                          </a:solidFill>
                          <a:latin typeface="Cambria Math" panose="02040503050406030204" pitchFamily="18" charset="0"/>
                        </a:rPr>
                        <m:t>+</m:t>
                      </m:r>
                      <m:sSub>
                        <m:sSubPr>
                          <m:ctrlPr>
                            <a:rPr lang="en-US" altLang="zh-CN" i="1" dirty="0">
                              <a:solidFill>
                                <a:srgbClr val="C00000"/>
                              </a:solidFill>
                              <a:latin typeface="Cambria Math" panose="02040503050406030204" pitchFamily="18" charset="0"/>
                            </a:rPr>
                          </m:ctrlPr>
                        </m:sSubPr>
                        <m:e>
                          <m:r>
                            <a:rPr lang="en-US" altLang="zh-CN" b="0" i="1" dirty="0" smtClean="0">
                              <a:solidFill>
                                <a:srgbClr val="C00000"/>
                              </a:solidFill>
                              <a:latin typeface="Cambria Math" panose="02040503050406030204" pitchFamily="18" charset="0"/>
                            </a:rPr>
                            <m:t>0.6</m:t>
                          </m:r>
                          <m:r>
                            <a:rPr lang="en-US" altLang="zh-CN" i="1" dirty="0">
                              <a:solidFill>
                                <a:srgbClr val="C00000"/>
                              </a:solidFill>
                              <a:latin typeface="Cambria Math" panose="02040503050406030204" pitchFamily="18" charset="0"/>
                            </a:rPr>
                            <m:t>𝑋</m:t>
                          </m:r>
                        </m:e>
                        <m:sub>
                          <m:r>
                            <a:rPr lang="en-US" altLang="zh-CN" b="0" i="1" dirty="0" smtClean="0">
                              <a:solidFill>
                                <a:srgbClr val="C00000"/>
                              </a:solidFill>
                              <a:latin typeface="Cambria Math" panose="02040503050406030204" pitchFamily="18" charset="0"/>
                            </a:rPr>
                            <m:t>4</m:t>
                          </m:r>
                        </m:sub>
                      </m:sSub>
                      <m:r>
                        <a:rPr lang="en-US" altLang="zh-CN" b="0" i="1" dirty="0" smtClean="0">
                          <a:solidFill>
                            <a:srgbClr val="C00000"/>
                          </a:solidFill>
                          <a:latin typeface="Cambria Math" panose="02040503050406030204" pitchFamily="18" charset="0"/>
                        </a:rPr>
                        <m:t>+1.0</m:t>
                      </m:r>
                      <m:sSub>
                        <m:sSubPr>
                          <m:ctrlPr>
                            <a:rPr lang="en-US" altLang="zh-CN" i="1" dirty="0">
                              <a:solidFill>
                                <a:srgbClr val="C00000"/>
                              </a:solidFill>
                              <a:latin typeface="Cambria Math" panose="02040503050406030204" pitchFamily="18" charset="0"/>
                            </a:rPr>
                          </m:ctrlPr>
                        </m:sSubPr>
                        <m:e>
                          <m:r>
                            <a:rPr lang="en-US" altLang="zh-CN" i="1" dirty="0">
                              <a:solidFill>
                                <a:srgbClr val="C00000"/>
                              </a:solidFill>
                              <a:latin typeface="Cambria Math" panose="02040503050406030204" pitchFamily="18" charset="0"/>
                            </a:rPr>
                            <m:t>𝑋</m:t>
                          </m:r>
                        </m:e>
                        <m:sub>
                          <m:r>
                            <a:rPr lang="en-US" altLang="zh-CN" b="0" i="1" dirty="0" smtClean="0">
                              <a:solidFill>
                                <a:srgbClr val="C00000"/>
                              </a:solidFill>
                              <a:latin typeface="Cambria Math" panose="02040503050406030204" pitchFamily="18" charset="0"/>
                            </a:rPr>
                            <m:t>5</m:t>
                          </m:r>
                        </m:sub>
                      </m:sSub>
                    </m:oMath>
                  </m:oMathPara>
                </a14:m>
                <a:endParaRPr lang="en-US" altLang="zh-CN" dirty="0"/>
              </a:p>
              <a:p>
                <a:pPr lvl="1"/>
                <a:r>
                  <a:rPr lang="zh-CN" altLang="en-US" dirty="0"/>
                  <a:t>其中，</a:t>
                </a:r>
                <a:r>
                  <a:rPr lang="en-US" altLang="zh-CN" dirty="0"/>
                  <a:t>X1</a:t>
                </a:r>
                <a:r>
                  <a:rPr lang="zh-CN" altLang="en-US" dirty="0"/>
                  <a:t>是运营资本</a:t>
                </a:r>
                <a:r>
                  <a:rPr lang="en-US" altLang="zh-CN" dirty="0"/>
                  <a:t>/</a:t>
                </a:r>
                <a:r>
                  <a:rPr lang="zh-CN" altLang="en-US" dirty="0"/>
                  <a:t>总资产；</a:t>
                </a:r>
                <a:r>
                  <a:rPr lang="en-US" altLang="zh-CN" dirty="0"/>
                  <a:t>X2</a:t>
                </a:r>
                <a:r>
                  <a:rPr lang="zh-CN" altLang="en-US" dirty="0"/>
                  <a:t>是留存收益</a:t>
                </a:r>
                <a:r>
                  <a:rPr lang="en-US" altLang="zh-CN" dirty="0"/>
                  <a:t>/</a:t>
                </a:r>
                <a:r>
                  <a:rPr lang="zh-CN" altLang="en-US" dirty="0"/>
                  <a:t>总资产；</a:t>
                </a:r>
                <a:r>
                  <a:rPr lang="en-US" altLang="zh-CN" dirty="0"/>
                  <a:t>X3</a:t>
                </a:r>
                <a:r>
                  <a:rPr lang="zh-CN" altLang="en-US" dirty="0"/>
                  <a:t>是息税前利润</a:t>
                </a:r>
                <a:r>
                  <a:rPr lang="en-US" altLang="zh-CN" dirty="0"/>
                  <a:t>/</a:t>
                </a:r>
                <a:r>
                  <a:rPr lang="zh-CN" altLang="en-US" dirty="0"/>
                  <a:t>总资产；</a:t>
                </a:r>
                <a:r>
                  <a:rPr lang="en-US" altLang="zh-CN" dirty="0"/>
                  <a:t>X4</a:t>
                </a:r>
                <a:r>
                  <a:rPr lang="zh-CN" altLang="en-US" dirty="0"/>
                  <a:t>是股票总市值</a:t>
                </a:r>
                <a:r>
                  <a:rPr lang="en-US" altLang="zh-CN" dirty="0"/>
                  <a:t>/</a:t>
                </a:r>
                <a:r>
                  <a:rPr lang="zh-CN" altLang="en-US" dirty="0"/>
                  <a:t>总负债账面价值；</a:t>
                </a:r>
                <a:r>
                  <a:rPr lang="en-US" altLang="zh-CN" dirty="0"/>
                  <a:t>X5</a:t>
                </a:r>
                <a:r>
                  <a:rPr lang="zh-CN" altLang="en-US" dirty="0"/>
                  <a:t>是销售额</a:t>
                </a:r>
                <a:r>
                  <a:rPr lang="en-US" altLang="zh-CN" dirty="0"/>
                  <a:t>/</a:t>
                </a:r>
                <a:r>
                  <a:rPr lang="zh-CN" altLang="en-US" dirty="0"/>
                  <a:t>总资产。</a:t>
                </a:r>
                <a:endParaRPr lang="en-US" altLang="zh-CN" dirty="0"/>
              </a:p>
              <a:p>
                <a:endParaRPr lang="en-US" altLang="zh-CN" dirty="0"/>
              </a:p>
              <a:p>
                <a:r>
                  <a:rPr lang="zh-CN" altLang="en-US" dirty="0"/>
                  <a:t>对于</a:t>
                </a:r>
                <a:r>
                  <a:rPr lang="zh-CN" altLang="en-US" b="1" dirty="0"/>
                  <a:t>非上市公司</a:t>
                </a:r>
                <a:r>
                  <a:rPr lang="zh-CN" altLang="en-US" dirty="0"/>
                  <a:t>，由于部分财务指标不可获得，因此需要调整为</a:t>
                </a:r>
                <a:endParaRPr lang="en-US" altLang="zh-CN" dirty="0"/>
              </a:p>
              <a:p>
                <a:pPr marL="914396" lvl="2" indent="0" algn="ctr">
                  <a:buNone/>
                </a:pPr>
                <a14:m>
                  <m:oMath xmlns:m="http://schemas.openxmlformats.org/officeDocument/2006/math">
                    <m:r>
                      <m:rPr>
                        <m:sty m:val="p"/>
                      </m:rPr>
                      <a:rPr lang="en-US" altLang="zh-CN" i="1" dirty="0">
                        <a:solidFill>
                          <a:srgbClr val="C00000"/>
                        </a:solidFill>
                        <a:latin typeface="Cambria Math" panose="02040503050406030204" pitchFamily="18" charset="0"/>
                      </a:rPr>
                      <m:t>Z</m:t>
                    </m:r>
                    <m:r>
                      <a:rPr lang="en-US" altLang="zh-CN" i="1" dirty="0">
                        <a:solidFill>
                          <a:srgbClr val="C00000"/>
                        </a:solidFill>
                        <a:latin typeface="Cambria Math" panose="02040503050406030204" pitchFamily="18" charset="0"/>
                      </a:rPr>
                      <m:t>=0.72</m:t>
                    </m:r>
                    <m:sSub>
                      <m:sSubPr>
                        <m:ctrlPr>
                          <a:rPr lang="en-US" altLang="zh-CN" i="1" dirty="0">
                            <a:solidFill>
                              <a:srgbClr val="C00000"/>
                            </a:solidFill>
                            <a:latin typeface="Cambria Math" panose="02040503050406030204" pitchFamily="18" charset="0"/>
                          </a:rPr>
                        </m:ctrlPr>
                      </m:sSubPr>
                      <m:e>
                        <m:r>
                          <a:rPr lang="en-US" altLang="zh-CN" i="1" dirty="0">
                            <a:solidFill>
                              <a:srgbClr val="C00000"/>
                            </a:solidFill>
                            <a:latin typeface="Cambria Math" panose="02040503050406030204" pitchFamily="18" charset="0"/>
                          </a:rPr>
                          <m:t>𝑋</m:t>
                        </m:r>
                      </m:e>
                      <m:sub>
                        <m:r>
                          <a:rPr lang="en-US" altLang="zh-CN" b="0" i="1" dirty="0" smtClean="0">
                            <a:solidFill>
                              <a:srgbClr val="C00000"/>
                            </a:solidFill>
                            <a:latin typeface="Cambria Math" panose="02040503050406030204" pitchFamily="18" charset="0"/>
                          </a:rPr>
                          <m:t>1</m:t>
                        </m:r>
                      </m:sub>
                    </m:sSub>
                    <m:r>
                      <a:rPr lang="en-US" altLang="zh-CN" i="1" dirty="0">
                        <a:solidFill>
                          <a:srgbClr val="C00000"/>
                        </a:solidFill>
                        <a:latin typeface="Cambria Math" panose="02040503050406030204" pitchFamily="18" charset="0"/>
                      </a:rPr>
                      <m:t>+</m:t>
                    </m:r>
                    <m:r>
                      <a:rPr lang="en-US" altLang="zh-CN" b="0" i="1" dirty="0" smtClean="0">
                        <a:solidFill>
                          <a:srgbClr val="C00000"/>
                        </a:solidFill>
                        <a:latin typeface="Cambria Math" panose="02040503050406030204" pitchFamily="18" charset="0"/>
                      </a:rPr>
                      <m:t>0.85</m:t>
                    </m:r>
                    <m:sSub>
                      <m:sSubPr>
                        <m:ctrlPr>
                          <a:rPr lang="en-US" altLang="zh-CN" i="1" dirty="0">
                            <a:solidFill>
                              <a:srgbClr val="C00000"/>
                            </a:solidFill>
                            <a:latin typeface="Cambria Math" panose="02040503050406030204" pitchFamily="18" charset="0"/>
                          </a:rPr>
                        </m:ctrlPr>
                      </m:sSubPr>
                      <m:e>
                        <m:r>
                          <a:rPr lang="en-US" altLang="zh-CN" i="1" dirty="0">
                            <a:solidFill>
                              <a:srgbClr val="C00000"/>
                            </a:solidFill>
                            <a:latin typeface="Cambria Math" panose="02040503050406030204" pitchFamily="18" charset="0"/>
                          </a:rPr>
                          <m:t>𝑋</m:t>
                        </m:r>
                      </m:e>
                      <m:sub>
                        <m:r>
                          <a:rPr lang="en-US" altLang="zh-CN" i="1" dirty="0">
                            <a:solidFill>
                              <a:srgbClr val="C00000"/>
                            </a:solidFill>
                            <a:latin typeface="Cambria Math" panose="02040503050406030204" pitchFamily="18" charset="0"/>
                          </a:rPr>
                          <m:t>2</m:t>
                        </m:r>
                      </m:sub>
                    </m:sSub>
                    <m:r>
                      <a:rPr lang="en-US" altLang="zh-CN" i="1" dirty="0">
                        <a:solidFill>
                          <a:srgbClr val="C00000"/>
                        </a:solidFill>
                        <a:latin typeface="Cambria Math" panose="02040503050406030204" pitchFamily="18" charset="0"/>
                      </a:rPr>
                      <m:t>+</m:t>
                    </m:r>
                    <m:sSub>
                      <m:sSubPr>
                        <m:ctrlPr>
                          <a:rPr lang="en-US" altLang="zh-CN" i="1" dirty="0">
                            <a:solidFill>
                              <a:srgbClr val="C00000"/>
                            </a:solidFill>
                            <a:latin typeface="Cambria Math" panose="02040503050406030204" pitchFamily="18" charset="0"/>
                          </a:rPr>
                        </m:ctrlPr>
                      </m:sSubPr>
                      <m:e>
                        <m:r>
                          <a:rPr lang="en-US" altLang="zh-CN" i="1" dirty="0">
                            <a:solidFill>
                              <a:srgbClr val="C00000"/>
                            </a:solidFill>
                            <a:latin typeface="Cambria Math" panose="02040503050406030204" pitchFamily="18" charset="0"/>
                          </a:rPr>
                          <m:t>3.</m:t>
                        </m:r>
                        <m:r>
                          <a:rPr lang="en-US" altLang="zh-CN" b="0" i="1" dirty="0" smtClean="0">
                            <a:solidFill>
                              <a:srgbClr val="C00000"/>
                            </a:solidFill>
                            <a:latin typeface="Cambria Math" panose="02040503050406030204" pitchFamily="18" charset="0"/>
                          </a:rPr>
                          <m:t>11</m:t>
                        </m:r>
                        <m:r>
                          <a:rPr lang="en-US" altLang="zh-CN" i="1" dirty="0">
                            <a:solidFill>
                              <a:srgbClr val="C00000"/>
                            </a:solidFill>
                            <a:latin typeface="Cambria Math" panose="02040503050406030204" pitchFamily="18" charset="0"/>
                          </a:rPr>
                          <m:t>𝑋</m:t>
                        </m:r>
                      </m:e>
                      <m:sub>
                        <m:r>
                          <a:rPr lang="en-US" altLang="zh-CN" i="1" dirty="0">
                            <a:solidFill>
                              <a:srgbClr val="C00000"/>
                            </a:solidFill>
                            <a:latin typeface="Cambria Math" panose="02040503050406030204" pitchFamily="18" charset="0"/>
                          </a:rPr>
                          <m:t>3</m:t>
                        </m:r>
                      </m:sub>
                    </m:sSub>
                    <m:r>
                      <a:rPr lang="en-US" altLang="zh-CN" i="1" dirty="0">
                        <a:solidFill>
                          <a:srgbClr val="C00000"/>
                        </a:solidFill>
                        <a:latin typeface="Cambria Math" panose="02040503050406030204" pitchFamily="18" charset="0"/>
                      </a:rPr>
                      <m:t>+</m:t>
                    </m:r>
                    <m:r>
                      <a:rPr lang="en-US" altLang="zh-CN" b="0" i="1" dirty="0" smtClean="0">
                        <a:solidFill>
                          <a:srgbClr val="C00000"/>
                        </a:solidFill>
                        <a:latin typeface="Cambria Math" panose="02040503050406030204" pitchFamily="18" charset="0"/>
                      </a:rPr>
                      <m:t>0.998</m:t>
                    </m:r>
                    <m:sSub>
                      <m:sSubPr>
                        <m:ctrlPr>
                          <a:rPr lang="en-US" altLang="zh-CN" i="1" dirty="0">
                            <a:solidFill>
                              <a:srgbClr val="C00000"/>
                            </a:solidFill>
                            <a:latin typeface="Cambria Math" panose="02040503050406030204" pitchFamily="18" charset="0"/>
                          </a:rPr>
                        </m:ctrlPr>
                      </m:sSubPr>
                      <m:e>
                        <m:r>
                          <a:rPr lang="en-US" altLang="zh-CN" i="1" dirty="0">
                            <a:solidFill>
                              <a:srgbClr val="C00000"/>
                            </a:solidFill>
                            <a:latin typeface="Cambria Math" panose="02040503050406030204" pitchFamily="18" charset="0"/>
                          </a:rPr>
                          <m:t>𝑋</m:t>
                        </m:r>
                      </m:e>
                      <m:sub>
                        <m:r>
                          <a:rPr lang="en-US" altLang="zh-CN" i="1" dirty="0">
                            <a:solidFill>
                              <a:srgbClr val="C00000"/>
                            </a:solidFill>
                            <a:latin typeface="Cambria Math" panose="02040503050406030204" pitchFamily="18" charset="0"/>
                          </a:rPr>
                          <m:t>5</m:t>
                        </m:r>
                      </m:sub>
                    </m:sSub>
                  </m:oMath>
                </a14:m>
                <a:r>
                  <a:rPr lang="en-US" altLang="zh-CN" dirty="0">
                    <a:solidFill>
                      <a:srgbClr val="C00000"/>
                    </a:solidFill>
                  </a:rPr>
                  <a:t> </a:t>
                </a:r>
                <a14:m>
                  <m:oMath xmlns:m="http://schemas.openxmlformats.org/officeDocument/2006/math">
                    <m:r>
                      <a:rPr lang="en-US" altLang="zh-CN" i="1" dirty="0">
                        <a:solidFill>
                          <a:srgbClr val="C00000"/>
                        </a:solidFill>
                        <a:latin typeface="Cambria Math" panose="02040503050406030204" pitchFamily="18" charset="0"/>
                      </a:rPr>
                      <m:t>+</m:t>
                    </m:r>
                    <m:sSub>
                      <m:sSubPr>
                        <m:ctrlPr>
                          <a:rPr lang="en-US" altLang="zh-CN" b="1" i="1" dirty="0">
                            <a:solidFill>
                              <a:srgbClr val="C00000"/>
                            </a:solidFill>
                            <a:latin typeface="Cambria Math" panose="02040503050406030204" pitchFamily="18" charset="0"/>
                          </a:rPr>
                        </m:ctrlPr>
                      </m:sSubPr>
                      <m:e>
                        <m:r>
                          <a:rPr lang="en-US" altLang="zh-CN" b="0" i="1" dirty="0">
                            <a:solidFill>
                              <a:srgbClr val="C00000"/>
                            </a:solidFill>
                            <a:latin typeface="Cambria Math" panose="02040503050406030204" pitchFamily="18" charset="0"/>
                          </a:rPr>
                          <m:t>0</m:t>
                        </m:r>
                        <m:r>
                          <a:rPr lang="en-US" altLang="zh-CN" b="1" i="1" dirty="0">
                            <a:solidFill>
                              <a:srgbClr val="C00000"/>
                            </a:solidFill>
                            <a:latin typeface="Cambria Math" panose="02040503050406030204" pitchFamily="18" charset="0"/>
                          </a:rPr>
                          <m:t>.</m:t>
                        </m:r>
                        <m:r>
                          <a:rPr lang="en-US" altLang="zh-CN" b="0" i="1" dirty="0">
                            <a:solidFill>
                              <a:srgbClr val="C00000"/>
                            </a:solidFill>
                            <a:latin typeface="Cambria Math" panose="02040503050406030204" pitchFamily="18" charset="0"/>
                          </a:rPr>
                          <m:t>42</m:t>
                        </m:r>
                        <m:r>
                          <a:rPr lang="en-US" altLang="zh-CN" b="1" i="1" dirty="0">
                            <a:solidFill>
                              <a:srgbClr val="C00000"/>
                            </a:solidFill>
                            <a:latin typeface="Cambria Math" panose="02040503050406030204" pitchFamily="18" charset="0"/>
                          </a:rPr>
                          <m:t>𝑿</m:t>
                        </m:r>
                      </m:e>
                      <m:sub>
                        <m:r>
                          <a:rPr lang="en-US" altLang="zh-CN" b="1" i="1" dirty="0">
                            <a:solidFill>
                              <a:srgbClr val="C00000"/>
                            </a:solidFill>
                            <a:latin typeface="Cambria Math" panose="02040503050406030204" pitchFamily="18" charset="0"/>
                          </a:rPr>
                          <m:t>𝟔</m:t>
                        </m:r>
                      </m:sub>
                    </m:sSub>
                  </m:oMath>
                </a14:m>
                <a:endParaRPr lang="en-US" altLang="zh-CN" dirty="0"/>
              </a:p>
              <a:p>
                <a:pPr lvl="1"/>
                <a:r>
                  <a:rPr lang="zh-CN" altLang="en-US" dirty="0"/>
                  <a:t>其中，</a:t>
                </a:r>
                <a:r>
                  <a:rPr lang="en-US" altLang="zh-CN" dirty="0"/>
                  <a:t>X6</a:t>
                </a:r>
                <a:r>
                  <a:rPr lang="zh-CN" altLang="en-US" dirty="0"/>
                  <a:t>是权益账面价值</a:t>
                </a:r>
                <a:r>
                  <a:rPr lang="en-US" altLang="zh-CN" dirty="0"/>
                  <a:t>/</a:t>
                </a:r>
                <a:r>
                  <a:rPr lang="zh-CN" altLang="en-US" dirty="0"/>
                  <a:t>总负债账面价值</a:t>
                </a:r>
                <a:endParaRPr lang="en-US" altLang="zh-CN" dirty="0"/>
              </a:p>
              <a:p>
                <a:endParaRPr lang="en-US" altLang="zh-CN" dirty="0"/>
              </a:p>
              <a:p>
                <a:r>
                  <a:rPr lang="zh-CN" altLang="en-US" dirty="0"/>
                  <a:t>对于</a:t>
                </a:r>
                <a:r>
                  <a:rPr lang="zh-CN" altLang="en-US" b="1" dirty="0"/>
                  <a:t>制造业、服务业和新兴市场行业</a:t>
                </a:r>
                <a:endParaRPr lang="en-US" altLang="zh-CN" b="1" dirty="0"/>
              </a:p>
              <a:p>
                <a:pPr marL="914396" lvl="2" indent="0" algn="ctr">
                  <a:buNone/>
                </a:pPr>
                <a14:m>
                  <m:oMath xmlns:m="http://schemas.openxmlformats.org/officeDocument/2006/math">
                    <m:r>
                      <m:rPr>
                        <m:sty m:val="p"/>
                      </m:rPr>
                      <a:rPr lang="en-US" altLang="zh-CN" i="1" dirty="0">
                        <a:solidFill>
                          <a:srgbClr val="C00000"/>
                        </a:solidFill>
                        <a:latin typeface="Cambria Math" panose="02040503050406030204" pitchFamily="18" charset="0"/>
                      </a:rPr>
                      <m:t>Z</m:t>
                    </m:r>
                    <m:r>
                      <a:rPr lang="en-US" altLang="zh-CN" i="1" dirty="0">
                        <a:solidFill>
                          <a:srgbClr val="C00000"/>
                        </a:solidFill>
                        <a:latin typeface="Cambria Math" panose="02040503050406030204" pitchFamily="18" charset="0"/>
                      </a:rPr>
                      <m:t>=3.26</m:t>
                    </m:r>
                    <m:sSub>
                      <m:sSubPr>
                        <m:ctrlPr>
                          <a:rPr lang="en-US" altLang="zh-CN" i="1" dirty="0">
                            <a:solidFill>
                              <a:srgbClr val="C00000"/>
                            </a:solidFill>
                            <a:latin typeface="Cambria Math" panose="02040503050406030204" pitchFamily="18" charset="0"/>
                          </a:rPr>
                        </m:ctrlPr>
                      </m:sSubPr>
                      <m:e>
                        <m:r>
                          <a:rPr lang="en-US" altLang="zh-CN" i="1" dirty="0">
                            <a:solidFill>
                              <a:srgbClr val="C00000"/>
                            </a:solidFill>
                            <a:latin typeface="Cambria Math" panose="02040503050406030204" pitchFamily="18" charset="0"/>
                          </a:rPr>
                          <m:t>𝑋</m:t>
                        </m:r>
                      </m:e>
                      <m:sub>
                        <m:r>
                          <a:rPr lang="en-US" altLang="zh-CN" b="0" i="1" dirty="0" smtClean="0">
                            <a:solidFill>
                              <a:srgbClr val="C00000"/>
                            </a:solidFill>
                            <a:latin typeface="Cambria Math" panose="02040503050406030204" pitchFamily="18" charset="0"/>
                          </a:rPr>
                          <m:t>2</m:t>
                        </m:r>
                      </m:sub>
                    </m:sSub>
                    <m:r>
                      <a:rPr lang="en-US" altLang="zh-CN" i="1" dirty="0">
                        <a:solidFill>
                          <a:srgbClr val="C00000"/>
                        </a:solidFill>
                        <a:latin typeface="Cambria Math" panose="02040503050406030204" pitchFamily="18" charset="0"/>
                      </a:rPr>
                      <m:t>+</m:t>
                    </m:r>
                    <m:sSub>
                      <m:sSubPr>
                        <m:ctrlPr>
                          <a:rPr lang="en-US" altLang="zh-CN" i="1" dirty="0">
                            <a:solidFill>
                              <a:srgbClr val="C00000"/>
                            </a:solidFill>
                            <a:latin typeface="Cambria Math" panose="02040503050406030204" pitchFamily="18" charset="0"/>
                          </a:rPr>
                        </m:ctrlPr>
                      </m:sSubPr>
                      <m:e>
                        <m:r>
                          <a:rPr lang="en-US" altLang="zh-CN" b="0" i="1" dirty="0" smtClean="0">
                            <a:solidFill>
                              <a:srgbClr val="C00000"/>
                            </a:solidFill>
                            <a:latin typeface="Cambria Math" panose="02040503050406030204" pitchFamily="18" charset="0"/>
                          </a:rPr>
                          <m:t>6.72</m:t>
                        </m:r>
                        <m:r>
                          <a:rPr lang="en-US" altLang="zh-CN" i="1" dirty="0">
                            <a:solidFill>
                              <a:srgbClr val="C00000"/>
                            </a:solidFill>
                            <a:latin typeface="Cambria Math" panose="02040503050406030204" pitchFamily="18" charset="0"/>
                          </a:rPr>
                          <m:t>𝑋</m:t>
                        </m:r>
                      </m:e>
                      <m:sub>
                        <m:r>
                          <a:rPr lang="en-US" altLang="zh-CN" i="1" dirty="0">
                            <a:solidFill>
                              <a:srgbClr val="C00000"/>
                            </a:solidFill>
                            <a:latin typeface="Cambria Math" panose="02040503050406030204" pitchFamily="18" charset="0"/>
                          </a:rPr>
                          <m:t>3</m:t>
                        </m:r>
                      </m:sub>
                    </m:sSub>
                    <m:r>
                      <a:rPr lang="en-US" altLang="zh-CN" i="1" dirty="0">
                        <a:solidFill>
                          <a:srgbClr val="C00000"/>
                        </a:solidFill>
                        <a:latin typeface="Cambria Math" panose="02040503050406030204" pitchFamily="18" charset="0"/>
                      </a:rPr>
                      <m:t>+0.998</m:t>
                    </m:r>
                    <m:sSub>
                      <m:sSubPr>
                        <m:ctrlPr>
                          <a:rPr lang="en-US" altLang="zh-CN" i="1" dirty="0">
                            <a:solidFill>
                              <a:srgbClr val="C00000"/>
                            </a:solidFill>
                            <a:latin typeface="Cambria Math" panose="02040503050406030204" pitchFamily="18" charset="0"/>
                          </a:rPr>
                        </m:ctrlPr>
                      </m:sSubPr>
                      <m:e>
                        <m:r>
                          <a:rPr lang="en-US" altLang="zh-CN" i="1" dirty="0">
                            <a:solidFill>
                              <a:srgbClr val="C00000"/>
                            </a:solidFill>
                            <a:latin typeface="Cambria Math" panose="02040503050406030204" pitchFamily="18" charset="0"/>
                          </a:rPr>
                          <m:t>𝑋</m:t>
                        </m:r>
                      </m:e>
                      <m:sub>
                        <m:r>
                          <a:rPr lang="en-US" altLang="zh-CN" b="0" i="1" dirty="0" smtClean="0">
                            <a:solidFill>
                              <a:srgbClr val="C00000"/>
                            </a:solidFill>
                            <a:latin typeface="Cambria Math" panose="02040503050406030204" pitchFamily="18" charset="0"/>
                          </a:rPr>
                          <m:t>4</m:t>
                        </m:r>
                      </m:sub>
                    </m:sSub>
                    <m:r>
                      <a:rPr lang="en-US" altLang="zh-CN" i="1" dirty="0">
                        <a:solidFill>
                          <a:srgbClr val="C00000"/>
                        </a:solidFill>
                        <a:latin typeface="Cambria Math" panose="02040503050406030204" pitchFamily="18" charset="0"/>
                      </a:rPr>
                      <m:t>+</m:t>
                    </m:r>
                  </m:oMath>
                </a14:m>
                <a:r>
                  <a:rPr lang="en-US" altLang="zh-CN" dirty="0">
                    <a:solidFill>
                      <a:srgbClr val="C00000"/>
                    </a:solidFill>
                  </a:rPr>
                  <a:t> </a:t>
                </a:r>
                <a14:m>
                  <m:oMath xmlns:m="http://schemas.openxmlformats.org/officeDocument/2006/math">
                    <m:r>
                      <a:rPr lang="en-US" altLang="zh-CN" b="0" i="1" dirty="0">
                        <a:solidFill>
                          <a:srgbClr val="C00000"/>
                        </a:solidFill>
                        <a:latin typeface="Cambria Math" panose="02040503050406030204" pitchFamily="18" charset="0"/>
                      </a:rPr>
                      <m:t>6.56</m:t>
                    </m:r>
                    <m:sSub>
                      <m:sSubPr>
                        <m:ctrlPr>
                          <a:rPr lang="en-US" altLang="zh-CN" b="1" i="1" dirty="0">
                            <a:solidFill>
                              <a:srgbClr val="C00000"/>
                            </a:solidFill>
                            <a:latin typeface="Cambria Math" panose="02040503050406030204" pitchFamily="18" charset="0"/>
                          </a:rPr>
                        </m:ctrlPr>
                      </m:sSubPr>
                      <m:e>
                        <m:r>
                          <a:rPr lang="en-US" altLang="zh-CN" b="1" i="1" dirty="0">
                            <a:solidFill>
                              <a:srgbClr val="C00000"/>
                            </a:solidFill>
                            <a:latin typeface="Cambria Math" panose="02040503050406030204" pitchFamily="18" charset="0"/>
                          </a:rPr>
                          <m:t>𝑿</m:t>
                        </m:r>
                      </m:e>
                      <m:sub>
                        <m:r>
                          <a:rPr lang="en-US" altLang="zh-CN" b="1" i="1" dirty="0">
                            <a:solidFill>
                              <a:srgbClr val="C00000"/>
                            </a:solidFill>
                            <a:latin typeface="Cambria Math" panose="02040503050406030204" pitchFamily="18" charset="0"/>
                          </a:rPr>
                          <m:t>𝟕</m:t>
                        </m:r>
                      </m:sub>
                    </m:sSub>
                  </m:oMath>
                </a14:m>
                <a:endParaRPr lang="en-US" altLang="zh-CN" b="1" dirty="0"/>
              </a:p>
              <a:p>
                <a:pPr lvl="1"/>
                <a:r>
                  <a:rPr lang="zh-CN" altLang="en-US" dirty="0"/>
                  <a:t>其中，</a:t>
                </a:r>
                <a:r>
                  <a:rPr lang="en-US" altLang="zh-CN" dirty="0"/>
                  <a:t>X7</a:t>
                </a:r>
                <a:r>
                  <a:rPr lang="zh-CN" altLang="en-US" dirty="0"/>
                  <a:t>是（流动资产</a:t>
                </a:r>
                <a:r>
                  <a:rPr lang="en-US" altLang="zh-CN" dirty="0"/>
                  <a:t>-</a:t>
                </a:r>
                <a:r>
                  <a:rPr lang="zh-CN" altLang="en-US" dirty="0"/>
                  <a:t>流动负债）</a:t>
                </a:r>
                <a:r>
                  <a:rPr lang="en-US" altLang="zh-CN" dirty="0"/>
                  <a:t>/</a:t>
                </a:r>
                <a:r>
                  <a:rPr lang="zh-CN" altLang="en-US" dirty="0"/>
                  <a:t>总资产</a:t>
                </a:r>
                <a:endParaRPr lang="en-US" altLang="zh-CN" dirty="0"/>
              </a:p>
              <a:p>
                <a:pPr marL="914396" lvl="2" indent="0" algn="ctr">
                  <a:buNone/>
                </a:pPr>
                <a:endParaRPr lang="zh-CN" altLang="en-US" b="1" dirty="0"/>
              </a:p>
            </p:txBody>
          </p:sp>
        </mc:Choice>
        <mc:Fallback xmlns="">
          <p:sp>
            <p:nvSpPr>
              <p:cNvPr id="3" name="内容占位符 2">
                <a:extLst>
                  <a:ext uri="{FF2B5EF4-FFF2-40B4-BE49-F238E27FC236}">
                    <a16:creationId xmlns:a16="http://schemas.microsoft.com/office/drawing/2014/main" id="{A98BCBA2-0C19-488F-981A-C7C3D99E1EB3}"/>
                  </a:ext>
                </a:extLst>
              </p:cNvPr>
              <p:cNvSpPr>
                <a:spLocks noGrp="1" noRot="1" noChangeAspect="1" noMove="1" noResize="1" noEditPoints="1" noAdjustHandles="1" noChangeArrowheads="1" noChangeShapeType="1" noTextEdit="1"/>
              </p:cNvSpPr>
              <p:nvPr>
                <p:ph idx="1"/>
              </p:nvPr>
            </p:nvSpPr>
            <p:spPr>
              <a:blipFill>
                <a:blip r:embed="rId2"/>
                <a:stretch>
                  <a:fillRect l="-508" r="-5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1239631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标题 113">
            <a:extLst>
              <a:ext uri="{FF2B5EF4-FFF2-40B4-BE49-F238E27FC236}">
                <a16:creationId xmlns:a16="http://schemas.microsoft.com/office/drawing/2014/main" id="{EAE825AB-04E0-41E9-838C-5A2C2C73CB89}"/>
              </a:ext>
            </a:extLst>
          </p:cNvPr>
          <p:cNvSpPr>
            <a:spLocks noGrp="1"/>
          </p:cNvSpPr>
          <p:nvPr>
            <p:ph type="title"/>
          </p:nvPr>
        </p:nvSpPr>
        <p:spPr/>
        <p:txBody>
          <a:bodyPr/>
          <a:lstStyle/>
          <a:p>
            <a:r>
              <a:rPr lang="en-US" altLang="zh-CN" dirty="0"/>
              <a:t> </a:t>
            </a:r>
            <a:r>
              <a:rPr lang="en-US" altLang="zh-CN" dirty="0">
                <a:latin typeface="+mn-ea"/>
                <a:ea typeface="+mn-ea"/>
              </a:rPr>
              <a:t>Z-score</a:t>
            </a:r>
            <a:r>
              <a:rPr lang="zh-CN" altLang="en-US" dirty="0">
                <a:latin typeface="+mn-ea"/>
                <a:ea typeface="+mn-ea"/>
              </a:rPr>
              <a:t>方法</a:t>
            </a:r>
          </a:p>
        </p:txBody>
      </p:sp>
      <p:sp>
        <p:nvSpPr>
          <p:cNvPr id="115" name="内容占位符 114">
            <a:extLst>
              <a:ext uri="{FF2B5EF4-FFF2-40B4-BE49-F238E27FC236}">
                <a16:creationId xmlns:a16="http://schemas.microsoft.com/office/drawing/2014/main" id="{2F6072D8-81B2-457E-A4D5-C27E021EFD5B}"/>
              </a:ext>
            </a:extLst>
          </p:cNvPr>
          <p:cNvSpPr>
            <a:spLocks noGrp="1"/>
          </p:cNvSpPr>
          <p:nvPr>
            <p:ph idx="1"/>
          </p:nvPr>
        </p:nvSpPr>
        <p:spPr>
          <a:xfrm>
            <a:off x="273599" y="1674088"/>
            <a:ext cx="8904950" cy="7701430"/>
          </a:xfrm>
        </p:spPr>
        <p:txBody>
          <a:bodyPr/>
          <a:lstStyle/>
          <a:p>
            <a:r>
              <a:rPr lang="zh-CN" altLang="en-US" dirty="0"/>
              <a:t>据国外市场的实证研究经验，信用主体经过财务指标分析后所得到的两个分值临界点，分为</a:t>
            </a:r>
            <a:r>
              <a:rPr lang="en-US" altLang="zh-CN" dirty="0"/>
              <a:t>3</a:t>
            </a:r>
            <a:r>
              <a:rPr lang="zh-CN" altLang="en-US" dirty="0"/>
              <a:t>个层次：</a:t>
            </a:r>
            <a:endParaRPr lang="en-US" altLang="zh-CN" dirty="0"/>
          </a:p>
          <a:p>
            <a:endParaRPr lang="en-US" altLang="zh-CN" dirty="0"/>
          </a:p>
          <a:p>
            <a:pPr lvl="1"/>
            <a:r>
              <a:rPr lang="zh-CN" altLang="en-US" b="1" dirty="0"/>
              <a:t>存在信用风险</a:t>
            </a:r>
            <a:r>
              <a:rPr lang="zh-CN" altLang="en-US" dirty="0"/>
              <a:t>，指信用主体的财务环境承受压力，并可能会发生信用恶化</a:t>
            </a:r>
            <a:endParaRPr lang="en-US" altLang="zh-CN" dirty="0"/>
          </a:p>
          <a:p>
            <a:pPr lvl="1"/>
            <a:endParaRPr lang="en-US" altLang="zh-CN" dirty="0"/>
          </a:p>
          <a:p>
            <a:pPr lvl="1"/>
            <a:r>
              <a:rPr lang="zh-CN" altLang="en-US" b="1" dirty="0"/>
              <a:t>弱信用资质</a:t>
            </a:r>
            <a:r>
              <a:rPr lang="zh-CN" altLang="en-US" dirty="0"/>
              <a:t>，指信用主体的财务环境尚可，但低于平均水平</a:t>
            </a:r>
            <a:endParaRPr lang="en-US" altLang="zh-CN" dirty="0"/>
          </a:p>
          <a:p>
            <a:pPr lvl="1"/>
            <a:endParaRPr lang="en-US" altLang="zh-CN" dirty="0"/>
          </a:p>
          <a:p>
            <a:pPr lvl="1"/>
            <a:r>
              <a:rPr lang="zh-CN" altLang="en-US" b="1" dirty="0"/>
              <a:t>强信用资质</a:t>
            </a:r>
            <a:r>
              <a:rPr lang="zh-CN" altLang="en-US" dirty="0"/>
              <a:t>，指信用主体的财务环境较好，高于行业平均水平</a:t>
            </a:r>
          </a:p>
        </p:txBody>
      </p:sp>
      <p:grpSp>
        <p:nvGrpSpPr>
          <p:cNvPr id="26" name="组合 25">
            <a:extLst>
              <a:ext uri="{FF2B5EF4-FFF2-40B4-BE49-F238E27FC236}">
                <a16:creationId xmlns:a16="http://schemas.microsoft.com/office/drawing/2014/main" id="{AA8EE91F-8A22-49C6-8DD6-0A04D4F095F1}"/>
              </a:ext>
            </a:extLst>
          </p:cNvPr>
          <p:cNvGrpSpPr/>
          <p:nvPr/>
        </p:nvGrpSpPr>
        <p:grpSpPr>
          <a:xfrm>
            <a:off x="9422137" y="2824222"/>
            <a:ext cx="7233831" cy="6053559"/>
            <a:chOff x="648910" y="2345942"/>
            <a:chExt cx="6038259" cy="6566564"/>
          </a:xfrm>
        </p:grpSpPr>
        <p:cxnSp>
          <p:nvCxnSpPr>
            <p:cNvPr id="27" name="直接连接符 26">
              <a:extLst>
                <a:ext uri="{FF2B5EF4-FFF2-40B4-BE49-F238E27FC236}">
                  <a16:creationId xmlns:a16="http://schemas.microsoft.com/office/drawing/2014/main" id="{58F5E0AB-13B9-40DB-8901-0996FEE948B7}"/>
                </a:ext>
              </a:extLst>
            </p:cNvPr>
            <p:cNvCxnSpPr>
              <a:cxnSpLocks/>
            </p:cNvCxnSpPr>
            <p:nvPr/>
          </p:nvCxnSpPr>
          <p:spPr>
            <a:xfrm>
              <a:off x="2963119" y="2345942"/>
              <a:ext cx="0" cy="6566564"/>
            </a:xfrm>
            <a:prstGeom prst="line">
              <a:avLst/>
            </a:prstGeom>
            <a:ln w="127000">
              <a:solidFill>
                <a:srgbClr val="CCECFF"/>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69B40AF6-9B9C-400C-8C87-C186A2DFA8BE}"/>
                </a:ext>
              </a:extLst>
            </p:cNvPr>
            <p:cNvCxnSpPr>
              <a:cxnSpLocks/>
            </p:cNvCxnSpPr>
            <p:nvPr/>
          </p:nvCxnSpPr>
          <p:spPr>
            <a:xfrm>
              <a:off x="5058137" y="2345942"/>
              <a:ext cx="0" cy="6566564"/>
            </a:xfrm>
            <a:prstGeom prst="line">
              <a:avLst/>
            </a:prstGeom>
            <a:ln w="127000">
              <a:solidFill>
                <a:srgbClr val="CCECFF"/>
              </a:solidFill>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E529EAB0-2183-4DE8-916B-E29E48240342}"/>
                </a:ext>
              </a:extLst>
            </p:cNvPr>
            <p:cNvSpPr/>
            <p:nvPr/>
          </p:nvSpPr>
          <p:spPr>
            <a:xfrm>
              <a:off x="752606" y="2345942"/>
              <a:ext cx="2028597" cy="10023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B0F0"/>
                  </a:solidFill>
                </a:rPr>
                <a:t>存在信用风险</a:t>
              </a:r>
            </a:p>
          </p:txBody>
        </p:sp>
        <p:sp>
          <p:nvSpPr>
            <p:cNvPr id="30" name="矩形 29">
              <a:extLst>
                <a:ext uri="{FF2B5EF4-FFF2-40B4-BE49-F238E27FC236}">
                  <a16:creationId xmlns:a16="http://schemas.microsoft.com/office/drawing/2014/main" id="{512350C5-4FAE-408C-90E3-3D9A4B486D99}"/>
                </a:ext>
              </a:extLst>
            </p:cNvPr>
            <p:cNvSpPr/>
            <p:nvPr/>
          </p:nvSpPr>
          <p:spPr>
            <a:xfrm>
              <a:off x="3166447" y="2347555"/>
              <a:ext cx="1713054" cy="10023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B0F0"/>
                  </a:solidFill>
                </a:rPr>
                <a:t>弱信用资质</a:t>
              </a:r>
            </a:p>
          </p:txBody>
        </p:sp>
        <p:sp>
          <p:nvSpPr>
            <p:cNvPr id="31" name="矩形 30">
              <a:extLst>
                <a:ext uri="{FF2B5EF4-FFF2-40B4-BE49-F238E27FC236}">
                  <a16:creationId xmlns:a16="http://schemas.microsoft.com/office/drawing/2014/main" id="{C99D1406-FA57-4A5D-B66F-C0601D24F375}"/>
                </a:ext>
              </a:extLst>
            </p:cNvPr>
            <p:cNvSpPr/>
            <p:nvPr/>
          </p:nvSpPr>
          <p:spPr>
            <a:xfrm>
              <a:off x="5261465" y="2345942"/>
              <a:ext cx="1425704" cy="10023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B0F0"/>
                  </a:solidFill>
                </a:rPr>
                <a:t>强信用资质</a:t>
              </a:r>
            </a:p>
          </p:txBody>
        </p:sp>
        <p:grpSp>
          <p:nvGrpSpPr>
            <p:cNvPr id="32" name="组合 31">
              <a:extLst>
                <a:ext uri="{FF2B5EF4-FFF2-40B4-BE49-F238E27FC236}">
                  <a16:creationId xmlns:a16="http://schemas.microsoft.com/office/drawing/2014/main" id="{1F5DF722-EEE2-4882-B277-6C5D45ABEA48}"/>
                </a:ext>
              </a:extLst>
            </p:cNvPr>
            <p:cNvGrpSpPr/>
            <p:nvPr/>
          </p:nvGrpSpPr>
          <p:grpSpPr>
            <a:xfrm>
              <a:off x="1342664" y="4044541"/>
              <a:ext cx="4976794" cy="1223717"/>
              <a:chOff x="1041723" y="7769388"/>
              <a:chExt cx="4456252" cy="1719132"/>
            </a:xfrm>
          </p:grpSpPr>
          <p:cxnSp>
            <p:nvCxnSpPr>
              <p:cNvPr id="44" name="直接连接符 43">
                <a:extLst>
                  <a:ext uri="{FF2B5EF4-FFF2-40B4-BE49-F238E27FC236}">
                    <a16:creationId xmlns:a16="http://schemas.microsoft.com/office/drawing/2014/main" id="{BEE64E39-9FA2-4046-909A-0B35A204D811}"/>
                  </a:ext>
                </a:extLst>
              </p:cNvPr>
              <p:cNvCxnSpPr>
                <a:cxnSpLocks/>
              </p:cNvCxnSpPr>
              <p:nvPr/>
            </p:nvCxnSpPr>
            <p:spPr>
              <a:xfrm flipH="1">
                <a:off x="1041723" y="8048609"/>
                <a:ext cx="4456252" cy="1274451"/>
              </a:xfrm>
              <a:prstGeom prst="line">
                <a:avLst/>
              </a:prstGeom>
              <a:ln w="76200" cap="rnd">
                <a:solidFill>
                  <a:srgbClr val="00B0F0"/>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îŝḻíḑè">
                <a:extLst>
                  <a:ext uri="{FF2B5EF4-FFF2-40B4-BE49-F238E27FC236}">
                    <a16:creationId xmlns:a16="http://schemas.microsoft.com/office/drawing/2014/main" id="{8D68CF10-1E42-4E36-BF94-94FE67772E79}"/>
                  </a:ext>
                </a:extLst>
              </p:cNvPr>
              <p:cNvSpPr/>
              <p:nvPr/>
            </p:nvSpPr>
            <p:spPr>
              <a:xfrm>
                <a:off x="1908081" y="8342432"/>
                <a:ext cx="1146088" cy="114608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solidFill>
              <a:ln w="63500" cap="flat">
                <a:solidFill>
                  <a:srgbClr val="00B0F0"/>
                </a:solidFill>
                <a:miter lim="400000"/>
              </a:ln>
              <a:effectLst/>
            </p:spPr>
            <p:txBody>
              <a:bodyPr anchor="ctr"/>
              <a:lstStyle/>
              <a:p>
                <a:pPr algn="ctr"/>
                <a:r>
                  <a:rPr lang="en-US" altLang="zh-CN" sz="2800" dirty="0"/>
                  <a:t>1.80</a:t>
                </a:r>
                <a:endParaRPr sz="2800" dirty="0"/>
              </a:p>
            </p:txBody>
          </p:sp>
          <p:sp>
            <p:nvSpPr>
              <p:cNvPr id="46" name="îṡļîďè">
                <a:extLst>
                  <a:ext uri="{FF2B5EF4-FFF2-40B4-BE49-F238E27FC236}">
                    <a16:creationId xmlns:a16="http://schemas.microsoft.com/office/drawing/2014/main" id="{257F0FAE-E369-4483-9A3F-38D22E314DD0}"/>
                  </a:ext>
                </a:extLst>
              </p:cNvPr>
              <p:cNvSpPr/>
              <p:nvPr/>
            </p:nvSpPr>
            <p:spPr>
              <a:xfrm>
                <a:off x="3836911" y="7769388"/>
                <a:ext cx="1146088" cy="114608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solidFill>
              <a:ln w="63500" cap="flat">
                <a:solidFill>
                  <a:srgbClr val="00B0F0"/>
                </a:solidFill>
                <a:miter lim="400000"/>
              </a:ln>
              <a:effectLst/>
            </p:spPr>
            <p:txBody>
              <a:bodyPr anchor="ctr"/>
              <a:lstStyle/>
              <a:p>
                <a:pPr algn="ctr"/>
                <a:r>
                  <a:rPr lang="en-US" altLang="zh-CN" sz="2800" dirty="0"/>
                  <a:t>2.99</a:t>
                </a:r>
                <a:endParaRPr sz="2800" dirty="0"/>
              </a:p>
            </p:txBody>
          </p:sp>
        </p:grpSp>
        <p:grpSp>
          <p:nvGrpSpPr>
            <p:cNvPr id="33" name="组合 32">
              <a:extLst>
                <a:ext uri="{FF2B5EF4-FFF2-40B4-BE49-F238E27FC236}">
                  <a16:creationId xmlns:a16="http://schemas.microsoft.com/office/drawing/2014/main" id="{EF9A18F2-7802-4683-B7CA-769F9E45E9E6}"/>
                </a:ext>
              </a:extLst>
            </p:cNvPr>
            <p:cNvGrpSpPr/>
            <p:nvPr/>
          </p:nvGrpSpPr>
          <p:grpSpPr>
            <a:xfrm>
              <a:off x="1342664" y="5534833"/>
              <a:ext cx="4976794" cy="1265630"/>
              <a:chOff x="1041723" y="7769388"/>
              <a:chExt cx="4456252" cy="1719132"/>
            </a:xfrm>
          </p:grpSpPr>
          <p:cxnSp>
            <p:nvCxnSpPr>
              <p:cNvPr id="41" name="直接连接符 40">
                <a:extLst>
                  <a:ext uri="{FF2B5EF4-FFF2-40B4-BE49-F238E27FC236}">
                    <a16:creationId xmlns:a16="http://schemas.microsoft.com/office/drawing/2014/main" id="{CF99B490-D984-4D75-B344-4976DF40E4EB}"/>
                  </a:ext>
                </a:extLst>
              </p:cNvPr>
              <p:cNvCxnSpPr>
                <a:cxnSpLocks/>
              </p:cNvCxnSpPr>
              <p:nvPr/>
            </p:nvCxnSpPr>
            <p:spPr>
              <a:xfrm flipH="1">
                <a:off x="1041723" y="8048609"/>
                <a:ext cx="4456252" cy="1274451"/>
              </a:xfrm>
              <a:prstGeom prst="line">
                <a:avLst/>
              </a:prstGeom>
              <a:ln w="76200" cap="rnd">
                <a:solidFill>
                  <a:schemeClr val="tx1">
                    <a:lumMod val="65000"/>
                    <a:lumOff val="3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2" name="îŝḻíḑè">
                <a:extLst>
                  <a:ext uri="{FF2B5EF4-FFF2-40B4-BE49-F238E27FC236}">
                    <a16:creationId xmlns:a16="http://schemas.microsoft.com/office/drawing/2014/main" id="{47E370E3-A8CE-45AB-8368-8F29CC74350C}"/>
                  </a:ext>
                </a:extLst>
              </p:cNvPr>
              <p:cNvSpPr/>
              <p:nvPr/>
            </p:nvSpPr>
            <p:spPr>
              <a:xfrm>
                <a:off x="1908081" y="8342432"/>
                <a:ext cx="1146088" cy="114608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solidFill>
              <a:ln w="63500" cap="flat">
                <a:solidFill>
                  <a:schemeClr val="tx1">
                    <a:lumMod val="65000"/>
                    <a:lumOff val="35000"/>
                  </a:schemeClr>
                </a:solidFill>
                <a:miter lim="400000"/>
              </a:ln>
              <a:effectLst/>
            </p:spPr>
            <p:txBody>
              <a:bodyPr anchor="ctr"/>
              <a:lstStyle/>
              <a:p>
                <a:pPr algn="ctr"/>
                <a:r>
                  <a:rPr lang="en-US" altLang="zh-CN" sz="2800" dirty="0">
                    <a:solidFill>
                      <a:schemeClr val="tx1">
                        <a:lumMod val="65000"/>
                        <a:lumOff val="35000"/>
                      </a:schemeClr>
                    </a:solidFill>
                  </a:rPr>
                  <a:t>1.23</a:t>
                </a:r>
                <a:endParaRPr sz="2800" dirty="0">
                  <a:solidFill>
                    <a:schemeClr val="tx1">
                      <a:lumMod val="65000"/>
                      <a:lumOff val="35000"/>
                    </a:schemeClr>
                  </a:solidFill>
                </a:endParaRPr>
              </a:p>
            </p:txBody>
          </p:sp>
          <p:sp>
            <p:nvSpPr>
              <p:cNvPr id="43" name="îṡļîďè">
                <a:extLst>
                  <a:ext uri="{FF2B5EF4-FFF2-40B4-BE49-F238E27FC236}">
                    <a16:creationId xmlns:a16="http://schemas.microsoft.com/office/drawing/2014/main" id="{1DF1A944-A2D0-4A77-A430-55E039CDA59B}"/>
                  </a:ext>
                </a:extLst>
              </p:cNvPr>
              <p:cNvSpPr/>
              <p:nvPr/>
            </p:nvSpPr>
            <p:spPr>
              <a:xfrm>
                <a:off x="3836911" y="7769388"/>
                <a:ext cx="1146088" cy="114608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solidFill>
              <a:ln w="63500" cap="flat">
                <a:solidFill>
                  <a:schemeClr val="tx1">
                    <a:lumMod val="65000"/>
                    <a:lumOff val="35000"/>
                  </a:schemeClr>
                </a:solidFill>
                <a:miter lim="400000"/>
              </a:ln>
              <a:effectLst/>
            </p:spPr>
            <p:txBody>
              <a:bodyPr anchor="ctr"/>
              <a:lstStyle/>
              <a:p>
                <a:pPr algn="ctr"/>
                <a:r>
                  <a:rPr lang="en-US" altLang="zh-CN" sz="2800" dirty="0">
                    <a:solidFill>
                      <a:schemeClr val="tx1">
                        <a:lumMod val="65000"/>
                        <a:lumOff val="35000"/>
                      </a:schemeClr>
                    </a:solidFill>
                  </a:rPr>
                  <a:t>2.90</a:t>
                </a:r>
                <a:endParaRPr sz="2800" dirty="0">
                  <a:solidFill>
                    <a:schemeClr val="tx1">
                      <a:lumMod val="65000"/>
                      <a:lumOff val="35000"/>
                    </a:schemeClr>
                  </a:solidFill>
                </a:endParaRPr>
              </a:p>
            </p:txBody>
          </p:sp>
        </p:grpSp>
        <p:grpSp>
          <p:nvGrpSpPr>
            <p:cNvPr id="34" name="组合 33">
              <a:extLst>
                <a:ext uri="{FF2B5EF4-FFF2-40B4-BE49-F238E27FC236}">
                  <a16:creationId xmlns:a16="http://schemas.microsoft.com/office/drawing/2014/main" id="{F3E826EA-1C4B-4B39-89BB-A98A904AD675}"/>
                </a:ext>
              </a:extLst>
            </p:cNvPr>
            <p:cNvGrpSpPr/>
            <p:nvPr/>
          </p:nvGrpSpPr>
          <p:grpSpPr>
            <a:xfrm>
              <a:off x="1342664" y="7186298"/>
              <a:ext cx="4976794" cy="1329638"/>
              <a:chOff x="1041723" y="7769388"/>
              <a:chExt cx="4456252" cy="1719132"/>
            </a:xfrm>
          </p:grpSpPr>
          <p:cxnSp>
            <p:nvCxnSpPr>
              <p:cNvPr id="38" name="直接连接符 37">
                <a:extLst>
                  <a:ext uri="{FF2B5EF4-FFF2-40B4-BE49-F238E27FC236}">
                    <a16:creationId xmlns:a16="http://schemas.microsoft.com/office/drawing/2014/main" id="{9BC5ACE7-E4AE-4C1E-A493-FFCF8B6CAE34}"/>
                  </a:ext>
                </a:extLst>
              </p:cNvPr>
              <p:cNvCxnSpPr>
                <a:cxnSpLocks/>
              </p:cNvCxnSpPr>
              <p:nvPr/>
            </p:nvCxnSpPr>
            <p:spPr>
              <a:xfrm flipH="1">
                <a:off x="1041723" y="8048609"/>
                <a:ext cx="4456252" cy="1274451"/>
              </a:xfrm>
              <a:prstGeom prst="line">
                <a:avLst/>
              </a:prstGeom>
              <a:ln w="76200" cap="rnd">
                <a:solidFill>
                  <a:srgbClr val="C00000"/>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39" name="îŝḻíḑè">
                <a:extLst>
                  <a:ext uri="{FF2B5EF4-FFF2-40B4-BE49-F238E27FC236}">
                    <a16:creationId xmlns:a16="http://schemas.microsoft.com/office/drawing/2014/main" id="{C7C8F9FD-0D37-40FF-AAA8-D2C5D44CB2D9}"/>
                  </a:ext>
                </a:extLst>
              </p:cNvPr>
              <p:cNvSpPr/>
              <p:nvPr/>
            </p:nvSpPr>
            <p:spPr>
              <a:xfrm>
                <a:off x="1908081" y="8342432"/>
                <a:ext cx="1146088" cy="114608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solidFill>
              <a:ln w="63500" cap="flat">
                <a:solidFill>
                  <a:srgbClr val="C00000"/>
                </a:solidFill>
                <a:miter lim="400000"/>
              </a:ln>
              <a:effectLst/>
            </p:spPr>
            <p:txBody>
              <a:bodyPr anchor="ctr"/>
              <a:lstStyle/>
              <a:p>
                <a:pPr algn="ctr"/>
                <a:r>
                  <a:rPr lang="en-US" altLang="zh-CN" sz="2800" dirty="0"/>
                  <a:t>1.10</a:t>
                </a:r>
                <a:endParaRPr sz="2800" dirty="0"/>
              </a:p>
            </p:txBody>
          </p:sp>
          <p:sp>
            <p:nvSpPr>
              <p:cNvPr id="40" name="îṡļîďè">
                <a:extLst>
                  <a:ext uri="{FF2B5EF4-FFF2-40B4-BE49-F238E27FC236}">
                    <a16:creationId xmlns:a16="http://schemas.microsoft.com/office/drawing/2014/main" id="{C4D6073A-AC8D-4C4E-B8E5-3E0B291F4AC3}"/>
                  </a:ext>
                </a:extLst>
              </p:cNvPr>
              <p:cNvSpPr/>
              <p:nvPr/>
            </p:nvSpPr>
            <p:spPr>
              <a:xfrm>
                <a:off x="3836911" y="7769388"/>
                <a:ext cx="1146088" cy="114608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solidFill>
              <a:ln w="63500" cap="flat">
                <a:solidFill>
                  <a:srgbClr val="C00000"/>
                </a:solidFill>
                <a:miter lim="400000"/>
              </a:ln>
              <a:effectLst/>
            </p:spPr>
            <p:txBody>
              <a:bodyPr anchor="ctr"/>
              <a:lstStyle/>
              <a:p>
                <a:pPr algn="ctr"/>
                <a:r>
                  <a:rPr lang="en-US" altLang="zh-CN" sz="2800" dirty="0"/>
                  <a:t>2.60</a:t>
                </a:r>
                <a:endParaRPr sz="2800" dirty="0"/>
              </a:p>
            </p:txBody>
          </p:sp>
        </p:grpSp>
        <p:sp>
          <p:nvSpPr>
            <p:cNvPr id="35" name="矩形 34">
              <a:extLst>
                <a:ext uri="{FF2B5EF4-FFF2-40B4-BE49-F238E27FC236}">
                  <a16:creationId xmlns:a16="http://schemas.microsoft.com/office/drawing/2014/main" id="{30EB0F74-8A08-41EB-B887-8EB8AE515DAF}"/>
                </a:ext>
              </a:extLst>
            </p:cNvPr>
            <p:cNvSpPr/>
            <p:nvPr/>
          </p:nvSpPr>
          <p:spPr>
            <a:xfrm>
              <a:off x="658278" y="4326515"/>
              <a:ext cx="1322520" cy="8457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B0F0"/>
                  </a:solidFill>
                </a:rPr>
                <a:t>上市公司</a:t>
              </a:r>
            </a:p>
          </p:txBody>
        </p:sp>
        <p:sp>
          <p:nvSpPr>
            <p:cNvPr id="36" name="矩形 35">
              <a:extLst>
                <a:ext uri="{FF2B5EF4-FFF2-40B4-BE49-F238E27FC236}">
                  <a16:creationId xmlns:a16="http://schemas.microsoft.com/office/drawing/2014/main" id="{BCE93E06-D525-4DA2-BB52-69AAC22A1881}"/>
                </a:ext>
              </a:extLst>
            </p:cNvPr>
            <p:cNvSpPr/>
            <p:nvPr/>
          </p:nvSpPr>
          <p:spPr>
            <a:xfrm>
              <a:off x="658278" y="5916970"/>
              <a:ext cx="1349365" cy="8457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lumMod val="65000"/>
                      <a:lumOff val="35000"/>
                    </a:schemeClr>
                  </a:solidFill>
                </a:rPr>
                <a:t>非上市公司</a:t>
              </a:r>
            </a:p>
          </p:txBody>
        </p:sp>
        <p:sp>
          <p:nvSpPr>
            <p:cNvPr id="37" name="矩形 36">
              <a:extLst>
                <a:ext uri="{FF2B5EF4-FFF2-40B4-BE49-F238E27FC236}">
                  <a16:creationId xmlns:a16="http://schemas.microsoft.com/office/drawing/2014/main" id="{F8F983E0-D368-46D3-B2F1-7AD9C72E8510}"/>
                </a:ext>
              </a:extLst>
            </p:cNvPr>
            <p:cNvSpPr/>
            <p:nvPr/>
          </p:nvSpPr>
          <p:spPr>
            <a:xfrm>
              <a:off x="648910" y="7544035"/>
              <a:ext cx="1349365" cy="8457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C00000"/>
                  </a:solidFill>
                </a:rPr>
                <a:t>制造服务和新兴行业</a:t>
              </a:r>
            </a:p>
          </p:txBody>
        </p:sp>
      </p:grpSp>
    </p:spTree>
    <p:extLst>
      <p:ext uri="{BB962C8B-B14F-4D97-AF65-F5344CB8AC3E}">
        <p14:creationId xmlns:p14="http://schemas.microsoft.com/office/powerpoint/2010/main" val="326812022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特定事项调整</a:t>
            </a:r>
            <a:endParaRPr lang="zh-CN" altLang="en-US" sz="3600" dirty="0"/>
          </a:p>
        </p:txBody>
      </p:sp>
      <p:sp>
        <p:nvSpPr>
          <p:cNvPr id="7" name="内容占位符 6">
            <a:extLst>
              <a:ext uri="{FF2B5EF4-FFF2-40B4-BE49-F238E27FC236}">
                <a16:creationId xmlns:a16="http://schemas.microsoft.com/office/drawing/2014/main" id="{C91DF317-D6C2-4C28-A5C9-63A403F9550E}"/>
              </a:ext>
            </a:extLst>
          </p:cNvPr>
          <p:cNvSpPr>
            <a:spLocks noGrp="1"/>
          </p:cNvSpPr>
          <p:nvPr>
            <p:ph sz="half" idx="1"/>
          </p:nvPr>
        </p:nvSpPr>
        <p:spPr>
          <a:xfrm>
            <a:off x="949496" y="1594172"/>
            <a:ext cx="9397662" cy="7873919"/>
          </a:xfrm>
        </p:spPr>
        <p:txBody>
          <a:bodyPr>
            <a:normAutofit/>
          </a:bodyPr>
          <a:lstStyle/>
          <a:p>
            <a:pPr>
              <a:lnSpc>
                <a:spcPct val="120000"/>
              </a:lnSpc>
            </a:pPr>
            <a:r>
              <a:rPr lang="zh-CN" altLang="en-US" sz="1800" b="1" dirty="0"/>
              <a:t>活动异常</a:t>
            </a:r>
            <a:endParaRPr lang="en-US" altLang="zh-CN" sz="1800" b="1" dirty="0"/>
          </a:p>
          <a:p>
            <a:pPr lvl="1">
              <a:lnSpc>
                <a:spcPct val="120000"/>
              </a:lnSpc>
            </a:pPr>
            <a:r>
              <a:rPr lang="zh-CN" altLang="en-US" sz="1800" dirty="0"/>
              <a:t>企业名称、经营方针和范围发生重大变化</a:t>
            </a:r>
          </a:p>
          <a:p>
            <a:pPr lvl="1">
              <a:lnSpc>
                <a:spcPct val="120000"/>
              </a:lnSpc>
            </a:pPr>
            <a:r>
              <a:rPr lang="zh-CN" altLang="en-US" sz="1800" dirty="0"/>
              <a:t>企业生产经营的外部条件发重大变化</a:t>
            </a:r>
          </a:p>
          <a:p>
            <a:pPr lvl="1">
              <a:lnSpc>
                <a:spcPct val="120000"/>
              </a:lnSpc>
            </a:pPr>
            <a:r>
              <a:rPr lang="zh-CN" altLang="en-US" sz="1800" dirty="0"/>
              <a:t>企业涉及可能对其资产、负债权益和经营成果生重要影响的大合同</a:t>
            </a:r>
          </a:p>
          <a:p>
            <a:pPr lvl="1">
              <a:lnSpc>
                <a:spcPct val="120000"/>
              </a:lnSpc>
            </a:pPr>
            <a:r>
              <a:rPr lang="zh-CN" altLang="en-US" sz="1800" dirty="0"/>
              <a:t>企业发生可能影响其偿债力的资产抵押、质出售转让划或报废</a:t>
            </a:r>
          </a:p>
          <a:p>
            <a:pPr lvl="1">
              <a:lnSpc>
                <a:spcPct val="120000"/>
              </a:lnSpc>
            </a:pPr>
            <a:r>
              <a:rPr lang="zh-CN" altLang="en-US" sz="1800" dirty="0"/>
              <a:t>企业发生未能清偿到期重大债务的违约情况</a:t>
            </a:r>
          </a:p>
          <a:p>
            <a:pPr lvl="1">
              <a:lnSpc>
                <a:spcPct val="120000"/>
              </a:lnSpc>
            </a:pPr>
            <a:r>
              <a:rPr lang="zh-CN" altLang="en-US" sz="1800" dirty="0"/>
              <a:t>企业发生大额赔偿责任或因影响正常产经营且难以消除的</a:t>
            </a:r>
          </a:p>
          <a:p>
            <a:pPr lvl="1">
              <a:lnSpc>
                <a:spcPct val="120000"/>
              </a:lnSpc>
            </a:pPr>
            <a:r>
              <a:rPr lang="zh-CN" altLang="en-US" sz="1800" dirty="0"/>
              <a:t>企业发生超过净资产 </a:t>
            </a:r>
            <a:r>
              <a:rPr lang="en-US" altLang="zh-CN" sz="1800" dirty="0"/>
              <a:t>10% </a:t>
            </a:r>
            <a:r>
              <a:rPr lang="zh-CN" altLang="en-US" sz="1800" dirty="0"/>
              <a:t>以上的重大亏损或失</a:t>
            </a:r>
          </a:p>
          <a:p>
            <a:pPr lvl="1">
              <a:lnSpc>
                <a:spcPct val="120000"/>
              </a:lnSpc>
            </a:pPr>
            <a:r>
              <a:rPr lang="zh-CN" altLang="en-US" sz="1800" dirty="0"/>
              <a:t>企业一次免除他人债务超过定金额，可能影响其偿力的</a:t>
            </a:r>
          </a:p>
          <a:p>
            <a:pPr lvl="1">
              <a:lnSpc>
                <a:spcPct val="120000"/>
              </a:lnSpc>
            </a:pPr>
            <a:r>
              <a:rPr lang="zh-CN" altLang="en-US" sz="1800" dirty="0"/>
              <a:t>企业三分之一以上董事、三分之二以上监事、董事长或者总经理发生变动；董事长或者总经理无法履行职责</a:t>
            </a:r>
          </a:p>
          <a:p>
            <a:pPr lvl="1">
              <a:lnSpc>
                <a:spcPct val="120000"/>
              </a:lnSpc>
            </a:pPr>
            <a:r>
              <a:rPr lang="zh-CN" altLang="en-US" sz="1800" dirty="0"/>
              <a:t>企业做出减资、合并分立解散及申请破产的决定，或者依法进入程序被责令关闭</a:t>
            </a:r>
          </a:p>
          <a:p>
            <a:pPr lvl="1">
              <a:lnSpc>
                <a:spcPct val="120000"/>
              </a:lnSpc>
            </a:pPr>
            <a:r>
              <a:rPr lang="zh-CN" altLang="en-US" sz="1800" dirty="0"/>
              <a:t>企业涉及需要说明的市场传闻</a:t>
            </a:r>
          </a:p>
          <a:p>
            <a:pPr lvl="1">
              <a:lnSpc>
                <a:spcPct val="120000"/>
              </a:lnSpc>
            </a:pPr>
            <a:r>
              <a:rPr lang="zh-CN" altLang="en-US" sz="1800" dirty="0"/>
              <a:t>企业涉及重大诉讼、仲裁事项</a:t>
            </a:r>
          </a:p>
          <a:p>
            <a:pPr lvl="1">
              <a:lnSpc>
                <a:spcPct val="120000"/>
              </a:lnSpc>
            </a:pPr>
            <a:r>
              <a:rPr lang="zh-CN" altLang="en-US" sz="1800" dirty="0"/>
              <a:t>企业涉嫌违法规被有权机关调查，或者受到刑事处罚、重大行政处罚；企业董事、监事、高级管理人员涉嫌违法纪被有权机关调查或者采取强制措施</a:t>
            </a:r>
          </a:p>
          <a:p>
            <a:pPr lvl="1">
              <a:lnSpc>
                <a:spcPct val="120000"/>
              </a:lnSpc>
            </a:pPr>
            <a:r>
              <a:rPr lang="zh-CN" altLang="en-US" sz="1800" dirty="0"/>
              <a:t>企业发生可能影响其偿债力的资产被查封、扣押或冻结情况；主要者全部务陷入停顿，可能影响其偿债力的</a:t>
            </a:r>
          </a:p>
          <a:p>
            <a:pPr lvl="1">
              <a:lnSpc>
                <a:spcPct val="120000"/>
              </a:lnSpc>
            </a:pPr>
            <a:r>
              <a:rPr lang="zh-CN" altLang="en-US" sz="1800" dirty="0"/>
              <a:t>企业对外提供重大担保</a:t>
            </a:r>
            <a:endParaRPr lang="en-US" altLang="zh-CN" sz="1800" dirty="0"/>
          </a:p>
        </p:txBody>
      </p:sp>
      <p:sp>
        <p:nvSpPr>
          <p:cNvPr id="3" name="内容占位符 2">
            <a:extLst>
              <a:ext uri="{FF2B5EF4-FFF2-40B4-BE49-F238E27FC236}">
                <a16:creationId xmlns:a16="http://schemas.microsoft.com/office/drawing/2014/main" id="{3287BC7A-34DF-40DE-9C68-C0B3BC05909F}"/>
              </a:ext>
            </a:extLst>
          </p:cNvPr>
          <p:cNvSpPr>
            <a:spLocks noGrp="1"/>
          </p:cNvSpPr>
          <p:nvPr>
            <p:ph sz="half" idx="2"/>
          </p:nvPr>
        </p:nvSpPr>
        <p:spPr>
          <a:xfrm>
            <a:off x="10761044" y="1594172"/>
            <a:ext cx="5654897" cy="7873919"/>
          </a:xfrm>
        </p:spPr>
        <p:txBody>
          <a:bodyPr>
            <a:normAutofit/>
          </a:bodyPr>
          <a:lstStyle/>
          <a:p>
            <a:r>
              <a:rPr lang="zh-CN" altLang="en-US" sz="1800" b="1" dirty="0"/>
              <a:t>偿付异常</a:t>
            </a:r>
            <a:endParaRPr lang="en-US" altLang="zh-CN" sz="1800" b="1" dirty="0"/>
          </a:p>
          <a:p>
            <a:pPr lvl="1"/>
            <a:r>
              <a:rPr lang="zh-CN" altLang="en-US" sz="1800" dirty="0"/>
              <a:t>债务逾期</a:t>
            </a:r>
            <a:r>
              <a:rPr lang="en-US" altLang="zh-CN" sz="1800" dirty="0"/>
              <a:t>60</a:t>
            </a:r>
            <a:r>
              <a:rPr lang="zh-CN" altLang="en-US" sz="1800" dirty="0"/>
              <a:t>天以上</a:t>
            </a:r>
          </a:p>
          <a:p>
            <a:pPr lvl="1"/>
            <a:r>
              <a:rPr lang="zh-CN" altLang="en-US" sz="1800" dirty="0"/>
              <a:t>客户处于类似破产，申请破产，或已破产</a:t>
            </a:r>
            <a:endParaRPr lang="en-US" altLang="zh-CN" sz="1800" dirty="0"/>
          </a:p>
          <a:p>
            <a:pPr lvl="1"/>
            <a:r>
              <a:rPr lang="zh-CN" altLang="en-US" sz="1800" dirty="0"/>
              <a:t>处于类似保护状态，不履行或延期履行偿付债务</a:t>
            </a:r>
            <a:endParaRPr lang="en-US" altLang="zh-CN" sz="1800" dirty="0"/>
          </a:p>
          <a:p>
            <a:pPr lvl="1"/>
            <a:endParaRPr lang="zh-CN" altLang="en-US" sz="1800" dirty="0"/>
          </a:p>
          <a:p>
            <a:r>
              <a:rPr lang="zh-CN" altLang="en-US" sz="1800" b="1" dirty="0"/>
              <a:t>主动认定处置</a:t>
            </a:r>
            <a:endParaRPr lang="en-US" altLang="zh-CN" sz="1800" b="1" dirty="0"/>
          </a:p>
          <a:p>
            <a:pPr lvl="1"/>
            <a:r>
              <a:rPr lang="zh-CN" altLang="en-US" sz="1800" dirty="0"/>
              <a:t>对贷款停止计息、将应计利息转入表外核算</a:t>
            </a:r>
            <a:endParaRPr lang="en-US" altLang="zh-CN" sz="1800" dirty="0"/>
          </a:p>
          <a:p>
            <a:pPr lvl="1"/>
            <a:r>
              <a:rPr lang="zh-CN" altLang="en-US" sz="1800" dirty="0"/>
              <a:t>信贷债务分类为不良</a:t>
            </a:r>
            <a:endParaRPr lang="en-US" altLang="zh-CN" sz="1800" dirty="0"/>
          </a:p>
          <a:p>
            <a:pPr lvl="1"/>
            <a:r>
              <a:rPr lang="zh-CN" altLang="en-US" sz="1800" dirty="0"/>
              <a:t>出售贷款并承担了账面损失</a:t>
            </a:r>
            <a:endParaRPr lang="en-US" altLang="zh-CN" sz="1800" dirty="0"/>
          </a:p>
          <a:p>
            <a:pPr lvl="1"/>
            <a:r>
              <a:rPr lang="zh-CN" altLang="en-US" sz="1800" dirty="0"/>
              <a:t>核销贷款、同意进行消极重组、对借款合同条款做出非商业性调整</a:t>
            </a:r>
            <a:endParaRPr lang="en-US" altLang="zh-CN" sz="1800" dirty="0"/>
          </a:p>
          <a:p>
            <a:endParaRPr lang="en-US" altLang="zh-CN" sz="1800" dirty="0"/>
          </a:p>
          <a:p>
            <a:r>
              <a:rPr lang="zh-CN" altLang="en-US" sz="1800" dirty="0"/>
              <a:t>其他可能导致客户不能全额偿还债务的情况</a:t>
            </a:r>
            <a:endParaRPr lang="en-US" altLang="zh-CN" sz="1800" dirty="0"/>
          </a:p>
          <a:p>
            <a:endParaRPr lang="zh-CN" altLang="en-US" sz="1800" dirty="0"/>
          </a:p>
        </p:txBody>
      </p:sp>
    </p:spTree>
    <p:extLst>
      <p:ext uri="{BB962C8B-B14F-4D97-AF65-F5344CB8AC3E}">
        <p14:creationId xmlns:p14="http://schemas.microsoft.com/office/powerpoint/2010/main" val="290289964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prstClr val="black"/>
                </a:solidFill>
                <a:latin typeface="+mn-ea"/>
              </a:rPr>
              <a:t>主体评级映射</a:t>
            </a:r>
            <a:endParaRPr lang="zh-CN" altLang="en-US" dirty="0"/>
          </a:p>
        </p:txBody>
      </p:sp>
      <p:sp>
        <p:nvSpPr>
          <p:cNvPr id="12" name="文本占位符 11">
            <a:extLst>
              <a:ext uri="{FF2B5EF4-FFF2-40B4-BE49-F238E27FC236}">
                <a16:creationId xmlns:a16="http://schemas.microsoft.com/office/drawing/2014/main" id="{F210B4DA-657B-418D-A7AF-D69C45C35119}"/>
              </a:ext>
            </a:extLst>
          </p:cNvPr>
          <p:cNvSpPr>
            <a:spLocks noGrp="1"/>
          </p:cNvSpPr>
          <p:nvPr>
            <p:ph type="body" idx="10"/>
          </p:nvPr>
        </p:nvSpPr>
        <p:spPr/>
        <p:txBody>
          <a:bodyPr/>
          <a:lstStyle/>
          <a:p>
            <a:pPr marL="0" indent="0">
              <a:buNone/>
            </a:pPr>
            <a:r>
              <a:rPr lang="zh-CN" altLang="en-US" dirty="0"/>
              <a:t>客户违约概率（</a:t>
            </a:r>
            <a:r>
              <a:rPr lang="en-US" altLang="zh-CN" dirty="0"/>
              <a:t>PD</a:t>
            </a:r>
            <a:r>
              <a:rPr lang="zh-CN" altLang="en-US" dirty="0"/>
              <a:t>）通过映射表转换为对应的信用等级</a:t>
            </a:r>
          </a:p>
        </p:txBody>
      </p:sp>
      <p:graphicFrame>
        <p:nvGraphicFramePr>
          <p:cNvPr id="23" name="内容占位符 13">
            <a:extLst>
              <a:ext uri="{FF2B5EF4-FFF2-40B4-BE49-F238E27FC236}">
                <a16:creationId xmlns:a16="http://schemas.microsoft.com/office/drawing/2014/main" id="{266B442B-684F-4611-99D9-C9D4C99C1266}"/>
              </a:ext>
            </a:extLst>
          </p:cNvPr>
          <p:cNvGraphicFramePr>
            <a:graphicFrameLocks noGrp="1"/>
          </p:cNvGraphicFramePr>
          <p:nvPr>
            <p:ph idx="1"/>
            <p:extLst>
              <p:ext uri="{D42A27DB-BD31-4B8C-83A1-F6EECF244321}">
                <p14:modId xmlns:p14="http://schemas.microsoft.com/office/powerpoint/2010/main" val="2556742436"/>
              </p:ext>
            </p:extLst>
          </p:nvPr>
        </p:nvGraphicFramePr>
        <p:xfrm>
          <a:off x="2094953" y="2591787"/>
          <a:ext cx="12293709" cy="6767162"/>
        </p:xfrm>
        <a:graphic>
          <a:graphicData uri="http://schemas.openxmlformats.org/drawingml/2006/table">
            <a:tbl>
              <a:tblPr firstRow="1" bandRow="1">
                <a:tableStyleId>{6E25E649-3F16-4E02-A733-19D2CDBF48F0}</a:tableStyleId>
              </a:tblPr>
              <a:tblGrid>
                <a:gridCol w="3136199">
                  <a:extLst>
                    <a:ext uri="{9D8B030D-6E8A-4147-A177-3AD203B41FA5}">
                      <a16:colId xmlns:a16="http://schemas.microsoft.com/office/drawing/2014/main" val="20000"/>
                    </a:ext>
                  </a:extLst>
                </a:gridCol>
                <a:gridCol w="4038728">
                  <a:extLst>
                    <a:ext uri="{9D8B030D-6E8A-4147-A177-3AD203B41FA5}">
                      <a16:colId xmlns:a16="http://schemas.microsoft.com/office/drawing/2014/main" val="20001"/>
                    </a:ext>
                  </a:extLst>
                </a:gridCol>
                <a:gridCol w="5118782">
                  <a:extLst>
                    <a:ext uri="{9D8B030D-6E8A-4147-A177-3AD203B41FA5}">
                      <a16:colId xmlns:a16="http://schemas.microsoft.com/office/drawing/2014/main" val="20003"/>
                    </a:ext>
                  </a:extLst>
                </a:gridCol>
              </a:tblGrid>
              <a:tr h="529785">
                <a:tc>
                  <a:txBody>
                    <a:bodyPr/>
                    <a:lstStyle/>
                    <a:p>
                      <a:pPr algn="ctr">
                        <a:spcAft>
                          <a:spcPts val="0"/>
                        </a:spcAft>
                      </a:pPr>
                      <a:r>
                        <a:rPr lang="zh-CN" altLang="en-US" sz="2000" kern="0" dirty="0">
                          <a:effectLst/>
                        </a:rPr>
                        <a:t>信用</a:t>
                      </a:r>
                      <a:r>
                        <a:rPr lang="zh-CN" sz="2000" kern="0" dirty="0">
                          <a:effectLst/>
                        </a:rPr>
                        <a:t>等级</a:t>
                      </a:r>
                      <a:endParaRPr lang="zh-CN" sz="2000" b="1" kern="100" dirty="0">
                        <a:solidFill>
                          <a:schemeClr val="bg1"/>
                        </a:solidFill>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sz="2000" kern="0" dirty="0">
                          <a:effectLst/>
                        </a:rPr>
                        <a:t>PD</a:t>
                      </a:r>
                      <a:r>
                        <a:rPr lang="zh-CN" sz="2000" kern="0" dirty="0">
                          <a:effectLst/>
                        </a:rPr>
                        <a:t>区间</a:t>
                      </a:r>
                      <a:endParaRPr lang="zh-CN" sz="2000" b="1" kern="100" dirty="0">
                        <a:solidFill>
                          <a:schemeClr val="bg1"/>
                        </a:solidFill>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zh-CN" sz="2000" kern="0" dirty="0">
                          <a:effectLst/>
                        </a:rPr>
                        <a:t>对外提供的评级</a:t>
                      </a:r>
                      <a:endParaRPr lang="zh-CN" sz="2000" b="1" kern="100" dirty="0">
                        <a:solidFill>
                          <a:schemeClr val="bg1"/>
                        </a:solidFill>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00"/>
                  </a:ext>
                </a:extLst>
              </a:tr>
              <a:tr h="328283">
                <a:tc>
                  <a:txBody>
                    <a:bodyPr/>
                    <a:lstStyle/>
                    <a:p>
                      <a:pPr algn="ctr">
                        <a:spcAft>
                          <a:spcPts val="0"/>
                        </a:spcAft>
                      </a:pPr>
                      <a:r>
                        <a:rPr lang="en-US" sz="2000" kern="0" dirty="0">
                          <a:effectLst/>
                        </a:rPr>
                        <a:t>1</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altLang="zh-CN" sz="2000" kern="100" dirty="0">
                          <a:effectLst/>
                        </a:rPr>
                        <a:t>[0, 0.03%]</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rowSpan="5">
                  <a:txBody>
                    <a:bodyPr/>
                    <a:lstStyle/>
                    <a:p>
                      <a:pPr algn="ctr">
                        <a:spcAft>
                          <a:spcPts val="0"/>
                        </a:spcAft>
                      </a:pPr>
                      <a:r>
                        <a:rPr lang="en-US" sz="2000" kern="0" dirty="0">
                          <a:effectLst/>
                        </a:rPr>
                        <a:t>AAA</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01"/>
                  </a:ext>
                </a:extLst>
              </a:tr>
              <a:tr h="328283">
                <a:tc>
                  <a:txBody>
                    <a:bodyPr/>
                    <a:lstStyle/>
                    <a:p>
                      <a:pPr algn="ctr">
                        <a:spcAft>
                          <a:spcPts val="0"/>
                        </a:spcAft>
                      </a:pPr>
                      <a:r>
                        <a:rPr lang="en-US" sz="2000" kern="0" dirty="0">
                          <a:effectLst/>
                        </a:rPr>
                        <a:t>2</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vMerge="1">
                  <a:txBody>
                    <a:bodyPr/>
                    <a:lstStyle/>
                    <a:p>
                      <a:endParaRPr lang="zh-CN" altLang="en-US"/>
                    </a:p>
                  </a:txBody>
                  <a:tcPr/>
                </a:tc>
                <a:extLst>
                  <a:ext uri="{0D108BD9-81ED-4DB2-BD59-A6C34878D82A}">
                    <a16:rowId xmlns:a16="http://schemas.microsoft.com/office/drawing/2014/main" val="10002"/>
                  </a:ext>
                </a:extLst>
              </a:tr>
              <a:tr h="328283">
                <a:tc>
                  <a:txBody>
                    <a:bodyPr/>
                    <a:lstStyle/>
                    <a:p>
                      <a:pPr algn="ctr">
                        <a:spcAft>
                          <a:spcPts val="0"/>
                        </a:spcAft>
                      </a:pPr>
                      <a:r>
                        <a:rPr lang="en-US" sz="2000" kern="0" dirty="0">
                          <a:effectLst/>
                        </a:rPr>
                        <a:t>3</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vMerge="1">
                  <a:txBody>
                    <a:bodyPr/>
                    <a:lstStyle/>
                    <a:p>
                      <a:endParaRPr lang="zh-CN" altLang="en-US"/>
                    </a:p>
                  </a:txBody>
                  <a:tcPr/>
                </a:tc>
                <a:extLst>
                  <a:ext uri="{0D108BD9-81ED-4DB2-BD59-A6C34878D82A}">
                    <a16:rowId xmlns:a16="http://schemas.microsoft.com/office/drawing/2014/main" val="10003"/>
                  </a:ext>
                </a:extLst>
              </a:tr>
              <a:tr h="328283">
                <a:tc>
                  <a:txBody>
                    <a:bodyPr/>
                    <a:lstStyle/>
                    <a:p>
                      <a:pPr algn="ctr">
                        <a:spcAft>
                          <a:spcPts val="0"/>
                        </a:spcAft>
                      </a:pPr>
                      <a:r>
                        <a:rPr lang="en-US" sz="2000" kern="0" dirty="0">
                          <a:effectLst/>
                        </a:rPr>
                        <a:t>4</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vMerge="1">
                  <a:txBody>
                    <a:bodyPr/>
                    <a:lstStyle/>
                    <a:p>
                      <a:endParaRPr lang="zh-CN" altLang="en-US"/>
                    </a:p>
                  </a:txBody>
                  <a:tcPr/>
                </a:tc>
                <a:extLst>
                  <a:ext uri="{0D108BD9-81ED-4DB2-BD59-A6C34878D82A}">
                    <a16:rowId xmlns:a16="http://schemas.microsoft.com/office/drawing/2014/main" val="10004"/>
                  </a:ext>
                </a:extLst>
              </a:tr>
              <a:tr h="328283">
                <a:tc>
                  <a:txBody>
                    <a:bodyPr/>
                    <a:lstStyle/>
                    <a:p>
                      <a:pPr algn="ctr">
                        <a:spcAft>
                          <a:spcPts val="0"/>
                        </a:spcAft>
                      </a:pPr>
                      <a:r>
                        <a:rPr lang="en-US" sz="2000" kern="0" dirty="0">
                          <a:effectLst/>
                        </a:rPr>
                        <a:t>5</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vMerge="1">
                  <a:txBody>
                    <a:bodyPr/>
                    <a:lstStyle/>
                    <a:p>
                      <a:endParaRPr lang="zh-CN" altLang="en-US"/>
                    </a:p>
                  </a:txBody>
                  <a:tcPr/>
                </a:tc>
                <a:extLst>
                  <a:ext uri="{0D108BD9-81ED-4DB2-BD59-A6C34878D82A}">
                    <a16:rowId xmlns:a16="http://schemas.microsoft.com/office/drawing/2014/main" val="10005"/>
                  </a:ext>
                </a:extLst>
              </a:tr>
              <a:tr h="328283">
                <a:tc>
                  <a:txBody>
                    <a:bodyPr/>
                    <a:lstStyle/>
                    <a:p>
                      <a:pPr algn="ctr">
                        <a:spcAft>
                          <a:spcPts val="0"/>
                        </a:spcAft>
                      </a:pPr>
                      <a:r>
                        <a:rPr lang="en-US" sz="2000" kern="0" dirty="0">
                          <a:effectLst/>
                        </a:rPr>
                        <a:t>6</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sz="2000" kern="0" dirty="0">
                          <a:effectLst/>
                        </a:rPr>
                        <a:t>AA+</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06"/>
                  </a:ext>
                </a:extLst>
              </a:tr>
              <a:tr h="328283">
                <a:tc>
                  <a:txBody>
                    <a:bodyPr/>
                    <a:lstStyle/>
                    <a:p>
                      <a:pPr algn="ctr">
                        <a:spcAft>
                          <a:spcPts val="0"/>
                        </a:spcAft>
                      </a:pPr>
                      <a:r>
                        <a:rPr lang="en-US" sz="2000" kern="0" dirty="0">
                          <a:effectLst/>
                        </a:rPr>
                        <a:t>7</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sz="2000" kern="0" dirty="0">
                          <a:effectLst/>
                        </a:rPr>
                        <a:t>AA</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07"/>
                  </a:ext>
                </a:extLst>
              </a:tr>
              <a:tr h="328283">
                <a:tc>
                  <a:txBody>
                    <a:bodyPr/>
                    <a:lstStyle/>
                    <a:p>
                      <a:pPr algn="ctr">
                        <a:spcAft>
                          <a:spcPts val="0"/>
                        </a:spcAft>
                      </a:pPr>
                      <a:r>
                        <a:rPr lang="en-US" altLang="zh-CN" sz="2000" kern="100" dirty="0">
                          <a:effectLst/>
                        </a:rPr>
                        <a:t>8</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sz="2000" kern="0" dirty="0">
                          <a:effectLst/>
                        </a:rPr>
                        <a:t>AA-</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08"/>
                  </a:ext>
                </a:extLst>
              </a:tr>
              <a:tr h="328283">
                <a:tc>
                  <a:txBody>
                    <a:bodyPr/>
                    <a:lstStyle/>
                    <a:p>
                      <a:pPr algn="ctr">
                        <a:spcAft>
                          <a:spcPts val="0"/>
                        </a:spcAft>
                      </a:pPr>
                      <a:r>
                        <a:rPr lang="en-US" sz="2000" kern="0" dirty="0">
                          <a:effectLst/>
                        </a:rPr>
                        <a:t>9</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sz="2000" kern="0" dirty="0">
                          <a:effectLst/>
                        </a:rPr>
                        <a:t>A+</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09"/>
                  </a:ext>
                </a:extLst>
              </a:tr>
              <a:tr h="328283">
                <a:tc>
                  <a:txBody>
                    <a:bodyPr/>
                    <a:lstStyle/>
                    <a:p>
                      <a:pPr algn="ctr">
                        <a:spcAft>
                          <a:spcPts val="0"/>
                        </a:spcAft>
                      </a:pPr>
                      <a:r>
                        <a:rPr lang="en-US" sz="2000" kern="0" dirty="0">
                          <a:effectLst/>
                        </a:rPr>
                        <a:t>10</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sz="2000" kern="0" dirty="0">
                          <a:effectLst/>
                        </a:rPr>
                        <a:t>A</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10"/>
                  </a:ext>
                </a:extLst>
              </a:tr>
              <a:tr h="328283">
                <a:tc>
                  <a:txBody>
                    <a:bodyPr/>
                    <a:lstStyle/>
                    <a:p>
                      <a:pPr algn="ctr">
                        <a:spcAft>
                          <a:spcPts val="0"/>
                        </a:spcAft>
                      </a:pPr>
                      <a:r>
                        <a:rPr lang="en-US" sz="2000" kern="0" dirty="0">
                          <a:effectLst/>
                        </a:rPr>
                        <a:t>11</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sz="2000" kern="0" dirty="0">
                          <a:effectLst/>
                        </a:rPr>
                        <a:t>A-</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11"/>
                  </a:ext>
                </a:extLst>
              </a:tr>
              <a:tr h="328283">
                <a:tc>
                  <a:txBody>
                    <a:bodyPr/>
                    <a:lstStyle/>
                    <a:p>
                      <a:pPr algn="ctr">
                        <a:spcAft>
                          <a:spcPts val="0"/>
                        </a:spcAft>
                      </a:pPr>
                      <a:r>
                        <a:rPr lang="en-US" sz="2000" kern="0" dirty="0">
                          <a:effectLst/>
                        </a:rPr>
                        <a:t>12</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sz="2000" kern="0" dirty="0">
                          <a:effectLst/>
                        </a:rPr>
                        <a:t>BBB+</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12"/>
                  </a:ext>
                </a:extLst>
              </a:tr>
              <a:tr h="328283">
                <a:tc>
                  <a:txBody>
                    <a:bodyPr/>
                    <a:lstStyle/>
                    <a:p>
                      <a:pPr algn="ctr">
                        <a:spcAft>
                          <a:spcPts val="0"/>
                        </a:spcAft>
                      </a:pPr>
                      <a:r>
                        <a:rPr lang="en-US" sz="2000" kern="0" dirty="0">
                          <a:effectLst/>
                        </a:rPr>
                        <a:t>13</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sz="2000" kern="0" dirty="0">
                          <a:effectLst/>
                        </a:rPr>
                        <a:t>BBB</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13"/>
                  </a:ext>
                </a:extLst>
              </a:tr>
              <a:tr h="328283">
                <a:tc>
                  <a:txBody>
                    <a:bodyPr/>
                    <a:lstStyle/>
                    <a:p>
                      <a:pPr algn="ctr">
                        <a:spcAft>
                          <a:spcPts val="0"/>
                        </a:spcAft>
                      </a:pPr>
                      <a:r>
                        <a:rPr lang="en-US" sz="2000" kern="0" dirty="0">
                          <a:effectLst/>
                        </a:rPr>
                        <a:t>14</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sz="2000" kern="0" dirty="0">
                          <a:effectLst/>
                        </a:rPr>
                        <a:t>BBB-</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14"/>
                  </a:ext>
                </a:extLst>
              </a:tr>
              <a:tr h="328283">
                <a:tc>
                  <a:txBody>
                    <a:bodyPr/>
                    <a:lstStyle/>
                    <a:p>
                      <a:pPr algn="ctr">
                        <a:spcAft>
                          <a:spcPts val="0"/>
                        </a:spcAft>
                      </a:pPr>
                      <a:r>
                        <a:rPr lang="en-US" sz="2000" kern="0" dirty="0">
                          <a:effectLst/>
                        </a:rPr>
                        <a:t>15</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sz="2000" kern="0" dirty="0">
                          <a:effectLst/>
                        </a:rPr>
                        <a:t>BB</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15"/>
                  </a:ext>
                </a:extLst>
              </a:tr>
              <a:tr h="328283">
                <a:tc>
                  <a:txBody>
                    <a:bodyPr/>
                    <a:lstStyle/>
                    <a:p>
                      <a:pPr algn="ctr">
                        <a:spcAft>
                          <a:spcPts val="0"/>
                        </a:spcAft>
                      </a:pPr>
                      <a:r>
                        <a:rPr lang="en-US" sz="2000" kern="0" dirty="0">
                          <a:effectLst/>
                        </a:rPr>
                        <a:t>16</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sz="2000" kern="0" dirty="0">
                          <a:effectLst/>
                        </a:rPr>
                        <a:t>B</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16"/>
                  </a:ext>
                </a:extLst>
              </a:tr>
              <a:tr h="328283">
                <a:tc>
                  <a:txBody>
                    <a:bodyPr/>
                    <a:lstStyle/>
                    <a:p>
                      <a:pPr algn="ctr">
                        <a:spcAft>
                          <a:spcPts val="0"/>
                        </a:spcAft>
                      </a:pPr>
                      <a:r>
                        <a:rPr lang="en-US" sz="2000" kern="0" dirty="0">
                          <a:effectLst/>
                        </a:rPr>
                        <a:t>17</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sz="2000" kern="0" dirty="0">
                          <a:effectLst/>
                        </a:rPr>
                        <a:t>CCC</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17"/>
                  </a:ext>
                </a:extLst>
              </a:tr>
              <a:tr h="328283">
                <a:tc>
                  <a:txBody>
                    <a:bodyPr/>
                    <a:lstStyle/>
                    <a:p>
                      <a:pPr algn="ctr">
                        <a:spcAft>
                          <a:spcPts val="0"/>
                        </a:spcAft>
                      </a:pPr>
                      <a:r>
                        <a:rPr lang="en-US" sz="2000" kern="0" dirty="0">
                          <a:effectLst/>
                        </a:rPr>
                        <a:t>18</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sz="2000" kern="0" dirty="0">
                          <a:effectLst/>
                        </a:rPr>
                        <a:t>CC</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18"/>
                  </a:ext>
                </a:extLst>
              </a:tr>
              <a:tr h="328283">
                <a:tc>
                  <a:txBody>
                    <a:bodyPr/>
                    <a:lstStyle/>
                    <a:p>
                      <a:pPr algn="ctr">
                        <a:spcAft>
                          <a:spcPts val="0"/>
                        </a:spcAft>
                      </a:pPr>
                      <a:r>
                        <a:rPr lang="en-US" sz="2000" kern="0" dirty="0">
                          <a:effectLst/>
                        </a:rPr>
                        <a:t>19</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tc>
                  <a:txBody>
                    <a:bodyPr/>
                    <a:lstStyle/>
                    <a:p>
                      <a:pPr algn="ctr">
                        <a:spcAft>
                          <a:spcPts val="0"/>
                        </a:spcAft>
                      </a:pPr>
                      <a:r>
                        <a:rPr lang="en-US" sz="2000" kern="0" dirty="0">
                          <a:effectLst/>
                        </a:rPr>
                        <a:t>D</a:t>
                      </a:r>
                      <a:endParaRPr lang="zh-CN" sz="2000" kern="100" dirty="0">
                        <a:effectLst/>
                        <a:latin typeface="微软雅黑" panose="020B0503020204020204" pitchFamily="34" charset="-122"/>
                        <a:ea typeface="微软雅黑" panose="020B0503020204020204" pitchFamily="34" charset="-122"/>
                      </a:endParaRPr>
                    </a:p>
                  </a:txBody>
                  <a:tcPr marL="97203" marR="97203" marT="0" marB="0" anchor="ctr"/>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290956484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DC1FE53-5521-4EAA-AD9B-5C2B889F5F5E}"/>
              </a:ext>
            </a:extLst>
          </p:cNvPr>
          <p:cNvSpPr>
            <a:spLocks noGrp="1"/>
          </p:cNvSpPr>
          <p:nvPr>
            <p:ph type="title"/>
          </p:nvPr>
        </p:nvSpPr>
        <p:spPr/>
        <p:txBody>
          <a:bodyPr/>
          <a:lstStyle/>
          <a:p>
            <a:r>
              <a:rPr lang="zh-CN" altLang="en-US" dirty="0">
                <a:solidFill>
                  <a:prstClr val="black"/>
                </a:solidFill>
                <a:latin typeface="+mn-ea"/>
              </a:rPr>
              <a:t>债项评级调整</a:t>
            </a:r>
            <a:endParaRPr lang="zh-CN" altLang="en-US" dirty="0"/>
          </a:p>
        </p:txBody>
      </p:sp>
      <p:sp>
        <p:nvSpPr>
          <p:cNvPr id="6" name="文本占位符 5">
            <a:extLst>
              <a:ext uri="{FF2B5EF4-FFF2-40B4-BE49-F238E27FC236}">
                <a16:creationId xmlns:a16="http://schemas.microsoft.com/office/drawing/2014/main" id="{3683F076-1EF3-40D9-B1DA-1360914FAD76}"/>
              </a:ext>
            </a:extLst>
          </p:cNvPr>
          <p:cNvSpPr>
            <a:spLocks noGrp="1"/>
          </p:cNvSpPr>
          <p:nvPr>
            <p:ph sz="half" idx="1"/>
          </p:nvPr>
        </p:nvSpPr>
        <p:spPr>
          <a:xfrm>
            <a:off x="949497" y="2398426"/>
            <a:ext cx="15466444" cy="1900533"/>
          </a:xfrm>
        </p:spPr>
        <p:txBody>
          <a:bodyPr/>
          <a:lstStyle/>
          <a:p>
            <a:r>
              <a:rPr lang="zh-CN" altLang="en-US" dirty="0"/>
              <a:t>以主体评级为基准</a:t>
            </a:r>
            <a:endParaRPr lang="en-US" altLang="zh-CN" dirty="0"/>
          </a:p>
          <a:p>
            <a:pPr lvl="1"/>
            <a:r>
              <a:rPr lang="zh-CN" altLang="en-US" dirty="0"/>
              <a:t>在发行人和各类担保主体中，取资质最高的主体评级</a:t>
            </a:r>
            <a:endParaRPr lang="en-US" altLang="zh-CN" dirty="0"/>
          </a:p>
          <a:p>
            <a:pPr lvl="1"/>
            <a:r>
              <a:rPr lang="zh-CN" altLang="en-US" dirty="0"/>
              <a:t>根据担保资质进行评分，累计达标后调增；调增最高</a:t>
            </a:r>
            <a:r>
              <a:rPr lang="en-US" altLang="zh-CN" dirty="0"/>
              <a:t>1-2</a:t>
            </a:r>
            <a:r>
              <a:rPr lang="zh-CN" altLang="en-US" dirty="0"/>
              <a:t>档，调降档次不设限</a:t>
            </a:r>
            <a:endParaRPr lang="en-US" altLang="zh-CN" dirty="0"/>
          </a:p>
          <a:p>
            <a:endParaRPr lang="zh-CN" altLang="en-US" sz="2400" dirty="0"/>
          </a:p>
        </p:txBody>
      </p:sp>
      <p:sp>
        <p:nvSpPr>
          <p:cNvPr id="9" name="内容占位符 8">
            <a:extLst>
              <a:ext uri="{FF2B5EF4-FFF2-40B4-BE49-F238E27FC236}">
                <a16:creationId xmlns:a16="http://schemas.microsoft.com/office/drawing/2014/main" id="{8F66F1C4-A9FB-4EBE-A230-AF85E53FE60D}"/>
              </a:ext>
            </a:extLst>
          </p:cNvPr>
          <p:cNvSpPr>
            <a:spLocks noGrp="1"/>
          </p:cNvSpPr>
          <p:nvPr>
            <p:ph sz="half" idx="13"/>
          </p:nvPr>
        </p:nvSpPr>
        <p:spPr/>
        <p:txBody>
          <a:bodyPr/>
          <a:lstStyle/>
          <a:p>
            <a:endParaRPr lang="zh-CN" altLang="en-US" dirty="0"/>
          </a:p>
        </p:txBody>
      </p:sp>
      <p:grpSp>
        <p:nvGrpSpPr>
          <p:cNvPr id="24" name="组合 23">
            <a:extLst>
              <a:ext uri="{FF2B5EF4-FFF2-40B4-BE49-F238E27FC236}">
                <a16:creationId xmlns:a16="http://schemas.microsoft.com/office/drawing/2014/main" id="{7E17F341-F5DC-4058-BB10-A48CAB974AF8}"/>
              </a:ext>
            </a:extLst>
          </p:cNvPr>
          <p:cNvGrpSpPr/>
          <p:nvPr/>
        </p:nvGrpSpPr>
        <p:grpSpPr>
          <a:xfrm>
            <a:off x="949496" y="4860131"/>
            <a:ext cx="15633561" cy="4376089"/>
            <a:chOff x="949497" y="3595688"/>
            <a:chExt cx="15633561" cy="3884946"/>
          </a:xfrm>
        </p:grpSpPr>
        <p:grpSp>
          <p:nvGrpSpPr>
            <p:cNvPr id="26" name="组合 25">
              <a:extLst>
                <a:ext uri="{FF2B5EF4-FFF2-40B4-BE49-F238E27FC236}">
                  <a16:creationId xmlns:a16="http://schemas.microsoft.com/office/drawing/2014/main" id="{7D023D9B-C276-4E73-81E2-F21D39CA78AA}"/>
                </a:ext>
              </a:extLst>
            </p:cNvPr>
            <p:cNvGrpSpPr/>
            <p:nvPr/>
          </p:nvGrpSpPr>
          <p:grpSpPr>
            <a:xfrm>
              <a:off x="949497" y="3595688"/>
              <a:ext cx="15123204" cy="2256930"/>
              <a:chOff x="949497" y="2852738"/>
              <a:chExt cx="15123204" cy="2256930"/>
            </a:xfrm>
          </p:grpSpPr>
          <p:sp>
            <p:nvSpPr>
              <p:cNvPr id="34" name="AutoShape 442">
                <a:extLst>
                  <a:ext uri="{FF2B5EF4-FFF2-40B4-BE49-F238E27FC236}">
                    <a16:creationId xmlns:a16="http://schemas.microsoft.com/office/drawing/2014/main" id="{91A69B5C-91A4-499D-B4CE-07743790999D}"/>
                  </a:ext>
                </a:extLst>
              </p:cNvPr>
              <p:cNvSpPr>
                <a:spLocks noChangeArrowheads="1"/>
              </p:cNvSpPr>
              <p:nvPr/>
            </p:nvSpPr>
            <p:spPr bwMode="auto">
              <a:xfrm>
                <a:off x="949497" y="3111813"/>
                <a:ext cx="2366306" cy="1784756"/>
              </a:xfrm>
              <a:prstGeom prst="roundRect">
                <a:avLst>
                  <a:gd name="adj" fmla="val 16667"/>
                </a:avLst>
              </a:prstGeom>
              <a:solidFill>
                <a:srgbClr val="C00000"/>
              </a:solidFill>
              <a:ln w="9525">
                <a:no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zh-CN" altLang="en-US" sz="2400" b="1" dirty="0">
                    <a:solidFill>
                      <a:schemeClr val="bg1"/>
                    </a:solidFill>
                    <a:latin typeface="微软雅黑" panose="020B0503020204020204" pitchFamily="34" charset="-122"/>
                    <a:ea typeface="微软雅黑" panose="020B0503020204020204" pitchFamily="34" charset="-122"/>
                    <a:cs typeface="Times New Roman" pitchFamily="18" charset="0"/>
                  </a:rPr>
                  <a:t>有担保债券的信用等级</a:t>
                </a:r>
                <a:endParaRPr lang="zh-CN" altLang="en-US" sz="24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sp>
            <p:nvSpPr>
              <p:cNvPr id="35" name="等号 34">
                <a:extLst>
                  <a:ext uri="{FF2B5EF4-FFF2-40B4-BE49-F238E27FC236}">
                    <a16:creationId xmlns:a16="http://schemas.microsoft.com/office/drawing/2014/main" id="{226BC3B2-1789-41AA-8F6D-667D7A4BE034}"/>
                  </a:ext>
                </a:extLst>
              </p:cNvPr>
              <p:cNvSpPr/>
              <p:nvPr/>
            </p:nvSpPr>
            <p:spPr>
              <a:xfrm>
                <a:off x="3464300" y="3973967"/>
                <a:ext cx="715052" cy="622448"/>
              </a:xfrm>
              <a:prstGeom prst="mathEqual">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AutoShape 442">
                <a:extLst>
                  <a:ext uri="{FF2B5EF4-FFF2-40B4-BE49-F238E27FC236}">
                    <a16:creationId xmlns:a16="http://schemas.microsoft.com/office/drawing/2014/main" id="{AEDF5917-5A9F-4E76-8057-352ECF4C4ED4}"/>
                  </a:ext>
                </a:extLst>
              </p:cNvPr>
              <p:cNvSpPr>
                <a:spLocks noChangeArrowheads="1"/>
              </p:cNvSpPr>
              <p:nvPr/>
            </p:nvSpPr>
            <p:spPr bwMode="auto">
              <a:xfrm>
                <a:off x="4327849" y="3681900"/>
                <a:ext cx="1375507" cy="944738"/>
              </a:xfrm>
              <a:prstGeom prst="roundRect">
                <a:avLst>
                  <a:gd name="adj" fmla="val 16667"/>
                </a:avLst>
              </a:prstGeom>
              <a:solidFill>
                <a:schemeClr val="accent2"/>
              </a:solidFill>
              <a:ln w="9525">
                <a:solidFill>
                  <a:schemeClr val="accent1"/>
                </a:solid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en-US" altLang="zh-CN" sz="2400" b="1" dirty="0">
                    <a:solidFill>
                      <a:schemeClr val="bg1"/>
                    </a:solidFill>
                    <a:latin typeface="微软雅黑" panose="020B0503020204020204" pitchFamily="34" charset="-122"/>
                    <a:ea typeface="微软雅黑" panose="020B0503020204020204" pitchFamily="34" charset="-122"/>
                    <a:cs typeface="Times New Roman" pitchFamily="18" charset="0"/>
                  </a:rPr>
                  <a:t>MAX</a:t>
                </a:r>
                <a:endParaRPr lang="zh-CN" altLang="en-US" sz="24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sp>
            <p:nvSpPr>
              <p:cNvPr id="37" name="AutoShape 442">
                <a:extLst>
                  <a:ext uri="{FF2B5EF4-FFF2-40B4-BE49-F238E27FC236}">
                    <a16:creationId xmlns:a16="http://schemas.microsoft.com/office/drawing/2014/main" id="{F1786E51-AF3E-49F6-AB35-BA32BEF77556}"/>
                  </a:ext>
                </a:extLst>
              </p:cNvPr>
              <p:cNvSpPr>
                <a:spLocks noChangeArrowheads="1"/>
              </p:cNvSpPr>
              <p:nvPr/>
            </p:nvSpPr>
            <p:spPr bwMode="auto">
              <a:xfrm>
                <a:off x="7695563" y="3111813"/>
                <a:ext cx="1589447" cy="1784756"/>
              </a:xfrm>
              <a:prstGeom prst="roundRect">
                <a:avLst>
                  <a:gd name="adj" fmla="val 16667"/>
                </a:avLst>
              </a:prstGeom>
              <a:solidFill>
                <a:srgbClr val="92D050"/>
              </a:solidFill>
              <a:ln w="9525">
                <a:no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zh-CN" altLang="en-US" sz="2000" b="1" dirty="0">
                    <a:solidFill>
                      <a:schemeClr val="bg1"/>
                    </a:solidFill>
                    <a:latin typeface="微软雅黑" panose="020B0503020204020204" pitchFamily="34" charset="-122"/>
                    <a:ea typeface="微软雅黑" panose="020B0503020204020204" pitchFamily="34" charset="-122"/>
                    <a:cs typeface="Times New Roman" pitchFamily="18" charset="0"/>
                  </a:rPr>
                  <a:t>担保人的信用等级</a:t>
                </a:r>
                <a:endParaRPr lang="zh-CN" altLang="en-US" sz="20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sp>
            <p:nvSpPr>
              <p:cNvPr id="38" name="AutoShape 442">
                <a:extLst>
                  <a:ext uri="{FF2B5EF4-FFF2-40B4-BE49-F238E27FC236}">
                    <a16:creationId xmlns:a16="http://schemas.microsoft.com/office/drawing/2014/main" id="{B73F3F92-E855-4047-B363-EBC2515C39DA}"/>
                  </a:ext>
                </a:extLst>
              </p:cNvPr>
              <p:cNvSpPr>
                <a:spLocks noChangeArrowheads="1"/>
              </p:cNvSpPr>
              <p:nvPr/>
            </p:nvSpPr>
            <p:spPr bwMode="auto">
              <a:xfrm>
                <a:off x="9416221" y="3111813"/>
                <a:ext cx="1654550" cy="1784756"/>
              </a:xfrm>
              <a:prstGeom prst="roundRect">
                <a:avLst>
                  <a:gd name="adj" fmla="val 16667"/>
                </a:avLst>
              </a:prstGeom>
              <a:solidFill>
                <a:srgbClr val="009900"/>
              </a:solidFill>
              <a:ln w="9525">
                <a:no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zh-CN" altLang="en-US" sz="2000" b="1" dirty="0">
                    <a:solidFill>
                      <a:schemeClr val="bg1"/>
                    </a:solidFill>
                    <a:latin typeface="微软雅黑" panose="020B0503020204020204" pitchFamily="34" charset="-122"/>
                    <a:ea typeface="微软雅黑" panose="020B0503020204020204" pitchFamily="34" charset="-122"/>
                    <a:cs typeface="Times New Roman" pitchFamily="18" charset="0"/>
                  </a:rPr>
                  <a:t>第三方担保人的信用等级</a:t>
                </a:r>
                <a:endParaRPr lang="zh-CN" altLang="en-US" sz="20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sp>
            <p:nvSpPr>
              <p:cNvPr id="39" name="AutoShape 442">
                <a:extLst>
                  <a:ext uri="{FF2B5EF4-FFF2-40B4-BE49-F238E27FC236}">
                    <a16:creationId xmlns:a16="http://schemas.microsoft.com/office/drawing/2014/main" id="{ABE6B1D2-6957-4A93-997E-668148546D03}"/>
                  </a:ext>
                </a:extLst>
              </p:cNvPr>
              <p:cNvSpPr>
                <a:spLocks noChangeArrowheads="1"/>
              </p:cNvSpPr>
              <p:nvPr/>
            </p:nvSpPr>
            <p:spPr bwMode="auto">
              <a:xfrm>
                <a:off x="6048919" y="3111813"/>
                <a:ext cx="1515433" cy="1784756"/>
              </a:xfrm>
              <a:prstGeom prst="roundRect">
                <a:avLst>
                  <a:gd name="adj" fmla="val 16667"/>
                </a:avLst>
              </a:prstGeom>
              <a:solidFill>
                <a:srgbClr val="00B050"/>
              </a:solidFill>
              <a:ln w="9525">
                <a:no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zh-CN" altLang="en-US" sz="2000" b="1" dirty="0">
                    <a:solidFill>
                      <a:schemeClr val="bg1"/>
                    </a:solidFill>
                    <a:latin typeface="微软雅黑" panose="020B0503020204020204" pitchFamily="34" charset="-122"/>
                    <a:ea typeface="微软雅黑" panose="020B0503020204020204" pitchFamily="34" charset="-122"/>
                    <a:cs typeface="Times New Roman" pitchFamily="18" charset="0"/>
                  </a:rPr>
                  <a:t>发行人的信用等级</a:t>
                </a:r>
                <a:endParaRPr lang="zh-CN" altLang="en-US" sz="20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sp>
            <p:nvSpPr>
              <p:cNvPr id="40" name="双括号 39">
                <a:extLst>
                  <a:ext uri="{FF2B5EF4-FFF2-40B4-BE49-F238E27FC236}">
                    <a16:creationId xmlns:a16="http://schemas.microsoft.com/office/drawing/2014/main" id="{DB77A7EA-6A7F-4CC4-8924-AA5056D3A7F0}"/>
                  </a:ext>
                </a:extLst>
              </p:cNvPr>
              <p:cNvSpPr/>
              <p:nvPr/>
            </p:nvSpPr>
            <p:spPr>
              <a:xfrm>
                <a:off x="5857666" y="2852738"/>
                <a:ext cx="5387222" cy="2256930"/>
              </a:xfrm>
              <a:prstGeom prst="bracketPair">
                <a:avLst/>
              </a:prstGeom>
              <a:ln w="1016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十字形 40">
                <a:extLst>
                  <a:ext uri="{FF2B5EF4-FFF2-40B4-BE49-F238E27FC236}">
                    <a16:creationId xmlns:a16="http://schemas.microsoft.com/office/drawing/2014/main" id="{F240C4B0-0F84-406C-A05D-63F1CAA870AD}"/>
                  </a:ext>
                </a:extLst>
              </p:cNvPr>
              <p:cNvSpPr/>
              <p:nvPr/>
            </p:nvSpPr>
            <p:spPr>
              <a:xfrm>
                <a:off x="11922493" y="3712124"/>
                <a:ext cx="894572" cy="773263"/>
              </a:xfrm>
              <a:prstGeom prst="plus">
                <a:avLst>
                  <a:gd name="adj" fmla="val 39907"/>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AutoShape 442">
                <a:extLst>
                  <a:ext uri="{FF2B5EF4-FFF2-40B4-BE49-F238E27FC236}">
                    <a16:creationId xmlns:a16="http://schemas.microsoft.com/office/drawing/2014/main" id="{99214E07-F4DB-47DD-B406-4A6E272B1539}"/>
                  </a:ext>
                </a:extLst>
              </p:cNvPr>
              <p:cNvSpPr>
                <a:spLocks noChangeArrowheads="1"/>
              </p:cNvSpPr>
              <p:nvPr/>
            </p:nvSpPr>
            <p:spPr bwMode="auto">
              <a:xfrm>
                <a:off x="13426570" y="3111813"/>
                <a:ext cx="2646131" cy="1784756"/>
              </a:xfrm>
              <a:prstGeom prst="roundRect">
                <a:avLst>
                  <a:gd name="adj" fmla="val 16667"/>
                </a:avLst>
              </a:prstGeom>
              <a:solidFill>
                <a:srgbClr val="00B0F0"/>
              </a:solidFill>
              <a:ln w="9525">
                <a:noFill/>
                <a:round/>
                <a:headEnd/>
                <a:tailEnd/>
              </a:ln>
            </p:spPr>
            <p:txBody>
              <a:bodyPr vert="horz" wrap="square" lIns="129604" tIns="64802" rIns="129604" bIns="64802" numCol="1" anchor="ctr" anchorCtr="0" compatLnSpc="1">
                <a:prstTxWarp prst="textNoShape">
                  <a:avLst/>
                </a:prstTxWarp>
              </a:bodyPr>
              <a:lstStyle/>
              <a:p>
                <a:pPr algn="ctr" defTabSz="1296071" fontAlgn="base">
                  <a:spcBef>
                    <a:spcPct val="0"/>
                  </a:spcBef>
                  <a:spcAft>
                    <a:spcPct val="0"/>
                  </a:spcAft>
                </a:pPr>
                <a:r>
                  <a:rPr lang="zh-CN" altLang="en-US" sz="2400" b="1" dirty="0">
                    <a:solidFill>
                      <a:schemeClr val="bg1"/>
                    </a:solidFill>
                    <a:latin typeface="微软雅黑" panose="020B0503020204020204" pitchFamily="34" charset="-122"/>
                    <a:ea typeface="微软雅黑" panose="020B0503020204020204" pitchFamily="34" charset="-122"/>
                    <a:cs typeface="Times New Roman" pitchFamily="18" charset="0"/>
                  </a:rPr>
                  <a:t>抵押</a:t>
                </a:r>
                <a:r>
                  <a:rPr lang="en-US" altLang="zh-CN" sz="2400" b="1" dirty="0">
                    <a:solidFill>
                      <a:schemeClr val="bg1"/>
                    </a:solidFill>
                    <a:latin typeface="微软雅黑" panose="020B0503020204020204" pitchFamily="34" charset="-122"/>
                    <a:ea typeface="微软雅黑" panose="020B0503020204020204" pitchFamily="34" charset="-122"/>
                    <a:cs typeface="Times New Roman" pitchFamily="18" charset="0"/>
                  </a:rPr>
                  <a:t>/</a:t>
                </a:r>
                <a:r>
                  <a:rPr lang="zh-CN" altLang="en-US" sz="2400" b="1" dirty="0">
                    <a:solidFill>
                      <a:schemeClr val="bg1"/>
                    </a:solidFill>
                    <a:latin typeface="微软雅黑" panose="020B0503020204020204" pitchFamily="34" charset="-122"/>
                    <a:ea typeface="微软雅黑" panose="020B0503020204020204" pitchFamily="34" charset="-122"/>
                    <a:cs typeface="Times New Roman" pitchFamily="18" charset="0"/>
                  </a:rPr>
                  <a:t>质押资产</a:t>
                </a:r>
                <a:endParaRPr lang="en-US" altLang="zh-CN" sz="2400" b="1" dirty="0">
                  <a:solidFill>
                    <a:schemeClr val="bg1"/>
                  </a:solidFill>
                  <a:latin typeface="微软雅黑" panose="020B0503020204020204" pitchFamily="34" charset="-122"/>
                  <a:ea typeface="微软雅黑" panose="020B0503020204020204" pitchFamily="34" charset="-122"/>
                  <a:cs typeface="Times New Roman" pitchFamily="18" charset="0"/>
                </a:endParaRPr>
              </a:p>
              <a:p>
                <a:pPr algn="ctr" defTabSz="1296071" fontAlgn="base">
                  <a:spcBef>
                    <a:spcPct val="0"/>
                  </a:spcBef>
                  <a:spcAft>
                    <a:spcPct val="0"/>
                  </a:spcAft>
                </a:pPr>
                <a:r>
                  <a:rPr lang="zh-CN" altLang="en-US" sz="2400" b="1" dirty="0">
                    <a:solidFill>
                      <a:schemeClr val="bg1"/>
                    </a:solidFill>
                    <a:latin typeface="微软雅黑" panose="020B0503020204020204" pitchFamily="34" charset="-122"/>
                    <a:ea typeface="微软雅黑" panose="020B0503020204020204" pitchFamily="34" charset="-122"/>
                    <a:cs typeface="Times New Roman" pitchFamily="18" charset="0"/>
                  </a:rPr>
                  <a:t>的增信等级</a:t>
                </a:r>
                <a:endParaRPr lang="zh-CN" altLang="en-US" sz="2400" b="1" dirty="0">
                  <a:solidFill>
                    <a:schemeClr val="bg1"/>
                  </a:solidFill>
                  <a:latin typeface="微软雅黑" panose="020B0503020204020204" pitchFamily="34" charset="-122"/>
                  <a:ea typeface="微软雅黑" panose="020B0503020204020204" pitchFamily="34" charset="-122"/>
                  <a:cs typeface="宋体" pitchFamily="2" charset="-122"/>
                </a:endParaRPr>
              </a:p>
            </p:txBody>
          </p:sp>
        </p:grpSp>
        <p:grpSp>
          <p:nvGrpSpPr>
            <p:cNvPr id="27" name="组合 26">
              <a:extLst>
                <a:ext uri="{FF2B5EF4-FFF2-40B4-BE49-F238E27FC236}">
                  <a16:creationId xmlns:a16="http://schemas.microsoft.com/office/drawing/2014/main" id="{1B75CDE6-6A13-49C5-98B1-FBEC92F2009C}"/>
                </a:ext>
              </a:extLst>
            </p:cNvPr>
            <p:cNvGrpSpPr/>
            <p:nvPr/>
          </p:nvGrpSpPr>
          <p:grpSpPr>
            <a:xfrm>
              <a:off x="12868430" y="6126995"/>
              <a:ext cx="3714628" cy="1353639"/>
              <a:chOff x="12126772" y="7222840"/>
              <a:chExt cx="4594161" cy="1547587"/>
            </a:xfrm>
          </p:grpSpPr>
          <p:sp>
            <p:nvSpPr>
              <p:cNvPr id="31" name="标注: 上箭头 30">
                <a:extLst>
                  <a:ext uri="{FF2B5EF4-FFF2-40B4-BE49-F238E27FC236}">
                    <a16:creationId xmlns:a16="http://schemas.microsoft.com/office/drawing/2014/main" id="{6EAADE92-8CFA-4137-A629-C5C2A670EB6A}"/>
                  </a:ext>
                </a:extLst>
              </p:cNvPr>
              <p:cNvSpPr/>
              <p:nvPr/>
            </p:nvSpPr>
            <p:spPr>
              <a:xfrm>
                <a:off x="12126772" y="7222840"/>
                <a:ext cx="4594161" cy="1547587"/>
              </a:xfrm>
              <a:prstGeom prst="upArrowCallout">
                <a:avLst>
                  <a:gd name="adj1" fmla="val 13962"/>
                  <a:gd name="adj2" fmla="val 19296"/>
                  <a:gd name="adj3" fmla="val 25000"/>
                  <a:gd name="adj4" fmla="val 67167"/>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2" name="文本框 31">
                <a:extLst>
                  <a:ext uri="{FF2B5EF4-FFF2-40B4-BE49-F238E27FC236}">
                    <a16:creationId xmlns:a16="http://schemas.microsoft.com/office/drawing/2014/main" id="{9E6E12EE-E47B-4196-B050-391BAF4AB00B}"/>
                  </a:ext>
                </a:extLst>
              </p:cNvPr>
              <p:cNvSpPr txBox="1"/>
              <p:nvPr/>
            </p:nvSpPr>
            <p:spPr>
              <a:xfrm>
                <a:off x="12302290" y="7869666"/>
                <a:ext cx="2050735" cy="718479"/>
              </a:xfrm>
              <a:prstGeom prst="rect">
                <a:avLst/>
              </a:prstGeom>
              <a:solidFill>
                <a:schemeClr val="bg1"/>
              </a:solidFill>
              <a:ln>
                <a:noFill/>
              </a:ln>
            </p:spPr>
            <p:txBody>
              <a:bodyPr wrap="square" rtlCol="0">
                <a:spAutoFit/>
              </a:bodyPr>
              <a:lstStyle/>
              <a:p>
                <a:pPr algn="ctr"/>
                <a:r>
                  <a:rPr lang="zh-CN" altLang="en-US" sz="2000" dirty="0">
                    <a:solidFill>
                      <a:srgbClr val="0070C0"/>
                    </a:solidFill>
                  </a:rPr>
                  <a:t>资产对债务的</a:t>
                </a:r>
                <a:r>
                  <a:rPr lang="zh-CN" altLang="en-US" sz="2000" b="1" dirty="0">
                    <a:solidFill>
                      <a:srgbClr val="0070C0"/>
                    </a:solidFill>
                  </a:rPr>
                  <a:t>覆盖率</a:t>
                </a:r>
              </a:p>
            </p:txBody>
          </p:sp>
          <p:sp>
            <p:nvSpPr>
              <p:cNvPr id="33" name="文本框 32">
                <a:extLst>
                  <a:ext uri="{FF2B5EF4-FFF2-40B4-BE49-F238E27FC236}">
                    <a16:creationId xmlns:a16="http://schemas.microsoft.com/office/drawing/2014/main" id="{C2FBC113-2ECE-442B-8711-3FFE975AAED4}"/>
                  </a:ext>
                </a:extLst>
              </p:cNvPr>
              <p:cNvSpPr txBox="1"/>
              <p:nvPr/>
            </p:nvSpPr>
            <p:spPr>
              <a:xfrm>
                <a:off x="14423853" y="7869666"/>
                <a:ext cx="2142680" cy="718479"/>
              </a:xfrm>
              <a:prstGeom prst="rect">
                <a:avLst/>
              </a:prstGeom>
              <a:solidFill>
                <a:schemeClr val="bg1"/>
              </a:solidFill>
              <a:ln>
                <a:noFill/>
              </a:ln>
            </p:spPr>
            <p:txBody>
              <a:bodyPr wrap="square" rtlCol="0">
                <a:spAutoFit/>
              </a:bodyPr>
              <a:lstStyle/>
              <a:p>
                <a:pPr algn="ctr"/>
                <a:r>
                  <a:rPr lang="zh-CN" altLang="en-US" sz="2000" dirty="0">
                    <a:solidFill>
                      <a:srgbClr val="0070C0"/>
                    </a:solidFill>
                  </a:rPr>
                  <a:t>增信资产到期日的</a:t>
                </a:r>
                <a:r>
                  <a:rPr lang="zh-CN" altLang="en-US" sz="2000" b="1" dirty="0">
                    <a:solidFill>
                      <a:srgbClr val="0070C0"/>
                    </a:solidFill>
                  </a:rPr>
                  <a:t>折旧率</a:t>
                </a:r>
              </a:p>
            </p:txBody>
          </p:sp>
        </p:grpSp>
        <p:grpSp>
          <p:nvGrpSpPr>
            <p:cNvPr id="28" name="组合 27">
              <a:extLst>
                <a:ext uri="{FF2B5EF4-FFF2-40B4-BE49-F238E27FC236}">
                  <a16:creationId xmlns:a16="http://schemas.microsoft.com/office/drawing/2014/main" id="{675251EA-3DA4-4361-8CEB-23C0B8ED9AEC}"/>
                </a:ext>
              </a:extLst>
            </p:cNvPr>
            <p:cNvGrpSpPr/>
            <p:nvPr/>
          </p:nvGrpSpPr>
          <p:grpSpPr>
            <a:xfrm>
              <a:off x="7359920" y="6255868"/>
              <a:ext cx="2116656" cy="1203908"/>
              <a:chOff x="6906985" y="6948199"/>
              <a:chExt cx="3385907" cy="1203908"/>
            </a:xfrm>
          </p:grpSpPr>
          <p:sp>
            <p:nvSpPr>
              <p:cNvPr id="29" name="标注: 上箭头 28">
                <a:extLst>
                  <a:ext uri="{FF2B5EF4-FFF2-40B4-BE49-F238E27FC236}">
                    <a16:creationId xmlns:a16="http://schemas.microsoft.com/office/drawing/2014/main" id="{4718E971-3F2A-446D-8F1F-632A9639575D}"/>
                  </a:ext>
                </a:extLst>
              </p:cNvPr>
              <p:cNvSpPr/>
              <p:nvPr/>
            </p:nvSpPr>
            <p:spPr>
              <a:xfrm>
                <a:off x="6906985" y="6948199"/>
                <a:ext cx="3385907" cy="1203908"/>
              </a:xfrm>
              <a:prstGeom prst="upArrowCallout">
                <a:avLst>
                  <a:gd name="adj1" fmla="val 19850"/>
                  <a:gd name="adj2" fmla="val 23712"/>
                  <a:gd name="adj3" fmla="val 25000"/>
                  <a:gd name="adj4" fmla="val 68030"/>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46DAA7A5-10CA-47E5-93FD-F27B975BC650}"/>
                  </a:ext>
                </a:extLst>
              </p:cNvPr>
              <p:cNvSpPr txBox="1"/>
              <p:nvPr/>
            </p:nvSpPr>
            <p:spPr>
              <a:xfrm>
                <a:off x="7006996" y="7403114"/>
                <a:ext cx="3185884" cy="628437"/>
              </a:xfrm>
              <a:prstGeom prst="rect">
                <a:avLst/>
              </a:prstGeom>
              <a:solidFill>
                <a:schemeClr val="bg1"/>
              </a:solidFill>
              <a:ln>
                <a:noFill/>
              </a:ln>
            </p:spPr>
            <p:txBody>
              <a:bodyPr wrap="square" rtlCol="0">
                <a:spAutoFit/>
              </a:bodyPr>
              <a:lstStyle/>
              <a:p>
                <a:pPr algn="ctr"/>
                <a:r>
                  <a:rPr lang="zh-CN" altLang="en-US" sz="2000" dirty="0">
                    <a:solidFill>
                      <a:srgbClr val="0070C0"/>
                    </a:solidFill>
                  </a:rPr>
                  <a:t>关联主体的</a:t>
                </a:r>
                <a:endParaRPr lang="en-US" altLang="zh-CN" sz="2000" dirty="0">
                  <a:solidFill>
                    <a:srgbClr val="0070C0"/>
                  </a:solidFill>
                </a:endParaRPr>
              </a:p>
              <a:p>
                <a:pPr algn="ctr"/>
                <a:r>
                  <a:rPr lang="zh-CN" altLang="en-US" sz="2000" b="1" dirty="0">
                    <a:solidFill>
                      <a:srgbClr val="0070C0"/>
                    </a:solidFill>
                  </a:rPr>
                  <a:t>联合违约概率</a:t>
                </a:r>
              </a:p>
            </p:txBody>
          </p:sp>
        </p:grpSp>
      </p:grpSp>
    </p:spTree>
    <p:extLst>
      <p:ext uri="{BB962C8B-B14F-4D97-AF65-F5344CB8AC3E}">
        <p14:creationId xmlns:p14="http://schemas.microsoft.com/office/powerpoint/2010/main" val="316025299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9174738" y="2153028"/>
            <a:ext cx="4794418" cy="2358189"/>
            <a:chOff x="3379978" y="4031432"/>
            <a:chExt cx="2383983" cy="1295499"/>
          </a:xfrm>
        </p:grpSpPr>
        <p:pic>
          <p:nvPicPr>
            <p:cNvPr id="5" name="组合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5183" y="4709226"/>
              <a:ext cx="461888" cy="617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6" name="组合 1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97049" y="4745955"/>
              <a:ext cx="437958" cy="580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7" name="组合 1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25434" y="4887187"/>
              <a:ext cx="329771" cy="439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8" name="组合 20"/>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35896" y="4797152"/>
              <a:ext cx="399560" cy="529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9" name="组合 24"/>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24983" y="4777675"/>
              <a:ext cx="399560" cy="549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10" name="Freeform 59"/>
            <p:cNvSpPr>
              <a:spLocks/>
            </p:cNvSpPr>
            <p:nvPr/>
          </p:nvSpPr>
          <p:spPr bwMode="auto">
            <a:xfrm>
              <a:off x="3379978" y="4235913"/>
              <a:ext cx="511681" cy="561238"/>
            </a:xfrm>
            <a:custGeom>
              <a:avLst/>
              <a:gdLst>
                <a:gd name="T0" fmla="*/ 418 w 997"/>
                <a:gd name="T1" fmla="*/ 0 h 1006"/>
                <a:gd name="T2" fmla="*/ 23 w 997"/>
                <a:gd name="T3" fmla="*/ 383 h 1006"/>
                <a:gd name="T4" fmla="*/ 364 w 997"/>
                <a:gd name="T5" fmla="*/ 736 h 1006"/>
                <a:gd name="T6" fmla="*/ 715 w 997"/>
                <a:gd name="T7" fmla="*/ 1006 h 1006"/>
                <a:gd name="T8" fmla="*/ 629 w 997"/>
                <a:gd name="T9" fmla="*/ 741 h 1006"/>
                <a:gd name="T10" fmla="*/ 671 w 997"/>
                <a:gd name="T11" fmla="*/ 745 h 1006"/>
                <a:gd name="T12" fmla="*/ 939 w 997"/>
                <a:gd name="T13" fmla="*/ 453 h 1006"/>
                <a:gd name="T14" fmla="*/ 449 w 997"/>
                <a:gd name="T15" fmla="*/ 1 h 1006"/>
                <a:gd name="T16" fmla="*/ 418 w 997"/>
                <a:gd name="T17" fmla="*/ 0 h 10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7" h="1006">
                  <a:moveTo>
                    <a:pt x="418" y="0"/>
                  </a:moveTo>
                  <a:cubicBezTo>
                    <a:pt x="242" y="0"/>
                    <a:pt x="0" y="96"/>
                    <a:pt x="23" y="383"/>
                  </a:cubicBezTo>
                  <a:cubicBezTo>
                    <a:pt x="47" y="688"/>
                    <a:pt x="364" y="736"/>
                    <a:pt x="364" y="736"/>
                  </a:cubicBezTo>
                  <a:cubicBezTo>
                    <a:pt x="451" y="931"/>
                    <a:pt x="715" y="1006"/>
                    <a:pt x="715" y="1006"/>
                  </a:cubicBezTo>
                  <a:cubicBezTo>
                    <a:pt x="547" y="769"/>
                    <a:pt x="629" y="741"/>
                    <a:pt x="629" y="741"/>
                  </a:cubicBezTo>
                  <a:cubicBezTo>
                    <a:pt x="629" y="741"/>
                    <a:pt x="645" y="745"/>
                    <a:pt x="671" y="745"/>
                  </a:cubicBezTo>
                  <a:cubicBezTo>
                    <a:pt x="745" y="745"/>
                    <a:pt x="895" y="712"/>
                    <a:pt x="939" y="453"/>
                  </a:cubicBezTo>
                  <a:cubicBezTo>
                    <a:pt x="997" y="105"/>
                    <a:pt x="626" y="13"/>
                    <a:pt x="449" y="1"/>
                  </a:cubicBezTo>
                  <a:cubicBezTo>
                    <a:pt x="439" y="0"/>
                    <a:pt x="428" y="0"/>
                    <a:pt x="418" y="0"/>
                  </a:cubicBezTo>
                </a:path>
              </a:pathLst>
            </a:custGeom>
            <a:solidFill>
              <a:srgbClr val="354B5E"/>
            </a:solidFill>
            <a:ln>
              <a:noFill/>
            </a:ln>
            <a:extLst>
              <a:ext uri="{91240B29-F687-4F45-9708-019B960494DF}">
                <a14:hiddenLine xmlns:a14="http://schemas.microsoft.com/office/drawing/2010/main" w="9525">
                  <a:solidFill>
                    <a:srgbClr val="000000"/>
                  </a:solidFill>
                  <a:round/>
                  <a:headEnd/>
                  <a:tailEnd/>
                </a14:hiddenLine>
              </a:ext>
            </a:extLst>
          </p:spPr>
          <p:txBody>
            <a:bodyPr anchor="t"/>
            <a:lstStyle/>
            <a:p>
              <a:pPr algn="ctr"/>
              <a:r>
                <a:rPr lang="zh-CN" altLang="en-US" sz="1600" b="1" dirty="0">
                  <a:solidFill>
                    <a:schemeClr val="bg1"/>
                  </a:solidFill>
                  <a:latin typeface="微软雅黑" panose="020B0503020204020204" pitchFamily="34" charset="-122"/>
                  <a:ea typeface="微软雅黑" panose="020B0503020204020204" pitchFamily="34" charset="-122"/>
                </a:rPr>
                <a:t>内容</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问答</a:t>
              </a:r>
            </a:p>
          </p:txBody>
        </p:sp>
        <p:sp>
          <p:nvSpPr>
            <p:cNvPr id="11" name="Freeform 60"/>
            <p:cNvSpPr>
              <a:spLocks/>
            </p:cNvSpPr>
            <p:nvPr/>
          </p:nvSpPr>
          <p:spPr bwMode="auto">
            <a:xfrm>
              <a:off x="4545858" y="4031432"/>
              <a:ext cx="679125" cy="638568"/>
            </a:xfrm>
            <a:custGeom>
              <a:avLst/>
              <a:gdLst>
                <a:gd name="T0" fmla="*/ 493 w 911"/>
                <a:gd name="T1" fmla="*/ 0 h 858"/>
                <a:gd name="T2" fmla="*/ 236 w 911"/>
                <a:gd name="T3" fmla="*/ 61 h 858"/>
                <a:gd name="T4" fmla="*/ 94 w 911"/>
                <a:gd name="T5" fmla="*/ 465 h 858"/>
                <a:gd name="T6" fmla="*/ 444 w 911"/>
                <a:gd name="T7" fmla="*/ 730 h 858"/>
                <a:gd name="T8" fmla="*/ 447 w 911"/>
                <a:gd name="T9" fmla="*/ 730 h 858"/>
                <a:gd name="T10" fmla="*/ 381 w 911"/>
                <a:gd name="T11" fmla="*/ 858 h 858"/>
                <a:gd name="T12" fmla="*/ 894 w 911"/>
                <a:gd name="T13" fmla="*/ 343 h 858"/>
                <a:gd name="T14" fmla="*/ 493 w 911"/>
                <a:gd name="T15" fmla="*/ 0 h 8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11" h="858">
                  <a:moveTo>
                    <a:pt x="493" y="0"/>
                  </a:moveTo>
                  <a:cubicBezTo>
                    <a:pt x="402" y="0"/>
                    <a:pt x="311" y="21"/>
                    <a:pt x="236" y="61"/>
                  </a:cubicBezTo>
                  <a:cubicBezTo>
                    <a:pt x="0" y="186"/>
                    <a:pt x="94" y="465"/>
                    <a:pt x="94" y="465"/>
                  </a:cubicBezTo>
                  <a:cubicBezTo>
                    <a:pt x="140" y="722"/>
                    <a:pt x="412" y="730"/>
                    <a:pt x="444" y="730"/>
                  </a:cubicBezTo>
                  <a:cubicBezTo>
                    <a:pt x="446" y="730"/>
                    <a:pt x="447" y="730"/>
                    <a:pt x="447" y="730"/>
                  </a:cubicBezTo>
                  <a:cubicBezTo>
                    <a:pt x="436" y="786"/>
                    <a:pt x="381" y="858"/>
                    <a:pt x="381" y="858"/>
                  </a:cubicBezTo>
                  <a:cubicBezTo>
                    <a:pt x="424" y="858"/>
                    <a:pt x="911" y="695"/>
                    <a:pt x="894" y="343"/>
                  </a:cubicBezTo>
                  <a:cubicBezTo>
                    <a:pt x="882" y="101"/>
                    <a:pt x="689" y="0"/>
                    <a:pt x="493" y="0"/>
                  </a:cubicBezTo>
                </a:path>
              </a:pathLst>
            </a:custGeom>
            <a:solidFill>
              <a:srgbClr val="354B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业务</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沟通</a:t>
              </a:r>
            </a:p>
          </p:txBody>
        </p:sp>
        <p:sp>
          <p:nvSpPr>
            <p:cNvPr id="12" name="Freeform 61"/>
            <p:cNvSpPr>
              <a:spLocks/>
            </p:cNvSpPr>
            <p:nvPr/>
          </p:nvSpPr>
          <p:spPr bwMode="auto">
            <a:xfrm>
              <a:off x="5214289" y="4237838"/>
              <a:ext cx="549672" cy="510775"/>
            </a:xfrm>
            <a:custGeom>
              <a:avLst/>
              <a:gdLst>
                <a:gd name="T0" fmla="*/ 733 w 1195"/>
                <a:gd name="T1" fmla="*/ 0 h 1110"/>
                <a:gd name="T2" fmla="*/ 645 w 1195"/>
                <a:gd name="T3" fmla="*/ 6 h 1110"/>
                <a:gd name="T4" fmla="*/ 105 w 1195"/>
                <a:gd name="T5" fmla="*/ 595 h 1110"/>
                <a:gd name="T6" fmla="*/ 429 w 1195"/>
                <a:gd name="T7" fmla="*/ 919 h 1110"/>
                <a:gd name="T8" fmla="*/ 504 w 1195"/>
                <a:gd name="T9" fmla="*/ 909 h 1110"/>
                <a:gd name="T10" fmla="*/ 506 w 1195"/>
                <a:gd name="T11" fmla="*/ 909 h 1110"/>
                <a:gd name="T12" fmla="*/ 559 w 1195"/>
                <a:gd name="T13" fmla="*/ 1110 h 1110"/>
                <a:gd name="T14" fmla="*/ 772 w 1195"/>
                <a:gd name="T15" fmla="*/ 882 h 1110"/>
                <a:gd name="T16" fmla="*/ 1193 w 1195"/>
                <a:gd name="T17" fmla="*/ 421 h 1110"/>
                <a:gd name="T18" fmla="*/ 733 w 1195"/>
                <a:gd name="T19" fmla="*/ 0 h 1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95" h="1110">
                  <a:moveTo>
                    <a:pt x="733" y="0"/>
                  </a:moveTo>
                  <a:cubicBezTo>
                    <a:pt x="702" y="0"/>
                    <a:pt x="673" y="2"/>
                    <a:pt x="645" y="6"/>
                  </a:cubicBezTo>
                  <a:cubicBezTo>
                    <a:pt x="435" y="38"/>
                    <a:pt x="0" y="185"/>
                    <a:pt x="105" y="595"/>
                  </a:cubicBezTo>
                  <a:cubicBezTo>
                    <a:pt x="176" y="875"/>
                    <a:pt x="335" y="919"/>
                    <a:pt x="429" y="919"/>
                  </a:cubicBezTo>
                  <a:cubicBezTo>
                    <a:pt x="474" y="919"/>
                    <a:pt x="504" y="909"/>
                    <a:pt x="504" y="909"/>
                  </a:cubicBezTo>
                  <a:cubicBezTo>
                    <a:pt x="504" y="909"/>
                    <a:pt x="505" y="909"/>
                    <a:pt x="506" y="909"/>
                  </a:cubicBezTo>
                  <a:cubicBezTo>
                    <a:pt x="522" y="909"/>
                    <a:pt x="613" y="917"/>
                    <a:pt x="559" y="1110"/>
                  </a:cubicBezTo>
                  <a:cubicBezTo>
                    <a:pt x="559" y="1110"/>
                    <a:pt x="768" y="988"/>
                    <a:pt x="772" y="882"/>
                  </a:cubicBezTo>
                  <a:cubicBezTo>
                    <a:pt x="772" y="882"/>
                    <a:pt x="1195" y="787"/>
                    <a:pt x="1193" y="421"/>
                  </a:cubicBezTo>
                  <a:cubicBezTo>
                    <a:pt x="1192" y="102"/>
                    <a:pt x="937" y="0"/>
                    <a:pt x="733" y="0"/>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t"/>
            <a:lstStyle/>
            <a:p>
              <a:pPr algn="ctr"/>
              <a:r>
                <a:rPr lang="zh-CN" altLang="en-US" sz="1600" b="1" dirty="0">
                  <a:solidFill>
                    <a:schemeClr val="bg1"/>
                  </a:solidFill>
                  <a:latin typeface="微软雅黑" panose="020B0503020204020204" pitchFamily="34" charset="-122"/>
                  <a:ea typeface="微软雅黑" panose="020B0503020204020204" pitchFamily="34" charset="-122"/>
                </a:rPr>
                <a:t>技术</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探讨</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3" name="Freeform 62"/>
            <p:cNvSpPr>
              <a:spLocks/>
            </p:cNvSpPr>
            <p:nvPr/>
          </p:nvSpPr>
          <p:spPr bwMode="auto">
            <a:xfrm>
              <a:off x="3925830" y="4156880"/>
              <a:ext cx="769383" cy="624254"/>
            </a:xfrm>
            <a:custGeom>
              <a:avLst/>
              <a:gdLst>
                <a:gd name="T0" fmla="*/ 453 w 1313"/>
                <a:gd name="T1" fmla="*/ 0 h 1064"/>
                <a:gd name="T2" fmla="*/ 32 w 1313"/>
                <a:gd name="T3" fmla="*/ 351 h 1064"/>
                <a:gd name="T4" fmla="*/ 188 w 1313"/>
                <a:gd name="T5" fmla="*/ 754 h 1064"/>
                <a:gd name="T6" fmla="*/ 771 w 1313"/>
                <a:gd name="T7" fmla="*/ 1064 h 1064"/>
                <a:gd name="T8" fmla="*/ 708 w 1313"/>
                <a:gd name="T9" fmla="*/ 914 h 1064"/>
                <a:gd name="T10" fmla="*/ 816 w 1313"/>
                <a:gd name="T11" fmla="*/ 97 h 1064"/>
                <a:gd name="T12" fmla="*/ 453 w 1313"/>
                <a:gd name="T13" fmla="*/ 0 h 1064"/>
              </a:gdLst>
              <a:ahLst/>
              <a:cxnLst>
                <a:cxn ang="0">
                  <a:pos x="T0" y="T1"/>
                </a:cxn>
                <a:cxn ang="0">
                  <a:pos x="T2" y="T3"/>
                </a:cxn>
                <a:cxn ang="0">
                  <a:pos x="T4" y="T5"/>
                </a:cxn>
                <a:cxn ang="0">
                  <a:pos x="T6" y="T7"/>
                </a:cxn>
                <a:cxn ang="0">
                  <a:pos x="T8" y="T9"/>
                </a:cxn>
                <a:cxn ang="0">
                  <a:pos x="T10" y="T11"/>
                </a:cxn>
                <a:cxn ang="0">
                  <a:pos x="T12" y="T13"/>
                </a:cxn>
              </a:cxnLst>
              <a:rect l="0" t="0" r="r" b="b"/>
              <a:pathLst>
                <a:path w="1313" h="1064">
                  <a:moveTo>
                    <a:pt x="453" y="0"/>
                  </a:moveTo>
                  <a:cubicBezTo>
                    <a:pt x="193" y="0"/>
                    <a:pt x="54" y="185"/>
                    <a:pt x="32" y="351"/>
                  </a:cubicBezTo>
                  <a:cubicBezTo>
                    <a:pt x="0" y="582"/>
                    <a:pt x="188" y="754"/>
                    <a:pt x="188" y="754"/>
                  </a:cubicBezTo>
                  <a:cubicBezTo>
                    <a:pt x="430" y="1029"/>
                    <a:pt x="771" y="1064"/>
                    <a:pt x="771" y="1064"/>
                  </a:cubicBezTo>
                  <a:cubicBezTo>
                    <a:pt x="708" y="1018"/>
                    <a:pt x="708" y="914"/>
                    <a:pt x="708" y="914"/>
                  </a:cubicBezTo>
                  <a:cubicBezTo>
                    <a:pt x="1077" y="876"/>
                    <a:pt x="1313" y="340"/>
                    <a:pt x="816" y="97"/>
                  </a:cubicBezTo>
                  <a:cubicBezTo>
                    <a:pt x="676" y="29"/>
                    <a:pt x="555" y="0"/>
                    <a:pt x="453" y="0"/>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观点</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交流</a:t>
              </a:r>
            </a:p>
          </p:txBody>
        </p:sp>
      </p:grpSp>
      <p:sp>
        <p:nvSpPr>
          <p:cNvPr id="3" name="标题 2">
            <a:extLst>
              <a:ext uri="{FF2B5EF4-FFF2-40B4-BE49-F238E27FC236}">
                <a16:creationId xmlns:a16="http://schemas.microsoft.com/office/drawing/2014/main" id="{C89F7814-AB3A-42F7-8D35-D3C448A30926}"/>
              </a:ext>
            </a:extLst>
          </p:cNvPr>
          <p:cNvSpPr>
            <a:spLocks noGrp="1"/>
          </p:cNvSpPr>
          <p:nvPr>
            <p:ph type="ctrTitle"/>
          </p:nvPr>
        </p:nvSpPr>
        <p:spPr/>
        <p:txBody>
          <a:bodyPr/>
          <a:lstStyle/>
          <a:p>
            <a:r>
              <a:rPr lang="zh-CN" altLang="en-US" dirty="0"/>
              <a:t>感谢聆听！</a:t>
            </a:r>
          </a:p>
        </p:txBody>
      </p:sp>
    </p:spTree>
    <p:extLst>
      <p:ext uri="{BB962C8B-B14F-4D97-AF65-F5344CB8AC3E}">
        <p14:creationId xmlns:p14="http://schemas.microsoft.com/office/powerpoint/2010/main" val="30437634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THEME" val="9c5cb8d0-5353-41d0-b7da-fa70b1597a98"/>
  <p:tag name="ISLIDE.GUIDESSETTING" val="{&quot;Id&quot;:&quot;GuidesStyle_None&quot;,&quot;Name&quot;:&quot;无&quot;,&quot;HeaderHeight&quot;:0.0,&quot;FooterHeight&quot;:0.0,&quot;SideMargin&quot;:0.0,&quot;TopMargin&quot;:0.0,&quot;BottomMargin&quot;:0.0,&quot;IntervalMargin&quot;:0.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主题5">
  <a:themeElements>
    <a:clrScheme name="自定义 21">
      <a:dk1>
        <a:srgbClr val="000000"/>
      </a:dk1>
      <a:lt1>
        <a:srgbClr val="FFFFFF"/>
      </a:lt1>
      <a:dk2>
        <a:srgbClr val="778495"/>
      </a:dk2>
      <a:lt2>
        <a:srgbClr val="F0F0F0"/>
      </a:lt2>
      <a:accent1>
        <a:srgbClr val="FF8A65"/>
      </a:accent1>
      <a:accent2>
        <a:srgbClr val="FF7043"/>
      </a:accent2>
      <a:accent3>
        <a:srgbClr val="56687C"/>
      </a:accent3>
      <a:accent4>
        <a:srgbClr val="44546A"/>
      </a:accent4>
      <a:accent5>
        <a:srgbClr val="FF7043"/>
      </a:accent5>
      <a:accent6>
        <a:srgbClr val="FF8A65"/>
      </a:accent6>
      <a:hlink>
        <a:srgbClr val="FF8A65"/>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5" id="{B8EDB911-D765-4A7B-BBC7-40DBB672FBA6}" vid="{AECAB1C0-5DF6-436C-85E8-20094DBE11C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32343</TotalTime>
  <Words>15380</Words>
  <Application>Microsoft Office PowerPoint</Application>
  <PresentationFormat>自定义</PresentationFormat>
  <Paragraphs>1919</Paragraphs>
  <Slides>119</Slides>
  <Notes>17</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119</vt:i4>
      </vt:variant>
    </vt:vector>
  </HeadingPairs>
  <TitlesOfParts>
    <vt:vector size="133" baseType="lpstr">
      <vt:lpstr>等线</vt:lpstr>
      <vt:lpstr>楷体_GB2312</vt:lpstr>
      <vt:lpstr>宋体</vt:lpstr>
      <vt:lpstr>微软雅黑</vt:lpstr>
      <vt:lpstr>Arial</vt:lpstr>
      <vt:lpstr>Calibri</vt:lpstr>
      <vt:lpstr>Cambria Math</vt:lpstr>
      <vt:lpstr>Impact</vt:lpstr>
      <vt:lpstr>Segoe UI</vt:lpstr>
      <vt:lpstr>Segoe UI Light</vt:lpstr>
      <vt:lpstr>Times New Roman</vt:lpstr>
      <vt:lpstr>Wingdings</vt:lpstr>
      <vt:lpstr>主题5</vt:lpstr>
      <vt:lpstr>think-cell Slide</vt:lpstr>
      <vt:lpstr>信用风险分析</vt:lpstr>
      <vt:lpstr>信用风险是什么</vt:lpstr>
      <vt:lpstr>信用风险的类型</vt:lpstr>
      <vt:lpstr>信用分析的对象</vt:lpstr>
      <vt:lpstr>分析的逻辑</vt:lpstr>
      <vt:lpstr>目 录</vt:lpstr>
      <vt:lpstr>（一）经营环境</vt:lpstr>
      <vt:lpstr>宏观经济因素</vt:lpstr>
      <vt:lpstr>宏观经济因素</vt:lpstr>
      <vt:lpstr>宏观经济因素</vt:lpstr>
      <vt:lpstr>宏观经济因素</vt:lpstr>
      <vt:lpstr>宏观经济因素</vt:lpstr>
      <vt:lpstr>经济周期</vt:lpstr>
      <vt:lpstr>（二）行业风险</vt:lpstr>
      <vt:lpstr>行业的分类</vt:lpstr>
      <vt:lpstr>行业的分类</vt:lpstr>
      <vt:lpstr>行业的分类</vt:lpstr>
      <vt:lpstr>行业的分类</vt:lpstr>
      <vt:lpstr>行业的分类</vt:lpstr>
      <vt:lpstr>行业的环境</vt:lpstr>
      <vt:lpstr>行业的周期</vt:lpstr>
      <vt:lpstr>行业的周期</vt:lpstr>
      <vt:lpstr>行业的周期</vt:lpstr>
      <vt:lpstr>行业的竞争</vt:lpstr>
      <vt:lpstr>行业的信用</vt:lpstr>
      <vt:lpstr>行业的信用</vt:lpstr>
      <vt:lpstr>行业的信用</vt:lpstr>
      <vt:lpstr>（三）生产经营</vt:lpstr>
      <vt:lpstr>经营风险</vt:lpstr>
      <vt:lpstr>经营风险</vt:lpstr>
      <vt:lpstr> 以装备制造行业为例</vt:lpstr>
      <vt:lpstr>竞争战略</vt:lpstr>
      <vt:lpstr>竞争战略</vt:lpstr>
      <vt:lpstr>竞争战略</vt:lpstr>
      <vt:lpstr>市场地位</vt:lpstr>
      <vt:lpstr>市场地位</vt:lpstr>
      <vt:lpstr>产品销售</vt:lpstr>
      <vt:lpstr>经营持续性</vt:lpstr>
      <vt:lpstr>经营多样性</vt:lpstr>
      <vt:lpstr>财务多样化</vt:lpstr>
      <vt:lpstr>监管环境</vt:lpstr>
      <vt:lpstr>（四）公司治理</vt:lpstr>
      <vt:lpstr>公司治理</vt:lpstr>
      <vt:lpstr>公司治理</vt:lpstr>
      <vt:lpstr>信息披露</vt:lpstr>
      <vt:lpstr> 公司治理的评测量表（1/6 摘自标普评级）</vt:lpstr>
      <vt:lpstr> 公司治理的评测量表（2/6 摘自标普评级）</vt:lpstr>
      <vt:lpstr> 公司治理的评测量表（3/6 摘自标普评级）</vt:lpstr>
      <vt:lpstr> 公司治理的评测量表（4/6 摘自标普评级）</vt:lpstr>
      <vt:lpstr> 公司治理的评测量表（5/6 摘自标普评级）</vt:lpstr>
      <vt:lpstr> 公司治理的评测量表（6/6 摘自标普评级）</vt:lpstr>
      <vt:lpstr>（五）财务状况</vt:lpstr>
      <vt:lpstr>基本步骤</vt:lpstr>
      <vt:lpstr>五个维度</vt:lpstr>
      <vt:lpstr>偿债指标</vt:lpstr>
      <vt:lpstr>偿债指标</vt:lpstr>
      <vt:lpstr> 偿债指标等级示例（标普）</vt:lpstr>
      <vt:lpstr>资产负债</vt:lpstr>
      <vt:lpstr>资产负债</vt:lpstr>
      <vt:lpstr>资产负债</vt:lpstr>
      <vt:lpstr>营运能力</vt:lpstr>
      <vt:lpstr>盈利能力</vt:lpstr>
      <vt:lpstr>盈利能力</vt:lpstr>
      <vt:lpstr>现金流</vt:lpstr>
      <vt:lpstr> 现金流量表</vt:lpstr>
      <vt:lpstr> EBITDA代替FFO</vt:lpstr>
      <vt:lpstr>现金流</vt:lpstr>
      <vt:lpstr>现金流</vt:lpstr>
      <vt:lpstr> 各类潜在的债务来源</vt:lpstr>
      <vt:lpstr>财务灵活性</vt:lpstr>
      <vt:lpstr>外部支持</vt:lpstr>
      <vt:lpstr>（六）债项资质</vt:lpstr>
      <vt:lpstr>关注点</vt:lpstr>
      <vt:lpstr>破产制度</vt:lpstr>
      <vt:lpstr>破产制度</vt:lpstr>
      <vt:lpstr>偿付优序</vt:lpstr>
      <vt:lpstr>偿付优序</vt:lpstr>
      <vt:lpstr>担保增信</vt:lpstr>
      <vt:lpstr>担保增信</vt:lpstr>
      <vt:lpstr>违约回收</vt:lpstr>
      <vt:lpstr> 违约回收</vt:lpstr>
      <vt:lpstr>（七）条款分析</vt:lpstr>
      <vt:lpstr>债券合约中的主要条款</vt:lpstr>
      <vt:lpstr>权利条款</vt:lpstr>
      <vt:lpstr>权利条款</vt:lpstr>
      <vt:lpstr>权利条款</vt:lpstr>
      <vt:lpstr>权利条款</vt:lpstr>
      <vt:lpstr>权利条款</vt:lpstr>
      <vt:lpstr>权利条款</vt:lpstr>
      <vt:lpstr>投资者保护条款</vt:lpstr>
      <vt:lpstr>交叉保护</vt:lpstr>
      <vt:lpstr>事先约束</vt:lpstr>
      <vt:lpstr>控制权变更</vt:lpstr>
      <vt:lpstr>实际效果</vt:lpstr>
      <vt:lpstr>（八）第三方信评</vt:lpstr>
      <vt:lpstr>标普评级法</vt:lpstr>
      <vt:lpstr>标普评级法：企业经营风险分值</vt:lpstr>
      <vt:lpstr>标普评级法：企业经营风险分值</vt:lpstr>
      <vt:lpstr>标普评级法：企业经营风险分值</vt:lpstr>
      <vt:lpstr>标普评级法：财务风险得分</vt:lpstr>
      <vt:lpstr>标普评级法：主体级别锚</vt:lpstr>
      <vt:lpstr>标普评级法：主体级别锚</vt:lpstr>
      <vt:lpstr>标普评级法：主体信用状况</vt:lpstr>
      <vt:lpstr>标普评级法：主体信用状况</vt:lpstr>
      <vt:lpstr>标普评级法：确定主体评级</vt:lpstr>
      <vt:lpstr>标普评级法：债项评级的侧重</vt:lpstr>
      <vt:lpstr>（九）内部评级</vt:lpstr>
      <vt:lpstr>内部评级流程</vt:lpstr>
      <vt:lpstr>按行业建模</vt:lpstr>
      <vt:lpstr>评级指标：一般企业</vt:lpstr>
      <vt:lpstr>建模方法</vt:lpstr>
      <vt:lpstr>建模方法</vt:lpstr>
      <vt:lpstr> Z-score方法</vt:lpstr>
      <vt:lpstr> Z-score方法</vt:lpstr>
      <vt:lpstr> Z-score方法</vt:lpstr>
      <vt:lpstr>特定事项调整</vt:lpstr>
      <vt:lpstr>主体评级映射</vt:lpstr>
      <vt:lpstr>债项评级调整</vt:lpstr>
      <vt:lpstr>感谢聆听！</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shengqiang_lai@163.com</dc:creator>
  <cp:lastModifiedBy>Q Q</cp:lastModifiedBy>
  <cp:revision>1178</cp:revision>
  <cp:lastPrinted>2018-04-09T07:41:13Z</cp:lastPrinted>
  <dcterms:created xsi:type="dcterms:W3CDTF">2017-08-08T16:00:00Z</dcterms:created>
  <dcterms:modified xsi:type="dcterms:W3CDTF">2018-04-12T03:46:41Z</dcterms:modified>
  <cp:category>work report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9c5cb8d0-5353-41d0-b7da-fa70b1597a98</vt:lpwstr>
  </property>
</Properties>
</file>